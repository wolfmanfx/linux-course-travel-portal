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5275a3538cd49c2" /><Relationship Type="http://schemas.openxmlformats.org/officeDocument/2006/relationships/extended-properties" Target="/docProps/app.xml" Id="R9d92c7aa1a3940cd" /><Relationship Type="http://schemas.openxmlformats.org/officeDocument/2006/relationships/officeDocument" Target="/ppt/presentation.xml" Id="R668f222732f041b5" /></Relationships>
</file>

<file path=ppt/presentation.xml><?xml version="1.0" encoding="utf-8"?>
<p:presentation xmlns:p="http://schemas.openxmlformats.org/presentationml/2006/main">
  <p:sldMasterIdLst>
    <p:sldMasterId xmlns:r="http://schemas.openxmlformats.org/officeDocument/2006/relationships" id="2147483648" r:id="R752392887a364fb2"/>
  </p:sldMasterIdLst>
  <p:notesMasterIdLst>
    <p:notesMasterId xmlns:r="http://schemas.openxmlformats.org/officeDocument/2006/relationships" r:id="R54fa79b2de0b4ee7"/>
  </p:notesMasterIdLst>
  <p:sldIdLst>
    <p:sldId xmlns:r="http://schemas.openxmlformats.org/officeDocument/2006/relationships" id="256" r:id="R4da5c40778cf43f5"/>
    <p:sldId xmlns:r="http://schemas.openxmlformats.org/officeDocument/2006/relationships" id="257" r:id="Rd1f5c65207c74822"/>
    <p:sldId xmlns:r="http://schemas.openxmlformats.org/officeDocument/2006/relationships" id="258" r:id="Rae2090df39454cf5"/>
    <p:sldId xmlns:r="http://schemas.openxmlformats.org/officeDocument/2006/relationships" id="259" r:id="R7cc0eb7b230c4745"/>
    <p:sldId xmlns:r="http://schemas.openxmlformats.org/officeDocument/2006/relationships" id="260" r:id="R788d63258a394295"/>
    <p:sldId xmlns:r="http://schemas.openxmlformats.org/officeDocument/2006/relationships" id="261" r:id="R93fa44bdd2ca4898"/>
    <p:sldId xmlns:r="http://schemas.openxmlformats.org/officeDocument/2006/relationships" id="262" r:id="Rf3eb34ba391e4c31"/>
    <p:sldId xmlns:r="http://schemas.openxmlformats.org/officeDocument/2006/relationships" id="263" r:id="R725b8f70af694b84"/>
    <p:sldId xmlns:r="http://schemas.openxmlformats.org/officeDocument/2006/relationships" id="264" r:id="R9f50f518ce714573"/>
    <p:sldId xmlns:r="http://schemas.openxmlformats.org/officeDocument/2006/relationships" id="265" r:id="R40d587f928ff422a"/>
    <p:sldId xmlns:r="http://schemas.openxmlformats.org/officeDocument/2006/relationships" id="266" r:id="R93686b05c5d74529"/>
    <p:sldId xmlns:r="http://schemas.openxmlformats.org/officeDocument/2006/relationships" id="267" r:id="R8343c11a4bac4b54"/>
    <p:sldId xmlns:r="http://schemas.openxmlformats.org/officeDocument/2006/relationships" id="268" r:id="R40534724509f46a6"/>
    <p:sldId xmlns:r="http://schemas.openxmlformats.org/officeDocument/2006/relationships" id="269" r:id="R8279919b6d784380"/>
    <p:sldId xmlns:r="http://schemas.openxmlformats.org/officeDocument/2006/relationships" id="270" r:id="R828c3c10791d44d4"/>
    <p:sldId xmlns:r="http://schemas.openxmlformats.org/officeDocument/2006/relationships" id="271" r:id="Rb9319f8944d34306"/>
    <p:sldId xmlns:r="http://schemas.openxmlformats.org/officeDocument/2006/relationships" id="272" r:id="Rae0951ce03884d3f"/>
    <p:sldId xmlns:r="http://schemas.openxmlformats.org/officeDocument/2006/relationships" id="273" r:id="R1e4e0ff956214315"/>
    <p:sldId xmlns:r="http://schemas.openxmlformats.org/officeDocument/2006/relationships" id="274" r:id="R6faa7ea1af97421c"/>
    <p:sldId xmlns:r="http://schemas.openxmlformats.org/officeDocument/2006/relationships" id="275" r:id="R3a4153fefd0f4e9a"/>
    <p:sldId xmlns:r="http://schemas.openxmlformats.org/officeDocument/2006/relationships" id="276" r:id="Rc12725558ee54d62"/>
    <p:sldId xmlns:r="http://schemas.openxmlformats.org/officeDocument/2006/relationships" id="277" r:id="R02e4c0de3dbc48c7"/>
    <p:sldId xmlns:r="http://schemas.openxmlformats.org/officeDocument/2006/relationships" id="278" r:id="Rc8f0fbd38a704125"/>
    <p:sldId xmlns:r="http://schemas.openxmlformats.org/officeDocument/2006/relationships" id="279" r:id="R8e53c76f20e9440a"/>
    <p:sldId xmlns:r="http://schemas.openxmlformats.org/officeDocument/2006/relationships" id="280" r:id="R3db2d10337cc4780"/>
    <p:sldId xmlns:r="http://schemas.openxmlformats.org/officeDocument/2006/relationships" id="281" r:id="R606bca09dd1744b2"/>
    <p:sldId xmlns:r="http://schemas.openxmlformats.org/officeDocument/2006/relationships" id="282" r:id="R22cd5941b534427e"/>
    <p:sldId xmlns:r="http://schemas.openxmlformats.org/officeDocument/2006/relationships" id="283" r:id="R6370c748fb54457a"/>
    <p:sldId xmlns:r="http://schemas.openxmlformats.org/officeDocument/2006/relationships" id="284" r:id="Rb02a38b33c5f4a7d"/>
    <p:sldId xmlns:r="http://schemas.openxmlformats.org/officeDocument/2006/relationships" id="285" r:id="R8396f1c79d8e47b9"/>
    <p:sldId xmlns:r="http://schemas.openxmlformats.org/officeDocument/2006/relationships" id="286" r:id="R112aa06cfae840b6"/>
    <p:sldId xmlns:r="http://schemas.openxmlformats.org/officeDocument/2006/relationships" id="287" r:id="R175cf73cd0294ff9"/>
    <p:sldId xmlns:r="http://schemas.openxmlformats.org/officeDocument/2006/relationships" id="288" r:id="Rba072669e5be4cbc"/>
    <p:sldId xmlns:r="http://schemas.openxmlformats.org/officeDocument/2006/relationships" id="289" r:id="R95fcd610dff04b2c"/>
    <p:sldId xmlns:r="http://schemas.openxmlformats.org/officeDocument/2006/relationships" id="290" r:id="R792ae40ee71b4346"/>
    <p:sldId xmlns:r="http://schemas.openxmlformats.org/officeDocument/2006/relationships" id="291" r:id="R6d3650a8e0654c50"/>
    <p:sldId xmlns:r="http://schemas.openxmlformats.org/officeDocument/2006/relationships" id="292" r:id="Ra0c7f58c7e404329"/>
    <p:sldId xmlns:r="http://schemas.openxmlformats.org/officeDocument/2006/relationships" id="293" r:id="R78a31dbdec014400"/>
    <p:sldId xmlns:r="http://schemas.openxmlformats.org/officeDocument/2006/relationships" id="294" r:id="Rcf6f443f9d1d4cfe"/>
    <p:sldId xmlns:r="http://schemas.openxmlformats.org/officeDocument/2006/relationships" id="295" r:id="R3001f525dae14f7e"/>
    <p:sldId xmlns:r="http://schemas.openxmlformats.org/officeDocument/2006/relationships" id="296" r:id="R9d7394da763249a9"/>
    <p:sldId xmlns:r="http://schemas.openxmlformats.org/officeDocument/2006/relationships" id="297" r:id="Rbad950e8a47b4080"/>
    <p:sldId xmlns:r="http://schemas.openxmlformats.org/officeDocument/2006/relationships" id="298" r:id="Rd8efd79155dd479e"/>
    <p:sldId xmlns:r="http://schemas.openxmlformats.org/officeDocument/2006/relationships" id="299" r:id="R169c8259277f4979"/>
    <p:sldId xmlns:r="http://schemas.openxmlformats.org/officeDocument/2006/relationships" id="300" r:id="Ra75cb09efae248ac"/>
    <p:sldId xmlns:r="http://schemas.openxmlformats.org/officeDocument/2006/relationships" id="301" r:id="R4602574496f041e1"/>
    <p:sldId xmlns:r="http://schemas.openxmlformats.org/officeDocument/2006/relationships" id="302" r:id="R5fb69c083071449d"/>
    <p:sldId xmlns:r="http://schemas.openxmlformats.org/officeDocument/2006/relationships" id="303" r:id="R6766e4d4d2bd40d6"/>
    <p:sldId xmlns:r="http://schemas.openxmlformats.org/officeDocument/2006/relationships" id="304" r:id="Rf291c3c6236541ba"/>
    <p:sldId xmlns:r="http://schemas.openxmlformats.org/officeDocument/2006/relationships" id="305" r:id="R4622a7dce7e44b19"/>
    <p:sldId xmlns:r="http://schemas.openxmlformats.org/officeDocument/2006/relationships" id="306" r:id="Rc065cc00cc7243c1"/>
    <p:sldId xmlns:r="http://schemas.openxmlformats.org/officeDocument/2006/relationships" id="307" r:id="R1cade7bf54454bb4"/>
    <p:sldId xmlns:r="http://schemas.openxmlformats.org/officeDocument/2006/relationships" id="308" r:id="Rf0c8249ec0c642c5"/>
    <p:sldId xmlns:r="http://schemas.openxmlformats.org/officeDocument/2006/relationships" id="309" r:id="R27054b75451245f8"/>
    <p:sldId xmlns:r="http://schemas.openxmlformats.org/officeDocument/2006/relationships" id="310" r:id="R22fceddcf4cf4db8"/>
    <p:sldId xmlns:r="http://schemas.openxmlformats.org/officeDocument/2006/relationships" id="311" r:id="Rcbcea434084a4e7e"/>
    <p:sldId xmlns:r="http://schemas.openxmlformats.org/officeDocument/2006/relationships" id="312" r:id="R0094c5d066c54065"/>
    <p:sldId xmlns:r="http://schemas.openxmlformats.org/officeDocument/2006/relationships" id="313" r:id="R74938ee1f5ee4c96"/>
    <p:sldId xmlns:r="http://schemas.openxmlformats.org/officeDocument/2006/relationships" id="314" r:id="R9620350c9da445b3"/>
    <p:sldId xmlns:r="http://schemas.openxmlformats.org/officeDocument/2006/relationships" id="315" r:id="Rd74dfed3b8b7497a"/>
    <p:sldId xmlns:r="http://schemas.openxmlformats.org/officeDocument/2006/relationships" id="316" r:id="R8b89e79b75fe44d3"/>
    <p:sldId xmlns:r="http://schemas.openxmlformats.org/officeDocument/2006/relationships" id="317" r:id="Re55f3be228444e55"/>
    <p:sldId xmlns:r="http://schemas.openxmlformats.org/officeDocument/2006/relationships" id="318" r:id="R074f2fa037d04d3a"/>
    <p:sldId xmlns:r="http://schemas.openxmlformats.org/officeDocument/2006/relationships" id="319" r:id="Rca12b6cdd57248af"/>
    <p:sldId xmlns:r="http://schemas.openxmlformats.org/officeDocument/2006/relationships" id="320" r:id="R5285e77d2cde4d26"/>
    <p:sldId xmlns:r="http://schemas.openxmlformats.org/officeDocument/2006/relationships" id="321" r:id="R4da2d63d65a7495a"/>
    <p:sldId xmlns:r="http://schemas.openxmlformats.org/officeDocument/2006/relationships" id="322" r:id="R177ee6eb82674b0b"/>
    <p:sldId xmlns:r="http://schemas.openxmlformats.org/officeDocument/2006/relationships" id="323" r:id="R66d3071fc12849f8"/>
    <p:sldId xmlns:r="http://schemas.openxmlformats.org/officeDocument/2006/relationships" id="324" r:id="R1bd99a06aabd493b"/>
    <p:sldId xmlns:r="http://schemas.openxmlformats.org/officeDocument/2006/relationships" id="325" r:id="R8ae31cfd96c84784"/>
    <p:sldId xmlns:r="http://schemas.openxmlformats.org/officeDocument/2006/relationships" id="326" r:id="Re528853c9f2c43bf"/>
    <p:sldId xmlns:r="http://schemas.openxmlformats.org/officeDocument/2006/relationships" id="327" r:id="Rb4f87b24a09b43cc"/>
    <p:sldId xmlns:r="http://schemas.openxmlformats.org/officeDocument/2006/relationships" id="328" r:id="R11838988b9ce4ebf"/>
    <p:sldId xmlns:r="http://schemas.openxmlformats.org/officeDocument/2006/relationships" id="329" r:id="R7c6e86bbbd46476f"/>
    <p:sldId xmlns:r="http://schemas.openxmlformats.org/officeDocument/2006/relationships" id="330" r:id="R0ac0e775b6d94b33"/>
    <p:sldId xmlns:r="http://schemas.openxmlformats.org/officeDocument/2006/relationships" id="331" r:id="R3cb401da9d854ac7"/>
    <p:sldId xmlns:r="http://schemas.openxmlformats.org/officeDocument/2006/relationships" id="332" r:id="R858229970fbf42c5"/>
    <p:sldId xmlns:r="http://schemas.openxmlformats.org/officeDocument/2006/relationships" id="333" r:id="Raf7295cf66b24b3c"/>
    <p:sldId xmlns:r="http://schemas.openxmlformats.org/officeDocument/2006/relationships" id="334" r:id="R01d0bc0aab4f4b0d"/>
    <p:sldId xmlns:r="http://schemas.openxmlformats.org/officeDocument/2006/relationships" id="335" r:id="R1a6ac46bb93d41e7"/>
    <p:sldId xmlns:r="http://schemas.openxmlformats.org/officeDocument/2006/relationships" id="336" r:id="Rd34ee8d471b24702"/>
    <p:sldId xmlns:r="http://schemas.openxmlformats.org/officeDocument/2006/relationships" id="337" r:id="Rf63ecf2e1d5a4090"/>
    <p:sldId xmlns:r="http://schemas.openxmlformats.org/officeDocument/2006/relationships" id="338" r:id="R2bcfa3a3d5e44296"/>
    <p:sldId xmlns:r="http://schemas.openxmlformats.org/officeDocument/2006/relationships" id="339" r:id="R08d9121c89734cfe"/>
    <p:sldId xmlns:r="http://schemas.openxmlformats.org/officeDocument/2006/relationships" id="340" r:id="Ref9969b40cd2430e"/>
    <p:sldId xmlns:r="http://schemas.openxmlformats.org/officeDocument/2006/relationships" id="341" r:id="Rcad01ed58a1d49a3"/>
    <p:sldId xmlns:r="http://schemas.openxmlformats.org/officeDocument/2006/relationships" id="342" r:id="R38d4eafbd6a24215"/>
    <p:sldId xmlns:r="http://schemas.openxmlformats.org/officeDocument/2006/relationships" id="343" r:id="R5443e381d1764abe"/>
    <p:sldId xmlns:r="http://schemas.openxmlformats.org/officeDocument/2006/relationships" id="344" r:id="R48acc341f4a3481a"/>
    <p:sldId xmlns:r="http://schemas.openxmlformats.org/officeDocument/2006/relationships" id="345" r:id="R8dd868ff4f1a4993"/>
    <p:sldId xmlns:r="http://schemas.openxmlformats.org/officeDocument/2006/relationships" id="346" r:id="R1b959aab798340bf"/>
    <p:sldId xmlns:r="http://schemas.openxmlformats.org/officeDocument/2006/relationships" id="347" r:id="Re7f65a5fc7074cd3"/>
    <p:sldId xmlns:r="http://schemas.openxmlformats.org/officeDocument/2006/relationships" id="348" r:id="R2d4b86ee53d04c10"/>
    <p:sldId xmlns:r="http://schemas.openxmlformats.org/officeDocument/2006/relationships" id="349" r:id="R9927ae00bfea4468"/>
    <p:sldId xmlns:r="http://schemas.openxmlformats.org/officeDocument/2006/relationships" id="350" r:id="Rc5f11027276a4137"/>
    <p:sldId xmlns:r="http://schemas.openxmlformats.org/officeDocument/2006/relationships" id="351" r:id="R95b55240e99349c2"/>
    <p:sldId xmlns:r="http://schemas.openxmlformats.org/officeDocument/2006/relationships" id="352" r:id="R0db090ec7ba84a7e"/>
    <p:sldId xmlns:r="http://schemas.openxmlformats.org/officeDocument/2006/relationships" id="353" r:id="Rdd834873f67249c5"/>
    <p:sldId xmlns:r="http://schemas.openxmlformats.org/officeDocument/2006/relationships" id="354" r:id="R8f3fd53c552c4786"/>
    <p:sldId xmlns:r="http://schemas.openxmlformats.org/officeDocument/2006/relationships" id="355" r:id="R250c8a65d8ae4485"/>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aa31d24e30f4581" /><Relationship Type="http://schemas.openxmlformats.org/officeDocument/2006/relationships/slideMaster" Target="/ppt/slideMasters/slideMaster1.xml" Id="R752392887a364fb2" /><Relationship Type="http://schemas.openxmlformats.org/officeDocument/2006/relationships/notesMaster" Target="/ppt/notesMasters/notesMaster1.xml" Id="R54fa79b2de0b4ee7" /><Relationship Type="http://schemas.openxmlformats.org/officeDocument/2006/relationships/presProps" Target="/ppt/presProps.xml" Id="R50d21ae7fd89434a" /><Relationship Type="http://schemas.openxmlformats.org/officeDocument/2006/relationships/tableStyles" Target="/ppt/tableStyles.xml" Id="R11a730b851054280" /><Relationship Type="http://schemas.openxmlformats.org/officeDocument/2006/relationships/slide" Target="/ppt/slides/slide1.xml" Id="R4da5c40778cf43f5" /><Relationship Type="http://schemas.openxmlformats.org/officeDocument/2006/relationships/slide" Target="/ppt/slides/slide2.xml" Id="Rd1f5c65207c74822" /><Relationship Type="http://schemas.openxmlformats.org/officeDocument/2006/relationships/slide" Target="/ppt/slides/slide3.xml" Id="Rae2090df39454cf5" /><Relationship Type="http://schemas.openxmlformats.org/officeDocument/2006/relationships/slide" Target="/ppt/slides/slide4.xml" Id="R7cc0eb7b230c4745" /><Relationship Type="http://schemas.openxmlformats.org/officeDocument/2006/relationships/slide" Target="/ppt/slides/slide5.xml" Id="R788d63258a394295" /><Relationship Type="http://schemas.openxmlformats.org/officeDocument/2006/relationships/slide" Target="/ppt/slides/slide6.xml" Id="R93fa44bdd2ca4898" /><Relationship Type="http://schemas.openxmlformats.org/officeDocument/2006/relationships/slide" Target="/ppt/slides/slide7.xml" Id="Rf3eb34ba391e4c31" /><Relationship Type="http://schemas.openxmlformats.org/officeDocument/2006/relationships/slide" Target="/ppt/slides/slide8.xml" Id="R725b8f70af694b84" /><Relationship Type="http://schemas.openxmlformats.org/officeDocument/2006/relationships/slide" Target="/ppt/slides/slide9.xml" Id="R9f50f518ce714573" /><Relationship Type="http://schemas.openxmlformats.org/officeDocument/2006/relationships/slide" Target="/ppt/slides/slide10.xml" Id="R40d587f928ff422a" /><Relationship Type="http://schemas.openxmlformats.org/officeDocument/2006/relationships/slide" Target="/ppt/slides/slide11.xml" Id="R93686b05c5d74529" /><Relationship Type="http://schemas.openxmlformats.org/officeDocument/2006/relationships/slide" Target="/ppt/slides/slide12.xml" Id="R8343c11a4bac4b54" /><Relationship Type="http://schemas.openxmlformats.org/officeDocument/2006/relationships/slide" Target="/ppt/slides/slide13.xml" Id="R40534724509f46a6" /><Relationship Type="http://schemas.openxmlformats.org/officeDocument/2006/relationships/slide" Target="/ppt/slides/slide14.xml" Id="R8279919b6d784380" /><Relationship Type="http://schemas.openxmlformats.org/officeDocument/2006/relationships/slide" Target="/ppt/slides/slide15.xml" Id="R828c3c10791d44d4" /><Relationship Type="http://schemas.openxmlformats.org/officeDocument/2006/relationships/slide" Target="/ppt/slides/slide16.xml" Id="Rb9319f8944d34306" /><Relationship Type="http://schemas.openxmlformats.org/officeDocument/2006/relationships/slide" Target="/ppt/slides/slide17.xml" Id="Rae0951ce03884d3f" /><Relationship Type="http://schemas.openxmlformats.org/officeDocument/2006/relationships/slide" Target="/ppt/slides/slide18.xml" Id="R1e4e0ff956214315" /><Relationship Type="http://schemas.openxmlformats.org/officeDocument/2006/relationships/slide" Target="/ppt/slides/slide19.xml" Id="R6faa7ea1af97421c" /><Relationship Type="http://schemas.openxmlformats.org/officeDocument/2006/relationships/slide" Target="/ppt/slides/slide20.xml" Id="R3a4153fefd0f4e9a" /><Relationship Type="http://schemas.openxmlformats.org/officeDocument/2006/relationships/slide" Target="/ppt/slides/slide21.xml" Id="Rc12725558ee54d62" /><Relationship Type="http://schemas.openxmlformats.org/officeDocument/2006/relationships/slide" Target="/ppt/slides/slide22.xml" Id="R02e4c0de3dbc48c7" /><Relationship Type="http://schemas.openxmlformats.org/officeDocument/2006/relationships/slide" Target="/ppt/slides/slide23.xml" Id="Rc8f0fbd38a704125" /><Relationship Type="http://schemas.openxmlformats.org/officeDocument/2006/relationships/slide" Target="/ppt/slides/slide24.xml" Id="R8e53c76f20e9440a" /><Relationship Type="http://schemas.openxmlformats.org/officeDocument/2006/relationships/slide" Target="/ppt/slides/slide25.xml" Id="R3db2d10337cc4780" /><Relationship Type="http://schemas.openxmlformats.org/officeDocument/2006/relationships/slide" Target="/ppt/slides/slide26.xml" Id="R606bca09dd1744b2" /><Relationship Type="http://schemas.openxmlformats.org/officeDocument/2006/relationships/slide" Target="/ppt/slides/slide27.xml" Id="R22cd5941b534427e" /><Relationship Type="http://schemas.openxmlformats.org/officeDocument/2006/relationships/slide" Target="/ppt/slides/slide28.xml" Id="R6370c748fb54457a" /><Relationship Type="http://schemas.openxmlformats.org/officeDocument/2006/relationships/slide" Target="/ppt/slides/slide29.xml" Id="Rb02a38b33c5f4a7d" /><Relationship Type="http://schemas.openxmlformats.org/officeDocument/2006/relationships/slide" Target="/ppt/slides/slide30.xml" Id="R8396f1c79d8e47b9" /><Relationship Type="http://schemas.openxmlformats.org/officeDocument/2006/relationships/slide" Target="/ppt/slides/slide31.xml" Id="R112aa06cfae840b6" /><Relationship Type="http://schemas.openxmlformats.org/officeDocument/2006/relationships/slide" Target="/ppt/slides/slide32.xml" Id="R175cf73cd0294ff9" /><Relationship Type="http://schemas.openxmlformats.org/officeDocument/2006/relationships/slide" Target="/ppt/slides/slide33.xml" Id="Rba072669e5be4cbc" /><Relationship Type="http://schemas.openxmlformats.org/officeDocument/2006/relationships/slide" Target="/ppt/slides/slide34.xml" Id="R95fcd610dff04b2c" /><Relationship Type="http://schemas.openxmlformats.org/officeDocument/2006/relationships/slide" Target="/ppt/slides/slide35.xml" Id="R792ae40ee71b4346" /><Relationship Type="http://schemas.openxmlformats.org/officeDocument/2006/relationships/slide" Target="/ppt/slides/slide36.xml" Id="R6d3650a8e0654c50" /><Relationship Type="http://schemas.openxmlformats.org/officeDocument/2006/relationships/slide" Target="/ppt/slides/slide37.xml" Id="Ra0c7f58c7e404329" /><Relationship Type="http://schemas.openxmlformats.org/officeDocument/2006/relationships/slide" Target="/ppt/slides/slide38.xml" Id="R78a31dbdec014400" /><Relationship Type="http://schemas.openxmlformats.org/officeDocument/2006/relationships/slide" Target="/ppt/slides/slide39.xml" Id="Rcf6f443f9d1d4cfe" /><Relationship Type="http://schemas.openxmlformats.org/officeDocument/2006/relationships/slide" Target="/ppt/slides/slide40.xml" Id="R3001f525dae14f7e" /><Relationship Type="http://schemas.openxmlformats.org/officeDocument/2006/relationships/slide" Target="/ppt/slides/slide41.xml" Id="R9d7394da763249a9" /><Relationship Type="http://schemas.openxmlformats.org/officeDocument/2006/relationships/slide" Target="/ppt/slides/slide42.xml" Id="Rbad950e8a47b4080" /><Relationship Type="http://schemas.openxmlformats.org/officeDocument/2006/relationships/slide" Target="/ppt/slides/slide43.xml" Id="Rd8efd79155dd479e" /><Relationship Type="http://schemas.openxmlformats.org/officeDocument/2006/relationships/slide" Target="/ppt/slides/slide44.xml" Id="R169c8259277f4979" /><Relationship Type="http://schemas.openxmlformats.org/officeDocument/2006/relationships/slide" Target="/ppt/slides/slide45.xml" Id="Ra75cb09efae248ac" /><Relationship Type="http://schemas.openxmlformats.org/officeDocument/2006/relationships/slide" Target="/ppt/slides/slide46.xml" Id="R4602574496f041e1" /><Relationship Type="http://schemas.openxmlformats.org/officeDocument/2006/relationships/slide" Target="/ppt/slides/slide47.xml" Id="R5fb69c083071449d" /><Relationship Type="http://schemas.openxmlformats.org/officeDocument/2006/relationships/slide" Target="/ppt/slides/slide48.xml" Id="R6766e4d4d2bd40d6" /><Relationship Type="http://schemas.openxmlformats.org/officeDocument/2006/relationships/slide" Target="/ppt/slides/slide49.xml" Id="Rf291c3c6236541ba" /><Relationship Type="http://schemas.openxmlformats.org/officeDocument/2006/relationships/slide" Target="/ppt/slides/slide50.xml" Id="R4622a7dce7e44b19" /><Relationship Type="http://schemas.openxmlformats.org/officeDocument/2006/relationships/slide" Target="/ppt/slides/slide51.xml" Id="Rc065cc00cc7243c1" /><Relationship Type="http://schemas.openxmlformats.org/officeDocument/2006/relationships/slide" Target="/ppt/slides/slide52.xml" Id="R1cade7bf54454bb4" /><Relationship Type="http://schemas.openxmlformats.org/officeDocument/2006/relationships/slide" Target="/ppt/slides/slide53.xml" Id="Rf0c8249ec0c642c5" /><Relationship Type="http://schemas.openxmlformats.org/officeDocument/2006/relationships/slide" Target="/ppt/slides/slide54.xml" Id="R27054b75451245f8" /><Relationship Type="http://schemas.openxmlformats.org/officeDocument/2006/relationships/slide" Target="/ppt/slides/slide55.xml" Id="R22fceddcf4cf4db8" /><Relationship Type="http://schemas.openxmlformats.org/officeDocument/2006/relationships/slide" Target="/ppt/slides/slide56.xml" Id="Rcbcea434084a4e7e" /><Relationship Type="http://schemas.openxmlformats.org/officeDocument/2006/relationships/slide" Target="/ppt/slides/slide57.xml" Id="R0094c5d066c54065" /><Relationship Type="http://schemas.openxmlformats.org/officeDocument/2006/relationships/slide" Target="/ppt/slides/slide58.xml" Id="R74938ee1f5ee4c96" /><Relationship Type="http://schemas.openxmlformats.org/officeDocument/2006/relationships/slide" Target="/ppt/slides/slide59.xml" Id="R9620350c9da445b3" /><Relationship Type="http://schemas.openxmlformats.org/officeDocument/2006/relationships/slide" Target="/ppt/slides/slide60.xml" Id="Rd74dfed3b8b7497a" /><Relationship Type="http://schemas.openxmlformats.org/officeDocument/2006/relationships/slide" Target="/ppt/slides/slide61.xml" Id="R8b89e79b75fe44d3" /><Relationship Type="http://schemas.openxmlformats.org/officeDocument/2006/relationships/slide" Target="/ppt/slides/slide62.xml" Id="Re55f3be228444e55" /><Relationship Type="http://schemas.openxmlformats.org/officeDocument/2006/relationships/slide" Target="/ppt/slides/slide63.xml" Id="R074f2fa037d04d3a" /><Relationship Type="http://schemas.openxmlformats.org/officeDocument/2006/relationships/slide" Target="/ppt/slides/slide64.xml" Id="Rca12b6cdd57248af" /><Relationship Type="http://schemas.openxmlformats.org/officeDocument/2006/relationships/slide" Target="/ppt/slides/slide65.xml" Id="R5285e77d2cde4d26" /><Relationship Type="http://schemas.openxmlformats.org/officeDocument/2006/relationships/slide" Target="/ppt/slides/slide66.xml" Id="R4da2d63d65a7495a" /><Relationship Type="http://schemas.openxmlformats.org/officeDocument/2006/relationships/slide" Target="/ppt/slides/slide67.xml" Id="R177ee6eb82674b0b" /><Relationship Type="http://schemas.openxmlformats.org/officeDocument/2006/relationships/slide" Target="/ppt/slides/slide68.xml" Id="R66d3071fc12849f8" /><Relationship Type="http://schemas.openxmlformats.org/officeDocument/2006/relationships/slide" Target="/ppt/slides/slide69.xml" Id="R1bd99a06aabd493b" /><Relationship Type="http://schemas.openxmlformats.org/officeDocument/2006/relationships/slide" Target="/ppt/slides/slide70.xml" Id="R8ae31cfd96c84784" /><Relationship Type="http://schemas.openxmlformats.org/officeDocument/2006/relationships/slide" Target="/ppt/slides/slide71.xml" Id="Re528853c9f2c43bf" /><Relationship Type="http://schemas.openxmlformats.org/officeDocument/2006/relationships/slide" Target="/ppt/slides/slide72.xml" Id="Rb4f87b24a09b43cc" /><Relationship Type="http://schemas.openxmlformats.org/officeDocument/2006/relationships/slide" Target="/ppt/slides/slide73.xml" Id="R11838988b9ce4ebf" /><Relationship Type="http://schemas.openxmlformats.org/officeDocument/2006/relationships/slide" Target="/ppt/slides/slide74.xml" Id="R7c6e86bbbd46476f" /><Relationship Type="http://schemas.openxmlformats.org/officeDocument/2006/relationships/slide" Target="/ppt/slides/slide75.xml" Id="R0ac0e775b6d94b33" /><Relationship Type="http://schemas.openxmlformats.org/officeDocument/2006/relationships/slide" Target="/ppt/slides/slide76.xml" Id="R3cb401da9d854ac7" /><Relationship Type="http://schemas.openxmlformats.org/officeDocument/2006/relationships/slide" Target="/ppt/slides/slide77.xml" Id="R858229970fbf42c5" /><Relationship Type="http://schemas.openxmlformats.org/officeDocument/2006/relationships/slide" Target="/ppt/slides/slide78.xml" Id="Raf7295cf66b24b3c" /><Relationship Type="http://schemas.openxmlformats.org/officeDocument/2006/relationships/slide" Target="/ppt/slides/slide79.xml" Id="R01d0bc0aab4f4b0d" /><Relationship Type="http://schemas.openxmlformats.org/officeDocument/2006/relationships/slide" Target="/ppt/slides/slide80.xml" Id="R1a6ac46bb93d41e7" /><Relationship Type="http://schemas.openxmlformats.org/officeDocument/2006/relationships/slide" Target="/ppt/slides/slide81.xml" Id="Rd34ee8d471b24702" /><Relationship Type="http://schemas.openxmlformats.org/officeDocument/2006/relationships/slide" Target="/ppt/slides/slide82.xml" Id="Rf63ecf2e1d5a4090" /><Relationship Type="http://schemas.openxmlformats.org/officeDocument/2006/relationships/slide" Target="/ppt/slides/slide83.xml" Id="R2bcfa3a3d5e44296" /><Relationship Type="http://schemas.openxmlformats.org/officeDocument/2006/relationships/slide" Target="/ppt/slides/slide84.xml" Id="R08d9121c89734cfe" /><Relationship Type="http://schemas.openxmlformats.org/officeDocument/2006/relationships/slide" Target="/ppt/slides/slide85.xml" Id="Ref9969b40cd2430e" /><Relationship Type="http://schemas.openxmlformats.org/officeDocument/2006/relationships/slide" Target="/ppt/slides/slide86.xml" Id="Rcad01ed58a1d49a3" /><Relationship Type="http://schemas.openxmlformats.org/officeDocument/2006/relationships/slide" Target="/ppt/slides/slide87.xml" Id="R38d4eafbd6a24215" /><Relationship Type="http://schemas.openxmlformats.org/officeDocument/2006/relationships/slide" Target="/ppt/slides/slide88.xml" Id="R5443e381d1764abe" /><Relationship Type="http://schemas.openxmlformats.org/officeDocument/2006/relationships/slide" Target="/ppt/slides/slide89.xml" Id="R48acc341f4a3481a" /><Relationship Type="http://schemas.openxmlformats.org/officeDocument/2006/relationships/slide" Target="/ppt/slides/slide90.xml" Id="R8dd868ff4f1a4993" /><Relationship Type="http://schemas.openxmlformats.org/officeDocument/2006/relationships/slide" Target="/ppt/slides/slide91.xml" Id="R1b959aab798340bf" /><Relationship Type="http://schemas.openxmlformats.org/officeDocument/2006/relationships/slide" Target="/ppt/slides/slide92.xml" Id="Re7f65a5fc7074cd3" /><Relationship Type="http://schemas.openxmlformats.org/officeDocument/2006/relationships/slide" Target="/ppt/slides/slide93.xml" Id="R2d4b86ee53d04c10" /><Relationship Type="http://schemas.openxmlformats.org/officeDocument/2006/relationships/slide" Target="/ppt/slides/slide94.xml" Id="R9927ae00bfea4468" /><Relationship Type="http://schemas.openxmlformats.org/officeDocument/2006/relationships/slide" Target="/ppt/slides/slide95.xml" Id="Rc5f11027276a4137" /><Relationship Type="http://schemas.openxmlformats.org/officeDocument/2006/relationships/slide" Target="/ppt/slides/slide96.xml" Id="R95b55240e99349c2" /><Relationship Type="http://schemas.openxmlformats.org/officeDocument/2006/relationships/slide" Target="/ppt/slides/slide97.xml" Id="R0db090ec7ba84a7e" /><Relationship Type="http://schemas.openxmlformats.org/officeDocument/2006/relationships/slide" Target="/ppt/slides/slide98.xml" Id="Rdd834873f67249c5" /><Relationship Type="http://schemas.openxmlformats.org/officeDocument/2006/relationships/slide" Target="/ppt/slides/slide99.xml" Id="R8f3fd53c552c4786" /><Relationship Type="http://schemas.openxmlformats.org/officeDocument/2006/relationships/slide" Target="/ppt/slides/slide100.xml" Id="R250c8a65d8ae448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9d15f88f8bd4ba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a6f2b7e48764a95" /><Relationship Type="http://schemas.openxmlformats.org/officeDocument/2006/relationships/notesMaster" Target="/ppt/notesMasters/notesMaster1.xml" Id="Rde5648e604234351" /></Relationships>
</file>

<file path=ppt/notesSlides/_rels/notesSlide2.xml.rels>&#65279;<?xml version="1.0" encoding="utf-8"?><Relationships xmlns="http://schemas.openxmlformats.org/package/2006/relationships"><Relationship Type="http://schemas.openxmlformats.org/officeDocument/2006/relationships/slide" Target="/ppt/slides/slide2.xml" Id="R390f314ec7cb402f" /><Relationship Type="http://schemas.openxmlformats.org/officeDocument/2006/relationships/notesMaster" Target="/ppt/notesMasters/notesMaster1.xml" Id="R9eb3d577177b486a" /></Relationships>
</file>

<file path=ppt/notesSlides/_rels/notesSlide3.xml.rels>&#65279;<?xml version="1.0" encoding="utf-8"?><Relationships xmlns="http://schemas.openxmlformats.org/package/2006/relationships"><Relationship Type="http://schemas.openxmlformats.org/officeDocument/2006/relationships/slide" Target="/ppt/slides/slide3.xml" Id="Rfa2dcca89c0947fe" /><Relationship Type="http://schemas.openxmlformats.org/officeDocument/2006/relationships/notesMaster" Target="/ppt/notesMasters/notesMaster1.xml" Id="R9c3a369f75ad4a36" /></Relationships>
</file>

<file path=ppt/notesSlides/_rels/notesSlide4.xml.rels>&#65279;<?xml version="1.0" encoding="utf-8"?><Relationships xmlns="http://schemas.openxmlformats.org/package/2006/relationships"><Relationship Type="http://schemas.openxmlformats.org/officeDocument/2006/relationships/slide" Target="/ppt/slides/slide4.xml" Id="Rd2fb1d3db047472e" /><Relationship Type="http://schemas.openxmlformats.org/officeDocument/2006/relationships/notesMaster" Target="/ppt/notesMasters/notesMaster1.xml" Id="R8bbd89d780664565" /></Relationships>
</file>

<file path=ppt/notesSlides/_rels/notesSlide5.xml.rels>&#65279;<?xml version="1.0" encoding="utf-8"?><Relationships xmlns="http://schemas.openxmlformats.org/package/2006/relationships"><Relationship Type="http://schemas.openxmlformats.org/officeDocument/2006/relationships/slide" Target="/ppt/slides/slide5.xml" Id="Rd225ac53f0564886" /><Relationship Type="http://schemas.openxmlformats.org/officeDocument/2006/relationships/notesMaster" Target="/ppt/notesMasters/notesMaster1.xml" Id="R97f0b14b77714ea4" /></Relationships>
</file>

<file path=ppt/notesSlides/_rels/notesSlide6.xml.rels>&#65279;<?xml version="1.0" encoding="utf-8"?><Relationships xmlns="http://schemas.openxmlformats.org/package/2006/relationships"><Relationship Type="http://schemas.openxmlformats.org/officeDocument/2006/relationships/slide" Target="/ppt/slides/slide6.xml" Id="R4b45027a5da34eb2" /><Relationship Type="http://schemas.openxmlformats.org/officeDocument/2006/relationships/notesMaster" Target="/ppt/notesMasters/notesMaster1.xml" Id="R43172a3058b64c4f" /></Relationships>
</file>

<file path=ppt/notesSlides/_rels/notesSlide7.xml.rels>&#65279;<?xml version="1.0" encoding="utf-8"?><Relationships xmlns="http://schemas.openxmlformats.org/package/2006/relationships"><Relationship Type="http://schemas.openxmlformats.org/officeDocument/2006/relationships/slide" Target="/ppt/slides/slide7.xml" Id="Ra827a67ea2e546ce" /><Relationship Type="http://schemas.openxmlformats.org/officeDocument/2006/relationships/notesMaster" Target="/ppt/notesMasters/notesMaster1.xml" Id="R46707dd0c8a24b1a" /></Relationships>
</file>

<file path=ppt/notesSlides/_rels/notesSlide8.xml.rels>&#65279;<?xml version="1.0" encoding="utf-8"?><Relationships xmlns="http://schemas.openxmlformats.org/package/2006/relationships"><Relationship Type="http://schemas.openxmlformats.org/officeDocument/2006/relationships/slide" Target="/ppt/slides/slide8.xml" Id="R192f831d6dd3411c" /><Relationship Type="http://schemas.openxmlformats.org/officeDocument/2006/relationships/notesMaster" Target="/ppt/notesMasters/notesMaster1.xml" Id="R68821ccaf21549c0" /></Relationships>
</file>

<file path=ppt/notesSlides/_rels/notesSlide9.xml.rels>&#65279;<?xml version="1.0" encoding="utf-8"?><Relationships xmlns="http://schemas.openxmlformats.org/package/2006/relationships"><Relationship Type="http://schemas.openxmlformats.org/officeDocument/2006/relationships/slide" Target="/ppt/slides/slide9.xml" Id="Rb9063bb1729a4a62" /><Relationship Type="http://schemas.openxmlformats.org/officeDocument/2006/relationships/notesMaster" Target="/ppt/notesMasters/notesMaster1.xml" Id="Rba73b8f1be224c5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941537c1534438c" /><Relationship Type="http://schemas.openxmlformats.org/officeDocument/2006/relationships/notesMaster" Target="/ppt/notesMasters/notesMaster1.xml" Id="R39a4a81c7215484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b3873aadd10456c" /><Relationship Type="http://schemas.openxmlformats.org/officeDocument/2006/relationships/notesMaster" Target="/ppt/notesMasters/notesMaster1.xml" Id="Rb3beaae3fcdc43c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a52482223ff4e3c" /><Relationship Type="http://schemas.openxmlformats.org/officeDocument/2006/relationships/notesMaster" Target="/ppt/notesMasters/notesMaster1.xml" Id="R2d84b22eff874f1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4ea6271e6534ee5" /><Relationship Type="http://schemas.openxmlformats.org/officeDocument/2006/relationships/notesMaster" Target="/ppt/notesMasters/notesMaster1.xml" Id="R4883427d22834bc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f5e4e160eec420f" /><Relationship Type="http://schemas.openxmlformats.org/officeDocument/2006/relationships/notesMaster" Target="/ppt/notesMasters/notesMaster1.xml" Id="R9d66675dc7944dd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27fd953d5514417" /><Relationship Type="http://schemas.openxmlformats.org/officeDocument/2006/relationships/notesMaster" Target="/ppt/notesMasters/notesMaster1.xml" Id="R36f1a0d40c20479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c2dd1c6eb774ecd" /><Relationship Type="http://schemas.openxmlformats.org/officeDocument/2006/relationships/notesMaster" Target="/ppt/notesMasters/notesMaster1.xml" Id="R78be61ad3fd14d1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26cd32270434bd6" /><Relationship Type="http://schemas.openxmlformats.org/officeDocument/2006/relationships/notesMaster" Target="/ppt/notesMasters/notesMaster1.xml" Id="R2edc7cbf18af4ee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071518a0b4c49f2" /><Relationship Type="http://schemas.openxmlformats.org/officeDocument/2006/relationships/notesMaster" Target="/ppt/notesMasters/notesMaster1.xml" Id="R252dac18ddf04ae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59e9e68f7fb4f86" /><Relationship Type="http://schemas.openxmlformats.org/officeDocument/2006/relationships/notesMaster" Target="/ppt/notesMasters/notesMaster1.xml" Id="R2fcb1c8543f14f1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cd3c25b6e5c4de2" /><Relationship Type="http://schemas.openxmlformats.org/officeDocument/2006/relationships/notesMaster" Target="/ppt/notesMasters/notesMaster1.xml" Id="R04b49aea992842d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f1cb0404c1b4391" /><Relationship Type="http://schemas.openxmlformats.org/officeDocument/2006/relationships/notesMaster" Target="/ppt/notesMasters/notesMaster1.xml" Id="R595e9f760108430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f60006ce4ca4062" /><Relationship Type="http://schemas.openxmlformats.org/officeDocument/2006/relationships/notesMaster" Target="/ppt/notesMasters/notesMaster1.xml" Id="R333f1597a6df493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2dc379d6ea9413f" /><Relationship Type="http://schemas.openxmlformats.org/officeDocument/2006/relationships/notesMaster" Target="/ppt/notesMasters/notesMaster1.xml" Id="R90b19ce6551a4ee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36e9051dae54a29" /><Relationship Type="http://schemas.openxmlformats.org/officeDocument/2006/relationships/notesMaster" Target="/ppt/notesMasters/notesMaster1.xml" Id="Rab7de45864bd49b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bf3da4dde20482f" /><Relationship Type="http://schemas.openxmlformats.org/officeDocument/2006/relationships/notesMaster" Target="/ppt/notesMasters/notesMaster1.xml" Id="R1b6b150df25a42f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938047c63d54802" /><Relationship Type="http://schemas.openxmlformats.org/officeDocument/2006/relationships/notesMaster" Target="/ppt/notesMasters/notesMaster1.xml" Id="R810bd548c6f0472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098cfcfc51d497d" /><Relationship Type="http://schemas.openxmlformats.org/officeDocument/2006/relationships/notesMaster" Target="/ppt/notesMasters/notesMaster1.xml" Id="Ra92632cd14514241"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cbfe4ed28c24ab5" /><Relationship Type="http://schemas.openxmlformats.org/officeDocument/2006/relationships/notesMaster" Target="/ppt/notesMasters/notesMaster1.xml" Id="R7f4e99a85714414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b7c3037bdc6407d" /><Relationship Type="http://schemas.openxmlformats.org/officeDocument/2006/relationships/notesMaster" Target="/ppt/notesMasters/notesMaster1.xml" Id="R541a786e2ef94d7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419c70b5b304171" /><Relationship Type="http://schemas.openxmlformats.org/officeDocument/2006/relationships/notesMaster" Target="/ppt/notesMasters/notesMaster1.xml" Id="R66137b9d751b43b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ee243a286b4d4590" /><Relationship Type="http://schemas.openxmlformats.org/officeDocument/2006/relationships/notesMaster" Target="/ppt/notesMasters/notesMaster1.xml" Id="Re43828951d774c3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c8cb58b8e0540f9" /><Relationship Type="http://schemas.openxmlformats.org/officeDocument/2006/relationships/notesMaster" Target="/ppt/notesMasters/notesMaster1.xml" Id="R7cc685d8953a4b14"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127b9cc5be34495" /><Relationship Type="http://schemas.openxmlformats.org/officeDocument/2006/relationships/notesMaster" Target="/ppt/notesMasters/notesMaster1.xml" Id="R151ba1a1caa748d3"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9d80d0816fe49d1" /><Relationship Type="http://schemas.openxmlformats.org/officeDocument/2006/relationships/notesMaster" Target="/ppt/notesMasters/notesMaster1.xml" Id="Rf7e47f06c4444da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cbd64378a5a44bc" /><Relationship Type="http://schemas.openxmlformats.org/officeDocument/2006/relationships/notesMaster" Target="/ppt/notesMasters/notesMaster1.xml" Id="R9867ac068c3b455e"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d72d8ee124d4a88" /><Relationship Type="http://schemas.openxmlformats.org/officeDocument/2006/relationships/notesMaster" Target="/ppt/notesMasters/notesMaster1.xml" Id="Rbbc43fe1247f4254"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8abfb68dd754ac1" /><Relationship Type="http://schemas.openxmlformats.org/officeDocument/2006/relationships/notesMaster" Target="/ppt/notesMasters/notesMaster1.xml" Id="Re7b7584ca5fb4cae"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de646487327d4eca" /><Relationship Type="http://schemas.openxmlformats.org/officeDocument/2006/relationships/notesMaster" Target="/ppt/notesMasters/notesMaster1.xml" Id="R20096098689e4864"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956709e2ddcd4126" /><Relationship Type="http://schemas.openxmlformats.org/officeDocument/2006/relationships/notesMaster" Target="/ppt/notesMasters/notesMaster1.xml" Id="Re76f6e68cab94f3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634d4a1b552e4da5" /><Relationship Type="http://schemas.openxmlformats.org/officeDocument/2006/relationships/notesMaster" Target="/ppt/notesMasters/notesMaster1.xml" Id="R35b4871b404a46a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a2640e19e3f941fe" /><Relationship Type="http://schemas.openxmlformats.org/officeDocument/2006/relationships/notesMaster" Target="/ppt/notesMasters/notesMaster1.xml" Id="R7311f6b2de2e43d4"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39773aeda3f41f1" /><Relationship Type="http://schemas.openxmlformats.org/officeDocument/2006/relationships/notesMaster" Target="/ppt/notesMasters/notesMaster1.xml" Id="R009364d1c48443e7"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2feb749661014a03" /><Relationship Type="http://schemas.openxmlformats.org/officeDocument/2006/relationships/notesMaster" Target="/ppt/notesMasters/notesMaster1.xml" Id="Ra18d1a6ea04b4180"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cc79c87e24534bd4" /><Relationship Type="http://schemas.openxmlformats.org/officeDocument/2006/relationships/notesMaster" Target="/ppt/notesMasters/notesMaster1.xml" Id="R12986a39efdb4eec"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45f21f5c48af4e3a" /><Relationship Type="http://schemas.openxmlformats.org/officeDocument/2006/relationships/notesMaster" Target="/ppt/notesMasters/notesMaster1.xml" Id="R7218f70ffa7f4a15"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671d1d4b8e434f68" /><Relationship Type="http://schemas.openxmlformats.org/officeDocument/2006/relationships/notesMaster" Target="/ppt/notesMasters/notesMaster1.xml" Id="R6f40b44777fd46b7"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df6da5b869984953" /><Relationship Type="http://schemas.openxmlformats.org/officeDocument/2006/relationships/notesMaster" Target="/ppt/notesMasters/notesMaster1.xml" Id="Rd48176be39214449"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9f7095c5d3264c41" /><Relationship Type="http://schemas.openxmlformats.org/officeDocument/2006/relationships/notesMaster" Target="/ppt/notesMasters/notesMaster1.xml" Id="R2770fb266edc4430"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f8f525ea7d1741fb" /><Relationship Type="http://schemas.openxmlformats.org/officeDocument/2006/relationships/notesMaster" Target="/ppt/notesMasters/notesMaster1.xml" Id="R7bf2e821d0d7481a"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203575af2eb64873" /><Relationship Type="http://schemas.openxmlformats.org/officeDocument/2006/relationships/notesMaster" Target="/ppt/notesMasters/notesMaster1.xml" Id="R4de07bebe64e4faf"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08f9d6cd3ef34778" /><Relationship Type="http://schemas.openxmlformats.org/officeDocument/2006/relationships/notesMaster" Target="/ppt/notesMasters/notesMaster1.xml" Id="R2274974e8d034d2e"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de482a4c6ba442a6" /><Relationship Type="http://schemas.openxmlformats.org/officeDocument/2006/relationships/notesMaster" Target="/ppt/notesMasters/notesMaster1.xml" Id="Ra69d7507d8d54c43"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94470297f51d42e2" /><Relationship Type="http://schemas.openxmlformats.org/officeDocument/2006/relationships/notesMaster" Target="/ppt/notesMasters/notesMaster1.xml" Id="Ra928b6e857d24415"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9e570aacb8da42c2" /><Relationship Type="http://schemas.openxmlformats.org/officeDocument/2006/relationships/notesMaster" Target="/ppt/notesMasters/notesMaster1.xml" Id="Rb03cbfcfd5c84b45"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09c9634b4ee748e2" /><Relationship Type="http://schemas.openxmlformats.org/officeDocument/2006/relationships/notesMaster" Target="/ppt/notesMasters/notesMaster1.xml" Id="R449f493d2aac413a"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81514941e3004e22" /><Relationship Type="http://schemas.openxmlformats.org/officeDocument/2006/relationships/notesMaster" Target="/ppt/notesMasters/notesMaster1.xml" Id="Rf15b7009ae624389"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7d0b483aed0c42e7" /><Relationship Type="http://schemas.openxmlformats.org/officeDocument/2006/relationships/notesMaster" Target="/ppt/notesMasters/notesMaster1.xml" Id="Rcb88047697c149c1"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e3e5fd04f67a4be4" /><Relationship Type="http://schemas.openxmlformats.org/officeDocument/2006/relationships/notesMaster" Target="/ppt/notesMasters/notesMaster1.xml" Id="Rf0ae1079092541db"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2ab9ed90ce7347d7" /><Relationship Type="http://schemas.openxmlformats.org/officeDocument/2006/relationships/notesMaster" Target="/ppt/notesMasters/notesMaster1.xml" Id="Rc795ca9bccae426d"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a344f5519a2f4ad7" /><Relationship Type="http://schemas.openxmlformats.org/officeDocument/2006/relationships/notesMaster" Target="/ppt/notesMasters/notesMaster1.xml" Id="R0c4dd62e98664a27"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6c19c443197f40b4" /><Relationship Type="http://schemas.openxmlformats.org/officeDocument/2006/relationships/notesMaster" Target="/ppt/notesMasters/notesMaster1.xml" Id="Rff0a3fd300d04205"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afa84e400b93436b" /><Relationship Type="http://schemas.openxmlformats.org/officeDocument/2006/relationships/notesMaster" Target="/ppt/notesMasters/notesMaster1.xml" Id="R64069c4e40bd4c5f"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8a93fd13ea044319" /><Relationship Type="http://schemas.openxmlformats.org/officeDocument/2006/relationships/notesMaster" Target="/ppt/notesMasters/notesMaster1.xml" Id="Rc9db337e530a4639"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71fa740db12549f6" /><Relationship Type="http://schemas.openxmlformats.org/officeDocument/2006/relationships/notesMaster" Target="/ppt/notesMasters/notesMaster1.xml" Id="R257aba82c6f84ba3"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0dc6cf3028e3402d" /><Relationship Type="http://schemas.openxmlformats.org/officeDocument/2006/relationships/notesMaster" Target="/ppt/notesMasters/notesMaster1.xml" Id="R0a530b1d4de0475c"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39a3d659c4844b55" /><Relationship Type="http://schemas.openxmlformats.org/officeDocument/2006/relationships/notesMaster" Target="/ppt/notesMasters/notesMaster1.xml" Id="R82c79523e58b4fcc"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0de1b776391844e1" /><Relationship Type="http://schemas.openxmlformats.org/officeDocument/2006/relationships/notesMaster" Target="/ppt/notesMasters/notesMaster1.xml" Id="R12f6bf3216d44aa4"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30582bf7f95c4048" /><Relationship Type="http://schemas.openxmlformats.org/officeDocument/2006/relationships/notesMaster" Target="/ppt/notesMasters/notesMaster1.xml" Id="Rb2855dcea5a244ef"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cb8961fdb55e4ac9" /><Relationship Type="http://schemas.openxmlformats.org/officeDocument/2006/relationships/notesMaster" Target="/ppt/notesMasters/notesMaster1.xml" Id="R104a9ff6ce794a0b"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6d165dfec20f4563" /><Relationship Type="http://schemas.openxmlformats.org/officeDocument/2006/relationships/notesMaster" Target="/ppt/notesMasters/notesMaster1.xml" Id="Ra9538fb6fda24b57"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13713a89106c467a" /><Relationship Type="http://schemas.openxmlformats.org/officeDocument/2006/relationships/notesMaster" Target="/ppt/notesMasters/notesMaster1.xml" Id="Rc6e12bed338444b8"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eca1d0e163ed4a66" /><Relationship Type="http://schemas.openxmlformats.org/officeDocument/2006/relationships/notesMaster" Target="/ppt/notesMasters/notesMaster1.xml" Id="Rcf4287640af543d5"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2e422e5b5ac6468c" /><Relationship Type="http://schemas.openxmlformats.org/officeDocument/2006/relationships/notesMaster" Target="/ppt/notesMasters/notesMaster1.xml" Id="R392c7b02135a4452"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3968e1bb3cb54463" /><Relationship Type="http://schemas.openxmlformats.org/officeDocument/2006/relationships/notesMaster" Target="/ppt/notesMasters/notesMaster1.xml" Id="R14f71adf50524d7d"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db0e8576c11f42a3" /><Relationship Type="http://schemas.openxmlformats.org/officeDocument/2006/relationships/notesMaster" Target="/ppt/notesMasters/notesMaster1.xml" Id="R1e8c6d898b4f4190"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75fc239f9b9a4274" /><Relationship Type="http://schemas.openxmlformats.org/officeDocument/2006/relationships/notesMaster" Target="/ppt/notesMasters/notesMaster1.xml" Id="R87fed4ba82694245"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34f2ea5011c846ea" /><Relationship Type="http://schemas.openxmlformats.org/officeDocument/2006/relationships/notesMaster" Target="/ppt/notesMasters/notesMaster1.xml" Id="R36139fbb288c4e8a"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52ac542becb141d7" /><Relationship Type="http://schemas.openxmlformats.org/officeDocument/2006/relationships/notesMaster" Target="/ppt/notesMasters/notesMaster1.xml" Id="Rf61c572b08704f65"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1af749141cd94445" /><Relationship Type="http://schemas.openxmlformats.org/officeDocument/2006/relationships/notesMaster" Target="/ppt/notesMasters/notesMaster1.xml" Id="R1284d2063fbb45bb"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e2f11a71cb6a4a32" /><Relationship Type="http://schemas.openxmlformats.org/officeDocument/2006/relationships/notesMaster" Target="/ppt/notesMasters/notesMaster1.xml" Id="Rda1de09ba8074bbd"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817e3b196c1f4aff" /><Relationship Type="http://schemas.openxmlformats.org/officeDocument/2006/relationships/notesMaster" Target="/ppt/notesMasters/notesMaster1.xml" Id="R5139d1797ca84c3d"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86ac867dd81d4bf1" /><Relationship Type="http://schemas.openxmlformats.org/officeDocument/2006/relationships/notesMaster" Target="/ppt/notesMasters/notesMaster1.xml" Id="R803bc50de9074525"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6f03aab72650436d" /><Relationship Type="http://schemas.openxmlformats.org/officeDocument/2006/relationships/notesMaster" Target="/ppt/notesMasters/notesMaster1.xml" Id="R990a34e583bc4426"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8f98475e5c8c4566" /><Relationship Type="http://schemas.openxmlformats.org/officeDocument/2006/relationships/notesMaster" Target="/ppt/notesMasters/notesMaster1.xml" Id="R514e40518f274304"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fd6ff63992de4846" /><Relationship Type="http://schemas.openxmlformats.org/officeDocument/2006/relationships/notesMaster" Target="/ppt/notesMasters/notesMaster1.xml" Id="R21ce51ff6a664b2d"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39fcc2c404324302" /><Relationship Type="http://schemas.openxmlformats.org/officeDocument/2006/relationships/notesMaster" Target="/ppt/notesMasters/notesMaster1.xml" Id="Rfd2239c6ef504749"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17edf1bbb3354991" /><Relationship Type="http://schemas.openxmlformats.org/officeDocument/2006/relationships/notesMaster" Target="/ppt/notesMasters/notesMaster1.xml" Id="Re9937c05eed841e4"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90116404600d4d27" /><Relationship Type="http://schemas.openxmlformats.org/officeDocument/2006/relationships/notesMaster" Target="/ppt/notesMasters/notesMaster1.xml" Id="R8b6a4a5abae847a5"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8cc3e7b0a28d45c1" /><Relationship Type="http://schemas.openxmlformats.org/officeDocument/2006/relationships/notesMaster" Target="/ppt/notesMasters/notesMaster1.xml" Id="R923803e0a91f42b2"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fb4efd1d3a624b00" /><Relationship Type="http://schemas.openxmlformats.org/officeDocument/2006/relationships/notesMaster" Target="/ppt/notesMasters/notesMaster1.xml" Id="Ra2bd57f31ce04fc5"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2cf98abea781401d" /><Relationship Type="http://schemas.openxmlformats.org/officeDocument/2006/relationships/notesMaster" Target="/ppt/notesMasters/notesMaster1.xml" Id="R379171ba6d4e4872"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50058a8734d5416b" /><Relationship Type="http://schemas.openxmlformats.org/officeDocument/2006/relationships/notesMaster" Target="/ppt/notesMasters/notesMaster1.xml" Id="R3202e691c4674f5a"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1b13ff6a77324e1c" /><Relationship Type="http://schemas.openxmlformats.org/officeDocument/2006/relationships/notesMaster" Target="/ppt/notesMasters/notesMaster1.xml" Id="R49fbf02528c8414b"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d2b2fbf51f654e8b" /><Relationship Type="http://schemas.openxmlformats.org/officeDocument/2006/relationships/notesMaster" Target="/ppt/notesMasters/notesMaster1.xml" Id="R2a334e4addaa40a2"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fcf886191e804322" /><Relationship Type="http://schemas.openxmlformats.org/officeDocument/2006/relationships/notesMaster" Target="/ppt/notesMasters/notesMaster1.xml" Id="R7e08d819cad748e1"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28429b58c48b4716" /><Relationship Type="http://schemas.openxmlformats.org/officeDocument/2006/relationships/notesMaster" Target="/ppt/notesMasters/notesMaster1.xml" Id="Reeb8327cc7c94f2b"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7874c174a73b4a9c" /><Relationship Type="http://schemas.openxmlformats.org/officeDocument/2006/relationships/notesMaster" Target="/ppt/notesMasters/notesMaster1.xml" Id="R1d3160f8dfb94124"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d8c872fb66b5452b" /><Relationship Type="http://schemas.openxmlformats.org/officeDocument/2006/relationships/notesMaster" Target="/ppt/notesMasters/notesMaster1.xml" Id="R04b78a5bd7234c18"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ee570f35d4ca42bd" /><Relationship Type="http://schemas.openxmlformats.org/officeDocument/2006/relationships/notesMaster" Target="/ppt/notesMasters/notesMaster1.xml" Id="Reb09c5fabaed405e"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970019d4425d4998" /><Relationship Type="http://schemas.openxmlformats.org/officeDocument/2006/relationships/notesMaster" Target="/ppt/notesMasters/notesMaster1.xml" Id="R9f161e35edc3422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r>
              <a:t/>
            </a:r>
          </a:p>
          <a:p xmlns:a="http://schemas.openxmlformats.org/drawingml/2006/main">
            <a:r>
              <a:t>Open with the operating thesis: Linux administration is a sequence of observable state transitions. The complete route contains 180 minutes of theory and distinct demonstrations plus 210 minutes of required practice. State that the full route is 390 instructional minutes before breaks; do not call it a 50/50 six-hour course.</a:t>
            </a:r>
          </a:p>
          <a:p xmlns:a="http://schemas.openxmlformats.org/drawingml/2006/main">
            <a:r>
              <a:t/>
            </a:r>
          </a:p>
          <a:p xmlns:a="http://schemas.openxmlformats.org/drawingml/2006/main">
            <a:r>
              <a:t>Source claims: C01, C19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“These are operational outcomes, not trivia outcomes.” Expand each verb. Navigate means you can always answer where you are and what a path refers to. Control access means you can explain why access succeeds or fails before reaching for chmod 777. Diagnose means you can move from a service symptom to unit-specific evidence and prove the fix at the behavior level.</a:t>
            </a:r>
          </a:p>
          <a:p xmlns:a="http://schemas.openxmlformats.org/drawingml/2006/main">
            <a:r>
              <a:t/>
            </a:r>
          </a:p>
          <a:p xmlns:a="http://schemas.openxmlformats.org/drawingml/2006/main">
            <a:r>
              <a:t>Ask for a quick show of hands: who has used a terminal, who has used SSH, who has read systemd logs? Use the answer only to adjust examples—not scope.</a:t>
            </a:r>
          </a:p>
          <a:p xmlns:a="http://schemas.openxmlformats.org/drawingml/2006/main">
            <a:r>
              <a:t/>
            </a:r>
          </a:p>
          <a:p xmlns:a="http://schemas.openxmlformats.org/drawingml/2006/main">
            <a:r>
              <a:t>Source claims: C01, C19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“The browser is only the window. Each learner works in a real, isolated Ubuntu 24.04 system container behind it.” Point out that Safari, Edge, and Chrome all reach the same terminal; the host operating system no longer changes the lab commands.</a:t>
            </a:r>
          </a:p>
          <a:p xmlns:a="http://schemas.openxmlformats.org/drawingml/2006/main">
            <a:r>
              <a:t/>
            </a:r>
          </a:p>
          <a:p xmlns:a="http://schemas.openxmlformats.org/drawingml/2006/main">
            <a:r>
              <a:t>Give the class a rule: before sudo, rm, chmod, or systemctl, read the prompt and run pwd or hostname if uncertain. The portal labels the current lab and lets the learner reset it to a known state.</a:t>
            </a:r>
          </a:p>
          <a:p xmlns:a="http://schemas.openxmlformats.org/drawingml/2006/main">
            <a:r>
              <a:t/>
            </a:r>
          </a:p>
          <a:p xmlns:a="http://schemas.openxmlformats.org/drawingml/2006/main">
            <a:r>
              <a:t>Ask: “If I close the browser tab, does the Linux session disappear?” Answer: no; it remains on the peer controller until it is reset or destroyed.</a:t>
            </a:r>
          </a:p>
          <a:p xmlns:a="http://schemas.openxmlformats.org/drawingml/2006/main">
            <a:r>
              <a:t/>
            </a:r>
          </a:p>
          <a:p xmlns:a="http://schemas.openxmlformats.org/drawingml/2006/main">
            <a:r>
              <a:t>Source claims: C01, C19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Walk left to right. Every module introduces one operating question, demonstrates it on instructor-only objects, and then assigns a different incident. The practical share is deliberately larger. For a strict six-hour booking, Lab 1 begins before the room session and the final synthesis moves after it; all ten assessed labs remain.</a:t>
            </a:r>
          </a:p>
          <a:p xmlns:a="http://schemas.openxmlformats.org/drawingml/2006/main">
            <a:r>
              <a:t/>
            </a:r>
          </a:p>
          <a:p xmlns:a="http://schemas.openxmlformats.org/drawingml/2006/main">
            <a:r>
              <a:t>Source claims: C01, C19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r>
              <a:t/>
            </a:r>
          </a:p>
          <a:p xmlns:a="http://schemas.openxmlformats.org/drawingml/2006/main">
            <a:r>
              <a:t>Say: “Linux strictly names the kernel. The system you operate combines that kernel with user-space tools, libraries, an init system, packaging, and applications.” Walk from the platform boundary upward. The controller VM supplies virtual hardware; each Incus system container shares the controller kernel while keeping its own user space, processes, filesystem, network, and systemd.</a:t>
            </a:r>
          </a:p>
          <a:p xmlns:a="http://schemas.openxmlformats.org/drawingml/2006/main">
            <a:r>
              <a:t/>
            </a:r>
          </a:p>
          <a:p xmlns:a="http://schemas.openxmlformats.org/drawingml/2006/main">
            <a:r>
              <a:t>Use uname -r as the kernel question and /etc/os-release as the distribution question. This distinction explains why two distributions can share a kernel yet differ in packages, defaults, and support.</a:t>
            </a:r>
          </a:p>
          <a:p xmlns:a="http://schemas.openxmlformats.org/drawingml/2006/main">
            <a:r>
              <a:t/>
            </a:r>
          </a:p>
          <a:p xmlns:a="http://schemas.openxmlformats.org/drawingml/2006/main">
            <a:r>
              <a:t>Avoid a history lecture. The useful model is: when troubleshooting, locate the failing layer.</a:t>
            </a:r>
          </a:p>
          <a:p xmlns:a="http://schemas.openxmlformats.org/drawingml/2006/main">
            <a:r>
              <a:t/>
            </a:r>
          </a:p>
          <a:p xmlns:a="http://schemas.openxmlformats.org/drawingml/2006/main">
            <a:r>
              <a:t>Source claims: C01, C19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r>
              <a:t/>
            </a:r>
          </a:p>
          <a:p xmlns:a="http://schemas.openxmlformats.org/drawingml/2006/main">
            <a:r>
              <a:t>Say: “The kernel turns hardware into abstractions.” Treat the kernel as the resource manager below every command. User programs request services through system calls instead of controlling hardware directly.</a:t>
            </a:r>
          </a:p>
          <a:p xmlns:a="http://schemas.openxmlformats.org/drawingml/2006/main">
            <a:r>
              <a:t/>
            </a:r>
          </a:p>
          <a:p xmlns:a="http://schemas.openxmlformats.org/drawingml/2006/main">
            <a:r>
              <a:t>Processes means scheduled programs with isolated address spaces. Memory means virtual memory, pages, caches, and protection. Filesystems means one namespace across disks and virtual data. Network means sockets, routes, interfaces, and packet flow. Devices means drivers expose hardware through common interfaces.</a:t>
            </a:r>
          </a:p>
          <a:p xmlns:a="http://schemas.openxmlformats.org/drawingml/2006/main">
            <a:r>
              <a:t/>
            </a:r>
          </a:p>
          <a:p xmlns:a="http://schemas.openxmlformats.org/drawingml/2006/main">
            <a:r>
              <a:t>Example: When cat reads a file, the shell starts cat, cat asks the kernel to open and read bytes, and the kernel coordinates permissions, storage, and memory.</a:t>
            </a:r>
          </a:p>
          <a:p xmlns:a="http://schemas.openxmlformats.org/drawingml/2006/main">
            <a:r>
              <a:t/>
            </a:r>
          </a:p>
          <a:p xmlns:a="http://schemas.openxmlformats.org/drawingml/2006/main">
            <a:r>
              <a:t>Ask: “Which kernel responsibility is involved when a process is killed for using too much memory?”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C01, C19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r>
              <a:t/>
            </a:r>
          </a:p>
          <a:p xmlns:a="http://schemas.openxmlformats.org/drawingml/2006/main">
            <a:r>
              <a:t>Frame distributions as maintained choices, not competing religions. They bundle a kernel, user space, repositories, defaults, updates, and a support promise. Command families transfer, but package names, paths, service names, and security defaults can differ. For example, Debian-family systems use APT, while RHEL-family systems use DNF.</a:t>
            </a:r>
          </a:p>
          <a:p xmlns:a="http://schemas.openxmlformats.org/drawingml/2006/main">
            <a:r>
              <a:t/>
            </a:r>
          </a:p>
          <a:p xmlns:a="http://schemas.openxmlformats.org/drawingml/2006/main">
            <a:r>
              <a:t>Explain why the workshop standardises on Ubuntu 24.04 LTS: one long-term-supported image, APT, OpenSSH, and systemd, cloned into isolated Incus lab sessions. The browser makes that same Linux environment available from macOS and Windows.</a:t>
            </a:r>
          </a:p>
          <a:p xmlns:a="http://schemas.openxmlformats.org/drawingml/2006/main">
            <a:r>
              <a:t/>
            </a:r>
          </a:p>
          <a:p xmlns:a="http://schemas.openxmlformats.org/drawingml/2006/main">
            <a:r>
              <a:t>Ask: “What should you record before following a web tutorial?” Expected: distribution, version, and command context.</a:t>
            </a:r>
          </a:p>
          <a:p xmlns:a="http://schemas.openxmlformats.org/drawingml/2006/main">
            <a:r>
              <a:t/>
            </a:r>
          </a:p>
          <a:p xmlns:a="http://schemas.openxmlformats.org/drawingml/2006/main">
            <a:r>
              <a:t>Source claims: C01, C19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r>
              <a:t/>
            </a:r>
          </a:p>
          <a:p xmlns:a="http://schemas.openxmlformats.org/drawingml/2006/main">
            <a:r>
              <a:t>Say: “Distribution families share ideas, not every command.” Package names, security defaults, and service names vary even when filesystem and permission concepts transfer.</a:t>
            </a:r>
          </a:p>
          <a:p xmlns:a="http://schemas.openxmlformats.org/drawingml/2006/main">
            <a:r>
              <a:t/>
            </a:r>
          </a:p>
          <a:p xmlns:a="http://schemas.openxmlformats.org/drawingml/2006/main">
            <a:r>
              <a:t>Debian family: Ubuntu · Debian; APT + .deb; /etc/apt; Long support. Red Hat family: RHEL · Rocky · Alma; DNF + RPM; /etc/yum.repos.d; SELinux defaults. Other contexts: Fedora: newer stacks; Alpine: small images; Arch: rolling; Vendor clouds.</a:t>
            </a:r>
          </a:p>
          <a:p xmlns:a="http://schemas.openxmlformats.org/drawingml/2006/main">
            <a:r>
              <a:t/>
            </a:r>
          </a:p>
          <a:p xmlns:a="http://schemas.openxmlformats.org/drawingml/2006/main">
            <a:r>
              <a:t>Example: A tutorial says yum install; your host has apt. What should you verify before translating it?</a:t>
            </a:r>
          </a:p>
          <a:p xmlns:a="http://schemas.openxmlformats.org/drawingml/2006/main">
            <a:r>
              <a:t/>
            </a:r>
          </a:p>
          <a:p xmlns:a="http://schemas.openxmlformats.org/drawingml/2006/main">
            <a:r>
              <a:t>Ask: “Release strategy is the next distribution choice that changes operational risk.”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C01, C19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r>
              <a:t/>
            </a:r>
          </a:p>
          <a:p xmlns:a="http://schemas.openxmlformats.org/drawingml/2006/main">
            <a:r>
              <a:t>Say: “Stable and rolling releases trade currency.” Ubuntu 24.04 LTS gives this class a consistent package set and support baseline; a development workstation may make a different tradeoff.</a:t>
            </a:r>
          </a:p>
          <a:p xmlns:a="http://schemas.openxmlformats.org/drawingml/2006/main">
            <a:r>
              <a:t/>
            </a:r>
          </a:p>
          <a:p xmlns:a="http://schemas.openxmlformats.org/drawingml/2006/main">
            <a:r>
              <a:t>STABLE / LTS, predictability: Longer support window; Security fixes with fewer surprises; Older major versions are common. ROLLING, currency: Frequent package updates; Fast access to new features; More integration change over time.</a:t>
            </a:r>
          </a:p>
          <a:p xmlns:a="http://schemas.openxmlformats.org/drawingml/2006/main">
            <a:r>
              <a:t/>
            </a:r>
          </a:p>
          <a:p xmlns:a="http://schemas.openxmlformats.org/drawingml/2006/main">
            <a:r>
              <a:t>Example: Which model would you favor for a long-lived production appliance, and why?</a:t>
            </a:r>
          </a:p>
          <a:p xmlns:a="http://schemas.openxmlformats.org/drawingml/2006/main">
            <a:r>
              <a:t/>
            </a:r>
          </a:p>
          <a:p xmlns:a="http://schemas.openxmlformats.org/drawingml/2006/main">
            <a:r>
              <a:t>Ask: “Whatever the model, identify exactly what system you are operating.”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C01, C19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r>
              <a:t/>
            </a:r>
          </a:p>
          <a:p xmlns:a="http://schemas.openxmlformats.org/drawingml/2006/main">
            <a:r>
              <a:t>Say: “Virtual machines isolate kernels; containers share one.” Learners receive a realistic Ubuntu user space with users, packages, logs, SSH, and systemd, while the instructor can reset each seat quickly.</a:t>
            </a:r>
          </a:p>
          <a:p xmlns:a="http://schemas.openxmlformats.org/drawingml/2006/main">
            <a:r>
              <a:t/>
            </a:r>
          </a:p>
          <a:p xmlns:a="http://schemas.openxmlformats.org/drawingml/2006/main">
            <a:r>
              <a:t>VIRTUAL MACHINE, hardware boundary: Guest owns a kernel; Different isolation boundary; Higher memory and boot cost. Isolation strength depends on configuration and threat model. SYSTEM CONTAINER, OS boundary: Shares the host kernel; Own user space and systemd; Fast cloning and reset.</a:t>
            </a:r>
          </a:p>
          <a:p xmlns:a="http://schemas.openxmlformats.org/drawingml/2006/main">
            <a:r>
              <a:t/>
            </a:r>
          </a:p>
          <a:p xmlns:a="http://schemas.openxmlformats.org/drawingml/2006/main">
            <a:r>
              <a:t>Example: Does closing the browser destroy the container? Why not?</a:t>
            </a:r>
          </a:p>
          <a:p xmlns:a="http://schemas.openxmlformats.org/drawingml/2006/main">
            <a:r>
              <a:t/>
            </a:r>
          </a:p>
          <a:p xmlns:a="http://schemas.openxmlformats.org/drawingml/2006/main">
            <a:r>
              <a:t>Ask: “The transferable skill is recognizing which concepts stay stable across these boundaries.”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C01, C19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On the controller, compare the controller kernel with the learner container's os-release, kernel, and PID 1. Ask which facts belong to the user space and which to the shared kernel. Do not profile the learner seat used in Lab 1.</a:t>
            </a:r>
          </a:p>
          <a:p xmlns:a="http://schemas.openxmlformats.org/drawingml/2006/main">
            <a:r>
              <a:t/>
            </a:r>
          </a:p>
          <a:p xmlns:a="http://schemas.openxmlformats.org/drawingml/2006/main">
            <a:r>
              <a:t>Source claims: C01, C19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15 minutes.</a:t>
            </a:r>
          </a:p>
          <a:p xmlns:a="http://schemas.openxmlformats.org/drawingml/2006/main">
            <a:r>
              <a:t/>
            </a:r>
          </a:p>
          <a:p xmlns:a="http://schemas.openxmlformats.org/drawingml/2006/main">
            <a:r>
              <a:t>Launch the incident without revealing the solution sequence. Read the mission and acceptance evidence, then ask learners to state their first inspection command before opening the terminal. The checker validates observable state; the debrief must explain why that state follows from the commands.</a:t>
            </a:r>
          </a:p>
          <a:p xmlns:a="http://schemas.openxmlformats.org/drawingml/2006/main">
            <a:r>
              <a:t/>
            </a:r>
          </a:p>
          <a:p xmlns:a="http://schemas.openxmlformats.org/drawingml/2006/main">
            <a:r>
              <a:t>Debrief: which fact describes user space, and which describes the kernel?</a:t>
            </a:r>
          </a:p>
          <a:p xmlns:a="http://schemas.openxmlformats.org/drawingml/2006/main">
            <a:r>
              <a:t/>
            </a:r>
          </a:p>
          <a:p xmlns:a="http://schemas.openxmlformats.org/drawingml/2006/main">
            <a:r>
              <a:t>Source claims: C01, C02, C19 — resources/CLAIM_LEDGER.md. Full task and hints: labs/LAB_GUIDE.md.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“Core operating questions transfer across distributions.” APT may become DNF and ssh.service may become sshd.service, but context, least privilege, logs, and verification still guide the work.</a:t>
            </a:r>
          </a:p>
          <a:p xmlns:a="http://schemas.openxmlformats.org/drawingml/2006/main">
            <a:r>
              <a:t/>
            </a:r>
          </a:p>
          <a:p xmlns:a="http://schemas.openxmlformats.org/drawingml/2006/main">
            <a:r>
              <a:t>Locate: Where am I?; Which host?; Which user?; Which file or unit?. Change: Predict one state; Use narrow privilege; Make one edit; Capture exit status. Verify: Inspect resulting state; Read relevant logs; Test intended identity; Prove behavior.</a:t>
            </a:r>
          </a:p>
          <a:p xmlns:a="http://schemas.openxmlformats.org/drawingml/2006/main">
            <a:r>
              <a:t/>
            </a:r>
          </a:p>
          <a:p xmlns:a="http://schemas.openxmlformats.org/drawingml/2006/main">
            <a:r>
              <a:t>Example: Which parts of today’s workflow would survive a move from Ubuntu to Rocky Linux?</a:t>
            </a:r>
          </a:p>
          <a:p xmlns:a="http://schemas.openxmlformats.org/drawingml/2006/main">
            <a:r>
              <a:t/>
            </a:r>
          </a:p>
          <a:p xmlns:a="http://schemas.openxmlformats.org/drawingml/2006/main">
            <a:r>
              <a:t>Ask: “Now we apply that operating model to the filesystem namespace.”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C02, C03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Anchor the filesystem in operational questions. Slash is the single root, not a drive letter. /etc answers “where is host configuration?” /home answers “where are human-owned files?” /var answers “where does changing runtime data live?” /usr contains installed programs and shared read-only data. Mention /tmp for temporary data and /srv for service data as secondary anchors.</a:t>
            </a:r>
          </a:p>
          <a:p xmlns:a="http://schemas.openxmlformats.org/drawingml/2006/main">
            <a:r>
              <a:t/>
            </a:r>
          </a:p>
          <a:p xmlns:a="http://schemas.openxmlformats.org/drawingml/2006/main">
            <a:r>
              <a:t>Connect to the Filesystem Hierarchy Standard, but note that modern distributions may merge /bin into /usr/bin through symbolic links. Teach intent rather than assuming every directory is a separate disk.</a:t>
            </a:r>
          </a:p>
          <a:p xmlns:a="http://schemas.openxmlformats.org/drawingml/2006/main">
            <a:r>
              <a:t/>
            </a:r>
          </a:p>
          <a:p xmlns:a="http://schemas.openxmlformats.org/drawingml/2006/main">
            <a:r>
              <a:t>Ask learners to predict where SSH server configuration and package logs belong.</a:t>
            </a:r>
          </a:p>
          <a:p xmlns:a="http://schemas.openxmlformats.org/drawingml/2006/main">
            <a:r>
              <a:t/>
            </a:r>
          </a:p>
          <a:p xmlns:a="http://schemas.openxmlformats.org/drawingml/2006/main">
            <a:r>
              <a:t>Source claims: C02, C03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“Filesystem paths express intent, not physical disks.” Linux presents one directory tree even when data comes from several disks, network shares, or virtual kernel filesystems.</a:t>
            </a:r>
          </a:p>
          <a:p xmlns:a="http://schemas.openxmlformats.org/drawingml/2006/main">
            <a:r>
              <a:t/>
            </a:r>
          </a:p>
          <a:p xmlns:a="http://schemas.openxmlformats.org/drawingml/2006/main">
            <a:r>
              <a:t>/ means the root of the visible namespace. Mount means attach another filesystem at a directory. Path means a route through directory entries. File means a name referring to an inode-like object. Metadata means owner, mode, timestamps, size, and type.</a:t>
            </a:r>
          </a:p>
          <a:p xmlns:a="http://schemas.openxmlformats.org/drawingml/2006/main">
            <a:r>
              <a:t/>
            </a:r>
          </a:p>
          <a:p xmlns:a="http://schemas.openxmlformats.org/drawingml/2006/main">
            <a:r>
              <a:t>Example: The command findmnt shows where filesystems are attached; df reports filesystem space, while du estimates space used by paths.</a:t>
            </a:r>
          </a:p>
          <a:p xmlns:a="http://schemas.openxmlformats.org/drawingml/2006/main">
            <a:r>
              <a:t/>
            </a:r>
          </a:p>
          <a:p xmlns:a="http://schemas.openxmlformats.org/drawingml/2006/main">
            <a:r>
              <a:t>Ask: “Why can /home live on a different disk without changing user paths?”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C02, C03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“The hierarchy separates configuration, data, and runtime state.” A service configuration normally belongs under /etc; its changing cache or queue normally belongs under /var.</a:t>
            </a:r>
          </a:p>
          <a:p xmlns:a="http://schemas.openxmlformats.org/drawingml/2006/main">
            <a:r>
              <a:t/>
            </a:r>
          </a:p>
          <a:p xmlns:a="http://schemas.openxmlformats.org/drawingml/2006/main">
            <a:r>
              <a:t>Configuration: /etc host settings; /usr shipped defaults; Prefer drop-ins; Track intentional edits. Persistent data: /home user files; /var changing service data; /srv served content; /opt optional software. Runtime state: /run since boot; /tmp temporary files; /proc process views; /sys device and kernel views.</a:t>
            </a:r>
          </a:p>
          <a:p xmlns:a="http://schemas.openxmlformats.org/drawingml/2006/main">
            <a:r>
              <a:t/>
            </a:r>
          </a:p>
          <a:p xmlns:a="http://schemas.openxmlformats.org/drawingml/2006/main">
            <a:r>
              <a:t>Example: Where would you look first for a host-specific SSH configuration?</a:t>
            </a:r>
          </a:p>
          <a:p xmlns:a="http://schemas.openxmlformats.org/drawingml/2006/main">
            <a:r>
              <a:t/>
            </a:r>
          </a:p>
          <a:p xmlns:a="http://schemas.openxmlformats.org/drawingml/2006/main">
            <a:r>
              <a:t>Ask: “Two special trees expose live kernel state as files.”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C02, C03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“/proc and /sys expose live kernel state.” cat /proc/uptime reads a kernel-provided value. It does not read bytes stored on the root disk.</a:t>
            </a:r>
          </a:p>
          <a:p xmlns:a="http://schemas.openxmlformats.org/drawingml/2006/main">
            <a:r>
              <a:t/>
            </a:r>
          </a:p>
          <a:p xmlns:a="http://schemas.openxmlformats.org/drawingml/2006/main">
            <a:r>
              <a:t>/proc, process + kernel state: PID directories describe processes; cpuinfo and meminfo expose summaries; Values may change between reads. /sys, devices + kernel objects: Hardware and driver relationships; Many tunables are writable by root; Changes can affect the running system.</a:t>
            </a:r>
          </a:p>
          <a:p xmlns:a="http://schemas.openxmlformats.org/drawingml/2006/main">
            <a:r>
              <a:t/>
            </a:r>
          </a:p>
          <a:p xmlns:a="http://schemas.openxmlformats.org/drawingml/2006/main">
            <a:r>
              <a:t>Example: Why is copying /proc as a backup meaningless?</a:t>
            </a:r>
          </a:p>
          <a:p xmlns:a="http://schemas.openxmlformats.org/drawingml/2006/main">
            <a:r>
              <a:t/>
            </a:r>
          </a:p>
          <a:p xmlns:a="http://schemas.openxmlformats.org/drawingml/2006/main">
            <a:r>
              <a:t>Ask: “Back in ordinary directories, every path is interpreted from a starting point.”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C02, C03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Use the coordinate analogy. An absolute path starts at slash and is stable across working directories. A relative path starts at pwd. Dot means here; dot-dot means parent; tilde is the current user’s home expansion performed by the shell.</a:t>
            </a:r>
          </a:p>
          <a:p xmlns:a="http://schemas.openxmlformats.org/drawingml/2006/main">
            <a:r>
              <a:t/>
            </a:r>
          </a:p>
          <a:p xmlns:a="http://schemas.openxmlformats.org/drawingml/2006/main">
            <a:r>
              <a:t>Call out spaces and quoting briefly: quote a path when it contains spaces. Avoid teaching backslash escaping in detail; the labs use simple Linux paths.</a:t>
            </a:r>
          </a:p>
          <a:p xmlns:a="http://schemas.openxmlformats.org/drawingml/2006/main">
            <a:r>
              <a:t/>
            </a:r>
          </a:p>
          <a:p xmlns:a="http://schemas.openxmlformats.org/drawingml/2006/main">
            <a:r>
              <a:t>Model the safety loop aloud: pwd, ls -ld target, perform one change, then ls or stat to verify. This is especially important before recursive operations.</a:t>
            </a:r>
          </a:p>
          <a:p xmlns:a="http://schemas.openxmlformats.org/drawingml/2006/main">
            <a:r>
              <a:t/>
            </a:r>
          </a:p>
          <a:p xmlns:a="http://schemas.openxmlformats.org/drawingml/2006/main">
            <a:r>
              <a:t>Source claims: C02, C03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“Path syntax has a small, precise vocabulary.” A path is evaluated left to right. Confusion usually comes from an incorrect starting directory or from shell expansion that happened before the command ran.</a:t>
            </a:r>
          </a:p>
          <a:p xmlns:a="http://schemas.openxmlformats.org/drawingml/2006/main">
            <a:r>
              <a:t/>
            </a:r>
          </a:p>
          <a:p xmlns:a="http://schemas.openxmlformats.org/drawingml/2006/main">
            <a:r>
              <a:t>/name means absolute: begin at root. name means relative: begin at the working directory. . means the current directory. .. means the parent directory. ~ is shell syntax expanded to the current user's home. name/ means directory path; trailing slash clarifies intent.</a:t>
            </a:r>
          </a:p>
          <a:p xmlns:a="http://schemas.openxmlformats.org/drawingml/2006/main">
            <a:r>
              <a:t/>
            </a:r>
          </a:p>
          <a:p xmlns:a="http://schemas.openxmlformats.org/drawingml/2006/main">
            <a:r>
              <a:t>Example: From /var/log, ../tmp means /var/tmp, not /tmp. Use realpath -m to reason about a path without requiring it to exist.</a:t>
            </a:r>
          </a:p>
          <a:p xmlns:a="http://schemas.openxmlformats.org/drawingml/2006/main">
            <a:r>
              <a:t/>
            </a:r>
          </a:p>
          <a:p xmlns:a="http://schemas.openxmlformats.org/drawingml/2006/main">
            <a:r>
              <a:t>Ask: “What does ./script.sh communicate that script.sh does not?”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C02, C03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“Hidden names are a convention, not protection.” The directory ~/.ssh is hidden from a plain ls, but another user’s ability to read it depends on traversal and file modes.</a:t>
            </a:r>
          </a:p>
          <a:p xmlns:a="http://schemas.openxmlformats.org/drawingml/2006/main">
            <a:r>
              <a:t/>
            </a:r>
          </a:p>
          <a:p xmlns:a="http://schemas.openxmlformats.org/drawingml/2006/main">
            <a:r>
              <a:t>NORMAL LISTING, ls: Omits names beginning with dot; Keeps routine output quieter; Permissions are unchanged. ALL ENTRIES, ls -la: Shows dotfiles and metadata; Useful for .ssh and configuration; Still governed by directory access.</a:t>
            </a:r>
          </a:p>
          <a:p xmlns:a="http://schemas.openxmlformats.org/drawingml/2006/main">
            <a:r>
              <a:t/>
            </a:r>
          </a:p>
          <a:p xmlns:a="http://schemas.openxmlformats.org/drawingml/2006/main">
            <a:r>
              <a:t>Example: Would renaming secrets.txt to .secrets.txt make it confidential?</a:t>
            </a:r>
          </a:p>
          <a:p xmlns:a="http://schemas.openxmlformats.org/drawingml/2006/main">
            <a:r>
              <a:t/>
            </a:r>
          </a:p>
          <a:p xmlns:a="http://schemas.openxmlformats.org/drawingml/2006/main">
            <a:r>
              <a:t>Ask: “The next layer is understanding what kind of object a directory entry names.”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C02, C03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“The first character of ls -l identifies object type.” Linux treats many resources through file-like interfaces, but type changes the meaning of operations and permissions.</a:t>
            </a:r>
          </a:p>
          <a:p xmlns:a="http://schemas.openxmlformats.org/drawingml/2006/main">
            <a:r>
              <a:t/>
            </a:r>
          </a:p>
          <a:p xmlns:a="http://schemas.openxmlformats.org/drawingml/2006/main">
            <a:r>
              <a:t>- means regular file. d means directory. l means symbolic link. c / b means character or block device. s means Unix-domain socket. p means named pipe.</a:t>
            </a:r>
          </a:p>
          <a:p xmlns:a="http://schemas.openxmlformats.org/drawingml/2006/main">
            <a:r>
              <a:t/>
            </a:r>
          </a:p>
          <a:p xmlns:a="http://schemas.openxmlformats.org/drawingml/2006/main">
            <a:r>
              <a:t>Example: Use file PATH for a content-oriented guess and stat PATH for authoritative metadata about the named object.</a:t>
            </a:r>
          </a:p>
          <a:p xmlns:a="http://schemas.openxmlformats.org/drawingml/2006/main">
            <a:r>
              <a:t/>
            </a:r>
          </a:p>
          <a:p xmlns:a="http://schemas.openxmlformats.org/drawingml/2006/main">
            <a:r>
              <a:t>Ask: “What does the leading d in drwxr-x--- tell you before the permission bits?”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C02, C03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“Hard links and symbolic links fail in different ways.” ln report.txt report-copy-name creates a hard link; ln -s report.txt latest creates a symbolic path reference.</a:t>
            </a:r>
          </a:p>
          <a:p xmlns:a="http://schemas.openxmlformats.org/drawingml/2006/main">
            <a:r>
              <a:t/>
            </a:r>
          </a:p>
          <a:p xmlns:a="http://schemas.openxmlformats.org/drawingml/2006/main">
            <a:r>
              <a:t>HARD LINK, another name: Points to the same inode; Usually cannot cross filesystems; Data remains until last link is removed. SYMBOLIC LINK, stored path: Can cross filesystems; Can point to a directory; Can become dangling.</a:t>
            </a:r>
          </a:p>
          <a:p xmlns:a="http://schemas.openxmlformats.org/drawingml/2006/main">
            <a:r>
              <a:t/>
            </a:r>
          </a:p>
          <a:p xmlns:a="http://schemas.openxmlformats.org/drawingml/2006/main">
            <a:r>
              <a:t>Example: If the original pathname is renamed, which link type is more likely to break?</a:t>
            </a:r>
          </a:p>
          <a:p xmlns:a="http://schemas.openxmlformats.org/drawingml/2006/main">
            <a:r>
              <a:t/>
            </a:r>
          </a:p>
          <a:p xmlns:a="http://schemas.openxmlformats.org/drawingml/2006/main">
            <a:r>
              <a:t>Ask: “Before commands see paths, the shell may expand wildcard patterns.”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C02, C03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“Globs expand before the command starts.” The shell expands globs into a list of matching pathnames. The receiving program normally never sees the wildcard.</a:t>
            </a:r>
          </a:p>
          <a:p xmlns:a="http://schemas.openxmlformats.org/drawingml/2006/main">
            <a:r>
              <a:t/>
            </a:r>
          </a:p>
          <a:p xmlns:a="http://schemas.openxmlformats.org/drawingml/2006/main">
            <a:r>
              <a:t>* means zero or more characters except leading dot. ? means exactly one character. [ab] means one character from a set. [0-9] means one character in a range. Quoted glob means literal pattern; no pathname expansion.</a:t>
            </a:r>
          </a:p>
          <a:p xmlns:a="http://schemas.openxmlformats.org/drawingml/2006/main">
            <a:r>
              <a:t/>
            </a:r>
          </a:p>
          <a:p xmlns:a="http://schemas.openxmlformats.org/drawingml/2006/main">
            <a:r>
              <a:t>Example: printf '%s\n' *.log safely shows the expanded arguments. Check that list before using the same pattern with rm or chmod.</a:t>
            </a:r>
          </a:p>
          <a:p xmlns:a="http://schemas.openxmlformats.org/drawingml/2006/main">
            <a:r>
              <a:t/>
            </a:r>
          </a:p>
          <a:p xmlns:a="http://schemas.openxmlformats.org/drawingml/2006/main">
            <a:r>
              <a:t>Ask: “Why might rm *.log affect more files tomorrow than it does today?”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C02, C03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“Inspect targets before changing files.” For a risky batch, first replace rm with printf '%s\n' or use find with -print. Only then run the change.</a:t>
            </a:r>
          </a:p>
          <a:p xmlns:a="http://schemas.openxmlformats.org/drawingml/2006/main">
            <a:r>
              <a:t/>
            </a:r>
          </a:p>
          <a:p xmlns:a="http://schemas.openxmlformats.org/drawingml/2006/main">
            <a:r>
              <a:t>Step 1, Locate: pwd and realpath. Step 2, Enumerate: printf or find the exact targets. Step 3, Predict: state the expected names and count. Step 4, Change: cp, mv, or rm with narrow scope. Step 5, Verify: list, compare, or test the result.</a:t>
            </a:r>
          </a:p>
          <a:p xmlns:a="http://schemas.openxmlformats.org/drawingml/2006/main">
            <a:r>
              <a:t/>
            </a:r>
          </a:p>
          <a:p xmlns:a="http://schemas.openxmlformats.org/drawingml/2006/main">
            <a:r>
              <a:t>Example: What evidence would you capture before removing every .tmp file under one directory?</a:t>
            </a:r>
          </a:p>
          <a:p xmlns:a="http://schemas.openxmlformats.org/drawingml/2006/main">
            <a:r>
              <a:t/>
            </a:r>
          </a:p>
          <a:p xmlns:a="http://schemas.openxmlformats.org/drawingml/2006/main">
            <a:r>
              <a:t>Ask: “A short failure demo shows why current-directory assumptions are dangerous.”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C02, C03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Begin in /var/tmp/demo-tree/archive and ask learners to predict why report.txt fails. Read the nonzero status, resolve the correct relative path, inspect every component with namei, then verify the copied result with stat. The learner lab uses different paths and link semantics.</a:t>
            </a:r>
          </a:p>
          <a:p xmlns:a="http://schemas.openxmlformats.org/drawingml/2006/main">
            <a:r>
              <a:t/>
            </a:r>
          </a:p>
          <a:p xmlns:a="http://schemas.openxmlformats.org/drawingml/2006/main">
            <a:r>
              <a:t>Source claims: C02, C03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25 minutes.</a:t>
            </a:r>
          </a:p>
          <a:p xmlns:a="http://schemas.openxmlformats.org/drawingml/2006/main">
            <a:r>
              <a:t/>
            </a:r>
          </a:p>
          <a:p xmlns:a="http://schemas.openxmlformats.org/drawingml/2006/main">
            <a:r>
              <a:t>Launch the incident without revealing the solution sequence. Read the mission and acceptance evidence, then ask learners to state their first inspection command before opening the terminal. The checker validates observable state; the debrief must explain why that state follows from the commands.</a:t>
            </a:r>
          </a:p>
          <a:p xmlns:a="http://schemas.openxmlformats.org/drawingml/2006/main">
            <a:r>
              <a:t/>
            </a:r>
          </a:p>
          <a:p xmlns:a="http://schemas.openxmlformats.org/drawingml/2006/main">
            <a:r>
              <a:t>Debrief: which names refer to one object, and which name stores a path?</a:t>
            </a:r>
          </a:p>
          <a:p xmlns:a="http://schemas.openxmlformats.org/drawingml/2006/main">
            <a:r>
              <a:t/>
            </a:r>
          </a:p>
          <a:p xmlns:a="http://schemas.openxmlformats.org/drawingml/2006/main">
            <a:r>
              <a:t>Source claims: C02, C03 — resources/CLAIM_LEDGER.md. Full task and hints: labs/LAB_GUIDE.md.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Parse the example left to right. The prompt is context, not part of the command. The shell tokenises the command, expands paths or variables, locates grep through PATH, starts a process, and returns an exit status. Options modify behavior; arguments identify data.</a:t>
            </a:r>
          </a:p>
          <a:p xmlns:a="http://schemas.openxmlformats.org/drawingml/2006/main">
            <a:r>
              <a:t/>
            </a:r>
          </a:p>
          <a:p xmlns:a="http://schemas.openxmlformats.org/drawingml/2006/main">
            <a:r>
              <a:t>Mention help discovery: command --help for a summary, man command for the manual, and q to leave the manual pager. Explain that non-zero does not always mean catastrophe—grep returns 1 when no line matches.</a:t>
            </a:r>
          </a:p>
          <a:p xmlns:a="http://schemas.openxmlformats.org/drawingml/2006/main">
            <a:r>
              <a:t/>
            </a:r>
          </a:p>
          <a:p xmlns:a="http://schemas.openxmlformats.org/drawingml/2006/main">
            <a:r>
              <a:t>Do not dive into shell implementation. The practical point is that punctuation and whitespace carry meaning.</a:t>
            </a:r>
          </a:p>
          <a:p xmlns:a="http://schemas.openxmlformats.org/drawingml/2006/main">
            <a:r>
              <a:t/>
            </a:r>
          </a:p>
          <a:p xmlns:a="http://schemas.openxmlformats.org/drawingml/2006/main">
            <a:r>
              <a:t>Source claims: C04, C05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“Terminal, shell, and command are separate layers.” The browser terminal and macOS Terminal can both run a Bash session; the window differs while the shell language remains familiar.</a:t>
            </a:r>
          </a:p>
          <a:p xmlns:a="http://schemas.openxmlformats.org/drawingml/2006/main">
            <a:r>
              <a:t/>
            </a:r>
          </a:p>
          <a:p xmlns:a="http://schemas.openxmlformats.org/drawingml/2006/main">
            <a:r>
              <a:t>TERMINAL, input + display: Keyboard and screen interface; Local app or browser ttyd; Transports control characters. SHELL, parser + launcher: Expands variables and globs; Connects pipelines and redirections; Starts programs and reports status.</a:t>
            </a:r>
          </a:p>
          <a:p xmlns:a="http://schemas.openxmlformats.org/drawingml/2006/main">
            <a:r>
              <a:t/>
            </a:r>
          </a:p>
          <a:p xmlns:a="http://schemas.openxmlformats.org/drawingml/2006/main">
            <a:r>
              <a:t>Example: Which layer expands *.log: terminal, shell, or grep?</a:t>
            </a:r>
          </a:p>
          <a:p xmlns:a="http://schemas.openxmlformats.org/drawingml/2006/main">
            <a:r>
              <a:t/>
            </a:r>
          </a:p>
          <a:p xmlns:a="http://schemas.openxmlformats.org/drawingml/2006/main">
            <a:r>
              <a:t>Ask: “Quoting controls exactly which transformations the shell performs.”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C04, C05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“Quoting decides what the shell expands.” Most shell bugs are argument bugs. Quote data so spaces and wildcard characters remain part of one intended argument.</a:t>
            </a:r>
          </a:p>
          <a:p xmlns:a="http://schemas.openxmlformats.org/drawingml/2006/main">
            <a:r>
              <a:t/>
            </a:r>
          </a:p>
          <a:p xmlns:a="http://schemas.openxmlformats.org/drawingml/2006/main">
            <a:r>
              <a:t>Unquoted means split words, expand variables, expand globs. 'single quotes' means preserve every character literally. "double quotes" means expand variables but preserve one argument. backslash means escape the next character. $() means replace with captured command output.</a:t>
            </a:r>
          </a:p>
          <a:p xmlns:a="http://schemas.openxmlformats.org/drawingml/2006/main">
            <a:r>
              <a:t/>
            </a:r>
          </a:p>
          <a:p xmlns:a="http://schemas.openxmlformats.org/drawingml/2006/main">
            <a:r>
              <a:t>Example: mkdir -p "$HOME/course notes" creates one directory. Without quotes, the shell passes two path arguments.</a:t>
            </a:r>
          </a:p>
          <a:p xmlns:a="http://schemas.openxmlformats.org/drawingml/2006/main">
            <a:r>
              <a:t/>
            </a:r>
          </a:p>
          <a:p xmlns:a="http://schemas.openxmlformats.org/drawingml/2006/main">
            <a:r>
              <a:t>Ask: “How many arguments does printf '%s\n' "$HOME" pass after expansion?”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C04, C05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“Shell expansion explains surprising commands.” You do not need every Bash parsing rule, but you should know that the displayed line is not necessarily the final argument list.</a:t>
            </a:r>
          </a:p>
          <a:p xmlns:a="http://schemas.openxmlformats.org/drawingml/2006/main">
            <a:r>
              <a:t/>
            </a:r>
          </a:p>
          <a:p xmlns:a="http://schemas.openxmlformats.org/drawingml/2006/main">
            <a:r>
              <a:t>Parse means recognize quotes, operators, and command boundaries. Parameters means replace $name and ${name}. Commands means replace $(...) with output. Split means unquoted results may become several words. Glob means patterns may become many pathnames. Execute means run the final program and arguments.</a:t>
            </a:r>
          </a:p>
          <a:p xmlns:a="http://schemas.openxmlformats.org/drawingml/2006/main">
            <a:r>
              <a:t/>
            </a:r>
          </a:p>
          <a:p xmlns:a="http://schemas.openxmlformats.org/drawingml/2006/main">
            <a:r>
              <a:t>Example: Use printf '&lt;%s&gt;\n' -- $value and then "$value" to demonstrate how quoting changes argument boundaries.</a:t>
            </a:r>
          </a:p>
          <a:p xmlns:a="http://schemas.openxmlformats.org/drawingml/2006/main">
            <a:r>
              <a:t/>
            </a:r>
          </a:p>
          <a:p xmlns:a="http://schemas.openxmlformats.org/drawingml/2006/main">
            <a:r>
              <a:t>Ask: “Why is rm -rf $target dangerous when target is empty or contains spaces?”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C04, C05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“Exit status reports success or failure.” Exit status is machine-readable evidence, but its exact meaning belongs to the command. For grep, one can mean no match rather than a broken program.</a:t>
            </a:r>
          </a:p>
          <a:p xmlns:a="http://schemas.openxmlformats.org/drawingml/2006/main">
            <a:r>
              <a:t/>
            </a:r>
          </a:p>
          <a:p xmlns:a="http://schemas.openxmlformats.org/drawingml/2006/main">
            <a:r>
              <a:t>0 means the command reports success. 1–125 means program-defined condition or failure. 126 means found but not executable. 127 means command not found. 128 + signal means terminated by a signal.</a:t>
            </a:r>
          </a:p>
          <a:p xmlns:a="http://schemas.openxmlformats.org/drawingml/2006/main">
            <a:r>
              <a:t/>
            </a:r>
          </a:p>
          <a:p xmlns:a="http://schemas.openxmlformats.org/drawingml/2006/main">
            <a:r>
              <a:t>Example: Run a command, then immediately print printf 'status=%s\n' "$?" before another command overwrites the value.</a:t>
            </a:r>
          </a:p>
          <a:p xmlns:a="http://schemas.openxmlformats.org/drawingml/2006/main">
            <a:r>
              <a:t/>
            </a:r>
          </a:p>
          <a:p xmlns:a="http://schemas.openxmlformats.org/drawingml/2006/main">
            <a:r>
              <a:t>Ask: “Can a command print an error and still return zero? What would you trust?”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C04, C05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“Control operators and pipes solve different jobs.” sudo apt update &amp;&amp; sudo apt install tree stops before installation if the index refresh fails.</a:t>
            </a:r>
          </a:p>
          <a:p xmlns:a="http://schemas.openxmlformats.org/drawingml/2006/main">
            <a:r>
              <a:t/>
            </a:r>
          </a:p>
          <a:p xmlns:a="http://schemas.openxmlformats.org/drawingml/2006/main">
            <a:r>
              <a:t>&amp;&amp; AND ||, control flow: Run next only on success; Or run fallback on failure; Status determines the branch. | PIPE, data flow: Connect stdout to stdin; Commands run as a pipeline; Last status is reported by default.</a:t>
            </a:r>
          </a:p>
          <a:p xmlns:a="http://schemas.openxmlformats.org/drawingml/2006/main">
            <a:r>
              <a:t/>
            </a:r>
          </a:p>
          <a:p xmlns:a="http://schemas.openxmlformats.org/drawingml/2006/main">
            <a:r>
              <a:t>Example: Why is command1 | command2 not a replacement for command1 &amp;&amp; command2?</a:t>
            </a:r>
          </a:p>
          <a:p xmlns:a="http://schemas.openxmlformats.org/drawingml/2006/main">
            <a:r>
              <a:t/>
            </a:r>
          </a:p>
          <a:p xmlns:a="http://schemas.openxmlformats.org/drawingml/2006/main">
            <a:r>
              <a:t>Ask: “Streams give every process three conventional communication channels.”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C04, C05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Teach commands as questions. pwd asks location. ls asks directory contents. cd changes only shell working directory. mkdir -p creates a path safely when parents are missing. cat is for short files; less is for exploration; head and tail sample edges. find locates filesystem entries; grep selects matching text.</a:t>
            </a:r>
          </a:p>
          <a:p xmlns:a="http://schemas.openxmlformats.org/drawingml/2006/main">
            <a:r>
              <a:t/>
            </a:r>
          </a:p>
          <a:p xmlns:a="http://schemas.openxmlformats.org/drawingml/2006/main">
            <a:r>
              <a:t>Point out flags used in labs: ls -l for details, -a for hidden names, -h for human-readable sizes; rm -i and cp -i for interactive confirmation. State clearly that Linux deletion has no guaranteed recycle bin.</a:t>
            </a:r>
          </a:p>
          <a:p xmlns:a="http://schemas.openxmlformats.org/drawingml/2006/main">
            <a:r>
              <a:t/>
            </a:r>
          </a:p>
          <a:p xmlns:a="http://schemas.openxmlformats.org/drawingml/2006/main">
            <a:r>
              <a:t>Source claims: C04, C05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“Use local help before trusting a random command.” Use man 5 ssh_config for the file format and man 1 ssh for the client command; the section number disambiguates names.</a:t>
            </a:r>
          </a:p>
          <a:p xmlns:a="http://schemas.openxmlformats.org/drawingml/2006/main">
            <a:r>
              <a:t/>
            </a:r>
          </a:p>
          <a:p xmlns:a="http://schemas.openxmlformats.org/drawingml/2006/main">
            <a:r>
              <a:t>Quick syntax: command --help; Short option summary; Examples may be included; Best for recall. Full manual: man command; /pattern to search; n for next result; q to leave. Shell built-ins: help cd; type command; command -V name; distinguish aliases.</a:t>
            </a:r>
          </a:p>
          <a:p xmlns:a="http://schemas.openxmlformats.org/drawingml/2006/main">
            <a:r>
              <a:t/>
            </a:r>
          </a:p>
          <a:p xmlns:a="http://schemas.openxmlformats.org/drawingml/2006/main">
            <a:r>
              <a:t>Example: How can type reveal that cd is not an external executable?</a:t>
            </a:r>
          </a:p>
          <a:p xmlns:a="http://schemas.openxmlformats.org/drawingml/2006/main">
            <a:r>
              <a:t/>
            </a:r>
          </a:p>
          <a:p xmlns:a="http://schemas.openxmlformats.org/drawingml/2006/main">
            <a:r>
              <a:t>Ask: “Package tools add a maintained software source above individual commands.”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C04, C05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Describe standard input, standard output, and standard error in plain language: data in, normal data out, diagnostic data out. A pipe connects normal output to the next program. Greater-than truncates or creates a file before the command executes; double greater-than appends. That is why a typo with &gt; can destroy content even if the program later fails.</a:t>
            </a:r>
          </a:p>
          <a:p xmlns:a="http://schemas.openxmlformats.org/drawingml/2006/main">
            <a:r>
              <a:t/>
            </a:r>
          </a:p>
          <a:p xmlns:a="http://schemas.openxmlformats.org/drawingml/2006/main">
            <a:r>
              <a:t>Use tee when learners need both screen visibility and a saved copy. Mention 2&gt; only as an advanced pointer.</a:t>
            </a:r>
          </a:p>
          <a:p xmlns:a="http://schemas.openxmlformats.org/drawingml/2006/main">
            <a:r>
              <a:t/>
            </a:r>
          </a:p>
          <a:p xmlns:a="http://schemas.openxmlformats.org/drawingml/2006/main">
            <a:r>
              <a:t>Connect this to journalctl: filter at the source first, then use grep only when helpful.</a:t>
            </a:r>
          </a:p>
          <a:p xmlns:a="http://schemas.openxmlformats.org/drawingml/2006/main">
            <a:r>
              <a:t/>
            </a:r>
          </a:p>
          <a:p xmlns:a="http://schemas.openxmlformats.org/drawingml/2006/main">
            <a:r>
              <a:t>Source claims: C04, C05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“Processes start with three standard streams.” Separating normal results from diagnostics lets tools compose without hiding errors.</a:t>
            </a:r>
          </a:p>
          <a:p xmlns:a="http://schemas.openxmlformats.org/drawingml/2006/main">
            <a:r>
              <a:t/>
            </a:r>
          </a:p>
          <a:p xmlns:a="http://schemas.openxmlformats.org/drawingml/2006/main">
            <a:r>
              <a:t>stdin means file descriptor 0: keyboard or pipe input. stdout means file descriptor 1: normal output. stderr means file descriptor 2: diagnostics. &gt; means replace a file with stdout. 2&gt; means replace a file with stderr.</a:t>
            </a:r>
          </a:p>
          <a:p xmlns:a="http://schemas.openxmlformats.org/drawingml/2006/main">
            <a:r>
              <a:t/>
            </a:r>
          </a:p>
          <a:p xmlns:a="http://schemas.openxmlformats.org/drawingml/2006/main">
            <a:r>
              <a:t>Example: command &gt;result.txt 2&gt;error.txt produces two evidence files. command &gt;all.txt 2&gt;&amp;1 combines them in order.</a:t>
            </a:r>
          </a:p>
          <a:p xmlns:a="http://schemas.openxmlformats.org/drawingml/2006/main">
            <a:r>
              <a:t/>
            </a:r>
          </a:p>
          <a:p xmlns:a="http://schemas.openxmlformats.org/drawingml/2006/main">
            <a:r>
              <a:t>Ask: “If a pipeline looks empty but errors remain on screen, which stream explains it?”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C04, C05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“Build pipelines as readable evidence stages.” For status counts: awk '{print $9}' access.log | sort | uniq -c | sort -nr. Inspect the selected field before counting it.</a:t>
            </a:r>
          </a:p>
          <a:p xmlns:a="http://schemas.openxmlformats.org/drawingml/2006/main">
            <a:r>
              <a:t/>
            </a:r>
          </a:p>
          <a:p xmlns:a="http://schemas.openxmlformats.org/drawingml/2006/main">
            <a:r>
              <a:t>Step 1, Question: state the answer you need. Step 2, Source: choose the smallest relevant input. Step 3, Filter: remove unrelated records. Step 4, Transform: extract, sort, or count. Step 5, Verify: inspect samples and totals.</a:t>
            </a:r>
          </a:p>
          <a:p xmlns:a="http://schemas.openxmlformats.org/drawingml/2006/main">
            <a:r>
              <a:t/>
            </a:r>
          </a:p>
          <a:p xmlns:a="http://schemas.openxmlformats.org/drawingml/2006/main">
            <a:r>
              <a:t>Example: Which stage would you test first if the final count is zero?</a:t>
            </a:r>
          </a:p>
          <a:p xmlns:a="http://schemas.openxmlformats.org/drawingml/2006/main">
            <a:r>
              <a:t/>
            </a:r>
          </a:p>
          <a:p xmlns:a="http://schemas.openxmlformats.org/drawingml/2006/main">
            <a:r>
              <a:t>Ask: “Avoid one common mistake: discarding diagnostics to make output look clean.”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C04, C05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Show the four synthetic authentication records. Ask the question before building the pipeline. Inspect the grammar, select failures, extract the source field, then save and count evidence. Point out that Lab 3 has different record formats, so the reasoning must transfer.</a:t>
            </a:r>
          </a:p>
          <a:p xmlns:a="http://schemas.openxmlformats.org/drawingml/2006/main">
            <a:r>
              <a:t/>
            </a:r>
          </a:p>
          <a:p xmlns:a="http://schemas.openxmlformats.org/drawingml/2006/main">
            <a:r>
              <a:t>Source claims: C04, C05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r>
              <a:t/>
            </a:r>
          </a:p>
          <a:p xmlns:a="http://schemas.openxmlformats.org/drawingml/2006/main">
            <a:r>
              <a:t>Demonstrate Nano’s bottom-line hints: caret means Ctrl. The minimum path is open, edit, Ctrl+O, Enter, Ctrl+X, then cat or grep the result. Explain that saving a file proves only that bytes changed, not that syntax or behavior is correct. Protected configuration should be edited with sudoedit when possible.</a:t>
            </a:r>
          </a:p>
          <a:p xmlns:a="http://schemas.openxmlformats.org/drawingml/2006/main">
            <a:r>
              <a:t/>
            </a:r>
          </a:p>
          <a:p xmlns:a="http://schemas.openxmlformats.org/drawingml/2006/main">
            <a:r>
              <a:t>Mention Vim as an important operational editor, but avoid a mode tutorial in a six-hour beginner workshop. Learners can choose Vim later; today everyone needs one editor with a dependable exit path.</a:t>
            </a:r>
          </a:p>
          <a:p xmlns:a="http://schemas.openxmlformats.org/drawingml/2006/main">
            <a:r>
              <a:t/>
            </a:r>
          </a:p>
          <a:p xmlns:a="http://schemas.openxmlformats.org/drawingml/2006/main">
            <a:r>
              <a:t>Source claims: C04, C05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r>
              <a:t/>
            </a:r>
          </a:p>
          <a:p xmlns:a="http://schemas.openxmlformats.org/drawingml/2006/main">
            <a:r>
              <a:t>Say: “Safe edits use backup, diff, and validation.” For SSH server configuration, run sshd -t before restarting the service. For sudo policy, use visudo rather than a generic editor.</a:t>
            </a:r>
          </a:p>
          <a:p xmlns:a="http://schemas.openxmlformats.org/drawingml/2006/main">
            <a:r>
              <a:t/>
            </a:r>
          </a:p>
          <a:p xmlns:a="http://schemas.openxmlformats.org/drawingml/2006/main">
            <a:r>
              <a:t>Step 1, Inspect: read the current file and ownership. Step 2, Protect: copy or use version control where appropriate. Step 3, Edit: nano or sudoedit the exact path. Step 4, Validate: use the program’s syntax checker. Step 5, Apply: reload or restart, then verify behavior.</a:t>
            </a:r>
          </a:p>
          <a:p xmlns:a="http://schemas.openxmlformats.org/drawingml/2006/main">
            <a:r>
              <a:t/>
            </a:r>
          </a:p>
          <a:p xmlns:a="http://schemas.openxmlformats.org/drawingml/2006/main">
            <a:r>
              <a:t>Example: Which step prevents a typo from turning into an outage?</a:t>
            </a:r>
          </a:p>
          <a:p xmlns:a="http://schemas.openxmlformats.org/drawingml/2006/main">
            <a:r>
              <a:t/>
            </a:r>
          </a:p>
          <a:p xmlns:a="http://schemas.openxmlformats.org/drawingml/2006/main">
            <a:r>
              <a:t>Ask: “Next we connect processes and files to the identities Linux authorizes.”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C04, C05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20 minutes.</a:t>
            </a:r>
          </a:p>
          <a:p xmlns:a="http://schemas.openxmlformats.org/drawingml/2006/main">
            <a:r>
              <a:t/>
            </a:r>
          </a:p>
          <a:p xmlns:a="http://schemas.openxmlformats.org/drawingml/2006/main">
            <a:r>
              <a:t>Launch the incident without revealing the solution sequence. Read the mission and acceptance evidence, then ask learners to state their first inspection command before opening the terminal. The checker validates observable state; the debrief must explain why that state follows from the commands.</a:t>
            </a:r>
          </a:p>
          <a:p xmlns:a="http://schemas.openxmlformats.org/drawingml/2006/main">
            <a:r>
              <a:t/>
            </a:r>
          </a:p>
          <a:p xmlns:a="http://schemas.openxmlformats.org/drawingml/2006/main">
            <a:r>
              <a:t>Debrief: where did record structure determine the pipeline?</a:t>
            </a:r>
          </a:p>
          <a:p xmlns:a="http://schemas.openxmlformats.org/drawingml/2006/main">
            <a:r>
              <a:t/>
            </a:r>
          </a:p>
          <a:p xmlns:a="http://schemas.openxmlformats.org/drawingml/2006/main">
            <a:r>
              <a:t>Source claims: C04, C05 — resources/CLAIM_LEDGER.md. Full task and hints: labs/LAB_GUIDE.md.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Say: “APT separates repositories, indexes, and installed files.” An old local index can report a package missing even when the repository has added it.</a:t>
            </a:r>
          </a:p>
          <a:p xmlns:a="http://schemas.openxmlformats.org/drawingml/2006/main">
            <a:r>
              <a:t/>
            </a:r>
          </a:p>
          <a:p xmlns:a="http://schemas.openxmlformats.org/drawingml/2006/main">
            <a:r>
              <a:t>Repository: Signed metadata; Package archives; Release channels; Repository trust keys. Local index: Refreshed by apt update; Available versions; Candidate selection; Dependency metadata. Installed state: Tracked by dpkg; Files on disk; Package status; APT history log.</a:t>
            </a:r>
          </a:p>
          <a:p xmlns:a="http://schemas.openxmlformats.org/drawingml/2006/main">
            <a:r>
              <a:t/>
            </a:r>
          </a:p>
          <a:p xmlns:a="http://schemas.openxmlformats.org/drawingml/2006/main">
            <a:r>
              <a:t>Example: Which operation requires network metadata but does not itself install software?</a:t>
            </a:r>
          </a:p>
          <a:p xmlns:a="http://schemas.openxmlformats.org/drawingml/2006/main">
            <a:r>
              <a:t/>
            </a:r>
          </a:p>
          <a:p xmlns:a="http://schemas.openxmlformats.org/drawingml/2006/main">
            <a:r>
              <a:t>Ask: “A safe package workflow inspects candidate and resulting state.”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C06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 minutes.</a:t>
            </a:r>
          </a:p>
          <a:p xmlns:a="http://schemas.openxmlformats.org/drawingml/2006/main">
            <a:r>
              <a:t/>
            </a:r>
          </a:p>
          <a:p xmlns:a="http://schemas.openxmlformats.org/drawingml/2006/main">
            <a:r>
              <a:t>Say: “Use APT with an inspect-change-verify rhythm.” Package installation is a privileged system change. Read the proposed transaction before confirming it.</a:t>
            </a:r>
          </a:p>
          <a:p xmlns:a="http://schemas.openxmlformats.org/drawingml/2006/main">
            <a:r>
              <a:t/>
            </a:r>
          </a:p>
          <a:p xmlns:a="http://schemas.openxmlformats.org/drawingml/2006/main">
            <a:r>
              <a:t>Refresh means sudo apt update. Search means apt search tree. Inspect means apt show tree. Install means sudo apt install tree. Verify means dpkg -s tree; command -v tree. Audit means less /var/log/apt/history.log.</a:t>
            </a:r>
          </a:p>
          <a:p xmlns:a="http://schemas.openxmlformats.org/drawingml/2006/main">
            <a:r>
              <a:t/>
            </a:r>
          </a:p>
          <a:p xmlns:a="http://schemas.openxmlformats.org/drawingml/2006/main">
            <a:r>
              <a:t>Example: Use apt-get in noninteractive automation only after understanding prompts and failure behavior; apt is convenient for humans.</a:t>
            </a:r>
          </a:p>
          <a:p xmlns:a="http://schemas.openxmlformats.org/drawingml/2006/main">
            <a:r>
              <a:t/>
            </a:r>
          </a:p>
          <a:p xmlns:a="http://schemas.openxmlformats.org/drawingml/2006/main">
            <a:r>
              <a:t>Ask: “What two checks prove that a package is registered and its command is discoverable?”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C06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6 minutes.</a:t>
            </a:r>
          </a:p>
          <a:p xmlns:a="http://schemas.openxmlformats.org/drawingml/2006/main">
            <a:r>
              <a:t/>
            </a:r>
          </a:p>
          <a:p xmlns:a="http://schemas.openxmlformats.org/drawingml/2006/main">
            <a:r>
              <a:t>Use jq, not the lab's tree package. Distinguish repository candidate, installed database state, executable resolution, owning package, and actual behavior. Pause after every command and ask which claim the output can and cannot support.</a:t>
            </a:r>
          </a:p>
          <a:p xmlns:a="http://schemas.openxmlformats.org/drawingml/2006/main">
            <a:r>
              <a:t/>
            </a:r>
          </a:p>
          <a:p xmlns:a="http://schemas.openxmlformats.org/drawingml/2006/main">
            <a:r>
              <a:t>Source claims: C06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20 minutes.</a:t>
            </a:r>
          </a:p>
          <a:p xmlns:a="http://schemas.openxmlformats.org/drawingml/2006/main">
            <a:r>
              <a:t/>
            </a:r>
          </a:p>
          <a:p xmlns:a="http://schemas.openxmlformats.org/drawingml/2006/main">
            <a:r>
              <a:t>Launch the incident without revealing the solution sequence. Read the mission and acceptance evidence, then ask learners to state their first inspection command before opening the terminal. The checker validates observable state; the debrief must explain why that state follows from the commands.</a:t>
            </a:r>
          </a:p>
          <a:p xmlns:a="http://schemas.openxmlformats.org/drawingml/2006/main">
            <a:r>
              <a:t/>
            </a:r>
          </a:p>
          <a:p xmlns:a="http://schemas.openxmlformats.org/drawingml/2006/main">
            <a:r>
              <a:t>Debrief: which command proves repository state, installed state, and behavior?</a:t>
            </a:r>
          </a:p>
          <a:p xmlns:a="http://schemas.openxmlformats.org/drawingml/2006/main">
            <a:r>
              <a:t/>
            </a:r>
          </a:p>
          <a:p xmlns:a="http://schemas.openxmlformats.org/drawingml/2006/main">
            <a:r>
              <a:t>Source claims: C06 — resources/CLAIM_LEDGER.md. Full task and hints: labs/LAB_GUIDE.md.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Explain that Linux internally uses numeric UIDs and GIDs; names are mappings for humans. A process has an effective user and groups. A file has one owner and one group. The kernel evaluates access with these identities and the permission bits.</a:t>
            </a:r>
          </a:p>
          <a:p xmlns:a="http://schemas.openxmlformats.org/drawingml/2006/main">
            <a:r>
              <a:t/>
            </a:r>
          </a:p>
          <a:p xmlns:a="http://schemas.openxmlformats.org/drawingml/2006/main">
            <a:r>
              <a:t>Show the difference between /etc/passwd and /etc/shadow conceptually: passwd account metadata is readable; password hashes are protected. Do not display hashes. Use id as the fastest identity summary and getent because it also works when identities come from a directory service.</a:t>
            </a:r>
          </a:p>
          <a:p xmlns:a="http://schemas.openxmlformats.org/drawingml/2006/main">
            <a:r>
              <a:t/>
            </a:r>
          </a:p>
          <a:p xmlns:a="http://schemas.openxmlformats.org/drawingml/2006/main">
            <a:r>
              <a:t>Mention that group membership changes usually require a new login session.</a:t>
            </a:r>
          </a:p>
          <a:p xmlns:a="http://schemas.openxmlformats.org/drawingml/2006/main">
            <a:r>
              <a:t/>
            </a:r>
          </a:p>
          <a:p xmlns:a="http://schemas.openxmlformats.org/drawingml/2006/main">
            <a:r>
              <a:t>Source claims: C07, C08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“Names are convenient; numeric IDs drive authorization.” Files store numeric ownership. Name services translate those numbers for display.</a:t>
            </a:r>
          </a:p>
          <a:p xmlns:a="http://schemas.openxmlformats.org/drawingml/2006/main">
            <a:r>
              <a:t/>
            </a:r>
          </a:p>
          <a:p xmlns:a="http://schemas.openxmlformats.org/drawingml/2006/main">
            <a:r>
              <a:t>Username means human-readable account label. UID means numeric user identity used by the kernel. Group name means human-readable collaboration label. GID means numeric group identity stored on files. Effective IDs means identity currently used for access checks.</a:t>
            </a:r>
          </a:p>
          <a:p xmlns:a="http://schemas.openxmlformats.org/drawingml/2006/main">
            <a:r>
              <a:t/>
            </a:r>
          </a:p>
          <a:p xmlns:a="http://schemas.openxmlformats.org/drawingml/2006/main">
            <a:r>
              <a:t>Example: A restored disk can show unexpected names if the destination maps the same numeric UID to a different account.</a:t>
            </a:r>
          </a:p>
          <a:p xmlns:a="http://schemas.openxmlformats.org/drawingml/2006/main">
            <a:r>
              <a:t/>
            </a:r>
          </a:p>
          <a:p xmlns:a="http://schemas.openxmlformats.org/drawingml/2006/main">
            <a:r>
              <a:t>Ask: “Why does ls -ln help diagnose identity mapping problems?”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C07, C08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“Account databases separate public identity from secrets.” getent passwd alice and getent group webteam are better operational checks than parsing files directly.</a:t>
            </a:r>
          </a:p>
          <a:p xmlns:a="http://schemas.openxmlformats.org/drawingml/2006/main">
            <a:r>
              <a:t/>
            </a:r>
          </a:p>
          <a:p xmlns:a="http://schemas.openxmlformats.org/drawingml/2006/main">
            <a:r>
              <a:t>/etc/passwd: name and UID; primary GID; home directory; login shell. /etc/group: group name and GID; supplementary members; not every primary member; readable account data. /etc/shadow: password hashes; aging fields; root-readable only; never copy casually.</a:t>
            </a:r>
          </a:p>
          <a:p xmlns:a="http://schemas.openxmlformats.org/drawingml/2006/main">
            <a:r>
              <a:t/>
            </a:r>
          </a:p>
          <a:p xmlns:a="http://schemas.openxmlformats.org/drawingml/2006/main">
            <a:r>
              <a:t>Example: Why might grep alice /etc/passwd miss an account that id alice can resolve?</a:t>
            </a:r>
          </a:p>
          <a:p xmlns:a="http://schemas.openxmlformats.org/drawingml/2006/main">
            <a:r>
              <a:t/>
            </a:r>
          </a:p>
          <a:p xmlns:a="http://schemas.openxmlformats.org/drawingml/2006/main">
            <a:r>
              <a:t>Ask: “Group membership becomes part of a process when the session starts.”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C07, C08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“Existing shells keep old group credentials.” Adding a learner to webteam does not automatically update a terminal opened before the change.</a:t>
            </a:r>
          </a:p>
          <a:p xmlns:a="http://schemas.openxmlformats.org/drawingml/2006/main">
            <a:r>
              <a:t/>
            </a:r>
          </a:p>
          <a:p xmlns:a="http://schemas.openxmlformats.org/drawingml/2006/main">
            <a:r>
              <a:t>ACCOUNT DATABASE, updated now: usermod changes membership; getent shows the new record; Future sessions inherit it. CURRENT SHELL, old credentials: Keeps groups from login time; id may not show the change; Re-login or newgrp refreshes context.</a:t>
            </a:r>
          </a:p>
          <a:p xmlns:a="http://schemas.openxmlformats.org/drawingml/2006/main">
            <a:r>
              <a:t/>
            </a:r>
          </a:p>
          <a:p xmlns:a="http://schemas.openxmlformats.org/drawingml/2006/main">
            <a:r>
              <a:t>Example: What is the least surprising way to pick up new groups in production?</a:t>
            </a:r>
          </a:p>
          <a:p xmlns:a="http://schemas.openxmlformats.org/drawingml/2006/main">
            <a:r>
              <a:t/>
            </a:r>
          </a:p>
          <a:p xmlns:a="http://schemas.openxmlformats.org/drawingml/2006/main">
            <a:r>
              <a:t>Ask: “Privilege escalation is another identity transition and should be narrow.”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C07, C08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“sudo is not a magic fix for permission errors. It is an audited request to run a command with another identity, usually root.” Keep the learner in a normal shell, use sudo only when the target requires it, and read the command again before Enter.</a:t>
            </a:r>
          </a:p>
          <a:p xmlns:a="http://schemas.openxmlformats.org/drawingml/2006/main">
            <a:r>
              <a:t/>
            </a:r>
          </a:p>
          <a:p xmlns:a="http://schemas.openxmlformats.org/drawingml/2006/main">
            <a:r>
              <a:t>Contrast sudo command with sudo -i. Root shells are sometimes appropriate for controlled maintenance but make accidental changes easier and attribution weaker. Recommend sudoedit for protected configuration because it edits a temporary copy as the user and installs it safely.</a:t>
            </a:r>
          </a:p>
          <a:p xmlns:a="http://schemas.openxmlformats.org/drawingml/2006/main">
            <a:r>
              <a:t/>
            </a:r>
          </a:p>
          <a:p xmlns:a="http://schemas.openxmlformats.org/drawingml/2006/main">
            <a:r>
              <a:t>Source claims: C07, C08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“sudo policy answers who may run what as whom.” sudo is a policy engine, not simply a synonym for administrator mode.</a:t>
            </a:r>
          </a:p>
          <a:p xmlns:a="http://schemas.openxmlformats.org/drawingml/2006/main">
            <a:r>
              <a:t/>
            </a:r>
          </a:p>
          <a:p xmlns:a="http://schemas.openxmlformats.org/drawingml/2006/main">
            <a:r>
              <a:t>Caller means the authenticated invoking user. Target means root by default or selected with -u. Command means the permitted executable and arguments. Policy means rules from sudoers and included files. Audit means logs record the privileged request.</a:t>
            </a:r>
          </a:p>
          <a:p xmlns:a="http://schemas.openxmlformats.org/drawingml/2006/main">
            <a:r>
              <a:t/>
            </a:r>
          </a:p>
          <a:p xmlns:a="http://schemas.openxmlformats.org/drawingml/2006/main">
            <a:r>
              <a:t>Example: sudo -u www-data test -r /srv/site/index.html checks behavior as the service identity without opening a root shell.</a:t>
            </a:r>
          </a:p>
          <a:p xmlns:a="http://schemas.openxmlformats.org/drawingml/2006/main">
            <a:r>
              <a:t/>
            </a:r>
          </a:p>
          <a:p xmlns:a="http://schemas.openxmlformats.org/drawingml/2006/main">
            <a:r>
              <a:t>Ask: “Why is sudo cat file a poor test of whether an application user can read it?”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C07, C08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Decode the first character as object type, then owner, group, and others. The kernel chooses one matching class—it does not add owner and group permissions together. If the process user owns the file, only the owner triplet applies. Otherwise a matching group triplet applies; otherwise others.</a:t>
            </a:r>
          </a:p>
          <a:p xmlns:a="http://schemas.openxmlformats.org/drawingml/2006/main">
            <a:r>
              <a:t/>
            </a:r>
          </a:p>
          <a:p xmlns:a="http://schemas.openxmlformats.org/drawingml/2006/main">
            <a:r>
              <a:t>Distinguish file and directory meaning. Execute on a file permits execution; execute on a directory permits traversal. Write on a directory controls creating and removing names, which surprises beginners. Access to a file also requires traversal through every parent directory.</a:t>
            </a:r>
          </a:p>
          <a:p xmlns:a="http://schemas.openxmlformats.org/drawingml/2006/main">
            <a:r>
              <a:t/>
            </a:r>
          </a:p>
          <a:p xmlns:a="http://schemas.openxmlformats.org/drawingml/2006/main">
            <a:r>
              <a:t>Use namei -l as a powerful path-permission diagnostic.</a:t>
            </a:r>
          </a:p>
          <a:p xmlns:a="http://schemas.openxmlformats.org/drawingml/2006/main">
            <a:r>
              <a:t/>
            </a:r>
          </a:p>
          <a:p xmlns:a="http://schemas.openxmlformats.org/drawingml/2006/main">
            <a:r>
              <a:t>Source claims: C07, C08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“Directory r, w, and x control different abilities.” Deleting a file depends mainly on the parent directory permissions, not on the file’s own write bit.</a:t>
            </a:r>
          </a:p>
          <a:p xmlns:a="http://schemas.openxmlformats.org/drawingml/2006/main">
            <a:r>
              <a:t/>
            </a:r>
          </a:p>
          <a:p xmlns:a="http://schemas.openxmlformats.org/drawingml/2006/main">
            <a:r>
              <a:t>Read · r: list entry names; does not reveal metadata alone; ls may show names only; needs x for useful lookup. Write · w: create entries; remove entries; rename entries; usually requires x too. Execute · x: traverse the directory; look up named entries; reach deeper paths; not ‘run the directory’.</a:t>
            </a:r>
          </a:p>
          <a:p xmlns:a="http://schemas.openxmlformats.org/drawingml/2006/main">
            <a:r>
              <a:t/>
            </a:r>
          </a:p>
          <a:p xmlns:a="http://schemas.openxmlformats.org/drawingml/2006/main">
            <a:r>
              <a:t>Example: Why can a user delete a read-only file from a writable directory?</a:t>
            </a:r>
          </a:p>
          <a:p xmlns:a="http://schemas.openxmlformats.org/drawingml/2006/main">
            <a:r>
              <a:t/>
            </a:r>
          </a:p>
          <a:p xmlns:a="http://schemas.openxmlformats.org/drawingml/2006/main">
            <a:r>
              <a:t>Ask: “A path succeeds only if every parent directory can be traversed.”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C07, C08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“Parent directories participate in every path lookup.” Correct file mode is insufficient when one parent directory blocks traversal.</a:t>
            </a:r>
          </a:p>
          <a:p xmlns:a="http://schemas.openxmlformats.org/drawingml/2006/main">
            <a:r>
              <a:t/>
            </a:r>
          </a:p>
          <a:p xmlns:a="http://schemas.openxmlformats.org/drawingml/2006/main">
            <a:r>
              <a:t>/ means traverse root. /srv means traverse service data. /srv/team means traverse team directory. file means apply file read or write bits. namei -l means display every component and its mode.</a:t>
            </a:r>
          </a:p>
          <a:p xmlns:a="http://schemas.openxmlformats.org/drawingml/2006/main">
            <a:r>
              <a:t/>
            </a:r>
          </a:p>
          <a:p xmlns:a="http://schemas.openxmlformats.org/drawingml/2006/main">
            <a:r>
              <a:t>Example: namei -l /srv/team/report.txt often explains ‘permission denied’ faster than repeated chmod on the file.</a:t>
            </a:r>
          </a:p>
          <a:p xmlns:a="http://schemas.openxmlformats.org/drawingml/2006/main">
            <a:r>
              <a:t/>
            </a:r>
          </a:p>
          <a:p xmlns:a="http://schemas.openxmlformats.org/drawingml/2006/main">
            <a:r>
              <a:t>Ask: “Which directory would you inspect if the file looks readable but open still fails?”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C07, C08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Build 640 aloud: owner 4+2, group 4, others 0. Then connect numeric and symbolic forms. Numeric mode is concise when setting the whole policy. Symbolic mode can be clearer for a targeted change, such as chmod g+w.</a:t>
            </a:r>
          </a:p>
          <a:p xmlns:a="http://schemas.openxmlformats.org/drawingml/2006/main">
            <a:r>
              <a:t/>
            </a:r>
          </a:p>
          <a:p xmlns:a="http://schemas.openxmlformats.org/drawingml/2006/main">
            <a:r>
              <a:t>Warn against chmod 777: it grants every user read, write, and execute and usually hides an ownership or group-design problem. Teach the use case first, then the mode.</a:t>
            </a:r>
          </a:p>
          <a:p xmlns:a="http://schemas.openxmlformats.org/drawingml/2006/main">
            <a:r>
              <a:t/>
            </a:r>
          </a:p>
          <a:p xmlns:a="http://schemas.openxmlformats.org/drawingml/2006/main">
            <a:r>
              <a:t>Mention umask only as the default mask for new files; it is not required for today’s lab. Use stat to verify both human and numeric representations.</a:t>
            </a:r>
          </a:p>
          <a:p xmlns:a="http://schemas.openxmlformats.org/drawingml/2006/main">
            <a:r>
              <a:t/>
            </a:r>
          </a:p>
          <a:p xmlns:a="http://schemas.openxmlformats.org/drawingml/2006/main">
            <a:r>
              <a:t>Source claims: C07, C08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“Symbolic chmod states exactly who and what changes.” Symbolic changes are excellent for narrow repairs because they preserve unrelated classes unless you use equals.</a:t>
            </a:r>
          </a:p>
          <a:p xmlns:a="http://schemas.openxmlformats.org/drawingml/2006/main">
            <a:r>
              <a:t/>
            </a:r>
          </a:p>
          <a:p xmlns:a="http://schemas.openxmlformats.org/drawingml/2006/main">
            <a:r>
              <a:t>u means owner class. g means group class. o means other class. + / - means add or remove selected bits. = means set the selected class exactly. chmod g+r means add group read without changing other bits.</a:t>
            </a:r>
          </a:p>
          <a:p xmlns:a="http://schemas.openxmlformats.org/drawingml/2006/main">
            <a:r>
              <a:t/>
            </a:r>
          </a:p>
          <a:p xmlns:a="http://schemas.openxmlformats.org/drawingml/2006/main">
            <a:r>
              <a:t>Example: chmod u=rw,g=r,o= report.txt expresses mode 640 as intent rather than arithmetic.</a:t>
            </a:r>
          </a:p>
          <a:p xmlns:a="http://schemas.openxmlformats.org/drawingml/2006/main">
            <a:r>
              <a:t/>
            </a:r>
          </a:p>
          <a:p xmlns:a="http://schemas.openxmlformats.org/drawingml/2006/main">
            <a:r>
              <a:t>Ask: “Which command removes only write permission from others?”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C07, C08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“umask removes permissions; it never grants.” Use umask to inspect the current shell and umask 027 for a session where new files should not be available to others.</a:t>
            </a:r>
          </a:p>
          <a:p xmlns:a="http://schemas.openxmlformats.org/drawingml/2006/main">
            <a:r>
              <a:t/>
            </a:r>
          </a:p>
          <a:p xmlns:a="http://schemas.openxmlformats.org/drawingml/2006/main">
            <a:r>
              <a:t>REQUESTED MODE, program default: Files commonly request 666; Directories commonly request 777; Execute is not added to ordinary files. UMASK, bits to clear: 022 yields files 644; 022 yields directories 755; Process-local and inherited.</a:t>
            </a:r>
          </a:p>
          <a:p xmlns:a="http://schemas.openxmlformats.org/drawingml/2006/main">
            <a:r>
              <a:t/>
            </a:r>
          </a:p>
          <a:p xmlns:a="http://schemas.openxmlformats.org/drawingml/2006/main">
            <a:r>
              <a:t>Example: Why does umask 022 not make a new text file executable?</a:t>
            </a:r>
          </a:p>
          <a:p xmlns:a="http://schemas.openxmlformats.org/drawingml/2006/main">
            <a:r>
              <a:t/>
            </a:r>
          </a:p>
          <a:p xmlns:a="http://schemas.openxmlformats.org/drawingml/2006/main">
            <a:r>
              <a:t>Ask: “Shared directories add setgid so group ownership remains predictable.”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C07, C08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“setgid keeps shared directories in one group.” setgid solves group drift; it does not decide the exact read and write bits of new files.</a:t>
            </a:r>
          </a:p>
          <a:p xmlns:a="http://schemas.openxmlformats.org/drawingml/2006/main">
            <a:r>
              <a:t/>
            </a:r>
          </a:p>
          <a:p xmlns:a="http://schemas.openxmlformats.org/drawingml/2006/main">
            <a:r>
              <a:t>Directory owner means usually an administrator or service account. Directory group means the collaborating team. Mode 2xxx means setgid bit on the directory. New entries means inherit the directory group. Verification means stat and create a file as a real member.</a:t>
            </a:r>
          </a:p>
          <a:p xmlns:a="http://schemas.openxmlformats.org/drawingml/2006/main">
            <a:r>
              <a:t/>
            </a:r>
          </a:p>
          <a:p xmlns:a="http://schemas.openxmlformats.org/drawingml/2006/main">
            <a:r>
              <a:t>Example: A team directory often combines group ownership, mode 2770, and a cooperative umask such as 0002 or default ACLs.</a:t>
            </a:r>
          </a:p>
          <a:p xmlns:a="http://schemas.openxmlformats.org/drawingml/2006/main">
            <a:r>
              <a:t/>
            </a:r>
          </a:p>
          <a:p xmlns:a="http://schemas.openxmlformats.org/drawingml/2006/main">
            <a:r>
              <a:t>Ask: “What does the leading 2 mean in 2770?”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C07, C08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“Sticky protects names in shared directories.” stat -c '%A %a %n' /tmp commonly reports a mode equivalent to 1777.</a:t>
            </a:r>
          </a:p>
          <a:p xmlns:a="http://schemas.openxmlformats.org/drawingml/2006/main">
            <a:r>
              <a:t/>
            </a:r>
          </a:p>
          <a:p xmlns:a="http://schemas.openxmlformats.org/drawingml/2006/main">
            <a:r>
              <a:t>WITHOUT STICKY, shared write: Any writer may remove entries; File ownership does not protect names; Easy for users to disrupt each other. WITH STICKY, mode 1xxx: Only owner, directory owner, or root removes; Typical example is /tmp; Shown as t in the other execute position.</a:t>
            </a:r>
          </a:p>
          <a:p xmlns:a="http://schemas.openxmlformats.org/drawingml/2006/main">
            <a:r>
              <a:t/>
            </a:r>
          </a:p>
          <a:p xmlns:a="http://schemas.openxmlformats.org/drawingml/2006/main">
            <a:r>
              <a:t>Example: Would sticky prevent another user from reading a world-readable file?</a:t>
            </a:r>
          </a:p>
          <a:p xmlns:a="http://schemas.openxmlformats.org/drawingml/2006/main">
            <a:r>
              <a:t/>
            </a:r>
          </a:p>
          <a:p xmlns:a="http://schemas.openxmlformats.org/drawingml/2006/main">
            <a:r>
              <a:t>Ask: “When triplets are too coarse, ACLs can add named exceptions.”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C07, C08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“ACLs extend permissions without replacing the base model.” setfacl -m u:bob:r report.txt can grant Bob read access, but getfacl is required to see the whole policy.</a:t>
            </a:r>
          </a:p>
          <a:p xmlns:a="http://schemas.openxmlformats.org/drawingml/2006/main">
            <a:r>
              <a:t/>
            </a:r>
          </a:p>
          <a:p xmlns:a="http://schemas.openxmlformats.org/drawingml/2006/main">
            <a:r>
              <a:t>MODE BITS, three classes: Owner, group, other; Visible in ls -l; Portable baseline. POSIX ACL, named entries: Additional users or groups; Mask limits effective named rights; Inspect with getfacl.</a:t>
            </a:r>
          </a:p>
          <a:p xmlns:a="http://schemas.openxmlformats.org/drawingml/2006/main">
            <a:r>
              <a:t/>
            </a:r>
          </a:p>
          <a:p xmlns:a="http://schemas.openxmlformats.org/drawingml/2006/main">
            <a:r>
              <a:t>Example: Why can an ACL entry show rw while effective access is only r?</a:t>
            </a:r>
          </a:p>
          <a:p xmlns:a="http://schemas.openxmlformats.org/drawingml/2006/main">
            <a:r>
              <a:t/>
            </a:r>
          </a:p>
          <a:p xmlns:a="http://schemas.openxmlformats.org/drawingml/2006/main">
            <a:r>
              <a:t>Ask: “Troubleshooting should test the full identity and path before changing anything.”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C07, C08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2.5 minutes.</a:t>
            </a:r>
          </a:p>
          <a:p xmlns:a="http://schemas.openxmlformats.org/drawingml/2006/main">
            <a:r>
              <a:t/>
            </a:r>
          </a:p>
          <a:p xmlns:a="http://schemas.openxmlformats.org/drawingml/2006/main">
            <a:r>
              <a:t>Use demo-alex, demo-riley, demoops, and /srv/demo-share. Inspect identities and every path component before changing owner, group, or modes. Test a real operation after the repair. Lab 5 uses different users, group, share, and acceptance conditions.</a:t>
            </a:r>
          </a:p>
          <a:p xmlns:a="http://schemas.openxmlformats.org/drawingml/2006/main">
            <a:r>
              <a:t/>
            </a:r>
          </a:p>
          <a:p xmlns:a="http://schemas.openxmlformats.org/drawingml/2006/main">
            <a:r>
              <a:t>Source claims: C07, C08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30 minutes.</a:t>
            </a:r>
          </a:p>
          <a:p xmlns:a="http://schemas.openxmlformats.org/drawingml/2006/main">
            <a:r>
              <a:t/>
            </a:r>
          </a:p>
          <a:p xmlns:a="http://schemas.openxmlformats.org/drawingml/2006/main">
            <a:r>
              <a:t>Launch the incident without revealing the solution sequence. Read the mission and acceptance evidence, then ask learners to state their first inspection command before opening the terminal. The checker validates observable state; the debrief must explain why that state follows from the commands.</a:t>
            </a:r>
          </a:p>
          <a:p xmlns:a="http://schemas.openxmlformats.org/drawingml/2006/main">
            <a:r>
              <a:t/>
            </a:r>
          </a:p>
          <a:p xmlns:a="http://schemas.openxmlformats.org/drawingml/2006/main">
            <a:r>
              <a:t>Debrief: which directory permission made creation possible, and why setgid?</a:t>
            </a:r>
          </a:p>
          <a:p xmlns:a="http://schemas.openxmlformats.org/drawingml/2006/main">
            <a:r>
              <a:t/>
            </a:r>
          </a:p>
          <a:p xmlns:a="http://schemas.openxmlformats.org/drawingml/2006/main">
            <a:r>
              <a:t>Source claims: C07, C08 — resources/CLAIM_LEDGER.md. Full task and hints: labs/LAB_GUIDE.md.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Separate the two authentications. The client validates the server host key to prevent a man-in-the-middle. The server validates the user through a password, public key signature, certificate, or other method. Encryption alone is not enough if the client accepts the wrong server identity.</a:t>
            </a:r>
          </a:p>
          <a:p xmlns:a="http://schemas.openxmlformats.org/drawingml/2006/main">
            <a:r>
              <a:t/>
            </a:r>
          </a:p>
          <a:p xmlns:a="http://schemas.openxmlformats.org/drawingml/2006/main">
            <a:r>
              <a:t>Explain the first-connection fingerprint prompt. The correct workflow is to obtain the expected fingerprint through a trusted channel and compare it before accepting. known_hosts remembers the association; a changed key is a security event or a legitimate rebuild that still needs verification.</a:t>
            </a:r>
          </a:p>
          <a:p xmlns:a="http://schemas.openxmlformats.org/drawingml/2006/main">
            <a:r>
              <a:t/>
            </a:r>
          </a:p>
          <a:p xmlns:a="http://schemas.openxmlformats.org/drawingml/2006/main">
            <a:r>
              <a:t>Source claims: C09, C10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“SSH separates transport, host, and user trust.” Encryption prevents eavesdropping only when you also authenticate the endpoint you intended to reach.</a:t>
            </a:r>
          </a:p>
          <a:p xmlns:a="http://schemas.openxmlformats.org/drawingml/2006/main">
            <a:r>
              <a:t/>
            </a:r>
          </a:p>
          <a:p xmlns:a="http://schemas.openxmlformats.org/drawingml/2006/main">
            <a:r>
              <a:t>Transport means encrypts and protects session integrity. Host key means proves which server endpoint answered. User proof means proves which account may log in. Account policy means server maps proof to account policy. Session means starts command, shell, forwarding, or subsystem.</a:t>
            </a:r>
          </a:p>
          <a:p xmlns:a="http://schemas.openxmlformats.org/drawingml/2006/main">
            <a:r>
              <a:t/>
            </a:r>
          </a:p>
          <a:p xmlns:a="http://schemas.openxmlformats.org/drawingml/2006/main">
            <a:r>
              <a:t>Example: A valid user key presented to an attacker still exposes interaction if the client accepted the attacker’s host key.</a:t>
            </a:r>
          </a:p>
          <a:p xmlns:a="http://schemas.openxmlformats.org/drawingml/2006/main">
            <a:r>
              <a:t/>
            </a:r>
          </a:p>
          <a:p xmlns:a="http://schemas.openxmlformats.org/drawingml/2006/main">
            <a:r>
              <a:t>Ask: “Which trust question is answered by known_hosts?”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C09, C10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“Host keys identify servers; user keys identify people.” The client compares the server host key before offering user authentication; these are sequential trust decisions.</a:t>
            </a:r>
          </a:p>
          <a:p xmlns:a="http://schemas.openxmlformats.org/drawingml/2006/main">
            <a:r>
              <a:t/>
            </a:r>
          </a:p>
          <a:p xmlns:a="http://schemas.openxmlformats.org/drawingml/2006/main">
            <a:r>
              <a:t>HOST KEY, server identity: Private half stays on server; Client stores public fingerprint; Change requires investigation. USER KEY, user identity: Private half stays with user; Server stores public key; Can be revoked per account.</a:t>
            </a:r>
          </a:p>
          <a:p xmlns:a="http://schemas.openxmlformats.org/drawingml/2006/main">
            <a:r>
              <a:t/>
            </a:r>
          </a:p>
          <a:p xmlns:a="http://schemas.openxmlformats.org/drawingml/2006/main">
            <a:r>
              <a:t>Example: Where should the user private key exist after setup?</a:t>
            </a:r>
          </a:p>
          <a:p xmlns:a="http://schemas.openxmlformats.org/drawingml/2006/main">
            <a:r>
              <a:t/>
            </a:r>
          </a:p>
          <a:p xmlns:a="http://schemas.openxmlformats.org/drawingml/2006/main">
            <a:r>
              <a:t>Ask: “Fingerprint verification makes the first server trust decision explicit.”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C09, C10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“Verify host keys through an independent channel.” Use ssh-keygen -lf /etc/ssh/ssh_host_ed25519_key.pub on the server console and compare it with the client prompt over a trusted channel.</a:t>
            </a:r>
          </a:p>
          <a:p xmlns:a="http://schemas.openxmlformats.org/drawingml/2006/main">
            <a:r>
              <a:t/>
            </a:r>
          </a:p>
          <a:p xmlns:a="http://schemas.openxmlformats.org/drawingml/2006/main">
            <a:r>
              <a:t>Step 1, Obtain: get the expected fingerprint from an administrator. Step 2, Connect: observe the presented fingerprint. Step 3, Compare: match algorithm and complete fingerprint. Step 4, Accept: store the verified key in known_hosts. Step 5, Recheck: treat later changes as an event.</a:t>
            </a:r>
          </a:p>
          <a:p xmlns:a="http://schemas.openxmlformats.org/drawingml/2006/main">
            <a:r>
              <a:t/>
            </a:r>
          </a:p>
          <a:p xmlns:a="http://schemas.openxmlformats.org/drawingml/2006/main">
            <a:r>
              <a:t>Example: What legitimate events can change a host key, and why must they still be verified?</a:t>
            </a:r>
          </a:p>
          <a:p xmlns:a="http://schemas.openxmlformats.org/drawingml/2006/main">
            <a:r>
              <a:t/>
            </a:r>
          </a:p>
          <a:p xmlns:a="http://schemas.openxmlformats.org/drawingml/2006/main">
            <a:r>
              <a:t>Ask: “The user private key deserves local protection even though it never travels.”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C09, C10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Use a signing analogy, not encryption of the session. The private key signs a challenge; the server checks the signature with the stored public key. The private key does not travel. The .pub file is intentionally shareable.</a:t>
            </a:r>
          </a:p>
          <a:p xmlns:a="http://schemas.openxmlformats.org/drawingml/2006/main">
            <a:r>
              <a:t/>
            </a:r>
          </a:p>
          <a:p xmlns:a="http://schemas.openxmlformats.org/drawingml/2006/main">
            <a:r>
              <a:t>Use Ed25519 for the workshop because current OpenSSH supports it and the command is compact. The -a value increases password-based key derivation work when encrypting the private key file. A passphrase protects a stolen key file; an agent can cache access during a session.</a:t>
            </a:r>
          </a:p>
          <a:p xmlns:a="http://schemas.openxmlformats.org/drawingml/2006/main">
            <a:r>
              <a:t/>
            </a:r>
          </a:p>
          <a:p xmlns:a="http://schemas.openxmlformats.org/drawingml/2006/main">
            <a:r>
              <a:t>Mention that enterprise policy may require hardware-backed keys or certificates.</a:t>
            </a:r>
          </a:p>
          <a:p xmlns:a="http://schemas.openxmlformats.org/drawingml/2006/main">
            <a:r>
              <a:t/>
            </a:r>
          </a:p>
          <a:p xmlns:a="http://schemas.openxmlformats.org/drawingml/2006/main">
            <a:r>
              <a:t>Source claims: C09, C10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“A passphrase and agent reduce private-key exposure.” A key without a passphrase can be appropriate for tightly controlled automation, but it needs stronger surrounding controls and narrow authorization.</a:t>
            </a:r>
          </a:p>
          <a:p xmlns:a="http://schemas.openxmlformats.org/drawingml/2006/main">
            <a:r>
              <a:t/>
            </a:r>
          </a:p>
          <a:p xmlns:a="http://schemas.openxmlformats.org/drawingml/2006/main">
            <a:r>
              <a:t>Phrase means a passphrase encrypts the private key file at rest. KDF rounds means increase cost of password guessing. Agent means holds an unlocked key for a limited session. Permissions means prevent other local users from reading the file. Rotation means replace compromised or obsolete credentials.</a:t>
            </a:r>
          </a:p>
          <a:p xmlns:a="http://schemas.openxmlformats.org/drawingml/2006/main">
            <a:r>
              <a:t/>
            </a:r>
          </a:p>
          <a:p xmlns:a="http://schemas.openxmlformats.org/drawingml/2006/main">
            <a:r>
              <a:t>Example: For interactive use, create an Ed25519 key with a passphrase and let ssh-agent avoid repeated prompts during one trusted login session.</a:t>
            </a:r>
          </a:p>
          <a:p xmlns:a="http://schemas.openxmlformats.org/drawingml/2006/main">
            <a:r>
              <a:t/>
            </a:r>
          </a:p>
          <a:p xmlns:a="http://schemas.openxmlformats.org/drawingml/2006/main">
            <a:r>
              <a:t>Ask: “What threat does a passphrase mitigate after a laptop is stolen?”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C09, C10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“OpenSSH checks every component of the authorization path.” StrictModes protects users from another local account replacing their authorized keys.</a:t>
            </a:r>
          </a:p>
          <a:p xmlns:a="http://schemas.openxmlformats.org/drawingml/2006/main">
            <a:r>
              <a:t/>
            </a:r>
          </a:p>
          <a:p xmlns:a="http://schemas.openxmlformats.org/drawingml/2006/main">
            <a:r>
              <a:t>Home directory means owned by the account; not broadly writable. ~/.ssh means normally mode 700. authorized_keys means normally mode 600. Public key line means complete algorithm and key data. Account means login shell and policy must allow access. Server log means explains rejected ownership or mode.</a:t>
            </a:r>
          </a:p>
          <a:p xmlns:a="http://schemas.openxmlformats.org/drawingml/2006/main">
            <a:r>
              <a:t/>
            </a:r>
          </a:p>
          <a:p xmlns:a="http://schemas.openxmlformats.org/drawingml/2006/main">
            <a:r>
              <a:t>Example: Use namei -l ~/.ssh/authorized_keys to inspect the entire path and journalctl -u ssh for the server’s reason.</a:t>
            </a:r>
          </a:p>
          <a:p xmlns:a="http://schemas.openxmlformats.org/drawingml/2006/main">
            <a:r>
              <a:t/>
            </a:r>
          </a:p>
          <a:p xmlns:a="http://schemas.openxmlformats.org/drawingml/2006/main">
            <a:r>
              <a:t>Ask: “Why can a perfectly valid key fail when the home directory is group-writable?”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C09, C10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Walk line by line. Host is the alias. HostName and Port identify the server. User and IdentityFile remove ambiguity. IdentitiesOnly prevents an agent from offering many unrelated keys and hitting server limits. ServerAliveInterval helps detect dead sessions.</a:t>
            </a:r>
          </a:p>
          <a:p xmlns:a="http://schemas.openxmlformats.org/drawingml/2006/main">
            <a:r>
              <a:t/>
            </a:r>
          </a:p>
          <a:p xmlns:a="http://schemas.openxmlformats.org/drawingml/2006/main">
            <a:r>
              <a:t>In Lab 6 the training server is localhost on port 2222 because both SSH endpoints live inside the isolated learner container. For production, the same profile points to a remote DNS name or address.</a:t>
            </a:r>
          </a:p>
          <a:p xmlns:a="http://schemas.openxmlformats.org/drawingml/2006/main">
            <a:r>
              <a:t/>
            </a:r>
          </a:p>
          <a:p xmlns:a="http://schemas.openxmlformats.org/drawingml/2006/main">
            <a:r>
              <a:t>Explain StrictHostKeyChecking carefully: accept-new is convenient in a disposable lab but still rejects changed keys. Managed environments should pre-provision known_hosts or use yes with a trusted onboarding process.</a:t>
            </a:r>
          </a:p>
          <a:p xmlns:a="http://schemas.openxmlformats.org/drawingml/2006/main">
            <a:r>
              <a:t/>
            </a:r>
          </a:p>
          <a:p xmlns:a="http://schemas.openxmlformats.org/drawingml/2006/main">
            <a:r>
              <a:t>Source claims: C09, C10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r>
              <a:t/>
            </a:r>
          </a:p>
          <a:p xmlns:a="http://schemas.openxmlformats.org/drawingml/2006/main">
            <a:r>
              <a:t>Say: “SSH uses the first value obtained.” SSH uses the first value found for most parameters, so ordering matters when several Host blocks match.</a:t>
            </a:r>
          </a:p>
          <a:p xmlns:a="http://schemas.openxmlformats.org/drawingml/2006/main">
            <a:r>
              <a:t/>
            </a:r>
          </a:p>
          <a:p xmlns:a="http://schemas.openxmlformats.org/drawingml/2006/main">
            <a:r>
              <a:t>Command line means explicit options for this invocation. User config means ~/.ssh/config patterns in order. System config means /etc/ssh/ssh_config defaults. Host patterns means specific entries should appear before broad ones. Effective view means ssh -G alias prints resolved settings.</a:t>
            </a:r>
          </a:p>
          <a:p xmlns:a="http://schemas.openxmlformats.org/drawingml/2006/main">
            <a:r>
              <a:t/>
            </a:r>
          </a:p>
          <a:p xmlns:a="http://schemas.openxmlformats.org/drawingml/2006/main">
            <a:r>
              <a:t>Example: Place Host production-web before Host * and verify the result with ssh -G production-web | less.</a:t>
            </a:r>
          </a:p>
          <a:p xmlns:a="http://schemas.openxmlformats.org/drawingml/2006/main">
            <a:r>
              <a:t/>
            </a:r>
          </a:p>
          <a:p xmlns:a="http://schemas.openxmlformats.org/drawingml/2006/main">
            <a:r>
              <a:t>Ask: “Which command shows the effective HostName, User, and IdentityFile without connecting?”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C09, C10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The demo endpoint listens on 2207 with a separate host key and demo-operator account. Compare the scanned host key with the independently read public host-key fingerprint, then perform a BatchMode login. Emphasize that collection is not authentication.</a:t>
            </a:r>
          </a:p>
          <a:p xmlns:a="http://schemas.openxmlformats.org/drawingml/2006/main">
            <a:r>
              <a:t/>
            </a:r>
          </a:p>
          <a:p xmlns:a="http://schemas.openxmlformats.org/drawingml/2006/main">
            <a:r>
              <a:t>Source claims: C09, C10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r>
              <a:t/>
            </a:r>
          </a:p>
          <a:p xmlns:a="http://schemas.openxmlformats.org/drawingml/2006/main">
            <a:r>
              <a:t>Say: “Test SSH failures one layer at a time.” Run ssh -vv alias, then read from connection establishment through host-key check to the first authentication rejection.</a:t>
            </a:r>
          </a:p>
          <a:p xmlns:a="http://schemas.openxmlformats.org/drawingml/2006/main">
            <a:r>
              <a:t/>
            </a:r>
          </a:p>
          <a:p xmlns:a="http://schemas.openxmlformats.org/drawingml/2006/main">
            <a:r>
              <a:t>Step 1, Network: resolve name and reach the port. Step 2, Host trust: inspect known_hosts and fingerprint. Step 3, Client choice: ssh -G shows user, key, and port. Step 4, User auth: ssh -vv reveals offered and accepted methods. Step 5, Server policy: read ssh service logs and account state.</a:t>
            </a:r>
          </a:p>
          <a:p xmlns:a="http://schemas.openxmlformats.org/drawingml/2006/main">
            <a:r>
              <a:t/>
            </a:r>
          </a:p>
          <a:p xmlns:a="http://schemas.openxmlformats.org/drawingml/2006/main">
            <a:r>
              <a:t>Example: What does ‘Permission denied (publickey)’ prove, and what does it not prove?</a:t>
            </a:r>
          </a:p>
          <a:p xmlns:a="http://schemas.openxmlformats.org/drawingml/2006/main">
            <a:r>
              <a:t/>
            </a:r>
          </a:p>
          <a:p xmlns:a="http://schemas.openxmlformats.org/drawingml/2006/main">
            <a:r>
              <a:t>Ask: “Once connected, logs provide the historical evidence needed for broader diagnosis.”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C09, C10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25 minutes.</a:t>
            </a:r>
          </a:p>
          <a:p xmlns:a="http://schemas.openxmlformats.org/drawingml/2006/main">
            <a:r>
              <a:t/>
            </a:r>
          </a:p>
          <a:p xmlns:a="http://schemas.openxmlformats.org/drawingml/2006/main">
            <a:r>
              <a:t>Launch the incident without revealing the solution sequence. Read the mission and acceptance evidence, then ask learners to state their first inspection command before opening the terminal. The checker validates observable state; the debrief must explain why that state follows from the commands.</a:t>
            </a:r>
          </a:p>
          <a:p xmlns:a="http://schemas.openxmlformats.org/drawingml/2006/main">
            <a:r>
              <a:t/>
            </a:r>
          </a:p>
          <a:p xmlns:a="http://schemas.openxmlformats.org/drawingml/2006/main">
            <a:r>
              <a:t>Debrief: which key authenticates the server, and which key authenticates you?</a:t>
            </a:r>
          </a:p>
          <a:p xmlns:a="http://schemas.openxmlformats.org/drawingml/2006/main">
            <a:r>
              <a:t/>
            </a:r>
          </a:p>
          <a:p xmlns:a="http://schemas.openxmlformats.org/drawingml/2006/main">
            <a:r>
              <a:t>Source claims: C09, C10 — resources/CLAIM_LEDGER.md. Full task and hints: labs/LAB_GUIDE.md.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Explain coexistence. Traditional and application logs often live under /var/log. systemd-journald collects structured entries from services, the kernel, and system components. Depending on configuration, journal data may persist under /var/log/journal or live in /run/log/journal until reboot.</a:t>
            </a:r>
          </a:p>
          <a:p xmlns:a="http://schemas.openxmlformats.org/drawingml/2006/main">
            <a:r>
              <a:t/>
            </a:r>
          </a:p>
          <a:p xmlns:a="http://schemas.openxmlformats.org/drawingml/2006/main">
            <a:r>
              <a:t>Show that package actions have useful logs, such as /var/log/apt/history.log and /var/log/dpkg.log. Mention rotation: today’s file may become .1 or compressed.</a:t>
            </a:r>
          </a:p>
          <a:p xmlns:a="http://schemas.openxmlformats.org/drawingml/2006/main">
            <a:r>
              <a:t/>
            </a:r>
          </a:p>
          <a:p xmlns:a="http://schemas.openxmlformats.org/drawingml/2006/main">
            <a:r>
              <a:t>The investigative rule is to frame a question first: which unit, which boot, which time window, which severity?</a:t>
            </a:r>
          </a:p>
          <a:p xmlns:a="http://schemas.openxmlformats.org/drawingml/2006/main">
            <a:r>
              <a:t/>
            </a:r>
          </a:p>
          <a:p xmlns:a="http://schemas.openxmlformats.org/drawingml/2006/main">
            <a:r>
              <a:t>Source claims: C11, C12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“A useful log record answers five questions.” Logs are evidence emitted by software, not guaranteed truth. Interpret them with system state and behavior.</a:t>
            </a:r>
          </a:p>
          <a:p xmlns:a="http://schemas.openxmlformats.org/drawingml/2006/main">
            <a:r>
              <a:t/>
            </a:r>
          </a:p>
          <a:p xmlns:a="http://schemas.openxmlformats.org/drawingml/2006/main">
            <a:r>
              <a:t>When means timestamp with timezone or boot context. Where means host, container, or node. Who means unit, process, PID, or identity. What means event and severity. Why next means correlation field, exit code, or causal detail.</a:t>
            </a:r>
          </a:p>
          <a:p xmlns:a="http://schemas.openxmlformats.org/drawingml/2006/main">
            <a:r>
              <a:t/>
            </a:r>
          </a:p>
          <a:p xmlns:a="http://schemas.openxmlformats.org/drawingml/2006/main">
            <a:r>
              <a:t>Example: Read one line aloud by naming timestamp, host, source, and message before deciding what it means.</a:t>
            </a:r>
          </a:p>
          <a:p xmlns:a="http://schemas.openxmlformats.org/drawingml/2006/main">
            <a:r>
              <a:t/>
            </a:r>
          </a:p>
          <a:p xmlns:a="http://schemas.openxmlformats.org/drawingml/2006/main">
            <a:r>
              <a:t>Ask: “Which missing field would make two similar hosts difficult to distinguish?”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C11, C12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Build the command incrementally. -u chooses a systemd unit, --since narrows time, -p chooses priority and above, -n limits count, --no-pager makes captured output stable, and -f follows new messages. Mention -b for the current boot and -b -1 for the previous boot when retained; volatile journal storage does not preserve prior boots.</a:t>
            </a:r>
          </a:p>
          <a:p xmlns:a="http://schemas.openxmlformats.org/drawingml/2006/main">
            <a:r>
              <a:t/>
            </a:r>
          </a:p>
          <a:p xmlns:a="http://schemas.openxmlformats.org/drawingml/2006/main">
            <a:r>
              <a:t>Warn that filtering too aggressively can hide context. Start narrow enough to be usable, then widen time or severity if needed. Read timestamps, unit names, exit status, and the earliest causal message—not only the final cascade.</a:t>
            </a:r>
          </a:p>
          <a:p xmlns:a="http://schemas.openxmlformats.org/drawingml/2006/main">
            <a:r>
              <a:t/>
            </a:r>
          </a:p>
          <a:p xmlns:a="http://schemas.openxmlformats.org/drawingml/2006/main">
            <a:r>
              <a:t>Point out access: normal users may see only their own journal; sudo may be required for system units.</a:t>
            </a:r>
          </a:p>
          <a:p xmlns:a="http://schemas.openxmlformats.org/drawingml/2006/main">
            <a:r>
              <a:t/>
            </a:r>
          </a:p>
          <a:p xmlns:a="http://schemas.openxmlformats.org/drawingml/2006/main">
            <a:r>
              <a:t>Source claims: C11, C12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“journalctl can narrow by unit, boot, time, and priority.” Start with the service and incident window, then widen only if the answer is absent.</a:t>
            </a:r>
          </a:p>
          <a:p xmlns:a="http://schemas.openxmlformats.org/drawingml/2006/main">
            <a:r>
              <a:t/>
            </a:r>
          </a:p>
          <a:p xmlns:a="http://schemas.openxmlformats.org/drawingml/2006/main">
            <a:r>
              <a:t>Unit means -u ssh.service. Current boot means -b. Previous boot means -b -1. Time means --since '-10 minutes'. Priority means -p warning. Stable output means -n 50 --no-pager -o short-iso.</a:t>
            </a:r>
          </a:p>
          <a:p xmlns:a="http://schemas.openxmlformats.org/drawingml/2006/main">
            <a:r>
              <a:t/>
            </a:r>
          </a:p>
          <a:p xmlns:a="http://schemas.openxmlformats.org/drawingml/2006/main">
            <a:r>
              <a:t>Example: journalctl -u course-web -b --since '-10 min' --no-pager creates a bounded incident view.</a:t>
            </a:r>
          </a:p>
          <a:p xmlns:a="http://schemas.openxmlformats.org/drawingml/2006/main">
            <a:r>
              <a:t/>
            </a:r>
          </a:p>
          <a:p xmlns:a="http://schemas.openxmlformats.org/drawingml/2006/main">
            <a:r>
              <a:t>Ask: “Why might -p err hide the line that explains a later failure?”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C11, C12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“Filter narrowly, then widen one dimension at a time.” If the unit log shows only a dependency failure, widen to the named dependency rather than dumping the complete journal.</a:t>
            </a:r>
          </a:p>
          <a:p xmlns:a="http://schemas.openxmlformats.org/drawingml/2006/main">
            <a:r>
              <a:t/>
            </a:r>
          </a:p>
          <a:p xmlns:a="http://schemas.openxmlformats.org/drawingml/2006/main">
            <a:r>
              <a:t>Bound: Choose one unit; Select one boot; Set the time window; Name the incident. Read: Follow timestamps; Find the first cause; Capture exit reason; Note dependencies. Widen: Extend time; Add priorities; Inspect related units; Inspect the process.</a:t>
            </a:r>
          </a:p>
          <a:p xmlns:a="http://schemas.openxmlformats.org/drawingml/2006/main">
            <a:r>
              <a:t/>
            </a:r>
          </a:p>
          <a:p xmlns:a="http://schemas.openxmlformats.org/drawingml/2006/main">
            <a:r>
              <a:t>Example: Which dimension would you widen first when the earliest line says ‘dependency failed’?</a:t>
            </a:r>
          </a:p>
          <a:p xmlns:a="http://schemas.openxmlformats.org/drawingml/2006/main">
            <a:r>
              <a:t/>
            </a:r>
          </a:p>
          <a:p xmlns:a="http://schemas.openxmlformats.org/drawingml/2006/main">
            <a:r>
              <a:t>Ask: “Following live events is useful, but it answers a different question from history.”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C11, C12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 minutes.</a:t>
            </a:r>
          </a:p>
          <a:p xmlns:a="http://schemas.openxmlformats.org/drawingml/2006/main">
            <a:r>
              <a:t/>
            </a:r>
          </a:p>
          <a:p xmlns:a="http://schemas.openxmlformats.org/drawingml/2006/main">
            <a:r>
              <a:t>course-demo-noisy.service emits a STALE_CACHE event and exits 17. Ask learners to identify the first causal application record before reading the later failed result. Lab 7 uses a disk-threshold event and exit code 42.</a:t>
            </a:r>
          </a:p>
          <a:p xmlns:a="http://schemas.openxmlformats.org/drawingml/2006/main">
            <a:r>
              <a:t/>
            </a:r>
          </a:p>
          <a:p xmlns:a="http://schemas.openxmlformats.org/drawingml/2006/main">
            <a:r>
              <a:t>Source claims: C11, C12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20 minutes.</a:t>
            </a:r>
          </a:p>
          <a:p xmlns:a="http://schemas.openxmlformats.org/drawingml/2006/main">
            <a:r>
              <a:t/>
            </a:r>
          </a:p>
          <a:p xmlns:a="http://schemas.openxmlformats.org/drawingml/2006/main">
            <a:r>
              <a:t>Launch the incident without revealing the solution sequence. Read the mission and acceptance evidence, then ask learners to state their first inspection command before opening the terminal. The checker validates observable state; the debrief must explain why that state follows from the commands.</a:t>
            </a:r>
          </a:p>
          <a:p xmlns:a="http://schemas.openxmlformats.org/drawingml/2006/main">
            <a:r>
              <a:t/>
            </a:r>
          </a:p>
          <a:p xmlns:a="http://schemas.openxmlformats.org/drawingml/2006/main">
            <a:r>
              <a:t>Debrief: which line is the application cause, and which line is systemd's result?</a:t>
            </a:r>
          </a:p>
          <a:p xmlns:a="http://schemas.openxmlformats.org/drawingml/2006/main">
            <a:r>
              <a:t/>
            </a:r>
          </a:p>
          <a:p xmlns:a="http://schemas.openxmlformats.org/drawingml/2006/main">
            <a:r>
              <a:t>Source claims: C11, C12 — resources/CLAIM_LEDGER.md. Full task and hints: labs/LAB_GUIDE.md.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r>
              <a:t/>
            </a:r>
          </a:p>
          <a:p xmlns:a="http://schemas.openxmlformats.org/drawingml/2006/main">
            <a:r>
              <a:t>Define a unit as a resource systemd knows how to manage. Services are one unit type; sockets, timers, mounts, and targets are others. Unit files declare the command, identity, working directory, dependencies, and restart behavior. The manager attempts to reach state and records events in the journal.</a:t>
            </a:r>
          </a:p>
          <a:p xmlns:a="http://schemas.openxmlformats.org/drawingml/2006/main">
            <a:r>
              <a:t/>
            </a:r>
          </a:p>
          <a:p xmlns:a="http://schemas.openxmlformats.org/drawingml/2006/main">
            <a:r>
              <a:t>Make enabled versus active explicit. A service can be active now but not enabled for boot, enabled but currently failed, both, or neither. systemctl status shows current state and recent logs, not a complete diagnosis.</a:t>
            </a:r>
          </a:p>
          <a:p xmlns:a="http://schemas.openxmlformats.org/drawingml/2006/main">
            <a:r>
              <a:t/>
            </a:r>
          </a:p>
          <a:p xmlns:a="http://schemas.openxmlformats.org/drawingml/2006/main">
            <a:r>
              <a:t>Source claims: C12, C13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r>
              <a:t/>
            </a:r>
          </a:p>
          <a:p xmlns:a="http://schemas.openxmlformats.org/drawingml/2006/main">
            <a:r>
              <a:t>Say: “Service transitions leave journal evidence.” A unit can be loaded correctly yet fail during credential setup before its command ever starts.</a:t>
            </a:r>
          </a:p>
          <a:p xmlns:a="http://schemas.openxmlformats.org/drawingml/2006/main">
            <a:r>
              <a:t/>
            </a:r>
          </a:p>
          <a:p xmlns:a="http://schemas.openxmlformats.org/drawingml/2006/main">
            <a:r>
              <a:t>Declared: ExecStart command; Service user; Dependencies; Restart policy. Transition: Conditions; Ordering; Credentials; Exit status. Observed: Active state; Substate; Main PID; Journal events.</a:t>
            </a:r>
          </a:p>
          <a:p xmlns:a="http://schemas.openxmlformats.org/drawingml/2006/main">
            <a:r>
              <a:t/>
            </a:r>
          </a:p>
          <a:p xmlns:a="http://schemas.openxmlformats.org/drawingml/2006/main">
            <a:r>
              <a:t>Example: What evidence distinguishes ‘unit not found’ from ‘process exited’?</a:t>
            </a:r>
          </a:p>
          <a:p xmlns:a="http://schemas.openxmlformats.org/drawingml/2006/main">
            <a:r>
              <a:t/>
            </a:r>
          </a:p>
          <a:p xmlns:a="http://schemas.openxmlformats.org/drawingml/2006/main">
            <a:r>
              <a:t>Ask: “Dependencies and ordering explain why one failure can appear in several units.”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C12, C13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r>
              <a:t/>
            </a:r>
          </a:p>
          <a:p xmlns:a="http://schemas.openxmlformats.org/drawingml/2006/main">
            <a:r>
              <a:t>Say: “Requirement and ordering are separate relationships.” Requirement and order are separate questions. After=network.target does not guarantee an application-ready network connection.</a:t>
            </a:r>
          </a:p>
          <a:p xmlns:a="http://schemas.openxmlformats.org/drawingml/2006/main">
            <a:r>
              <a:t/>
            </a:r>
          </a:p>
          <a:p xmlns:a="http://schemas.openxmlformats.org/drawingml/2006/main">
            <a:r>
              <a:t>Requires= means start together; failure relationship. Wants= means weaker activation relationship. After= means ordering only; does not pull a unit in. Before= means inverse ordering relationship. PartOf= means propagate selected lifecycle actions.</a:t>
            </a:r>
          </a:p>
          <a:p xmlns:a="http://schemas.openxmlformats.org/drawingml/2006/main">
            <a:r>
              <a:t/>
            </a:r>
          </a:p>
          <a:p xmlns:a="http://schemas.openxmlformats.org/drawingml/2006/main">
            <a:r>
              <a:t>Example: Use systemctl list-dependencies unit and systemctl show unit -p Wants -p Requires -p After to inspect relationships.</a:t>
            </a:r>
          </a:p>
          <a:p xmlns:a="http://schemas.openxmlformats.org/drawingml/2006/main">
            <a:r>
              <a:t/>
            </a:r>
          </a:p>
          <a:p xmlns:a="http://schemas.openxmlformats.org/drawingml/2006/main">
            <a:r>
              <a:t>Ask: “Why is After= not sufficient to start a missing dependency?”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C12, C13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Group verbs by job. Observe before change. start and stop affect runtime; restart combines both and may hide transient evidence. reload asks a capable service to reread configuration without a full restart. enable and disable affect boot relationships, not necessarily immediate state unless --now is added. systemctl cat shows the effective unit and drop-ins. daemon-reload makes the manager reread unit definitions; it does not restart services.</a:t>
            </a:r>
          </a:p>
          <a:p xmlns:a="http://schemas.openxmlformats.org/drawingml/2006/main">
            <a:r>
              <a:t/>
            </a:r>
          </a:p>
          <a:p xmlns:a="http://schemas.openxmlformats.org/drawingml/2006/main">
            <a:r>
              <a:t>Teach the operational sequence: capture status and logs, inspect configuration, make one change, daemon-reload if the unit changed, restart, then verify state and behavior.</a:t>
            </a:r>
          </a:p>
          <a:p xmlns:a="http://schemas.openxmlformats.org/drawingml/2006/main">
            <a:r>
              <a:t/>
            </a:r>
          </a:p>
          <a:p xmlns:a="http://schemas.openxmlformats.org/drawingml/2006/main">
            <a:r>
              <a:t>Source claims: C12, C13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demo-api.service fails because its required EnvironmentFile is missing. Read status, journal, and effective unit before creating only /etc/demo-api.env. Restart, then verify active state, socket 8181, and an HTTP response.</a:t>
            </a:r>
          </a:p>
          <a:p xmlns:a="http://schemas.openxmlformats.org/drawingml/2006/main">
            <a:r>
              <a:t/>
            </a:r>
          </a:p>
          <a:p xmlns:a="http://schemas.openxmlformats.org/drawingml/2006/main">
            <a:r>
              <a:t>Source claims: C12, C13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“Diagnose services from symptom to verified behavior.” For a web service, combine is-active, is-enabled, socket inspection if needed, and curl against the actual URL.</a:t>
            </a:r>
          </a:p>
          <a:p xmlns:a="http://schemas.openxmlformats.org/drawingml/2006/main">
            <a:r>
              <a:t/>
            </a:r>
          </a:p>
          <a:p xmlns:a="http://schemas.openxmlformats.org/drawingml/2006/main">
            <a:r>
              <a:t>Step 1, State: systemctl status and is-active. Step 2, Events: journalctl by unit, boot, and time. Step 3, Definition: systemctl cat and show. Step 4, Repair: change one evidenced cause. Step 5, Behavior: test the endpoint as a real client.</a:t>
            </a:r>
          </a:p>
          <a:p xmlns:a="http://schemas.openxmlformats.org/drawingml/2006/main">
            <a:r>
              <a:t/>
            </a:r>
          </a:p>
          <a:p xmlns:a="http://schemas.openxmlformats.org/drawingml/2006/main">
            <a:r>
              <a:t>Example: What independent check proves more than systemctl status alone?</a:t>
            </a:r>
          </a:p>
          <a:p xmlns:a="http://schemas.openxmlformats.org/drawingml/2006/main">
            <a:r>
              <a:t/>
            </a:r>
          </a:p>
          <a:p xmlns:a="http://schemas.openxmlformats.org/drawingml/2006/main">
            <a:r>
              <a:t>Ask: “The capstone demo applies this sequence without guessing.”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C12, C13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r>
              <a:t/>
            </a:r>
          </a:p>
          <a:p xmlns:a="http://schemas.openxmlformats.org/drawingml/2006/main">
            <a:r>
              <a:t>Use this slide to debrief the preceding terminal work. Declaration, events, runtime state, transport, and client behavior are separate evidence sources. State explicitly that an active process alone does not prove useful service behavior.</a:t>
            </a:r>
          </a:p>
          <a:p xmlns:a="http://schemas.openxmlformats.org/drawingml/2006/main">
            <a:r>
              <a:t/>
            </a:r>
          </a:p>
          <a:p xmlns:a="http://schemas.openxmlformats.org/drawingml/2006/main">
            <a:r>
              <a:t>Source claims: C12, C13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25 minutes.</a:t>
            </a:r>
          </a:p>
          <a:p xmlns:a="http://schemas.openxmlformats.org/drawingml/2006/main">
            <a:r>
              <a:t/>
            </a:r>
          </a:p>
          <a:p xmlns:a="http://schemas.openxmlformats.org/drawingml/2006/main">
            <a:r>
              <a:t>Launch the incident without revealing the solution sequence. Read the mission and acceptance evidence, then ask learners to state their first inspection command before opening the terminal. The checker validates observable state; the debrief must explain why that state follows from the commands.</a:t>
            </a:r>
          </a:p>
          <a:p xmlns:a="http://schemas.openxmlformats.org/drawingml/2006/main">
            <a:r>
              <a:t/>
            </a:r>
          </a:p>
          <a:p xmlns:a="http://schemas.openxmlformats.org/drawingml/2006/main">
            <a:r>
              <a:t>Debrief: why was creating the directory safer than editing the unit?</a:t>
            </a:r>
          </a:p>
          <a:p xmlns:a="http://schemas.openxmlformats.org/drawingml/2006/main">
            <a:r>
              <a:t/>
            </a:r>
          </a:p>
          <a:p xmlns:a="http://schemas.openxmlformats.org/drawingml/2006/main">
            <a:r>
              <a:t>Source claims: C12, C13 — resources/CLAIM_LEDGER.md. Full task and hints: labs/LAB_GUIDE.md.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Say: “A process is a running program with context.” The executable on disk is only the recipe. A process is that recipe running with identity, memory, environment, and open resources.</a:t>
            </a:r>
          </a:p>
          <a:p xmlns:a="http://schemas.openxmlformats.org/drawingml/2006/main">
            <a:r>
              <a:t/>
            </a:r>
          </a:p>
          <a:p xmlns:a="http://schemas.openxmlformats.org/drawingml/2006/main">
            <a:r>
              <a:t>PID means a temporary process identifier. Parent means the process that created it. Identity means effective user and groups used for access checks. Environment means name/value data inherited at process start. Descriptors means open files, sockets, and streams.</a:t>
            </a:r>
          </a:p>
          <a:p xmlns:a="http://schemas.openxmlformats.org/drawingml/2006/main">
            <a:r>
              <a:t/>
            </a:r>
          </a:p>
          <a:p xmlns:a="http://schemas.openxmlformats.org/drawingml/2006/main">
            <a:r>
              <a:t>Example: Use ps -ef for a broad view and ps -o pid,ppid,user,stat,cmd -p PID when you need focused evidence.</a:t>
            </a:r>
          </a:p>
          <a:p xmlns:a="http://schemas.openxmlformats.org/drawingml/2006/main">
            <a:r>
              <a:t/>
            </a:r>
          </a:p>
          <a:p xmlns:a="http://schemas.openxmlformats.org/drawingml/2006/main">
            <a:r>
              <a:t>Ask: “Why can two processes run the same executable but access different files?”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C12, C14, C15, C16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Reintroduce the process model at service depth. systemd owns a unit and reports MainPID; ps reports hierarchy and credentials; procfs exposes supporting process data; ss reports sockets; curl acts as a client. No one command proves all layers.</a:t>
            </a:r>
          </a:p>
          <a:p xmlns:a="http://schemas.openxmlformats.org/drawingml/2006/main">
            <a:r>
              <a:t/>
            </a:r>
          </a:p>
          <a:p xmlns:a="http://schemas.openxmlformats.org/drawingml/2006/main">
            <a:r>
              <a:t>Source claims: C12, C14, C15, C16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7 minutes.</a:t>
            </a:r>
          </a:p>
          <a:p xmlns:a="http://schemas.openxmlformats.org/drawingml/2006/main">
            <a:r>
              <a:t/>
            </a:r>
          </a:p>
          <a:p xmlns:a="http://schemas.openxmlformats.org/drawingml/2006/main">
            <a:r>
              <a:t>Trace demo-echo.service on port 9191. Capture MainPID, inspect the exact PID, render the NUL-separated command line only for display, identify the listener, and test HTTP. Stop through systemd and prove the socket is gone. Lab 9 uses another unit, user, and port.</a:t>
            </a:r>
          </a:p>
          <a:p xmlns:a="http://schemas.openxmlformats.org/drawingml/2006/main">
            <a:r>
              <a:t/>
            </a:r>
          </a:p>
          <a:p xmlns:a="http://schemas.openxmlformats.org/drawingml/2006/main">
            <a:r>
              <a:t>Source claims: C12, C14, C15, C16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15 minutes.</a:t>
            </a:r>
          </a:p>
          <a:p xmlns:a="http://schemas.openxmlformats.org/drawingml/2006/main">
            <a:r>
              <a:t/>
            </a:r>
          </a:p>
          <a:p xmlns:a="http://schemas.openxmlformats.org/drawingml/2006/main">
            <a:r>
              <a:t>Launch the incident without revealing the solution sequence. Read the mission and acceptance evidence, then ask learners to state their first inspection command before opening the terminal. The checker validates observable state; the debrief must explain why that state follows from the commands.</a:t>
            </a:r>
          </a:p>
          <a:p xmlns:a="http://schemas.openxmlformats.org/drawingml/2006/main">
            <a:r>
              <a:t/>
            </a:r>
          </a:p>
          <a:p xmlns:a="http://schemas.openxmlformats.org/drawingml/2006/main">
            <a:r>
              <a:t>Debrief: what does each of systemctl, ps, ss, and curl prove?</a:t>
            </a:r>
          </a:p>
          <a:p xmlns:a="http://schemas.openxmlformats.org/drawingml/2006/main">
            <a:r>
              <a:t/>
            </a:r>
          </a:p>
          <a:p xmlns:a="http://schemas.openxmlformats.org/drawingml/2006/main">
            <a:r>
              <a:t>Source claims: C12, C14, C15, C16 — resources/CLAIM_LEDGER.md. Full task and hints: labs/LAB_GUIDE.md.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“Unit files come from layered locations.” Prefer small drop-ins over editing vendor files that package upgrades may replace.</a:t>
            </a:r>
          </a:p>
          <a:p xmlns:a="http://schemas.openxmlformats.org/drawingml/2006/main">
            <a:r>
              <a:t/>
            </a:r>
          </a:p>
          <a:p xmlns:a="http://schemas.openxmlformats.org/drawingml/2006/main">
            <a:r>
              <a:t>Vendor units load from a distribution-specific search path; /usr/lib/systemd/system is common but not universal. Use systemctl cat and systemctl show -p FragmentPath to inspect the effective source. Admin units means /etc/systemd/system and overrides. Runtime units means /run/systemd/system. Drop-ins means name.service.d/*.conf overrides selected settings. Effective view means systemctl cat name.service.</a:t>
            </a:r>
          </a:p>
          <a:p xmlns:a="http://schemas.openxmlformats.org/drawingml/2006/main">
            <a:r>
              <a:t/>
            </a:r>
          </a:p>
          <a:p xmlns:a="http://schemas.openxmlformats.org/drawingml/2006/main">
            <a:r>
              <a:t>Example: systemctl edit name.service creates an administrator override while systemctl cat shows the combined effective unit.</a:t>
            </a:r>
          </a:p>
          <a:p xmlns:a="http://schemas.openxmlformats.org/drawingml/2006/main">
            <a:r>
              <a:t/>
            </a:r>
          </a:p>
          <a:p xmlns:a="http://schemas.openxmlformats.org/drawingml/2006/main">
            <a:r>
              <a:t>Ask: “Which location should contain a durable local override?”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C13, C17, C18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“Enabled, active, reloaded, and restarted are independent facts.” After editing a unit file: daemon-reload, restart the unit, then verify state and behavior. After editing app config, use reload only if the app supports it.</a:t>
            </a:r>
          </a:p>
          <a:p xmlns:a="http://schemas.openxmlformats.org/drawingml/2006/main">
            <a:r>
              <a:t/>
            </a:r>
          </a:p>
          <a:p xmlns:a="http://schemas.openxmlformats.org/drawingml/2006/main">
            <a:r>
              <a:t>BOOT + RUNTIME, enable / start: enable changes boot links; start changes current state; --now requests both operations. CONFIG APPLY, reload / restart: reload asks process to reread; restart replaces runtime process; daemon-reload rereads unit files.</a:t>
            </a:r>
          </a:p>
          <a:p xmlns:a="http://schemas.openxmlformats.org/drawingml/2006/main">
            <a:r>
              <a:t/>
            </a:r>
          </a:p>
          <a:p xmlns:a="http://schemas.openxmlformats.org/drawingml/2006/main">
            <a:r>
              <a:t>Example: Does systemctl enable guarantee the service is healthy now?</a:t>
            </a:r>
          </a:p>
          <a:p xmlns:a="http://schemas.openxmlformats.org/drawingml/2006/main">
            <a:r>
              <a:t/>
            </a:r>
          </a:p>
          <a:p xmlns:a="http://schemas.openxmlformats.org/drawingml/2006/main">
            <a:r>
              <a:t>Ask: “The final troubleshooting sequence combines every evidence habit from the course.” Take one concise answer, correct the mental model if needed, and connect the answer to the locate → predict → act → observe → verify loop.</a:t>
            </a:r>
          </a:p>
          <a:p xmlns:a="http://schemas.openxmlformats.org/drawingml/2006/main">
            <a:r>
              <a:t/>
            </a:r>
          </a:p>
          <a:p xmlns:a="http://schemas.openxmlformats.org/drawingml/2006/main">
            <a:r>
              <a:t>Source claims: C13, C17, C18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Use demo-banner.service and DEMO_LOG_LEVEL. Inspect FragmentPath, DropInPaths, and Environment before the change. Add one administrator drop-in, run daemon-reload, restart, and compare systemctl cat with /run/demo-banner.txt. Lab 10 changes COURSE_MODE on another unit.</a:t>
            </a:r>
          </a:p>
          <a:p xmlns:a="http://schemas.openxmlformats.org/drawingml/2006/main">
            <a:r>
              <a:t/>
            </a:r>
          </a:p>
          <a:p xmlns:a="http://schemas.openxmlformats.org/drawingml/2006/main">
            <a:r>
              <a:t>Source claims: C13, C17, C18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15 minutes.</a:t>
            </a:r>
          </a:p>
          <a:p xmlns:a="http://schemas.openxmlformats.org/drawingml/2006/main">
            <a:r>
              <a:t/>
            </a:r>
          </a:p>
          <a:p xmlns:a="http://schemas.openxmlformats.org/drawingml/2006/main">
            <a:r>
              <a:t>Launch the incident without revealing the solution sequence. Read the mission and acceptance evidence, then ask learners to state their first inspection command before opening the terminal. The checker validates observable state; the debrief must explain why that state follows from the commands.</a:t>
            </a:r>
          </a:p>
          <a:p xmlns:a="http://schemas.openxmlformats.org/drawingml/2006/main">
            <a:r>
              <a:t/>
            </a:r>
          </a:p>
          <a:p xmlns:a="http://schemas.openxmlformats.org/drawingml/2006/main">
            <a:r>
              <a:t>Debrief: why are daemon-reload, restart, and behavior checks separate steps?</a:t>
            </a:r>
          </a:p>
          <a:p xmlns:a="http://schemas.openxmlformats.org/drawingml/2006/main">
            <a:r>
              <a:t/>
            </a:r>
          </a:p>
          <a:p xmlns:a="http://schemas.openxmlformats.org/drawingml/2006/main">
            <a:r>
              <a:t>Source claims: C13, C17, C18 — resources/CLAIM_LEDGER.md. Full task and hints: labs/LAB_GUIDE.md.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r>
              <a:t/>
            </a:r>
          </a:p>
          <a:p xmlns:a="http://schemas.openxmlformats.org/drawingml/2006/main">
            <a:r>
              <a:t>This is the theory-half synthesis. Give pairs 60 seconds to apply the five steps to the failed-service demo. Ask one pair to report. Listen for browser versus Linux session, identity, working directory, predicted state, one cause, and behavior verification.</a:t>
            </a:r>
          </a:p>
          <a:p xmlns:a="http://schemas.openxmlformats.org/drawingml/2006/main">
            <a:r>
              <a:t/>
            </a:r>
          </a:p>
          <a:p xmlns:a="http://schemas.openxmlformats.org/drawingml/2006/main">
            <a:r>
              <a:t>Reinforce that commands are replaceable; the loop is transferable. A different distribution may use a different package manager, but the operator still locates context, predicts, acts narrowly, observes, and verifies.</a:t>
            </a:r>
          </a:p>
          <a:p xmlns:a="http://schemas.openxmlformats.org/drawingml/2006/main">
            <a:r>
              <a:t/>
            </a:r>
          </a:p>
          <a:p xmlns:a="http://schemas.openxmlformats.org/drawingml/2006/main">
            <a:r>
              <a:t>Announce the lab transition. Learners will now own the keyboard for exactly three hours.</a:t>
            </a:r>
          </a:p>
          <a:p xmlns:a="http://schemas.openxmlformats.org/drawingml/2006/main">
            <a:r>
              <a:t/>
            </a:r>
          </a:p>
          <a:p xmlns:a="http://schemas.openxmlformats.org/drawingml/2006/main">
            <a:r>
              <a:t>Source claims: C13, C17, C18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When a learner asks for help, walk down the five questions without taking the keyboard. Context prevents solving the wrong host, user, or directory. Target inspection shows current state. Reproducing the symptom preserves the exact failure. Logs and exit status identify the cause. One narrow change followed by the same test gives causal confidence.</a:t>
            </a:r>
          </a:p>
          <a:p xmlns:a="http://schemas.openxmlformats.org/drawingml/2006/main">
            <a:r>
              <a:t/>
            </a:r>
          </a:p>
          <a:p xmlns:a="http://schemas.openxmlformats.org/drawingml/2006/main">
            <a:r>
              <a:t>For peer assessment, Partner A explains either the permission or SSH evidence chain. Partner B explains either the journal or systemd chain. A complete explanation names the initial state, the observation that mattered, the smallest change, and the final independent verification.</a:t>
            </a:r>
          </a:p>
          <a:p xmlns:a="http://schemas.openxmlformats.org/drawingml/2006/main">
            <a:r>
              <a:t/>
            </a:r>
          </a:p>
          <a:p xmlns:a="http://schemas.openxmlformats.org/drawingml/2006/main">
            <a:r>
              <a:t>Correct common false positives: sudo success does not prove normal-user access; an accepted but unverified host key is not verified trust; active service state does not prove HTTP behavior; and a green checker does not explain why the solution works.</a:t>
            </a:r>
          </a:p>
          <a:p xmlns:a="http://schemas.openxmlformats.org/drawingml/2006/main">
            <a:r>
              <a:t/>
            </a:r>
          </a:p>
          <a:p xmlns:a="http://schemas.openxmlformats.org/drawingml/2006/main">
            <a:r>
              <a:t>Source claims: C13, C17, C18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Close the evidence loop by naming the authority hierarchy. Primary manuals support normative claims; Ubuntu documentation defines the classroom distribution workflow; open courses supplied exercise inspiration. Direct learners to the claim ledger for claim-by-claim scope and the source file for licenses.</a:t>
            </a:r>
          </a:p>
          <a:p xmlns:a="http://schemas.openxmlformats.org/drawingml/2006/main">
            <a:r>
              <a:t/>
            </a:r>
          </a:p>
          <a:p xmlns:a="http://schemas.openxmlformats.org/drawingml/2006/main">
            <a:r>
              <a:t>Source claims: C13, C17, C18 — resources/CLAIM_LEDGER.md.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854762dd56d437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67891cf980e4d3e" /><Relationship Type="http://schemas.openxmlformats.org/officeDocument/2006/relationships/slideLayout" Target="/ppt/slideLayouts/slideLayout1.xml" Id="R46e1a5afda7c474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6e1a5afda7c474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ceb2c4a922349d0" /><Relationship Type="http://schemas.openxmlformats.org/officeDocument/2006/relationships/image" Target="/ppt/media/image.png" Id="R5a33eef6cacd42a6" /><Relationship Type="http://schemas.openxmlformats.org/officeDocument/2006/relationships/notesSlide" Target="/ppt/notesSlides/notesSlide1.xml" Id="R4263ab6d2052488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b53450fd3a24b1e" /><Relationship Type="http://schemas.openxmlformats.org/officeDocument/2006/relationships/notesSlide" Target="/ppt/notesSlides/notesSlide2.xml" Id="R7d52c5cd236745b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898a9ab5aa44291" /><Relationship Type="http://schemas.openxmlformats.org/officeDocument/2006/relationships/notesSlide" Target="/ppt/notesSlides/notesSlide3.xml" Id="R5e4919054993414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596b466d62540a7" /><Relationship Type="http://schemas.openxmlformats.org/officeDocument/2006/relationships/notesSlide" Target="/ppt/notesSlides/notesSlide4.xml" Id="Rcc655446462e49f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d72393eecd647b0" /><Relationship Type="http://schemas.openxmlformats.org/officeDocument/2006/relationships/notesSlide" Target="/ppt/notesSlides/notesSlide5.xml" Id="R0380b2e6b73948f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acfeadd800c474c" /><Relationship Type="http://schemas.openxmlformats.org/officeDocument/2006/relationships/notesSlide" Target="/ppt/notesSlides/notesSlide6.xml" Id="R8b3f193b6043469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343c18267de4f84" /><Relationship Type="http://schemas.openxmlformats.org/officeDocument/2006/relationships/notesSlide" Target="/ppt/notesSlides/notesSlide7.xml" Id="Rd0eb920fde23481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a014e3f8aa24174" /><Relationship Type="http://schemas.openxmlformats.org/officeDocument/2006/relationships/notesSlide" Target="/ppt/notesSlides/notesSlide8.xml" Id="Rca9bab5a468f4b4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f53723c8dee4f96" /><Relationship Type="http://schemas.openxmlformats.org/officeDocument/2006/relationships/notesSlide" Target="/ppt/notesSlides/notesSlide9.xml" Id="R220fa8a2b987492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73884eb1e75421f" /><Relationship Type="http://schemas.openxmlformats.org/officeDocument/2006/relationships/notesSlide" Target="/ppt/notesSlides/notesSlide10.xml" Id="Rb720073f762a4b2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4990e1241be4972" /><Relationship Type="http://schemas.openxmlformats.org/officeDocument/2006/relationships/notesSlide" Target="/ppt/notesSlides/notesSlide11.xml" Id="R8835f0afb42e456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70d28d786864f1e" /><Relationship Type="http://schemas.openxmlformats.org/officeDocument/2006/relationships/notesSlide" Target="/ppt/notesSlides/notesSlide12.xml" Id="Re9cfd524595f43a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f7890707a834456" /><Relationship Type="http://schemas.openxmlformats.org/officeDocument/2006/relationships/notesSlide" Target="/ppt/notesSlides/notesSlide13.xml" Id="Rc21fa70615d147b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087e99378df414f" /><Relationship Type="http://schemas.openxmlformats.org/officeDocument/2006/relationships/notesSlide" Target="/ppt/notesSlides/notesSlide14.xml" Id="Rf2c19bb0f65d451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f529f8a12f44c1d" /><Relationship Type="http://schemas.openxmlformats.org/officeDocument/2006/relationships/notesSlide" Target="/ppt/notesSlides/notesSlide15.xml" Id="R9fce853c0d804dc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57c0f6f27bd4894" /><Relationship Type="http://schemas.openxmlformats.org/officeDocument/2006/relationships/notesSlide" Target="/ppt/notesSlides/notesSlide16.xml" Id="R9e2881af8b3e4a4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3f00a1d8741452d" /><Relationship Type="http://schemas.openxmlformats.org/officeDocument/2006/relationships/notesSlide" Target="/ppt/notesSlides/notesSlide17.xml" Id="R9c220aa8fb03412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2f41950f2054210" /><Relationship Type="http://schemas.openxmlformats.org/officeDocument/2006/relationships/notesSlide" Target="/ppt/notesSlides/notesSlide18.xml" Id="Rd5f66a7022a9475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71b544504e24f90" /><Relationship Type="http://schemas.openxmlformats.org/officeDocument/2006/relationships/notesSlide" Target="/ppt/notesSlides/notesSlide19.xml" Id="R69fc6b1c88c1444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850eb622f244ee8" /><Relationship Type="http://schemas.openxmlformats.org/officeDocument/2006/relationships/notesSlide" Target="/ppt/notesSlides/notesSlide20.xml" Id="Rf5e0c91af4ee4e4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7f8b2edb7f94a89" /><Relationship Type="http://schemas.openxmlformats.org/officeDocument/2006/relationships/notesSlide" Target="/ppt/notesSlides/notesSlide21.xml" Id="R1ed1568f7cfe4de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270b3d0adf0d4c87" /><Relationship Type="http://schemas.openxmlformats.org/officeDocument/2006/relationships/notesSlide" Target="/ppt/notesSlides/notesSlide22.xml" Id="R813bc1a469b4462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07c931caa98f4a54" /><Relationship Type="http://schemas.openxmlformats.org/officeDocument/2006/relationships/notesSlide" Target="/ppt/notesSlides/notesSlide23.xml" Id="R21ae313a797a409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5138bbc0c2cb4500" /><Relationship Type="http://schemas.openxmlformats.org/officeDocument/2006/relationships/notesSlide" Target="/ppt/notesSlides/notesSlide24.xml" Id="Rdcdfc08f5fce4f0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a82e4da0268a46a4" /><Relationship Type="http://schemas.openxmlformats.org/officeDocument/2006/relationships/notesSlide" Target="/ppt/notesSlides/notesSlide25.xml" Id="Rf318a228dd814ee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956474ef2b27485a" /><Relationship Type="http://schemas.openxmlformats.org/officeDocument/2006/relationships/notesSlide" Target="/ppt/notesSlides/notesSlide26.xml" Id="Rd74bfd904b62482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e653b4f3d578409f" /><Relationship Type="http://schemas.openxmlformats.org/officeDocument/2006/relationships/notesSlide" Target="/ppt/notesSlides/notesSlide27.xml" Id="R6f3dd1a0cf35440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d421fdafe0454d5c" /><Relationship Type="http://schemas.openxmlformats.org/officeDocument/2006/relationships/notesSlide" Target="/ppt/notesSlides/notesSlide28.xml" Id="R70aa603cefc4411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b22ea079d8814433" /><Relationship Type="http://schemas.openxmlformats.org/officeDocument/2006/relationships/notesSlide" Target="/ppt/notesSlides/notesSlide29.xml" Id="Rd6ff92c5bb4f4f3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e2e076ec57924c75" /><Relationship Type="http://schemas.openxmlformats.org/officeDocument/2006/relationships/notesSlide" Target="/ppt/notesSlides/notesSlide30.xml" Id="R1f3a8c41bf1845c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e5c890714c5847f7" /><Relationship Type="http://schemas.openxmlformats.org/officeDocument/2006/relationships/notesSlide" Target="/ppt/notesSlides/notesSlide31.xml" Id="Rdb80cce13e07415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2bdb800977ae42f5" /><Relationship Type="http://schemas.openxmlformats.org/officeDocument/2006/relationships/notesSlide" Target="/ppt/notesSlides/notesSlide32.xml" Id="Rb4b65c5263eb474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3975c04932a64109" /><Relationship Type="http://schemas.openxmlformats.org/officeDocument/2006/relationships/notesSlide" Target="/ppt/notesSlides/notesSlide33.xml" Id="R313480e328ea423e"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6a1475b1c2064188" /><Relationship Type="http://schemas.openxmlformats.org/officeDocument/2006/relationships/notesSlide" Target="/ppt/notesSlides/notesSlide34.xml" Id="Rdf1a3b83807d42a7"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e143d74fd7474610" /><Relationship Type="http://schemas.openxmlformats.org/officeDocument/2006/relationships/notesSlide" Target="/ppt/notesSlides/notesSlide35.xml" Id="R18d26d43b2044d54"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40b8af0d37e6449d" /><Relationship Type="http://schemas.openxmlformats.org/officeDocument/2006/relationships/notesSlide" Target="/ppt/notesSlides/notesSlide36.xml" Id="R5152aa5cf4ef4b91"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6be100870524414a" /><Relationship Type="http://schemas.openxmlformats.org/officeDocument/2006/relationships/notesSlide" Target="/ppt/notesSlides/notesSlide37.xml" Id="R8229dd41b86e4dd6"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844d5f86bbb848d1" /><Relationship Type="http://schemas.openxmlformats.org/officeDocument/2006/relationships/notesSlide" Target="/ppt/notesSlides/notesSlide38.xml" Id="Rd4762fa6e47841d0"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9a75071fd7cd4746" /><Relationship Type="http://schemas.openxmlformats.org/officeDocument/2006/relationships/notesSlide" Target="/ppt/notesSlides/notesSlide39.xml" Id="Rdb30b536ee9a447a"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d338eea378b44e01" /><Relationship Type="http://schemas.openxmlformats.org/officeDocument/2006/relationships/notesSlide" Target="/ppt/notesSlides/notesSlide40.xml" Id="Rc7d24dd40ddb4ab7"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ec10557976b344b8" /><Relationship Type="http://schemas.openxmlformats.org/officeDocument/2006/relationships/notesSlide" Target="/ppt/notesSlides/notesSlide41.xml" Id="R76c009d0d9474de5"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dc0833de0727458b" /><Relationship Type="http://schemas.openxmlformats.org/officeDocument/2006/relationships/notesSlide" Target="/ppt/notesSlides/notesSlide42.xml" Id="Rb56ca66ada8c45f2"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78b35574d16b4689" /><Relationship Type="http://schemas.openxmlformats.org/officeDocument/2006/relationships/notesSlide" Target="/ppt/notesSlides/notesSlide43.xml" Id="R44d5ddf1b0444538"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13f5bfd82f9549e7" /><Relationship Type="http://schemas.openxmlformats.org/officeDocument/2006/relationships/notesSlide" Target="/ppt/notesSlides/notesSlide44.xml" Id="R37049e9b7fc5466d"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6b77ab9789ad4cd7" /><Relationship Type="http://schemas.openxmlformats.org/officeDocument/2006/relationships/notesSlide" Target="/ppt/notesSlides/notesSlide45.xml" Id="R742c04dc764a46f8"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97e86ae2c33e47a5" /><Relationship Type="http://schemas.openxmlformats.org/officeDocument/2006/relationships/notesSlide" Target="/ppt/notesSlides/notesSlide46.xml" Id="Rf083e8befe2d4fa6"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922fa4ea6ea04cbf" /><Relationship Type="http://schemas.openxmlformats.org/officeDocument/2006/relationships/notesSlide" Target="/ppt/notesSlides/notesSlide47.xml" Id="Rb69c190623b14575"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c215fb8566c84c7e" /><Relationship Type="http://schemas.openxmlformats.org/officeDocument/2006/relationships/notesSlide" Target="/ppt/notesSlides/notesSlide48.xml" Id="R5e2d00ce3cd144bb"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69994b4b164e4eb0" /><Relationship Type="http://schemas.openxmlformats.org/officeDocument/2006/relationships/notesSlide" Target="/ppt/notesSlides/notesSlide49.xml" Id="Re1c79cd1710c428e"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3448ee2682b54225" /><Relationship Type="http://schemas.openxmlformats.org/officeDocument/2006/relationships/notesSlide" Target="/ppt/notesSlides/notesSlide50.xml" Id="Rd20d186edc264297"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85d3e256d7f94e6e" /><Relationship Type="http://schemas.openxmlformats.org/officeDocument/2006/relationships/notesSlide" Target="/ppt/notesSlides/notesSlide51.xml" Id="R0cf54d2117a1427e"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627751176d664237" /><Relationship Type="http://schemas.openxmlformats.org/officeDocument/2006/relationships/notesSlide" Target="/ppt/notesSlides/notesSlide52.xml" Id="R8c25bc51eb244e48"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013dddbcf5264b7f" /><Relationship Type="http://schemas.openxmlformats.org/officeDocument/2006/relationships/notesSlide" Target="/ppt/notesSlides/notesSlide53.xml" Id="R437f4cb8ce0644c2"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f5bff2729d314f48" /><Relationship Type="http://schemas.openxmlformats.org/officeDocument/2006/relationships/notesSlide" Target="/ppt/notesSlides/notesSlide54.xml" Id="R9570ccf9ea1a48eb"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b35a043ca9a74725" /><Relationship Type="http://schemas.openxmlformats.org/officeDocument/2006/relationships/notesSlide" Target="/ppt/notesSlides/notesSlide55.xml" Id="R9d3a3f1595c04a72"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d85f4c6db81f49eb" /><Relationship Type="http://schemas.openxmlformats.org/officeDocument/2006/relationships/notesSlide" Target="/ppt/notesSlides/notesSlide56.xml" Id="Rf391f6e297bf472c"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018a65eb37714bcd" /><Relationship Type="http://schemas.openxmlformats.org/officeDocument/2006/relationships/notesSlide" Target="/ppt/notesSlides/notesSlide57.xml" Id="R1b36ad9ff0d945fb"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6ef1d7f24d8e416d" /><Relationship Type="http://schemas.openxmlformats.org/officeDocument/2006/relationships/notesSlide" Target="/ppt/notesSlides/notesSlide58.xml" Id="Rf408b97e972b4227"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df4c6a542bd94c63" /><Relationship Type="http://schemas.openxmlformats.org/officeDocument/2006/relationships/notesSlide" Target="/ppt/notesSlides/notesSlide59.xml" Id="Rce978749c4c643fb"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cc10c26829e34870" /><Relationship Type="http://schemas.openxmlformats.org/officeDocument/2006/relationships/notesSlide" Target="/ppt/notesSlides/notesSlide60.xml" Id="Ree4e7c54e78d4358"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2ae23b66d2a2492d" /><Relationship Type="http://schemas.openxmlformats.org/officeDocument/2006/relationships/notesSlide" Target="/ppt/notesSlides/notesSlide61.xml" Id="Raa194bf6437d44a9"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a2b1b20d218c4573" /><Relationship Type="http://schemas.openxmlformats.org/officeDocument/2006/relationships/notesSlide" Target="/ppt/notesSlides/notesSlide62.xml" Id="R14d2477aaf6e4188"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9d572244f4f047d8" /><Relationship Type="http://schemas.openxmlformats.org/officeDocument/2006/relationships/notesSlide" Target="/ppt/notesSlides/notesSlide63.xml" Id="R783f68be148a41da"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3d131053b04745e7" /><Relationship Type="http://schemas.openxmlformats.org/officeDocument/2006/relationships/notesSlide" Target="/ppt/notesSlides/notesSlide64.xml" Id="Rfa2281d6e84540c3"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b3847f4c7973441c" /><Relationship Type="http://schemas.openxmlformats.org/officeDocument/2006/relationships/notesSlide" Target="/ppt/notesSlides/notesSlide65.xml" Id="R79b37dba13b74e44"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b46f88f94b804379" /><Relationship Type="http://schemas.openxmlformats.org/officeDocument/2006/relationships/notesSlide" Target="/ppt/notesSlides/notesSlide66.xml" Id="R48bb39ed74794dcf"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869227ea988a4548" /><Relationship Type="http://schemas.openxmlformats.org/officeDocument/2006/relationships/notesSlide" Target="/ppt/notesSlides/notesSlide67.xml" Id="R96c2a4628d1b48ea"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7a238eb037554397" /><Relationship Type="http://schemas.openxmlformats.org/officeDocument/2006/relationships/notesSlide" Target="/ppt/notesSlides/notesSlide68.xml" Id="R5c390d607e0a4bc0"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f22d48f4b31c4318" /><Relationship Type="http://schemas.openxmlformats.org/officeDocument/2006/relationships/notesSlide" Target="/ppt/notesSlides/notesSlide69.xml" Id="R9263603f6d0b4aa2"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a5882a2cd33947d5" /><Relationship Type="http://schemas.openxmlformats.org/officeDocument/2006/relationships/notesSlide" Target="/ppt/notesSlides/notesSlide70.xml" Id="R22f234ad68f74ad9"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ed6dc6717c154cdd" /><Relationship Type="http://schemas.openxmlformats.org/officeDocument/2006/relationships/notesSlide" Target="/ppt/notesSlides/notesSlide71.xml" Id="R951dd88a092343a1"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db0763935b8a4c15" /><Relationship Type="http://schemas.openxmlformats.org/officeDocument/2006/relationships/notesSlide" Target="/ppt/notesSlides/notesSlide72.xml" Id="R7a7496103ee04e14"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b8befaaef17a41fd" /><Relationship Type="http://schemas.openxmlformats.org/officeDocument/2006/relationships/notesSlide" Target="/ppt/notesSlides/notesSlide73.xml" Id="Re578057bf3f94115"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0f1e6d823d5140b8" /><Relationship Type="http://schemas.openxmlformats.org/officeDocument/2006/relationships/notesSlide" Target="/ppt/notesSlides/notesSlide74.xml" Id="R6f43d5c220264863"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1eb0d1204f354371" /><Relationship Type="http://schemas.openxmlformats.org/officeDocument/2006/relationships/notesSlide" Target="/ppt/notesSlides/notesSlide75.xml" Id="R5e048aa27e334389"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298f3d3944934abc" /><Relationship Type="http://schemas.openxmlformats.org/officeDocument/2006/relationships/notesSlide" Target="/ppt/notesSlides/notesSlide76.xml" Id="Re50dfcf036dd43fc"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04f9014493f1496d" /><Relationship Type="http://schemas.openxmlformats.org/officeDocument/2006/relationships/notesSlide" Target="/ppt/notesSlides/notesSlide77.xml" Id="R270786eb6a164f9c"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b3f66545c0d54550" /><Relationship Type="http://schemas.openxmlformats.org/officeDocument/2006/relationships/notesSlide" Target="/ppt/notesSlides/notesSlide78.xml" Id="R369ac32154774fcb"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02475affd1c34580" /><Relationship Type="http://schemas.openxmlformats.org/officeDocument/2006/relationships/notesSlide" Target="/ppt/notesSlides/notesSlide79.xml" Id="Rbbf4193c1e3d4460"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dc472e9381f74c9e" /><Relationship Type="http://schemas.openxmlformats.org/officeDocument/2006/relationships/notesSlide" Target="/ppt/notesSlides/notesSlide80.xml" Id="R483089e41ff84000"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8183d5f3e538455b" /><Relationship Type="http://schemas.openxmlformats.org/officeDocument/2006/relationships/notesSlide" Target="/ppt/notesSlides/notesSlide81.xml" Id="R82965ba6691f4b45"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46013b7263514938" /><Relationship Type="http://schemas.openxmlformats.org/officeDocument/2006/relationships/notesSlide" Target="/ppt/notesSlides/notesSlide82.xml" Id="Red9223a33b124ed7"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190f0d8868cd4c85" /><Relationship Type="http://schemas.openxmlformats.org/officeDocument/2006/relationships/notesSlide" Target="/ppt/notesSlides/notesSlide83.xml" Id="Rdb35549ef1684015"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6acb047a5746439c" /><Relationship Type="http://schemas.openxmlformats.org/officeDocument/2006/relationships/notesSlide" Target="/ppt/notesSlides/notesSlide84.xml" Id="Rd52eedb99b0948d0"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defcc3a3d10543b4" /><Relationship Type="http://schemas.openxmlformats.org/officeDocument/2006/relationships/notesSlide" Target="/ppt/notesSlides/notesSlide85.xml" Id="R853458bb82054ef0"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4c37a7ad7b0a4fe2" /><Relationship Type="http://schemas.openxmlformats.org/officeDocument/2006/relationships/notesSlide" Target="/ppt/notesSlides/notesSlide86.xml" Id="R0c7d4c9d853b424b"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7e1478c0495c4e70" /><Relationship Type="http://schemas.openxmlformats.org/officeDocument/2006/relationships/notesSlide" Target="/ppt/notesSlides/notesSlide87.xml" Id="Rc6e23dea953440de"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0f6e9d7e37da4e6e" /><Relationship Type="http://schemas.openxmlformats.org/officeDocument/2006/relationships/notesSlide" Target="/ppt/notesSlides/notesSlide88.xml" Id="Rff16a942dc384bdb"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4291e4268c1c4527" /><Relationship Type="http://schemas.openxmlformats.org/officeDocument/2006/relationships/notesSlide" Target="/ppt/notesSlides/notesSlide89.xml" Id="R80b8ee4a4e9748b4"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40140f3ef43847e5" /><Relationship Type="http://schemas.openxmlformats.org/officeDocument/2006/relationships/notesSlide" Target="/ppt/notesSlides/notesSlide90.xml" Id="R89d868db66a843ab"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c508855adcf44a27" /><Relationship Type="http://schemas.openxmlformats.org/officeDocument/2006/relationships/notesSlide" Target="/ppt/notesSlides/notesSlide91.xml" Id="R5a77aab5e404491c"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cfa6549dec6e4b7a" /><Relationship Type="http://schemas.openxmlformats.org/officeDocument/2006/relationships/notesSlide" Target="/ppt/notesSlides/notesSlide92.xml" Id="R927bafaadcac45d2"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3e262e3dc4994ae8" /><Relationship Type="http://schemas.openxmlformats.org/officeDocument/2006/relationships/notesSlide" Target="/ppt/notesSlides/notesSlide93.xml" Id="Ra67f0129775e42eb"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933f8171d1ae4b15" /><Relationship Type="http://schemas.openxmlformats.org/officeDocument/2006/relationships/notesSlide" Target="/ppt/notesSlides/notesSlide94.xml" Id="R5af3a8431a7a45c5"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c426cf02be9d4fbe" /><Relationship Type="http://schemas.openxmlformats.org/officeDocument/2006/relationships/notesSlide" Target="/ppt/notesSlides/notesSlide95.xml" Id="Rd20d3f051b304202"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118b25caeebc42ce" /><Relationship Type="http://schemas.openxmlformats.org/officeDocument/2006/relationships/notesSlide" Target="/ppt/notesSlides/notesSlide96.xml" Id="Rd688787b31924418"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e3fee4e9d4ba4bad" /><Relationship Type="http://schemas.openxmlformats.org/officeDocument/2006/relationships/notesSlide" Target="/ppt/notesSlides/notesSlide97.xml" Id="R93ae094c6f8e47e7"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bac2eb30644d4b73" /><Relationship Type="http://schemas.openxmlformats.org/officeDocument/2006/relationships/notesSlide" Target="/ppt/notesSlides/notesSlide98.xml" Id="Rbbafd7adad8641ed"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73c4a7c8e3dc4355" /><Relationship Type="http://schemas.openxmlformats.org/officeDocument/2006/relationships/notesSlide" Target="/ppt/notesSlides/notesSlide99.xml" Id="R444de34654cd4454"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67e7759b73d040b9" /><Relationship Type="http://schemas.openxmlformats.org/officeDocument/2006/relationships/notesSlide" Target="/ppt/notesSlides/notesSlide100.xml" Id="R636ab4d33a724b27"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5a33eef6cacd42a6"/>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122E705-8981-411D-91DF-5DDE9D86E02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gradFill xmlns:a="http://schemas.openxmlformats.org/drawingml/2006/main">
            <a:gsLst>
              <a:gs pos="0">
                <a:srgbClr val="180D24">
                  <a:alpha val="35000"/>
                </a:srgbClr>
              </a:gs>
              <a:gs pos="70000">
                <a:srgbClr val="180D24">
                  <a:alpha val="92000"/>
                </a:srgbClr>
              </a:gs>
              <a:gs pos="100000">
                <a:srgbClr val="180D24"/>
              </a:gs>
            </a:gsLst>
            <a:lin ang="0"/>
          </a:gra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FCB9812-E354-4F3D-8058-083585458250}"/>
              </a:ext>
            </a:extLst>
          </p:cNvPr>
          <p:cNvSpPr>
            <a:spLocks xmlns:a="http://schemas.openxmlformats.org/drawingml/2006/main" noGrp="1"/>
          </p:cNvSpPr>
          <p:nvPr/>
        </p:nvSpPr>
        <p:spPr>
          <a:xfrm xmlns:a="http://schemas.openxmlformats.org/drawingml/2006/main">
            <a:off x="609600" y="5143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LINUX FOUNDATIONS</a:t>
            </a:r>
          </a:p>
        </p:txBody>
      </p:sp>
      <p:sp>
        <p:nvSpPr>
          <p:cNvPr id="4" name="">
            <a:extLst xmlns:a="http://schemas.openxmlformats.org/drawingml/2006/main">
              <a:ext uri="{FF2B5EF4-FFF2-40B4-BE49-F238E27FC236}">
                <a16:creationId xmlns:a16="http://schemas.microsoft.com/office/drawing/2014/main" id="{5FFD08DA-3400-4C32-BA65-DDB24C439070}"/>
              </a:ext>
            </a:extLst>
          </p:cNvPr>
          <p:cNvSpPr>
            <a:spLocks xmlns:a="http://schemas.openxmlformats.org/drawingml/2006/main" noGrp="1"/>
          </p:cNvSpPr>
          <p:nvPr/>
        </p:nvSpPr>
        <p:spPr>
          <a:xfrm xmlns:a="http://schemas.openxmlformats.org/drawingml/2006/main">
            <a:off x="609600" y="1600200"/>
            <a:ext cx="6000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742"/>
          </a:bodyPr>
          <a:lstStyle xmlns:a="http://schemas.openxmlformats.org/drawingml/2006/main"/>
          <a:p xmlns:a="http://schemas.openxmlformats.org/drawingml/2006/main">
            <a:pPr algn="l">
              <a:lnSpc>
                <a:spcPct val="90000"/>
              </a:lnSpc>
              <a:buNone/>
              <a:defRPr sz="5400" b="1" i="0">
                <a:solidFill>
                  <a:srgbClr val="FFF8EE"/>
                </a:solidFill>
                <a:latin typeface="Aptos"/>
                <a:ea typeface="Aptos"/>
                <a:cs typeface="Aptos"/>
              </a:defRPr>
            </a:pPr>
            <a:r>
              <a:rPr sz="5400" b="1" i="0">
                <a:solidFill>
                  <a:srgbClr val="FFF8EE"/>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4FECC40-4DE1-4AC4-9AC3-1B2BEF45376B}"/>
              </a:ext>
            </a:extLst>
          </p:cNvPr>
          <p:cNvSpPr>
            <a:spLocks xmlns:a="http://schemas.openxmlformats.org/drawingml/2006/main" noGrp="1"/>
          </p:cNvSpPr>
          <p:nvPr/>
        </p:nvSpPr>
        <p:spPr>
          <a:xfrm xmlns:a="http://schemas.openxmlformats.org/drawingml/2006/main">
            <a:off x="609600" y="2571750"/>
            <a:ext cx="5905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C9B6FF"/>
                </a:solidFill>
                <a:latin typeface="Aptos"/>
                <a:ea typeface="Aptos"/>
                <a:cs typeface="Aptos"/>
              </a:defRPr>
            </a:pPr>
            <a:r>
              <a:rPr sz="2325" b="1" i="0">
                <a:solidFill>
                  <a:srgbClr val="C9B6FF"/>
                </a:solidFill>
                <a:latin typeface="Aptos"/>
                <a:ea typeface="Aptos"/>
                <a:cs typeface="Aptos"/>
              </a:rPr>
              <a:t>Operate the system. Trust the evidence.</a:t>
            </a:r>
          </a:p>
        </p:txBody>
      </p:sp>
      <p:sp>
        <p:nvSpPr>
          <p:cNvPr id="6" name="">
            <a:extLst xmlns:a="http://schemas.openxmlformats.org/drawingml/2006/main">
              <a:ext uri="{FF2B5EF4-FFF2-40B4-BE49-F238E27FC236}">
                <a16:creationId xmlns:a16="http://schemas.microsoft.com/office/drawing/2014/main" id="{D2339507-6500-4A45-8950-CE4A7E199822}"/>
              </a:ext>
            </a:extLst>
          </p:cNvPr>
          <p:cNvSpPr>
            <a:spLocks xmlns:a="http://schemas.openxmlformats.org/drawingml/2006/main" noGrp="1"/>
          </p:cNvSpPr>
          <p:nvPr/>
        </p:nvSpPr>
        <p:spPr>
          <a:xfrm xmlns:a="http://schemas.openxmlformats.org/drawingml/2006/main">
            <a:off x="609600" y="3524250"/>
            <a:ext cx="5715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0" i="0">
                <a:solidFill>
                  <a:srgbClr val="FFF8EE"/>
                </a:solidFill>
                <a:latin typeface="Aptos"/>
                <a:ea typeface="Aptos"/>
                <a:cs typeface="Aptos"/>
              </a:defRPr>
            </a:pPr>
            <a:r>
              <a:rPr sz="1725" b="0" i="0">
                <a:solidFill>
                  <a:srgbClr val="FFF8EE"/>
                </a:solidFill>
                <a:latin typeface="Aptos"/>
                <a:ea typeface="Aptos"/>
                <a:cs typeface="Aptos"/>
              </a:rPr>
              <a:t>Terminal · permissions · SSH · logs · systemd</a:t>
            </a:r>
          </a:p>
        </p:txBody>
      </p:sp>
      <p:sp>
        <p:nvSpPr>
          <p:cNvPr id="7" name="">
            <a:extLst xmlns:a="http://schemas.openxmlformats.org/drawingml/2006/main">
              <a:ext uri="{FF2B5EF4-FFF2-40B4-BE49-F238E27FC236}">
                <a16:creationId xmlns:a16="http://schemas.microsoft.com/office/drawing/2014/main" id="{5A19B6A6-46EB-42D9-8FD3-DE46E955CC1F}"/>
              </a:ext>
            </a:extLst>
          </p:cNvPr>
          <p:cNvSpPr>
            <a:spLocks xmlns:a="http://schemas.openxmlformats.org/drawingml/2006/main" noGrp="1"/>
          </p:cNvSpPr>
          <p:nvPr/>
        </p:nvSpPr>
        <p:spPr>
          <a:xfrm xmlns:a="http://schemas.openxmlformats.org/drawingml/2006/main">
            <a:off x="609600" y="4533900"/>
            <a:ext cx="47625" cy="990600"/>
          </a:xfrm>
          <a:prstGeom xmlns:a="http://schemas.openxmlformats.org/drawingml/2006/main" prst="rect">
            <a:avLst/>
          </a:prstGeom>
          <a:solidFill xmlns:a="http://schemas.openxmlformats.org/drawingml/2006/main">
            <a:srgbClr val="FF6B4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3DF6487-EE34-4A97-872D-096582D42314}"/>
              </a:ext>
            </a:extLst>
          </p:cNvPr>
          <p:cNvSpPr>
            <a:spLocks xmlns:a="http://schemas.openxmlformats.org/drawingml/2006/main" noGrp="1"/>
          </p:cNvSpPr>
          <p:nvPr/>
        </p:nvSpPr>
        <p:spPr>
          <a:xfrm xmlns:a="http://schemas.openxmlformats.org/drawingml/2006/main">
            <a:off x="838200" y="4552950"/>
            <a:ext cx="4762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650" b="0" i="0">
                <a:solidFill>
                  <a:srgbClr val="BFAFCB"/>
                </a:solidFill>
                <a:latin typeface="Aptos"/>
                <a:ea typeface="Aptos"/>
                <a:cs typeface="Aptos"/>
              </a:defRPr>
            </a:pPr>
            <a:r>
              <a:rPr sz="1650" b="0" i="0">
                <a:solidFill>
                  <a:srgbClr val="BFAFCB"/>
                </a:solidFill>
                <a:latin typeface="Aptos"/>
                <a:ea typeface="Aptos"/>
                <a:cs typeface="Aptos"/>
              </a:rPr>
              <a:t>Full route · 6.5 hours</a:t>
            </a:r>
          </a:p>
          <a:p xmlns:a="http://schemas.openxmlformats.org/drawingml/2006/main">
            <a:pPr algn="l">
              <a:lnSpc>
                <a:spcPct val="110000"/>
              </a:lnSpc>
              <a:buNone/>
              <a:defRPr sz="1650" b="0" i="0">
                <a:solidFill>
                  <a:srgbClr val="BFAFCB"/>
                </a:solidFill>
                <a:latin typeface="Aptos"/>
                <a:ea typeface="Aptos"/>
                <a:cs typeface="Aptos"/>
              </a:defRPr>
            </a:pPr>
            <a:r>
              <a:rPr sz="1650" b="0" i="0">
                <a:solidFill>
                  <a:srgbClr val="BFAFCB"/>
                </a:solidFill>
                <a:latin typeface="Aptos"/>
                <a:ea typeface="Aptos"/>
                <a:cs typeface="Aptos"/>
              </a:rPr>
              <a:t>3 h theory + demos · 3.5 h labs</a:t>
            </a:r>
          </a:p>
        </p:txBody>
      </p:sp>
      <p:sp>
        <p:nvSpPr>
          <p:cNvPr id="9" name="">
            <a:extLst xmlns:a="http://schemas.openxmlformats.org/drawingml/2006/main">
              <a:ext uri="{FF2B5EF4-FFF2-40B4-BE49-F238E27FC236}">
                <a16:creationId xmlns:a16="http://schemas.microsoft.com/office/drawing/2014/main" id="{01437EDB-A435-4FA4-BD14-90AF76D302FC}"/>
              </a:ext>
            </a:extLst>
          </p:cNvPr>
          <p:cNvSpPr>
            <a:spLocks xmlns:a="http://schemas.openxmlformats.org/drawingml/2006/main" noGrp="1"/>
          </p:cNvSpPr>
          <p:nvPr/>
        </p:nvSpPr>
        <p:spPr>
          <a:xfrm xmlns:a="http://schemas.openxmlformats.org/drawingml/2006/main">
            <a:off x="609600" y="6238875"/>
            <a:ext cx="514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BFAFCB"/>
                </a:solidFill>
                <a:latin typeface="Aptos"/>
                <a:ea typeface="Aptos"/>
                <a:cs typeface="Aptos"/>
              </a:defRPr>
            </a:pPr>
            <a:r>
              <a:rPr sz="1050" b="1" i="0">
                <a:solidFill>
                  <a:srgbClr val="BFAFCB"/>
                </a:solidFill>
                <a:latin typeface="Aptos"/>
                <a:ea typeface="Aptos"/>
                <a:cs typeface="Aptos"/>
              </a:rPr>
              <a:t>Ubuntu 24.04 browser labs · macOS + Windows</a:t>
            </a:r>
          </a:p>
        </p:txBody>
      </p:sp>
    </p:spTree>
    <p:extLst>
      <p:ext uri="{BB962C8B-B14F-4D97-AF65-F5344CB8AC3E}">
        <p14:creationId xmlns:p14="http://schemas.microsoft.com/office/powerpoint/2010/main" val="264966427"/>
      </p:ext>
    </p:extLst>
  </p:cSld>
</p:sld>
</file>

<file path=ppt/slides/slide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51C76B9-8B7D-484F-A1D3-0AFA8DB3698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OUTCOMES</a:t>
            </a:r>
          </a:p>
        </p:txBody>
      </p:sp>
      <p:sp>
        <p:nvSpPr>
          <p:cNvPr id="2" name="">
            <a:extLst xmlns:a="http://schemas.openxmlformats.org/drawingml/2006/main">
              <a:ext uri="{FF2B5EF4-FFF2-40B4-BE49-F238E27FC236}">
                <a16:creationId xmlns:a16="http://schemas.microsoft.com/office/drawing/2014/main" id="{1E33F574-238B-4AB5-9535-9E1C2B4A6643}"/>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By the end, you can recover your bearings</a:t>
            </a:r>
          </a:p>
        </p:txBody>
      </p:sp>
      <p:sp>
        <p:nvSpPr>
          <p:cNvPr id="3" name="">
            <a:extLst xmlns:a="http://schemas.openxmlformats.org/drawingml/2006/main">
              <a:ext uri="{FF2B5EF4-FFF2-40B4-BE49-F238E27FC236}">
                <a16:creationId xmlns:a16="http://schemas.microsoft.com/office/drawing/2014/main" id="{B3C33312-6E0C-4022-A4FB-3379B80D13AB}"/>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25B5845-6CE7-4A7F-8393-0540D362E261}"/>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560CB852-8342-4285-BB18-7B4DFB3A4B5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02</a:t>
            </a:r>
          </a:p>
        </p:txBody>
      </p:sp>
      <p:sp>
        <p:nvSpPr>
          <p:cNvPr id="6" name="">
            <a:extLst xmlns:a="http://schemas.openxmlformats.org/drawingml/2006/main">
              <a:ext uri="{FF2B5EF4-FFF2-40B4-BE49-F238E27FC236}">
                <a16:creationId xmlns:a16="http://schemas.microsoft.com/office/drawing/2014/main" id="{2F2AEA1D-D17D-45F6-92BA-A4B9B2429D09}"/>
              </a:ext>
            </a:extLst>
          </p:cNvPr>
          <p:cNvSpPr>
            <a:spLocks xmlns:a="http://schemas.openxmlformats.org/drawingml/2006/main" noGrp="1"/>
          </p:cNvSpPr>
          <p:nvPr/>
        </p:nvSpPr>
        <p:spPr>
          <a:xfrm xmlns:a="http://schemas.openxmlformats.org/drawingml/2006/main">
            <a:off x="666750" y="1714500"/>
            <a:ext cx="114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4050" b="1" i="0">
                <a:solidFill>
                  <a:srgbClr val="8B5CF6"/>
                </a:solidFill>
                <a:latin typeface="Aptos"/>
                <a:ea typeface="Aptos"/>
                <a:cs typeface="Aptos"/>
              </a:defRPr>
            </a:pPr>
            <a:r>
              <a:rPr sz="4050" b="1" i="0">
                <a:solidFill>
                  <a:srgbClr val="8B5CF6"/>
                </a:solidFill>
                <a:latin typeface="Aptos"/>
                <a:ea typeface="Aptos"/>
                <a:cs typeface="Aptos"/>
              </a:rPr>
              <a:t>01</a:t>
            </a:r>
          </a:p>
        </p:txBody>
      </p:sp>
      <p:sp>
        <p:nvSpPr>
          <p:cNvPr id="7" name="">
            <a:extLst xmlns:a="http://schemas.openxmlformats.org/drawingml/2006/main">
              <a:ext uri="{FF2B5EF4-FFF2-40B4-BE49-F238E27FC236}">
                <a16:creationId xmlns:a16="http://schemas.microsoft.com/office/drawing/2014/main" id="{9D3B7DF3-99D7-49C5-A820-F2DEF769CE47}"/>
              </a:ext>
            </a:extLst>
          </p:cNvPr>
          <p:cNvSpPr>
            <a:spLocks xmlns:a="http://schemas.openxmlformats.org/drawingml/2006/main" noGrp="1"/>
          </p:cNvSpPr>
          <p:nvPr/>
        </p:nvSpPr>
        <p:spPr>
          <a:xfrm xmlns:a="http://schemas.openxmlformats.org/drawingml/2006/main">
            <a:off x="1619250" y="171450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60B20"/>
                </a:solidFill>
                <a:latin typeface="Aptos"/>
                <a:ea typeface="Aptos"/>
                <a:cs typeface="Aptos"/>
              </a:defRPr>
            </a:pPr>
            <a:r>
              <a:rPr sz="2325" b="1" i="0">
                <a:solidFill>
                  <a:srgbClr val="160B20"/>
                </a:solidFill>
                <a:latin typeface="Aptos"/>
                <a:ea typeface="Aptos"/>
                <a:cs typeface="Aptos"/>
              </a:rPr>
              <a:t>Navigate</a:t>
            </a:r>
          </a:p>
        </p:txBody>
      </p:sp>
      <p:sp>
        <p:nvSpPr>
          <p:cNvPr id="8" name="">
            <a:extLst xmlns:a="http://schemas.openxmlformats.org/drawingml/2006/main">
              <a:ext uri="{FF2B5EF4-FFF2-40B4-BE49-F238E27FC236}">
                <a16:creationId xmlns:a16="http://schemas.microsoft.com/office/drawing/2014/main" id="{67540705-72D9-48F0-8CDA-503E9F3DA063}"/>
              </a:ext>
            </a:extLst>
          </p:cNvPr>
          <p:cNvSpPr>
            <a:spLocks xmlns:a="http://schemas.openxmlformats.org/drawingml/2006/main" noGrp="1"/>
          </p:cNvSpPr>
          <p:nvPr/>
        </p:nvSpPr>
        <p:spPr>
          <a:xfrm xmlns:a="http://schemas.openxmlformats.org/drawingml/2006/main">
            <a:off x="1619250" y="2238375"/>
            <a:ext cx="8096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514658"/>
                </a:solidFill>
                <a:latin typeface="Aptos"/>
                <a:ea typeface="Aptos"/>
                <a:cs typeface="Aptos"/>
              </a:defRPr>
            </a:pPr>
            <a:r>
              <a:rPr sz="1800" b="0" i="0">
                <a:solidFill>
                  <a:srgbClr val="514658"/>
                </a:solidFill>
                <a:latin typeface="Aptos"/>
                <a:ea typeface="Aptos"/>
                <a:cs typeface="Aptos"/>
              </a:rPr>
              <a:t>Move through Linux, manipulate files, and use pipes without losing track of location.</a:t>
            </a:r>
          </a:p>
        </p:txBody>
      </p:sp>
      <p:sp>
        <p:nvSpPr>
          <p:cNvPr id="9" name="">
            <a:extLst xmlns:a="http://schemas.openxmlformats.org/drawingml/2006/main">
              <a:ext uri="{FF2B5EF4-FFF2-40B4-BE49-F238E27FC236}">
                <a16:creationId xmlns:a16="http://schemas.microsoft.com/office/drawing/2014/main" id="{A507697E-D5E6-4895-9969-663F35D049FE}"/>
              </a:ext>
            </a:extLst>
          </p:cNvPr>
          <p:cNvSpPr>
            <a:spLocks xmlns:a="http://schemas.openxmlformats.org/drawingml/2006/main" noGrp="1"/>
          </p:cNvSpPr>
          <p:nvPr/>
        </p:nvSpPr>
        <p:spPr>
          <a:xfrm xmlns:a="http://schemas.openxmlformats.org/drawingml/2006/main">
            <a:off x="666750" y="3162300"/>
            <a:ext cx="114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4050" b="1" i="0">
                <a:solidFill>
                  <a:srgbClr val="FF6B4A"/>
                </a:solidFill>
                <a:latin typeface="Aptos"/>
                <a:ea typeface="Aptos"/>
                <a:cs typeface="Aptos"/>
              </a:defRPr>
            </a:pPr>
            <a:r>
              <a:rPr sz="4050" b="1" i="0">
                <a:solidFill>
                  <a:srgbClr val="FF6B4A"/>
                </a:solidFill>
                <a:latin typeface="Aptos"/>
                <a:ea typeface="Aptos"/>
                <a:cs typeface="Aptos"/>
              </a:rPr>
              <a:t>02</a:t>
            </a:r>
          </a:p>
        </p:txBody>
      </p:sp>
      <p:sp>
        <p:nvSpPr>
          <p:cNvPr id="10" name="">
            <a:extLst xmlns:a="http://schemas.openxmlformats.org/drawingml/2006/main">
              <a:ext uri="{FF2B5EF4-FFF2-40B4-BE49-F238E27FC236}">
                <a16:creationId xmlns:a16="http://schemas.microsoft.com/office/drawing/2014/main" id="{6BF1F6DA-18DA-4EF6-87ED-6B21DE989600}"/>
              </a:ext>
            </a:extLst>
          </p:cNvPr>
          <p:cNvSpPr>
            <a:spLocks xmlns:a="http://schemas.openxmlformats.org/drawingml/2006/main" noGrp="1"/>
          </p:cNvSpPr>
          <p:nvPr/>
        </p:nvSpPr>
        <p:spPr>
          <a:xfrm xmlns:a="http://schemas.openxmlformats.org/drawingml/2006/main">
            <a:off x="1619250" y="3162300"/>
            <a:ext cx="3238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60B20"/>
                </a:solidFill>
                <a:latin typeface="Aptos"/>
                <a:ea typeface="Aptos"/>
                <a:cs typeface="Aptos"/>
              </a:defRPr>
            </a:pPr>
            <a:r>
              <a:rPr sz="2325" b="1" i="0">
                <a:solidFill>
                  <a:srgbClr val="160B20"/>
                </a:solidFill>
                <a:latin typeface="Aptos"/>
                <a:ea typeface="Aptos"/>
                <a:cs typeface="Aptos"/>
              </a:rPr>
              <a:t>Control access</a:t>
            </a:r>
          </a:p>
        </p:txBody>
      </p:sp>
      <p:sp>
        <p:nvSpPr>
          <p:cNvPr id="11" name="">
            <a:extLst xmlns:a="http://schemas.openxmlformats.org/drawingml/2006/main">
              <a:ext uri="{FF2B5EF4-FFF2-40B4-BE49-F238E27FC236}">
                <a16:creationId xmlns:a16="http://schemas.microsoft.com/office/drawing/2014/main" id="{71E29FE4-E379-4CDF-B760-483EA68A2423}"/>
              </a:ext>
            </a:extLst>
          </p:cNvPr>
          <p:cNvSpPr>
            <a:spLocks xmlns:a="http://schemas.openxmlformats.org/drawingml/2006/main" noGrp="1"/>
          </p:cNvSpPr>
          <p:nvPr/>
        </p:nvSpPr>
        <p:spPr>
          <a:xfrm xmlns:a="http://schemas.openxmlformats.org/drawingml/2006/main">
            <a:off x="1619250" y="3686175"/>
            <a:ext cx="8096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514658"/>
                </a:solidFill>
                <a:latin typeface="Aptos"/>
                <a:ea typeface="Aptos"/>
                <a:cs typeface="Aptos"/>
              </a:defRPr>
            </a:pPr>
            <a:r>
              <a:rPr sz="1800" b="0" i="0">
                <a:solidFill>
                  <a:srgbClr val="514658"/>
                </a:solidFill>
                <a:latin typeface="Aptos"/>
                <a:ea typeface="Aptos"/>
                <a:cs typeface="Aptos"/>
              </a:rPr>
              <a:t>Reason about users, groups, ownership, modes, sudo, and SSH keys.</a:t>
            </a:r>
          </a:p>
        </p:txBody>
      </p:sp>
      <p:sp>
        <p:nvSpPr>
          <p:cNvPr id="12" name="">
            <a:extLst xmlns:a="http://schemas.openxmlformats.org/drawingml/2006/main">
              <a:ext uri="{FF2B5EF4-FFF2-40B4-BE49-F238E27FC236}">
                <a16:creationId xmlns:a16="http://schemas.microsoft.com/office/drawing/2014/main" id="{A44D37D9-CF9B-46D8-92D7-562A5B99E3C2}"/>
              </a:ext>
            </a:extLst>
          </p:cNvPr>
          <p:cNvSpPr>
            <a:spLocks xmlns:a="http://schemas.openxmlformats.org/drawingml/2006/main" noGrp="1"/>
          </p:cNvSpPr>
          <p:nvPr/>
        </p:nvSpPr>
        <p:spPr>
          <a:xfrm xmlns:a="http://schemas.openxmlformats.org/drawingml/2006/main">
            <a:off x="666750" y="4610100"/>
            <a:ext cx="114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4050" b="1" i="0">
                <a:solidFill>
                  <a:srgbClr val="70D6A6"/>
                </a:solidFill>
                <a:latin typeface="Aptos"/>
                <a:ea typeface="Aptos"/>
                <a:cs typeface="Aptos"/>
              </a:defRPr>
            </a:pPr>
            <a:r>
              <a:rPr sz="4050" b="1" i="0">
                <a:solidFill>
                  <a:srgbClr val="70D6A6"/>
                </a:solidFill>
                <a:latin typeface="Aptos"/>
                <a:ea typeface="Aptos"/>
                <a:cs typeface="Aptos"/>
              </a:rPr>
              <a:t>03</a:t>
            </a:r>
          </a:p>
        </p:txBody>
      </p:sp>
      <p:sp>
        <p:nvSpPr>
          <p:cNvPr id="13" name="">
            <a:extLst xmlns:a="http://schemas.openxmlformats.org/drawingml/2006/main">
              <a:ext uri="{FF2B5EF4-FFF2-40B4-BE49-F238E27FC236}">
                <a16:creationId xmlns:a16="http://schemas.microsoft.com/office/drawing/2014/main" id="{433C00D6-12D4-4152-B830-6DFE7531A681}"/>
              </a:ext>
            </a:extLst>
          </p:cNvPr>
          <p:cNvSpPr>
            <a:spLocks xmlns:a="http://schemas.openxmlformats.org/drawingml/2006/main" noGrp="1"/>
          </p:cNvSpPr>
          <p:nvPr/>
        </p:nvSpPr>
        <p:spPr>
          <a:xfrm xmlns:a="http://schemas.openxmlformats.org/drawingml/2006/main">
            <a:off x="1619250" y="461010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60B20"/>
                </a:solidFill>
                <a:latin typeface="Aptos"/>
                <a:ea typeface="Aptos"/>
                <a:cs typeface="Aptos"/>
              </a:defRPr>
            </a:pPr>
            <a:r>
              <a:rPr sz="2325" b="1" i="0">
                <a:solidFill>
                  <a:srgbClr val="160B20"/>
                </a:solidFill>
                <a:latin typeface="Aptos"/>
                <a:ea typeface="Aptos"/>
                <a:cs typeface="Aptos"/>
              </a:rPr>
              <a:t>Diagnose</a:t>
            </a:r>
          </a:p>
        </p:txBody>
      </p:sp>
      <p:sp>
        <p:nvSpPr>
          <p:cNvPr id="14" name="">
            <a:extLst xmlns:a="http://schemas.openxmlformats.org/drawingml/2006/main">
              <a:ext uri="{FF2B5EF4-FFF2-40B4-BE49-F238E27FC236}">
                <a16:creationId xmlns:a16="http://schemas.microsoft.com/office/drawing/2014/main" id="{9DC1140D-E328-4E04-AD0F-76C35B908A6D}"/>
              </a:ext>
            </a:extLst>
          </p:cNvPr>
          <p:cNvSpPr>
            <a:spLocks xmlns:a="http://schemas.openxmlformats.org/drawingml/2006/main" noGrp="1"/>
          </p:cNvSpPr>
          <p:nvPr/>
        </p:nvSpPr>
        <p:spPr>
          <a:xfrm xmlns:a="http://schemas.openxmlformats.org/drawingml/2006/main">
            <a:off x="1619250" y="5133975"/>
            <a:ext cx="8096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514658"/>
                </a:solidFill>
                <a:latin typeface="Aptos"/>
                <a:ea typeface="Aptos"/>
                <a:cs typeface="Aptos"/>
              </a:defRPr>
            </a:pPr>
            <a:r>
              <a:rPr sz="1800" b="0" i="0">
                <a:solidFill>
                  <a:srgbClr val="514658"/>
                </a:solidFill>
                <a:latin typeface="Aptos"/>
                <a:ea typeface="Aptos"/>
                <a:cs typeface="Aptos"/>
              </a:rPr>
              <a:t>Start and stop services, filter logs, identify a cause, and verify the repair.</a:t>
            </a:r>
          </a:p>
        </p:txBody>
      </p:sp>
    </p:spTree>
    <p:extLst>
      <p:ext uri="{BB962C8B-B14F-4D97-AF65-F5344CB8AC3E}">
        <p14:creationId xmlns:p14="http://schemas.microsoft.com/office/powerpoint/2010/main" val="1169979995"/>
      </p:ext>
    </p:extLst>
  </p:cSld>
</p:sld>
</file>

<file path=ppt/slides/slide3.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7E865C37-C0DB-486B-B06A-B3F83434045E}"/>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ENVIRONMENT</a:t>
            </a:r>
          </a:p>
        </p:txBody>
      </p:sp>
      <p:sp>
        <p:nvSpPr>
          <p:cNvPr id="2" name="">
            <a:extLst xmlns:a="http://schemas.openxmlformats.org/drawingml/2006/main">
              <a:ext uri="{FF2B5EF4-FFF2-40B4-BE49-F238E27FC236}">
                <a16:creationId xmlns:a16="http://schemas.microsoft.com/office/drawing/2014/main" id="{AC868452-45FA-4E2F-A59F-AC736E7D53D0}"/>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275"/>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Your browser is a window into another Linux system</a:t>
            </a:r>
          </a:p>
        </p:txBody>
      </p:sp>
      <p:sp>
        <p:nvSpPr>
          <p:cNvPr id="3" name="">
            <a:extLst xmlns:a="http://schemas.openxmlformats.org/drawingml/2006/main">
              <a:ext uri="{FF2B5EF4-FFF2-40B4-BE49-F238E27FC236}">
                <a16:creationId xmlns:a16="http://schemas.microsoft.com/office/drawing/2014/main" id="{1741412F-62BD-493D-804A-663817A32F61}"/>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DD2CAF3-35B4-49B8-82B3-64FBAEE4CEC1}"/>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F5A23C24-4413-4D8E-A892-5D9891FA3F4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03</a:t>
            </a:r>
          </a:p>
        </p:txBody>
      </p:sp>
      <p:sp>
        <p:nvSpPr>
          <p:cNvPr id="6" name="">
            <a:extLst xmlns:a="http://schemas.openxmlformats.org/drawingml/2006/main">
              <a:ext uri="{FF2B5EF4-FFF2-40B4-BE49-F238E27FC236}">
                <a16:creationId xmlns:a16="http://schemas.microsoft.com/office/drawing/2014/main" id="{17E24F84-62D9-4EF3-AD0E-B3E31F3DBF17}"/>
              </a:ext>
            </a:extLst>
          </p:cNvPr>
          <p:cNvSpPr>
            <a:spLocks xmlns:a="http://schemas.openxmlformats.org/drawingml/2006/main" noGrp="1"/>
          </p:cNvSpPr>
          <p:nvPr/>
        </p:nvSpPr>
        <p:spPr>
          <a:xfrm xmlns:a="http://schemas.openxmlformats.org/drawingml/2006/main">
            <a:off x="857250" y="180975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BROWSER</a:t>
            </a:r>
          </a:p>
        </p:txBody>
      </p:sp>
      <p:sp>
        <p:nvSpPr>
          <p:cNvPr id="7" name="">
            <a:extLst xmlns:a="http://schemas.openxmlformats.org/drawingml/2006/main">
              <a:ext uri="{FF2B5EF4-FFF2-40B4-BE49-F238E27FC236}">
                <a16:creationId xmlns:a16="http://schemas.microsoft.com/office/drawing/2014/main" id="{7B6EB020-D19B-4D33-8943-47132D2469B1}"/>
              </a:ext>
            </a:extLst>
          </p:cNvPr>
          <p:cNvSpPr>
            <a:spLocks xmlns:a="http://schemas.openxmlformats.org/drawingml/2006/main" noGrp="1"/>
          </p:cNvSpPr>
          <p:nvPr/>
        </p:nvSpPr>
        <p:spPr>
          <a:xfrm xmlns:a="http://schemas.openxmlformats.org/drawingml/2006/main">
            <a:off x="857250" y="2266950"/>
            <a:ext cx="3619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819"/>
          </a:bodyPr>
          <a:lstStyle xmlns:a="http://schemas.openxmlformats.org/drawingml/2006/main"/>
          <a:p xmlns:a="http://schemas.openxmlformats.org/drawingml/2006/main">
            <a:pPr algn="l">
              <a:lnSpc>
                <a:spcPct val="96000"/>
              </a:lnSpc>
              <a:buNone/>
              <a:defRPr sz="2550" b="1" i="0">
                <a:solidFill>
                  <a:srgbClr val="FFF8EE"/>
                </a:solidFill>
                <a:latin typeface="Aptos"/>
                <a:ea typeface="Aptos"/>
                <a:cs typeface="Aptos"/>
              </a:defRPr>
            </a:pPr>
            <a:r>
              <a:rPr sz="2550" b="1" i="0">
                <a:solidFill>
                  <a:srgbClr val="FFF8EE"/>
                </a:solidFill>
                <a:latin typeface="Aptos"/>
                <a:ea typeface="Aptos"/>
                <a:cs typeface="Aptos"/>
              </a:rPr>
              <a:t>Safari, Edge, or Chrome</a:t>
            </a:r>
          </a:p>
          <a:p xmlns:a="http://schemas.openxmlformats.org/drawingml/2006/main">
            <a:pPr algn="l">
              <a:lnSpc>
                <a:spcPct val="96000"/>
              </a:lnSpc>
              <a:buNone/>
              <a:defRPr sz="2550" b="1" i="0">
                <a:solidFill>
                  <a:srgbClr val="FFF8EE"/>
                </a:solidFill>
                <a:latin typeface="Aptos"/>
                <a:ea typeface="Aptos"/>
                <a:cs typeface="Aptos"/>
              </a:defRPr>
            </a:pPr>
            <a:r>
              <a:rPr sz="2550" b="1" i="0">
                <a:solidFill>
                  <a:srgbClr val="FFF8EE"/>
                </a:solidFill>
                <a:latin typeface="Aptos"/>
                <a:ea typeface="Aptos"/>
                <a:cs typeface="Aptos"/>
              </a:rPr>
              <a:t>on macOS or Windows</a:t>
            </a:r>
          </a:p>
        </p:txBody>
      </p:sp>
      <p:sp>
        <p:nvSpPr>
          <p:cNvPr id="8" name="">
            <a:extLst xmlns:a="http://schemas.openxmlformats.org/drawingml/2006/main">
              <a:ext uri="{FF2B5EF4-FFF2-40B4-BE49-F238E27FC236}">
                <a16:creationId xmlns:a16="http://schemas.microsoft.com/office/drawing/2014/main" id="{808C2215-FE23-49AB-A6FD-FD6BD4038F6F}"/>
              </a:ext>
            </a:extLst>
          </p:cNvPr>
          <p:cNvSpPr>
            <a:spLocks xmlns:a="http://schemas.openxmlformats.org/drawingml/2006/main" noGrp="1"/>
          </p:cNvSpPr>
          <p:nvPr/>
        </p:nvSpPr>
        <p:spPr>
          <a:xfrm xmlns:a="http://schemas.openxmlformats.org/drawingml/2006/main">
            <a:off x="857250" y="3543300"/>
            <a:ext cx="342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75" b="0" i="0">
                <a:solidFill>
                  <a:srgbClr val="BFAFCB"/>
                </a:solidFill>
                <a:latin typeface="Aptos"/>
                <a:ea typeface="Aptos"/>
                <a:cs typeface="Aptos"/>
              </a:defRPr>
            </a:pPr>
            <a:r>
              <a:rPr sz="1575" b="0" i="0">
                <a:solidFill>
                  <a:srgbClr val="BFAFCB"/>
                </a:solidFill>
                <a:latin typeface="Aptos"/>
                <a:ea typeface="Aptos"/>
                <a:cs typeface="Aptos"/>
              </a:rPr>
              <a:t>Shows instructions + terminal</a:t>
            </a:r>
          </a:p>
        </p:txBody>
      </p:sp>
      <p:sp>
        <p:nvSpPr>
          <p:cNvPr id="9" name="">
            <a:extLst xmlns:a="http://schemas.openxmlformats.org/drawingml/2006/main">
              <a:ext uri="{FF2B5EF4-FFF2-40B4-BE49-F238E27FC236}">
                <a16:creationId xmlns:a16="http://schemas.microsoft.com/office/drawing/2014/main" id="{10D506F0-7BC8-4E12-81DE-A6C0878997C9}"/>
              </a:ext>
            </a:extLst>
          </p:cNvPr>
          <p:cNvSpPr>
            <a:spLocks xmlns:a="http://schemas.openxmlformats.org/drawingml/2006/main" noGrp="1"/>
          </p:cNvSpPr>
          <p:nvPr/>
        </p:nvSpPr>
        <p:spPr>
          <a:xfrm xmlns:a="http://schemas.openxmlformats.org/drawingml/2006/main">
            <a:off x="857250" y="411480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C9B6FF"/>
                </a:solidFill>
                <a:latin typeface="Courier New"/>
                <a:ea typeface="Courier New"/>
                <a:cs typeface="Courier New"/>
              </a:defRPr>
            </a:pPr>
            <a:r>
              <a:rPr sz="1500" b="0" i="0">
                <a:solidFill>
                  <a:srgbClr val="C9B6FF"/>
                </a:solidFill>
                <a:latin typeface="Courier New"/>
                <a:ea typeface="Courier New"/>
                <a:cs typeface="Courier New"/>
              </a:rPr>
              <a:t>http://linux-lab.local</a:t>
            </a:r>
          </a:p>
        </p:txBody>
      </p:sp>
      <p:sp>
        <p:nvSpPr>
          <p:cNvPr id="10" name="">
            <a:extLst xmlns:a="http://schemas.openxmlformats.org/drawingml/2006/main">
              <a:ext uri="{FF2B5EF4-FFF2-40B4-BE49-F238E27FC236}">
                <a16:creationId xmlns:a16="http://schemas.microsoft.com/office/drawing/2014/main" id="{F0218F21-A3A4-48B6-ABCB-1AA79D589C99}"/>
              </a:ext>
            </a:extLst>
          </p:cNvPr>
          <p:cNvSpPr>
            <a:spLocks xmlns:a="http://schemas.openxmlformats.org/drawingml/2006/main" noGrp="1"/>
          </p:cNvSpPr>
          <p:nvPr/>
        </p:nvSpPr>
        <p:spPr>
          <a:xfrm xmlns:a="http://schemas.openxmlformats.org/drawingml/2006/main">
            <a:off x="5562600" y="2714625"/>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4500" b="1" i="0">
                <a:solidFill>
                  <a:srgbClr val="FF6B4A"/>
                </a:solidFill>
                <a:latin typeface="Aptos"/>
                <a:ea typeface="Aptos"/>
                <a:cs typeface="Aptos"/>
              </a:defRPr>
            </a:pPr>
            <a:r>
              <a:rPr sz="4500" b="1" i="0">
                <a:solidFill>
                  <a:srgbClr val="FF6B4A"/>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20202489-0559-4A7E-A86A-E8AF704B33E3}"/>
              </a:ext>
            </a:extLst>
          </p:cNvPr>
          <p:cNvSpPr>
            <a:spLocks xmlns:a="http://schemas.openxmlformats.org/drawingml/2006/main" noGrp="1"/>
          </p:cNvSpPr>
          <p:nvPr/>
        </p:nvSpPr>
        <p:spPr>
          <a:xfrm xmlns:a="http://schemas.openxmlformats.org/drawingml/2006/main">
            <a:off x="7239000" y="180975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SESSION</a:t>
            </a:r>
          </a:p>
        </p:txBody>
      </p:sp>
      <p:sp>
        <p:nvSpPr>
          <p:cNvPr id="12" name="">
            <a:extLst xmlns:a="http://schemas.openxmlformats.org/drawingml/2006/main">
              <a:ext uri="{FF2B5EF4-FFF2-40B4-BE49-F238E27FC236}">
                <a16:creationId xmlns:a16="http://schemas.microsoft.com/office/drawing/2014/main" id="{0F0C0B64-84C0-480D-9709-EDE77A9FE624}"/>
              </a:ext>
            </a:extLst>
          </p:cNvPr>
          <p:cNvSpPr>
            <a:spLocks xmlns:a="http://schemas.openxmlformats.org/drawingml/2006/main" noGrp="1"/>
          </p:cNvSpPr>
          <p:nvPr/>
        </p:nvSpPr>
        <p:spPr>
          <a:xfrm xmlns:a="http://schemas.openxmlformats.org/drawingml/2006/main">
            <a:off x="7239000" y="2266950"/>
            <a:ext cx="3619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2550" b="1" i="0">
                <a:solidFill>
                  <a:srgbClr val="FFF8EE"/>
                </a:solidFill>
                <a:latin typeface="Aptos"/>
                <a:ea typeface="Aptos"/>
                <a:cs typeface="Aptos"/>
              </a:defRPr>
            </a:pPr>
            <a:r>
              <a:rPr sz="2550" b="1" i="0">
                <a:solidFill>
                  <a:srgbClr val="FFF8EE"/>
                </a:solidFill>
                <a:latin typeface="Aptos"/>
                <a:ea typeface="Aptos"/>
                <a:cs typeface="Aptos"/>
              </a:rPr>
              <a:t>Ubuntu 24.04</a:t>
            </a:r>
          </a:p>
          <a:p xmlns:a="http://schemas.openxmlformats.org/drawingml/2006/main">
            <a:pPr algn="l">
              <a:lnSpc>
                <a:spcPct val="96000"/>
              </a:lnSpc>
              <a:buNone/>
              <a:defRPr sz="2550" b="1" i="0">
                <a:solidFill>
                  <a:srgbClr val="FFF8EE"/>
                </a:solidFill>
                <a:latin typeface="Aptos"/>
                <a:ea typeface="Aptos"/>
                <a:cs typeface="Aptos"/>
              </a:defRPr>
            </a:pPr>
            <a:r>
              <a:rPr sz="2550" b="1" i="0">
                <a:solidFill>
                  <a:srgbClr val="FFF8EE"/>
                </a:solidFill>
                <a:latin typeface="Aptos"/>
                <a:ea typeface="Aptos"/>
                <a:cs typeface="Aptos"/>
              </a:rPr>
              <a:t>in an Incus container</a:t>
            </a:r>
          </a:p>
        </p:txBody>
      </p:sp>
      <p:sp>
        <p:nvSpPr>
          <p:cNvPr id="13" name="">
            <a:extLst xmlns:a="http://schemas.openxmlformats.org/drawingml/2006/main">
              <a:ext uri="{FF2B5EF4-FFF2-40B4-BE49-F238E27FC236}">
                <a16:creationId xmlns:a16="http://schemas.microsoft.com/office/drawing/2014/main" id="{5D56707B-327C-463C-B311-A2A766F56325}"/>
              </a:ext>
            </a:extLst>
          </p:cNvPr>
          <p:cNvSpPr>
            <a:spLocks xmlns:a="http://schemas.openxmlformats.org/drawingml/2006/main" noGrp="1"/>
          </p:cNvSpPr>
          <p:nvPr/>
        </p:nvSpPr>
        <p:spPr>
          <a:xfrm xmlns:a="http://schemas.openxmlformats.org/drawingml/2006/main">
            <a:off x="7239000" y="3543300"/>
            <a:ext cx="3619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75" b="0" i="0">
                <a:solidFill>
                  <a:srgbClr val="BFAFCB"/>
                </a:solidFill>
                <a:latin typeface="Aptos"/>
                <a:ea typeface="Aptos"/>
                <a:cs typeface="Aptos"/>
              </a:defRPr>
            </a:pPr>
            <a:r>
              <a:rPr sz="1575" b="0" i="0">
                <a:solidFill>
                  <a:srgbClr val="BFAFCB"/>
                </a:solidFill>
                <a:latin typeface="Aptos"/>
                <a:ea typeface="Aptos"/>
                <a:cs typeface="Aptos"/>
              </a:rPr>
              <a:t>Runs ls, sudo, apt, systemctl</a:t>
            </a:r>
          </a:p>
        </p:txBody>
      </p:sp>
      <p:sp>
        <p:nvSpPr>
          <p:cNvPr id="14" name="">
            <a:extLst xmlns:a="http://schemas.openxmlformats.org/drawingml/2006/main">
              <a:ext uri="{FF2B5EF4-FFF2-40B4-BE49-F238E27FC236}">
                <a16:creationId xmlns:a16="http://schemas.microsoft.com/office/drawing/2014/main" id="{826E4CD0-D290-455F-99E5-7016A3A0E59B}"/>
              </a:ext>
            </a:extLst>
          </p:cNvPr>
          <p:cNvSpPr>
            <a:spLocks xmlns:a="http://schemas.openxmlformats.org/drawingml/2006/main" noGrp="1"/>
          </p:cNvSpPr>
          <p:nvPr/>
        </p:nvSpPr>
        <p:spPr>
          <a:xfrm xmlns:a="http://schemas.openxmlformats.org/drawingml/2006/main">
            <a:off x="7239000" y="411480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C9B6FF"/>
                </a:solidFill>
                <a:latin typeface="Courier New"/>
                <a:ea typeface="Courier New"/>
                <a:cs typeface="Courier New"/>
              </a:defRPr>
            </a:pPr>
            <a:r>
              <a:rPr sz="1500" b="0" i="0">
                <a:solidFill>
                  <a:srgbClr val="C9B6FF"/>
                </a:solidFill>
                <a:latin typeface="Courier New"/>
                <a:ea typeface="Courier New"/>
                <a:cs typeface="Courier New"/>
              </a:rPr>
              <a:t>learner@linux-lab:~$</a:t>
            </a:r>
          </a:p>
        </p:txBody>
      </p:sp>
      <p:sp>
        <p:nvSpPr>
          <p:cNvPr id="15" name="">
            <a:extLst xmlns:a="http://schemas.openxmlformats.org/drawingml/2006/main">
              <a:ext uri="{FF2B5EF4-FFF2-40B4-BE49-F238E27FC236}">
                <a16:creationId xmlns:a16="http://schemas.microsoft.com/office/drawing/2014/main" id="{62BAAC6F-638A-4C89-947B-4BE2B97429A1}"/>
              </a:ext>
            </a:extLst>
          </p:cNvPr>
          <p:cNvSpPr>
            <a:spLocks xmlns:a="http://schemas.openxmlformats.org/drawingml/2006/main" noGrp="1"/>
          </p:cNvSpPr>
          <p:nvPr/>
        </p:nvSpPr>
        <p:spPr>
          <a:xfrm xmlns:a="http://schemas.openxmlformats.org/drawingml/2006/main">
            <a:off x="857250" y="4953000"/>
            <a:ext cx="1000125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1328C8B-8CA4-4B75-A646-ED5831AC9A68}"/>
              </a:ext>
            </a:extLst>
          </p:cNvPr>
          <p:cNvSpPr>
            <a:spLocks xmlns:a="http://schemas.openxmlformats.org/drawingml/2006/main" noGrp="1"/>
          </p:cNvSpPr>
          <p:nvPr/>
        </p:nvSpPr>
        <p:spPr>
          <a:xfrm xmlns:a="http://schemas.openxmlformats.org/drawingml/2006/main">
            <a:off x="857250" y="5238750"/>
            <a:ext cx="10001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475" b="1" i="0">
                <a:solidFill>
                  <a:srgbClr val="70D6A6"/>
                </a:solidFill>
                <a:latin typeface="Aptos"/>
                <a:ea typeface="Aptos"/>
                <a:cs typeface="Aptos"/>
              </a:defRPr>
            </a:pPr>
            <a:r>
              <a:rPr sz="2475" b="1" i="0">
                <a:solidFill>
                  <a:srgbClr val="70D6A6"/>
                </a:solidFill>
                <a:latin typeface="Aptos"/>
                <a:ea typeface="Aptos"/>
                <a:cs typeface="Aptos"/>
              </a:rPr>
              <a:t>Browser outside. Linux inside.</a:t>
            </a:r>
          </a:p>
        </p:txBody>
      </p:sp>
    </p:spTree>
    <p:extLst>
      <p:ext uri="{BB962C8B-B14F-4D97-AF65-F5344CB8AC3E}">
        <p14:creationId xmlns:p14="http://schemas.microsoft.com/office/powerpoint/2010/main" val="232557199"/>
      </p:ext>
    </p:extLst>
  </p:cSld>
</p:sld>
</file>

<file path=ppt/slides/slide4.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4792258-158F-4DED-87A0-81631E855EB0}"/>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COURSE MAP</a:t>
            </a:r>
          </a:p>
        </p:txBody>
      </p:sp>
      <p:sp>
        <p:nvSpPr>
          <p:cNvPr id="2" name="">
            <a:extLst xmlns:a="http://schemas.openxmlformats.org/drawingml/2006/main">
              <a:ext uri="{FF2B5EF4-FFF2-40B4-BE49-F238E27FC236}">
                <a16:creationId xmlns:a16="http://schemas.microsoft.com/office/drawing/2014/main" id="{C49FB11A-CD6B-43D6-92D6-5D1E3759DD6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Ten theory → demo → lab cycles</a:t>
            </a:r>
          </a:p>
        </p:txBody>
      </p:sp>
      <p:sp>
        <p:nvSpPr>
          <p:cNvPr id="3" name="">
            <a:extLst xmlns:a="http://schemas.openxmlformats.org/drawingml/2006/main">
              <a:ext uri="{FF2B5EF4-FFF2-40B4-BE49-F238E27FC236}">
                <a16:creationId xmlns:a16="http://schemas.microsoft.com/office/drawing/2014/main" id="{E1D7DB64-4949-463C-BFB5-93E3B664136E}"/>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75054DC-48AE-4DDA-A39A-9809D0CC37C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39F41572-8C6B-44B9-A89A-835867046E9B}"/>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04</a:t>
            </a:r>
          </a:p>
        </p:txBody>
      </p:sp>
      <p:sp>
        <p:nvSpPr>
          <p:cNvPr id="6" name="">
            <a:extLst xmlns:a="http://schemas.openxmlformats.org/drawingml/2006/main">
              <a:ext uri="{FF2B5EF4-FFF2-40B4-BE49-F238E27FC236}">
                <a16:creationId xmlns:a16="http://schemas.microsoft.com/office/drawing/2014/main" id="{004A022F-3A44-4425-9BC5-DD3BAFBEA3D7}"/>
              </a:ext>
            </a:extLst>
          </p:cNvPr>
          <p:cNvSpPr>
            <a:spLocks xmlns:a="http://schemas.openxmlformats.org/drawingml/2006/main" noGrp="1"/>
          </p:cNvSpPr>
          <p:nvPr/>
        </p:nvSpPr>
        <p:spPr>
          <a:xfrm xmlns:a="http://schemas.openxmlformats.org/drawingml/2006/main">
            <a:off x="723900" y="1809750"/>
            <a:ext cx="5143500" cy="3143250"/>
          </a:xfrm>
          <a:prstGeom xmlns:a="http://schemas.openxmlformats.org/drawingml/2006/main" prst="roundRect">
            <a:avLst>
              <a:gd name="adj" fmla="val 4848"/>
            </a:avLst>
          </a:prstGeom>
          <a:solidFill xmlns:a="http://schemas.openxmlformats.org/drawingml/2006/main">
            <a:srgbClr val="160B2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639172CC-C322-47A0-A847-9FBCC22D3FBA}"/>
              </a:ext>
            </a:extLst>
          </p:cNvPr>
          <p:cNvSpPr>
            <a:spLocks xmlns:a="http://schemas.openxmlformats.org/drawingml/2006/main" noGrp="1"/>
          </p:cNvSpPr>
          <p:nvPr/>
        </p:nvSpPr>
        <p:spPr>
          <a:xfrm xmlns:a="http://schemas.openxmlformats.org/drawingml/2006/main">
            <a:off x="1066800" y="2095500"/>
            <a:ext cx="4095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900" b="1" i="0">
                <a:solidFill>
                  <a:srgbClr val="FFF8EE"/>
                </a:solidFill>
                <a:latin typeface="Aptos"/>
                <a:ea typeface="Aptos"/>
                <a:cs typeface="Aptos"/>
              </a:defRPr>
            </a:pPr>
            <a:r>
              <a:rPr sz="3900" b="1" i="0">
                <a:solidFill>
                  <a:srgbClr val="FFF8EE"/>
                </a:solidFill>
                <a:latin typeface="Aptos"/>
                <a:ea typeface="Aptos"/>
                <a:cs typeface="Aptos"/>
              </a:rPr>
              <a:t>180 min</a:t>
            </a:r>
          </a:p>
        </p:txBody>
      </p:sp>
      <p:sp>
        <p:nvSpPr>
          <p:cNvPr id="8" name="">
            <a:extLst xmlns:a="http://schemas.openxmlformats.org/drawingml/2006/main">
              <a:ext uri="{FF2B5EF4-FFF2-40B4-BE49-F238E27FC236}">
                <a16:creationId xmlns:a16="http://schemas.microsoft.com/office/drawing/2014/main" id="{1737D142-B2DF-406F-BB79-AB73FC24E566}"/>
              </a:ext>
            </a:extLst>
          </p:cNvPr>
          <p:cNvSpPr>
            <a:spLocks xmlns:a="http://schemas.openxmlformats.org/drawingml/2006/main" noGrp="1"/>
          </p:cNvSpPr>
          <p:nvPr/>
        </p:nvSpPr>
        <p:spPr>
          <a:xfrm xmlns:a="http://schemas.openxmlformats.org/drawingml/2006/main">
            <a:off x="1066800" y="291465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250" b="1" i="0">
                <a:solidFill>
                  <a:srgbClr val="C9B6FF"/>
                </a:solidFill>
                <a:latin typeface="Aptos"/>
                <a:ea typeface="Aptos"/>
                <a:cs typeface="Aptos"/>
              </a:defRPr>
            </a:pPr>
            <a:r>
              <a:rPr sz="2250" b="1" i="0">
                <a:solidFill>
                  <a:srgbClr val="C9B6FF"/>
                </a:solidFill>
                <a:latin typeface="Aptos"/>
                <a:ea typeface="Aptos"/>
                <a:cs typeface="Aptos"/>
              </a:rPr>
              <a:t>Theory + distinct demos</a:t>
            </a:r>
          </a:p>
        </p:txBody>
      </p:sp>
      <p:sp>
        <p:nvSpPr>
          <p:cNvPr id="9" name="">
            <a:extLst xmlns:a="http://schemas.openxmlformats.org/drawingml/2006/main">
              <a:ext uri="{FF2B5EF4-FFF2-40B4-BE49-F238E27FC236}">
                <a16:creationId xmlns:a16="http://schemas.microsoft.com/office/drawing/2014/main" id="{4B855418-E5F8-40B9-A38B-60D429D561B0}"/>
              </a:ext>
            </a:extLst>
          </p:cNvPr>
          <p:cNvSpPr>
            <a:spLocks xmlns:a="http://schemas.openxmlformats.org/drawingml/2006/main" noGrp="1"/>
          </p:cNvSpPr>
          <p:nvPr/>
        </p:nvSpPr>
        <p:spPr>
          <a:xfrm xmlns:a="http://schemas.openxmlformats.org/drawingml/2006/main">
            <a:off x="1066800" y="36671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AA1DA5A-67B9-49C4-8F71-F1AF932F3E27}"/>
              </a:ext>
            </a:extLst>
          </p:cNvPr>
          <p:cNvSpPr>
            <a:spLocks xmlns:a="http://schemas.openxmlformats.org/drawingml/2006/main" noGrp="1"/>
          </p:cNvSpPr>
          <p:nvPr/>
        </p:nvSpPr>
        <p:spPr>
          <a:xfrm xmlns:a="http://schemas.openxmlformats.org/drawingml/2006/main">
            <a:off x="1333500" y="360045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FFF8EE"/>
                </a:solidFill>
                <a:latin typeface="Aptos"/>
                <a:ea typeface="Aptos"/>
                <a:cs typeface="Aptos"/>
              </a:defRPr>
            </a:pPr>
            <a:r>
              <a:rPr sz="1575" b="0" i="0">
                <a:solidFill>
                  <a:srgbClr val="FFF8EE"/>
                </a:solidFill>
                <a:latin typeface="Aptos"/>
                <a:ea typeface="Aptos"/>
                <a:cs typeface="Aptos"/>
              </a:rPr>
              <a:t>Linux boundary + filesystems</a:t>
            </a:r>
          </a:p>
        </p:txBody>
      </p:sp>
      <p:sp>
        <p:nvSpPr>
          <p:cNvPr id="11" name="">
            <a:extLst xmlns:a="http://schemas.openxmlformats.org/drawingml/2006/main">
              <a:ext uri="{FF2B5EF4-FFF2-40B4-BE49-F238E27FC236}">
                <a16:creationId xmlns:a16="http://schemas.microsoft.com/office/drawing/2014/main" id="{FEA18695-46BE-48ED-B9B7-3ED54B2C251F}"/>
              </a:ext>
            </a:extLst>
          </p:cNvPr>
          <p:cNvSpPr>
            <a:spLocks xmlns:a="http://schemas.openxmlformats.org/drawingml/2006/main" noGrp="1"/>
          </p:cNvSpPr>
          <p:nvPr/>
        </p:nvSpPr>
        <p:spPr>
          <a:xfrm xmlns:a="http://schemas.openxmlformats.org/drawingml/2006/main">
            <a:off x="1066800" y="41814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EBC9BAD-BBBF-4234-8462-8F295B189A42}"/>
              </a:ext>
            </a:extLst>
          </p:cNvPr>
          <p:cNvSpPr>
            <a:spLocks xmlns:a="http://schemas.openxmlformats.org/drawingml/2006/main" noGrp="1"/>
          </p:cNvSpPr>
          <p:nvPr/>
        </p:nvSpPr>
        <p:spPr>
          <a:xfrm xmlns:a="http://schemas.openxmlformats.org/drawingml/2006/main">
            <a:off x="1333500" y="411480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FFF8EE"/>
                </a:solidFill>
                <a:latin typeface="Aptos"/>
                <a:ea typeface="Aptos"/>
                <a:cs typeface="Aptos"/>
              </a:defRPr>
            </a:pPr>
            <a:r>
              <a:rPr sz="1575" b="0" i="0">
                <a:solidFill>
                  <a:srgbClr val="FFF8EE"/>
                </a:solidFill>
                <a:latin typeface="Aptos"/>
                <a:ea typeface="Aptos"/>
                <a:cs typeface="Aptos"/>
              </a:rPr>
              <a:t>Shell evidence + software</a:t>
            </a:r>
          </a:p>
        </p:txBody>
      </p:sp>
      <p:sp>
        <p:nvSpPr>
          <p:cNvPr id="13" name="">
            <a:extLst xmlns:a="http://schemas.openxmlformats.org/drawingml/2006/main">
              <a:ext uri="{FF2B5EF4-FFF2-40B4-BE49-F238E27FC236}">
                <a16:creationId xmlns:a16="http://schemas.microsoft.com/office/drawing/2014/main" id="{7AFB10D3-2A4C-4185-94E4-C5A93252716D}"/>
              </a:ext>
            </a:extLst>
          </p:cNvPr>
          <p:cNvSpPr>
            <a:spLocks xmlns:a="http://schemas.openxmlformats.org/drawingml/2006/main" noGrp="1"/>
          </p:cNvSpPr>
          <p:nvPr/>
        </p:nvSpPr>
        <p:spPr>
          <a:xfrm xmlns:a="http://schemas.openxmlformats.org/drawingml/2006/main">
            <a:off x="1066800" y="46958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7CA19D9-8406-450B-9C91-078A16D07485}"/>
              </a:ext>
            </a:extLst>
          </p:cNvPr>
          <p:cNvSpPr>
            <a:spLocks xmlns:a="http://schemas.openxmlformats.org/drawingml/2006/main" noGrp="1"/>
          </p:cNvSpPr>
          <p:nvPr/>
        </p:nvSpPr>
        <p:spPr>
          <a:xfrm xmlns:a="http://schemas.openxmlformats.org/drawingml/2006/main">
            <a:off x="1333500" y="462915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FFF8EE"/>
                </a:solidFill>
                <a:latin typeface="Aptos"/>
                <a:ea typeface="Aptos"/>
                <a:cs typeface="Aptos"/>
              </a:defRPr>
            </a:pPr>
            <a:r>
              <a:rPr sz="1575" b="0" i="0">
                <a:solidFill>
                  <a:srgbClr val="FFF8EE"/>
                </a:solidFill>
                <a:latin typeface="Aptos"/>
                <a:ea typeface="Aptos"/>
                <a:cs typeface="Aptos"/>
              </a:rPr>
              <a:t>Identity + SSH + systemd</a:t>
            </a:r>
          </a:p>
        </p:txBody>
      </p:sp>
      <p:sp>
        <p:nvSpPr>
          <p:cNvPr id="15" name="">
            <a:extLst xmlns:a="http://schemas.openxmlformats.org/drawingml/2006/main">
              <a:ext uri="{FF2B5EF4-FFF2-40B4-BE49-F238E27FC236}">
                <a16:creationId xmlns:a16="http://schemas.microsoft.com/office/drawing/2014/main" id="{3B00D99D-623B-4755-9E18-9C49F83E9FD3}"/>
              </a:ext>
            </a:extLst>
          </p:cNvPr>
          <p:cNvSpPr>
            <a:spLocks xmlns:a="http://schemas.openxmlformats.org/drawingml/2006/main" noGrp="1"/>
          </p:cNvSpPr>
          <p:nvPr/>
        </p:nvSpPr>
        <p:spPr>
          <a:xfrm xmlns:a="http://schemas.openxmlformats.org/drawingml/2006/main">
            <a:off x="6324600" y="1809750"/>
            <a:ext cx="5143500" cy="3143250"/>
          </a:xfrm>
          <a:prstGeom xmlns:a="http://schemas.openxmlformats.org/drawingml/2006/main" prst="roundRect">
            <a:avLst>
              <a:gd name="adj" fmla="val 4848"/>
            </a:avLst>
          </a:prstGeom>
          <a:solidFill xmlns:a="http://schemas.openxmlformats.org/drawingml/2006/main">
            <a:srgbClr val="EEE4F3"/>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1CF73A7-6A42-4362-83E5-4AD8D2026358}"/>
              </a:ext>
            </a:extLst>
          </p:cNvPr>
          <p:cNvSpPr>
            <a:spLocks xmlns:a="http://schemas.openxmlformats.org/drawingml/2006/main" noGrp="1"/>
          </p:cNvSpPr>
          <p:nvPr/>
        </p:nvSpPr>
        <p:spPr>
          <a:xfrm xmlns:a="http://schemas.openxmlformats.org/drawingml/2006/main">
            <a:off x="6667500" y="2095500"/>
            <a:ext cx="4095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900" b="1" i="0">
                <a:solidFill>
                  <a:srgbClr val="8B5CF6"/>
                </a:solidFill>
                <a:latin typeface="Aptos"/>
                <a:ea typeface="Aptos"/>
                <a:cs typeface="Aptos"/>
              </a:defRPr>
            </a:pPr>
            <a:r>
              <a:rPr sz="3900" b="1" i="0">
                <a:solidFill>
                  <a:srgbClr val="8B5CF6"/>
                </a:solidFill>
                <a:latin typeface="Aptos"/>
                <a:ea typeface="Aptos"/>
                <a:cs typeface="Aptos"/>
              </a:rPr>
              <a:t>210 min</a:t>
            </a:r>
          </a:p>
        </p:txBody>
      </p:sp>
      <p:sp>
        <p:nvSpPr>
          <p:cNvPr id="17" name="">
            <a:extLst xmlns:a="http://schemas.openxmlformats.org/drawingml/2006/main">
              <a:ext uri="{FF2B5EF4-FFF2-40B4-BE49-F238E27FC236}">
                <a16:creationId xmlns:a16="http://schemas.microsoft.com/office/drawing/2014/main" id="{D9650EA9-DB0C-4A82-93F5-E0130CDEFDC6}"/>
              </a:ext>
            </a:extLst>
          </p:cNvPr>
          <p:cNvSpPr>
            <a:spLocks xmlns:a="http://schemas.openxmlformats.org/drawingml/2006/main" noGrp="1"/>
          </p:cNvSpPr>
          <p:nvPr/>
        </p:nvSpPr>
        <p:spPr>
          <a:xfrm xmlns:a="http://schemas.openxmlformats.org/drawingml/2006/main">
            <a:off x="6667500" y="291465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250" b="1" i="0">
                <a:solidFill>
                  <a:srgbClr val="160B20"/>
                </a:solidFill>
                <a:latin typeface="Aptos"/>
                <a:ea typeface="Aptos"/>
                <a:cs typeface="Aptos"/>
              </a:defRPr>
            </a:pPr>
            <a:r>
              <a:rPr sz="2250" b="1" i="0">
                <a:solidFill>
                  <a:srgbClr val="160B20"/>
                </a:solidFill>
                <a:latin typeface="Aptos"/>
                <a:ea typeface="Aptos"/>
                <a:cs typeface="Aptos"/>
              </a:rPr>
              <a:t>Ten required labs</a:t>
            </a:r>
          </a:p>
        </p:txBody>
      </p:sp>
      <p:sp>
        <p:nvSpPr>
          <p:cNvPr id="18" name="">
            <a:extLst xmlns:a="http://schemas.openxmlformats.org/drawingml/2006/main">
              <a:ext uri="{FF2B5EF4-FFF2-40B4-BE49-F238E27FC236}">
                <a16:creationId xmlns:a16="http://schemas.microsoft.com/office/drawing/2014/main" id="{3F72730E-C570-42EF-A698-CB6D30861C47}"/>
              </a:ext>
            </a:extLst>
          </p:cNvPr>
          <p:cNvSpPr>
            <a:spLocks xmlns:a="http://schemas.openxmlformats.org/drawingml/2006/main" noGrp="1"/>
          </p:cNvSpPr>
          <p:nvPr/>
        </p:nvSpPr>
        <p:spPr>
          <a:xfrm xmlns:a="http://schemas.openxmlformats.org/drawingml/2006/main">
            <a:off x="6667500" y="36671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F5AA57C-C3D8-4B8C-A99E-E541116B51AB}"/>
              </a:ext>
            </a:extLst>
          </p:cNvPr>
          <p:cNvSpPr>
            <a:spLocks xmlns:a="http://schemas.openxmlformats.org/drawingml/2006/main" noGrp="1"/>
          </p:cNvSpPr>
          <p:nvPr/>
        </p:nvSpPr>
        <p:spPr>
          <a:xfrm xmlns:a="http://schemas.openxmlformats.org/drawingml/2006/main">
            <a:off x="6934200" y="360045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Open an isolated incident</a:t>
            </a:r>
          </a:p>
        </p:txBody>
      </p:sp>
      <p:sp>
        <p:nvSpPr>
          <p:cNvPr id="20" name="">
            <a:extLst xmlns:a="http://schemas.openxmlformats.org/drawingml/2006/main">
              <a:ext uri="{FF2B5EF4-FFF2-40B4-BE49-F238E27FC236}">
                <a16:creationId xmlns:a16="http://schemas.microsoft.com/office/drawing/2014/main" id="{1578B045-B4AC-4729-9293-6CBF0708A94A}"/>
              </a:ext>
            </a:extLst>
          </p:cNvPr>
          <p:cNvSpPr>
            <a:spLocks xmlns:a="http://schemas.openxmlformats.org/drawingml/2006/main" noGrp="1"/>
          </p:cNvSpPr>
          <p:nvPr/>
        </p:nvSpPr>
        <p:spPr>
          <a:xfrm xmlns:a="http://schemas.openxmlformats.org/drawingml/2006/main">
            <a:off x="6667500" y="41814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23C9809-863D-434C-B138-F815AC63F0F2}"/>
              </a:ext>
            </a:extLst>
          </p:cNvPr>
          <p:cNvSpPr>
            <a:spLocks xmlns:a="http://schemas.openxmlformats.org/drawingml/2006/main" noGrp="1"/>
          </p:cNvSpPr>
          <p:nvPr/>
        </p:nvSpPr>
        <p:spPr>
          <a:xfrm xmlns:a="http://schemas.openxmlformats.org/drawingml/2006/main">
            <a:off x="6934200" y="411480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Predict, solve, verify state</a:t>
            </a:r>
          </a:p>
        </p:txBody>
      </p:sp>
      <p:sp>
        <p:nvSpPr>
          <p:cNvPr id="22" name="">
            <a:extLst xmlns:a="http://schemas.openxmlformats.org/drawingml/2006/main">
              <a:ext uri="{FF2B5EF4-FFF2-40B4-BE49-F238E27FC236}">
                <a16:creationId xmlns:a16="http://schemas.microsoft.com/office/drawing/2014/main" id="{DAE67C2B-BD67-4EAF-8AE9-D446BC3E6C21}"/>
              </a:ext>
            </a:extLst>
          </p:cNvPr>
          <p:cNvSpPr>
            <a:spLocks xmlns:a="http://schemas.openxmlformats.org/drawingml/2006/main" noGrp="1"/>
          </p:cNvSpPr>
          <p:nvPr/>
        </p:nvSpPr>
        <p:spPr>
          <a:xfrm xmlns:a="http://schemas.openxmlformats.org/drawingml/2006/main">
            <a:off x="6667500" y="4695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9189197-E532-491A-A46F-FD06A24F26EE}"/>
              </a:ext>
            </a:extLst>
          </p:cNvPr>
          <p:cNvSpPr>
            <a:spLocks xmlns:a="http://schemas.openxmlformats.org/drawingml/2006/main" noGrp="1"/>
          </p:cNvSpPr>
          <p:nvPr/>
        </p:nvSpPr>
        <p:spPr>
          <a:xfrm xmlns:a="http://schemas.openxmlformats.org/drawingml/2006/main">
            <a:off x="6934200" y="462915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Processes + drop-ins included</a:t>
            </a:r>
          </a:p>
        </p:txBody>
      </p:sp>
      <p:sp>
        <p:nvSpPr>
          <p:cNvPr id="24" name="">
            <a:extLst xmlns:a="http://schemas.openxmlformats.org/drawingml/2006/main">
              <a:ext uri="{FF2B5EF4-FFF2-40B4-BE49-F238E27FC236}">
                <a16:creationId xmlns:a16="http://schemas.microsoft.com/office/drawing/2014/main" id="{11B33409-BFE3-42B3-8F06-9F1C06EEB742}"/>
              </a:ext>
            </a:extLst>
          </p:cNvPr>
          <p:cNvSpPr>
            <a:spLocks xmlns:a="http://schemas.openxmlformats.org/drawingml/2006/main" noGrp="1"/>
          </p:cNvSpPr>
          <p:nvPr/>
        </p:nvSpPr>
        <p:spPr>
          <a:xfrm xmlns:a="http://schemas.openxmlformats.org/drawingml/2006/main">
            <a:off x="1524000" y="5391150"/>
            <a:ext cx="914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0" i="0">
                <a:solidFill>
                  <a:srgbClr val="6F6277"/>
                </a:solidFill>
                <a:latin typeface="Aptos"/>
                <a:ea typeface="Aptos"/>
                <a:cs typeface="Aptos"/>
              </a:defRPr>
            </a:pPr>
            <a:r>
              <a:rPr sz="1650" b="0" i="0">
                <a:solidFill>
                  <a:srgbClr val="6F6277"/>
                </a:solidFill>
                <a:latin typeface="Aptos"/>
                <a:ea typeface="Aptos"/>
                <a:cs typeface="Aptos"/>
              </a:rPr>
              <a:t>Full route: 390 instructional minutes. The six-hour variant moves 30 minutes outside the room.</a:t>
            </a:r>
          </a:p>
        </p:txBody>
      </p:sp>
    </p:spTree>
    <p:extLst>
      <p:ext uri="{BB962C8B-B14F-4D97-AF65-F5344CB8AC3E}">
        <p14:creationId xmlns:p14="http://schemas.microsoft.com/office/powerpoint/2010/main" val="92499099"/>
      </p:ext>
    </p:extLst>
  </p:cSld>
</p:sld>
</file>

<file path=ppt/slides/slide5.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FDAECD3-22D8-41BA-9F13-DAEA0EAA9F55}"/>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LINUX</a:t>
            </a:r>
          </a:p>
        </p:txBody>
      </p:sp>
      <p:sp>
        <p:nvSpPr>
          <p:cNvPr id="2" name="">
            <a:extLst xmlns:a="http://schemas.openxmlformats.org/drawingml/2006/main">
              <a:ext uri="{FF2B5EF4-FFF2-40B4-BE49-F238E27FC236}">
                <a16:creationId xmlns:a16="http://schemas.microsoft.com/office/drawing/2014/main" id="{A67182FD-A26E-46B8-B3BF-43ACCE53F627}"/>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Linux is the kernel; a usable system is a stack</a:t>
            </a:r>
          </a:p>
        </p:txBody>
      </p:sp>
      <p:sp>
        <p:nvSpPr>
          <p:cNvPr id="3" name="">
            <a:extLst xmlns:a="http://schemas.openxmlformats.org/drawingml/2006/main">
              <a:ext uri="{FF2B5EF4-FFF2-40B4-BE49-F238E27FC236}">
                <a16:creationId xmlns:a16="http://schemas.microsoft.com/office/drawing/2014/main" id="{A1845CAD-54BE-4C75-B8A9-7860054BC40C}"/>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BE7DEC6-3276-4E2F-8039-230809FC193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5E8F79BD-AE2C-436E-925F-0A41212143D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05</a:t>
            </a:r>
          </a:p>
        </p:txBody>
      </p:sp>
      <p:sp>
        <p:nvSpPr>
          <p:cNvPr id="6" name="">
            <a:extLst xmlns:a="http://schemas.openxmlformats.org/drawingml/2006/main">
              <a:ext uri="{FF2B5EF4-FFF2-40B4-BE49-F238E27FC236}">
                <a16:creationId xmlns:a16="http://schemas.microsoft.com/office/drawing/2014/main" id="{F722DC2D-9A1A-425F-931F-5D79F2201373}"/>
              </a:ext>
            </a:extLst>
          </p:cNvPr>
          <p:cNvSpPr>
            <a:spLocks xmlns:a="http://schemas.openxmlformats.org/drawingml/2006/main" noGrp="1"/>
          </p:cNvSpPr>
          <p:nvPr/>
        </p:nvSpPr>
        <p:spPr>
          <a:xfrm xmlns:a="http://schemas.openxmlformats.org/drawingml/2006/main">
            <a:off x="1143000" y="1809750"/>
            <a:ext cx="9906000" cy="685800"/>
          </a:xfrm>
          <a:prstGeom xmlns:a="http://schemas.openxmlformats.org/drawingml/2006/main" prst="roundRect">
            <a:avLst>
              <a:gd name="adj" fmla="val 22222"/>
            </a:avLst>
          </a:prstGeom>
          <a:solidFill xmlns:a="http://schemas.openxmlformats.org/drawingml/2006/main">
            <a:srgbClr val="FF6B4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DF70B14-E299-4D23-8D5F-E5EBFA6EE690}"/>
              </a:ext>
            </a:extLst>
          </p:cNvPr>
          <p:cNvSpPr>
            <a:spLocks xmlns:a="http://schemas.openxmlformats.org/drawingml/2006/main" noGrp="1"/>
          </p:cNvSpPr>
          <p:nvPr/>
        </p:nvSpPr>
        <p:spPr>
          <a:xfrm xmlns:a="http://schemas.openxmlformats.org/drawingml/2006/main">
            <a:off x="1428750" y="198120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75" b="1" i="0">
                <a:solidFill>
                  <a:srgbClr val="160B20"/>
                </a:solidFill>
                <a:latin typeface="Aptos"/>
                <a:ea typeface="Aptos"/>
                <a:cs typeface="Aptos"/>
              </a:defRPr>
            </a:pPr>
            <a:r>
              <a:rPr sz="1875" b="1" i="0">
                <a:solidFill>
                  <a:srgbClr val="160B20"/>
                </a:solidFill>
                <a:latin typeface="Aptos"/>
                <a:ea typeface="Aptos"/>
                <a:cs typeface="Aptos"/>
              </a:rPr>
              <a:t>Applications</a:t>
            </a:r>
          </a:p>
        </p:txBody>
      </p:sp>
      <p:sp>
        <p:nvSpPr>
          <p:cNvPr id="8" name="">
            <a:extLst xmlns:a="http://schemas.openxmlformats.org/drawingml/2006/main">
              <a:ext uri="{FF2B5EF4-FFF2-40B4-BE49-F238E27FC236}">
                <a16:creationId xmlns:a16="http://schemas.microsoft.com/office/drawing/2014/main" id="{52C3A398-E47C-433B-B9EB-D3DA075BFED2}"/>
              </a:ext>
            </a:extLst>
          </p:cNvPr>
          <p:cNvSpPr>
            <a:spLocks xmlns:a="http://schemas.openxmlformats.org/drawingml/2006/main" noGrp="1"/>
          </p:cNvSpPr>
          <p:nvPr/>
        </p:nvSpPr>
        <p:spPr>
          <a:xfrm xmlns:a="http://schemas.openxmlformats.org/drawingml/2006/main">
            <a:off x="4095750" y="2000250"/>
            <a:ext cx="609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160B20"/>
                </a:solidFill>
                <a:latin typeface="Aptos"/>
                <a:ea typeface="Aptos"/>
                <a:cs typeface="Aptos"/>
              </a:defRPr>
            </a:pPr>
            <a:r>
              <a:rPr sz="1500" b="0" i="0">
                <a:solidFill>
                  <a:srgbClr val="160B20"/>
                </a:solidFill>
                <a:latin typeface="Aptos"/>
                <a:ea typeface="Aptos"/>
                <a:cs typeface="Aptos"/>
              </a:rPr>
              <a:t>ssh · apt · nano · your services</a:t>
            </a:r>
          </a:p>
        </p:txBody>
      </p:sp>
      <p:sp>
        <p:nvSpPr>
          <p:cNvPr id="9" name="">
            <a:extLst xmlns:a="http://schemas.openxmlformats.org/drawingml/2006/main">
              <a:ext uri="{FF2B5EF4-FFF2-40B4-BE49-F238E27FC236}">
                <a16:creationId xmlns:a16="http://schemas.microsoft.com/office/drawing/2014/main" id="{D20DF45F-205D-40C2-B5D5-D401E8341FF2}"/>
              </a:ext>
            </a:extLst>
          </p:cNvPr>
          <p:cNvSpPr>
            <a:spLocks xmlns:a="http://schemas.openxmlformats.org/drawingml/2006/main" noGrp="1"/>
          </p:cNvSpPr>
          <p:nvPr/>
        </p:nvSpPr>
        <p:spPr>
          <a:xfrm xmlns:a="http://schemas.openxmlformats.org/drawingml/2006/main">
            <a:off x="1428750" y="2686050"/>
            <a:ext cx="9334500" cy="685800"/>
          </a:xfrm>
          <a:prstGeom xmlns:a="http://schemas.openxmlformats.org/drawingml/2006/main" prst="roundRect">
            <a:avLst>
              <a:gd name="adj" fmla="val 22222"/>
            </a:avLst>
          </a:prstGeom>
          <a:solidFill xmlns:a="http://schemas.openxmlformats.org/drawingml/2006/main">
            <a:srgbClr val="8B5CF6"/>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D74E8BC-8BAA-42AC-846A-B6031831B94C}"/>
              </a:ext>
            </a:extLst>
          </p:cNvPr>
          <p:cNvSpPr>
            <a:spLocks xmlns:a="http://schemas.openxmlformats.org/drawingml/2006/main" noGrp="1"/>
          </p:cNvSpPr>
          <p:nvPr/>
        </p:nvSpPr>
        <p:spPr>
          <a:xfrm xmlns:a="http://schemas.openxmlformats.org/drawingml/2006/main">
            <a:off x="1714500" y="285750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75" b="1" i="0">
                <a:solidFill>
                  <a:srgbClr val="160B20"/>
                </a:solidFill>
                <a:latin typeface="Aptos"/>
                <a:ea typeface="Aptos"/>
                <a:cs typeface="Aptos"/>
              </a:defRPr>
            </a:pPr>
            <a:r>
              <a:rPr sz="1875" b="1" i="0">
                <a:solidFill>
                  <a:srgbClr val="160B20"/>
                </a:solidFill>
                <a:latin typeface="Aptos"/>
                <a:ea typeface="Aptos"/>
                <a:cs typeface="Aptos"/>
              </a:rPr>
              <a:t>User space</a:t>
            </a:r>
          </a:p>
        </p:txBody>
      </p:sp>
      <p:sp>
        <p:nvSpPr>
          <p:cNvPr id="11" name="">
            <a:extLst xmlns:a="http://schemas.openxmlformats.org/drawingml/2006/main">
              <a:ext uri="{FF2B5EF4-FFF2-40B4-BE49-F238E27FC236}">
                <a16:creationId xmlns:a16="http://schemas.microsoft.com/office/drawing/2014/main" id="{B058A218-64C9-4ED1-956A-DB1C0415F2DB}"/>
              </a:ext>
            </a:extLst>
          </p:cNvPr>
          <p:cNvSpPr>
            <a:spLocks xmlns:a="http://schemas.openxmlformats.org/drawingml/2006/main" noGrp="1"/>
          </p:cNvSpPr>
          <p:nvPr/>
        </p:nvSpPr>
        <p:spPr>
          <a:xfrm xmlns:a="http://schemas.openxmlformats.org/drawingml/2006/main">
            <a:off x="4381500" y="2876550"/>
            <a:ext cx="552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160B20"/>
                </a:solidFill>
                <a:latin typeface="Aptos"/>
                <a:ea typeface="Aptos"/>
                <a:cs typeface="Aptos"/>
              </a:defRPr>
            </a:pPr>
            <a:r>
              <a:rPr sz="1500" b="0" i="0">
                <a:solidFill>
                  <a:srgbClr val="160B20"/>
                </a:solidFill>
                <a:latin typeface="Aptos"/>
                <a:ea typeface="Aptos"/>
                <a:cs typeface="Aptos"/>
              </a:rPr>
              <a:t>shells · libraries · GNU tools · systemd</a:t>
            </a:r>
          </a:p>
        </p:txBody>
      </p:sp>
      <p:sp>
        <p:nvSpPr>
          <p:cNvPr id="12" name="">
            <a:extLst xmlns:a="http://schemas.openxmlformats.org/drawingml/2006/main">
              <a:ext uri="{FF2B5EF4-FFF2-40B4-BE49-F238E27FC236}">
                <a16:creationId xmlns:a16="http://schemas.microsoft.com/office/drawing/2014/main" id="{7872E4C6-4422-49A1-95C5-C642C376D1CF}"/>
              </a:ext>
            </a:extLst>
          </p:cNvPr>
          <p:cNvSpPr>
            <a:spLocks xmlns:a="http://schemas.openxmlformats.org/drawingml/2006/main" noGrp="1"/>
          </p:cNvSpPr>
          <p:nvPr/>
        </p:nvSpPr>
        <p:spPr>
          <a:xfrm xmlns:a="http://schemas.openxmlformats.org/drawingml/2006/main">
            <a:off x="1714500" y="3562350"/>
            <a:ext cx="8763000" cy="685800"/>
          </a:xfrm>
          <a:prstGeom xmlns:a="http://schemas.openxmlformats.org/drawingml/2006/main" prst="roundRect">
            <a:avLst>
              <a:gd name="adj" fmla="val 22222"/>
            </a:avLst>
          </a:prstGeom>
          <a:solidFill xmlns:a="http://schemas.openxmlformats.org/drawingml/2006/main">
            <a:srgbClr val="70D6A6"/>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A20284B-303E-4527-B4A9-DFA3FDC88B95}"/>
              </a:ext>
            </a:extLst>
          </p:cNvPr>
          <p:cNvSpPr>
            <a:spLocks xmlns:a="http://schemas.openxmlformats.org/drawingml/2006/main" noGrp="1"/>
          </p:cNvSpPr>
          <p:nvPr/>
        </p:nvSpPr>
        <p:spPr>
          <a:xfrm xmlns:a="http://schemas.openxmlformats.org/drawingml/2006/main">
            <a:off x="2000250" y="373380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75" b="1" i="0">
                <a:solidFill>
                  <a:srgbClr val="160B20"/>
                </a:solidFill>
                <a:latin typeface="Aptos"/>
                <a:ea typeface="Aptos"/>
                <a:cs typeface="Aptos"/>
              </a:defRPr>
            </a:pPr>
            <a:r>
              <a:rPr sz="1875" b="1" i="0">
                <a:solidFill>
                  <a:srgbClr val="160B20"/>
                </a:solidFill>
                <a:latin typeface="Aptos"/>
                <a:ea typeface="Aptos"/>
                <a:cs typeface="Aptos"/>
              </a:rPr>
              <a:t>Linux kernel</a:t>
            </a:r>
          </a:p>
        </p:txBody>
      </p:sp>
      <p:sp>
        <p:nvSpPr>
          <p:cNvPr id="14" name="">
            <a:extLst xmlns:a="http://schemas.openxmlformats.org/drawingml/2006/main">
              <a:ext uri="{FF2B5EF4-FFF2-40B4-BE49-F238E27FC236}">
                <a16:creationId xmlns:a16="http://schemas.microsoft.com/office/drawing/2014/main" id="{8A9946F9-4AEF-41D8-8D19-5846C4B4B40A}"/>
              </a:ext>
            </a:extLst>
          </p:cNvPr>
          <p:cNvSpPr>
            <a:spLocks xmlns:a="http://schemas.openxmlformats.org/drawingml/2006/main" noGrp="1"/>
          </p:cNvSpPr>
          <p:nvPr/>
        </p:nvSpPr>
        <p:spPr>
          <a:xfrm xmlns:a="http://schemas.openxmlformats.org/drawingml/2006/main">
            <a:off x="4667250" y="37528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160B20"/>
                </a:solidFill>
                <a:latin typeface="Aptos"/>
                <a:ea typeface="Aptos"/>
                <a:cs typeface="Aptos"/>
              </a:defRPr>
            </a:pPr>
            <a:r>
              <a:rPr sz="1500" b="0" i="0">
                <a:solidFill>
                  <a:srgbClr val="160B20"/>
                </a:solidFill>
                <a:latin typeface="Aptos"/>
                <a:ea typeface="Aptos"/>
                <a:cs typeface="Aptos"/>
              </a:rPr>
              <a:t>processes · memory · networking · devices</a:t>
            </a:r>
          </a:p>
        </p:txBody>
      </p:sp>
      <p:sp>
        <p:nvSpPr>
          <p:cNvPr id="15" name="">
            <a:extLst xmlns:a="http://schemas.openxmlformats.org/drawingml/2006/main">
              <a:ext uri="{FF2B5EF4-FFF2-40B4-BE49-F238E27FC236}">
                <a16:creationId xmlns:a16="http://schemas.microsoft.com/office/drawing/2014/main" id="{B2150697-CD7D-4326-99A8-92EE0432FC33}"/>
              </a:ext>
            </a:extLst>
          </p:cNvPr>
          <p:cNvSpPr>
            <a:spLocks xmlns:a="http://schemas.openxmlformats.org/drawingml/2006/main" noGrp="1"/>
          </p:cNvSpPr>
          <p:nvPr/>
        </p:nvSpPr>
        <p:spPr>
          <a:xfrm xmlns:a="http://schemas.openxmlformats.org/drawingml/2006/main">
            <a:off x="2000250" y="4438650"/>
            <a:ext cx="8191500" cy="685800"/>
          </a:xfrm>
          <a:prstGeom xmlns:a="http://schemas.openxmlformats.org/drawingml/2006/main" prst="roundRect">
            <a:avLst>
              <a:gd name="adj" fmla="val 22222"/>
            </a:avLst>
          </a:prstGeom>
          <a:solidFill xmlns:a="http://schemas.openxmlformats.org/drawingml/2006/main">
            <a:srgbClr val="6B5A7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6F232903-3DFF-4CEB-8108-DCFD181279AE}"/>
              </a:ext>
            </a:extLst>
          </p:cNvPr>
          <p:cNvSpPr>
            <a:spLocks xmlns:a="http://schemas.openxmlformats.org/drawingml/2006/main" noGrp="1"/>
          </p:cNvSpPr>
          <p:nvPr/>
        </p:nvSpPr>
        <p:spPr>
          <a:xfrm xmlns:a="http://schemas.openxmlformats.org/drawingml/2006/main">
            <a:off x="2286000" y="461010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010"/>
          </a:bodyPr>
          <a:lstStyle xmlns:a="http://schemas.openxmlformats.org/drawingml/2006/main"/>
          <a:p xmlns:a="http://schemas.openxmlformats.org/drawingml/2006/main">
            <a:pPr algn="l">
              <a:lnSpc>
                <a:spcPct val="102000"/>
              </a:lnSpc>
              <a:buNone/>
              <a:defRPr sz="1875" b="1" i="0">
                <a:solidFill>
                  <a:srgbClr val="FFF8EE"/>
                </a:solidFill>
                <a:latin typeface="Aptos"/>
                <a:ea typeface="Aptos"/>
                <a:cs typeface="Aptos"/>
              </a:defRPr>
            </a:pPr>
            <a:r>
              <a:rPr sz="1875" b="1" i="0">
                <a:solidFill>
                  <a:srgbClr val="FFF8EE"/>
                </a:solidFill>
                <a:latin typeface="Aptos"/>
                <a:ea typeface="Aptos"/>
                <a:cs typeface="Aptos"/>
              </a:rPr>
              <a:t>Hardware / VM / container</a:t>
            </a:r>
          </a:p>
        </p:txBody>
      </p:sp>
      <p:sp>
        <p:nvSpPr>
          <p:cNvPr id="17" name="">
            <a:extLst xmlns:a="http://schemas.openxmlformats.org/drawingml/2006/main">
              <a:ext uri="{FF2B5EF4-FFF2-40B4-BE49-F238E27FC236}">
                <a16:creationId xmlns:a16="http://schemas.microsoft.com/office/drawing/2014/main" id="{697BD168-8535-4EFF-99EB-7CE8B67DFB36}"/>
              </a:ext>
            </a:extLst>
          </p:cNvPr>
          <p:cNvSpPr>
            <a:spLocks xmlns:a="http://schemas.openxmlformats.org/drawingml/2006/main" noGrp="1"/>
          </p:cNvSpPr>
          <p:nvPr/>
        </p:nvSpPr>
        <p:spPr>
          <a:xfrm xmlns:a="http://schemas.openxmlformats.org/drawingml/2006/main">
            <a:off x="4953000" y="4629150"/>
            <a:ext cx="438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FFF8EE"/>
                </a:solidFill>
                <a:latin typeface="Aptos"/>
                <a:ea typeface="Aptos"/>
                <a:cs typeface="Aptos"/>
              </a:defRPr>
            </a:pPr>
            <a:r>
              <a:rPr sz="1500" b="0" i="0">
                <a:solidFill>
                  <a:srgbClr val="FFF8EE"/>
                </a:solidFill>
                <a:latin typeface="Aptos"/>
                <a:ea typeface="Aptos"/>
                <a:cs typeface="Aptos"/>
              </a:rPr>
              <a:t>CPU · RAM · disks · virtual devices</a:t>
            </a:r>
          </a:p>
        </p:txBody>
      </p:sp>
    </p:spTree>
    <p:extLst>
      <p:ext uri="{BB962C8B-B14F-4D97-AF65-F5344CB8AC3E}">
        <p14:creationId xmlns:p14="http://schemas.microsoft.com/office/powerpoint/2010/main" val="1344552368"/>
      </p:ext>
    </p:extLst>
  </p:cSld>
</p:sld>
</file>

<file path=ppt/slides/slide6.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LINUX / KERNEL</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The kernel turns hardware into abstractions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06</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72"/>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Processes</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scheduled programs with isolated address spaces</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Memory</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virtual memory, pages, caches, and protection</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Filesystems</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one namespace across disks and virtual data</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Network</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sockets, routes, interfaces, and packet flow</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Devices</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drivers expose hardware through common interfaces</a:t>
            </a:r>
          </a:p>
        </p:txBody>
      </p:sp>
    </p:spTree>
    <p:extLst>
      <p:ext uri="{BB962C8B-B14F-4D97-AF65-F5344CB8AC3E}">
        <p14:creationId xmlns:p14="http://schemas.microsoft.com/office/powerpoint/2010/main" val="1018217464"/>
      </p:ext>
    </p:extLst>
  </p:cSld>
</p:sld>
</file>

<file path=ppt/slides/slide7.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DISTRIBUTIONS</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55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A distribution is a curated operating agreement</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07</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Same fundamentals</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Different choices</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Choose for context</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Kernel interface</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Filesystem concepts</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Users and permissions</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OpenSSH + systemd</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Package format</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Release cadence</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Default configuration</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Support lifecycle</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Ubuntu / Debian</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RHEL / Rocky / Alma</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Fedora</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Cloud/vendor images</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Today: Ubuntu 24.04 LTS keeps every lab consistent.</a:t>
            </a:r>
          </a:p>
        </p:txBody>
      </p:sp>
    </p:spTree>
    <p:extLst>
      <p:ext uri="{BB962C8B-B14F-4D97-AF65-F5344CB8AC3E}">
        <p14:creationId xmlns:p14="http://schemas.microsoft.com/office/powerpoint/2010/main" val="281690250"/>
      </p:ext>
    </p:extLst>
  </p:cSld>
</p:sld>
</file>

<file path=ppt/slides/slide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DISTRIBUTIONS</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51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Distribution families share ideas, not every command</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08</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Debian family</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Red Hat family</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Other contexts</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Ubuntu · Debian</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APT + .deb</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/etc/apt</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Long support</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RHEL · Rocky · Alma</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DNF + RPM</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/etc/yum.repos.d</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SELinux defaults</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Fedora: newer stacks</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Alpine: small images</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Arch: rolling</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Vendor clouds</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Identify the family before copying package or service instructions.</a:t>
            </a:r>
          </a:p>
        </p:txBody>
      </p:sp>
    </p:spTree>
    <p:extLst>
      <p:ext uri="{BB962C8B-B14F-4D97-AF65-F5344CB8AC3E}">
        <p14:creationId xmlns:p14="http://schemas.microsoft.com/office/powerpoint/2010/main" val="281690250"/>
      </p:ext>
    </p:extLst>
  </p:cSld>
</p:sld>
</file>

<file path=ppt/slides/slide9.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DISTRIBUTIONS</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Stable and rolling releases trade currency</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09</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STABLE / LTS</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predictability</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Longer support window</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Security fixes with fewer surprises</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Older major versions are common</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ROLLING</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currency</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Frequent package updates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Fast access to new features</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More integration change over time</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Choose for workload and support needs, not fashion.</a:t>
            </a:r>
          </a:p>
        </p:txBody>
      </p:sp>
    </p:spTree>
    <p:extLst>
      <p:ext uri="{BB962C8B-B14F-4D97-AF65-F5344CB8AC3E}">
        <p14:creationId xmlns:p14="http://schemas.microsoft.com/office/powerpoint/2010/main" val="1882871272"/>
      </p:ext>
    </p:extLst>
  </p:cSld>
</p:sld>
</file>

<file path=ppt/slides/slide1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ENVIRONMENT</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94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Virtual machines isolate kernels; containers share one</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10</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VIRTUAL MACHINE</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17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hardware boundary</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Guest owns a kernel</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Different isolation boundary</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Higher memory and boot cost</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SYSTEM CONTAINER</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OS boundary</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Shares the host kernel</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Own user space and systemd</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Fast cloning and reset</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The browser labs use Incus system containers inside a controller VM.</a:t>
            </a:r>
          </a:p>
        </p:txBody>
      </p:sp>
    </p:spTree>
    <p:extLst>
      <p:ext uri="{BB962C8B-B14F-4D97-AF65-F5344CB8AC3E}">
        <p14:creationId xmlns:p14="http://schemas.microsoft.com/office/powerpoint/2010/main" val="1882871272"/>
      </p:ext>
    </p:extLst>
  </p:cSld>
</p:sld>
</file>

<file path=ppt/slides/slide11.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1 / BOUNDARY</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88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Live demo: locate host, VM, and container facts</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11</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Host operating system</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sw_vers or systeminfo</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Controller kernel</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uname -srmo</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Instance type</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incus info demo-seat</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Container user space</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cat /etc/os-release</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Container PID 1</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ps -p 1 -o comm=</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Boundary claim</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shared kernel; isolated user space</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1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D9833BD3-0672-4779-9EB3-8E71DC050B3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HANDS-ON / LAB 1</a:t>
            </a:r>
          </a:p>
        </p:txBody>
      </p:sp>
      <p:sp>
        <p:nvSpPr>
          <p:cNvPr id="2" name="">
            <a:extLst xmlns:a="http://schemas.openxmlformats.org/drawingml/2006/main">
              <a:ext uri="{FF2B5EF4-FFF2-40B4-BE49-F238E27FC236}">
                <a16:creationId xmlns:a16="http://schemas.microsoft.com/office/drawing/2014/main" id="{D247334C-6068-4782-81A5-2555B3D14565}"/>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Lab 1 — Profile the system before changing it</a:t>
            </a:r>
          </a:p>
        </p:txBody>
      </p:sp>
      <p:sp>
        <p:nvSpPr>
          <p:cNvPr id="3" name="">
            <a:extLst xmlns:a="http://schemas.openxmlformats.org/drawingml/2006/main">
              <a:ext uri="{FF2B5EF4-FFF2-40B4-BE49-F238E27FC236}">
                <a16:creationId xmlns:a16="http://schemas.microsoft.com/office/drawing/2014/main" id="{5B7E1CFF-45E6-46A2-AC95-345A45864F6C}"/>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48BD663-E972-4A30-92C1-C04C99DD27E6}"/>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C00D4498-7AEF-4978-A0D4-A384B6DF2296}"/>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12</a:t>
            </a:r>
          </a:p>
        </p:txBody>
      </p:sp>
      <p:sp>
        <p:nvSpPr>
          <p:cNvPr id="6" name="">
            <a:extLst xmlns:a="http://schemas.openxmlformats.org/drawingml/2006/main">
              <a:ext uri="{FF2B5EF4-FFF2-40B4-BE49-F238E27FC236}">
                <a16:creationId xmlns:a16="http://schemas.microsoft.com/office/drawing/2014/main" id="{324D7AA5-1B7A-46F0-B60D-AFDF7AA06C69}"/>
              </a:ext>
            </a:extLst>
          </p:cNvPr>
          <p:cNvSpPr>
            <a:spLocks xmlns:a="http://schemas.openxmlformats.org/drawingml/2006/main" noGrp="1"/>
          </p:cNvSpPr>
          <p:nvPr/>
        </p:nvSpPr>
        <p:spPr>
          <a:xfrm xmlns:a="http://schemas.openxmlformats.org/drawingml/2006/main">
            <a:off x="800100" y="17907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MISSION · 15 MIN</a:t>
            </a:r>
          </a:p>
        </p:txBody>
      </p:sp>
      <p:sp>
        <p:nvSpPr>
          <p:cNvPr id="7" name="">
            <a:extLst xmlns:a="http://schemas.openxmlformats.org/drawingml/2006/main">
              <a:ext uri="{FF2B5EF4-FFF2-40B4-BE49-F238E27FC236}">
                <a16:creationId xmlns:a16="http://schemas.microsoft.com/office/drawing/2014/main" id="{F9415872-9C11-409D-903F-82DFBD71123F}"/>
              </a:ext>
            </a:extLst>
          </p:cNvPr>
          <p:cNvSpPr>
            <a:spLocks xmlns:a="http://schemas.openxmlformats.org/drawingml/2006/main" noGrp="1"/>
          </p:cNvSpPr>
          <p:nvPr/>
        </p:nvSpPr>
        <p:spPr>
          <a:xfrm xmlns:a="http://schemas.openxmlformats.org/drawingml/2006/main">
            <a:off x="800100" y="2228850"/>
            <a:ext cx="4095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System orientation</a:t>
            </a:r>
          </a:p>
        </p:txBody>
      </p:sp>
      <p:sp>
        <p:nvSpPr>
          <p:cNvPr id="8" name="">
            <a:extLst xmlns:a="http://schemas.openxmlformats.org/drawingml/2006/main">
              <a:ext uri="{FF2B5EF4-FFF2-40B4-BE49-F238E27FC236}">
                <a16:creationId xmlns:a16="http://schemas.microsoft.com/office/drawing/2014/main" id="{AF5C6E71-8DD4-4FC1-BEE6-6BBC5B9C2F42}"/>
              </a:ext>
            </a:extLst>
          </p:cNvPr>
          <p:cNvSpPr>
            <a:spLocks xmlns:a="http://schemas.openxmlformats.org/drawingml/2006/main" noGrp="1"/>
          </p:cNvSpPr>
          <p:nvPr/>
        </p:nvSpPr>
        <p:spPr>
          <a:xfrm xmlns:a="http://schemas.openxmlformats.org/drawingml/2006/main">
            <a:off x="800100" y="3009900"/>
            <a:ext cx="4953000" cy="2190750"/>
          </a:xfrm>
          <a:prstGeom xmlns:a="http://schemas.openxmlformats.org/drawingml/2006/main" prst="roundRect">
            <a:avLst>
              <a:gd name="adj" fmla="val 6957"/>
            </a:avLst>
          </a:prstGeom>
          <a:solidFill xmlns:a="http://schemas.openxmlformats.org/drawingml/2006/main">
            <a:srgbClr val="28183A"/>
          </a:solidFill>
          <a:ln xmlns:a="http://schemas.openxmlformats.org/drawingml/2006/main" w="9525">
            <a:solidFill>
              <a:srgbClr val="4A335D"/>
            </a:solidFill>
            <a:prstDash val="solid"/>
          </a:ln>
        </p:spPr>
      </p:sp>
      <p:sp>
        <p:nvSpPr>
          <p:cNvPr id="9" name="">
            <a:extLst xmlns:a="http://schemas.openxmlformats.org/drawingml/2006/main">
              <a:ext uri="{FF2B5EF4-FFF2-40B4-BE49-F238E27FC236}">
                <a16:creationId xmlns:a16="http://schemas.microsoft.com/office/drawing/2014/main" id="{80367D35-5EDB-429E-922C-C046DC415680}"/>
              </a:ext>
            </a:extLst>
          </p:cNvPr>
          <p:cNvSpPr>
            <a:spLocks xmlns:a="http://schemas.openxmlformats.org/drawingml/2006/main" noGrp="1"/>
          </p:cNvSpPr>
          <p:nvPr/>
        </p:nvSpPr>
        <p:spPr>
          <a:xfrm xmlns:a="http://schemas.openxmlformats.org/drawingml/2006/main">
            <a:off x="800100" y="3009900"/>
            <a:ext cx="4953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CE8F602-67C2-43C8-AF34-A023C509094B}"/>
              </a:ext>
            </a:extLst>
          </p:cNvPr>
          <p:cNvSpPr>
            <a:spLocks xmlns:a="http://schemas.openxmlformats.org/drawingml/2006/main" noGrp="1"/>
          </p:cNvSpPr>
          <p:nvPr/>
        </p:nvSpPr>
        <p:spPr>
          <a:xfrm xmlns:a="http://schemas.openxmlformats.org/drawingml/2006/main">
            <a:off x="800100" y="3276600"/>
            <a:ext cx="4953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F7E26F0-5CC2-4A12-BDCC-1A06D14D095C}"/>
              </a:ext>
            </a:extLst>
          </p:cNvPr>
          <p:cNvSpPr>
            <a:spLocks xmlns:a="http://schemas.openxmlformats.org/drawingml/2006/main" noGrp="1"/>
          </p:cNvSpPr>
          <p:nvPr/>
        </p:nvSpPr>
        <p:spPr>
          <a:xfrm xmlns:a="http://schemas.openxmlformats.org/drawingml/2006/main">
            <a:off x="971550" y="31623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826F062-9D6E-4828-9B6B-EA58B274D004}"/>
              </a:ext>
            </a:extLst>
          </p:cNvPr>
          <p:cNvSpPr>
            <a:spLocks xmlns:a="http://schemas.openxmlformats.org/drawingml/2006/main" noGrp="1"/>
          </p:cNvSpPr>
          <p:nvPr/>
        </p:nvSpPr>
        <p:spPr>
          <a:xfrm xmlns:a="http://schemas.openxmlformats.org/drawingml/2006/main">
            <a:off x="1143000" y="31623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D6A8CEC-C44D-4259-82B1-364089D5F457}"/>
              </a:ext>
            </a:extLst>
          </p:cNvPr>
          <p:cNvSpPr>
            <a:spLocks xmlns:a="http://schemas.openxmlformats.org/drawingml/2006/main" noGrp="1"/>
          </p:cNvSpPr>
          <p:nvPr/>
        </p:nvSpPr>
        <p:spPr>
          <a:xfrm xmlns:a="http://schemas.openxmlformats.org/drawingml/2006/main">
            <a:off x="1314450" y="31623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48FAD2D-474C-4D7E-8D6B-08B0CD42FA19}"/>
              </a:ext>
            </a:extLst>
          </p:cNvPr>
          <p:cNvSpPr>
            <a:spLocks xmlns:a="http://schemas.openxmlformats.org/drawingml/2006/main" noGrp="1"/>
          </p:cNvSpPr>
          <p:nvPr/>
        </p:nvSpPr>
        <p:spPr>
          <a:xfrm xmlns:a="http://schemas.openxmlformats.org/drawingml/2006/main">
            <a:off x="1581150" y="31242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DELIVERABLES</a:t>
            </a:r>
          </a:p>
        </p:txBody>
      </p:sp>
      <p:sp>
        <p:nvSpPr>
          <p:cNvPr id="15" name="">
            <a:extLst xmlns:a="http://schemas.openxmlformats.org/drawingml/2006/main">
              <a:ext uri="{FF2B5EF4-FFF2-40B4-BE49-F238E27FC236}">
                <a16:creationId xmlns:a16="http://schemas.microsoft.com/office/drawing/2014/main" id="{AC61AC9D-DEB2-4D1D-9A32-C13A6D89E8B9}"/>
              </a:ext>
            </a:extLst>
          </p:cNvPr>
          <p:cNvSpPr>
            <a:spLocks xmlns:a="http://schemas.openxmlformats.org/drawingml/2006/main" noGrp="1"/>
          </p:cNvSpPr>
          <p:nvPr/>
        </p:nvSpPr>
        <p:spPr>
          <a:xfrm xmlns:a="http://schemas.openxmlformats.org/drawingml/2006/main">
            <a:off x="1028700" y="3581400"/>
            <a:ext cx="44958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Create ~/system-profile.txt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Create ~/path-map.txt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Derive every value from this seat</a:t>
            </a:r>
          </a:p>
        </p:txBody>
      </p:sp>
      <p:sp>
        <p:nvSpPr>
          <p:cNvPr id="16" name="">
            <a:extLst xmlns:a="http://schemas.openxmlformats.org/drawingml/2006/main">
              <a:ext uri="{FF2B5EF4-FFF2-40B4-BE49-F238E27FC236}">
                <a16:creationId xmlns:a16="http://schemas.microsoft.com/office/drawing/2014/main" id="{18FA52CE-1464-4ABC-8C2B-0417FBBC0443}"/>
              </a:ext>
            </a:extLst>
          </p:cNvPr>
          <p:cNvSpPr>
            <a:spLocks xmlns:a="http://schemas.openxmlformats.org/drawingml/2006/main" noGrp="1"/>
          </p:cNvSpPr>
          <p:nvPr/>
        </p:nvSpPr>
        <p:spPr>
          <a:xfrm xmlns:a="http://schemas.openxmlformats.org/drawingml/2006/main">
            <a:off x="6667500" y="17907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ACCEPTANCE EVIDENCE</a:t>
            </a:r>
          </a:p>
        </p:txBody>
      </p:sp>
      <p:sp>
        <p:nvSpPr>
          <p:cNvPr id="17" name="">
            <a:extLst xmlns:a="http://schemas.openxmlformats.org/drawingml/2006/main">
              <a:ext uri="{FF2B5EF4-FFF2-40B4-BE49-F238E27FC236}">
                <a16:creationId xmlns:a16="http://schemas.microsoft.com/office/drawing/2014/main" id="{3A11BCE1-4A2A-4883-A988-CD70CAA4FCAD}"/>
              </a:ext>
            </a:extLst>
          </p:cNvPr>
          <p:cNvSpPr>
            <a:spLocks xmlns:a="http://schemas.openxmlformats.org/drawingml/2006/main" noGrp="1"/>
          </p:cNvSpPr>
          <p:nvPr/>
        </p:nvSpPr>
        <p:spPr>
          <a:xfrm xmlns:a="http://schemas.openxmlformats.org/drawingml/2006/main">
            <a:off x="6667500" y="2228850"/>
            <a:ext cx="428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Checker requires</a:t>
            </a:r>
          </a:p>
        </p:txBody>
      </p:sp>
      <p:sp>
        <p:nvSpPr>
          <p:cNvPr id="18" name="">
            <a:extLst xmlns:a="http://schemas.openxmlformats.org/drawingml/2006/main">
              <a:ext uri="{FF2B5EF4-FFF2-40B4-BE49-F238E27FC236}">
                <a16:creationId xmlns:a16="http://schemas.microsoft.com/office/drawing/2014/main" id="{27F87451-D0E8-4D78-B5C3-D526E48F5BB7}"/>
              </a:ext>
            </a:extLst>
          </p:cNvPr>
          <p:cNvSpPr>
            <a:spLocks xmlns:a="http://schemas.openxmlformats.org/drawingml/2006/main" noGrp="1"/>
          </p:cNvSpPr>
          <p:nvPr/>
        </p:nvSpPr>
        <p:spPr>
          <a:xfrm xmlns:a="http://schemas.openxmlformats.org/drawingml/2006/main">
            <a:off x="6667500" y="3171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FD88F18-46B5-41BD-BFCA-8B5AAF8849FF}"/>
              </a:ext>
            </a:extLst>
          </p:cNvPr>
          <p:cNvSpPr>
            <a:spLocks xmlns:a="http://schemas.openxmlformats.org/drawingml/2006/main" noGrp="1"/>
          </p:cNvSpPr>
          <p:nvPr/>
        </p:nvSpPr>
        <p:spPr>
          <a:xfrm xmlns:a="http://schemas.openxmlformats.org/drawingml/2006/main">
            <a:off x="6934200" y="31051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Ubuntu, kernel, and architecture</a:t>
            </a:r>
          </a:p>
        </p:txBody>
      </p:sp>
      <p:sp>
        <p:nvSpPr>
          <p:cNvPr id="20" name="">
            <a:extLst xmlns:a="http://schemas.openxmlformats.org/drawingml/2006/main">
              <a:ext uri="{FF2B5EF4-FFF2-40B4-BE49-F238E27FC236}">
                <a16:creationId xmlns:a16="http://schemas.microsoft.com/office/drawing/2014/main" id="{B3D28E46-FE52-45D5-8EA1-BF10770E6C54}"/>
              </a:ext>
            </a:extLst>
          </p:cNvPr>
          <p:cNvSpPr>
            <a:spLocks xmlns:a="http://schemas.openxmlformats.org/drawingml/2006/main" noGrp="1"/>
          </p:cNvSpPr>
          <p:nvPr/>
        </p:nvSpPr>
        <p:spPr>
          <a:xfrm xmlns:a="http://schemas.openxmlformats.org/drawingml/2006/main">
            <a:off x="6667500" y="37433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3C2B25C-6BDE-4AAB-904E-0F15113DF0D2}"/>
              </a:ext>
            </a:extLst>
          </p:cNvPr>
          <p:cNvSpPr>
            <a:spLocks xmlns:a="http://schemas.openxmlformats.org/drawingml/2006/main" noGrp="1"/>
          </p:cNvSpPr>
          <p:nvPr/>
        </p:nvSpPr>
        <p:spPr>
          <a:xfrm xmlns:a="http://schemas.openxmlformats.org/drawingml/2006/main">
            <a:off x="6934200" y="36766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PID 1 is systemd</a:t>
            </a:r>
          </a:p>
        </p:txBody>
      </p:sp>
      <p:sp>
        <p:nvSpPr>
          <p:cNvPr id="22" name="">
            <a:extLst xmlns:a="http://schemas.openxmlformats.org/drawingml/2006/main">
              <a:ext uri="{FF2B5EF4-FFF2-40B4-BE49-F238E27FC236}">
                <a16:creationId xmlns:a16="http://schemas.microsoft.com/office/drawing/2014/main" id="{2E701848-E1C5-4F87-8279-E3EBE384F7A9}"/>
              </a:ext>
            </a:extLst>
          </p:cNvPr>
          <p:cNvSpPr>
            <a:spLocks xmlns:a="http://schemas.openxmlformats.org/drawingml/2006/main" noGrp="1"/>
          </p:cNvSpPr>
          <p:nvPr/>
        </p:nvSpPr>
        <p:spPr>
          <a:xfrm xmlns:a="http://schemas.openxmlformats.org/drawingml/2006/main">
            <a:off x="6667500" y="4314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09B7F9F-1914-4FC1-9251-2A3E490D832A}"/>
              </a:ext>
            </a:extLst>
          </p:cNvPr>
          <p:cNvSpPr>
            <a:spLocks xmlns:a="http://schemas.openxmlformats.org/drawingml/2006/main" noGrp="1"/>
          </p:cNvSpPr>
          <p:nvPr/>
        </p:nvSpPr>
        <p:spPr>
          <a:xfrm xmlns:a="http://schemas.openxmlformats.org/drawingml/2006/main">
            <a:off x="6934200" y="42481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/etc, /var/log, and /run exist</a:t>
            </a:r>
          </a:p>
        </p:txBody>
      </p:sp>
      <p:sp>
        <p:nvSpPr>
          <p:cNvPr id="24" name="">
            <a:extLst xmlns:a="http://schemas.openxmlformats.org/drawingml/2006/main">
              <a:ext uri="{FF2B5EF4-FFF2-40B4-BE49-F238E27FC236}">
                <a16:creationId xmlns:a16="http://schemas.microsoft.com/office/drawing/2014/main" id="{B139B5F9-EFF3-4E76-9E50-53E4221E0BC5}"/>
              </a:ext>
            </a:extLst>
          </p:cNvPr>
          <p:cNvSpPr>
            <a:spLocks xmlns:a="http://schemas.openxmlformats.org/drawingml/2006/main" noGrp="1"/>
          </p:cNvSpPr>
          <p:nvPr/>
        </p:nvSpPr>
        <p:spPr>
          <a:xfrm xmlns:a="http://schemas.openxmlformats.org/drawingml/2006/main">
            <a:off x="6667500" y="48863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1629B6F-E8A2-4282-9017-3DE5C9ABE668}"/>
              </a:ext>
            </a:extLst>
          </p:cNvPr>
          <p:cNvSpPr>
            <a:spLocks xmlns:a="http://schemas.openxmlformats.org/drawingml/2006/main" noGrp="1"/>
          </p:cNvSpPr>
          <p:nvPr/>
        </p:nvSpPr>
        <p:spPr>
          <a:xfrm xmlns:a="http://schemas.openxmlformats.org/drawingml/2006/main">
            <a:off x="6934200" y="48196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No guessed values</a:t>
            </a:r>
          </a:p>
        </p:txBody>
      </p:sp>
      <p:sp>
        <p:nvSpPr>
          <p:cNvPr id="26" name="">
            <a:extLst xmlns:a="http://schemas.openxmlformats.org/drawingml/2006/main">
              <a:ext uri="{FF2B5EF4-FFF2-40B4-BE49-F238E27FC236}">
                <a16:creationId xmlns:a16="http://schemas.microsoft.com/office/drawing/2014/main" id="{31BF24E7-ED3D-4226-A7DC-0713BF70C771}"/>
              </a:ext>
            </a:extLst>
          </p:cNvPr>
          <p:cNvSpPr>
            <a:spLocks xmlns:a="http://schemas.openxmlformats.org/drawingml/2006/main" noGrp="1"/>
          </p:cNvSpPr>
          <p:nvPr/>
        </p:nvSpPr>
        <p:spPr>
          <a:xfrm xmlns:a="http://schemas.openxmlformats.org/drawingml/2006/main">
            <a:off x="800100" y="5600700"/>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1" i="0">
                <a:solidFill>
                  <a:srgbClr val="8B5CF6"/>
                </a:solidFill>
                <a:latin typeface="Aptos"/>
                <a:ea typeface="Aptos"/>
                <a:cs typeface="Aptos"/>
              </a:defRPr>
            </a:pPr>
            <a:r>
              <a:rPr sz="1650" b="1" i="0">
                <a:solidFill>
                  <a:srgbClr val="8B5CF6"/>
                </a:solidFill>
                <a:latin typeface="Aptos"/>
                <a:ea typeface="Aptos"/>
                <a:cs typeface="Aptos"/>
              </a:rPr>
              <a:t>Debrief: which fact describes user space, and which describes the kernel?</a:t>
            </a:r>
          </a:p>
        </p:txBody>
      </p:sp>
    </p:spTree>
    <p:extLst>
      <p:ext uri="{BB962C8B-B14F-4D97-AF65-F5344CB8AC3E}">
        <p14:creationId xmlns:p14="http://schemas.microsoft.com/office/powerpoint/2010/main" val="276205261"/>
      </p:ext>
    </p:extLst>
  </p:cSld>
</p:sld>
</file>

<file path=ppt/slides/slide1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DISTRIBUTIONS</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80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Core operating questions transfer across distributions</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13</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Locate</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Change</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Verify</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Where am I?</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Which host?</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Which user?</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Which file or unit?</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Predict one state</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Use narrow privilege</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Make one edit</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Capture exit status</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Inspect resulting state</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Read relevant logs</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Test intended identity</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Prove behavior</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Tools differ; the evidence loop remains stable.</a:t>
            </a:r>
          </a:p>
        </p:txBody>
      </p:sp>
    </p:spTree>
    <p:extLst>
      <p:ext uri="{BB962C8B-B14F-4D97-AF65-F5344CB8AC3E}">
        <p14:creationId xmlns:p14="http://schemas.microsoft.com/office/powerpoint/2010/main" val="281690250"/>
      </p:ext>
    </p:extLst>
  </p:cSld>
</p:sld>
</file>

<file path=ppt/slides/slide14.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595"/>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Most investigations begin at five filesystem anchors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14</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one root; every absolute path starts here</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/etc</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host-specific configuration</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/home</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human users’ files</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/var</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changing data: logs, caches, queues</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/usr</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installed programs, libraries, shared data</a:t>
            </a:r>
          </a:p>
        </p:txBody>
      </p:sp>
    </p:spTree>
    <p:extLst>
      <p:ext uri="{BB962C8B-B14F-4D97-AF65-F5344CB8AC3E}">
        <p14:creationId xmlns:p14="http://schemas.microsoft.com/office/powerpoint/2010/main" val="1018217464"/>
      </p:ext>
    </p:extLst>
  </p:cSld>
</p:sld>
</file>

<file path=ppt/slides/slide15.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629"/>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Filesystem paths express intent, not physical disks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15</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the root of the visible namespace</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Mount</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attach another filesystem at a directory</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Path</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a route through directory entries</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File</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a name referring to an inode-like object</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Metadata</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owner, mode, timestamps, size, and type</a:t>
            </a:r>
          </a:p>
        </p:txBody>
      </p:sp>
    </p:spTree>
    <p:extLst>
      <p:ext uri="{BB962C8B-B14F-4D97-AF65-F5344CB8AC3E}">
        <p14:creationId xmlns:p14="http://schemas.microsoft.com/office/powerpoint/2010/main" val="1018217464"/>
      </p:ext>
    </p:extLst>
  </p:cSld>
</p:sld>
</file>

<file path=ppt/slides/slide16.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21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The hierarchy separates configuration, data, and runtime state</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16</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Configuration</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Persistent data</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Runtime state</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/etc host settings</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/usr shipped defaults</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Prefer drop-ins</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Track intentional edits</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/home user files</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/var changing service data</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/srv served content</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/opt optional software</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/run since boot</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/tmp temporary files</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/proc process views</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/sys device and kernel views</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Directory purpose helps you search before you know an exact filename.</a:t>
            </a:r>
          </a:p>
        </p:txBody>
      </p:sp>
    </p:spTree>
    <p:extLst>
      <p:ext uri="{BB962C8B-B14F-4D97-AF65-F5344CB8AC3E}">
        <p14:creationId xmlns:p14="http://schemas.microsoft.com/office/powerpoint/2010/main" val="281690250"/>
      </p:ext>
    </p:extLst>
  </p:cSld>
</p:sld>
</file>

<file path=ppt/slides/slide17.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/proc and /sys expose live kernel state</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17</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/proc</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732"/>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process + kernel state</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PID directories describe processes</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cpuinfo and meminfo expose summaries</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Values may change between reads</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/sys</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977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devices + kernel objects</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Hardware and driver relationships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Many tunables are writable by root</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Changes can affect the running system</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Read freely; write only with a documented reason.</a:t>
            </a:r>
          </a:p>
        </p:txBody>
      </p:sp>
    </p:spTree>
    <p:extLst>
      <p:ext uri="{BB962C8B-B14F-4D97-AF65-F5344CB8AC3E}">
        <p14:creationId xmlns:p14="http://schemas.microsoft.com/office/powerpoint/2010/main" val="1882871272"/>
      </p:ext>
    </p:extLst>
  </p:cSld>
</p:sld>
</file>

<file path=ppt/slides/slide1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BCC5768E-45BE-41F0-B539-1072BB5C3F55}"/>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67086554-197A-4FF7-A820-2F233BF52FE6}"/>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098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Paths are coordinates; your working directory is the origin</a:t>
            </a:r>
          </a:p>
        </p:txBody>
      </p:sp>
      <p:sp>
        <p:nvSpPr>
          <p:cNvPr id="3" name="">
            <a:extLst xmlns:a="http://schemas.openxmlformats.org/drawingml/2006/main">
              <a:ext uri="{FF2B5EF4-FFF2-40B4-BE49-F238E27FC236}">
                <a16:creationId xmlns:a16="http://schemas.microsoft.com/office/drawing/2014/main" id="{2FE6E035-9B4C-404A-8BF9-EE20C98A3B2C}"/>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AC941DF-DA7B-4EB5-9303-8C9E63C135EE}"/>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09B0D4B-1F03-464F-A167-63296133DF80}"/>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18</a:t>
            </a:r>
          </a:p>
        </p:txBody>
      </p:sp>
      <p:sp>
        <p:nvSpPr>
          <p:cNvPr id="6" name="">
            <a:extLst xmlns:a="http://schemas.openxmlformats.org/drawingml/2006/main">
              <a:ext uri="{FF2B5EF4-FFF2-40B4-BE49-F238E27FC236}">
                <a16:creationId xmlns:a16="http://schemas.microsoft.com/office/drawing/2014/main" id="{C4F5740A-02D3-46A0-9699-235184023C1F}"/>
              </a:ext>
            </a:extLst>
          </p:cNvPr>
          <p:cNvSpPr>
            <a:spLocks xmlns:a="http://schemas.openxmlformats.org/drawingml/2006/main" noGrp="1"/>
          </p:cNvSpPr>
          <p:nvPr/>
        </p:nvSpPr>
        <p:spPr>
          <a:xfrm xmlns:a="http://schemas.openxmlformats.org/drawingml/2006/main">
            <a:off x="800100" y="18288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ABSOLUTE</a:t>
            </a:r>
          </a:p>
        </p:txBody>
      </p:sp>
      <p:sp>
        <p:nvSpPr>
          <p:cNvPr id="7" name="">
            <a:extLst xmlns:a="http://schemas.openxmlformats.org/drawingml/2006/main">
              <a:ext uri="{FF2B5EF4-FFF2-40B4-BE49-F238E27FC236}">
                <a16:creationId xmlns:a16="http://schemas.microsoft.com/office/drawing/2014/main" id="{B293A1B5-A92E-4BF4-B61E-07406452A339}"/>
              </a:ext>
            </a:extLst>
          </p:cNvPr>
          <p:cNvSpPr>
            <a:spLocks xmlns:a="http://schemas.openxmlformats.org/drawingml/2006/main" noGrp="1"/>
          </p:cNvSpPr>
          <p:nvPr/>
        </p:nvSpPr>
        <p:spPr>
          <a:xfrm xmlns:a="http://schemas.openxmlformats.org/drawingml/2006/main">
            <a:off x="800100" y="2238375"/>
            <a:ext cx="4762500" cy="1428750"/>
          </a:xfrm>
          <a:prstGeom xmlns:a="http://schemas.openxmlformats.org/drawingml/2006/main" prst="roundRect">
            <a:avLst>
              <a:gd name="adj" fmla="val 10667"/>
            </a:avLst>
          </a:prstGeom>
          <a:solidFill xmlns:a="http://schemas.openxmlformats.org/drawingml/2006/main">
            <a:srgbClr val="28183A"/>
          </a:solidFill>
          <a:ln xmlns:a="http://schemas.openxmlformats.org/drawingml/2006/main" w="9525">
            <a:solidFill>
              <a:srgbClr val="4A335D"/>
            </a:solidFill>
            <a:prstDash val="solid"/>
          </a:ln>
        </p:spPr>
      </p:sp>
      <p:sp>
        <p:nvSpPr>
          <p:cNvPr id="8" name="">
            <a:extLst xmlns:a="http://schemas.openxmlformats.org/drawingml/2006/main">
              <a:ext uri="{FF2B5EF4-FFF2-40B4-BE49-F238E27FC236}">
                <a16:creationId xmlns:a16="http://schemas.microsoft.com/office/drawing/2014/main" id="{D72EC62E-CA73-4AC0-853C-99CB22C21876}"/>
              </a:ext>
            </a:extLst>
          </p:cNvPr>
          <p:cNvSpPr>
            <a:spLocks xmlns:a="http://schemas.openxmlformats.org/drawingml/2006/main" noGrp="1"/>
          </p:cNvSpPr>
          <p:nvPr/>
        </p:nvSpPr>
        <p:spPr>
          <a:xfrm xmlns:a="http://schemas.openxmlformats.org/drawingml/2006/main">
            <a:off x="800100" y="2238375"/>
            <a:ext cx="47625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B8632EA-168C-4CED-9D7D-0F7CFA23BADA}"/>
              </a:ext>
            </a:extLst>
          </p:cNvPr>
          <p:cNvSpPr>
            <a:spLocks xmlns:a="http://schemas.openxmlformats.org/drawingml/2006/main" noGrp="1"/>
          </p:cNvSpPr>
          <p:nvPr/>
        </p:nvSpPr>
        <p:spPr>
          <a:xfrm xmlns:a="http://schemas.openxmlformats.org/drawingml/2006/main">
            <a:off x="800100" y="2505075"/>
            <a:ext cx="47625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58493A0-0D8E-40E6-80E6-0543388FB4F7}"/>
              </a:ext>
            </a:extLst>
          </p:cNvPr>
          <p:cNvSpPr>
            <a:spLocks xmlns:a="http://schemas.openxmlformats.org/drawingml/2006/main" noGrp="1"/>
          </p:cNvSpPr>
          <p:nvPr/>
        </p:nvSpPr>
        <p:spPr>
          <a:xfrm xmlns:a="http://schemas.openxmlformats.org/drawingml/2006/main">
            <a:off x="971550" y="2390775"/>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AEAF90B-5BE5-40D3-938F-CACB66A24160}"/>
              </a:ext>
            </a:extLst>
          </p:cNvPr>
          <p:cNvSpPr>
            <a:spLocks xmlns:a="http://schemas.openxmlformats.org/drawingml/2006/main" noGrp="1"/>
          </p:cNvSpPr>
          <p:nvPr/>
        </p:nvSpPr>
        <p:spPr>
          <a:xfrm xmlns:a="http://schemas.openxmlformats.org/drawingml/2006/main">
            <a:off x="1143000" y="2390775"/>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C536AC3-7FF9-47F9-88C4-E41C6E54BC72}"/>
              </a:ext>
            </a:extLst>
          </p:cNvPr>
          <p:cNvSpPr>
            <a:spLocks xmlns:a="http://schemas.openxmlformats.org/drawingml/2006/main" noGrp="1"/>
          </p:cNvSpPr>
          <p:nvPr/>
        </p:nvSpPr>
        <p:spPr>
          <a:xfrm xmlns:a="http://schemas.openxmlformats.org/drawingml/2006/main">
            <a:off x="1314450" y="23907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C7D457F-7464-40C0-AF46-5AFA4F091ACD}"/>
              </a:ext>
            </a:extLst>
          </p:cNvPr>
          <p:cNvSpPr>
            <a:spLocks xmlns:a="http://schemas.openxmlformats.org/drawingml/2006/main" noGrp="1"/>
          </p:cNvSpPr>
          <p:nvPr/>
        </p:nvSpPr>
        <p:spPr>
          <a:xfrm xmlns:a="http://schemas.openxmlformats.org/drawingml/2006/main">
            <a:off x="1581150" y="2352675"/>
            <a:ext cx="381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STARTS AT /</a:t>
            </a:r>
          </a:p>
        </p:txBody>
      </p:sp>
      <p:sp>
        <p:nvSpPr>
          <p:cNvPr id="14" name="">
            <a:extLst xmlns:a="http://schemas.openxmlformats.org/drawingml/2006/main">
              <a:ext uri="{FF2B5EF4-FFF2-40B4-BE49-F238E27FC236}">
                <a16:creationId xmlns:a16="http://schemas.microsoft.com/office/drawing/2014/main" id="{5757AA32-49CE-4508-8F40-5D929DDD8266}"/>
              </a:ext>
            </a:extLst>
          </p:cNvPr>
          <p:cNvSpPr>
            <a:spLocks xmlns:a="http://schemas.openxmlformats.org/drawingml/2006/main" noGrp="1"/>
          </p:cNvSpPr>
          <p:nvPr/>
        </p:nvSpPr>
        <p:spPr>
          <a:xfrm xmlns:a="http://schemas.openxmlformats.org/drawingml/2006/main">
            <a:off x="1028700" y="2809875"/>
            <a:ext cx="4305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/var/log/syslog</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/etc/ssh/sshd_config</a:t>
            </a:r>
          </a:p>
        </p:txBody>
      </p:sp>
      <p:sp>
        <p:nvSpPr>
          <p:cNvPr id="15" name="">
            <a:extLst xmlns:a="http://schemas.openxmlformats.org/drawingml/2006/main">
              <a:ext uri="{FF2B5EF4-FFF2-40B4-BE49-F238E27FC236}">
                <a16:creationId xmlns:a16="http://schemas.microsoft.com/office/drawing/2014/main" id="{DA2CA41D-B5B5-4EC2-AE36-D073541D80D8}"/>
              </a:ext>
            </a:extLst>
          </p:cNvPr>
          <p:cNvSpPr>
            <a:spLocks xmlns:a="http://schemas.openxmlformats.org/drawingml/2006/main" noGrp="1"/>
          </p:cNvSpPr>
          <p:nvPr/>
        </p:nvSpPr>
        <p:spPr>
          <a:xfrm xmlns:a="http://schemas.openxmlformats.org/drawingml/2006/main">
            <a:off x="800100" y="3886200"/>
            <a:ext cx="4762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Works from anywhere because it begins at the root.</a:t>
            </a:r>
          </a:p>
        </p:txBody>
      </p:sp>
      <p:sp>
        <p:nvSpPr>
          <p:cNvPr id="16" name="">
            <a:extLst xmlns:a="http://schemas.openxmlformats.org/drawingml/2006/main">
              <a:ext uri="{FF2B5EF4-FFF2-40B4-BE49-F238E27FC236}">
                <a16:creationId xmlns:a16="http://schemas.microsoft.com/office/drawing/2014/main" id="{7D9B4C44-6B35-4F7A-A9FB-1DC868590F6E}"/>
              </a:ext>
            </a:extLst>
          </p:cNvPr>
          <p:cNvSpPr>
            <a:spLocks xmlns:a="http://schemas.openxmlformats.org/drawingml/2006/main" noGrp="1"/>
          </p:cNvSpPr>
          <p:nvPr/>
        </p:nvSpPr>
        <p:spPr>
          <a:xfrm xmlns:a="http://schemas.openxmlformats.org/drawingml/2006/main">
            <a:off x="6629400" y="18288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RELATIVE</a:t>
            </a:r>
          </a:p>
        </p:txBody>
      </p:sp>
      <p:sp>
        <p:nvSpPr>
          <p:cNvPr id="17" name="">
            <a:extLst xmlns:a="http://schemas.openxmlformats.org/drawingml/2006/main">
              <a:ext uri="{FF2B5EF4-FFF2-40B4-BE49-F238E27FC236}">
                <a16:creationId xmlns:a16="http://schemas.microsoft.com/office/drawing/2014/main" id="{CF0F774C-3ACB-449E-B2AF-551A0404D266}"/>
              </a:ext>
            </a:extLst>
          </p:cNvPr>
          <p:cNvSpPr>
            <a:spLocks xmlns:a="http://schemas.openxmlformats.org/drawingml/2006/main" noGrp="1"/>
          </p:cNvSpPr>
          <p:nvPr/>
        </p:nvSpPr>
        <p:spPr>
          <a:xfrm xmlns:a="http://schemas.openxmlformats.org/drawingml/2006/main">
            <a:off x="6629400" y="2238375"/>
            <a:ext cx="4762500" cy="1428750"/>
          </a:xfrm>
          <a:prstGeom xmlns:a="http://schemas.openxmlformats.org/drawingml/2006/main" prst="roundRect">
            <a:avLst>
              <a:gd name="adj" fmla="val 10667"/>
            </a:avLst>
          </a:prstGeom>
          <a:solidFill xmlns:a="http://schemas.openxmlformats.org/drawingml/2006/main">
            <a:srgbClr val="28183A"/>
          </a:solidFill>
          <a:ln xmlns:a="http://schemas.openxmlformats.org/drawingml/2006/main" w="9525">
            <a:solidFill>
              <a:srgbClr val="4A335D"/>
            </a:solidFill>
            <a:prstDash val="solid"/>
          </a:ln>
        </p:spPr>
      </p:sp>
      <p:sp>
        <p:nvSpPr>
          <p:cNvPr id="18" name="">
            <a:extLst xmlns:a="http://schemas.openxmlformats.org/drawingml/2006/main">
              <a:ext uri="{FF2B5EF4-FFF2-40B4-BE49-F238E27FC236}">
                <a16:creationId xmlns:a16="http://schemas.microsoft.com/office/drawing/2014/main" id="{3A628D2D-90D8-4BB6-BEE8-51306E5198D8}"/>
              </a:ext>
            </a:extLst>
          </p:cNvPr>
          <p:cNvSpPr>
            <a:spLocks xmlns:a="http://schemas.openxmlformats.org/drawingml/2006/main" noGrp="1"/>
          </p:cNvSpPr>
          <p:nvPr/>
        </p:nvSpPr>
        <p:spPr>
          <a:xfrm xmlns:a="http://schemas.openxmlformats.org/drawingml/2006/main">
            <a:off x="6629400" y="2238375"/>
            <a:ext cx="47625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92150E5-3D4A-43D3-8768-B3D1AC1F6B4F}"/>
              </a:ext>
            </a:extLst>
          </p:cNvPr>
          <p:cNvSpPr>
            <a:spLocks xmlns:a="http://schemas.openxmlformats.org/drawingml/2006/main" noGrp="1"/>
          </p:cNvSpPr>
          <p:nvPr/>
        </p:nvSpPr>
        <p:spPr>
          <a:xfrm xmlns:a="http://schemas.openxmlformats.org/drawingml/2006/main">
            <a:off x="6629400" y="2505075"/>
            <a:ext cx="47625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0E8506D-19FB-4C70-A2CC-8561DCD87BC1}"/>
              </a:ext>
            </a:extLst>
          </p:cNvPr>
          <p:cNvSpPr>
            <a:spLocks xmlns:a="http://schemas.openxmlformats.org/drawingml/2006/main" noGrp="1"/>
          </p:cNvSpPr>
          <p:nvPr/>
        </p:nvSpPr>
        <p:spPr>
          <a:xfrm xmlns:a="http://schemas.openxmlformats.org/drawingml/2006/main">
            <a:off x="6800850" y="2390775"/>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75F0F48-468F-4446-81A3-B51CB1D2E630}"/>
              </a:ext>
            </a:extLst>
          </p:cNvPr>
          <p:cNvSpPr>
            <a:spLocks xmlns:a="http://schemas.openxmlformats.org/drawingml/2006/main" noGrp="1"/>
          </p:cNvSpPr>
          <p:nvPr/>
        </p:nvSpPr>
        <p:spPr>
          <a:xfrm xmlns:a="http://schemas.openxmlformats.org/drawingml/2006/main">
            <a:off x="6972300" y="2390775"/>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A4CF8A68-86A9-44D8-A0DF-DBAE68A7F5A3}"/>
              </a:ext>
            </a:extLst>
          </p:cNvPr>
          <p:cNvSpPr>
            <a:spLocks xmlns:a="http://schemas.openxmlformats.org/drawingml/2006/main" noGrp="1"/>
          </p:cNvSpPr>
          <p:nvPr/>
        </p:nvSpPr>
        <p:spPr>
          <a:xfrm xmlns:a="http://schemas.openxmlformats.org/drawingml/2006/main">
            <a:off x="7143750" y="23907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0551AED-C225-436D-A0F2-ED717F590AED}"/>
              </a:ext>
            </a:extLst>
          </p:cNvPr>
          <p:cNvSpPr>
            <a:spLocks xmlns:a="http://schemas.openxmlformats.org/drawingml/2006/main" noGrp="1"/>
          </p:cNvSpPr>
          <p:nvPr/>
        </p:nvSpPr>
        <p:spPr>
          <a:xfrm xmlns:a="http://schemas.openxmlformats.org/drawingml/2006/main">
            <a:off x="7410450" y="2352675"/>
            <a:ext cx="381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8B5CF6"/>
                </a:solidFill>
                <a:latin typeface="Aptos"/>
                <a:ea typeface="Aptos"/>
                <a:cs typeface="Aptos"/>
              </a:defRPr>
            </a:pPr>
            <a:r>
              <a:rPr sz="900" b="1" i="0">
                <a:solidFill>
                  <a:srgbClr val="8B5CF6"/>
                </a:solidFill>
                <a:latin typeface="Aptos"/>
                <a:ea typeface="Aptos"/>
                <a:cs typeface="Aptos"/>
              </a:rPr>
              <a:t>STARTS AT pwd</a:t>
            </a:r>
          </a:p>
        </p:txBody>
      </p:sp>
      <p:sp>
        <p:nvSpPr>
          <p:cNvPr id="24" name="">
            <a:extLst xmlns:a="http://schemas.openxmlformats.org/drawingml/2006/main">
              <a:ext uri="{FF2B5EF4-FFF2-40B4-BE49-F238E27FC236}">
                <a16:creationId xmlns:a16="http://schemas.microsoft.com/office/drawing/2014/main" id="{545E76AD-DEBA-415B-8C4E-D2054B5B26B1}"/>
              </a:ext>
            </a:extLst>
          </p:cNvPr>
          <p:cNvSpPr>
            <a:spLocks xmlns:a="http://schemas.openxmlformats.org/drawingml/2006/main" noGrp="1"/>
          </p:cNvSpPr>
          <p:nvPr/>
        </p:nvSpPr>
        <p:spPr>
          <a:xfrm xmlns:a="http://schemas.openxmlformats.org/drawingml/2006/main">
            <a:off x="6858000" y="2809875"/>
            <a:ext cx="4305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../archive/report.txt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./scripts/check.sh</a:t>
            </a:r>
          </a:p>
        </p:txBody>
      </p:sp>
      <p:sp>
        <p:nvSpPr>
          <p:cNvPr id="25" name="">
            <a:extLst xmlns:a="http://schemas.openxmlformats.org/drawingml/2006/main">
              <a:ext uri="{FF2B5EF4-FFF2-40B4-BE49-F238E27FC236}">
                <a16:creationId xmlns:a16="http://schemas.microsoft.com/office/drawing/2014/main" id="{30713A14-539B-4595-B4D0-294A2D581E3E}"/>
              </a:ext>
            </a:extLst>
          </p:cNvPr>
          <p:cNvSpPr>
            <a:spLocks xmlns:a="http://schemas.openxmlformats.org/drawingml/2006/main" noGrp="1"/>
          </p:cNvSpPr>
          <p:nvPr/>
        </p:nvSpPr>
        <p:spPr>
          <a:xfrm xmlns:a="http://schemas.openxmlformats.org/drawingml/2006/main">
            <a:off x="6629400" y="3886200"/>
            <a:ext cx="4762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Meaning changes when your working directory changes.</a:t>
            </a:r>
          </a:p>
        </p:txBody>
      </p:sp>
      <p:sp>
        <p:nvSpPr>
          <p:cNvPr id="26" name="">
            <a:extLst xmlns:a="http://schemas.openxmlformats.org/drawingml/2006/main">
              <a:ext uri="{FF2B5EF4-FFF2-40B4-BE49-F238E27FC236}">
                <a16:creationId xmlns:a16="http://schemas.microsoft.com/office/drawing/2014/main" id="{3492CAE8-C60A-4AA9-B289-84B66A75A25A}"/>
              </a:ext>
            </a:extLst>
          </p:cNvPr>
          <p:cNvSpPr>
            <a:spLocks xmlns:a="http://schemas.openxmlformats.org/drawingml/2006/main" noGrp="1"/>
          </p:cNvSpPr>
          <p:nvPr/>
        </p:nvSpPr>
        <p:spPr>
          <a:xfrm xmlns:a="http://schemas.openxmlformats.org/drawingml/2006/main">
            <a:off x="800100" y="4953000"/>
            <a:ext cx="10591800" cy="704850"/>
          </a:xfrm>
          <a:prstGeom xmlns:a="http://schemas.openxmlformats.org/drawingml/2006/main" prst="roundRect">
            <a:avLst>
              <a:gd name="adj" fmla="val 10811"/>
            </a:avLst>
          </a:prstGeom>
          <a:solidFill xmlns:a="http://schemas.openxmlformats.org/drawingml/2006/main">
            <a:srgbClr val="EEE4F3"/>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D5E2258-4AB1-4050-BA67-A9CEEDC12658}"/>
              </a:ext>
            </a:extLst>
          </p:cNvPr>
          <p:cNvSpPr>
            <a:spLocks xmlns:a="http://schemas.openxmlformats.org/drawingml/2006/main" noGrp="1"/>
          </p:cNvSpPr>
          <p:nvPr/>
        </p:nvSpPr>
        <p:spPr>
          <a:xfrm xmlns:a="http://schemas.openxmlformats.org/drawingml/2006/main">
            <a:off x="1066800" y="5162550"/>
            <a:ext cx="10058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160B20"/>
                </a:solidFill>
                <a:latin typeface="Aptos"/>
                <a:ea typeface="Aptos"/>
                <a:cs typeface="Aptos"/>
              </a:defRPr>
            </a:pPr>
            <a:r>
              <a:rPr sz="1875" b="1" i="0">
                <a:solidFill>
                  <a:srgbClr val="160B20"/>
                </a:solidFill>
                <a:latin typeface="Aptos"/>
                <a:ea typeface="Aptos"/>
                <a:cs typeface="Aptos"/>
              </a:rPr>
              <a:t>Safety check: pwd → inspect the target → change it → verify the result</a:t>
            </a:r>
          </a:p>
        </p:txBody>
      </p:sp>
    </p:spTree>
    <p:extLst>
      <p:ext uri="{BB962C8B-B14F-4D97-AF65-F5344CB8AC3E}">
        <p14:creationId xmlns:p14="http://schemas.microsoft.com/office/powerpoint/2010/main" val="1478727912"/>
      </p:ext>
    </p:extLst>
  </p:cSld>
</p:sld>
</file>

<file path=ppt/slides/slide19.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Path syntax has a small, precise vocabulary</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19</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/name</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absolute: begin at root</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name</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relative: begin at the working directory</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the current directory</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the parent directory</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shell expands to user's home</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name/</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4846"/>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directory path; trailing slash clarifies intent</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2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Hidden names are a convention, not protection</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20</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NORMAL LISTING</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ls</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Omits names beginning with dot</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Keeps routine output quieter</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Permissions are unchanged</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ALL ENTRIES</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ls -la</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Shows dotfiles and metadata</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Useful for .ssh and configuration</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Still governed by directory access</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A dot changes default visibility; permissions control access.</a:t>
            </a:r>
          </a:p>
        </p:txBody>
      </p:sp>
    </p:spTree>
    <p:extLst>
      <p:ext uri="{BB962C8B-B14F-4D97-AF65-F5344CB8AC3E}">
        <p14:creationId xmlns:p14="http://schemas.microsoft.com/office/powerpoint/2010/main" val="1882871272"/>
      </p:ext>
    </p:extLst>
  </p:cSld>
</p:sld>
</file>

<file path=ppt/slides/slide21.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The first character of ls -l identifies object type</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21</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regular file</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d</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directory</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l</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symbolic link</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c / b</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character or block device</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Unix-domain socket</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named pipe</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2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563"/>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Hard links and symbolic links fail in different ways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22</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HARD LINK</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another name</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Points to the same inode</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Usually cannot cross filesystems</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Data remains until last link is removed</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SYMBOLIC LINK</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stored path</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 cross filesystems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 point to a directory</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 become dangling</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Inspect with ls -li and readlink before changing links.</a:t>
            </a:r>
          </a:p>
        </p:txBody>
      </p:sp>
    </p:spTree>
    <p:extLst>
      <p:ext uri="{BB962C8B-B14F-4D97-AF65-F5344CB8AC3E}">
        <p14:creationId xmlns:p14="http://schemas.microsoft.com/office/powerpoint/2010/main" val="1882871272"/>
      </p:ext>
    </p:extLst>
  </p:cSld>
</p:sld>
</file>

<file path=ppt/slides/slide23.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 / PATHS</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Globs expand before the command starts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23</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zero or more characters except leading dot</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exactly one character</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[ab]</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one character from a set</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[0-9]</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one character in a range</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Quoted glob</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literal pattern; no pathname expansion</a:t>
            </a:r>
          </a:p>
        </p:txBody>
      </p:sp>
    </p:spTree>
    <p:extLst>
      <p:ext uri="{BB962C8B-B14F-4D97-AF65-F5344CB8AC3E}">
        <p14:creationId xmlns:p14="http://schemas.microsoft.com/office/powerpoint/2010/main" val="1018217464"/>
      </p:ext>
    </p:extLst>
  </p:cSld>
</p:sld>
</file>

<file path=ppt/slides/slide24.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Inspect targets before changing files</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24</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Locate</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pwd and realpath</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Enumerate</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printf or find the exact targets</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Predict</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state the expected names and count</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Change</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cp, mv, or rm with narrow scope</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Verify</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list, compare, or test the result</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Interactive flags help, but a verified target list is stronger.</a:t>
            </a:r>
          </a:p>
        </p:txBody>
      </p:sp>
    </p:spTree>
    <p:extLst>
      <p:ext uri="{BB962C8B-B14F-4D97-AF65-F5344CB8AC3E}">
        <p14:creationId xmlns:p14="http://schemas.microsoft.com/office/powerpoint/2010/main" val="802295806"/>
      </p:ext>
    </p:extLst>
  </p:cSld>
</p:sld>
</file>

<file path=ppt/slides/slide25.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D3EC027-DBDF-4617-BA18-14262B0A74D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2 / FILESYSTEM</a:t>
            </a:r>
          </a:p>
        </p:txBody>
      </p:sp>
      <p:sp>
        <p:nvSpPr>
          <p:cNvPr id="2" name="">
            <a:extLst xmlns:a="http://schemas.openxmlformats.org/drawingml/2006/main">
              <a:ext uri="{FF2B5EF4-FFF2-40B4-BE49-F238E27FC236}">
                <a16:creationId xmlns:a16="http://schemas.microsoft.com/office/drawing/2014/main" id="{14BF0B22-E65F-4DC1-91D6-D681B52760C3}"/>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Live demo: diagnose a wrong directory</a:t>
            </a:r>
          </a:p>
        </p:txBody>
      </p:sp>
      <p:sp>
        <p:nvSpPr>
          <p:cNvPr id="3" name="">
            <a:extLst xmlns:a="http://schemas.openxmlformats.org/drawingml/2006/main">
              <a:ext uri="{FF2B5EF4-FFF2-40B4-BE49-F238E27FC236}">
                <a16:creationId xmlns:a16="http://schemas.microsoft.com/office/drawing/2014/main" id="{FF1053F3-6C0A-402A-A846-6E35A6A1D93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7221C33-5CAC-4B74-81AB-4A80530F6D48}"/>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C4DE9BD8-9B2C-4DA9-B386-375C89C59E4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25</a:t>
            </a:r>
          </a:p>
        </p:txBody>
      </p:sp>
      <p:sp>
        <p:nvSpPr>
          <p:cNvPr id="6" name="">
            <a:extLst xmlns:a="http://schemas.openxmlformats.org/drawingml/2006/main">
              <a:ext uri="{FF2B5EF4-FFF2-40B4-BE49-F238E27FC236}">
                <a16:creationId xmlns:a16="http://schemas.microsoft.com/office/drawing/2014/main" id="{D7BF475F-C704-4D84-A6DD-FE05602D7BE1}"/>
              </a:ext>
            </a:extLst>
          </p:cNvPr>
          <p:cNvSpPr>
            <a:spLocks xmlns:a="http://schemas.openxmlformats.org/drawingml/2006/main" noGrp="1"/>
          </p:cNvSpPr>
          <p:nvPr/>
        </p:nvSpPr>
        <p:spPr>
          <a:xfrm xmlns:a="http://schemas.openxmlformats.org/drawingml/2006/main">
            <a:off x="952500" y="1733550"/>
            <a:ext cx="10287000" cy="3638550"/>
          </a:xfrm>
          <a:prstGeom xmlns:a="http://schemas.openxmlformats.org/drawingml/2006/main" prst="roundRect">
            <a:avLst>
              <a:gd name="adj" fmla="val 4188"/>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1A73946E-109A-4648-9A64-BB72C508626B}"/>
              </a:ext>
            </a:extLst>
          </p:cNvPr>
          <p:cNvSpPr>
            <a:spLocks xmlns:a="http://schemas.openxmlformats.org/drawingml/2006/main" noGrp="1"/>
          </p:cNvSpPr>
          <p:nvPr/>
        </p:nvSpPr>
        <p:spPr>
          <a:xfrm xmlns:a="http://schemas.openxmlformats.org/drawingml/2006/main">
            <a:off x="952500" y="1733550"/>
            <a:ext cx="10287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E98DF47-7106-44F2-9C04-D652349EFD84}"/>
              </a:ext>
            </a:extLst>
          </p:cNvPr>
          <p:cNvSpPr>
            <a:spLocks xmlns:a="http://schemas.openxmlformats.org/drawingml/2006/main" noGrp="1"/>
          </p:cNvSpPr>
          <p:nvPr/>
        </p:nvSpPr>
        <p:spPr>
          <a:xfrm xmlns:a="http://schemas.openxmlformats.org/drawingml/2006/main">
            <a:off x="952500" y="2000250"/>
            <a:ext cx="10287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86F70EA-1FBC-42ED-98FD-B7BBF40310E7}"/>
              </a:ext>
            </a:extLst>
          </p:cNvPr>
          <p:cNvSpPr>
            <a:spLocks xmlns:a="http://schemas.openxmlformats.org/drawingml/2006/main" noGrp="1"/>
          </p:cNvSpPr>
          <p:nvPr/>
        </p:nvSpPr>
        <p:spPr>
          <a:xfrm xmlns:a="http://schemas.openxmlformats.org/drawingml/2006/main">
            <a:off x="1123950" y="18859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4C9F1AE-3A06-4A6D-9D81-5C96B71174C3}"/>
              </a:ext>
            </a:extLst>
          </p:cNvPr>
          <p:cNvSpPr>
            <a:spLocks xmlns:a="http://schemas.openxmlformats.org/drawingml/2006/main" noGrp="1"/>
          </p:cNvSpPr>
          <p:nvPr/>
        </p:nvSpPr>
        <p:spPr>
          <a:xfrm xmlns:a="http://schemas.openxmlformats.org/drawingml/2006/main">
            <a:off x="1295400" y="18859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1D630A9-A77F-4C74-B406-DCF51A76EB90}"/>
              </a:ext>
            </a:extLst>
          </p:cNvPr>
          <p:cNvSpPr>
            <a:spLocks xmlns:a="http://schemas.openxmlformats.org/drawingml/2006/main" noGrp="1"/>
          </p:cNvSpPr>
          <p:nvPr/>
        </p:nvSpPr>
        <p:spPr>
          <a:xfrm xmlns:a="http://schemas.openxmlformats.org/drawingml/2006/main">
            <a:off x="1466850" y="18859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AD5B70C-5E7E-405F-9661-03C199CD992C}"/>
              </a:ext>
            </a:extLst>
          </p:cNvPr>
          <p:cNvSpPr>
            <a:spLocks xmlns:a="http://schemas.openxmlformats.org/drawingml/2006/main" noGrp="1"/>
          </p:cNvSpPr>
          <p:nvPr/>
        </p:nvSpPr>
        <p:spPr>
          <a:xfrm xmlns:a="http://schemas.openxmlformats.org/drawingml/2006/main">
            <a:off x="1733550" y="1847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LOCATE → FAIL SAFELY → RESOLVE → VERIFY</a:t>
            </a:r>
          </a:p>
        </p:txBody>
      </p:sp>
      <p:sp>
        <p:nvSpPr>
          <p:cNvPr id="13" name="">
            <a:extLst xmlns:a="http://schemas.openxmlformats.org/drawingml/2006/main">
              <a:ext uri="{FF2B5EF4-FFF2-40B4-BE49-F238E27FC236}">
                <a16:creationId xmlns:a16="http://schemas.microsoft.com/office/drawing/2014/main" id="{1BAB4BA9-0778-4E8F-878A-B659872B8D27}"/>
              </a:ext>
            </a:extLst>
          </p:cNvPr>
          <p:cNvSpPr>
            <a:spLocks xmlns:a="http://schemas.openxmlformats.org/drawingml/2006/main" noGrp="1"/>
          </p:cNvSpPr>
          <p:nvPr/>
        </p:nvSpPr>
        <p:spPr>
          <a:xfrm xmlns:a="http://schemas.openxmlformats.org/drawingml/2006/main">
            <a:off x="1181100" y="2305050"/>
            <a:ext cx="982980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cd /var/tmp/demo-tree/archive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pwd; ls -la</a:t>
            </a:r>
          </a:p>
          <a:p xmlns:a="http://schemas.openxmlformats.org/drawingml/2006/main">
            <a:pPr>
              <a:defRPr sz="1500">
                <a:solidFill>
                  <a:srgbClr val="FFF8EE"/>
                </a:solidFill>
              </a:defRPr>
            </a:pPr>
            <a:r>
              <a:rPr sz="1500">
                <a:solidFill>
                  <a:srgbClr val="FFF8EE"/>
                </a:solidFill>
              </a:rPr>
              <a:t>cat report.txt; printf 'status=%s\n'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realpath ../incoming/report.txt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namei -l ../incoming/report.txt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cp ../incoming/report.txt ./report.reviewed</a:t>
            </a:r>
          </a:p>
          <a:p xmlns:a="http://schemas.openxmlformats.org/drawingml/2006/main">
            <a:pPr>
              <a:defRPr sz="1500">
                <a:solidFill>
                  <a:srgbClr val="FFF8EE"/>
                </a:solidFill>
              </a:defRPr>
            </a:pPr>
            <a:r>
              <a:rPr sz="1500">
                <a:solidFill>
                  <a:srgbClr val="FFF8EE"/>
                </a:solidFill>
              </a:rPr>
              <a:t>stat -c '%F %a %U:%G %n' ./report.reviewed</a:t>
            </a:r>
          </a:p>
        </p:txBody>
      </p:sp>
      <p:sp>
        <p:nvSpPr>
          <p:cNvPr id="14" name="">
            <a:extLst xmlns:a="http://schemas.openxmlformats.org/drawingml/2006/main">
              <a:ext uri="{FF2B5EF4-FFF2-40B4-BE49-F238E27FC236}">
                <a16:creationId xmlns:a16="http://schemas.microsoft.com/office/drawing/2014/main" id="{C79234DC-739F-4960-B431-15C06ABB8D92}"/>
              </a:ext>
            </a:extLst>
          </p:cNvPr>
          <p:cNvSpPr>
            <a:spLocks xmlns:a="http://schemas.openxmlformats.org/drawingml/2006/main" noGrp="1"/>
          </p:cNvSpPr>
          <p:nvPr/>
        </p:nvSpPr>
        <p:spPr>
          <a:xfrm xmlns:a="http://schemas.openxmlformats.org/drawingml/2006/main">
            <a:off x="952500" y="5619750"/>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025" b="1" i="0">
                <a:solidFill>
                  <a:srgbClr val="70D6A6"/>
                </a:solidFill>
                <a:latin typeface="Aptos"/>
                <a:ea typeface="Aptos"/>
                <a:cs typeface="Aptos"/>
              </a:defRPr>
            </a:pPr>
            <a:r>
              <a:rPr sz="2025" b="1" i="0">
                <a:solidFill>
                  <a:srgbClr val="70D6A6"/>
                </a:solidFill>
                <a:latin typeface="Aptos"/>
                <a:ea typeface="Aptos"/>
                <a:cs typeface="Aptos"/>
              </a:rPr>
              <a:t>The failed relative path is evidence about coordinates, not permissions.</a:t>
            </a:r>
          </a:p>
        </p:txBody>
      </p:sp>
    </p:spTree>
    <p:extLst>
      <p:ext uri="{BB962C8B-B14F-4D97-AF65-F5344CB8AC3E}">
        <p14:creationId xmlns:p14="http://schemas.microsoft.com/office/powerpoint/2010/main" val="1765259028"/>
      </p:ext>
    </p:extLst>
  </p:cSld>
</p:sld>
</file>

<file path=ppt/slides/slide26.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D9833BD3-0672-4779-9EB3-8E71DC050B3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HANDS-ON / LAB 2</a:t>
            </a:r>
          </a:p>
        </p:txBody>
      </p:sp>
      <p:sp>
        <p:nvSpPr>
          <p:cNvPr id="2" name="">
            <a:extLst xmlns:a="http://schemas.openxmlformats.org/drawingml/2006/main">
              <a:ext uri="{FF2B5EF4-FFF2-40B4-BE49-F238E27FC236}">
                <a16:creationId xmlns:a16="http://schemas.microsoft.com/office/drawing/2014/main" id="{D247334C-6068-4782-81A5-2555B3D14565}"/>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Lab 2 — Prove how filesystem names behave</a:t>
            </a:r>
          </a:p>
        </p:txBody>
      </p:sp>
      <p:sp>
        <p:nvSpPr>
          <p:cNvPr id="3" name="">
            <a:extLst xmlns:a="http://schemas.openxmlformats.org/drawingml/2006/main">
              <a:ext uri="{FF2B5EF4-FFF2-40B4-BE49-F238E27FC236}">
                <a16:creationId xmlns:a16="http://schemas.microsoft.com/office/drawing/2014/main" id="{5B7E1CFF-45E6-46A2-AC95-345A45864F6C}"/>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48BD663-E972-4A30-92C1-C04C99DD27E6}"/>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C00D4498-7AEF-4978-A0D4-A384B6DF2296}"/>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26</a:t>
            </a:r>
          </a:p>
        </p:txBody>
      </p:sp>
      <p:sp>
        <p:nvSpPr>
          <p:cNvPr id="6" name="">
            <a:extLst xmlns:a="http://schemas.openxmlformats.org/drawingml/2006/main">
              <a:ext uri="{FF2B5EF4-FFF2-40B4-BE49-F238E27FC236}">
                <a16:creationId xmlns:a16="http://schemas.microsoft.com/office/drawing/2014/main" id="{324D7AA5-1B7A-46F0-B60D-AFDF7AA06C69}"/>
              </a:ext>
            </a:extLst>
          </p:cNvPr>
          <p:cNvSpPr>
            <a:spLocks xmlns:a="http://schemas.openxmlformats.org/drawingml/2006/main" noGrp="1"/>
          </p:cNvSpPr>
          <p:nvPr/>
        </p:nvSpPr>
        <p:spPr>
          <a:xfrm xmlns:a="http://schemas.openxmlformats.org/drawingml/2006/main">
            <a:off x="800100" y="17907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MISSION · 25 MIN</a:t>
            </a:r>
          </a:p>
        </p:txBody>
      </p:sp>
      <p:sp>
        <p:nvSpPr>
          <p:cNvPr id="7" name="">
            <a:extLst xmlns:a="http://schemas.openxmlformats.org/drawingml/2006/main">
              <a:ext uri="{FF2B5EF4-FFF2-40B4-BE49-F238E27FC236}">
                <a16:creationId xmlns:a16="http://schemas.microsoft.com/office/drawing/2014/main" id="{F9415872-9C11-409D-903F-82DFBD71123F}"/>
              </a:ext>
            </a:extLst>
          </p:cNvPr>
          <p:cNvSpPr>
            <a:spLocks xmlns:a="http://schemas.openxmlformats.org/drawingml/2006/main" noGrp="1"/>
          </p:cNvSpPr>
          <p:nvPr/>
        </p:nvSpPr>
        <p:spPr>
          <a:xfrm xmlns:a="http://schemas.openxmlformats.org/drawingml/2006/main">
            <a:off x="800100" y="2228850"/>
            <a:ext cx="4095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Filesystem and links</a:t>
            </a:r>
          </a:p>
        </p:txBody>
      </p:sp>
      <p:sp>
        <p:nvSpPr>
          <p:cNvPr id="8" name="">
            <a:extLst xmlns:a="http://schemas.openxmlformats.org/drawingml/2006/main">
              <a:ext uri="{FF2B5EF4-FFF2-40B4-BE49-F238E27FC236}">
                <a16:creationId xmlns:a16="http://schemas.microsoft.com/office/drawing/2014/main" id="{AF5C6E71-8DD4-4FC1-BEE6-6BBC5B9C2F42}"/>
              </a:ext>
            </a:extLst>
          </p:cNvPr>
          <p:cNvSpPr>
            <a:spLocks xmlns:a="http://schemas.openxmlformats.org/drawingml/2006/main" noGrp="1"/>
          </p:cNvSpPr>
          <p:nvPr/>
        </p:nvSpPr>
        <p:spPr>
          <a:xfrm xmlns:a="http://schemas.openxmlformats.org/drawingml/2006/main">
            <a:off x="800100" y="3009900"/>
            <a:ext cx="4953000" cy="2190750"/>
          </a:xfrm>
          <a:prstGeom xmlns:a="http://schemas.openxmlformats.org/drawingml/2006/main" prst="roundRect">
            <a:avLst>
              <a:gd name="adj" fmla="val 6957"/>
            </a:avLst>
          </a:prstGeom>
          <a:solidFill xmlns:a="http://schemas.openxmlformats.org/drawingml/2006/main">
            <a:srgbClr val="28183A"/>
          </a:solidFill>
          <a:ln xmlns:a="http://schemas.openxmlformats.org/drawingml/2006/main" w="9525">
            <a:solidFill>
              <a:srgbClr val="4A335D"/>
            </a:solidFill>
            <a:prstDash val="solid"/>
          </a:ln>
        </p:spPr>
      </p:sp>
      <p:sp>
        <p:nvSpPr>
          <p:cNvPr id="9" name="">
            <a:extLst xmlns:a="http://schemas.openxmlformats.org/drawingml/2006/main">
              <a:ext uri="{FF2B5EF4-FFF2-40B4-BE49-F238E27FC236}">
                <a16:creationId xmlns:a16="http://schemas.microsoft.com/office/drawing/2014/main" id="{80367D35-5EDB-429E-922C-C046DC415680}"/>
              </a:ext>
            </a:extLst>
          </p:cNvPr>
          <p:cNvSpPr>
            <a:spLocks xmlns:a="http://schemas.openxmlformats.org/drawingml/2006/main" noGrp="1"/>
          </p:cNvSpPr>
          <p:nvPr/>
        </p:nvSpPr>
        <p:spPr>
          <a:xfrm xmlns:a="http://schemas.openxmlformats.org/drawingml/2006/main">
            <a:off x="800100" y="3009900"/>
            <a:ext cx="4953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CE8F602-67C2-43C8-AF34-A023C509094B}"/>
              </a:ext>
            </a:extLst>
          </p:cNvPr>
          <p:cNvSpPr>
            <a:spLocks xmlns:a="http://schemas.openxmlformats.org/drawingml/2006/main" noGrp="1"/>
          </p:cNvSpPr>
          <p:nvPr/>
        </p:nvSpPr>
        <p:spPr>
          <a:xfrm xmlns:a="http://schemas.openxmlformats.org/drawingml/2006/main">
            <a:off x="800100" y="3276600"/>
            <a:ext cx="4953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F7E26F0-5CC2-4A12-BDCC-1A06D14D095C}"/>
              </a:ext>
            </a:extLst>
          </p:cNvPr>
          <p:cNvSpPr>
            <a:spLocks xmlns:a="http://schemas.openxmlformats.org/drawingml/2006/main" noGrp="1"/>
          </p:cNvSpPr>
          <p:nvPr/>
        </p:nvSpPr>
        <p:spPr>
          <a:xfrm xmlns:a="http://schemas.openxmlformats.org/drawingml/2006/main">
            <a:off x="971550" y="31623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826F062-9D6E-4828-9B6B-EA58B274D004}"/>
              </a:ext>
            </a:extLst>
          </p:cNvPr>
          <p:cNvSpPr>
            <a:spLocks xmlns:a="http://schemas.openxmlformats.org/drawingml/2006/main" noGrp="1"/>
          </p:cNvSpPr>
          <p:nvPr/>
        </p:nvSpPr>
        <p:spPr>
          <a:xfrm xmlns:a="http://schemas.openxmlformats.org/drawingml/2006/main">
            <a:off x="1143000" y="31623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D6A8CEC-C44D-4259-82B1-364089D5F457}"/>
              </a:ext>
            </a:extLst>
          </p:cNvPr>
          <p:cNvSpPr>
            <a:spLocks xmlns:a="http://schemas.openxmlformats.org/drawingml/2006/main" noGrp="1"/>
          </p:cNvSpPr>
          <p:nvPr/>
        </p:nvSpPr>
        <p:spPr>
          <a:xfrm xmlns:a="http://schemas.openxmlformats.org/drawingml/2006/main">
            <a:off x="1314450" y="31623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48FAD2D-474C-4D7E-8D6B-08B0CD42FA19}"/>
              </a:ext>
            </a:extLst>
          </p:cNvPr>
          <p:cNvSpPr>
            <a:spLocks xmlns:a="http://schemas.openxmlformats.org/drawingml/2006/main" noGrp="1"/>
          </p:cNvSpPr>
          <p:nvPr/>
        </p:nvSpPr>
        <p:spPr>
          <a:xfrm xmlns:a="http://schemas.openxmlformats.org/drawingml/2006/main">
            <a:off x="1581150" y="31242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DELIVERABLES</a:t>
            </a:r>
          </a:p>
        </p:txBody>
      </p:sp>
      <p:sp>
        <p:nvSpPr>
          <p:cNvPr id="15" name="">
            <a:extLst xmlns:a="http://schemas.openxmlformats.org/drawingml/2006/main">
              <a:ext uri="{FF2B5EF4-FFF2-40B4-BE49-F238E27FC236}">
                <a16:creationId xmlns:a16="http://schemas.microsoft.com/office/drawing/2014/main" id="{AC61AC9D-DEB2-4D1D-9A32-C13A6D89E8B9}"/>
              </a:ext>
            </a:extLst>
          </p:cNvPr>
          <p:cNvSpPr>
            <a:spLocks xmlns:a="http://schemas.openxmlformats.org/drawingml/2006/main" noGrp="1"/>
          </p:cNvSpPr>
          <p:nvPr/>
        </p:nvSpPr>
        <p:spPr>
          <a:xfrm xmlns:a="http://schemas.openxmlformats.org/drawingml/2006/main">
            <a:off x="1028700" y="3581400"/>
            <a:ext cx="44958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Organize ~/projects/linux-course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Copy welcome; archive the draft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Create hard and relative symbolic links</a:t>
            </a:r>
          </a:p>
        </p:txBody>
      </p:sp>
      <p:sp>
        <p:nvSpPr>
          <p:cNvPr id="16" name="">
            <a:extLst xmlns:a="http://schemas.openxmlformats.org/drawingml/2006/main">
              <a:ext uri="{FF2B5EF4-FFF2-40B4-BE49-F238E27FC236}">
                <a16:creationId xmlns:a16="http://schemas.microsoft.com/office/drawing/2014/main" id="{18FA52CE-1464-4ABC-8C2B-0417FBBC0443}"/>
              </a:ext>
            </a:extLst>
          </p:cNvPr>
          <p:cNvSpPr>
            <a:spLocks xmlns:a="http://schemas.openxmlformats.org/drawingml/2006/main" noGrp="1"/>
          </p:cNvSpPr>
          <p:nvPr/>
        </p:nvSpPr>
        <p:spPr>
          <a:xfrm xmlns:a="http://schemas.openxmlformats.org/drawingml/2006/main">
            <a:off x="6667500" y="17907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ACCEPTANCE EVIDENCE</a:t>
            </a:r>
          </a:p>
        </p:txBody>
      </p:sp>
      <p:sp>
        <p:nvSpPr>
          <p:cNvPr id="17" name="">
            <a:extLst xmlns:a="http://schemas.openxmlformats.org/drawingml/2006/main">
              <a:ext uri="{FF2B5EF4-FFF2-40B4-BE49-F238E27FC236}">
                <a16:creationId xmlns:a16="http://schemas.microsoft.com/office/drawing/2014/main" id="{3A11BCE1-4A2A-4883-A988-CD70CAA4FCAD}"/>
              </a:ext>
            </a:extLst>
          </p:cNvPr>
          <p:cNvSpPr>
            <a:spLocks xmlns:a="http://schemas.openxmlformats.org/drawingml/2006/main" noGrp="1"/>
          </p:cNvSpPr>
          <p:nvPr/>
        </p:nvSpPr>
        <p:spPr>
          <a:xfrm xmlns:a="http://schemas.openxmlformats.org/drawingml/2006/main">
            <a:off x="6667500" y="2228850"/>
            <a:ext cx="428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Checker requires</a:t>
            </a:r>
          </a:p>
        </p:txBody>
      </p:sp>
      <p:sp>
        <p:nvSpPr>
          <p:cNvPr id="18" name="">
            <a:extLst xmlns:a="http://schemas.openxmlformats.org/drawingml/2006/main">
              <a:ext uri="{FF2B5EF4-FFF2-40B4-BE49-F238E27FC236}">
                <a16:creationId xmlns:a16="http://schemas.microsoft.com/office/drawing/2014/main" id="{27F87451-D0E8-4D78-B5C3-D526E48F5BB7}"/>
              </a:ext>
            </a:extLst>
          </p:cNvPr>
          <p:cNvSpPr>
            <a:spLocks xmlns:a="http://schemas.openxmlformats.org/drawingml/2006/main" noGrp="1"/>
          </p:cNvSpPr>
          <p:nvPr/>
        </p:nvSpPr>
        <p:spPr>
          <a:xfrm xmlns:a="http://schemas.openxmlformats.org/drawingml/2006/main">
            <a:off x="6667500" y="3171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FD88F18-46B5-41BD-BFCA-8B5AAF8849FF}"/>
              </a:ext>
            </a:extLst>
          </p:cNvPr>
          <p:cNvSpPr>
            <a:spLocks xmlns:a="http://schemas.openxmlformats.org/drawingml/2006/main" noGrp="1"/>
          </p:cNvSpPr>
          <p:nvPr/>
        </p:nvSpPr>
        <p:spPr>
          <a:xfrm xmlns:a="http://schemas.openxmlformats.org/drawingml/2006/main">
            <a:off x="6934200" y="31051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Required directory tree exists</a:t>
            </a:r>
          </a:p>
        </p:txBody>
      </p:sp>
      <p:sp>
        <p:nvSpPr>
          <p:cNvPr id="20" name="">
            <a:extLst xmlns:a="http://schemas.openxmlformats.org/drawingml/2006/main">
              <a:ext uri="{FF2B5EF4-FFF2-40B4-BE49-F238E27FC236}">
                <a16:creationId xmlns:a16="http://schemas.microsoft.com/office/drawing/2014/main" id="{B3D28E46-FE52-45D5-8EA1-BF10770E6C54}"/>
              </a:ext>
            </a:extLst>
          </p:cNvPr>
          <p:cNvSpPr>
            <a:spLocks xmlns:a="http://schemas.openxmlformats.org/drawingml/2006/main" noGrp="1"/>
          </p:cNvSpPr>
          <p:nvPr/>
        </p:nvSpPr>
        <p:spPr>
          <a:xfrm xmlns:a="http://schemas.openxmlformats.org/drawingml/2006/main">
            <a:off x="6667500" y="37433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3C2B25C-6BDE-4AAB-904E-0F15113DF0D2}"/>
              </a:ext>
            </a:extLst>
          </p:cNvPr>
          <p:cNvSpPr>
            <a:spLocks xmlns:a="http://schemas.openxmlformats.org/drawingml/2006/main" noGrp="1"/>
          </p:cNvSpPr>
          <p:nvPr/>
        </p:nvSpPr>
        <p:spPr>
          <a:xfrm xmlns:a="http://schemas.openxmlformats.org/drawingml/2006/main">
            <a:off x="6934200" y="36766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Copy remains; moved source is absent</a:t>
            </a:r>
          </a:p>
        </p:txBody>
      </p:sp>
      <p:sp>
        <p:nvSpPr>
          <p:cNvPr id="22" name="">
            <a:extLst xmlns:a="http://schemas.openxmlformats.org/drawingml/2006/main">
              <a:ext uri="{FF2B5EF4-FFF2-40B4-BE49-F238E27FC236}">
                <a16:creationId xmlns:a16="http://schemas.microsoft.com/office/drawing/2014/main" id="{2E701848-E1C5-4F87-8279-E3EBE384F7A9}"/>
              </a:ext>
            </a:extLst>
          </p:cNvPr>
          <p:cNvSpPr>
            <a:spLocks xmlns:a="http://schemas.openxmlformats.org/drawingml/2006/main" noGrp="1"/>
          </p:cNvSpPr>
          <p:nvPr/>
        </p:nvSpPr>
        <p:spPr>
          <a:xfrm xmlns:a="http://schemas.openxmlformats.org/drawingml/2006/main">
            <a:off x="6667500" y="4314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09B7F9F-1914-4FC1-9251-2A3E490D832A}"/>
              </a:ext>
            </a:extLst>
          </p:cNvPr>
          <p:cNvSpPr>
            <a:spLocks xmlns:a="http://schemas.openxmlformats.org/drawingml/2006/main" noGrp="1"/>
          </p:cNvSpPr>
          <p:nvPr/>
        </p:nvSpPr>
        <p:spPr>
          <a:xfrm xmlns:a="http://schemas.openxmlformats.org/drawingml/2006/main">
            <a:off x="6934200" y="42481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Hard link shares an inode</a:t>
            </a:r>
          </a:p>
        </p:txBody>
      </p:sp>
      <p:sp>
        <p:nvSpPr>
          <p:cNvPr id="24" name="">
            <a:extLst xmlns:a="http://schemas.openxmlformats.org/drawingml/2006/main">
              <a:ext uri="{FF2B5EF4-FFF2-40B4-BE49-F238E27FC236}">
                <a16:creationId xmlns:a16="http://schemas.microsoft.com/office/drawing/2014/main" id="{B139B5F9-EFF3-4E76-9E50-53E4221E0BC5}"/>
              </a:ext>
            </a:extLst>
          </p:cNvPr>
          <p:cNvSpPr>
            <a:spLocks xmlns:a="http://schemas.openxmlformats.org/drawingml/2006/main" noGrp="1"/>
          </p:cNvSpPr>
          <p:nvPr/>
        </p:nvSpPr>
        <p:spPr>
          <a:xfrm xmlns:a="http://schemas.openxmlformats.org/drawingml/2006/main">
            <a:off x="6667500" y="48863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1629B6F-E8A2-4282-9017-3DE5C9ABE668}"/>
              </a:ext>
            </a:extLst>
          </p:cNvPr>
          <p:cNvSpPr>
            <a:spLocks xmlns:a="http://schemas.openxmlformats.org/drawingml/2006/main" noGrp="1"/>
          </p:cNvSpPr>
          <p:nvPr/>
        </p:nvSpPr>
        <p:spPr>
          <a:xfrm xmlns:a="http://schemas.openxmlformats.org/drawingml/2006/main">
            <a:off x="6934200" y="48196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Symlink stores ../notes/welcome.txt</a:t>
            </a:r>
          </a:p>
        </p:txBody>
      </p:sp>
      <p:sp>
        <p:nvSpPr>
          <p:cNvPr id="26" name="">
            <a:extLst xmlns:a="http://schemas.openxmlformats.org/drawingml/2006/main">
              <a:ext uri="{FF2B5EF4-FFF2-40B4-BE49-F238E27FC236}">
                <a16:creationId xmlns:a16="http://schemas.microsoft.com/office/drawing/2014/main" id="{31BF24E7-ED3D-4226-A7DC-0713BF70C771}"/>
              </a:ext>
            </a:extLst>
          </p:cNvPr>
          <p:cNvSpPr>
            <a:spLocks xmlns:a="http://schemas.openxmlformats.org/drawingml/2006/main" noGrp="1"/>
          </p:cNvSpPr>
          <p:nvPr/>
        </p:nvSpPr>
        <p:spPr>
          <a:xfrm xmlns:a="http://schemas.openxmlformats.org/drawingml/2006/main">
            <a:off x="800100" y="5600700"/>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1" i="0">
                <a:solidFill>
                  <a:srgbClr val="8B5CF6"/>
                </a:solidFill>
                <a:latin typeface="Aptos"/>
                <a:ea typeface="Aptos"/>
                <a:cs typeface="Aptos"/>
              </a:defRPr>
            </a:pPr>
            <a:r>
              <a:rPr sz="1650" b="1" i="0">
                <a:solidFill>
                  <a:srgbClr val="8B5CF6"/>
                </a:solidFill>
                <a:latin typeface="Aptos"/>
                <a:ea typeface="Aptos"/>
                <a:cs typeface="Aptos"/>
              </a:rPr>
              <a:t>Debrief: which names refer to one object, and which name stores a path?</a:t>
            </a:r>
          </a:p>
        </p:txBody>
      </p:sp>
    </p:spTree>
    <p:extLst>
      <p:ext uri="{BB962C8B-B14F-4D97-AF65-F5344CB8AC3E}">
        <p14:creationId xmlns:p14="http://schemas.microsoft.com/office/powerpoint/2010/main" val="276205261"/>
      </p:ext>
    </p:extLst>
  </p:cSld>
</p:sld>
</file>

<file path=ppt/slides/slide27.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3A5F9742-359C-4FFC-AD91-47EC4D25DBA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TERMINAL</a:t>
            </a:r>
          </a:p>
        </p:txBody>
      </p:sp>
      <p:sp>
        <p:nvSpPr>
          <p:cNvPr id="2" name="">
            <a:extLst xmlns:a="http://schemas.openxmlformats.org/drawingml/2006/main">
              <a:ext uri="{FF2B5EF4-FFF2-40B4-BE49-F238E27FC236}">
                <a16:creationId xmlns:a16="http://schemas.microsoft.com/office/drawing/2014/main" id="{DCDB1276-51BA-43DE-8EFC-8323B800A2C6}"/>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The shell turns text into a process request</a:t>
            </a:r>
          </a:p>
        </p:txBody>
      </p:sp>
      <p:sp>
        <p:nvSpPr>
          <p:cNvPr id="3" name="">
            <a:extLst xmlns:a="http://schemas.openxmlformats.org/drawingml/2006/main">
              <a:ext uri="{FF2B5EF4-FFF2-40B4-BE49-F238E27FC236}">
                <a16:creationId xmlns:a16="http://schemas.microsoft.com/office/drawing/2014/main" id="{F56A2CA0-EF8B-4300-9B96-A407676B2EBE}"/>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BD3EF29-8B75-4333-93CE-009E910679F8}"/>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EA2F31A0-A7E2-4CD4-8C05-5AA793EE77E2}"/>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27</a:t>
            </a:r>
          </a:p>
        </p:txBody>
      </p:sp>
      <p:sp>
        <p:nvSpPr>
          <p:cNvPr id="6" name="">
            <a:extLst xmlns:a="http://schemas.openxmlformats.org/drawingml/2006/main">
              <a:ext uri="{FF2B5EF4-FFF2-40B4-BE49-F238E27FC236}">
                <a16:creationId xmlns:a16="http://schemas.microsoft.com/office/drawing/2014/main" id="{3465DE98-D2FE-4BBB-9512-8523D1BA9990}"/>
              </a:ext>
            </a:extLst>
          </p:cNvPr>
          <p:cNvSpPr>
            <a:spLocks xmlns:a="http://schemas.openxmlformats.org/drawingml/2006/main" noGrp="1"/>
          </p:cNvSpPr>
          <p:nvPr/>
        </p:nvSpPr>
        <p:spPr>
          <a:xfrm xmlns:a="http://schemas.openxmlformats.org/drawingml/2006/main">
            <a:off x="762000" y="1809750"/>
            <a:ext cx="10668000" cy="1143000"/>
          </a:xfrm>
          <a:prstGeom xmlns:a="http://schemas.openxmlformats.org/drawingml/2006/main" prst="roundRect">
            <a:avLst>
              <a:gd name="adj" fmla="val 13333"/>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3CA94744-DF89-4990-8028-4C5F00BE7032}"/>
              </a:ext>
            </a:extLst>
          </p:cNvPr>
          <p:cNvSpPr>
            <a:spLocks xmlns:a="http://schemas.openxmlformats.org/drawingml/2006/main" noGrp="1"/>
          </p:cNvSpPr>
          <p:nvPr/>
        </p:nvSpPr>
        <p:spPr>
          <a:xfrm xmlns:a="http://schemas.openxmlformats.org/drawingml/2006/main">
            <a:off x="762000" y="1809750"/>
            <a:ext cx="10668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CDD752E-4B15-4A4A-A8D7-1F79CB0BF760}"/>
              </a:ext>
            </a:extLst>
          </p:cNvPr>
          <p:cNvSpPr>
            <a:spLocks xmlns:a="http://schemas.openxmlformats.org/drawingml/2006/main" noGrp="1"/>
          </p:cNvSpPr>
          <p:nvPr/>
        </p:nvSpPr>
        <p:spPr>
          <a:xfrm xmlns:a="http://schemas.openxmlformats.org/drawingml/2006/main">
            <a:off x="762000" y="2076450"/>
            <a:ext cx="10668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9579E92-B749-4384-9555-376E266DEC8F}"/>
              </a:ext>
            </a:extLst>
          </p:cNvPr>
          <p:cNvSpPr>
            <a:spLocks xmlns:a="http://schemas.openxmlformats.org/drawingml/2006/main" noGrp="1"/>
          </p:cNvSpPr>
          <p:nvPr/>
        </p:nvSpPr>
        <p:spPr>
          <a:xfrm xmlns:a="http://schemas.openxmlformats.org/drawingml/2006/main">
            <a:off x="933450" y="19621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3752973-28FF-4529-BAB1-3F3D0C036B56}"/>
              </a:ext>
            </a:extLst>
          </p:cNvPr>
          <p:cNvSpPr>
            <a:spLocks xmlns:a="http://schemas.openxmlformats.org/drawingml/2006/main" noGrp="1"/>
          </p:cNvSpPr>
          <p:nvPr/>
        </p:nvSpPr>
        <p:spPr>
          <a:xfrm xmlns:a="http://schemas.openxmlformats.org/drawingml/2006/main">
            <a:off x="1104900" y="19621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13DE292-DFAB-4932-83D3-5ED36D1B172E}"/>
              </a:ext>
            </a:extLst>
          </p:cNvPr>
          <p:cNvSpPr>
            <a:spLocks xmlns:a="http://schemas.openxmlformats.org/drawingml/2006/main" noGrp="1"/>
          </p:cNvSpPr>
          <p:nvPr/>
        </p:nvSpPr>
        <p:spPr>
          <a:xfrm xmlns:a="http://schemas.openxmlformats.org/drawingml/2006/main">
            <a:off x="1276350" y="19621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97F4768-B44A-4C97-8FF8-6B7D8FF7D20A}"/>
              </a:ext>
            </a:extLst>
          </p:cNvPr>
          <p:cNvSpPr>
            <a:spLocks xmlns:a="http://schemas.openxmlformats.org/drawingml/2006/main" noGrp="1"/>
          </p:cNvSpPr>
          <p:nvPr/>
        </p:nvSpPr>
        <p:spPr>
          <a:xfrm xmlns:a="http://schemas.openxmlformats.org/drawingml/2006/main">
            <a:off x="1543050" y="1924050"/>
            <a:ext cx="971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PROMPT + COMMAND</a:t>
            </a:r>
          </a:p>
        </p:txBody>
      </p:sp>
      <p:sp>
        <p:nvSpPr>
          <p:cNvPr id="13" name="">
            <a:extLst xmlns:a="http://schemas.openxmlformats.org/drawingml/2006/main">
              <a:ext uri="{FF2B5EF4-FFF2-40B4-BE49-F238E27FC236}">
                <a16:creationId xmlns:a16="http://schemas.microsoft.com/office/drawing/2014/main" id="{39D1F0F6-BA51-4D89-9352-96D501725266}"/>
              </a:ext>
            </a:extLst>
          </p:cNvPr>
          <p:cNvSpPr>
            <a:spLocks xmlns:a="http://schemas.openxmlformats.org/drawingml/2006/main" noGrp="1"/>
          </p:cNvSpPr>
          <p:nvPr/>
        </p:nvSpPr>
        <p:spPr>
          <a:xfrm xmlns:a="http://schemas.openxmlformats.org/drawingml/2006/main">
            <a:off x="990600" y="238125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ubuntu@linux-course:~/demo$ grep -i error app.log</a:t>
            </a:r>
          </a:p>
        </p:txBody>
      </p:sp>
      <p:sp>
        <p:nvSpPr>
          <p:cNvPr id="14" name="">
            <a:extLst xmlns:a="http://schemas.openxmlformats.org/drawingml/2006/main">
              <a:ext uri="{FF2B5EF4-FFF2-40B4-BE49-F238E27FC236}">
                <a16:creationId xmlns:a16="http://schemas.microsoft.com/office/drawing/2014/main" id="{DFCD27EB-5172-4F40-9EA3-A8F8CE7EAE85}"/>
              </a:ext>
            </a:extLst>
          </p:cNvPr>
          <p:cNvSpPr>
            <a:spLocks xmlns:a="http://schemas.openxmlformats.org/drawingml/2006/main" noGrp="1"/>
          </p:cNvSpPr>
          <p:nvPr/>
        </p:nvSpPr>
        <p:spPr>
          <a:xfrm xmlns:a="http://schemas.openxmlformats.org/drawingml/2006/main">
            <a:off x="952500" y="3524250"/>
            <a:ext cx="209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550" b="1" i="0">
                <a:solidFill>
                  <a:srgbClr val="FF6B4A"/>
                </a:solidFill>
                <a:latin typeface="Courier New"/>
                <a:ea typeface="Courier New"/>
                <a:cs typeface="Courier New"/>
              </a:defRPr>
            </a:pPr>
            <a:r>
              <a:rPr sz="2550" b="1" i="0">
                <a:solidFill>
                  <a:srgbClr val="FF6B4A"/>
                </a:solidFill>
                <a:latin typeface="Courier New"/>
                <a:ea typeface="Courier New"/>
                <a:cs typeface="Courier New"/>
              </a:rPr>
              <a:t>grep</a:t>
            </a:r>
          </a:p>
        </p:txBody>
      </p:sp>
      <p:sp>
        <p:nvSpPr>
          <p:cNvPr id="15" name="">
            <a:extLst xmlns:a="http://schemas.openxmlformats.org/drawingml/2006/main">
              <a:ext uri="{FF2B5EF4-FFF2-40B4-BE49-F238E27FC236}">
                <a16:creationId xmlns:a16="http://schemas.microsoft.com/office/drawing/2014/main" id="{7EF5C5A7-9F2B-44D9-9970-9B59801C98CA}"/>
              </a:ext>
            </a:extLst>
          </p:cNvPr>
          <p:cNvSpPr>
            <a:spLocks xmlns:a="http://schemas.openxmlformats.org/drawingml/2006/main" noGrp="1"/>
          </p:cNvSpPr>
          <p:nvPr/>
        </p:nvSpPr>
        <p:spPr>
          <a:xfrm xmlns:a="http://schemas.openxmlformats.org/drawingml/2006/main">
            <a:off x="952500" y="4038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350" b="0" i="0">
                <a:solidFill>
                  <a:srgbClr val="BFAFCB"/>
                </a:solidFill>
                <a:latin typeface="Aptos"/>
                <a:ea typeface="Aptos"/>
                <a:cs typeface="Aptos"/>
              </a:defRPr>
            </a:pPr>
            <a:r>
              <a:rPr sz="1350" b="0" i="0">
                <a:solidFill>
                  <a:srgbClr val="BFAFCB"/>
                </a:solidFill>
                <a:latin typeface="Aptos"/>
                <a:ea typeface="Aptos"/>
                <a:cs typeface="Aptos"/>
              </a:rPr>
              <a:t>program</a:t>
            </a:r>
          </a:p>
        </p:txBody>
      </p:sp>
      <p:sp>
        <p:nvSpPr>
          <p:cNvPr id="16" name="">
            <a:extLst xmlns:a="http://schemas.openxmlformats.org/drawingml/2006/main">
              <a:ext uri="{FF2B5EF4-FFF2-40B4-BE49-F238E27FC236}">
                <a16:creationId xmlns:a16="http://schemas.microsoft.com/office/drawing/2014/main" id="{D70E7938-B3CE-4326-AFA2-5A9F81F4D8B2}"/>
              </a:ext>
            </a:extLst>
          </p:cNvPr>
          <p:cNvSpPr>
            <a:spLocks xmlns:a="http://schemas.openxmlformats.org/drawingml/2006/main" noGrp="1"/>
          </p:cNvSpPr>
          <p:nvPr/>
        </p:nvSpPr>
        <p:spPr>
          <a:xfrm xmlns:a="http://schemas.openxmlformats.org/drawingml/2006/main">
            <a:off x="3619500" y="3524250"/>
            <a:ext cx="209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550" b="1" i="0">
                <a:solidFill>
                  <a:srgbClr val="C9B6FF"/>
                </a:solidFill>
                <a:latin typeface="Courier New"/>
                <a:ea typeface="Courier New"/>
                <a:cs typeface="Courier New"/>
              </a:defRPr>
            </a:pPr>
            <a:r>
              <a:rPr sz="2550" b="1" i="0">
                <a:solidFill>
                  <a:srgbClr val="C9B6FF"/>
                </a:solidFill>
                <a:latin typeface="Courier New"/>
                <a:ea typeface="Courier New"/>
                <a:cs typeface="Courier New"/>
              </a:rPr>
              <a:t>-i</a:t>
            </a:r>
          </a:p>
        </p:txBody>
      </p:sp>
      <p:sp>
        <p:nvSpPr>
          <p:cNvPr id="17" name="">
            <a:extLst xmlns:a="http://schemas.openxmlformats.org/drawingml/2006/main">
              <a:ext uri="{FF2B5EF4-FFF2-40B4-BE49-F238E27FC236}">
                <a16:creationId xmlns:a16="http://schemas.microsoft.com/office/drawing/2014/main" id="{5EAB4307-354E-4E38-AAC1-94373093C07F}"/>
              </a:ext>
            </a:extLst>
          </p:cNvPr>
          <p:cNvSpPr>
            <a:spLocks xmlns:a="http://schemas.openxmlformats.org/drawingml/2006/main" noGrp="1"/>
          </p:cNvSpPr>
          <p:nvPr/>
        </p:nvSpPr>
        <p:spPr>
          <a:xfrm xmlns:a="http://schemas.openxmlformats.org/drawingml/2006/main">
            <a:off x="3619500" y="4038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350" b="0" i="0">
                <a:solidFill>
                  <a:srgbClr val="BFAFCB"/>
                </a:solidFill>
                <a:latin typeface="Aptos"/>
                <a:ea typeface="Aptos"/>
                <a:cs typeface="Aptos"/>
              </a:defRPr>
            </a:pPr>
            <a:r>
              <a:rPr sz="1350" b="0" i="0">
                <a:solidFill>
                  <a:srgbClr val="BFAFCB"/>
                </a:solidFill>
                <a:latin typeface="Aptos"/>
                <a:ea typeface="Aptos"/>
                <a:cs typeface="Aptos"/>
              </a:rPr>
              <a:t>option</a:t>
            </a:r>
          </a:p>
        </p:txBody>
      </p:sp>
      <p:sp>
        <p:nvSpPr>
          <p:cNvPr id="18" name="">
            <a:extLst xmlns:a="http://schemas.openxmlformats.org/drawingml/2006/main">
              <a:ext uri="{FF2B5EF4-FFF2-40B4-BE49-F238E27FC236}">
                <a16:creationId xmlns:a16="http://schemas.microsoft.com/office/drawing/2014/main" id="{11238831-DAC3-451B-BFD6-48CA1D9DBB19}"/>
              </a:ext>
            </a:extLst>
          </p:cNvPr>
          <p:cNvSpPr>
            <a:spLocks xmlns:a="http://schemas.openxmlformats.org/drawingml/2006/main" noGrp="1"/>
          </p:cNvSpPr>
          <p:nvPr/>
        </p:nvSpPr>
        <p:spPr>
          <a:xfrm xmlns:a="http://schemas.openxmlformats.org/drawingml/2006/main">
            <a:off x="6286500" y="3524250"/>
            <a:ext cx="209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550" b="1" i="0">
                <a:solidFill>
                  <a:srgbClr val="C9B6FF"/>
                </a:solidFill>
                <a:latin typeface="Courier New"/>
                <a:ea typeface="Courier New"/>
                <a:cs typeface="Courier New"/>
              </a:defRPr>
            </a:pPr>
            <a:r>
              <a:rPr sz="2550" b="1" i="0">
                <a:solidFill>
                  <a:srgbClr val="C9B6FF"/>
                </a:solidFill>
                <a:latin typeface="Courier New"/>
                <a:ea typeface="Courier New"/>
                <a:cs typeface="Courier New"/>
              </a:rPr>
              <a:t>error</a:t>
            </a:r>
          </a:p>
        </p:txBody>
      </p:sp>
      <p:sp>
        <p:nvSpPr>
          <p:cNvPr id="19" name="">
            <a:extLst xmlns:a="http://schemas.openxmlformats.org/drawingml/2006/main">
              <a:ext uri="{FF2B5EF4-FFF2-40B4-BE49-F238E27FC236}">
                <a16:creationId xmlns:a16="http://schemas.microsoft.com/office/drawing/2014/main" id="{A91BAC18-CE0B-4145-A383-A6FE80F623D0}"/>
              </a:ext>
            </a:extLst>
          </p:cNvPr>
          <p:cNvSpPr>
            <a:spLocks xmlns:a="http://schemas.openxmlformats.org/drawingml/2006/main" noGrp="1"/>
          </p:cNvSpPr>
          <p:nvPr/>
        </p:nvSpPr>
        <p:spPr>
          <a:xfrm xmlns:a="http://schemas.openxmlformats.org/drawingml/2006/main">
            <a:off x="6286500" y="4038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350" b="0" i="0">
                <a:solidFill>
                  <a:srgbClr val="BFAFCB"/>
                </a:solidFill>
                <a:latin typeface="Aptos"/>
                <a:ea typeface="Aptos"/>
                <a:cs typeface="Aptos"/>
              </a:defRPr>
            </a:pPr>
            <a:r>
              <a:rPr sz="1350" b="0" i="0">
                <a:solidFill>
                  <a:srgbClr val="BFAFCB"/>
                </a:solidFill>
                <a:latin typeface="Aptos"/>
                <a:ea typeface="Aptos"/>
                <a:cs typeface="Aptos"/>
              </a:rPr>
              <a:t>argument</a:t>
            </a:r>
          </a:p>
        </p:txBody>
      </p:sp>
      <p:sp>
        <p:nvSpPr>
          <p:cNvPr id="20" name="">
            <a:extLst xmlns:a="http://schemas.openxmlformats.org/drawingml/2006/main">
              <a:ext uri="{FF2B5EF4-FFF2-40B4-BE49-F238E27FC236}">
                <a16:creationId xmlns:a16="http://schemas.microsoft.com/office/drawing/2014/main" id="{E9438BFC-E1EB-46A7-B271-05E2A6B09632}"/>
              </a:ext>
            </a:extLst>
          </p:cNvPr>
          <p:cNvSpPr>
            <a:spLocks xmlns:a="http://schemas.openxmlformats.org/drawingml/2006/main" noGrp="1"/>
          </p:cNvSpPr>
          <p:nvPr/>
        </p:nvSpPr>
        <p:spPr>
          <a:xfrm xmlns:a="http://schemas.openxmlformats.org/drawingml/2006/main">
            <a:off x="8953500" y="3524250"/>
            <a:ext cx="209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550" b="1" i="0">
                <a:solidFill>
                  <a:srgbClr val="C9B6FF"/>
                </a:solidFill>
                <a:latin typeface="Courier New"/>
                <a:ea typeface="Courier New"/>
                <a:cs typeface="Courier New"/>
              </a:defRPr>
            </a:pPr>
            <a:r>
              <a:rPr sz="2550" b="1" i="0">
                <a:solidFill>
                  <a:srgbClr val="C9B6FF"/>
                </a:solidFill>
                <a:latin typeface="Courier New"/>
                <a:ea typeface="Courier New"/>
                <a:cs typeface="Courier New"/>
              </a:rPr>
              <a:t>app.log</a:t>
            </a:r>
          </a:p>
        </p:txBody>
      </p:sp>
      <p:sp>
        <p:nvSpPr>
          <p:cNvPr id="21" name="">
            <a:extLst xmlns:a="http://schemas.openxmlformats.org/drawingml/2006/main">
              <a:ext uri="{FF2B5EF4-FFF2-40B4-BE49-F238E27FC236}">
                <a16:creationId xmlns:a16="http://schemas.microsoft.com/office/drawing/2014/main" id="{F2128882-3578-42EF-A279-B19D7A1B6F0D}"/>
              </a:ext>
            </a:extLst>
          </p:cNvPr>
          <p:cNvSpPr>
            <a:spLocks xmlns:a="http://schemas.openxmlformats.org/drawingml/2006/main" noGrp="1"/>
          </p:cNvSpPr>
          <p:nvPr/>
        </p:nvSpPr>
        <p:spPr>
          <a:xfrm xmlns:a="http://schemas.openxmlformats.org/drawingml/2006/main">
            <a:off x="8953500" y="4038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350" b="0" i="0">
                <a:solidFill>
                  <a:srgbClr val="BFAFCB"/>
                </a:solidFill>
                <a:latin typeface="Aptos"/>
                <a:ea typeface="Aptos"/>
                <a:cs typeface="Aptos"/>
              </a:defRPr>
            </a:pPr>
            <a:r>
              <a:rPr sz="1350" b="0" i="0">
                <a:solidFill>
                  <a:srgbClr val="BFAFCB"/>
                </a:solidFill>
                <a:latin typeface="Aptos"/>
                <a:ea typeface="Aptos"/>
                <a:cs typeface="Aptos"/>
              </a:rPr>
              <a:t>argument</a:t>
            </a:r>
          </a:p>
        </p:txBody>
      </p:sp>
      <p:sp>
        <p:nvSpPr>
          <p:cNvPr id="22" name="">
            <a:extLst xmlns:a="http://schemas.openxmlformats.org/drawingml/2006/main">
              <a:ext uri="{FF2B5EF4-FFF2-40B4-BE49-F238E27FC236}">
                <a16:creationId xmlns:a16="http://schemas.microsoft.com/office/drawing/2014/main" id="{647B7C88-B988-497F-99FA-70CC96121181}"/>
              </a:ext>
            </a:extLst>
          </p:cNvPr>
          <p:cNvSpPr>
            <a:spLocks xmlns:a="http://schemas.openxmlformats.org/drawingml/2006/main" noGrp="1"/>
          </p:cNvSpPr>
          <p:nvPr/>
        </p:nvSpPr>
        <p:spPr>
          <a:xfrm xmlns:a="http://schemas.openxmlformats.org/drawingml/2006/main">
            <a:off x="952500" y="5010150"/>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70D6A6"/>
                </a:solidFill>
                <a:latin typeface="Aptos"/>
                <a:ea typeface="Aptos"/>
                <a:cs typeface="Aptos"/>
              </a:defRPr>
            </a:pPr>
            <a:r>
              <a:rPr sz="1875" b="1" i="0">
                <a:solidFill>
                  <a:srgbClr val="70D6A6"/>
                </a:solidFill>
                <a:latin typeface="Aptos"/>
                <a:ea typeface="Aptos"/>
                <a:cs typeface="Aptos"/>
              </a:rPr>
              <a:t>Exit status 0 = success · non-zero = a condition or failure</a:t>
            </a:r>
          </a:p>
        </p:txBody>
      </p:sp>
    </p:spTree>
    <p:extLst>
      <p:ext uri="{BB962C8B-B14F-4D97-AF65-F5344CB8AC3E}">
        <p14:creationId xmlns:p14="http://schemas.microsoft.com/office/powerpoint/2010/main" val="926063270"/>
      </p:ext>
    </p:extLst>
  </p:cSld>
</p:sld>
</file>

<file path=ppt/slides/slide2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TERMINAL</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91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Terminal, shell, and command are separate layers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28</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TERMINAL</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input + display</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Keyboard and screen interface</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Local app or browser ttyd</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Transports control characters</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SHELL</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17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parser + launcher</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Expands variables and globs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Connects pipelines and redirections</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Starts programs and reports status</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The command is the program plus the arguments produced by the shell.</a:t>
            </a:r>
          </a:p>
        </p:txBody>
      </p:sp>
    </p:spTree>
    <p:extLst>
      <p:ext uri="{BB962C8B-B14F-4D97-AF65-F5344CB8AC3E}">
        <p14:creationId xmlns:p14="http://schemas.microsoft.com/office/powerpoint/2010/main" val="1882871272"/>
      </p:ext>
    </p:extLst>
  </p:cSld>
</p:sld>
</file>

<file path=ppt/slides/slide29.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Quoting decides what the shell expands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29</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Unquoted</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split words, expand variables, expand globs</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588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'single quotes'</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preserve every character literally</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588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"double quotes"</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expand variables but preserve one argument</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7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backslash</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escape the next character</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replace with captured command output</a:t>
            </a:r>
          </a:p>
        </p:txBody>
      </p:sp>
    </p:spTree>
    <p:extLst>
      <p:ext uri="{BB962C8B-B14F-4D97-AF65-F5344CB8AC3E}">
        <p14:creationId xmlns:p14="http://schemas.microsoft.com/office/powerpoint/2010/main" val="1018217464"/>
      </p:ext>
    </p:extLst>
  </p:cSld>
</p:sld>
</file>

<file path=ppt/slides/slide3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Shell expansion explains surprising commands</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30</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Parse</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8672"/>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recognize quotes, operators, and command boundaries</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Parameters</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replace $name and ${name}</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Commands</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replace $(...) with output</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Split</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09"/>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unquoted results may become several words</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Glob</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patterns may become many pathnames</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Execute</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run the final program and arguments</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31.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Exit status reports success or failure</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31</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0</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the command reports success</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1–125</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program-defined condition or failure</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126</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found but not executable</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127</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command not found</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978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128 + signal</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terminated by a signal</a:t>
            </a:r>
          </a:p>
        </p:txBody>
      </p:sp>
    </p:spTree>
    <p:extLst>
      <p:ext uri="{BB962C8B-B14F-4D97-AF65-F5344CB8AC3E}">
        <p14:creationId xmlns:p14="http://schemas.microsoft.com/office/powerpoint/2010/main" val="1018217464"/>
      </p:ext>
    </p:extLst>
  </p:cSld>
</p:sld>
</file>

<file path=ppt/slides/slide3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477"/>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Control operators and pipes solve different jobs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32</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&amp;&amp; AND ||</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control flow</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Run next only on success</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Or run fallback on failure</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Status determines the branch</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 PIPE</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data flow</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Connect stdout to stdin</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Commands run as a pipeline</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Last status is reported by default</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Use control operators for decisions and pipes for streams.</a:t>
            </a:r>
          </a:p>
        </p:txBody>
      </p:sp>
    </p:spTree>
    <p:extLst>
      <p:ext uri="{BB962C8B-B14F-4D97-AF65-F5344CB8AC3E}">
        <p14:creationId xmlns:p14="http://schemas.microsoft.com/office/powerpoint/2010/main" val="1882871272"/>
      </p:ext>
    </p:extLst>
  </p:cSld>
</p:sld>
</file>

<file path=ppt/slides/slide3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TERMINAL</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Navigate by asking, moving, then confirming</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33</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Where am I?</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pwd</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What is here?</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ls -la</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Move</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cd /var/log</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Create</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mkdir -p notes/archive</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Inspect</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cat · less · head · tail</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Find</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find · grep</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34.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HELP</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76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Use local help before trusting a random command</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34</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Quick syntax</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Full manual</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Shell built-ins</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command --help</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Short option summary</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Examples may be included</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Best for recall</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man command</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/pattern to search</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 for next result</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q to leave</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help cd</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type command</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command -V name</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distinguish aliases</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Local documentation matches the installed version.</a:t>
            </a:r>
          </a:p>
        </p:txBody>
      </p:sp>
    </p:spTree>
    <p:extLst>
      <p:ext uri="{BB962C8B-B14F-4D97-AF65-F5344CB8AC3E}">
        <p14:creationId xmlns:p14="http://schemas.microsoft.com/office/powerpoint/2010/main" val="281690250"/>
      </p:ext>
    </p:extLst>
  </p:cSld>
</p:sld>
</file>

<file path=ppt/slides/slide35.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4CFBF8F-CB57-4C26-B92E-5333B24D5E55}"/>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TERMINAL</a:t>
            </a:r>
          </a:p>
        </p:txBody>
      </p:sp>
      <p:sp>
        <p:nvSpPr>
          <p:cNvPr id="2" name="">
            <a:extLst xmlns:a="http://schemas.openxmlformats.org/drawingml/2006/main">
              <a:ext uri="{FF2B5EF4-FFF2-40B4-BE49-F238E27FC236}">
                <a16:creationId xmlns:a16="http://schemas.microsoft.com/office/drawing/2014/main" id="{B7D27E0A-5BA5-43BE-916D-8FC20D5222C1}"/>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Pipes connect small tools into an investigation</a:t>
            </a:r>
          </a:p>
        </p:txBody>
      </p:sp>
      <p:sp>
        <p:nvSpPr>
          <p:cNvPr id="3" name="">
            <a:extLst xmlns:a="http://schemas.openxmlformats.org/drawingml/2006/main">
              <a:ext uri="{FF2B5EF4-FFF2-40B4-BE49-F238E27FC236}">
                <a16:creationId xmlns:a16="http://schemas.microsoft.com/office/drawing/2014/main" id="{523436D0-7D9F-4172-B758-5DE61162800A}"/>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F6D975B-1453-4BDD-A9CA-FE11F5E040C3}"/>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0CB42B6-5EF7-4DBB-8E27-AC6D54535520}"/>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35</a:t>
            </a:r>
          </a:p>
        </p:txBody>
      </p:sp>
      <p:sp>
        <p:nvSpPr>
          <p:cNvPr id="6" name="">
            <a:extLst xmlns:a="http://schemas.openxmlformats.org/drawingml/2006/main">
              <a:ext uri="{FF2B5EF4-FFF2-40B4-BE49-F238E27FC236}">
                <a16:creationId xmlns:a16="http://schemas.microsoft.com/office/drawing/2014/main" id="{39B4D714-BEA4-4D62-B0F7-B7CF25708126}"/>
              </a:ext>
            </a:extLst>
          </p:cNvPr>
          <p:cNvSpPr>
            <a:spLocks xmlns:a="http://schemas.openxmlformats.org/drawingml/2006/main" noGrp="1"/>
          </p:cNvSpPr>
          <p:nvPr/>
        </p:nvSpPr>
        <p:spPr>
          <a:xfrm xmlns:a="http://schemas.openxmlformats.org/drawingml/2006/main">
            <a:off x="781050" y="1790700"/>
            <a:ext cx="10629900" cy="1066800"/>
          </a:xfrm>
          <a:prstGeom xmlns:a="http://schemas.openxmlformats.org/drawingml/2006/main" prst="roundRect">
            <a:avLst>
              <a:gd name="adj" fmla="val 14286"/>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60195E11-41DE-467D-B482-4DDE450250B1}"/>
              </a:ext>
            </a:extLst>
          </p:cNvPr>
          <p:cNvSpPr>
            <a:spLocks xmlns:a="http://schemas.openxmlformats.org/drawingml/2006/main" noGrp="1"/>
          </p:cNvSpPr>
          <p:nvPr/>
        </p:nvSpPr>
        <p:spPr>
          <a:xfrm xmlns:a="http://schemas.openxmlformats.org/drawingml/2006/main">
            <a:off x="781050" y="1790700"/>
            <a:ext cx="106299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CA7935C-8CAB-4B79-BD59-FA3205D415C5}"/>
              </a:ext>
            </a:extLst>
          </p:cNvPr>
          <p:cNvSpPr>
            <a:spLocks xmlns:a="http://schemas.openxmlformats.org/drawingml/2006/main" noGrp="1"/>
          </p:cNvSpPr>
          <p:nvPr/>
        </p:nvSpPr>
        <p:spPr>
          <a:xfrm xmlns:a="http://schemas.openxmlformats.org/drawingml/2006/main">
            <a:off x="781050" y="2057400"/>
            <a:ext cx="106299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9E2EE90-F62C-4E22-870A-DA9B977B8164}"/>
              </a:ext>
            </a:extLst>
          </p:cNvPr>
          <p:cNvSpPr>
            <a:spLocks xmlns:a="http://schemas.openxmlformats.org/drawingml/2006/main" noGrp="1"/>
          </p:cNvSpPr>
          <p:nvPr/>
        </p:nvSpPr>
        <p:spPr>
          <a:xfrm xmlns:a="http://schemas.openxmlformats.org/drawingml/2006/main">
            <a:off x="952500" y="19431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16C8D02-4926-4E47-84C9-5E9946A8E35F}"/>
              </a:ext>
            </a:extLst>
          </p:cNvPr>
          <p:cNvSpPr>
            <a:spLocks xmlns:a="http://schemas.openxmlformats.org/drawingml/2006/main" noGrp="1"/>
          </p:cNvSpPr>
          <p:nvPr/>
        </p:nvSpPr>
        <p:spPr>
          <a:xfrm xmlns:a="http://schemas.openxmlformats.org/drawingml/2006/main">
            <a:off x="1123950" y="19431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6B43021-06DD-4B80-914B-76A749102B20}"/>
              </a:ext>
            </a:extLst>
          </p:cNvPr>
          <p:cNvSpPr>
            <a:spLocks xmlns:a="http://schemas.openxmlformats.org/drawingml/2006/main" noGrp="1"/>
          </p:cNvSpPr>
          <p:nvPr/>
        </p:nvSpPr>
        <p:spPr>
          <a:xfrm xmlns:a="http://schemas.openxmlformats.org/drawingml/2006/main">
            <a:off x="1295400" y="19431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8626E2F-4826-434D-8FE3-C0F1D7D33E6C}"/>
              </a:ext>
            </a:extLst>
          </p:cNvPr>
          <p:cNvSpPr>
            <a:spLocks xmlns:a="http://schemas.openxmlformats.org/drawingml/2006/main" noGrp="1"/>
          </p:cNvSpPr>
          <p:nvPr/>
        </p:nvSpPr>
        <p:spPr>
          <a:xfrm xmlns:a="http://schemas.openxmlformats.org/drawingml/2006/main">
            <a:off x="1562100" y="1905000"/>
            <a:ext cx="9677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ONE QUESTION, THREE FILTERS</a:t>
            </a:r>
          </a:p>
        </p:txBody>
      </p:sp>
      <p:sp>
        <p:nvSpPr>
          <p:cNvPr id="13" name="">
            <a:extLst xmlns:a="http://schemas.openxmlformats.org/drawingml/2006/main">
              <a:ext uri="{FF2B5EF4-FFF2-40B4-BE49-F238E27FC236}">
                <a16:creationId xmlns:a16="http://schemas.microsoft.com/office/drawing/2014/main" id="{97842B58-CB68-4779-8761-78AED87BEC0C}"/>
              </a:ext>
            </a:extLst>
          </p:cNvPr>
          <p:cNvSpPr>
            <a:spLocks xmlns:a="http://schemas.openxmlformats.org/drawingml/2006/main" noGrp="1"/>
          </p:cNvSpPr>
          <p:nvPr/>
        </p:nvSpPr>
        <p:spPr>
          <a:xfrm xmlns:a="http://schemas.openxmlformats.org/drawingml/2006/main">
            <a:off x="1009650" y="2362200"/>
            <a:ext cx="101727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journalctl -u ssh --since today | grep -i failed | tail -n 20</a:t>
            </a:r>
          </a:p>
        </p:txBody>
      </p:sp>
      <p:sp>
        <p:nvSpPr>
          <p:cNvPr id="14" name="">
            <a:extLst xmlns:a="http://schemas.openxmlformats.org/drawingml/2006/main">
              <a:ext uri="{FF2B5EF4-FFF2-40B4-BE49-F238E27FC236}">
                <a16:creationId xmlns:a16="http://schemas.microsoft.com/office/drawing/2014/main" id="{69074CA0-4E94-4CDB-B454-EE5F1E47A7DE}"/>
              </a:ext>
            </a:extLst>
          </p:cNvPr>
          <p:cNvSpPr>
            <a:spLocks xmlns:a="http://schemas.openxmlformats.org/drawingml/2006/main" noGrp="1"/>
          </p:cNvSpPr>
          <p:nvPr/>
        </p:nvSpPr>
        <p:spPr>
          <a:xfrm xmlns:a="http://schemas.openxmlformats.org/drawingml/2006/main">
            <a:off x="914400" y="3429000"/>
            <a:ext cx="1238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000" b="1" i="0">
                <a:solidFill>
                  <a:srgbClr val="8B5CF6"/>
                </a:solidFill>
                <a:latin typeface="Courier New"/>
                <a:ea typeface="Courier New"/>
                <a:cs typeface="Courier New"/>
              </a:defRPr>
            </a:pPr>
            <a:r>
              <a:rPr sz="3000" b="1" i="0">
                <a:solidFill>
                  <a:srgbClr val="8B5CF6"/>
                </a:solidFill>
                <a:latin typeface="Courier New"/>
                <a:ea typeface="Courier New"/>
                <a:cs typeface="Courier New"/>
              </a:rPr>
              <a:t>|</a:t>
            </a:r>
          </a:p>
        </p:txBody>
      </p:sp>
      <p:sp>
        <p:nvSpPr>
          <p:cNvPr id="15" name="">
            <a:extLst xmlns:a="http://schemas.openxmlformats.org/drawingml/2006/main">
              <a:ext uri="{FF2B5EF4-FFF2-40B4-BE49-F238E27FC236}">
                <a16:creationId xmlns:a16="http://schemas.microsoft.com/office/drawing/2014/main" id="{9D402DDF-9ED6-4ADD-A85F-4B59D4C41674}"/>
              </a:ext>
            </a:extLst>
          </p:cNvPr>
          <p:cNvSpPr>
            <a:spLocks xmlns:a="http://schemas.openxmlformats.org/drawingml/2006/main" noGrp="1"/>
          </p:cNvSpPr>
          <p:nvPr/>
        </p:nvSpPr>
        <p:spPr>
          <a:xfrm xmlns:a="http://schemas.openxmlformats.org/drawingml/2006/main">
            <a:off x="2476500" y="3524250"/>
            <a:ext cx="781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160B20"/>
                </a:solidFill>
                <a:latin typeface="Aptos"/>
                <a:ea typeface="Aptos"/>
                <a:cs typeface="Aptos"/>
              </a:defRPr>
            </a:pPr>
            <a:r>
              <a:rPr sz="1800" b="0" i="0">
                <a:solidFill>
                  <a:srgbClr val="160B20"/>
                </a:solidFill>
                <a:latin typeface="Aptos"/>
                <a:ea typeface="Aptos"/>
                <a:cs typeface="Aptos"/>
              </a:rPr>
              <a:t>send output to the next command</a:t>
            </a:r>
          </a:p>
        </p:txBody>
      </p:sp>
      <p:sp>
        <p:nvSpPr>
          <p:cNvPr id="16" name="">
            <a:extLst xmlns:a="http://schemas.openxmlformats.org/drawingml/2006/main">
              <a:ext uri="{FF2B5EF4-FFF2-40B4-BE49-F238E27FC236}">
                <a16:creationId xmlns:a16="http://schemas.microsoft.com/office/drawing/2014/main" id="{4D9F659D-16DA-4CB0-B241-E9F4F4AC1EDD}"/>
              </a:ext>
            </a:extLst>
          </p:cNvPr>
          <p:cNvSpPr>
            <a:spLocks xmlns:a="http://schemas.openxmlformats.org/drawingml/2006/main" noGrp="1"/>
          </p:cNvSpPr>
          <p:nvPr/>
        </p:nvSpPr>
        <p:spPr>
          <a:xfrm xmlns:a="http://schemas.openxmlformats.org/drawingml/2006/main">
            <a:off x="914400" y="4171950"/>
            <a:ext cx="1238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000" b="1" i="0">
                <a:solidFill>
                  <a:srgbClr val="FF6B4A"/>
                </a:solidFill>
                <a:latin typeface="Courier New"/>
                <a:ea typeface="Courier New"/>
                <a:cs typeface="Courier New"/>
              </a:defRPr>
            </a:pPr>
            <a:r>
              <a:rPr sz="3000" b="1" i="0">
                <a:solidFill>
                  <a:srgbClr val="FF6B4A"/>
                </a:solidFill>
                <a:latin typeface="Courier New"/>
                <a:ea typeface="Courier New"/>
                <a:cs typeface="Courier New"/>
              </a:rPr>
              <a:t>&gt;</a:t>
            </a:r>
          </a:p>
        </p:txBody>
      </p:sp>
      <p:sp>
        <p:nvSpPr>
          <p:cNvPr id="17" name="">
            <a:extLst xmlns:a="http://schemas.openxmlformats.org/drawingml/2006/main">
              <a:ext uri="{FF2B5EF4-FFF2-40B4-BE49-F238E27FC236}">
                <a16:creationId xmlns:a16="http://schemas.microsoft.com/office/drawing/2014/main" id="{8A84CFF3-4702-433F-9877-647DA52856C9}"/>
              </a:ext>
            </a:extLst>
          </p:cNvPr>
          <p:cNvSpPr>
            <a:spLocks xmlns:a="http://schemas.openxmlformats.org/drawingml/2006/main" noGrp="1"/>
          </p:cNvSpPr>
          <p:nvPr/>
        </p:nvSpPr>
        <p:spPr>
          <a:xfrm xmlns:a="http://schemas.openxmlformats.org/drawingml/2006/main">
            <a:off x="2476500" y="4267200"/>
            <a:ext cx="781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160B20"/>
                </a:solidFill>
                <a:latin typeface="Aptos"/>
                <a:ea typeface="Aptos"/>
                <a:cs typeface="Aptos"/>
              </a:defRPr>
            </a:pPr>
            <a:r>
              <a:rPr sz="1800" b="0" i="0">
                <a:solidFill>
                  <a:srgbClr val="160B20"/>
                </a:solidFill>
                <a:latin typeface="Aptos"/>
                <a:ea typeface="Aptos"/>
                <a:cs typeface="Aptos"/>
              </a:rPr>
              <a:t>replace a file with output</a:t>
            </a:r>
          </a:p>
        </p:txBody>
      </p:sp>
      <p:sp>
        <p:nvSpPr>
          <p:cNvPr id="18" name="">
            <a:extLst xmlns:a="http://schemas.openxmlformats.org/drawingml/2006/main">
              <a:ext uri="{FF2B5EF4-FFF2-40B4-BE49-F238E27FC236}">
                <a16:creationId xmlns:a16="http://schemas.microsoft.com/office/drawing/2014/main" id="{7BA17690-0F90-4E7E-8423-F98ED7208C50}"/>
              </a:ext>
            </a:extLst>
          </p:cNvPr>
          <p:cNvSpPr>
            <a:spLocks xmlns:a="http://schemas.openxmlformats.org/drawingml/2006/main" noGrp="1"/>
          </p:cNvSpPr>
          <p:nvPr/>
        </p:nvSpPr>
        <p:spPr>
          <a:xfrm xmlns:a="http://schemas.openxmlformats.org/drawingml/2006/main">
            <a:off x="914400" y="4914900"/>
            <a:ext cx="1238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000" b="1" i="0">
                <a:solidFill>
                  <a:srgbClr val="FF6B4A"/>
                </a:solidFill>
                <a:latin typeface="Courier New"/>
                <a:ea typeface="Courier New"/>
                <a:cs typeface="Courier New"/>
              </a:defRPr>
            </a:pPr>
            <a:r>
              <a:rPr sz="3000" b="1" i="0">
                <a:solidFill>
                  <a:srgbClr val="FF6B4A"/>
                </a:solidFill>
                <a:latin typeface="Courier New"/>
                <a:ea typeface="Courier New"/>
                <a:cs typeface="Courier New"/>
              </a:rPr>
              <a:t>&gt;&gt;</a:t>
            </a:r>
          </a:p>
        </p:txBody>
      </p:sp>
      <p:sp>
        <p:nvSpPr>
          <p:cNvPr id="19" name="">
            <a:extLst xmlns:a="http://schemas.openxmlformats.org/drawingml/2006/main">
              <a:ext uri="{FF2B5EF4-FFF2-40B4-BE49-F238E27FC236}">
                <a16:creationId xmlns:a16="http://schemas.microsoft.com/office/drawing/2014/main" id="{90187D4F-8298-49BE-9C9C-1C64EEE0BB62}"/>
              </a:ext>
            </a:extLst>
          </p:cNvPr>
          <p:cNvSpPr>
            <a:spLocks xmlns:a="http://schemas.openxmlformats.org/drawingml/2006/main" noGrp="1"/>
          </p:cNvSpPr>
          <p:nvPr/>
        </p:nvSpPr>
        <p:spPr>
          <a:xfrm xmlns:a="http://schemas.openxmlformats.org/drawingml/2006/main">
            <a:off x="2476500" y="5010150"/>
            <a:ext cx="781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160B20"/>
                </a:solidFill>
                <a:latin typeface="Aptos"/>
                <a:ea typeface="Aptos"/>
                <a:cs typeface="Aptos"/>
              </a:defRPr>
            </a:pPr>
            <a:r>
              <a:rPr sz="1800" b="0" i="0">
                <a:solidFill>
                  <a:srgbClr val="160B20"/>
                </a:solidFill>
                <a:latin typeface="Aptos"/>
                <a:ea typeface="Aptos"/>
                <a:cs typeface="Aptos"/>
              </a:rPr>
              <a:t>append output to a file</a:t>
            </a:r>
          </a:p>
        </p:txBody>
      </p:sp>
      <p:sp>
        <p:nvSpPr>
          <p:cNvPr id="20" name="">
            <a:extLst xmlns:a="http://schemas.openxmlformats.org/drawingml/2006/main">
              <a:ext uri="{FF2B5EF4-FFF2-40B4-BE49-F238E27FC236}">
                <a16:creationId xmlns:a16="http://schemas.microsoft.com/office/drawing/2014/main" id="{E50ECEE6-A788-4533-AC9E-87EB4A01344D}"/>
              </a:ext>
            </a:extLst>
          </p:cNvPr>
          <p:cNvSpPr>
            <a:spLocks xmlns:a="http://schemas.openxmlformats.org/drawingml/2006/main" noGrp="1"/>
          </p:cNvSpPr>
          <p:nvPr/>
        </p:nvSpPr>
        <p:spPr>
          <a:xfrm xmlns:a="http://schemas.openxmlformats.org/drawingml/2006/main">
            <a:off x="914400" y="5734050"/>
            <a:ext cx="1009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1" i="0">
                <a:solidFill>
                  <a:srgbClr val="6F6277"/>
                </a:solidFill>
                <a:latin typeface="Aptos"/>
                <a:ea typeface="Aptos"/>
                <a:cs typeface="Aptos"/>
              </a:defRPr>
            </a:pPr>
            <a:r>
              <a:rPr sz="1650" b="1" i="0">
                <a:solidFill>
                  <a:srgbClr val="6F6277"/>
                </a:solidFill>
                <a:latin typeface="Aptos"/>
                <a:ea typeface="Aptos"/>
                <a:cs typeface="Aptos"/>
              </a:rPr>
              <a:t>Rule: inspect before &gt; — redirection happens before the command runs.</a:t>
            </a:r>
          </a:p>
        </p:txBody>
      </p:sp>
    </p:spTree>
    <p:extLst>
      <p:ext uri="{BB962C8B-B14F-4D97-AF65-F5344CB8AC3E}">
        <p14:creationId xmlns:p14="http://schemas.microsoft.com/office/powerpoint/2010/main" val="972863495"/>
      </p:ext>
    </p:extLst>
  </p:cSld>
</p:sld>
</file>

<file path=ppt/slides/slide36.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 / STREAMS</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Processes start with three standard streams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36</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stdin</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file descriptor 0: keyboard or pipe input</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stdout</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file descriptor 1: normal output</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stderr</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file descriptor 2: diagnostics</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&gt;</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replace a file with stdout</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2&gt;</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replace a file with stderr</a:t>
            </a:r>
          </a:p>
        </p:txBody>
      </p:sp>
    </p:spTree>
    <p:extLst>
      <p:ext uri="{BB962C8B-B14F-4D97-AF65-F5344CB8AC3E}">
        <p14:creationId xmlns:p14="http://schemas.microsoft.com/office/powerpoint/2010/main" val="1018217464"/>
      </p:ext>
    </p:extLst>
  </p:cSld>
</p:sld>
</file>

<file path=ppt/slides/slide37.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 / PIPELINES</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Build pipelines as readable evidence stages</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37</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Question</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state the answer you need</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Source</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choose the smallest relevant input</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Filter</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remove unrelated records</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Transform</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extract, sort, or count</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Verify</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inspect samples and totals</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990"/>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A long pipeline is maintainable when each stage has one job and can be tested independently.</a:t>
            </a:r>
          </a:p>
        </p:txBody>
      </p:sp>
    </p:spTree>
    <p:extLst>
      <p:ext uri="{BB962C8B-B14F-4D97-AF65-F5344CB8AC3E}">
        <p14:creationId xmlns:p14="http://schemas.microsoft.com/office/powerpoint/2010/main" val="802295806"/>
      </p:ext>
    </p:extLst>
  </p:cSld>
</p:sld>
</file>

<file path=ppt/slides/slide3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3 / TEXT EVIDENCE</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137"/>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Live demo: derive a pipeline from record structure</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38</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INSPECT FORMAT</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head auth.log</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Confirm timestamp + key=value fields</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Ask: which sources failed?</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Keep diagnostics visible</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TRANSFORM DELIBERATELY</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0302"/>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filter → extract → sort</a:t>
            </a:r>
          </a:p>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 count</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Save selected records first</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Count the saved evidence</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Explain each stage aloud</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Lab 3 uses different files and record grammars; copy-paste will not solve it.</a:t>
            </a:r>
          </a:p>
        </p:txBody>
      </p:sp>
    </p:spTree>
    <p:extLst>
      <p:ext uri="{BB962C8B-B14F-4D97-AF65-F5344CB8AC3E}">
        <p14:creationId xmlns:p14="http://schemas.microsoft.com/office/powerpoint/2010/main" val="1882871272"/>
      </p:ext>
    </p:extLst>
  </p:cSld>
</p:sld>
</file>

<file path=ppt/slides/slide39.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30FF9600-D115-447F-890A-A28F3FCBD4D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TERMINAL EDITOR</a:t>
            </a:r>
          </a:p>
        </p:txBody>
      </p:sp>
      <p:sp>
        <p:nvSpPr>
          <p:cNvPr id="2" name="">
            <a:extLst xmlns:a="http://schemas.openxmlformats.org/drawingml/2006/main">
              <a:ext uri="{FF2B5EF4-FFF2-40B4-BE49-F238E27FC236}">
                <a16:creationId xmlns:a16="http://schemas.microsoft.com/office/drawing/2014/main" id="{7AF9E74C-2FD5-479E-A022-444729A29E43}"/>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Nano is enough to make a safe first edit</a:t>
            </a:r>
          </a:p>
        </p:txBody>
      </p:sp>
      <p:sp>
        <p:nvSpPr>
          <p:cNvPr id="3" name="">
            <a:extLst xmlns:a="http://schemas.openxmlformats.org/drawingml/2006/main">
              <a:ext uri="{FF2B5EF4-FFF2-40B4-BE49-F238E27FC236}">
                <a16:creationId xmlns:a16="http://schemas.microsoft.com/office/drawing/2014/main" id="{6020DA77-DF5B-48C9-95CE-0A3DB28F8502}"/>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7475639-225B-430C-9E14-A85AA8A7D24B}"/>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F0FD55E3-47EB-4BBD-ACE7-74AA08E9102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39</a:t>
            </a:r>
          </a:p>
        </p:txBody>
      </p:sp>
      <p:sp>
        <p:nvSpPr>
          <p:cNvPr id="6" name="">
            <a:extLst xmlns:a="http://schemas.openxmlformats.org/drawingml/2006/main">
              <a:ext uri="{FF2B5EF4-FFF2-40B4-BE49-F238E27FC236}">
                <a16:creationId xmlns:a16="http://schemas.microsoft.com/office/drawing/2014/main" id="{944EEA2A-E3EF-4EC5-8C66-1064BEBF4814}"/>
              </a:ext>
            </a:extLst>
          </p:cNvPr>
          <p:cNvSpPr>
            <a:spLocks xmlns:a="http://schemas.openxmlformats.org/drawingml/2006/main" noGrp="1"/>
          </p:cNvSpPr>
          <p:nvPr/>
        </p:nvSpPr>
        <p:spPr>
          <a:xfrm xmlns:a="http://schemas.openxmlformats.org/drawingml/2006/main">
            <a:off x="838200" y="1762125"/>
            <a:ext cx="5334000" cy="3448050"/>
          </a:xfrm>
          <a:prstGeom xmlns:a="http://schemas.openxmlformats.org/drawingml/2006/main" prst="roundRect">
            <a:avLst>
              <a:gd name="adj" fmla="val 4420"/>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42A9B912-77FE-4D92-8CE8-A6C0143E2799}"/>
              </a:ext>
            </a:extLst>
          </p:cNvPr>
          <p:cNvSpPr>
            <a:spLocks xmlns:a="http://schemas.openxmlformats.org/drawingml/2006/main" noGrp="1"/>
          </p:cNvSpPr>
          <p:nvPr/>
        </p:nvSpPr>
        <p:spPr>
          <a:xfrm xmlns:a="http://schemas.openxmlformats.org/drawingml/2006/main">
            <a:off x="838200" y="1762125"/>
            <a:ext cx="5334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315CC88-9D6B-44F3-97BC-0EFEA3FB47D7}"/>
              </a:ext>
            </a:extLst>
          </p:cNvPr>
          <p:cNvSpPr>
            <a:spLocks xmlns:a="http://schemas.openxmlformats.org/drawingml/2006/main" noGrp="1"/>
          </p:cNvSpPr>
          <p:nvPr/>
        </p:nvSpPr>
        <p:spPr>
          <a:xfrm xmlns:a="http://schemas.openxmlformats.org/drawingml/2006/main">
            <a:off x="838200" y="2028825"/>
            <a:ext cx="5334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1F8FCB8-D80B-4E13-B80A-03B744C4C2FA}"/>
              </a:ext>
            </a:extLst>
          </p:cNvPr>
          <p:cNvSpPr>
            <a:spLocks xmlns:a="http://schemas.openxmlformats.org/drawingml/2006/main" noGrp="1"/>
          </p:cNvSpPr>
          <p:nvPr/>
        </p:nvSpPr>
        <p:spPr>
          <a:xfrm xmlns:a="http://schemas.openxmlformats.org/drawingml/2006/main">
            <a:off x="1009650" y="1914525"/>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66E2888-55BF-483E-99F3-B9E22701AE85}"/>
              </a:ext>
            </a:extLst>
          </p:cNvPr>
          <p:cNvSpPr>
            <a:spLocks xmlns:a="http://schemas.openxmlformats.org/drawingml/2006/main" noGrp="1"/>
          </p:cNvSpPr>
          <p:nvPr/>
        </p:nvSpPr>
        <p:spPr>
          <a:xfrm xmlns:a="http://schemas.openxmlformats.org/drawingml/2006/main">
            <a:off x="1181100" y="1914525"/>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BE9AC04-98DF-4720-BDE8-3DB65BCBB0B0}"/>
              </a:ext>
            </a:extLst>
          </p:cNvPr>
          <p:cNvSpPr>
            <a:spLocks xmlns:a="http://schemas.openxmlformats.org/drawingml/2006/main" noGrp="1"/>
          </p:cNvSpPr>
          <p:nvPr/>
        </p:nvSpPr>
        <p:spPr>
          <a:xfrm xmlns:a="http://schemas.openxmlformats.org/drawingml/2006/main">
            <a:off x="1352550" y="1914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7F907E8-F377-406A-A3E8-9C2F176327EE}"/>
              </a:ext>
            </a:extLst>
          </p:cNvPr>
          <p:cNvSpPr>
            <a:spLocks xmlns:a="http://schemas.openxmlformats.org/drawingml/2006/main" noGrp="1"/>
          </p:cNvSpPr>
          <p:nvPr/>
        </p:nvSpPr>
        <p:spPr>
          <a:xfrm xmlns:a="http://schemas.openxmlformats.org/drawingml/2006/main">
            <a:off x="1619250" y="1876425"/>
            <a:ext cx="438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8B5CF6"/>
                </a:solidFill>
                <a:latin typeface="Aptos"/>
                <a:ea typeface="Aptos"/>
                <a:cs typeface="Aptos"/>
              </a:defRPr>
            </a:pPr>
            <a:r>
              <a:rPr sz="900" b="1" i="0">
                <a:solidFill>
                  <a:srgbClr val="8B5CF6"/>
                </a:solidFill>
                <a:latin typeface="Aptos"/>
                <a:ea typeface="Aptos"/>
                <a:cs typeface="Aptos"/>
              </a:rPr>
              <a:t>NANO</a:t>
            </a:r>
          </a:p>
        </p:txBody>
      </p:sp>
      <p:sp>
        <p:nvSpPr>
          <p:cNvPr id="13" name="">
            <a:extLst xmlns:a="http://schemas.openxmlformats.org/drawingml/2006/main">
              <a:ext uri="{FF2B5EF4-FFF2-40B4-BE49-F238E27FC236}">
                <a16:creationId xmlns:a16="http://schemas.microsoft.com/office/drawing/2014/main" id="{A6F30B7B-D00B-4027-B0B7-72DAB6096361}"/>
              </a:ext>
            </a:extLst>
          </p:cNvPr>
          <p:cNvSpPr>
            <a:spLocks xmlns:a="http://schemas.openxmlformats.org/drawingml/2006/main" noGrp="1"/>
          </p:cNvSpPr>
          <p:nvPr/>
        </p:nvSpPr>
        <p:spPr>
          <a:xfrm xmlns:a="http://schemas.openxmlformats.org/drawingml/2006/main">
            <a:off x="1066800" y="2333625"/>
            <a:ext cx="4876800" cy="2686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nano ~/linux-course/notes/day1.txt</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^O  Write Out / save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^X  Exit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^W  Search</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^K  Cut line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^U  Paste line</a:t>
            </a:r>
          </a:p>
        </p:txBody>
      </p:sp>
      <p:sp>
        <p:nvSpPr>
          <p:cNvPr id="14" name="">
            <a:extLst xmlns:a="http://schemas.openxmlformats.org/drawingml/2006/main">
              <a:ext uri="{FF2B5EF4-FFF2-40B4-BE49-F238E27FC236}">
                <a16:creationId xmlns:a16="http://schemas.microsoft.com/office/drawing/2014/main" id="{AE35091D-EED6-425F-ABB5-70BF18E9265B}"/>
              </a:ext>
            </a:extLst>
          </p:cNvPr>
          <p:cNvSpPr>
            <a:spLocks xmlns:a="http://schemas.openxmlformats.org/drawingml/2006/main" noGrp="1"/>
          </p:cNvSpPr>
          <p:nvPr/>
        </p:nvSpPr>
        <p:spPr>
          <a:xfrm xmlns:a="http://schemas.openxmlformats.org/drawingml/2006/main">
            <a:off x="7239000" y="1962150"/>
            <a:ext cx="3238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850" b="1" i="0">
                <a:solidFill>
                  <a:srgbClr val="FF6B4A"/>
                </a:solidFill>
                <a:latin typeface="Aptos"/>
                <a:ea typeface="Aptos"/>
                <a:cs typeface="Aptos"/>
              </a:defRPr>
            </a:pPr>
            <a:r>
              <a:rPr sz="2850" b="1" i="0">
                <a:solidFill>
                  <a:srgbClr val="FF6B4A"/>
                </a:solidFill>
                <a:latin typeface="Aptos"/>
                <a:ea typeface="Aptos"/>
                <a:cs typeface="Aptos"/>
              </a:rPr>
              <a:t>^ means Ctrl</a:t>
            </a:r>
          </a:p>
        </p:txBody>
      </p:sp>
      <p:sp>
        <p:nvSpPr>
          <p:cNvPr id="15" name="">
            <a:extLst xmlns:a="http://schemas.openxmlformats.org/drawingml/2006/main">
              <a:ext uri="{FF2B5EF4-FFF2-40B4-BE49-F238E27FC236}">
                <a16:creationId xmlns:a16="http://schemas.microsoft.com/office/drawing/2014/main" id="{1B55E006-728B-4159-B832-58B3D5D5D122}"/>
              </a:ext>
            </a:extLst>
          </p:cNvPr>
          <p:cNvSpPr>
            <a:spLocks xmlns:a="http://schemas.openxmlformats.org/drawingml/2006/main" noGrp="1"/>
          </p:cNvSpPr>
          <p:nvPr/>
        </p:nvSpPr>
        <p:spPr>
          <a:xfrm xmlns:a="http://schemas.openxmlformats.org/drawingml/2006/main">
            <a:off x="6953250" y="2924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FCC8E88-9A60-43A8-A394-88D5F42547C7}"/>
              </a:ext>
            </a:extLst>
          </p:cNvPr>
          <p:cNvSpPr>
            <a:spLocks xmlns:a="http://schemas.openxmlformats.org/drawingml/2006/main" noGrp="1"/>
          </p:cNvSpPr>
          <p:nvPr/>
        </p:nvSpPr>
        <p:spPr>
          <a:xfrm xmlns:a="http://schemas.openxmlformats.org/drawingml/2006/main">
            <a:off x="7219950" y="2857500"/>
            <a:ext cx="3829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Open the exact path</a:t>
            </a:r>
          </a:p>
        </p:txBody>
      </p:sp>
      <p:sp>
        <p:nvSpPr>
          <p:cNvPr id="17" name="">
            <a:extLst xmlns:a="http://schemas.openxmlformats.org/drawingml/2006/main">
              <a:ext uri="{FF2B5EF4-FFF2-40B4-BE49-F238E27FC236}">
                <a16:creationId xmlns:a16="http://schemas.microsoft.com/office/drawing/2014/main" id="{9A293F35-BBA1-413F-A7B3-FECADCDCCE4B}"/>
              </a:ext>
            </a:extLst>
          </p:cNvPr>
          <p:cNvSpPr>
            <a:spLocks xmlns:a="http://schemas.openxmlformats.org/drawingml/2006/main" noGrp="1"/>
          </p:cNvSpPr>
          <p:nvPr/>
        </p:nvSpPr>
        <p:spPr>
          <a:xfrm xmlns:a="http://schemas.openxmlformats.org/drawingml/2006/main">
            <a:off x="6953250" y="3514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6797C29-AB02-451D-B8B2-C1E7FC1EA27B}"/>
              </a:ext>
            </a:extLst>
          </p:cNvPr>
          <p:cNvSpPr>
            <a:spLocks xmlns:a="http://schemas.openxmlformats.org/drawingml/2006/main" noGrp="1"/>
          </p:cNvSpPr>
          <p:nvPr/>
        </p:nvSpPr>
        <p:spPr>
          <a:xfrm xmlns:a="http://schemas.openxmlformats.org/drawingml/2006/main">
            <a:off x="7219950" y="3448050"/>
            <a:ext cx="3829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Make one small change</a:t>
            </a:r>
          </a:p>
        </p:txBody>
      </p:sp>
      <p:sp>
        <p:nvSpPr>
          <p:cNvPr id="19" name="">
            <a:extLst xmlns:a="http://schemas.openxmlformats.org/drawingml/2006/main">
              <a:ext uri="{FF2B5EF4-FFF2-40B4-BE49-F238E27FC236}">
                <a16:creationId xmlns:a16="http://schemas.microsoft.com/office/drawing/2014/main" id="{B57622B9-7EBD-426D-A6FF-FBAD8ECFBA22}"/>
              </a:ext>
            </a:extLst>
          </p:cNvPr>
          <p:cNvSpPr>
            <a:spLocks xmlns:a="http://schemas.openxmlformats.org/drawingml/2006/main" noGrp="1"/>
          </p:cNvSpPr>
          <p:nvPr/>
        </p:nvSpPr>
        <p:spPr>
          <a:xfrm xmlns:a="http://schemas.openxmlformats.org/drawingml/2006/main">
            <a:off x="6953250" y="4105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03BB0D5-F572-4E55-A22E-1E2D86D9AF5F}"/>
              </a:ext>
            </a:extLst>
          </p:cNvPr>
          <p:cNvSpPr>
            <a:spLocks xmlns:a="http://schemas.openxmlformats.org/drawingml/2006/main" noGrp="1"/>
          </p:cNvSpPr>
          <p:nvPr/>
        </p:nvSpPr>
        <p:spPr>
          <a:xfrm xmlns:a="http://schemas.openxmlformats.org/drawingml/2006/main">
            <a:off x="7219950" y="4038600"/>
            <a:ext cx="3829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Save, exit, then verify</a:t>
            </a:r>
          </a:p>
        </p:txBody>
      </p:sp>
      <p:sp>
        <p:nvSpPr>
          <p:cNvPr id="21" name="">
            <a:extLst xmlns:a="http://schemas.openxmlformats.org/drawingml/2006/main">
              <a:ext uri="{FF2B5EF4-FFF2-40B4-BE49-F238E27FC236}">
                <a16:creationId xmlns:a16="http://schemas.microsoft.com/office/drawing/2014/main" id="{974D9FBA-5E18-4A2C-B4A0-DF614CC83794}"/>
              </a:ext>
            </a:extLst>
          </p:cNvPr>
          <p:cNvSpPr>
            <a:spLocks xmlns:a="http://schemas.openxmlformats.org/drawingml/2006/main" noGrp="1"/>
          </p:cNvSpPr>
          <p:nvPr/>
        </p:nvSpPr>
        <p:spPr>
          <a:xfrm xmlns:a="http://schemas.openxmlformats.org/drawingml/2006/main">
            <a:off x="6953250" y="4695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2E073ED-7090-4E16-BECB-342F8D7F8638}"/>
              </a:ext>
            </a:extLst>
          </p:cNvPr>
          <p:cNvSpPr>
            <a:spLocks xmlns:a="http://schemas.openxmlformats.org/drawingml/2006/main" noGrp="1"/>
          </p:cNvSpPr>
          <p:nvPr/>
        </p:nvSpPr>
        <p:spPr>
          <a:xfrm xmlns:a="http://schemas.openxmlformats.org/drawingml/2006/main">
            <a:off x="7219950" y="4629150"/>
            <a:ext cx="3829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Use sudoedit for protected files</a:t>
            </a:r>
          </a:p>
        </p:txBody>
      </p:sp>
      <p:sp>
        <p:nvSpPr>
          <p:cNvPr id="23" name="">
            <a:extLst xmlns:a="http://schemas.openxmlformats.org/drawingml/2006/main">
              <a:ext uri="{FF2B5EF4-FFF2-40B4-BE49-F238E27FC236}">
                <a16:creationId xmlns:a16="http://schemas.microsoft.com/office/drawing/2014/main" id="{DB016901-7358-4B14-B280-4DBE80FEB0F2}"/>
              </a:ext>
            </a:extLst>
          </p:cNvPr>
          <p:cNvSpPr>
            <a:spLocks xmlns:a="http://schemas.openxmlformats.org/drawingml/2006/main" noGrp="1"/>
          </p:cNvSpPr>
          <p:nvPr/>
        </p:nvSpPr>
        <p:spPr>
          <a:xfrm xmlns:a="http://schemas.openxmlformats.org/drawingml/2006/main">
            <a:off x="6953250" y="5448300"/>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Editing is not verification.</a:t>
            </a:r>
          </a:p>
        </p:txBody>
      </p:sp>
    </p:spTree>
    <p:extLst>
      <p:ext uri="{BB962C8B-B14F-4D97-AF65-F5344CB8AC3E}">
        <p14:creationId xmlns:p14="http://schemas.microsoft.com/office/powerpoint/2010/main" val="1063737308"/>
      </p:ext>
    </p:extLst>
  </p:cSld>
</p:sld>
</file>

<file path=ppt/slides/slide4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TERMINAL EDITOR</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Safe edits use backup, diff, and validation</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40</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Inspect</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read the current file and ownership</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Protect</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copy or use version control where appropriate</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Edit</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nano or sudoedit the exact path</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Validate</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use the program’s syntax checker</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Apply</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reload or restart, then verify behavior</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631"/>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Saving a file proves only that bytes changed. It does not prove the configuration is valid or active.</a:t>
            </a:r>
          </a:p>
        </p:txBody>
      </p:sp>
    </p:spTree>
    <p:extLst>
      <p:ext uri="{BB962C8B-B14F-4D97-AF65-F5344CB8AC3E}">
        <p14:creationId xmlns:p14="http://schemas.microsoft.com/office/powerpoint/2010/main" val="802295806"/>
      </p:ext>
    </p:extLst>
  </p:cSld>
</p:sld>
</file>

<file path=ppt/slides/slide41.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D9833BD3-0672-4779-9EB3-8E71DC050B3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HANDS-ON / LAB 3</a:t>
            </a:r>
          </a:p>
        </p:txBody>
      </p:sp>
      <p:sp>
        <p:nvSpPr>
          <p:cNvPr id="2" name="">
            <a:extLst xmlns:a="http://schemas.openxmlformats.org/drawingml/2006/main">
              <a:ext uri="{FF2B5EF4-FFF2-40B4-BE49-F238E27FC236}">
                <a16:creationId xmlns:a16="http://schemas.microsoft.com/office/drawing/2014/main" id="{D247334C-6068-4782-81A5-2555B3D14565}"/>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577"/>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Lab 3 — Turn configuration and logs into evidence</a:t>
            </a:r>
          </a:p>
        </p:txBody>
      </p:sp>
      <p:sp>
        <p:nvSpPr>
          <p:cNvPr id="3" name="">
            <a:extLst xmlns:a="http://schemas.openxmlformats.org/drawingml/2006/main">
              <a:ext uri="{FF2B5EF4-FFF2-40B4-BE49-F238E27FC236}">
                <a16:creationId xmlns:a16="http://schemas.microsoft.com/office/drawing/2014/main" id="{5B7E1CFF-45E6-46A2-AC95-345A45864F6C}"/>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48BD663-E972-4A30-92C1-C04C99DD27E6}"/>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C00D4498-7AEF-4978-A0D4-A384B6DF2296}"/>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41</a:t>
            </a:r>
          </a:p>
        </p:txBody>
      </p:sp>
      <p:sp>
        <p:nvSpPr>
          <p:cNvPr id="6" name="">
            <a:extLst xmlns:a="http://schemas.openxmlformats.org/drawingml/2006/main">
              <a:ext uri="{FF2B5EF4-FFF2-40B4-BE49-F238E27FC236}">
                <a16:creationId xmlns:a16="http://schemas.microsoft.com/office/drawing/2014/main" id="{324D7AA5-1B7A-46F0-B60D-AFDF7AA06C69}"/>
              </a:ext>
            </a:extLst>
          </p:cNvPr>
          <p:cNvSpPr>
            <a:spLocks xmlns:a="http://schemas.openxmlformats.org/drawingml/2006/main" noGrp="1"/>
          </p:cNvSpPr>
          <p:nvPr/>
        </p:nvSpPr>
        <p:spPr>
          <a:xfrm xmlns:a="http://schemas.openxmlformats.org/drawingml/2006/main">
            <a:off x="800100" y="17907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MISSION · 20 MIN</a:t>
            </a:r>
          </a:p>
        </p:txBody>
      </p:sp>
      <p:sp>
        <p:nvSpPr>
          <p:cNvPr id="7" name="">
            <a:extLst xmlns:a="http://schemas.openxmlformats.org/drawingml/2006/main">
              <a:ext uri="{FF2B5EF4-FFF2-40B4-BE49-F238E27FC236}">
                <a16:creationId xmlns:a16="http://schemas.microsoft.com/office/drawing/2014/main" id="{F9415872-9C11-409D-903F-82DFBD71123F}"/>
              </a:ext>
            </a:extLst>
          </p:cNvPr>
          <p:cNvSpPr>
            <a:spLocks xmlns:a="http://schemas.openxmlformats.org/drawingml/2006/main" noGrp="1"/>
          </p:cNvSpPr>
          <p:nvPr/>
        </p:nvSpPr>
        <p:spPr>
          <a:xfrm xmlns:a="http://schemas.openxmlformats.org/drawingml/2006/main">
            <a:off x="800100" y="2228850"/>
            <a:ext cx="4095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Editor and text evidence</a:t>
            </a:r>
          </a:p>
        </p:txBody>
      </p:sp>
      <p:sp>
        <p:nvSpPr>
          <p:cNvPr id="8" name="">
            <a:extLst xmlns:a="http://schemas.openxmlformats.org/drawingml/2006/main">
              <a:ext uri="{FF2B5EF4-FFF2-40B4-BE49-F238E27FC236}">
                <a16:creationId xmlns:a16="http://schemas.microsoft.com/office/drawing/2014/main" id="{AF5C6E71-8DD4-4FC1-BEE6-6BBC5B9C2F42}"/>
              </a:ext>
            </a:extLst>
          </p:cNvPr>
          <p:cNvSpPr>
            <a:spLocks xmlns:a="http://schemas.openxmlformats.org/drawingml/2006/main" noGrp="1"/>
          </p:cNvSpPr>
          <p:nvPr/>
        </p:nvSpPr>
        <p:spPr>
          <a:xfrm xmlns:a="http://schemas.openxmlformats.org/drawingml/2006/main">
            <a:off x="800100" y="3009900"/>
            <a:ext cx="4953000" cy="2190750"/>
          </a:xfrm>
          <a:prstGeom xmlns:a="http://schemas.openxmlformats.org/drawingml/2006/main" prst="roundRect">
            <a:avLst>
              <a:gd name="adj" fmla="val 6957"/>
            </a:avLst>
          </a:prstGeom>
          <a:solidFill xmlns:a="http://schemas.openxmlformats.org/drawingml/2006/main">
            <a:srgbClr val="28183A"/>
          </a:solidFill>
          <a:ln xmlns:a="http://schemas.openxmlformats.org/drawingml/2006/main" w="9525">
            <a:solidFill>
              <a:srgbClr val="4A335D"/>
            </a:solidFill>
            <a:prstDash val="solid"/>
          </a:ln>
        </p:spPr>
      </p:sp>
      <p:sp>
        <p:nvSpPr>
          <p:cNvPr id="9" name="">
            <a:extLst xmlns:a="http://schemas.openxmlformats.org/drawingml/2006/main">
              <a:ext uri="{FF2B5EF4-FFF2-40B4-BE49-F238E27FC236}">
                <a16:creationId xmlns:a16="http://schemas.microsoft.com/office/drawing/2014/main" id="{80367D35-5EDB-429E-922C-C046DC415680}"/>
              </a:ext>
            </a:extLst>
          </p:cNvPr>
          <p:cNvSpPr>
            <a:spLocks xmlns:a="http://schemas.openxmlformats.org/drawingml/2006/main" noGrp="1"/>
          </p:cNvSpPr>
          <p:nvPr/>
        </p:nvSpPr>
        <p:spPr>
          <a:xfrm xmlns:a="http://schemas.openxmlformats.org/drawingml/2006/main">
            <a:off x="800100" y="3009900"/>
            <a:ext cx="4953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CE8F602-67C2-43C8-AF34-A023C509094B}"/>
              </a:ext>
            </a:extLst>
          </p:cNvPr>
          <p:cNvSpPr>
            <a:spLocks xmlns:a="http://schemas.openxmlformats.org/drawingml/2006/main" noGrp="1"/>
          </p:cNvSpPr>
          <p:nvPr/>
        </p:nvSpPr>
        <p:spPr>
          <a:xfrm xmlns:a="http://schemas.openxmlformats.org/drawingml/2006/main">
            <a:off x="800100" y="3276600"/>
            <a:ext cx="4953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F7E26F0-5CC2-4A12-BDCC-1A06D14D095C}"/>
              </a:ext>
            </a:extLst>
          </p:cNvPr>
          <p:cNvSpPr>
            <a:spLocks xmlns:a="http://schemas.openxmlformats.org/drawingml/2006/main" noGrp="1"/>
          </p:cNvSpPr>
          <p:nvPr/>
        </p:nvSpPr>
        <p:spPr>
          <a:xfrm xmlns:a="http://schemas.openxmlformats.org/drawingml/2006/main">
            <a:off x="971550" y="31623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826F062-9D6E-4828-9B6B-EA58B274D004}"/>
              </a:ext>
            </a:extLst>
          </p:cNvPr>
          <p:cNvSpPr>
            <a:spLocks xmlns:a="http://schemas.openxmlformats.org/drawingml/2006/main" noGrp="1"/>
          </p:cNvSpPr>
          <p:nvPr/>
        </p:nvSpPr>
        <p:spPr>
          <a:xfrm xmlns:a="http://schemas.openxmlformats.org/drawingml/2006/main">
            <a:off x="1143000" y="31623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D6A8CEC-C44D-4259-82B1-364089D5F457}"/>
              </a:ext>
            </a:extLst>
          </p:cNvPr>
          <p:cNvSpPr>
            <a:spLocks xmlns:a="http://schemas.openxmlformats.org/drawingml/2006/main" noGrp="1"/>
          </p:cNvSpPr>
          <p:nvPr/>
        </p:nvSpPr>
        <p:spPr>
          <a:xfrm xmlns:a="http://schemas.openxmlformats.org/drawingml/2006/main">
            <a:off x="1314450" y="31623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48FAD2D-474C-4D7E-8D6B-08B0CD42FA19}"/>
              </a:ext>
            </a:extLst>
          </p:cNvPr>
          <p:cNvSpPr>
            <a:spLocks xmlns:a="http://schemas.openxmlformats.org/drawingml/2006/main" noGrp="1"/>
          </p:cNvSpPr>
          <p:nvPr/>
        </p:nvSpPr>
        <p:spPr>
          <a:xfrm xmlns:a="http://schemas.openxmlformats.org/drawingml/2006/main">
            <a:off x="1581150" y="31242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DELIVERABLES</a:t>
            </a:r>
          </a:p>
        </p:txBody>
      </p:sp>
      <p:sp>
        <p:nvSpPr>
          <p:cNvPr id="15" name="">
            <a:extLst xmlns:a="http://schemas.openxmlformats.org/drawingml/2006/main">
              <a:ext uri="{FF2B5EF4-FFF2-40B4-BE49-F238E27FC236}">
                <a16:creationId xmlns:a16="http://schemas.microsoft.com/office/drawing/2014/main" id="{AC61AC9D-DEB2-4D1D-9A32-C13A6D89E8B9}"/>
              </a:ext>
            </a:extLst>
          </p:cNvPr>
          <p:cNvSpPr>
            <a:spLocks xmlns:a="http://schemas.openxmlformats.org/drawingml/2006/main" noGrp="1"/>
          </p:cNvSpPr>
          <p:nvPr/>
        </p:nvSpPr>
        <p:spPr>
          <a:xfrm xmlns:a="http://schemas.openxmlformats.org/drawingml/2006/main">
            <a:off x="1028700" y="3581400"/>
            <a:ext cx="44958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Edit app.conf safely in Nano</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Save normalized HTTP status counts</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Save exactly two ERROR records</a:t>
            </a:r>
          </a:p>
        </p:txBody>
      </p:sp>
      <p:sp>
        <p:nvSpPr>
          <p:cNvPr id="16" name="">
            <a:extLst xmlns:a="http://schemas.openxmlformats.org/drawingml/2006/main">
              <a:ext uri="{FF2B5EF4-FFF2-40B4-BE49-F238E27FC236}">
                <a16:creationId xmlns:a16="http://schemas.microsoft.com/office/drawing/2014/main" id="{18FA52CE-1464-4ABC-8C2B-0417FBBC0443}"/>
              </a:ext>
            </a:extLst>
          </p:cNvPr>
          <p:cNvSpPr>
            <a:spLocks xmlns:a="http://schemas.openxmlformats.org/drawingml/2006/main" noGrp="1"/>
          </p:cNvSpPr>
          <p:nvPr/>
        </p:nvSpPr>
        <p:spPr>
          <a:xfrm xmlns:a="http://schemas.openxmlformats.org/drawingml/2006/main">
            <a:off x="6667500" y="17907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ACCEPTANCE EVIDENCE</a:t>
            </a:r>
          </a:p>
        </p:txBody>
      </p:sp>
      <p:sp>
        <p:nvSpPr>
          <p:cNvPr id="17" name="">
            <a:extLst xmlns:a="http://schemas.openxmlformats.org/drawingml/2006/main">
              <a:ext uri="{FF2B5EF4-FFF2-40B4-BE49-F238E27FC236}">
                <a16:creationId xmlns:a16="http://schemas.microsoft.com/office/drawing/2014/main" id="{3A11BCE1-4A2A-4883-A988-CD70CAA4FCAD}"/>
              </a:ext>
            </a:extLst>
          </p:cNvPr>
          <p:cNvSpPr>
            <a:spLocks xmlns:a="http://schemas.openxmlformats.org/drawingml/2006/main" noGrp="1"/>
          </p:cNvSpPr>
          <p:nvPr/>
        </p:nvSpPr>
        <p:spPr>
          <a:xfrm xmlns:a="http://schemas.openxmlformats.org/drawingml/2006/main">
            <a:off x="6667500" y="2228850"/>
            <a:ext cx="428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Checker requires</a:t>
            </a:r>
          </a:p>
        </p:txBody>
      </p:sp>
      <p:sp>
        <p:nvSpPr>
          <p:cNvPr id="18" name="">
            <a:extLst xmlns:a="http://schemas.openxmlformats.org/drawingml/2006/main">
              <a:ext uri="{FF2B5EF4-FFF2-40B4-BE49-F238E27FC236}">
                <a16:creationId xmlns:a16="http://schemas.microsoft.com/office/drawing/2014/main" id="{27F87451-D0E8-4D78-B5C3-D526E48F5BB7}"/>
              </a:ext>
            </a:extLst>
          </p:cNvPr>
          <p:cNvSpPr>
            <a:spLocks xmlns:a="http://schemas.openxmlformats.org/drawingml/2006/main" noGrp="1"/>
          </p:cNvSpPr>
          <p:nvPr/>
        </p:nvSpPr>
        <p:spPr>
          <a:xfrm xmlns:a="http://schemas.openxmlformats.org/drawingml/2006/main">
            <a:off x="6667500" y="3171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FD88F18-46B5-41BD-BFCA-8B5AAF8849FF}"/>
              </a:ext>
            </a:extLst>
          </p:cNvPr>
          <p:cNvSpPr>
            <a:spLocks xmlns:a="http://schemas.openxmlformats.org/drawingml/2006/main" noGrp="1"/>
          </p:cNvSpPr>
          <p:nvPr/>
        </p:nvSpPr>
        <p:spPr>
          <a:xfrm xmlns:a="http://schemas.openxmlformats.org/drawingml/2006/main">
            <a:off x="6934200" y="31051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Three production settings, no duplicates</a:t>
            </a:r>
          </a:p>
        </p:txBody>
      </p:sp>
      <p:sp>
        <p:nvSpPr>
          <p:cNvPr id="20" name="">
            <a:extLst xmlns:a="http://schemas.openxmlformats.org/drawingml/2006/main">
              <a:ext uri="{FF2B5EF4-FFF2-40B4-BE49-F238E27FC236}">
                <a16:creationId xmlns:a16="http://schemas.microsoft.com/office/drawing/2014/main" id="{B3D28E46-FE52-45D5-8EA1-BF10770E6C54}"/>
              </a:ext>
            </a:extLst>
          </p:cNvPr>
          <p:cNvSpPr>
            <a:spLocks xmlns:a="http://schemas.openxmlformats.org/drawingml/2006/main" noGrp="1"/>
          </p:cNvSpPr>
          <p:nvPr/>
        </p:nvSpPr>
        <p:spPr>
          <a:xfrm xmlns:a="http://schemas.openxmlformats.org/drawingml/2006/main">
            <a:off x="6667500" y="37433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3C2B25C-6BDE-4AAB-904E-0F15113DF0D2}"/>
              </a:ext>
            </a:extLst>
          </p:cNvPr>
          <p:cNvSpPr>
            <a:spLocks xmlns:a="http://schemas.openxmlformats.org/drawingml/2006/main" noGrp="1"/>
          </p:cNvSpPr>
          <p:nvPr/>
        </p:nvSpPr>
        <p:spPr>
          <a:xfrm xmlns:a="http://schemas.openxmlformats.org/drawingml/2006/main">
            <a:off x="6934200" y="36766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STATUS COUNT order is preserved</a:t>
            </a:r>
          </a:p>
        </p:txBody>
      </p:sp>
      <p:sp>
        <p:nvSpPr>
          <p:cNvPr id="22" name="">
            <a:extLst xmlns:a="http://schemas.openxmlformats.org/drawingml/2006/main">
              <a:ext uri="{FF2B5EF4-FFF2-40B4-BE49-F238E27FC236}">
                <a16:creationId xmlns:a16="http://schemas.microsoft.com/office/drawing/2014/main" id="{2E701848-E1C5-4F87-8279-E3EBE384F7A9}"/>
              </a:ext>
            </a:extLst>
          </p:cNvPr>
          <p:cNvSpPr>
            <a:spLocks xmlns:a="http://schemas.openxmlformats.org/drawingml/2006/main" noGrp="1"/>
          </p:cNvSpPr>
          <p:nvPr/>
        </p:nvSpPr>
        <p:spPr>
          <a:xfrm xmlns:a="http://schemas.openxmlformats.org/drawingml/2006/main">
            <a:off x="6667500" y="4314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09B7F9F-1914-4FC1-9251-2A3E490D832A}"/>
              </a:ext>
            </a:extLst>
          </p:cNvPr>
          <p:cNvSpPr>
            <a:spLocks xmlns:a="http://schemas.openxmlformats.org/drawingml/2006/main" noGrp="1"/>
          </p:cNvSpPr>
          <p:nvPr/>
        </p:nvSpPr>
        <p:spPr>
          <a:xfrm xmlns:a="http://schemas.openxmlformats.org/drawingml/2006/main">
            <a:off x="6934200" y="42481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404 appears exactly three times</a:t>
            </a:r>
          </a:p>
        </p:txBody>
      </p:sp>
      <p:sp>
        <p:nvSpPr>
          <p:cNvPr id="24" name="">
            <a:extLst xmlns:a="http://schemas.openxmlformats.org/drawingml/2006/main">
              <a:ext uri="{FF2B5EF4-FFF2-40B4-BE49-F238E27FC236}">
                <a16:creationId xmlns:a16="http://schemas.microsoft.com/office/drawing/2014/main" id="{B139B5F9-EFF3-4E76-9E50-53E4221E0BC5}"/>
              </a:ext>
            </a:extLst>
          </p:cNvPr>
          <p:cNvSpPr>
            <a:spLocks xmlns:a="http://schemas.openxmlformats.org/drawingml/2006/main" noGrp="1"/>
          </p:cNvSpPr>
          <p:nvPr/>
        </p:nvSpPr>
        <p:spPr>
          <a:xfrm xmlns:a="http://schemas.openxmlformats.org/drawingml/2006/main">
            <a:off x="6667500" y="48863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1629B6F-E8A2-4282-9017-3DE5C9ABE668}"/>
              </a:ext>
            </a:extLst>
          </p:cNvPr>
          <p:cNvSpPr>
            <a:spLocks xmlns:a="http://schemas.openxmlformats.org/drawingml/2006/main" noGrp="1"/>
          </p:cNvSpPr>
          <p:nvPr/>
        </p:nvSpPr>
        <p:spPr>
          <a:xfrm xmlns:a="http://schemas.openxmlformats.org/drawingml/2006/main">
            <a:off x="6934200" y="48196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errors.txt contains two records</a:t>
            </a:r>
          </a:p>
        </p:txBody>
      </p:sp>
      <p:sp>
        <p:nvSpPr>
          <p:cNvPr id="26" name="">
            <a:extLst xmlns:a="http://schemas.openxmlformats.org/drawingml/2006/main">
              <a:ext uri="{FF2B5EF4-FFF2-40B4-BE49-F238E27FC236}">
                <a16:creationId xmlns:a16="http://schemas.microsoft.com/office/drawing/2014/main" id="{31BF24E7-ED3D-4226-A7DC-0713BF70C771}"/>
              </a:ext>
            </a:extLst>
          </p:cNvPr>
          <p:cNvSpPr>
            <a:spLocks xmlns:a="http://schemas.openxmlformats.org/drawingml/2006/main" noGrp="1"/>
          </p:cNvSpPr>
          <p:nvPr/>
        </p:nvSpPr>
        <p:spPr>
          <a:xfrm xmlns:a="http://schemas.openxmlformats.org/drawingml/2006/main">
            <a:off x="800100" y="5600700"/>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1" i="0">
                <a:solidFill>
                  <a:srgbClr val="8B5CF6"/>
                </a:solidFill>
                <a:latin typeface="Aptos"/>
                <a:ea typeface="Aptos"/>
                <a:cs typeface="Aptos"/>
              </a:defRPr>
            </a:pPr>
            <a:r>
              <a:rPr sz="1650" b="1" i="0">
                <a:solidFill>
                  <a:srgbClr val="8B5CF6"/>
                </a:solidFill>
                <a:latin typeface="Aptos"/>
                <a:ea typeface="Aptos"/>
                <a:cs typeface="Aptos"/>
              </a:rPr>
              <a:t>Debrief: where did record structure determine the pipeline?</a:t>
            </a:r>
          </a:p>
        </p:txBody>
      </p:sp>
    </p:spTree>
    <p:extLst>
      <p:ext uri="{BB962C8B-B14F-4D97-AF65-F5344CB8AC3E}">
        <p14:creationId xmlns:p14="http://schemas.microsoft.com/office/powerpoint/2010/main" val="276205261"/>
      </p:ext>
    </p:extLst>
  </p:cSld>
</p:sld>
</file>

<file path=ppt/slides/slide4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PACKAGES</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92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APT separates repositories, indexes, and installed files</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42</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Repository</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Local index</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Installed state</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Signed metadata</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Package archives</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Release channels</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Repository trust keys</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Refreshed by apt update</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Available versions</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Candidate selection</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Dependency metadata</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Tracked by dpkg</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Files on disk</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Package status</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APT history log</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apt update refreshes knowledge; apt install changes installed state.</a:t>
            </a:r>
          </a:p>
        </p:txBody>
      </p:sp>
    </p:spTree>
    <p:extLst>
      <p:ext uri="{BB962C8B-B14F-4D97-AF65-F5344CB8AC3E}">
        <p14:creationId xmlns:p14="http://schemas.microsoft.com/office/powerpoint/2010/main" val="281690250"/>
      </p:ext>
    </p:extLst>
  </p:cSld>
</p:sld>
</file>

<file path=ppt/slides/slide4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PACKAGES</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Use APT with an inspect-change-verify rhythm</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43</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Refresh</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sudo apt update</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Search</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apt search tree</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Inspect</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apt show tree</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Install</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sudo apt install tree</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Verify</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dpkg -s tree; command -v tree</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Audit</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less /var/log/apt/history.log</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44.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D3EC027-DBDF-4617-BA18-14262B0A74D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4 / PACKAGES</a:t>
            </a:r>
          </a:p>
        </p:txBody>
      </p:sp>
      <p:sp>
        <p:nvSpPr>
          <p:cNvPr id="2" name="">
            <a:extLst xmlns:a="http://schemas.openxmlformats.org/drawingml/2006/main">
              <a:ext uri="{FF2B5EF4-FFF2-40B4-BE49-F238E27FC236}">
                <a16:creationId xmlns:a16="http://schemas.microsoft.com/office/drawing/2014/main" id="{14BF0B22-E65F-4DC1-91D6-D681B52760C3}"/>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463"/>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Live demo: connect jq to repository and file ownership</a:t>
            </a:r>
          </a:p>
        </p:txBody>
      </p:sp>
      <p:sp>
        <p:nvSpPr>
          <p:cNvPr id="3" name="">
            <a:extLst xmlns:a="http://schemas.openxmlformats.org/drawingml/2006/main">
              <a:ext uri="{FF2B5EF4-FFF2-40B4-BE49-F238E27FC236}">
                <a16:creationId xmlns:a16="http://schemas.microsoft.com/office/drawing/2014/main" id="{FF1053F3-6C0A-402A-A846-6E35A6A1D93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7221C33-5CAC-4B74-81AB-4A80530F6D48}"/>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C4DE9BD8-9B2C-4DA9-B386-375C89C59E4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44</a:t>
            </a:r>
          </a:p>
        </p:txBody>
      </p:sp>
      <p:sp>
        <p:nvSpPr>
          <p:cNvPr id="6" name="">
            <a:extLst xmlns:a="http://schemas.openxmlformats.org/drawingml/2006/main">
              <a:ext uri="{FF2B5EF4-FFF2-40B4-BE49-F238E27FC236}">
                <a16:creationId xmlns:a16="http://schemas.microsoft.com/office/drawing/2014/main" id="{D7BF475F-C704-4D84-A6DD-FE05602D7BE1}"/>
              </a:ext>
            </a:extLst>
          </p:cNvPr>
          <p:cNvSpPr>
            <a:spLocks xmlns:a="http://schemas.openxmlformats.org/drawingml/2006/main" noGrp="1"/>
          </p:cNvSpPr>
          <p:nvPr/>
        </p:nvSpPr>
        <p:spPr>
          <a:xfrm xmlns:a="http://schemas.openxmlformats.org/drawingml/2006/main">
            <a:off x="952500" y="1733550"/>
            <a:ext cx="10287000" cy="3638550"/>
          </a:xfrm>
          <a:prstGeom xmlns:a="http://schemas.openxmlformats.org/drawingml/2006/main" prst="roundRect">
            <a:avLst>
              <a:gd name="adj" fmla="val 4188"/>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1A73946E-109A-4648-9A64-BB72C508626B}"/>
              </a:ext>
            </a:extLst>
          </p:cNvPr>
          <p:cNvSpPr>
            <a:spLocks xmlns:a="http://schemas.openxmlformats.org/drawingml/2006/main" noGrp="1"/>
          </p:cNvSpPr>
          <p:nvPr/>
        </p:nvSpPr>
        <p:spPr>
          <a:xfrm xmlns:a="http://schemas.openxmlformats.org/drawingml/2006/main">
            <a:off x="952500" y="1733550"/>
            <a:ext cx="10287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E98DF47-7106-44F2-9C04-D652349EFD84}"/>
              </a:ext>
            </a:extLst>
          </p:cNvPr>
          <p:cNvSpPr>
            <a:spLocks xmlns:a="http://schemas.openxmlformats.org/drawingml/2006/main" noGrp="1"/>
          </p:cNvSpPr>
          <p:nvPr/>
        </p:nvSpPr>
        <p:spPr>
          <a:xfrm xmlns:a="http://schemas.openxmlformats.org/drawingml/2006/main">
            <a:off x="952500" y="2000250"/>
            <a:ext cx="10287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86F70EA-1FBC-42ED-98FD-B7BBF40310E7}"/>
              </a:ext>
            </a:extLst>
          </p:cNvPr>
          <p:cNvSpPr>
            <a:spLocks xmlns:a="http://schemas.openxmlformats.org/drawingml/2006/main" noGrp="1"/>
          </p:cNvSpPr>
          <p:nvPr/>
        </p:nvSpPr>
        <p:spPr>
          <a:xfrm xmlns:a="http://schemas.openxmlformats.org/drawingml/2006/main">
            <a:off x="1123950" y="18859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4C9F1AE-3A06-4A6D-9D81-5C96B71174C3}"/>
              </a:ext>
            </a:extLst>
          </p:cNvPr>
          <p:cNvSpPr>
            <a:spLocks xmlns:a="http://schemas.openxmlformats.org/drawingml/2006/main" noGrp="1"/>
          </p:cNvSpPr>
          <p:nvPr/>
        </p:nvSpPr>
        <p:spPr>
          <a:xfrm xmlns:a="http://schemas.openxmlformats.org/drawingml/2006/main">
            <a:off x="1295400" y="18859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1D630A9-A77F-4C74-B406-DCF51A76EB90}"/>
              </a:ext>
            </a:extLst>
          </p:cNvPr>
          <p:cNvSpPr>
            <a:spLocks xmlns:a="http://schemas.openxmlformats.org/drawingml/2006/main" noGrp="1"/>
          </p:cNvSpPr>
          <p:nvPr/>
        </p:nvSpPr>
        <p:spPr>
          <a:xfrm xmlns:a="http://schemas.openxmlformats.org/drawingml/2006/main">
            <a:off x="1466850" y="18859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AD5B70C-5E7E-405F-9661-03C199CD992C}"/>
              </a:ext>
            </a:extLst>
          </p:cNvPr>
          <p:cNvSpPr>
            <a:spLocks xmlns:a="http://schemas.openxmlformats.org/drawingml/2006/main" noGrp="1"/>
          </p:cNvSpPr>
          <p:nvPr/>
        </p:nvSpPr>
        <p:spPr>
          <a:xfrm xmlns:a="http://schemas.openxmlformats.org/drawingml/2006/main">
            <a:off x="1733550" y="1847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CANDIDATE → INSTALL → REGISTER → OWN → RUN</a:t>
            </a:r>
          </a:p>
        </p:txBody>
      </p:sp>
      <p:sp>
        <p:nvSpPr>
          <p:cNvPr id="13" name="">
            <a:extLst xmlns:a="http://schemas.openxmlformats.org/drawingml/2006/main">
              <a:ext uri="{FF2B5EF4-FFF2-40B4-BE49-F238E27FC236}">
                <a16:creationId xmlns:a16="http://schemas.microsoft.com/office/drawing/2014/main" id="{1BAB4BA9-0778-4E8F-878A-B659872B8D27}"/>
              </a:ext>
            </a:extLst>
          </p:cNvPr>
          <p:cNvSpPr>
            <a:spLocks xmlns:a="http://schemas.openxmlformats.org/drawingml/2006/main" noGrp="1"/>
          </p:cNvSpPr>
          <p:nvPr/>
        </p:nvSpPr>
        <p:spPr>
          <a:xfrm xmlns:a="http://schemas.openxmlformats.org/drawingml/2006/main">
            <a:off x="1181100" y="2305050"/>
            <a:ext cx="982980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apt-cache policy jq</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apt-get update</a:t>
            </a:r>
          </a:p>
          <a:p xmlns:a="http://schemas.openxmlformats.org/drawingml/2006/main">
            <a:pPr>
              <a:defRPr sz="1500">
                <a:solidFill>
                  <a:srgbClr val="FFF8EE"/>
                </a:solidFill>
              </a:defRPr>
            </a:pPr>
            <a:r>
              <a:rPr sz="1500">
                <a:solidFill>
                  <a:srgbClr val="FFF8EE"/>
                </a:solidFill>
              </a:rPr>
              <a:t>sudo apt-get install -y jq</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dpkg-query -W -f='${Status}\n' jq</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command -v jq</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dpkg-query -S "$(command -v jq)"</a:t>
            </a:r>
          </a:p>
          <a:p xmlns:a="http://schemas.openxmlformats.org/drawingml/2006/main">
            <a:pPr>
              <a:defRPr sz="1500">
                <a:solidFill>
                  <a:srgbClr val="FFF8EE"/>
                </a:solidFill>
              </a:defRPr>
            </a:pPr>
            <a:r>
              <a:rPr sz="1500">
                <a:solidFill>
                  <a:srgbClr val="FFF8EE"/>
                </a:solidFill>
              </a:rPr>
              <a:t>printf '{"state":"ready"}\n' | jq -r .state</a:t>
            </a:r>
          </a:p>
        </p:txBody>
      </p:sp>
      <p:sp>
        <p:nvSpPr>
          <p:cNvPr id="14" name="">
            <a:extLst xmlns:a="http://schemas.openxmlformats.org/drawingml/2006/main">
              <a:ext uri="{FF2B5EF4-FFF2-40B4-BE49-F238E27FC236}">
                <a16:creationId xmlns:a16="http://schemas.microsoft.com/office/drawing/2014/main" id="{C79234DC-739F-4960-B431-15C06ABB8D92}"/>
              </a:ext>
            </a:extLst>
          </p:cNvPr>
          <p:cNvSpPr>
            <a:spLocks xmlns:a="http://schemas.openxmlformats.org/drawingml/2006/main" noGrp="1"/>
          </p:cNvSpPr>
          <p:nvPr/>
        </p:nvSpPr>
        <p:spPr>
          <a:xfrm xmlns:a="http://schemas.openxmlformats.org/drawingml/2006/main">
            <a:off x="952500" y="5619750"/>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391"/>
          </a:bodyPr>
          <a:lstStyle xmlns:a="http://schemas.openxmlformats.org/drawingml/2006/main"/>
          <a:p xmlns:a="http://schemas.openxmlformats.org/drawingml/2006/main">
            <a:pPr algn="ctr">
              <a:lnSpc>
                <a:spcPct val="102000"/>
              </a:lnSpc>
              <a:buNone/>
              <a:defRPr sz="2025" b="1" i="0">
                <a:solidFill>
                  <a:srgbClr val="70D6A6"/>
                </a:solidFill>
                <a:latin typeface="Aptos"/>
                <a:ea typeface="Aptos"/>
                <a:cs typeface="Aptos"/>
              </a:defRPr>
            </a:pPr>
            <a:r>
              <a:rPr sz="2025" b="1" i="0">
                <a:solidFill>
                  <a:srgbClr val="70D6A6"/>
                </a:solidFill>
                <a:latin typeface="Aptos"/>
                <a:ea typeface="Aptos"/>
                <a:cs typeface="Aptos"/>
              </a:rPr>
              <a:t>Repository state, package state, file ownership, and behavior answer different questions.</a:t>
            </a:r>
          </a:p>
        </p:txBody>
      </p:sp>
    </p:spTree>
    <p:extLst>
      <p:ext uri="{BB962C8B-B14F-4D97-AF65-F5344CB8AC3E}">
        <p14:creationId xmlns:p14="http://schemas.microsoft.com/office/powerpoint/2010/main" val="1765259028"/>
      </p:ext>
    </p:extLst>
  </p:cSld>
</p:sld>
</file>

<file path=ppt/slides/slide45.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D9833BD3-0672-4779-9EB3-8E71DC050B3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HANDS-ON / LAB 4</a:t>
            </a:r>
          </a:p>
        </p:txBody>
      </p:sp>
      <p:sp>
        <p:nvSpPr>
          <p:cNvPr id="2" name="">
            <a:extLst xmlns:a="http://schemas.openxmlformats.org/drawingml/2006/main">
              <a:ext uri="{FF2B5EF4-FFF2-40B4-BE49-F238E27FC236}">
                <a16:creationId xmlns:a16="http://schemas.microsoft.com/office/drawing/2014/main" id="{D247334C-6068-4782-81A5-2555B3D14565}"/>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Lab 4 — Verify a package through five views</a:t>
            </a:r>
          </a:p>
        </p:txBody>
      </p:sp>
      <p:sp>
        <p:nvSpPr>
          <p:cNvPr id="3" name="">
            <a:extLst xmlns:a="http://schemas.openxmlformats.org/drawingml/2006/main">
              <a:ext uri="{FF2B5EF4-FFF2-40B4-BE49-F238E27FC236}">
                <a16:creationId xmlns:a16="http://schemas.microsoft.com/office/drawing/2014/main" id="{5B7E1CFF-45E6-46A2-AC95-345A45864F6C}"/>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48BD663-E972-4A30-92C1-C04C99DD27E6}"/>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C00D4498-7AEF-4978-A0D4-A384B6DF2296}"/>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45</a:t>
            </a:r>
          </a:p>
        </p:txBody>
      </p:sp>
      <p:sp>
        <p:nvSpPr>
          <p:cNvPr id="6" name="">
            <a:extLst xmlns:a="http://schemas.openxmlformats.org/drawingml/2006/main">
              <a:ext uri="{FF2B5EF4-FFF2-40B4-BE49-F238E27FC236}">
                <a16:creationId xmlns:a16="http://schemas.microsoft.com/office/drawing/2014/main" id="{324D7AA5-1B7A-46F0-B60D-AFDF7AA06C69}"/>
              </a:ext>
            </a:extLst>
          </p:cNvPr>
          <p:cNvSpPr>
            <a:spLocks xmlns:a="http://schemas.openxmlformats.org/drawingml/2006/main" noGrp="1"/>
          </p:cNvSpPr>
          <p:nvPr/>
        </p:nvSpPr>
        <p:spPr>
          <a:xfrm xmlns:a="http://schemas.openxmlformats.org/drawingml/2006/main">
            <a:off x="800100" y="17907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MISSION · 20 MIN</a:t>
            </a:r>
          </a:p>
        </p:txBody>
      </p:sp>
      <p:sp>
        <p:nvSpPr>
          <p:cNvPr id="7" name="">
            <a:extLst xmlns:a="http://schemas.openxmlformats.org/drawingml/2006/main">
              <a:ext uri="{FF2B5EF4-FFF2-40B4-BE49-F238E27FC236}">
                <a16:creationId xmlns:a16="http://schemas.microsoft.com/office/drawing/2014/main" id="{F9415872-9C11-409D-903F-82DFBD71123F}"/>
              </a:ext>
            </a:extLst>
          </p:cNvPr>
          <p:cNvSpPr>
            <a:spLocks xmlns:a="http://schemas.openxmlformats.org/drawingml/2006/main" noGrp="1"/>
          </p:cNvSpPr>
          <p:nvPr/>
        </p:nvSpPr>
        <p:spPr>
          <a:xfrm xmlns:a="http://schemas.openxmlformats.org/drawingml/2006/main">
            <a:off x="800100" y="2228850"/>
            <a:ext cx="4095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Package lifecycle</a:t>
            </a:r>
          </a:p>
        </p:txBody>
      </p:sp>
      <p:sp>
        <p:nvSpPr>
          <p:cNvPr id="8" name="">
            <a:extLst xmlns:a="http://schemas.openxmlformats.org/drawingml/2006/main">
              <a:ext uri="{FF2B5EF4-FFF2-40B4-BE49-F238E27FC236}">
                <a16:creationId xmlns:a16="http://schemas.microsoft.com/office/drawing/2014/main" id="{AF5C6E71-8DD4-4FC1-BEE6-6BBC5B9C2F42}"/>
              </a:ext>
            </a:extLst>
          </p:cNvPr>
          <p:cNvSpPr>
            <a:spLocks xmlns:a="http://schemas.openxmlformats.org/drawingml/2006/main" noGrp="1"/>
          </p:cNvSpPr>
          <p:nvPr/>
        </p:nvSpPr>
        <p:spPr>
          <a:xfrm xmlns:a="http://schemas.openxmlformats.org/drawingml/2006/main">
            <a:off x="800100" y="3009900"/>
            <a:ext cx="4953000" cy="2190750"/>
          </a:xfrm>
          <a:prstGeom xmlns:a="http://schemas.openxmlformats.org/drawingml/2006/main" prst="roundRect">
            <a:avLst>
              <a:gd name="adj" fmla="val 6957"/>
            </a:avLst>
          </a:prstGeom>
          <a:solidFill xmlns:a="http://schemas.openxmlformats.org/drawingml/2006/main">
            <a:srgbClr val="28183A"/>
          </a:solidFill>
          <a:ln xmlns:a="http://schemas.openxmlformats.org/drawingml/2006/main" w="9525">
            <a:solidFill>
              <a:srgbClr val="4A335D"/>
            </a:solidFill>
            <a:prstDash val="solid"/>
          </a:ln>
        </p:spPr>
      </p:sp>
      <p:sp>
        <p:nvSpPr>
          <p:cNvPr id="9" name="">
            <a:extLst xmlns:a="http://schemas.openxmlformats.org/drawingml/2006/main">
              <a:ext uri="{FF2B5EF4-FFF2-40B4-BE49-F238E27FC236}">
                <a16:creationId xmlns:a16="http://schemas.microsoft.com/office/drawing/2014/main" id="{80367D35-5EDB-429E-922C-C046DC415680}"/>
              </a:ext>
            </a:extLst>
          </p:cNvPr>
          <p:cNvSpPr>
            <a:spLocks xmlns:a="http://schemas.openxmlformats.org/drawingml/2006/main" noGrp="1"/>
          </p:cNvSpPr>
          <p:nvPr/>
        </p:nvSpPr>
        <p:spPr>
          <a:xfrm xmlns:a="http://schemas.openxmlformats.org/drawingml/2006/main">
            <a:off x="800100" y="3009900"/>
            <a:ext cx="4953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CE8F602-67C2-43C8-AF34-A023C509094B}"/>
              </a:ext>
            </a:extLst>
          </p:cNvPr>
          <p:cNvSpPr>
            <a:spLocks xmlns:a="http://schemas.openxmlformats.org/drawingml/2006/main" noGrp="1"/>
          </p:cNvSpPr>
          <p:nvPr/>
        </p:nvSpPr>
        <p:spPr>
          <a:xfrm xmlns:a="http://schemas.openxmlformats.org/drawingml/2006/main">
            <a:off x="800100" y="3276600"/>
            <a:ext cx="4953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F7E26F0-5CC2-4A12-BDCC-1A06D14D095C}"/>
              </a:ext>
            </a:extLst>
          </p:cNvPr>
          <p:cNvSpPr>
            <a:spLocks xmlns:a="http://schemas.openxmlformats.org/drawingml/2006/main" noGrp="1"/>
          </p:cNvSpPr>
          <p:nvPr/>
        </p:nvSpPr>
        <p:spPr>
          <a:xfrm xmlns:a="http://schemas.openxmlformats.org/drawingml/2006/main">
            <a:off x="971550" y="31623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826F062-9D6E-4828-9B6B-EA58B274D004}"/>
              </a:ext>
            </a:extLst>
          </p:cNvPr>
          <p:cNvSpPr>
            <a:spLocks xmlns:a="http://schemas.openxmlformats.org/drawingml/2006/main" noGrp="1"/>
          </p:cNvSpPr>
          <p:nvPr/>
        </p:nvSpPr>
        <p:spPr>
          <a:xfrm xmlns:a="http://schemas.openxmlformats.org/drawingml/2006/main">
            <a:off x="1143000" y="31623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D6A8CEC-C44D-4259-82B1-364089D5F457}"/>
              </a:ext>
            </a:extLst>
          </p:cNvPr>
          <p:cNvSpPr>
            <a:spLocks xmlns:a="http://schemas.openxmlformats.org/drawingml/2006/main" noGrp="1"/>
          </p:cNvSpPr>
          <p:nvPr/>
        </p:nvSpPr>
        <p:spPr>
          <a:xfrm xmlns:a="http://schemas.openxmlformats.org/drawingml/2006/main">
            <a:off x="1314450" y="31623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48FAD2D-474C-4D7E-8D6B-08B0CD42FA19}"/>
              </a:ext>
            </a:extLst>
          </p:cNvPr>
          <p:cNvSpPr>
            <a:spLocks xmlns:a="http://schemas.openxmlformats.org/drawingml/2006/main" noGrp="1"/>
          </p:cNvSpPr>
          <p:nvPr/>
        </p:nvSpPr>
        <p:spPr>
          <a:xfrm xmlns:a="http://schemas.openxmlformats.org/drawingml/2006/main">
            <a:off x="1581150" y="31242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DELIVERABLES</a:t>
            </a:r>
          </a:p>
        </p:txBody>
      </p:sp>
      <p:sp>
        <p:nvSpPr>
          <p:cNvPr id="15" name="">
            <a:extLst xmlns:a="http://schemas.openxmlformats.org/drawingml/2006/main">
              <a:ext uri="{FF2B5EF4-FFF2-40B4-BE49-F238E27FC236}">
                <a16:creationId xmlns:a16="http://schemas.microsoft.com/office/drawing/2014/main" id="{AC61AC9D-DEB2-4D1D-9A32-C13A6D89E8B9}"/>
              </a:ext>
            </a:extLst>
          </p:cNvPr>
          <p:cNvSpPr>
            <a:spLocks xmlns:a="http://schemas.openxmlformats.org/drawingml/2006/main" noGrp="1"/>
          </p:cNvSpPr>
          <p:nvPr/>
        </p:nvSpPr>
        <p:spPr>
          <a:xfrm xmlns:a="http://schemas.openxmlformats.org/drawingml/2006/main">
            <a:off x="1028700" y="3581400"/>
            <a:ext cx="44958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Refresh repository metadata</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Install tree through APT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Write package and behavior reports</a:t>
            </a:r>
          </a:p>
        </p:txBody>
      </p:sp>
      <p:sp>
        <p:nvSpPr>
          <p:cNvPr id="16" name="">
            <a:extLst xmlns:a="http://schemas.openxmlformats.org/drawingml/2006/main">
              <a:ext uri="{FF2B5EF4-FFF2-40B4-BE49-F238E27FC236}">
                <a16:creationId xmlns:a16="http://schemas.microsoft.com/office/drawing/2014/main" id="{18FA52CE-1464-4ABC-8C2B-0417FBBC0443}"/>
              </a:ext>
            </a:extLst>
          </p:cNvPr>
          <p:cNvSpPr>
            <a:spLocks xmlns:a="http://schemas.openxmlformats.org/drawingml/2006/main" noGrp="1"/>
          </p:cNvSpPr>
          <p:nvPr/>
        </p:nvSpPr>
        <p:spPr>
          <a:xfrm xmlns:a="http://schemas.openxmlformats.org/drawingml/2006/main">
            <a:off x="6667500" y="17907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ACCEPTANCE EVIDENCE</a:t>
            </a:r>
          </a:p>
        </p:txBody>
      </p:sp>
      <p:sp>
        <p:nvSpPr>
          <p:cNvPr id="17" name="">
            <a:extLst xmlns:a="http://schemas.openxmlformats.org/drawingml/2006/main">
              <a:ext uri="{FF2B5EF4-FFF2-40B4-BE49-F238E27FC236}">
                <a16:creationId xmlns:a16="http://schemas.microsoft.com/office/drawing/2014/main" id="{3A11BCE1-4A2A-4883-A988-CD70CAA4FCAD}"/>
              </a:ext>
            </a:extLst>
          </p:cNvPr>
          <p:cNvSpPr>
            <a:spLocks xmlns:a="http://schemas.openxmlformats.org/drawingml/2006/main" noGrp="1"/>
          </p:cNvSpPr>
          <p:nvPr/>
        </p:nvSpPr>
        <p:spPr>
          <a:xfrm xmlns:a="http://schemas.openxmlformats.org/drawingml/2006/main">
            <a:off x="6667500" y="2228850"/>
            <a:ext cx="428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Checker requires</a:t>
            </a:r>
          </a:p>
        </p:txBody>
      </p:sp>
      <p:sp>
        <p:nvSpPr>
          <p:cNvPr id="18" name="">
            <a:extLst xmlns:a="http://schemas.openxmlformats.org/drawingml/2006/main">
              <a:ext uri="{FF2B5EF4-FFF2-40B4-BE49-F238E27FC236}">
                <a16:creationId xmlns:a16="http://schemas.microsoft.com/office/drawing/2014/main" id="{27F87451-D0E8-4D78-B5C3-D526E48F5BB7}"/>
              </a:ext>
            </a:extLst>
          </p:cNvPr>
          <p:cNvSpPr>
            <a:spLocks xmlns:a="http://schemas.openxmlformats.org/drawingml/2006/main" noGrp="1"/>
          </p:cNvSpPr>
          <p:nvPr/>
        </p:nvSpPr>
        <p:spPr>
          <a:xfrm xmlns:a="http://schemas.openxmlformats.org/drawingml/2006/main">
            <a:off x="6667500" y="3171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FD88F18-46B5-41BD-BFCA-8B5AAF8849FF}"/>
              </a:ext>
            </a:extLst>
          </p:cNvPr>
          <p:cNvSpPr>
            <a:spLocks xmlns:a="http://schemas.openxmlformats.org/drawingml/2006/main" noGrp="1"/>
          </p:cNvSpPr>
          <p:nvPr/>
        </p:nvSpPr>
        <p:spPr>
          <a:xfrm xmlns:a="http://schemas.openxmlformats.org/drawingml/2006/main">
            <a:off x="6934200" y="31051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Candidate inspected before install</a:t>
            </a:r>
          </a:p>
        </p:txBody>
      </p:sp>
      <p:sp>
        <p:nvSpPr>
          <p:cNvPr id="20" name="">
            <a:extLst xmlns:a="http://schemas.openxmlformats.org/drawingml/2006/main">
              <a:ext uri="{FF2B5EF4-FFF2-40B4-BE49-F238E27FC236}">
                <a16:creationId xmlns:a16="http://schemas.microsoft.com/office/drawing/2014/main" id="{B3D28E46-FE52-45D5-8EA1-BF10770E6C54}"/>
              </a:ext>
            </a:extLst>
          </p:cNvPr>
          <p:cNvSpPr>
            <a:spLocks xmlns:a="http://schemas.openxmlformats.org/drawingml/2006/main" noGrp="1"/>
          </p:cNvSpPr>
          <p:nvPr/>
        </p:nvSpPr>
        <p:spPr>
          <a:xfrm xmlns:a="http://schemas.openxmlformats.org/drawingml/2006/main">
            <a:off x="6667500" y="37433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3C2B25C-6BDE-4AAB-904E-0F15113DF0D2}"/>
              </a:ext>
            </a:extLst>
          </p:cNvPr>
          <p:cNvSpPr>
            <a:spLocks xmlns:a="http://schemas.openxmlformats.org/drawingml/2006/main" noGrp="1"/>
          </p:cNvSpPr>
          <p:nvPr/>
        </p:nvSpPr>
        <p:spPr>
          <a:xfrm xmlns:a="http://schemas.openxmlformats.org/drawingml/2006/main">
            <a:off x="6934200" y="36766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dpkg says install ok installed</a:t>
            </a:r>
          </a:p>
        </p:txBody>
      </p:sp>
      <p:sp>
        <p:nvSpPr>
          <p:cNvPr id="22" name="">
            <a:extLst xmlns:a="http://schemas.openxmlformats.org/drawingml/2006/main">
              <a:ext uri="{FF2B5EF4-FFF2-40B4-BE49-F238E27FC236}">
                <a16:creationId xmlns:a16="http://schemas.microsoft.com/office/drawing/2014/main" id="{2E701848-E1C5-4F87-8279-E3EBE384F7A9}"/>
              </a:ext>
            </a:extLst>
          </p:cNvPr>
          <p:cNvSpPr>
            <a:spLocks xmlns:a="http://schemas.openxmlformats.org/drawingml/2006/main" noGrp="1"/>
          </p:cNvSpPr>
          <p:nvPr/>
        </p:nvSpPr>
        <p:spPr>
          <a:xfrm xmlns:a="http://schemas.openxmlformats.org/drawingml/2006/main">
            <a:off x="6667500" y="4314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09B7F9F-1914-4FC1-9251-2A3E490D832A}"/>
              </a:ext>
            </a:extLst>
          </p:cNvPr>
          <p:cNvSpPr>
            <a:spLocks xmlns:a="http://schemas.openxmlformats.org/drawingml/2006/main" noGrp="1"/>
          </p:cNvSpPr>
          <p:nvPr/>
        </p:nvSpPr>
        <p:spPr>
          <a:xfrm xmlns:a="http://schemas.openxmlformats.org/drawingml/2006/main">
            <a:off x="6934200" y="42481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/usr/bin/tree belongs to tree</a:t>
            </a:r>
          </a:p>
        </p:txBody>
      </p:sp>
      <p:sp>
        <p:nvSpPr>
          <p:cNvPr id="24" name="">
            <a:extLst xmlns:a="http://schemas.openxmlformats.org/drawingml/2006/main">
              <a:ext uri="{FF2B5EF4-FFF2-40B4-BE49-F238E27FC236}">
                <a16:creationId xmlns:a16="http://schemas.microsoft.com/office/drawing/2014/main" id="{B139B5F9-EFF3-4E76-9E50-53E4221E0BC5}"/>
              </a:ext>
            </a:extLst>
          </p:cNvPr>
          <p:cNvSpPr>
            <a:spLocks xmlns:a="http://schemas.openxmlformats.org/drawingml/2006/main" noGrp="1"/>
          </p:cNvSpPr>
          <p:nvPr/>
        </p:nvSpPr>
        <p:spPr>
          <a:xfrm xmlns:a="http://schemas.openxmlformats.org/drawingml/2006/main">
            <a:off x="6667500" y="48863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1629B6F-E8A2-4282-9017-3DE5C9ABE668}"/>
              </a:ext>
            </a:extLst>
          </p:cNvPr>
          <p:cNvSpPr>
            <a:spLocks xmlns:a="http://schemas.openxmlformats.org/drawingml/2006/main" noGrp="1"/>
          </p:cNvSpPr>
          <p:nvPr/>
        </p:nvSpPr>
        <p:spPr>
          <a:xfrm xmlns:a="http://schemas.openxmlformats.org/drawingml/2006/main">
            <a:off x="6934200" y="48196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tree output proves behavior</a:t>
            </a:r>
          </a:p>
        </p:txBody>
      </p:sp>
      <p:sp>
        <p:nvSpPr>
          <p:cNvPr id="26" name="">
            <a:extLst xmlns:a="http://schemas.openxmlformats.org/drawingml/2006/main">
              <a:ext uri="{FF2B5EF4-FFF2-40B4-BE49-F238E27FC236}">
                <a16:creationId xmlns:a16="http://schemas.microsoft.com/office/drawing/2014/main" id="{31BF24E7-ED3D-4226-A7DC-0713BF70C771}"/>
              </a:ext>
            </a:extLst>
          </p:cNvPr>
          <p:cNvSpPr>
            <a:spLocks xmlns:a="http://schemas.openxmlformats.org/drawingml/2006/main" noGrp="1"/>
          </p:cNvSpPr>
          <p:nvPr/>
        </p:nvSpPr>
        <p:spPr>
          <a:xfrm xmlns:a="http://schemas.openxmlformats.org/drawingml/2006/main">
            <a:off x="800100" y="5600700"/>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1" i="0">
                <a:solidFill>
                  <a:srgbClr val="8B5CF6"/>
                </a:solidFill>
                <a:latin typeface="Aptos"/>
                <a:ea typeface="Aptos"/>
                <a:cs typeface="Aptos"/>
              </a:defRPr>
            </a:pPr>
            <a:r>
              <a:rPr sz="1650" b="1" i="0">
                <a:solidFill>
                  <a:srgbClr val="8B5CF6"/>
                </a:solidFill>
                <a:latin typeface="Aptos"/>
                <a:ea typeface="Aptos"/>
                <a:cs typeface="Aptos"/>
              </a:rPr>
              <a:t>Debrief: which command proves repository state, installed state, and behavior?</a:t>
            </a:r>
          </a:p>
        </p:txBody>
      </p:sp>
    </p:spTree>
    <p:extLst>
      <p:ext uri="{BB962C8B-B14F-4D97-AF65-F5344CB8AC3E}">
        <p14:creationId xmlns:p14="http://schemas.microsoft.com/office/powerpoint/2010/main" val="276205261"/>
      </p:ext>
    </p:extLst>
  </p:cSld>
</p:sld>
</file>

<file path=ppt/slides/slide46.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CB4F8FE-CDF3-4C1E-A8BC-80B7E3693586}"/>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USERS &amp; GROUPS</a:t>
            </a:r>
          </a:p>
        </p:txBody>
      </p:sp>
      <p:sp>
        <p:nvSpPr>
          <p:cNvPr id="2" name="">
            <a:extLst xmlns:a="http://schemas.openxmlformats.org/drawingml/2006/main">
              <a:ext uri="{FF2B5EF4-FFF2-40B4-BE49-F238E27FC236}">
                <a16:creationId xmlns:a16="http://schemas.microsoft.com/office/drawing/2014/main" id="{DF7AA674-01B6-4310-94A2-500DFA70D75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Linux authorizes identities, not job titles</a:t>
            </a:r>
          </a:p>
        </p:txBody>
      </p:sp>
      <p:sp>
        <p:nvSpPr>
          <p:cNvPr id="3" name="">
            <a:extLst xmlns:a="http://schemas.openxmlformats.org/drawingml/2006/main">
              <a:ext uri="{FF2B5EF4-FFF2-40B4-BE49-F238E27FC236}">
                <a16:creationId xmlns:a16="http://schemas.microsoft.com/office/drawing/2014/main" id="{8C7B56FA-7FEE-42C7-8D6E-1B4D1531DF0E}"/>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A67FAF5-C709-4C4D-8E1B-D58EDD85F2A0}"/>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86A92B6B-54A9-44F7-BF12-9471DFBBE2F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46</a:t>
            </a:r>
          </a:p>
        </p:txBody>
      </p:sp>
      <p:sp>
        <p:nvSpPr>
          <p:cNvPr id="6" name="">
            <a:extLst xmlns:a="http://schemas.openxmlformats.org/drawingml/2006/main">
              <a:ext uri="{FF2B5EF4-FFF2-40B4-BE49-F238E27FC236}">
                <a16:creationId xmlns:a16="http://schemas.microsoft.com/office/drawing/2014/main" id="{50B4E707-2116-480F-8842-2D3D8DC7904B}"/>
              </a:ext>
            </a:extLst>
          </p:cNvPr>
          <p:cNvSpPr>
            <a:spLocks xmlns:a="http://schemas.openxmlformats.org/drawingml/2006/main" noGrp="1"/>
          </p:cNvSpPr>
          <p:nvPr/>
        </p:nvSpPr>
        <p:spPr>
          <a:xfrm xmlns:a="http://schemas.openxmlformats.org/drawingml/2006/main">
            <a:off x="857250" y="180975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USER</a:t>
            </a:r>
          </a:p>
        </p:txBody>
      </p:sp>
      <p:sp>
        <p:nvSpPr>
          <p:cNvPr id="7" name="">
            <a:extLst xmlns:a="http://schemas.openxmlformats.org/drawingml/2006/main">
              <a:ext uri="{FF2B5EF4-FFF2-40B4-BE49-F238E27FC236}">
                <a16:creationId xmlns:a16="http://schemas.microsoft.com/office/drawing/2014/main" id="{B710EE2B-21DF-4924-910A-8CB5C15EF22E}"/>
              </a:ext>
            </a:extLst>
          </p:cNvPr>
          <p:cNvSpPr>
            <a:spLocks xmlns:a="http://schemas.openxmlformats.org/drawingml/2006/main" noGrp="1"/>
          </p:cNvSpPr>
          <p:nvPr/>
        </p:nvSpPr>
        <p:spPr>
          <a:xfrm xmlns:a="http://schemas.openxmlformats.org/drawingml/2006/main">
            <a:off x="857250" y="2238375"/>
            <a:ext cx="2571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5000"/>
              </a:lnSpc>
              <a:buNone/>
              <a:defRPr sz="2700" b="1" i="0">
                <a:solidFill>
                  <a:srgbClr val="FFF8EE"/>
                </a:solidFill>
                <a:latin typeface="Aptos"/>
                <a:ea typeface="Aptos"/>
                <a:cs typeface="Aptos"/>
              </a:defRPr>
            </a:pPr>
            <a:r>
              <a:rPr sz="2700" b="1" i="0">
                <a:solidFill>
                  <a:srgbClr val="FFF8EE"/>
                </a:solidFill>
                <a:latin typeface="Aptos"/>
                <a:ea typeface="Aptos"/>
                <a:cs typeface="Aptos"/>
              </a:rPr>
              <a:t>UID 1001</a:t>
            </a:r>
          </a:p>
          <a:p xmlns:a="http://schemas.openxmlformats.org/drawingml/2006/main">
            <a:pPr algn="l">
              <a:lnSpc>
                <a:spcPct val="95000"/>
              </a:lnSpc>
              <a:buNone/>
              <a:defRPr sz="2700" b="1" i="0">
                <a:solidFill>
                  <a:srgbClr val="FFF8EE"/>
                </a:solidFill>
                <a:latin typeface="Aptos"/>
                <a:ea typeface="Aptos"/>
                <a:cs typeface="Aptos"/>
              </a:defRPr>
            </a:pPr>
            <a:r>
              <a:rPr sz="2700" b="1" i="0">
                <a:solidFill>
                  <a:srgbClr val="FFF8EE"/>
                </a:solidFill>
                <a:latin typeface="Aptos"/>
                <a:ea typeface="Aptos"/>
                <a:cs typeface="Aptos"/>
              </a:rPr>
              <a:t>alice</a:t>
            </a:r>
          </a:p>
        </p:txBody>
      </p:sp>
      <p:sp>
        <p:nvSpPr>
          <p:cNvPr id="8" name="">
            <a:extLst xmlns:a="http://schemas.openxmlformats.org/drawingml/2006/main">
              <a:ext uri="{FF2B5EF4-FFF2-40B4-BE49-F238E27FC236}">
                <a16:creationId xmlns:a16="http://schemas.microsoft.com/office/drawing/2014/main" id="{5BC36914-98B3-48DD-9C4B-83BCAF967B7C}"/>
              </a:ext>
            </a:extLst>
          </p:cNvPr>
          <p:cNvSpPr>
            <a:spLocks xmlns:a="http://schemas.openxmlformats.org/drawingml/2006/main" noGrp="1"/>
          </p:cNvSpPr>
          <p:nvPr/>
        </p:nvSpPr>
        <p:spPr>
          <a:xfrm xmlns:a="http://schemas.openxmlformats.org/drawingml/2006/main">
            <a:off x="4286250" y="1809750"/>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PRIMARY + SUPPLEMENTARY GROUPS</a:t>
            </a:r>
          </a:p>
        </p:txBody>
      </p:sp>
      <p:sp>
        <p:nvSpPr>
          <p:cNvPr id="9" name="">
            <a:extLst xmlns:a="http://schemas.openxmlformats.org/drawingml/2006/main">
              <a:ext uri="{FF2B5EF4-FFF2-40B4-BE49-F238E27FC236}">
                <a16:creationId xmlns:a16="http://schemas.microsoft.com/office/drawing/2014/main" id="{DBF4AABC-C008-4AB7-B8C0-601DCD2CECEF}"/>
              </a:ext>
            </a:extLst>
          </p:cNvPr>
          <p:cNvSpPr>
            <a:spLocks xmlns:a="http://schemas.openxmlformats.org/drawingml/2006/main" noGrp="1"/>
          </p:cNvSpPr>
          <p:nvPr/>
        </p:nvSpPr>
        <p:spPr>
          <a:xfrm xmlns:a="http://schemas.openxmlformats.org/drawingml/2006/main">
            <a:off x="4286250" y="2324100"/>
            <a:ext cx="619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475" b="1" i="0">
                <a:solidFill>
                  <a:srgbClr val="C9B6FF"/>
                </a:solidFill>
                <a:latin typeface="Aptos"/>
                <a:ea typeface="Aptos"/>
                <a:cs typeface="Aptos"/>
              </a:defRPr>
            </a:pPr>
            <a:r>
              <a:rPr sz="2475" b="1" i="0">
                <a:solidFill>
                  <a:srgbClr val="C9B6FF"/>
                </a:solidFill>
                <a:latin typeface="Aptos"/>
                <a:ea typeface="Aptos"/>
                <a:cs typeface="Aptos"/>
              </a:rPr>
              <a:t>alice · courseops · sudo</a:t>
            </a:r>
          </a:p>
        </p:txBody>
      </p:sp>
      <p:sp>
        <p:nvSpPr>
          <p:cNvPr id="10" name="">
            <a:extLst xmlns:a="http://schemas.openxmlformats.org/drawingml/2006/main">
              <a:ext uri="{FF2B5EF4-FFF2-40B4-BE49-F238E27FC236}">
                <a16:creationId xmlns:a16="http://schemas.microsoft.com/office/drawing/2014/main" id="{F57A9B53-2FCF-4BCD-8461-96C9057DE943}"/>
              </a:ext>
            </a:extLst>
          </p:cNvPr>
          <p:cNvSpPr>
            <a:spLocks xmlns:a="http://schemas.openxmlformats.org/drawingml/2006/main" noGrp="1"/>
          </p:cNvSpPr>
          <p:nvPr/>
        </p:nvSpPr>
        <p:spPr>
          <a:xfrm xmlns:a="http://schemas.openxmlformats.org/drawingml/2006/main">
            <a:off x="857250" y="3619500"/>
            <a:ext cx="6096000" cy="2000250"/>
          </a:xfrm>
          <a:prstGeom xmlns:a="http://schemas.openxmlformats.org/drawingml/2006/main" prst="roundRect">
            <a:avLst>
              <a:gd name="adj" fmla="val 7619"/>
            </a:avLst>
          </a:prstGeom>
          <a:solidFill xmlns:a="http://schemas.openxmlformats.org/drawingml/2006/main">
            <a:srgbClr val="28183A"/>
          </a:solidFill>
          <a:ln xmlns:a="http://schemas.openxmlformats.org/drawingml/2006/main" w="9525">
            <a:solidFill>
              <a:srgbClr val="4A335D"/>
            </a:solidFill>
            <a:prstDash val="solid"/>
          </a:ln>
        </p:spPr>
      </p:sp>
      <p:sp>
        <p:nvSpPr>
          <p:cNvPr id="11" name="">
            <a:extLst xmlns:a="http://schemas.openxmlformats.org/drawingml/2006/main">
              <a:ext uri="{FF2B5EF4-FFF2-40B4-BE49-F238E27FC236}">
                <a16:creationId xmlns:a16="http://schemas.microsoft.com/office/drawing/2014/main" id="{31FD42E0-698B-4B91-A17F-292E9498D006}"/>
              </a:ext>
            </a:extLst>
          </p:cNvPr>
          <p:cNvSpPr>
            <a:spLocks xmlns:a="http://schemas.openxmlformats.org/drawingml/2006/main" noGrp="1"/>
          </p:cNvSpPr>
          <p:nvPr/>
        </p:nvSpPr>
        <p:spPr>
          <a:xfrm xmlns:a="http://schemas.openxmlformats.org/drawingml/2006/main">
            <a:off x="857250" y="3619500"/>
            <a:ext cx="6096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E1CF5AB-5D7E-4DDB-830B-CD45CDA97F7E}"/>
              </a:ext>
            </a:extLst>
          </p:cNvPr>
          <p:cNvSpPr>
            <a:spLocks xmlns:a="http://schemas.openxmlformats.org/drawingml/2006/main" noGrp="1"/>
          </p:cNvSpPr>
          <p:nvPr/>
        </p:nvSpPr>
        <p:spPr>
          <a:xfrm xmlns:a="http://schemas.openxmlformats.org/drawingml/2006/main">
            <a:off x="857250" y="3886200"/>
            <a:ext cx="6096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F8D8E9D8-2D7B-494D-947E-9F7948BDE21D}"/>
              </a:ext>
            </a:extLst>
          </p:cNvPr>
          <p:cNvSpPr>
            <a:spLocks xmlns:a="http://schemas.openxmlformats.org/drawingml/2006/main" noGrp="1"/>
          </p:cNvSpPr>
          <p:nvPr/>
        </p:nvSpPr>
        <p:spPr>
          <a:xfrm xmlns:a="http://schemas.openxmlformats.org/drawingml/2006/main">
            <a:off x="1028700" y="37719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9E11A43-2EF1-4A9B-99B1-264D5FAA25B4}"/>
              </a:ext>
            </a:extLst>
          </p:cNvPr>
          <p:cNvSpPr>
            <a:spLocks xmlns:a="http://schemas.openxmlformats.org/drawingml/2006/main" noGrp="1"/>
          </p:cNvSpPr>
          <p:nvPr/>
        </p:nvSpPr>
        <p:spPr>
          <a:xfrm xmlns:a="http://schemas.openxmlformats.org/drawingml/2006/main">
            <a:off x="1200150" y="37719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52258AB2-FDA4-4734-AABB-1FD8E593D9F6}"/>
              </a:ext>
            </a:extLst>
          </p:cNvPr>
          <p:cNvSpPr>
            <a:spLocks xmlns:a="http://schemas.openxmlformats.org/drawingml/2006/main" noGrp="1"/>
          </p:cNvSpPr>
          <p:nvPr/>
        </p:nvSpPr>
        <p:spPr>
          <a:xfrm xmlns:a="http://schemas.openxmlformats.org/drawingml/2006/main">
            <a:off x="1371600" y="37719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05A8449-F7B3-4B9F-B7C5-399F20CE06DA}"/>
              </a:ext>
            </a:extLst>
          </p:cNvPr>
          <p:cNvSpPr>
            <a:spLocks xmlns:a="http://schemas.openxmlformats.org/drawingml/2006/main" noGrp="1"/>
          </p:cNvSpPr>
          <p:nvPr/>
        </p:nvSpPr>
        <p:spPr>
          <a:xfrm xmlns:a="http://schemas.openxmlformats.org/drawingml/2006/main">
            <a:off x="1638300" y="3733800"/>
            <a:ext cx="514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8B5CF6"/>
                </a:solidFill>
                <a:latin typeface="Aptos"/>
                <a:ea typeface="Aptos"/>
                <a:cs typeface="Aptos"/>
              </a:defRPr>
            </a:pPr>
            <a:r>
              <a:rPr sz="900" b="1" i="0">
                <a:solidFill>
                  <a:srgbClr val="8B5CF6"/>
                </a:solidFill>
                <a:latin typeface="Aptos"/>
                <a:ea typeface="Aptos"/>
                <a:cs typeface="Aptos"/>
              </a:rPr>
              <a:t>IDENTITY CHECKS</a:t>
            </a:r>
          </a:p>
        </p:txBody>
      </p:sp>
      <p:sp>
        <p:nvSpPr>
          <p:cNvPr id="17" name="">
            <a:extLst xmlns:a="http://schemas.openxmlformats.org/drawingml/2006/main">
              <a:ext uri="{FF2B5EF4-FFF2-40B4-BE49-F238E27FC236}">
                <a16:creationId xmlns:a16="http://schemas.microsoft.com/office/drawing/2014/main" id="{9297B0E3-9956-49FB-B66E-5049ABEB83B8}"/>
              </a:ext>
            </a:extLst>
          </p:cNvPr>
          <p:cNvSpPr>
            <a:spLocks xmlns:a="http://schemas.openxmlformats.org/drawingml/2006/main" noGrp="1"/>
          </p:cNvSpPr>
          <p:nvPr/>
        </p:nvSpPr>
        <p:spPr>
          <a:xfrm xmlns:a="http://schemas.openxmlformats.org/drawingml/2006/main">
            <a:off x="1085850" y="4191000"/>
            <a:ext cx="56388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whoami</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id</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groups</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getent passwd alice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getent group courseops</a:t>
            </a:r>
          </a:p>
        </p:txBody>
      </p:sp>
      <p:sp>
        <p:nvSpPr>
          <p:cNvPr id="18" name="">
            <a:extLst xmlns:a="http://schemas.openxmlformats.org/drawingml/2006/main">
              <a:ext uri="{FF2B5EF4-FFF2-40B4-BE49-F238E27FC236}">
                <a16:creationId xmlns:a16="http://schemas.microsoft.com/office/drawing/2014/main" id="{76628CE3-24DA-4E41-9BA0-BC752A56FC0F}"/>
              </a:ext>
            </a:extLst>
          </p:cNvPr>
          <p:cNvSpPr>
            <a:spLocks xmlns:a="http://schemas.openxmlformats.org/drawingml/2006/main" noGrp="1"/>
          </p:cNvSpPr>
          <p:nvPr/>
        </p:nvSpPr>
        <p:spPr>
          <a:xfrm xmlns:a="http://schemas.openxmlformats.org/drawingml/2006/main">
            <a:off x="7620000" y="3714750"/>
            <a:ext cx="3143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1" i="0">
                <a:solidFill>
                  <a:srgbClr val="FFF8EE"/>
                </a:solidFill>
                <a:latin typeface="Aptos"/>
                <a:ea typeface="Aptos"/>
                <a:cs typeface="Aptos"/>
              </a:defRPr>
            </a:pPr>
            <a:r>
              <a:rPr sz="1875" b="1" i="0">
                <a:solidFill>
                  <a:srgbClr val="FFF8EE"/>
                </a:solidFill>
                <a:latin typeface="Aptos"/>
                <a:ea typeface="Aptos"/>
                <a:cs typeface="Aptos"/>
              </a:rPr>
              <a:t>Processes run as a user.</a:t>
            </a:r>
          </a:p>
          <a:p xmlns:a="http://schemas.openxmlformats.org/drawingml/2006/main">
            <a:pPr algn="l">
              <a:lnSpc>
                <a:spcPct val="112000"/>
              </a:lnSpc>
              <a:buNone/>
              <a:defRPr sz="1875" b="1" i="0">
                <a:solidFill>
                  <a:srgbClr val="FFF8EE"/>
                </a:solidFill>
                <a:latin typeface="Aptos"/>
                <a:ea typeface="Aptos"/>
                <a:cs typeface="Aptos"/>
              </a:defRPr>
            </a:pPr>
            <a:r>
              <a:rPr sz="1875" b="1" i="0">
                <a:solidFill>
                  <a:srgbClr val="FFF8EE"/>
                </a:solidFill>
                <a:latin typeface="Aptos"/>
                <a:ea typeface="Aptos"/>
                <a:cs typeface="Aptos"/>
              </a:rPr>
              <a:t>Files have an owner + group.</a:t>
            </a:r>
          </a:p>
          <a:p xmlns:a="http://schemas.openxmlformats.org/drawingml/2006/main">
            <a:pPr algn="l">
              <a:lnSpc>
                <a:spcPct val="112000"/>
              </a:lnSpc>
              <a:buNone/>
              <a:defRPr sz="1875" b="1" i="0">
                <a:solidFill>
                  <a:srgbClr val="FFF8EE"/>
                </a:solidFill>
                <a:latin typeface="Aptos"/>
                <a:ea typeface="Aptos"/>
                <a:cs typeface="Aptos"/>
              </a:defRPr>
            </a:pPr>
            <a:r>
              <a:rPr sz="1875" b="1" i="0">
                <a:solidFill>
                  <a:srgbClr val="FFF8EE"/>
                </a:solidFill>
                <a:latin typeface="Aptos"/>
                <a:ea typeface="Aptos"/>
                <a:cs typeface="Aptos"/>
              </a:rPr>
              <a:t>Access checks combine both.</a:t>
            </a:r>
          </a:p>
        </p:txBody>
      </p:sp>
    </p:spTree>
    <p:extLst>
      <p:ext uri="{BB962C8B-B14F-4D97-AF65-F5344CB8AC3E}">
        <p14:creationId xmlns:p14="http://schemas.microsoft.com/office/powerpoint/2010/main" val="1947721800"/>
      </p:ext>
    </p:extLst>
  </p:cSld>
</p:sld>
</file>

<file path=ppt/slides/slide47.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IDENTITY</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719"/>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Names are convenient; numeric IDs drive authorization</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47</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Username</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human-readable account label</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UID</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numeric user identity used by the kernel</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693"/>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Group name</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human-readable collaboration label</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GID</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numeric group identity stored on files</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397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Effective IDs</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identity currently used for access checks</a:t>
            </a:r>
          </a:p>
        </p:txBody>
      </p:sp>
    </p:spTree>
    <p:extLst>
      <p:ext uri="{BB962C8B-B14F-4D97-AF65-F5344CB8AC3E}">
        <p14:creationId xmlns:p14="http://schemas.microsoft.com/office/powerpoint/2010/main" val="1018217464"/>
      </p:ext>
    </p:extLst>
  </p:cSld>
</p:sld>
</file>

<file path=ppt/slides/slide4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IDENTITY</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19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Account databases separate public identity from secrets</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48</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/etc/passwd</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/etc/group</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/etc/shadow</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name and UID</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primary GID</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home directory</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login shell</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group name and GID</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supplementary members</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not every primary member</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readable account data</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password hashes</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aging fields</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root-readable only</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never copy casually</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Use getent so local files and network identity sources are queried consistently.</a:t>
            </a:r>
          </a:p>
        </p:txBody>
      </p:sp>
    </p:spTree>
    <p:extLst>
      <p:ext uri="{BB962C8B-B14F-4D97-AF65-F5344CB8AC3E}">
        <p14:creationId xmlns:p14="http://schemas.microsoft.com/office/powerpoint/2010/main" val="281690250"/>
      </p:ext>
    </p:extLst>
  </p:cSld>
</p:sld>
</file>

<file path=ppt/slides/slide49.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IDENTITY</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Existing shells keep old group credentials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49</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ACCOUNT DATABASE</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updated now</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usermod changes membership</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getent shows the new record</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Future sessions inherit it</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CURRENT SHELL</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old credentials</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Keeps groups from login time</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id may not show the change</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Re-login or newgrp refreshes context</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Always test membership in the process that will do the work.</a:t>
            </a:r>
          </a:p>
        </p:txBody>
      </p:sp>
    </p:spTree>
    <p:extLst>
      <p:ext uri="{BB962C8B-B14F-4D97-AF65-F5344CB8AC3E}">
        <p14:creationId xmlns:p14="http://schemas.microsoft.com/office/powerpoint/2010/main" val="1882871272"/>
      </p:ext>
    </p:extLst>
  </p:cSld>
</p:sld>
</file>

<file path=ppt/slides/slide5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03ACF30-DE43-4B18-B5C4-3C1D63541C26}"/>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USERS &amp; GROUPS</a:t>
            </a:r>
          </a:p>
        </p:txBody>
      </p:sp>
      <p:sp>
        <p:nvSpPr>
          <p:cNvPr id="2" name="">
            <a:extLst xmlns:a="http://schemas.openxmlformats.org/drawingml/2006/main">
              <a:ext uri="{FF2B5EF4-FFF2-40B4-BE49-F238E27FC236}">
                <a16:creationId xmlns:a16="http://schemas.microsoft.com/office/drawing/2014/main" id="{3851E7FB-569E-45A7-87AF-D3C125A2DDAD}"/>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Use sudo for one deliberate action</a:t>
            </a:r>
          </a:p>
        </p:txBody>
      </p:sp>
      <p:sp>
        <p:nvSpPr>
          <p:cNvPr id="3" name="">
            <a:extLst xmlns:a="http://schemas.openxmlformats.org/drawingml/2006/main">
              <a:ext uri="{FF2B5EF4-FFF2-40B4-BE49-F238E27FC236}">
                <a16:creationId xmlns:a16="http://schemas.microsoft.com/office/drawing/2014/main" id="{37A44FE0-0214-42DF-A812-A6B65A5E9DD7}"/>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F5DC671-9688-4018-AD89-B18B77E9E10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DA71ED-A351-4304-921D-A989C9BC230B}"/>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50</a:t>
            </a:r>
          </a:p>
        </p:txBody>
      </p:sp>
      <p:sp>
        <p:nvSpPr>
          <p:cNvPr id="6" name="">
            <a:extLst xmlns:a="http://schemas.openxmlformats.org/drawingml/2006/main">
              <a:ext uri="{FF2B5EF4-FFF2-40B4-BE49-F238E27FC236}">
                <a16:creationId xmlns:a16="http://schemas.microsoft.com/office/drawing/2014/main" id="{9BB6D6CC-6BEC-434C-853C-29BCB94A4E56}"/>
              </a:ext>
            </a:extLst>
          </p:cNvPr>
          <p:cNvSpPr>
            <a:spLocks xmlns:a="http://schemas.openxmlformats.org/drawingml/2006/main" noGrp="1"/>
          </p:cNvSpPr>
          <p:nvPr/>
        </p:nvSpPr>
        <p:spPr>
          <a:xfrm xmlns:a="http://schemas.openxmlformats.org/drawingml/2006/main">
            <a:off x="819150" y="18097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Normal shell</a:t>
            </a:r>
          </a:p>
        </p:txBody>
      </p:sp>
      <p:sp>
        <p:nvSpPr>
          <p:cNvPr id="7" name="">
            <a:extLst xmlns:a="http://schemas.openxmlformats.org/drawingml/2006/main">
              <a:ext uri="{FF2B5EF4-FFF2-40B4-BE49-F238E27FC236}">
                <a16:creationId xmlns:a16="http://schemas.microsoft.com/office/drawing/2014/main" id="{F1EE3A8B-876D-4415-B928-47074D39266E}"/>
              </a:ext>
            </a:extLst>
          </p:cNvPr>
          <p:cNvSpPr>
            <a:spLocks xmlns:a="http://schemas.openxmlformats.org/drawingml/2006/main" noGrp="1"/>
          </p:cNvSpPr>
          <p:nvPr/>
        </p:nvSpPr>
        <p:spPr>
          <a:xfrm xmlns:a="http://schemas.openxmlformats.org/drawingml/2006/main">
            <a:off x="819150" y="2400300"/>
            <a:ext cx="323850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800" b="0" i="0">
                <a:solidFill>
                  <a:srgbClr val="514658"/>
                </a:solidFill>
                <a:latin typeface="Aptos"/>
                <a:ea typeface="Aptos"/>
                <a:cs typeface="Aptos"/>
              </a:defRPr>
            </a:pPr>
            <a:r>
              <a:rPr sz="1800" b="0" i="0">
                <a:solidFill>
                  <a:srgbClr val="514658"/>
                </a:solidFill>
                <a:latin typeface="Aptos"/>
                <a:ea typeface="Aptos"/>
                <a:cs typeface="Aptos"/>
              </a:rPr>
              <a:t>least privilege</a:t>
            </a:r>
          </a:p>
          <a:p xmlns:a="http://schemas.openxmlformats.org/drawingml/2006/main">
            <a:pPr algn="l">
              <a:lnSpc>
                <a:spcPct val="115000"/>
              </a:lnSpc>
              <a:buNone/>
              <a:defRPr sz="1800" b="0" i="0">
                <a:solidFill>
                  <a:srgbClr val="514658"/>
                </a:solidFill>
                <a:latin typeface="Aptos"/>
                <a:ea typeface="Aptos"/>
                <a:cs typeface="Aptos"/>
              </a:defRPr>
            </a:pPr>
            <a:r>
              <a:rPr sz="1800" b="0" i="0">
                <a:solidFill>
                  <a:srgbClr val="514658"/>
                </a:solidFill>
                <a:latin typeface="Aptos"/>
                <a:ea typeface="Aptos"/>
                <a:cs typeface="Aptos"/>
              </a:rPr>
              <a:t>clear ownership</a:t>
            </a:r>
          </a:p>
          <a:p xmlns:a="http://schemas.openxmlformats.org/drawingml/2006/main">
            <a:pPr algn="l">
              <a:lnSpc>
                <a:spcPct val="115000"/>
              </a:lnSpc>
              <a:buNone/>
              <a:defRPr sz="1800" b="0" i="0">
                <a:solidFill>
                  <a:srgbClr val="514658"/>
                </a:solidFill>
                <a:latin typeface="Aptos"/>
                <a:ea typeface="Aptos"/>
                <a:cs typeface="Aptos"/>
              </a:defRPr>
            </a:pPr>
            <a:r>
              <a:rPr sz="1800" b="0" i="0">
                <a:solidFill>
                  <a:srgbClr val="514658"/>
                </a:solidFill>
                <a:latin typeface="Aptos"/>
                <a:ea typeface="Aptos"/>
                <a:cs typeface="Aptos"/>
              </a:rPr>
              <a:t>smaller blast radius</a:t>
            </a:r>
          </a:p>
        </p:txBody>
      </p:sp>
      <p:sp>
        <p:nvSpPr>
          <p:cNvPr id="8" name="">
            <a:extLst xmlns:a="http://schemas.openxmlformats.org/drawingml/2006/main">
              <a:ext uri="{FF2B5EF4-FFF2-40B4-BE49-F238E27FC236}">
                <a16:creationId xmlns:a16="http://schemas.microsoft.com/office/drawing/2014/main" id="{D497CEF8-D2EE-406B-953C-5748EB8B31A1}"/>
              </a:ext>
            </a:extLst>
          </p:cNvPr>
          <p:cNvSpPr>
            <a:spLocks xmlns:a="http://schemas.openxmlformats.org/drawingml/2006/main" noGrp="1"/>
          </p:cNvSpPr>
          <p:nvPr/>
        </p:nvSpPr>
        <p:spPr>
          <a:xfrm xmlns:a="http://schemas.openxmlformats.org/drawingml/2006/main">
            <a:off x="4724400" y="2324100"/>
            <a:ext cx="2095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450" b="1" i="0">
                <a:solidFill>
                  <a:srgbClr val="FF6B4A"/>
                </a:solidFill>
                <a:latin typeface="Aptos"/>
                <a:ea typeface="Aptos"/>
                <a:cs typeface="Aptos"/>
              </a:defRPr>
            </a:pPr>
            <a:r>
              <a:rPr sz="3450" b="1" i="0">
                <a:solidFill>
                  <a:srgbClr val="FF6B4A"/>
                </a:solidFill>
                <a:latin typeface="Aptos"/>
                <a:ea typeface="Aptos"/>
                <a:cs typeface="Aptos"/>
              </a:rPr>
              <a:t>+ sudo</a:t>
            </a:r>
          </a:p>
        </p:txBody>
      </p:sp>
      <p:sp>
        <p:nvSpPr>
          <p:cNvPr id="9" name="">
            <a:extLst xmlns:a="http://schemas.openxmlformats.org/drawingml/2006/main">
              <a:ext uri="{FF2B5EF4-FFF2-40B4-BE49-F238E27FC236}">
                <a16:creationId xmlns:a16="http://schemas.microsoft.com/office/drawing/2014/main" id="{E453D80E-DC71-4532-A7EA-B5B44ABBA3D9}"/>
              </a:ext>
            </a:extLst>
          </p:cNvPr>
          <p:cNvSpPr>
            <a:spLocks xmlns:a="http://schemas.openxmlformats.org/drawingml/2006/main" noGrp="1"/>
          </p:cNvSpPr>
          <p:nvPr/>
        </p:nvSpPr>
        <p:spPr>
          <a:xfrm xmlns:a="http://schemas.openxmlformats.org/drawingml/2006/main">
            <a:off x="7524750" y="180975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One privileged command</a:t>
            </a:r>
          </a:p>
        </p:txBody>
      </p:sp>
      <p:sp>
        <p:nvSpPr>
          <p:cNvPr id="10" name="">
            <a:extLst xmlns:a="http://schemas.openxmlformats.org/drawingml/2006/main">
              <a:ext uri="{FF2B5EF4-FFF2-40B4-BE49-F238E27FC236}">
                <a16:creationId xmlns:a16="http://schemas.microsoft.com/office/drawing/2014/main" id="{5574538E-E40E-4A2D-B3B3-9226E594BCB4}"/>
              </a:ext>
            </a:extLst>
          </p:cNvPr>
          <p:cNvSpPr>
            <a:spLocks xmlns:a="http://schemas.openxmlformats.org/drawingml/2006/main" noGrp="1"/>
          </p:cNvSpPr>
          <p:nvPr/>
        </p:nvSpPr>
        <p:spPr>
          <a:xfrm xmlns:a="http://schemas.openxmlformats.org/drawingml/2006/main">
            <a:off x="7200900" y="2381250"/>
            <a:ext cx="4095750" cy="1809750"/>
          </a:xfrm>
          <a:prstGeom xmlns:a="http://schemas.openxmlformats.org/drawingml/2006/main" prst="roundRect">
            <a:avLst>
              <a:gd name="adj" fmla="val 8421"/>
            </a:avLst>
          </a:prstGeom>
          <a:solidFill xmlns:a="http://schemas.openxmlformats.org/drawingml/2006/main">
            <a:srgbClr val="28183A"/>
          </a:solidFill>
          <a:ln xmlns:a="http://schemas.openxmlformats.org/drawingml/2006/main" w="9525">
            <a:solidFill>
              <a:srgbClr val="4A335D"/>
            </a:solidFill>
            <a:prstDash val="solid"/>
          </a:ln>
        </p:spPr>
      </p:sp>
      <p:sp>
        <p:nvSpPr>
          <p:cNvPr id="11" name="">
            <a:extLst xmlns:a="http://schemas.openxmlformats.org/drawingml/2006/main">
              <a:ext uri="{FF2B5EF4-FFF2-40B4-BE49-F238E27FC236}">
                <a16:creationId xmlns:a16="http://schemas.microsoft.com/office/drawing/2014/main" id="{4E5BE6FB-13EE-43B0-BB29-4C7AF68397BB}"/>
              </a:ext>
            </a:extLst>
          </p:cNvPr>
          <p:cNvSpPr>
            <a:spLocks xmlns:a="http://schemas.openxmlformats.org/drawingml/2006/main" noGrp="1"/>
          </p:cNvSpPr>
          <p:nvPr/>
        </p:nvSpPr>
        <p:spPr>
          <a:xfrm xmlns:a="http://schemas.openxmlformats.org/drawingml/2006/main">
            <a:off x="7200900" y="2381250"/>
            <a:ext cx="409575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5E59ACB-46C0-4C23-93CE-3DB24B36A02D}"/>
              </a:ext>
            </a:extLst>
          </p:cNvPr>
          <p:cNvSpPr>
            <a:spLocks xmlns:a="http://schemas.openxmlformats.org/drawingml/2006/main" noGrp="1"/>
          </p:cNvSpPr>
          <p:nvPr/>
        </p:nvSpPr>
        <p:spPr>
          <a:xfrm xmlns:a="http://schemas.openxmlformats.org/drawingml/2006/main">
            <a:off x="7200900" y="2647950"/>
            <a:ext cx="409575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901CC62-4AEC-4909-8905-1F071B9D7FBF}"/>
              </a:ext>
            </a:extLst>
          </p:cNvPr>
          <p:cNvSpPr>
            <a:spLocks xmlns:a="http://schemas.openxmlformats.org/drawingml/2006/main" noGrp="1"/>
          </p:cNvSpPr>
          <p:nvPr/>
        </p:nvSpPr>
        <p:spPr>
          <a:xfrm xmlns:a="http://schemas.openxmlformats.org/drawingml/2006/main">
            <a:off x="7372350" y="25336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6971E61-D6C1-4D93-AAAB-165FAB67D524}"/>
              </a:ext>
            </a:extLst>
          </p:cNvPr>
          <p:cNvSpPr>
            <a:spLocks xmlns:a="http://schemas.openxmlformats.org/drawingml/2006/main" noGrp="1"/>
          </p:cNvSpPr>
          <p:nvPr/>
        </p:nvSpPr>
        <p:spPr>
          <a:xfrm xmlns:a="http://schemas.openxmlformats.org/drawingml/2006/main">
            <a:off x="7543800" y="25336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AE7A621-2024-4BE1-8E10-48BABEAC4CF0}"/>
              </a:ext>
            </a:extLst>
          </p:cNvPr>
          <p:cNvSpPr>
            <a:spLocks xmlns:a="http://schemas.openxmlformats.org/drawingml/2006/main" noGrp="1"/>
          </p:cNvSpPr>
          <p:nvPr/>
        </p:nvSpPr>
        <p:spPr>
          <a:xfrm xmlns:a="http://schemas.openxmlformats.org/drawingml/2006/main">
            <a:off x="7715250" y="25336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23CA1D3C-1C75-4D19-9F22-4DF8164914ED}"/>
              </a:ext>
            </a:extLst>
          </p:cNvPr>
          <p:cNvSpPr>
            <a:spLocks xmlns:a="http://schemas.openxmlformats.org/drawingml/2006/main" noGrp="1"/>
          </p:cNvSpPr>
          <p:nvPr/>
        </p:nvSpPr>
        <p:spPr>
          <a:xfrm xmlns:a="http://schemas.openxmlformats.org/drawingml/2006/main">
            <a:off x="7981950" y="2495550"/>
            <a:ext cx="3143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EXPLICIT INTENT</a:t>
            </a:r>
          </a:p>
        </p:txBody>
      </p:sp>
      <p:sp>
        <p:nvSpPr>
          <p:cNvPr id="17" name="">
            <a:extLst xmlns:a="http://schemas.openxmlformats.org/drawingml/2006/main">
              <a:ext uri="{FF2B5EF4-FFF2-40B4-BE49-F238E27FC236}">
                <a16:creationId xmlns:a16="http://schemas.microsoft.com/office/drawing/2014/main" id="{D8EC541C-66D9-4F62-9073-85528F8B8C46}"/>
              </a:ext>
            </a:extLst>
          </p:cNvPr>
          <p:cNvSpPr>
            <a:spLocks xmlns:a="http://schemas.openxmlformats.org/drawingml/2006/main" noGrp="1"/>
          </p:cNvSpPr>
          <p:nvPr/>
        </p:nvSpPr>
        <p:spPr>
          <a:xfrm xmlns:a="http://schemas.openxmlformats.org/drawingml/2006/main">
            <a:off x="7429500" y="2952750"/>
            <a:ext cx="36385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apt install tree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systemctl restart ssh</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sudoedit /etc/ssh/sshd_config</a:t>
            </a:r>
          </a:p>
        </p:txBody>
      </p:sp>
      <p:sp>
        <p:nvSpPr>
          <p:cNvPr id="18" name="">
            <a:extLst xmlns:a="http://schemas.openxmlformats.org/drawingml/2006/main">
              <a:ext uri="{FF2B5EF4-FFF2-40B4-BE49-F238E27FC236}">
                <a16:creationId xmlns:a16="http://schemas.microsoft.com/office/drawing/2014/main" id="{9EC43A6C-65FC-44DF-99C2-F144ABE1CC98}"/>
              </a:ext>
            </a:extLst>
          </p:cNvPr>
          <p:cNvSpPr>
            <a:spLocks xmlns:a="http://schemas.openxmlformats.org/drawingml/2006/main" noGrp="1"/>
          </p:cNvSpPr>
          <p:nvPr/>
        </p:nvSpPr>
        <p:spPr>
          <a:xfrm xmlns:a="http://schemas.openxmlformats.org/drawingml/2006/main">
            <a:off x="819150" y="4857750"/>
            <a:ext cx="10477500" cy="781050"/>
          </a:xfrm>
          <a:prstGeom xmlns:a="http://schemas.openxmlformats.org/drawingml/2006/main" prst="roundRect">
            <a:avLst>
              <a:gd name="adj" fmla="val 19512"/>
            </a:avLst>
          </a:prstGeom>
          <a:solidFill xmlns:a="http://schemas.openxmlformats.org/drawingml/2006/main">
            <a:srgbClr val="EEE4F3"/>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4894096-83CA-4110-8B60-42CB47E27364}"/>
              </a:ext>
            </a:extLst>
          </p:cNvPr>
          <p:cNvSpPr>
            <a:spLocks xmlns:a="http://schemas.openxmlformats.org/drawingml/2006/main" noGrp="1"/>
          </p:cNvSpPr>
          <p:nvPr/>
        </p:nvSpPr>
        <p:spPr>
          <a:xfrm xmlns:a="http://schemas.openxmlformats.org/drawingml/2006/main">
            <a:off x="1066800" y="5086350"/>
            <a:ext cx="9982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Avoid living in a root shell. Ask: what exact command needs privilege?</a:t>
            </a:r>
          </a:p>
        </p:txBody>
      </p:sp>
    </p:spTree>
    <p:extLst>
      <p:ext uri="{BB962C8B-B14F-4D97-AF65-F5344CB8AC3E}">
        <p14:creationId xmlns:p14="http://schemas.microsoft.com/office/powerpoint/2010/main" val="1701672016"/>
      </p:ext>
    </p:extLst>
  </p:cSld>
</p:sld>
</file>

<file path=ppt/slides/slide51.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SUDO</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831"/>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sudo policy answers who may run what as whom</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51</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Caller</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the authenticated invoking user</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Target</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root by default or selected with -u</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Command</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the permitted executable and arguments</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Policy</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rules from sudoers and included files</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Audit</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logs record the privileged request</a:t>
            </a:r>
          </a:p>
        </p:txBody>
      </p:sp>
    </p:spTree>
    <p:extLst>
      <p:ext uri="{BB962C8B-B14F-4D97-AF65-F5344CB8AC3E}">
        <p14:creationId xmlns:p14="http://schemas.microsoft.com/office/powerpoint/2010/main" val="1018217464"/>
      </p:ext>
    </p:extLst>
  </p:cSld>
</p:sld>
</file>

<file path=ppt/slides/slide52.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5D8DA19-8F66-48D3-9C8D-9045D2365076}"/>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BE746EF1-0218-479F-90DD-9A95CD31705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857"/>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Permissions are three triplets evaluated in order</a:t>
            </a:r>
          </a:p>
        </p:txBody>
      </p:sp>
      <p:sp>
        <p:nvSpPr>
          <p:cNvPr id="3" name="">
            <a:extLst xmlns:a="http://schemas.openxmlformats.org/drawingml/2006/main">
              <a:ext uri="{FF2B5EF4-FFF2-40B4-BE49-F238E27FC236}">
                <a16:creationId xmlns:a16="http://schemas.microsoft.com/office/drawing/2014/main" id="{4D4BFE11-C202-43E1-88E7-A964BCDBADDF}"/>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8E8C806-FACB-40B9-B076-0D4A46148B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EE259C7-54BC-4DF8-8DB6-76B7F7174C9F}"/>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52</a:t>
            </a:r>
          </a:p>
        </p:txBody>
      </p:sp>
      <p:sp>
        <p:nvSpPr>
          <p:cNvPr id="6" name="">
            <a:extLst xmlns:a="http://schemas.openxmlformats.org/drawingml/2006/main">
              <a:ext uri="{FF2B5EF4-FFF2-40B4-BE49-F238E27FC236}">
                <a16:creationId xmlns:a16="http://schemas.microsoft.com/office/drawing/2014/main" id="{93066378-BBCB-40A1-90B4-4465D85F3F82}"/>
              </a:ext>
            </a:extLst>
          </p:cNvPr>
          <p:cNvSpPr>
            <a:spLocks xmlns:a="http://schemas.openxmlformats.org/drawingml/2006/main" noGrp="1"/>
          </p:cNvSpPr>
          <p:nvPr/>
        </p:nvSpPr>
        <p:spPr>
          <a:xfrm xmlns:a="http://schemas.openxmlformats.org/drawingml/2006/main">
            <a:off x="800100" y="1790700"/>
            <a:ext cx="10591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4350" b="1" i="0">
                <a:solidFill>
                  <a:srgbClr val="FFF8EE"/>
                </a:solidFill>
                <a:latin typeface="Courier New"/>
                <a:ea typeface="Courier New"/>
                <a:cs typeface="Courier New"/>
              </a:defRPr>
            </a:pPr>
            <a:r>
              <a:rPr sz="4350" b="1" i="0">
                <a:solidFill>
                  <a:srgbClr val="FFF8EE"/>
                </a:solidFill>
                <a:latin typeface="Courier New"/>
                <a:ea typeface="Courier New"/>
                <a:cs typeface="Courier New"/>
              </a:rPr>
              <a:t>- rwx r-x ---</a:t>
            </a:r>
          </a:p>
        </p:txBody>
      </p:sp>
      <p:sp>
        <p:nvSpPr>
          <p:cNvPr id="7" name="">
            <a:extLst xmlns:a="http://schemas.openxmlformats.org/drawingml/2006/main">
              <a:ext uri="{FF2B5EF4-FFF2-40B4-BE49-F238E27FC236}">
                <a16:creationId xmlns:a16="http://schemas.microsoft.com/office/drawing/2014/main" id="{2FE25655-BE38-42C3-B220-997CD1DAAF91}"/>
              </a:ext>
            </a:extLst>
          </p:cNvPr>
          <p:cNvSpPr>
            <a:spLocks xmlns:a="http://schemas.openxmlformats.org/drawingml/2006/main" noGrp="1"/>
          </p:cNvSpPr>
          <p:nvPr/>
        </p:nvSpPr>
        <p:spPr>
          <a:xfrm xmlns:a="http://schemas.openxmlformats.org/drawingml/2006/main">
            <a:off x="1524000" y="31432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OWNER</a:t>
            </a:r>
          </a:p>
        </p:txBody>
      </p:sp>
      <p:sp>
        <p:nvSpPr>
          <p:cNvPr id="8" name="">
            <a:extLst xmlns:a="http://schemas.openxmlformats.org/drawingml/2006/main">
              <a:ext uri="{FF2B5EF4-FFF2-40B4-BE49-F238E27FC236}">
                <a16:creationId xmlns:a16="http://schemas.microsoft.com/office/drawing/2014/main" id="{FA8DAB7E-13EC-48D0-B93D-F5BF9CAEC58D}"/>
              </a:ext>
            </a:extLst>
          </p:cNvPr>
          <p:cNvSpPr>
            <a:spLocks xmlns:a="http://schemas.openxmlformats.org/drawingml/2006/main" noGrp="1"/>
          </p:cNvSpPr>
          <p:nvPr/>
        </p:nvSpPr>
        <p:spPr>
          <a:xfrm xmlns:a="http://schemas.openxmlformats.org/drawingml/2006/main">
            <a:off x="1524000" y="3543300"/>
            <a:ext cx="2286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300" b="1" i="0">
                <a:solidFill>
                  <a:srgbClr val="FFF8EE"/>
                </a:solidFill>
                <a:latin typeface="Courier New"/>
                <a:ea typeface="Courier New"/>
                <a:cs typeface="Courier New"/>
              </a:defRPr>
            </a:pPr>
            <a:r>
              <a:rPr sz="3300" b="1" i="0">
                <a:solidFill>
                  <a:srgbClr val="FFF8EE"/>
                </a:solidFill>
                <a:latin typeface="Courier New"/>
                <a:ea typeface="Courier New"/>
                <a:cs typeface="Courier New"/>
              </a:rPr>
              <a:t>rwx</a:t>
            </a:r>
          </a:p>
        </p:txBody>
      </p:sp>
      <p:sp>
        <p:nvSpPr>
          <p:cNvPr id="9" name="">
            <a:extLst xmlns:a="http://schemas.openxmlformats.org/drawingml/2006/main">
              <a:ext uri="{FF2B5EF4-FFF2-40B4-BE49-F238E27FC236}">
                <a16:creationId xmlns:a16="http://schemas.microsoft.com/office/drawing/2014/main" id="{D888DB92-C822-4579-AC13-E40C6EB60E7D}"/>
              </a:ext>
            </a:extLst>
          </p:cNvPr>
          <p:cNvSpPr>
            <a:spLocks xmlns:a="http://schemas.openxmlformats.org/drawingml/2006/main" noGrp="1"/>
          </p:cNvSpPr>
          <p:nvPr/>
        </p:nvSpPr>
        <p:spPr>
          <a:xfrm xmlns:a="http://schemas.openxmlformats.org/drawingml/2006/main">
            <a:off x="4953000" y="31432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GROUP</a:t>
            </a:r>
          </a:p>
        </p:txBody>
      </p:sp>
      <p:sp>
        <p:nvSpPr>
          <p:cNvPr id="10" name="">
            <a:extLst xmlns:a="http://schemas.openxmlformats.org/drawingml/2006/main">
              <a:ext uri="{FF2B5EF4-FFF2-40B4-BE49-F238E27FC236}">
                <a16:creationId xmlns:a16="http://schemas.microsoft.com/office/drawing/2014/main" id="{226D57F9-05AA-419F-BC34-146473B48DBD}"/>
              </a:ext>
            </a:extLst>
          </p:cNvPr>
          <p:cNvSpPr>
            <a:spLocks xmlns:a="http://schemas.openxmlformats.org/drawingml/2006/main" noGrp="1"/>
          </p:cNvSpPr>
          <p:nvPr/>
        </p:nvSpPr>
        <p:spPr>
          <a:xfrm xmlns:a="http://schemas.openxmlformats.org/drawingml/2006/main">
            <a:off x="4953000" y="3543300"/>
            <a:ext cx="2286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300" b="1" i="0">
                <a:solidFill>
                  <a:srgbClr val="FFF8EE"/>
                </a:solidFill>
                <a:latin typeface="Courier New"/>
                <a:ea typeface="Courier New"/>
                <a:cs typeface="Courier New"/>
              </a:defRPr>
            </a:pPr>
            <a:r>
              <a:rPr sz="3300" b="1" i="0">
                <a:solidFill>
                  <a:srgbClr val="FFF8EE"/>
                </a:solidFill>
                <a:latin typeface="Courier New"/>
                <a:ea typeface="Courier New"/>
                <a:cs typeface="Courier New"/>
              </a:rPr>
              <a:t>r-x</a:t>
            </a:r>
          </a:p>
        </p:txBody>
      </p:sp>
      <p:sp>
        <p:nvSpPr>
          <p:cNvPr id="11" name="">
            <a:extLst xmlns:a="http://schemas.openxmlformats.org/drawingml/2006/main">
              <a:ext uri="{FF2B5EF4-FFF2-40B4-BE49-F238E27FC236}">
                <a16:creationId xmlns:a16="http://schemas.microsoft.com/office/drawing/2014/main" id="{02C82AF0-C1C7-42FA-BEFE-B4604FA00919}"/>
              </a:ext>
            </a:extLst>
          </p:cNvPr>
          <p:cNvSpPr>
            <a:spLocks xmlns:a="http://schemas.openxmlformats.org/drawingml/2006/main" noGrp="1"/>
          </p:cNvSpPr>
          <p:nvPr/>
        </p:nvSpPr>
        <p:spPr>
          <a:xfrm xmlns:a="http://schemas.openxmlformats.org/drawingml/2006/main">
            <a:off x="8382000" y="31432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125" b="1" i="0">
                <a:solidFill>
                  <a:srgbClr val="70D6A6"/>
                </a:solidFill>
                <a:latin typeface="Aptos"/>
                <a:ea typeface="Aptos"/>
                <a:cs typeface="Aptos"/>
              </a:defRPr>
            </a:pPr>
            <a:r>
              <a:rPr sz="1125" b="1" i="0">
                <a:solidFill>
                  <a:srgbClr val="70D6A6"/>
                </a:solidFill>
                <a:latin typeface="Aptos"/>
                <a:ea typeface="Aptos"/>
                <a:cs typeface="Aptos"/>
              </a:rPr>
              <a:t>OTHERS</a:t>
            </a:r>
          </a:p>
        </p:txBody>
      </p:sp>
      <p:sp>
        <p:nvSpPr>
          <p:cNvPr id="12" name="">
            <a:extLst xmlns:a="http://schemas.openxmlformats.org/drawingml/2006/main">
              <a:ext uri="{FF2B5EF4-FFF2-40B4-BE49-F238E27FC236}">
                <a16:creationId xmlns:a16="http://schemas.microsoft.com/office/drawing/2014/main" id="{C5A1E5B4-8CB6-44C7-8DA3-AE9473F91B0F}"/>
              </a:ext>
            </a:extLst>
          </p:cNvPr>
          <p:cNvSpPr>
            <a:spLocks xmlns:a="http://schemas.openxmlformats.org/drawingml/2006/main" noGrp="1"/>
          </p:cNvSpPr>
          <p:nvPr/>
        </p:nvSpPr>
        <p:spPr>
          <a:xfrm xmlns:a="http://schemas.openxmlformats.org/drawingml/2006/main">
            <a:off x="8382000" y="3543300"/>
            <a:ext cx="2286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300" b="1" i="0">
                <a:solidFill>
                  <a:srgbClr val="FFF8EE"/>
                </a:solidFill>
                <a:latin typeface="Courier New"/>
                <a:ea typeface="Courier New"/>
                <a:cs typeface="Courier New"/>
              </a:defRPr>
            </a:pPr>
            <a:r>
              <a:rPr sz="3300" b="1" i="0">
                <a:solidFill>
                  <a:srgbClr val="FFF8EE"/>
                </a:solidFill>
                <a:latin typeface="Courier New"/>
                <a:ea typeface="Courier New"/>
                <a:cs typeface="Courier New"/>
              </a:rPr>
              <a:t>---</a:t>
            </a:r>
          </a:p>
        </p:txBody>
      </p:sp>
      <p:sp>
        <p:nvSpPr>
          <p:cNvPr id="13" name="">
            <a:extLst xmlns:a="http://schemas.openxmlformats.org/drawingml/2006/main">
              <a:ext uri="{FF2B5EF4-FFF2-40B4-BE49-F238E27FC236}">
                <a16:creationId xmlns:a16="http://schemas.microsoft.com/office/drawing/2014/main" id="{44AED367-942D-425C-80E8-9972D6BFC1D1}"/>
              </a:ext>
            </a:extLst>
          </p:cNvPr>
          <p:cNvSpPr>
            <a:spLocks xmlns:a="http://schemas.openxmlformats.org/drawingml/2006/main" noGrp="1"/>
          </p:cNvSpPr>
          <p:nvPr/>
        </p:nvSpPr>
        <p:spPr>
          <a:xfrm xmlns:a="http://schemas.openxmlformats.org/drawingml/2006/main">
            <a:off x="762000" y="49530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0" i="0">
                <a:solidFill>
                  <a:srgbClr val="BFAFCB"/>
                </a:solidFill>
                <a:latin typeface="Aptos"/>
                <a:ea typeface="Aptos"/>
                <a:cs typeface="Aptos"/>
              </a:defRPr>
            </a:pPr>
            <a:r>
              <a:rPr sz="1650" b="0" i="0">
                <a:solidFill>
                  <a:srgbClr val="BFAFCB"/>
                </a:solidFill>
                <a:latin typeface="Aptos"/>
                <a:ea typeface="Aptos"/>
                <a:cs typeface="Aptos"/>
              </a:rPr>
              <a:t>file: read · change · run     directory: list names · create/remove · enter/traverse</a:t>
            </a:r>
          </a:p>
        </p:txBody>
      </p:sp>
    </p:spTree>
    <p:extLst>
      <p:ext uri="{BB962C8B-B14F-4D97-AF65-F5344CB8AC3E}">
        <p14:creationId xmlns:p14="http://schemas.microsoft.com/office/powerpoint/2010/main" val="2111934680"/>
      </p:ext>
    </p:extLst>
  </p:cSld>
</p:sld>
</file>

<file path=ppt/slides/slide5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Directory r, w, and x control different abilities</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53</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Read · r</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Write · w</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Execute · x</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list entry names</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does not reveal metadata alone</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ls may show names only</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needs x for useful lookup</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create entries</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remove entries</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rename entries</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usually requires x too</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traverse the directory</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look up named entries</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reach deeper paths</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not ‘run the directory’</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For directories, x means traversal and w changes names in that directory.</a:t>
            </a:r>
          </a:p>
        </p:txBody>
      </p:sp>
    </p:spTree>
    <p:extLst>
      <p:ext uri="{BB962C8B-B14F-4D97-AF65-F5344CB8AC3E}">
        <p14:creationId xmlns:p14="http://schemas.microsoft.com/office/powerpoint/2010/main" val="281690250"/>
      </p:ext>
    </p:extLst>
  </p:cSld>
</p:sld>
</file>

<file path=ppt/slides/slide54.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893"/>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Parent directories participate in every path lookup</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54</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traverse root</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/srv</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traverse service data</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7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/srv/team</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traverse team directory</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file</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apply file read or write bits</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namei -l</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display every component and its mode</a:t>
            </a:r>
          </a:p>
        </p:txBody>
      </p:sp>
    </p:spTree>
    <p:extLst>
      <p:ext uri="{BB962C8B-B14F-4D97-AF65-F5344CB8AC3E}">
        <p14:creationId xmlns:p14="http://schemas.microsoft.com/office/powerpoint/2010/main" val="1018217464"/>
      </p:ext>
    </p:extLst>
  </p:cSld>
</p:sld>
</file>

<file path=ppt/slides/slide55.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C3D61F8-74F5-4C6A-8578-087AA82629C1}"/>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F42A0B2F-E964-40C5-80C9-F49E1A25796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4 + 2 + 1 makes numeric modes readable</a:t>
            </a:r>
          </a:p>
        </p:txBody>
      </p:sp>
      <p:sp>
        <p:nvSpPr>
          <p:cNvPr id="3" name="">
            <a:extLst xmlns:a="http://schemas.openxmlformats.org/drawingml/2006/main">
              <a:ext uri="{FF2B5EF4-FFF2-40B4-BE49-F238E27FC236}">
                <a16:creationId xmlns:a16="http://schemas.microsoft.com/office/drawing/2014/main" id="{1E570F7C-43F6-449D-811B-C804315205BF}"/>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A2D6216-A625-4598-A178-E23EF0EB7E63}"/>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477A37E-E73E-4AAE-89BC-074CDB016469}"/>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55</a:t>
            </a:r>
          </a:p>
        </p:txBody>
      </p:sp>
      <p:sp>
        <p:nvSpPr>
          <p:cNvPr id="6" name="">
            <a:extLst xmlns:a="http://schemas.openxmlformats.org/drawingml/2006/main">
              <a:ext uri="{FF2B5EF4-FFF2-40B4-BE49-F238E27FC236}">
                <a16:creationId xmlns:a16="http://schemas.microsoft.com/office/drawing/2014/main" id="{CE1E9D7C-9624-479D-9BD6-F25321CAB43B}"/>
              </a:ext>
            </a:extLst>
          </p:cNvPr>
          <p:cNvSpPr>
            <a:spLocks xmlns:a="http://schemas.openxmlformats.org/drawingml/2006/main" noGrp="1"/>
          </p:cNvSpPr>
          <p:nvPr/>
        </p:nvSpPr>
        <p:spPr>
          <a:xfrm xmlns:a="http://schemas.openxmlformats.org/drawingml/2006/main">
            <a:off x="952500" y="1790700"/>
            <a:ext cx="266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000" b="1" i="0">
                <a:solidFill>
                  <a:srgbClr val="8B5CF6"/>
                </a:solidFill>
                <a:latin typeface="Courier New"/>
                <a:ea typeface="Courier New"/>
                <a:cs typeface="Courier New"/>
              </a:defRPr>
            </a:pPr>
            <a:r>
              <a:rPr sz="3000" b="1" i="0">
                <a:solidFill>
                  <a:srgbClr val="8B5CF6"/>
                </a:solidFill>
                <a:latin typeface="Courier New"/>
                <a:ea typeface="Courier New"/>
                <a:cs typeface="Courier New"/>
              </a:rPr>
              <a:t>r = 4</a:t>
            </a:r>
          </a:p>
        </p:txBody>
      </p:sp>
      <p:sp>
        <p:nvSpPr>
          <p:cNvPr id="7" name="">
            <a:extLst xmlns:a="http://schemas.openxmlformats.org/drawingml/2006/main">
              <a:ext uri="{FF2B5EF4-FFF2-40B4-BE49-F238E27FC236}">
                <a16:creationId xmlns:a16="http://schemas.microsoft.com/office/drawing/2014/main" id="{A518B861-C7AC-4AFC-985D-A69DC5CB3A99}"/>
              </a:ext>
            </a:extLst>
          </p:cNvPr>
          <p:cNvSpPr>
            <a:spLocks xmlns:a="http://schemas.openxmlformats.org/drawingml/2006/main" noGrp="1"/>
          </p:cNvSpPr>
          <p:nvPr/>
        </p:nvSpPr>
        <p:spPr>
          <a:xfrm xmlns:a="http://schemas.openxmlformats.org/drawingml/2006/main">
            <a:off x="4762500" y="1790700"/>
            <a:ext cx="266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000" b="1" i="0">
                <a:solidFill>
                  <a:srgbClr val="FF6B4A"/>
                </a:solidFill>
                <a:latin typeface="Courier New"/>
                <a:ea typeface="Courier New"/>
                <a:cs typeface="Courier New"/>
              </a:defRPr>
            </a:pPr>
            <a:r>
              <a:rPr sz="3000" b="1" i="0">
                <a:solidFill>
                  <a:srgbClr val="FF6B4A"/>
                </a:solidFill>
                <a:latin typeface="Courier New"/>
                <a:ea typeface="Courier New"/>
                <a:cs typeface="Courier New"/>
              </a:rPr>
              <a:t>w = 2</a:t>
            </a:r>
          </a:p>
        </p:txBody>
      </p:sp>
      <p:sp>
        <p:nvSpPr>
          <p:cNvPr id="8" name="">
            <a:extLst xmlns:a="http://schemas.openxmlformats.org/drawingml/2006/main">
              <a:ext uri="{FF2B5EF4-FFF2-40B4-BE49-F238E27FC236}">
                <a16:creationId xmlns:a16="http://schemas.microsoft.com/office/drawing/2014/main" id="{75F8849D-E706-4418-B710-A93CBAD834F9}"/>
              </a:ext>
            </a:extLst>
          </p:cNvPr>
          <p:cNvSpPr>
            <a:spLocks xmlns:a="http://schemas.openxmlformats.org/drawingml/2006/main" noGrp="1"/>
          </p:cNvSpPr>
          <p:nvPr/>
        </p:nvSpPr>
        <p:spPr>
          <a:xfrm xmlns:a="http://schemas.openxmlformats.org/drawingml/2006/main">
            <a:off x="8572500" y="1790700"/>
            <a:ext cx="266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000" b="1" i="0">
                <a:solidFill>
                  <a:srgbClr val="70D6A6"/>
                </a:solidFill>
                <a:latin typeface="Courier New"/>
                <a:ea typeface="Courier New"/>
                <a:cs typeface="Courier New"/>
              </a:defRPr>
            </a:pPr>
            <a:r>
              <a:rPr sz="3000" b="1" i="0">
                <a:solidFill>
                  <a:srgbClr val="70D6A6"/>
                </a:solidFill>
                <a:latin typeface="Courier New"/>
                <a:ea typeface="Courier New"/>
                <a:cs typeface="Courier New"/>
              </a:rPr>
              <a:t>x = 1</a:t>
            </a:r>
          </a:p>
        </p:txBody>
      </p:sp>
      <p:sp>
        <p:nvSpPr>
          <p:cNvPr id="9" name="">
            <a:extLst xmlns:a="http://schemas.openxmlformats.org/drawingml/2006/main">
              <a:ext uri="{FF2B5EF4-FFF2-40B4-BE49-F238E27FC236}">
                <a16:creationId xmlns:a16="http://schemas.microsoft.com/office/drawing/2014/main" id="{D4376369-2481-47FB-9880-B4EB2CF27411}"/>
              </a:ext>
            </a:extLst>
          </p:cNvPr>
          <p:cNvSpPr>
            <a:spLocks xmlns:a="http://schemas.openxmlformats.org/drawingml/2006/main" noGrp="1"/>
          </p:cNvSpPr>
          <p:nvPr/>
        </p:nvSpPr>
        <p:spPr>
          <a:xfrm xmlns:a="http://schemas.openxmlformats.org/drawingml/2006/main">
            <a:off x="952500" y="2762250"/>
            <a:ext cx="10287000" cy="1905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EF8167D-E08B-4CDE-861D-37C102781FA8}"/>
              </a:ext>
            </a:extLst>
          </p:cNvPr>
          <p:cNvSpPr>
            <a:spLocks xmlns:a="http://schemas.openxmlformats.org/drawingml/2006/main" noGrp="1"/>
          </p:cNvSpPr>
          <p:nvPr/>
        </p:nvSpPr>
        <p:spPr>
          <a:xfrm xmlns:a="http://schemas.openxmlformats.org/drawingml/2006/main">
            <a:off x="1143000" y="3219450"/>
            <a:ext cx="2381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5100" b="1" i="0">
                <a:solidFill>
                  <a:srgbClr val="160B20"/>
                </a:solidFill>
                <a:latin typeface="Courier New"/>
                <a:ea typeface="Courier New"/>
                <a:cs typeface="Courier New"/>
              </a:defRPr>
            </a:pPr>
            <a:r>
              <a:rPr sz="5100" b="1" i="0">
                <a:solidFill>
                  <a:srgbClr val="160B20"/>
                </a:solidFill>
                <a:latin typeface="Courier New"/>
                <a:ea typeface="Courier New"/>
                <a:cs typeface="Courier New"/>
              </a:rPr>
              <a:t>640</a:t>
            </a:r>
          </a:p>
        </p:txBody>
      </p:sp>
      <p:sp>
        <p:nvSpPr>
          <p:cNvPr id="11" name="">
            <a:extLst xmlns:a="http://schemas.openxmlformats.org/drawingml/2006/main">
              <a:ext uri="{FF2B5EF4-FFF2-40B4-BE49-F238E27FC236}">
                <a16:creationId xmlns:a16="http://schemas.microsoft.com/office/drawing/2014/main" id="{864FE36B-BCB4-4635-9B84-4D3E469B3899}"/>
              </a:ext>
            </a:extLst>
          </p:cNvPr>
          <p:cNvSpPr>
            <a:spLocks xmlns:a="http://schemas.openxmlformats.org/drawingml/2006/main" noGrp="1"/>
          </p:cNvSpPr>
          <p:nvPr/>
        </p:nvSpPr>
        <p:spPr>
          <a:xfrm xmlns:a="http://schemas.openxmlformats.org/drawingml/2006/main">
            <a:off x="3905250" y="3371850"/>
            <a:ext cx="666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000" b="1" i="0">
                <a:solidFill>
                  <a:srgbClr val="8B5CF6"/>
                </a:solidFill>
                <a:latin typeface="Courier New"/>
                <a:ea typeface="Courier New"/>
                <a:cs typeface="Courier New"/>
              </a:defRPr>
            </a:pPr>
            <a:r>
              <a:rPr sz="3000" b="1" i="0">
                <a:solidFill>
                  <a:srgbClr val="8B5CF6"/>
                </a:solidFill>
                <a:latin typeface="Courier New"/>
                <a:ea typeface="Courier New"/>
                <a:cs typeface="Courier New"/>
              </a:rPr>
              <a:t>= rw-  r--  ---</a:t>
            </a:r>
          </a:p>
        </p:txBody>
      </p:sp>
      <p:sp>
        <p:nvSpPr>
          <p:cNvPr id="12" name="">
            <a:extLst xmlns:a="http://schemas.openxmlformats.org/drawingml/2006/main">
              <a:ext uri="{FF2B5EF4-FFF2-40B4-BE49-F238E27FC236}">
                <a16:creationId xmlns:a16="http://schemas.microsoft.com/office/drawing/2014/main" id="{D9750F36-6A20-4A97-9BC1-2A94A611104F}"/>
              </a:ext>
            </a:extLst>
          </p:cNvPr>
          <p:cNvSpPr>
            <a:spLocks xmlns:a="http://schemas.openxmlformats.org/drawingml/2006/main" noGrp="1"/>
          </p:cNvSpPr>
          <p:nvPr/>
        </p:nvSpPr>
        <p:spPr>
          <a:xfrm xmlns:a="http://schemas.openxmlformats.org/drawingml/2006/main">
            <a:off x="952500" y="4572000"/>
            <a:ext cx="10287000" cy="1352550"/>
          </a:xfrm>
          <a:prstGeom xmlns:a="http://schemas.openxmlformats.org/drawingml/2006/main" prst="roundRect">
            <a:avLst>
              <a:gd name="adj" fmla="val 11268"/>
            </a:avLst>
          </a:prstGeom>
          <a:solidFill xmlns:a="http://schemas.openxmlformats.org/drawingml/2006/main">
            <a:srgbClr val="28183A"/>
          </a:solidFill>
          <a:ln xmlns:a="http://schemas.openxmlformats.org/drawingml/2006/main" w="9525">
            <a:solidFill>
              <a:srgbClr val="4A335D"/>
            </a:solidFill>
            <a:prstDash val="solid"/>
          </a:ln>
        </p:spPr>
      </p:sp>
      <p:sp>
        <p:nvSpPr>
          <p:cNvPr id="13" name="">
            <a:extLst xmlns:a="http://schemas.openxmlformats.org/drawingml/2006/main">
              <a:ext uri="{FF2B5EF4-FFF2-40B4-BE49-F238E27FC236}">
                <a16:creationId xmlns:a16="http://schemas.microsoft.com/office/drawing/2014/main" id="{F97F08FC-5FB3-465D-B4E1-A6073BA6B8BB}"/>
              </a:ext>
            </a:extLst>
          </p:cNvPr>
          <p:cNvSpPr>
            <a:spLocks xmlns:a="http://schemas.openxmlformats.org/drawingml/2006/main" noGrp="1"/>
          </p:cNvSpPr>
          <p:nvPr/>
        </p:nvSpPr>
        <p:spPr>
          <a:xfrm xmlns:a="http://schemas.openxmlformats.org/drawingml/2006/main">
            <a:off x="952500" y="4572000"/>
            <a:ext cx="10287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A708346-3B6E-4449-AAAC-9D1ECAA57A28}"/>
              </a:ext>
            </a:extLst>
          </p:cNvPr>
          <p:cNvSpPr>
            <a:spLocks xmlns:a="http://schemas.openxmlformats.org/drawingml/2006/main" noGrp="1"/>
          </p:cNvSpPr>
          <p:nvPr/>
        </p:nvSpPr>
        <p:spPr>
          <a:xfrm xmlns:a="http://schemas.openxmlformats.org/drawingml/2006/main">
            <a:off x="952500" y="4838700"/>
            <a:ext cx="10287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14EA9F54-11DD-460F-93EE-2AE43B46486E}"/>
              </a:ext>
            </a:extLst>
          </p:cNvPr>
          <p:cNvSpPr>
            <a:spLocks xmlns:a="http://schemas.openxmlformats.org/drawingml/2006/main" noGrp="1"/>
          </p:cNvSpPr>
          <p:nvPr/>
        </p:nvSpPr>
        <p:spPr>
          <a:xfrm xmlns:a="http://schemas.openxmlformats.org/drawingml/2006/main">
            <a:off x="1123950" y="47244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A7A898D1-8DD6-435F-B9D3-770753438A8F}"/>
              </a:ext>
            </a:extLst>
          </p:cNvPr>
          <p:cNvSpPr>
            <a:spLocks xmlns:a="http://schemas.openxmlformats.org/drawingml/2006/main" noGrp="1"/>
          </p:cNvSpPr>
          <p:nvPr/>
        </p:nvSpPr>
        <p:spPr>
          <a:xfrm xmlns:a="http://schemas.openxmlformats.org/drawingml/2006/main">
            <a:off x="1295400" y="47244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2C7B395A-4E94-473E-9BA2-AE38F781C3A8}"/>
              </a:ext>
            </a:extLst>
          </p:cNvPr>
          <p:cNvSpPr>
            <a:spLocks xmlns:a="http://schemas.openxmlformats.org/drawingml/2006/main" noGrp="1"/>
          </p:cNvSpPr>
          <p:nvPr/>
        </p:nvSpPr>
        <p:spPr>
          <a:xfrm xmlns:a="http://schemas.openxmlformats.org/drawingml/2006/main">
            <a:off x="1466850" y="47244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9EB42E3-A4D8-4F19-A9E3-37309AAB6AF2}"/>
              </a:ext>
            </a:extLst>
          </p:cNvPr>
          <p:cNvSpPr>
            <a:spLocks xmlns:a="http://schemas.openxmlformats.org/drawingml/2006/main" noGrp="1"/>
          </p:cNvSpPr>
          <p:nvPr/>
        </p:nvSpPr>
        <p:spPr>
          <a:xfrm xmlns:a="http://schemas.openxmlformats.org/drawingml/2006/main">
            <a:off x="1733550" y="468630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SAME INTENT, VERIFIED</a:t>
            </a:r>
          </a:p>
        </p:txBody>
      </p:sp>
      <p:sp>
        <p:nvSpPr>
          <p:cNvPr id="19" name="">
            <a:extLst xmlns:a="http://schemas.openxmlformats.org/drawingml/2006/main">
              <a:ext uri="{FF2B5EF4-FFF2-40B4-BE49-F238E27FC236}">
                <a16:creationId xmlns:a16="http://schemas.microsoft.com/office/drawing/2014/main" id="{6D9D5A75-6B5F-4E2F-87F9-F1C2B7C4D380}"/>
              </a:ext>
            </a:extLst>
          </p:cNvPr>
          <p:cNvSpPr>
            <a:spLocks xmlns:a="http://schemas.openxmlformats.org/drawingml/2006/main" noGrp="1"/>
          </p:cNvSpPr>
          <p:nvPr/>
        </p:nvSpPr>
        <p:spPr>
          <a:xfrm xmlns:a="http://schemas.openxmlformats.org/drawingml/2006/main">
            <a:off x="1181100" y="5143500"/>
            <a:ext cx="9829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2799"/>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chmod 640 report.txt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chmod u=rw,g=r,o= report.txt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stat -c "%A %a %U:%G %n" report.txt</a:t>
            </a:r>
          </a:p>
        </p:txBody>
      </p:sp>
    </p:spTree>
    <p:extLst>
      <p:ext uri="{BB962C8B-B14F-4D97-AF65-F5344CB8AC3E}">
        <p14:creationId xmlns:p14="http://schemas.microsoft.com/office/powerpoint/2010/main" val="1444038624"/>
      </p:ext>
    </p:extLst>
  </p:cSld>
</p:sld>
</file>

<file path=ppt/slides/slide56.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71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Symbolic chmod states exactly who and what changes</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56</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u</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owner class</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g</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group class</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o</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other class</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 / -</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add or remove selected bits</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set the selected class exactly</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chmod g+r</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154"/>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add group read without changing other bits</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57.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umask removes permissions; it never grants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57</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REQUESTED MODE</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program default</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Files commonly request 666</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Directories commonly request 777</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Execute is not added to ordinary files</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UMASK</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bits to clear</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022 yields files 644</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022 yields directories 755</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Process-local and inherited</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Final mode = requested permissions with masked bits removed.</a:t>
            </a:r>
          </a:p>
        </p:txBody>
      </p:sp>
    </p:spTree>
    <p:extLst>
      <p:ext uri="{BB962C8B-B14F-4D97-AF65-F5344CB8AC3E}">
        <p14:creationId xmlns:p14="http://schemas.microsoft.com/office/powerpoint/2010/main" val="1882871272"/>
      </p:ext>
    </p:extLst>
  </p:cSld>
</p:sld>
</file>

<file path=ppt/slides/slide58.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setgid keeps shared directories in one group</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58</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588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Directory owner</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usually an administrator or service account</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588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Directory group</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the collaborating team</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7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Mode 2xxx</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setgid bit on the directory</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New entries</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inherit the directory group</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978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Verification</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stat and create a file as a real member</a:t>
            </a:r>
          </a:p>
        </p:txBody>
      </p:sp>
    </p:spTree>
    <p:extLst>
      <p:ext uri="{BB962C8B-B14F-4D97-AF65-F5344CB8AC3E}">
        <p14:creationId xmlns:p14="http://schemas.microsoft.com/office/powerpoint/2010/main" val="1018217464"/>
      </p:ext>
    </p:extLst>
  </p:cSld>
</p:sld>
</file>

<file path=ppt/slides/slide59.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Sticky protects names in shared directories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59</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WITHOUT STICKY</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shared write</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Any writer may remove entries</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File ownership does not protect names</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Easy for users to disrupt each other</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WITH STICKY</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mode 1xxx</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Only owner, directory owner, or root removes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Typical example is /tmp</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Shown as t in the other execute position</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Sticky controls deletion and rename, not file confidentiality.</a:t>
            </a:r>
          </a:p>
        </p:txBody>
      </p:sp>
    </p:spTree>
    <p:extLst>
      <p:ext uri="{BB962C8B-B14F-4D97-AF65-F5344CB8AC3E}">
        <p14:creationId xmlns:p14="http://schemas.microsoft.com/office/powerpoint/2010/main" val="1882871272"/>
      </p:ext>
    </p:extLst>
  </p:cSld>
</p:sld>
</file>

<file path=ppt/slides/slide6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911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ACLs extend permissions without replacing the base model</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60</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MODE BITS</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three classes</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Owner, group, other</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Visible in ls -l</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Portable baseline</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POSIX ACL</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named entries</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Additional users or groups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Mask limits effective named rights</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Inspect with getfacl</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Use ACLs deliberately and document why the exception exists.</a:t>
            </a:r>
          </a:p>
        </p:txBody>
      </p:sp>
    </p:spTree>
    <p:extLst>
      <p:ext uri="{BB962C8B-B14F-4D97-AF65-F5344CB8AC3E}">
        <p14:creationId xmlns:p14="http://schemas.microsoft.com/office/powerpoint/2010/main" val="1882871272"/>
      </p:ext>
    </p:extLst>
  </p:cSld>
</p:sld>
</file>

<file path=ppt/slides/slide61.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23C3EB8-CD64-41DC-B3FF-8EA2EAB017B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5 / AUTHORIZATION</a:t>
            </a:r>
          </a:p>
        </p:txBody>
      </p:sp>
      <p:sp>
        <p:nvSpPr>
          <p:cNvPr id="2" name="">
            <a:extLst xmlns:a="http://schemas.openxmlformats.org/drawingml/2006/main">
              <a:ext uri="{FF2B5EF4-FFF2-40B4-BE49-F238E27FC236}">
                <a16:creationId xmlns:a16="http://schemas.microsoft.com/office/drawing/2014/main" id="{1C7CE9B3-B854-4324-B786-3018E7F157D6}"/>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043"/>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Live demo: repair /srv/demo-share for demoops</a:t>
            </a:r>
          </a:p>
        </p:txBody>
      </p:sp>
      <p:sp>
        <p:nvSpPr>
          <p:cNvPr id="3" name="">
            <a:extLst xmlns:a="http://schemas.openxmlformats.org/drawingml/2006/main">
              <a:ext uri="{FF2B5EF4-FFF2-40B4-BE49-F238E27FC236}">
                <a16:creationId xmlns:a16="http://schemas.microsoft.com/office/drawing/2014/main" id="{65BD8E3C-8FE9-4903-9757-0689FB49E3DD}"/>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B63970B-C6E4-4F05-88A9-D6D36F38B201}"/>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5B451D8C-ED70-44A5-B46E-16952B00EC4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61</a:t>
            </a:r>
          </a:p>
        </p:txBody>
      </p:sp>
      <p:sp>
        <p:nvSpPr>
          <p:cNvPr id="6" name="">
            <a:extLst xmlns:a="http://schemas.openxmlformats.org/drawingml/2006/main">
              <a:ext uri="{FF2B5EF4-FFF2-40B4-BE49-F238E27FC236}">
                <a16:creationId xmlns:a16="http://schemas.microsoft.com/office/drawing/2014/main" id="{DCD4C8F4-AAD4-4D72-BEEC-AB758447F4D6}"/>
              </a:ext>
            </a:extLst>
          </p:cNvPr>
          <p:cNvSpPr>
            <a:spLocks xmlns:a="http://schemas.openxmlformats.org/drawingml/2006/main" noGrp="1"/>
          </p:cNvSpPr>
          <p:nvPr/>
        </p:nvSpPr>
        <p:spPr>
          <a:xfrm xmlns:a="http://schemas.openxmlformats.org/drawingml/2006/main">
            <a:off x="895350" y="1714500"/>
            <a:ext cx="10401300" cy="3676650"/>
          </a:xfrm>
          <a:prstGeom xmlns:a="http://schemas.openxmlformats.org/drawingml/2006/main" prst="roundRect">
            <a:avLst>
              <a:gd name="adj" fmla="val 4145"/>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9A2D3FC0-77EF-4A9B-A48B-00A32A4A1079}"/>
              </a:ext>
            </a:extLst>
          </p:cNvPr>
          <p:cNvSpPr>
            <a:spLocks xmlns:a="http://schemas.openxmlformats.org/drawingml/2006/main" noGrp="1"/>
          </p:cNvSpPr>
          <p:nvPr/>
        </p:nvSpPr>
        <p:spPr>
          <a:xfrm xmlns:a="http://schemas.openxmlformats.org/drawingml/2006/main">
            <a:off x="895350" y="1714500"/>
            <a:ext cx="104013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CD8A2BF-CDA9-4F87-9912-893D3C2201EF}"/>
              </a:ext>
            </a:extLst>
          </p:cNvPr>
          <p:cNvSpPr>
            <a:spLocks xmlns:a="http://schemas.openxmlformats.org/drawingml/2006/main" noGrp="1"/>
          </p:cNvSpPr>
          <p:nvPr/>
        </p:nvSpPr>
        <p:spPr>
          <a:xfrm xmlns:a="http://schemas.openxmlformats.org/drawingml/2006/main">
            <a:off x="895350" y="1981200"/>
            <a:ext cx="104013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CBE6D08-FEE5-40BE-B681-85DFF2EF9696}"/>
              </a:ext>
            </a:extLst>
          </p:cNvPr>
          <p:cNvSpPr>
            <a:spLocks xmlns:a="http://schemas.openxmlformats.org/drawingml/2006/main" noGrp="1"/>
          </p:cNvSpPr>
          <p:nvPr/>
        </p:nvSpPr>
        <p:spPr>
          <a:xfrm xmlns:a="http://schemas.openxmlformats.org/drawingml/2006/main">
            <a:off x="1066800" y="18669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6938EA2-0888-4AB7-9692-A25E2C2E931F}"/>
              </a:ext>
            </a:extLst>
          </p:cNvPr>
          <p:cNvSpPr>
            <a:spLocks xmlns:a="http://schemas.openxmlformats.org/drawingml/2006/main" noGrp="1"/>
          </p:cNvSpPr>
          <p:nvPr/>
        </p:nvSpPr>
        <p:spPr>
          <a:xfrm xmlns:a="http://schemas.openxmlformats.org/drawingml/2006/main">
            <a:off x="1238250" y="18669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EEE0214-2F86-4D06-9411-7CFE5776E006}"/>
              </a:ext>
            </a:extLst>
          </p:cNvPr>
          <p:cNvSpPr>
            <a:spLocks xmlns:a="http://schemas.openxmlformats.org/drawingml/2006/main" noGrp="1"/>
          </p:cNvSpPr>
          <p:nvPr/>
        </p:nvSpPr>
        <p:spPr>
          <a:xfrm xmlns:a="http://schemas.openxmlformats.org/drawingml/2006/main">
            <a:off x="1409700" y="18669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4DB98B0-A2CD-4072-BDDE-9A20B1F9CCBC}"/>
              </a:ext>
            </a:extLst>
          </p:cNvPr>
          <p:cNvSpPr>
            <a:spLocks xmlns:a="http://schemas.openxmlformats.org/drawingml/2006/main" noGrp="1"/>
          </p:cNvSpPr>
          <p:nvPr/>
        </p:nvSpPr>
        <p:spPr>
          <a:xfrm xmlns:a="http://schemas.openxmlformats.org/drawingml/2006/main">
            <a:off x="1676400" y="1828800"/>
            <a:ext cx="9448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IDENTITY → PATH → MODE → REAL OPERATION</a:t>
            </a:r>
          </a:p>
        </p:txBody>
      </p:sp>
      <p:sp>
        <p:nvSpPr>
          <p:cNvPr id="13" name="">
            <a:extLst xmlns:a="http://schemas.openxmlformats.org/drawingml/2006/main">
              <a:ext uri="{FF2B5EF4-FFF2-40B4-BE49-F238E27FC236}">
                <a16:creationId xmlns:a16="http://schemas.microsoft.com/office/drawing/2014/main" id="{7498FDB4-CE7E-4C9D-BE94-DF643E3E2E83}"/>
              </a:ext>
            </a:extLst>
          </p:cNvPr>
          <p:cNvSpPr>
            <a:spLocks xmlns:a="http://schemas.openxmlformats.org/drawingml/2006/main" noGrp="1"/>
          </p:cNvSpPr>
          <p:nvPr/>
        </p:nvSpPr>
        <p:spPr>
          <a:xfrm xmlns:a="http://schemas.openxmlformats.org/drawingml/2006/main">
            <a:off x="1123950" y="2286000"/>
            <a:ext cx="9944100" cy="2914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id demo-alex; id demo-riley</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namei -l /srv/demo-share/brief.txt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-u demo-alex test -w /srv/demo-share || echo BLOCKED</a:t>
            </a:r>
          </a:p>
          <a:p xmlns:a="http://schemas.openxmlformats.org/drawingml/2006/main">
            <a:pPr>
              <a:defRPr sz="1500">
                <a:solidFill>
                  <a:srgbClr val="FFF8EE"/>
                </a:solidFill>
              </a:defRPr>
            </a:pPr>
            <a:r>
              <a:rPr sz="1500">
                <a:solidFill>
                  <a:srgbClr val="FFF8EE"/>
                </a:solidFill>
              </a:rPr>
              <a:t>sudo chown root:demoops /srv/demo-share /srv/demo-share/brief.txt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chmod 2770 /srv/demo-share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chmod 0660 /srv/demo-share/brief.txt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-u demo-riley sh -c 'echo riley &gt; /srv/demo-share/riley.txt'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stat -c '%A %a %U:%G %n' /srv/demo-share/*</a:t>
            </a:r>
          </a:p>
        </p:txBody>
      </p:sp>
      <p:sp>
        <p:nvSpPr>
          <p:cNvPr id="14" name="">
            <a:extLst xmlns:a="http://schemas.openxmlformats.org/drawingml/2006/main">
              <a:ext uri="{FF2B5EF4-FFF2-40B4-BE49-F238E27FC236}">
                <a16:creationId xmlns:a16="http://schemas.microsoft.com/office/drawing/2014/main" id="{B93E085B-6F9C-43D8-8688-9C09FC76264F}"/>
              </a:ext>
            </a:extLst>
          </p:cNvPr>
          <p:cNvSpPr>
            <a:spLocks xmlns:a="http://schemas.openxmlformats.org/drawingml/2006/main" noGrp="1"/>
          </p:cNvSpPr>
          <p:nvPr/>
        </p:nvSpPr>
        <p:spPr>
          <a:xfrm xmlns:a="http://schemas.openxmlformats.org/drawingml/2006/main">
            <a:off x="895350" y="5638800"/>
            <a:ext cx="10401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75" b="1" i="0">
                <a:solidFill>
                  <a:srgbClr val="FF7B72"/>
                </a:solidFill>
                <a:latin typeface="Aptos"/>
                <a:ea typeface="Aptos"/>
                <a:cs typeface="Aptos"/>
              </a:defRPr>
            </a:pPr>
            <a:r>
              <a:rPr sz="2175" b="1" i="0">
                <a:solidFill>
                  <a:srgbClr val="FF7B72"/>
                </a:solidFill>
                <a:latin typeface="Aptos"/>
                <a:ea typeface="Aptos"/>
                <a:cs typeface="Aptos"/>
              </a:rPr>
              <a:t>Test policy with the identities that must succeed and fail.</a:t>
            </a:r>
          </a:p>
        </p:txBody>
      </p:sp>
    </p:spTree>
    <p:extLst>
      <p:ext uri="{BB962C8B-B14F-4D97-AF65-F5344CB8AC3E}">
        <p14:creationId xmlns:p14="http://schemas.microsoft.com/office/powerpoint/2010/main" val="361357659"/>
      </p:ext>
    </p:extLst>
  </p:cSld>
</p:sld>
</file>

<file path=ppt/slides/slide6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D9833BD3-0672-4779-9EB3-8E71DC050B3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HANDS-ON / LAB 5</a:t>
            </a:r>
          </a:p>
        </p:txBody>
      </p:sp>
      <p:sp>
        <p:nvSpPr>
          <p:cNvPr id="2" name="">
            <a:extLst xmlns:a="http://schemas.openxmlformats.org/drawingml/2006/main">
              <a:ext uri="{FF2B5EF4-FFF2-40B4-BE49-F238E27FC236}">
                <a16:creationId xmlns:a16="http://schemas.microsoft.com/office/drawing/2014/main" id="{D247334C-6068-4782-81A5-2555B3D14565}"/>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8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Lab 5 — Repair collaboration without broad access</a:t>
            </a:r>
          </a:p>
        </p:txBody>
      </p:sp>
      <p:sp>
        <p:nvSpPr>
          <p:cNvPr id="3" name="">
            <a:extLst xmlns:a="http://schemas.openxmlformats.org/drawingml/2006/main">
              <a:ext uri="{FF2B5EF4-FFF2-40B4-BE49-F238E27FC236}">
                <a16:creationId xmlns:a16="http://schemas.microsoft.com/office/drawing/2014/main" id="{5B7E1CFF-45E6-46A2-AC95-345A45864F6C}"/>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48BD663-E972-4A30-92C1-C04C99DD27E6}"/>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C00D4498-7AEF-4978-A0D4-A384B6DF2296}"/>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62</a:t>
            </a:r>
          </a:p>
        </p:txBody>
      </p:sp>
      <p:sp>
        <p:nvSpPr>
          <p:cNvPr id="6" name="">
            <a:extLst xmlns:a="http://schemas.openxmlformats.org/drawingml/2006/main">
              <a:ext uri="{FF2B5EF4-FFF2-40B4-BE49-F238E27FC236}">
                <a16:creationId xmlns:a16="http://schemas.microsoft.com/office/drawing/2014/main" id="{324D7AA5-1B7A-46F0-B60D-AFDF7AA06C69}"/>
              </a:ext>
            </a:extLst>
          </p:cNvPr>
          <p:cNvSpPr>
            <a:spLocks xmlns:a="http://schemas.openxmlformats.org/drawingml/2006/main" noGrp="1"/>
          </p:cNvSpPr>
          <p:nvPr/>
        </p:nvSpPr>
        <p:spPr>
          <a:xfrm xmlns:a="http://schemas.openxmlformats.org/drawingml/2006/main">
            <a:off x="800100" y="17907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MISSION · 30 MIN</a:t>
            </a:r>
          </a:p>
        </p:txBody>
      </p:sp>
      <p:sp>
        <p:nvSpPr>
          <p:cNvPr id="7" name="">
            <a:extLst xmlns:a="http://schemas.openxmlformats.org/drawingml/2006/main">
              <a:ext uri="{FF2B5EF4-FFF2-40B4-BE49-F238E27FC236}">
                <a16:creationId xmlns:a16="http://schemas.microsoft.com/office/drawing/2014/main" id="{F9415872-9C11-409D-903F-82DFBD71123F}"/>
              </a:ext>
            </a:extLst>
          </p:cNvPr>
          <p:cNvSpPr>
            <a:spLocks xmlns:a="http://schemas.openxmlformats.org/drawingml/2006/main" noGrp="1"/>
          </p:cNvSpPr>
          <p:nvPr/>
        </p:nvSpPr>
        <p:spPr>
          <a:xfrm xmlns:a="http://schemas.openxmlformats.org/drawingml/2006/main">
            <a:off x="800100" y="2228850"/>
            <a:ext cx="4095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Permission incident</a:t>
            </a:r>
          </a:p>
        </p:txBody>
      </p:sp>
      <p:sp>
        <p:nvSpPr>
          <p:cNvPr id="8" name="">
            <a:extLst xmlns:a="http://schemas.openxmlformats.org/drawingml/2006/main">
              <a:ext uri="{FF2B5EF4-FFF2-40B4-BE49-F238E27FC236}">
                <a16:creationId xmlns:a16="http://schemas.microsoft.com/office/drawing/2014/main" id="{AF5C6E71-8DD4-4FC1-BEE6-6BBC5B9C2F42}"/>
              </a:ext>
            </a:extLst>
          </p:cNvPr>
          <p:cNvSpPr>
            <a:spLocks xmlns:a="http://schemas.openxmlformats.org/drawingml/2006/main" noGrp="1"/>
          </p:cNvSpPr>
          <p:nvPr/>
        </p:nvSpPr>
        <p:spPr>
          <a:xfrm xmlns:a="http://schemas.openxmlformats.org/drawingml/2006/main">
            <a:off x="800100" y="3009900"/>
            <a:ext cx="4953000" cy="2190750"/>
          </a:xfrm>
          <a:prstGeom xmlns:a="http://schemas.openxmlformats.org/drawingml/2006/main" prst="roundRect">
            <a:avLst>
              <a:gd name="adj" fmla="val 6957"/>
            </a:avLst>
          </a:prstGeom>
          <a:solidFill xmlns:a="http://schemas.openxmlformats.org/drawingml/2006/main">
            <a:srgbClr val="28183A"/>
          </a:solidFill>
          <a:ln xmlns:a="http://schemas.openxmlformats.org/drawingml/2006/main" w="9525">
            <a:solidFill>
              <a:srgbClr val="4A335D"/>
            </a:solidFill>
            <a:prstDash val="solid"/>
          </a:ln>
        </p:spPr>
      </p:sp>
      <p:sp>
        <p:nvSpPr>
          <p:cNvPr id="9" name="">
            <a:extLst xmlns:a="http://schemas.openxmlformats.org/drawingml/2006/main">
              <a:ext uri="{FF2B5EF4-FFF2-40B4-BE49-F238E27FC236}">
                <a16:creationId xmlns:a16="http://schemas.microsoft.com/office/drawing/2014/main" id="{80367D35-5EDB-429E-922C-C046DC415680}"/>
              </a:ext>
            </a:extLst>
          </p:cNvPr>
          <p:cNvSpPr>
            <a:spLocks xmlns:a="http://schemas.openxmlformats.org/drawingml/2006/main" noGrp="1"/>
          </p:cNvSpPr>
          <p:nvPr/>
        </p:nvSpPr>
        <p:spPr>
          <a:xfrm xmlns:a="http://schemas.openxmlformats.org/drawingml/2006/main">
            <a:off x="800100" y="3009900"/>
            <a:ext cx="4953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CE8F602-67C2-43C8-AF34-A023C509094B}"/>
              </a:ext>
            </a:extLst>
          </p:cNvPr>
          <p:cNvSpPr>
            <a:spLocks xmlns:a="http://schemas.openxmlformats.org/drawingml/2006/main" noGrp="1"/>
          </p:cNvSpPr>
          <p:nvPr/>
        </p:nvSpPr>
        <p:spPr>
          <a:xfrm xmlns:a="http://schemas.openxmlformats.org/drawingml/2006/main">
            <a:off x="800100" y="3276600"/>
            <a:ext cx="4953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F7E26F0-5CC2-4A12-BDCC-1A06D14D095C}"/>
              </a:ext>
            </a:extLst>
          </p:cNvPr>
          <p:cNvSpPr>
            <a:spLocks xmlns:a="http://schemas.openxmlformats.org/drawingml/2006/main" noGrp="1"/>
          </p:cNvSpPr>
          <p:nvPr/>
        </p:nvSpPr>
        <p:spPr>
          <a:xfrm xmlns:a="http://schemas.openxmlformats.org/drawingml/2006/main">
            <a:off x="971550" y="31623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826F062-9D6E-4828-9B6B-EA58B274D004}"/>
              </a:ext>
            </a:extLst>
          </p:cNvPr>
          <p:cNvSpPr>
            <a:spLocks xmlns:a="http://schemas.openxmlformats.org/drawingml/2006/main" noGrp="1"/>
          </p:cNvSpPr>
          <p:nvPr/>
        </p:nvSpPr>
        <p:spPr>
          <a:xfrm xmlns:a="http://schemas.openxmlformats.org/drawingml/2006/main">
            <a:off x="1143000" y="31623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D6A8CEC-C44D-4259-82B1-364089D5F457}"/>
              </a:ext>
            </a:extLst>
          </p:cNvPr>
          <p:cNvSpPr>
            <a:spLocks xmlns:a="http://schemas.openxmlformats.org/drawingml/2006/main" noGrp="1"/>
          </p:cNvSpPr>
          <p:nvPr/>
        </p:nvSpPr>
        <p:spPr>
          <a:xfrm xmlns:a="http://schemas.openxmlformats.org/drawingml/2006/main">
            <a:off x="1314450" y="31623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48FAD2D-474C-4D7E-8D6B-08B0CD42FA19}"/>
              </a:ext>
            </a:extLst>
          </p:cNvPr>
          <p:cNvSpPr>
            <a:spLocks xmlns:a="http://schemas.openxmlformats.org/drawingml/2006/main" noGrp="1"/>
          </p:cNvSpPr>
          <p:nvPr/>
        </p:nvSpPr>
        <p:spPr>
          <a:xfrm xmlns:a="http://schemas.openxmlformats.org/drawingml/2006/main">
            <a:off x="1581150" y="31242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DELIVERABLES</a:t>
            </a:r>
          </a:p>
        </p:txBody>
      </p:sp>
      <p:sp>
        <p:nvSpPr>
          <p:cNvPr id="15" name="">
            <a:extLst xmlns:a="http://schemas.openxmlformats.org/drawingml/2006/main">
              <a:ext uri="{FF2B5EF4-FFF2-40B4-BE49-F238E27FC236}">
                <a16:creationId xmlns:a16="http://schemas.microsoft.com/office/drawing/2014/main" id="{AC61AC9D-DEB2-4D1D-9A32-C13A6D89E8B9}"/>
              </a:ext>
            </a:extLst>
          </p:cNvPr>
          <p:cNvSpPr>
            <a:spLocks xmlns:a="http://schemas.openxmlformats.org/drawingml/2006/main" noGrp="1"/>
          </p:cNvSpPr>
          <p:nvPr/>
        </p:nvSpPr>
        <p:spPr>
          <a:xfrm xmlns:a="http://schemas.openxmlformats.org/drawingml/2006/main">
            <a:off x="1028700" y="3581400"/>
            <a:ext cx="44958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Repair /srv/team-share for webteam</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Preserve a safe existing-file mode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Test Alice, Bob, and outsider</a:t>
            </a:r>
          </a:p>
        </p:txBody>
      </p:sp>
      <p:sp>
        <p:nvSpPr>
          <p:cNvPr id="16" name="">
            <a:extLst xmlns:a="http://schemas.openxmlformats.org/drawingml/2006/main">
              <a:ext uri="{FF2B5EF4-FFF2-40B4-BE49-F238E27FC236}">
                <a16:creationId xmlns:a16="http://schemas.microsoft.com/office/drawing/2014/main" id="{18FA52CE-1464-4ABC-8C2B-0417FBBC0443}"/>
              </a:ext>
            </a:extLst>
          </p:cNvPr>
          <p:cNvSpPr>
            <a:spLocks xmlns:a="http://schemas.openxmlformats.org/drawingml/2006/main" noGrp="1"/>
          </p:cNvSpPr>
          <p:nvPr/>
        </p:nvSpPr>
        <p:spPr>
          <a:xfrm xmlns:a="http://schemas.openxmlformats.org/drawingml/2006/main">
            <a:off x="6667500" y="17907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ACCEPTANCE EVIDENCE</a:t>
            </a:r>
          </a:p>
        </p:txBody>
      </p:sp>
      <p:sp>
        <p:nvSpPr>
          <p:cNvPr id="17" name="">
            <a:extLst xmlns:a="http://schemas.openxmlformats.org/drawingml/2006/main">
              <a:ext uri="{FF2B5EF4-FFF2-40B4-BE49-F238E27FC236}">
                <a16:creationId xmlns:a16="http://schemas.microsoft.com/office/drawing/2014/main" id="{3A11BCE1-4A2A-4883-A988-CD70CAA4FCAD}"/>
              </a:ext>
            </a:extLst>
          </p:cNvPr>
          <p:cNvSpPr>
            <a:spLocks xmlns:a="http://schemas.openxmlformats.org/drawingml/2006/main" noGrp="1"/>
          </p:cNvSpPr>
          <p:nvPr/>
        </p:nvSpPr>
        <p:spPr>
          <a:xfrm xmlns:a="http://schemas.openxmlformats.org/drawingml/2006/main">
            <a:off x="6667500" y="2228850"/>
            <a:ext cx="428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Checker requires</a:t>
            </a:r>
          </a:p>
        </p:txBody>
      </p:sp>
      <p:sp>
        <p:nvSpPr>
          <p:cNvPr id="18" name="">
            <a:extLst xmlns:a="http://schemas.openxmlformats.org/drawingml/2006/main">
              <a:ext uri="{FF2B5EF4-FFF2-40B4-BE49-F238E27FC236}">
                <a16:creationId xmlns:a16="http://schemas.microsoft.com/office/drawing/2014/main" id="{27F87451-D0E8-4D78-B5C3-D526E48F5BB7}"/>
              </a:ext>
            </a:extLst>
          </p:cNvPr>
          <p:cNvSpPr>
            <a:spLocks xmlns:a="http://schemas.openxmlformats.org/drawingml/2006/main" noGrp="1"/>
          </p:cNvSpPr>
          <p:nvPr/>
        </p:nvSpPr>
        <p:spPr>
          <a:xfrm xmlns:a="http://schemas.openxmlformats.org/drawingml/2006/main">
            <a:off x="6667500" y="3171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FD88F18-46B5-41BD-BFCA-8B5AAF8849FF}"/>
              </a:ext>
            </a:extLst>
          </p:cNvPr>
          <p:cNvSpPr>
            <a:spLocks xmlns:a="http://schemas.openxmlformats.org/drawingml/2006/main" noGrp="1"/>
          </p:cNvSpPr>
          <p:nvPr/>
        </p:nvSpPr>
        <p:spPr>
          <a:xfrm xmlns:a="http://schemas.openxmlformats.org/drawingml/2006/main">
            <a:off x="6934200" y="31051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Directory is root:webteam, mode 2770</a:t>
            </a:r>
          </a:p>
        </p:txBody>
      </p:sp>
      <p:sp>
        <p:nvSpPr>
          <p:cNvPr id="20" name="">
            <a:extLst xmlns:a="http://schemas.openxmlformats.org/drawingml/2006/main">
              <a:ext uri="{FF2B5EF4-FFF2-40B4-BE49-F238E27FC236}">
                <a16:creationId xmlns:a16="http://schemas.microsoft.com/office/drawing/2014/main" id="{B3D28E46-FE52-45D5-8EA1-BF10770E6C54}"/>
              </a:ext>
            </a:extLst>
          </p:cNvPr>
          <p:cNvSpPr>
            <a:spLocks xmlns:a="http://schemas.openxmlformats.org/drawingml/2006/main" noGrp="1"/>
          </p:cNvSpPr>
          <p:nvPr/>
        </p:nvSpPr>
        <p:spPr>
          <a:xfrm xmlns:a="http://schemas.openxmlformats.org/drawingml/2006/main">
            <a:off x="6667500" y="37433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3C2B25C-6BDE-4AAB-904E-0F15113DF0D2}"/>
              </a:ext>
            </a:extLst>
          </p:cNvPr>
          <p:cNvSpPr>
            <a:spLocks xmlns:a="http://schemas.openxmlformats.org/drawingml/2006/main" noGrp="1"/>
          </p:cNvSpPr>
          <p:nvPr/>
        </p:nvSpPr>
        <p:spPr>
          <a:xfrm xmlns:a="http://schemas.openxmlformats.org/drawingml/2006/main">
            <a:off x="6934200" y="36766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checklist.txt is group-writable 660</a:t>
            </a:r>
          </a:p>
        </p:txBody>
      </p:sp>
      <p:sp>
        <p:nvSpPr>
          <p:cNvPr id="22" name="">
            <a:extLst xmlns:a="http://schemas.openxmlformats.org/drawingml/2006/main">
              <a:ext uri="{FF2B5EF4-FFF2-40B4-BE49-F238E27FC236}">
                <a16:creationId xmlns:a16="http://schemas.microsoft.com/office/drawing/2014/main" id="{2E701848-E1C5-4F87-8279-E3EBE384F7A9}"/>
              </a:ext>
            </a:extLst>
          </p:cNvPr>
          <p:cNvSpPr>
            <a:spLocks xmlns:a="http://schemas.openxmlformats.org/drawingml/2006/main" noGrp="1"/>
          </p:cNvSpPr>
          <p:nvPr/>
        </p:nvSpPr>
        <p:spPr>
          <a:xfrm xmlns:a="http://schemas.openxmlformats.org/drawingml/2006/main">
            <a:off x="6667500" y="4314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09B7F9F-1914-4FC1-9251-2A3E490D832A}"/>
              </a:ext>
            </a:extLst>
          </p:cNvPr>
          <p:cNvSpPr>
            <a:spLocks xmlns:a="http://schemas.openxmlformats.org/drawingml/2006/main" noGrp="1"/>
          </p:cNvSpPr>
          <p:nvPr/>
        </p:nvSpPr>
        <p:spPr>
          <a:xfrm xmlns:a="http://schemas.openxmlformats.org/drawingml/2006/main">
            <a:off x="6934200" y="42481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New files inherit webteam</a:t>
            </a:r>
          </a:p>
        </p:txBody>
      </p:sp>
      <p:sp>
        <p:nvSpPr>
          <p:cNvPr id="24" name="">
            <a:extLst xmlns:a="http://schemas.openxmlformats.org/drawingml/2006/main">
              <a:ext uri="{FF2B5EF4-FFF2-40B4-BE49-F238E27FC236}">
                <a16:creationId xmlns:a16="http://schemas.microsoft.com/office/drawing/2014/main" id="{B139B5F9-EFF3-4E76-9E50-53E4221E0BC5}"/>
              </a:ext>
            </a:extLst>
          </p:cNvPr>
          <p:cNvSpPr>
            <a:spLocks xmlns:a="http://schemas.openxmlformats.org/drawingml/2006/main" noGrp="1"/>
          </p:cNvSpPr>
          <p:nvPr/>
        </p:nvSpPr>
        <p:spPr>
          <a:xfrm xmlns:a="http://schemas.openxmlformats.org/drawingml/2006/main">
            <a:off x="6667500" y="48863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1629B6F-E8A2-4282-9017-3DE5C9ABE668}"/>
              </a:ext>
            </a:extLst>
          </p:cNvPr>
          <p:cNvSpPr>
            <a:spLocks xmlns:a="http://schemas.openxmlformats.org/drawingml/2006/main" noGrp="1"/>
          </p:cNvSpPr>
          <p:nvPr/>
        </p:nvSpPr>
        <p:spPr>
          <a:xfrm xmlns:a="http://schemas.openxmlformats.org/drawingml/2006/main">
            <a:off x="6934200" y="48196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Outsider remains blocked</a:t>
            </a:r>
          </a:p>
        </p:txBody>
      </p:sp>
      <p:sp>
        <p:nvSpPr>
          <p:cNvPr id="26" name="">
            <a:extLst xmlns:a="http://schemas.openxmlformats.org/drawingml/2006/main">
              <a:ext uri="{FF2B5EF4-FFF2-40B4-BE49-F238E27FC236}">
                <a16:creationId xmlns:a16="http://schemas.microsoft.com/office/drawing/2014/main" id="{31BF24E7-ED3D-4226-A7DC-0713BF70C771}"/>
              </a:ext>
            </a:extLst>
          </p:cNvPr>
          <p:cNvSpPr>
            <a:spLocks xmlns:a="http://schemas.openxmlformats.org/drawingml/2006/main" noGrp="1"/>
          </p:cNvSpPr>
          <p:nvPr/>
        </p:nvSpPr>
        <p:spPr>
          <a:xfrm xmlns:a="http://schemas.openxmlformats.org/drawingml/2006/main">
            <a:off x="800100" y="5600700"/>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1" i="0">
                <a:solidFill>
                  <a:srgbClr val="8B5CF6"/>
                </a:solidFill>
                <a:latin typeface="Aptos"/>
                <a:ea typeface="Aptos"/>
                <a:cs typeface="Aptos"/>
              </a:defRPr>
            </a:pPr>
            <a:r>
              <a:rPr sz="1650" b="1" i="0">
                <a:solidFill>
                  <a:srgbClr val="8B5CF6"/>
                </a:solidFill>
                <a:latin typeface="Aptos"/>
                <a:ea typeface="Aptos"/>
                <a:cs typeface="Aptos"/>
              </a:rPr>
              <a:t>Debrief: which directory permission made creation possible, and why setgid?</a:t>
            </a:r>
          </a:p>
        </p:txBody>
      </p:sp>
    </p:spTree>
    <p:extLst>
      <p:ext uri="{BB962C8B-B14F-4D97-AF65-F5344CB8AC3E}">
        <p14:creationId xmlns:p14="http://schemas.microsoft.com/office/powerpoint/2010/main" val="276205261"/>
      </p:ext>
    </p:extLst>
  </p:cSld>
</p:sld>
</file>

<file path=ppt/slides/slide6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3D8B387-2A34-47F4-BE6F-0C2E4403A9F9}"/>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E84F41FA-CE0F-4705-B684-C4A4940B45FB}"/>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09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SSH authenticates both ends of the conversation</a:t>
            </a:r>
          </a:p>
        </p:txBody>
      </p:sp>
      <p:sp>
        <p:nvSpPr>
          <p:cNvPr id="3" name="">
            <a:extLst xmlns:a="http://schemas.openxmlformats.org/drawingml/2006/main">
              <a:ext uri="{FF2B5EF4-FFF2-40B4-BE49-F238E27FC236}">
                <a16:creationId xmlns:a16="http://schemas.microsoft.com/office/drawing/2014/main" id="{9D9E13A3-30C6-4678-8031-EE56E36ADB9D}"/>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99C1AB2-73DC-4433-9F3E-6BB795B5F60F}"/>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C4966E4-03CD-44A3-A5B6-774F21FBE69C}"/>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63</a:t>
            </a:r>
          </a:p>
        </p:txBody>
      </p:sp>
      <p:sp>
        <p:nvSpPr>
          <p:cNvPr id="6" name="">
            <a:extLst xmlns:a="http://schemas.openxmlformats.org/drawingml/2006/main">
              <a:ext uri="{FF2B5EF4-FFF2-40B4-BE49-F238E27FC236}">
                <a16:creationId xmlns:a16="http://schemas.microsoft.com/office/drawing/2014/main" id="{98372245-EA53-4E31-B158-DEF2D59E0419}"/>
              </a:ext>
            </a:extLst>
          </p:cNvPr>
          <p:cNvSpPr>
            <a:spLocks xmlns:a="http://schemas.openxmlformats.org/drawingml/2006/main" noGrp="1"/>
          </p:cNvSpPr>
          <p:nvPr/>
        </p:nvSpPr>
        <p:spPr>
          <a:xfrm xmlns:a="http://schemas.openxmlformats.org/drawingml/2006/main">
            <a:off x="876300" y="1809750"/>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CLIENT</a:t>
            </a:r>
          </a:p>
        </p:txBody>
      </p:sp>
      <p:sp>
        <p:nvSpPr>
          <p:cNvPr id="7" name="">
            <a:extLst xmlns:a="http://schemas.openxmlformats.org/drawingml/2006/main">
              <a:ext uri="{FF2B5EF4-FFF2-40B4-BE49-F238E27FC236}">
                <a16:creationId xmlns:a16="http://schemas.microsoft.com/office/drawing/2014/main" id="{5E2EBE33-C0D5-45C3-9766-1D50422B6B08}"/>
              </a:ext>
            </a:extLst>
          </p:cNvPr>
          <p:cNvSpPr>
            <a:spLocks xmlns:a="http://schemas.openxmlformats.org/drawingml/2006/main" noGrp="1"/>
          </p:cNvSpPr>
          <p:nvPr/>
        </p:nvSpPr>
        <p:spPr>
          <a:xfrm xmlns:a="http://schemas.openxmlformats.org/drawingml/2006/main">
            <a:off x="876300" y="2324100"/>
            <a:ext cx="342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“Is this really my server?”</a:t>
            </a:r>
          </a:p>
        </p:txBody>
      </p:sp>
      <p:sp>
        <p:nvSpPr>
          <p:cNvPr id="8" name="">
            <a:extLst xmlns:a="http://schemas.openxmlformats.org/drawingml/2006/main">
              <a:ext uri="{FF2B5EF4-FFF2-40B4-BE49-F238E27FC236}">
                <a16:creationId xmlns:a16="http://schemas.microsoft.com/office/drawing/2014/main" id="{3542457D-DDDC-4418-8BD0-099B36900146}"/>
              </a:ext>
            </a:extLst>
          </p:cNvPr>
          <p:cNvSpPr>
            <a:spLocks xmlns:a="http://schemas.openxmlformats.org/drawingml/2006/main" noGrp="1"/>
          </p:cNvSpPr>
          <p:nvPr/>
        </p:nvSpPr>
        <p:spPr>
          <a:xfrm xmlns:a="http://schemas.openxmlformats.org/drawingml/2006/main">
            <a:off x="876300" y="3238500"/>
            <a:ext cx="342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Checks the server host key</a:t>
            </a:r>
          </a:p>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against known_hosts</a:t>
            </a:r>
          </a:p>
        </p:txBody>
      </p:sp>
      <p:sp>
        <p:nvSpPr>
          <p:cNvPr id="9" name="">
            <a:extLst xmlns:a="http://schemas.openxmlformats.org/drawingml/2006/main">
              <a:ext uri="{FF2B5EF4-FFF2-40B4-BE49-F238E27FC236}">
                <a16:creationId xmlns:a16="http://schemas.microsoft.com/office/drawing/2014/main" id="{38CD14A1-A146-4F4F-8378-BA2CA64A036F}"/>
              </a:ext>
            </a:extLst>
          </p:cNvPr>
          <p:cNvSpPr>
            <a:spLocks xmlns:a="http://schemas.openxmlformats.org/drawingml/2006/main" noGrp="1"/>
          </p:cNvSpPr>
          <p:nvPr/>
        </p:nvSpPr>
        <p:spPr>
          <a:xfrm xmlns:a="http://schemas.openxmlformats.org/drawingml/2006/main">
            <a:off x="5238750" y="2781300"/>
            <a:ext cx="1714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4800" b="1" i="0">
                <a:solidFill>
                  <a:srgbClr val="8B5CF6"/>
                </a:solidFill>
                <a:latin typeface="Aptos"/>
                <a:ea typeface="Aptos"/>
                <a:cs typeface="Aptos"/>
              </a:defRPr>
            </a:pPr>
            <a:r>
              <a:rPr sz="4800" b="1" i="0">
                <a:solidFill>
                  <a:srgbClr val="8B5CF6"/>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E43596D5-813E-4B3F-B992-F4492C77A3EE}"/>
              </a:ext>
            </a:extLst>
          </p:cNvPr>
          <p:cNvSpPr>
            <a:spLocks xmlns:a="http://schemas.openxmlformats.org/drawingml/2006/main" noGrp="1"/>
          </p:cNvSpPr>
          <p:nvPr/>
        </p:nvSpPr>
        <p:spPr>
          <a:xfrm xmlns:a="http://schemas.openxmlformats.org/drawingml/2006/main">
            <a:off x="8001000" y="1809750"/>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SERVER</a:t>
            </a:r>
          </a:p>
        </p:txBody>
      </p:sp>
      <p:sp>
        <p:nvSpPr>
          <p:cNvPr id="11" name="">
            <a:extLst xmlns:a="http://schemas.openxmlformats.org/drawingml/2006/main">
              <a:ext uri="{FF2B5EF4-FFF2-40B4-BE49-F238E27FC236}">
                <a16:creationId xmlns:a16="http://schemas.microsoft.com/office/drawing/2014/main" id="{C203F41F-A64E-42FD-9E35-C071F56BE0BC}"/>
              </a:ext>
            </a:extLst>
          </p:cNvPr>
          <p:cNvSpPr>
            <a:spLocks xmlns:a="http://schemas.openxmlformats.org/drawingml/2006/main" noGrp="1"/>
          </p:cNvSpPr>
          <p:nvPr/>
        </p:nvSpPr>
        <p:spPr>
          <a:xfrm xmlns:a="http://schemas.openxmlformats.org/drawingml/2006/main">
            <a:off x="8001000" y="2324100"/>
            <a:ext cx="342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“Is this user authorized?”</a:t>
            </a:r>
          </a:p>
        </p:txBody>
      </p:sp>
      <p:sp>
        <p:nvSpPr>
          <p:cNvPr id="12" name="">
            <a:extLst xmlns:a="http://schemas.openxmlformats.org/drawingml/2006/main">
              <a:ext uri="{FF2B5EF4-FFF2-40B4-BE49-F238E27FC236}">
                <a16:creationId xmlns:a16="http://schemas.microsoft.com/office/drawing/2014/main" id="{0440448A-9693-4B41-9FA3-38CE642F7D73}"/>
              </a:ext>
            </a:extLst>
          </p:cNvPr>
          <p:cNvSpPr>
            <a:spLocks xmlns:a="http://schemas.openxmlformats.org/drawingml/2006/main" noGrp="1"/>
          </p:cNvSpPr>
          <p:nvPr/>
        </p:nvSpPr>
        <p:spPr>
          <a:xfrm xmlns:a="http://schemas.openxmlformats.org/drawingml/2006/main">
            <a:off x="8001000" y="3238500"/>
            <a:ext cx="342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Checks a signature against</a:t>
            </a:r>
          </a:p>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authorized_keys</a:t>
            </a:r>
          </a:p>
        </p:txBody>
      </p:sp>
      <p:sp>
        <p:nvSpPr>
          <p:cNvPr id="13" name="">
            <a:extLst xmlns:a="http://schemas.openxmlformats.org/drawingml/2006/main">
              <a:ext uri="{FF2B5EF4-FFF2-40B4-BE49-F238E27FC236}">
                <a16:creationId xmlns:a16="http://schemas.microsoft.com/office/drawing/2014/main" id="{DD9CB46E-A517-4BCD-932D-1581022542E3}"/>
              </a:ext>
            </a:extLst>
          </p:cNvPr>
          <p:cNvSpPr>
            <a:spLocks xmlns:a="http://schemas.openxmlformats.org/drawingml/2006/main" noGrp="1"/>
          </p:cNvSpPr>
          <p:nvPr/>
        </p:nvSpPr>
        <p:spPr>
          <a:xfrm xmlns:a="http://schemas.openxmlformats.org/drawingml/2006/main">
            <a:off x="876300" y="4810125"/>
            <a:ext cx="10553700" cy="800100"/>
          </a:xfrm>
          <a:prstGeom xmlns:a="http://schemas.openxmlformats.org/drawingml/2006/main" prst="roundRect">
            <a:avLst>
              <a:gd name="adj" fmla="val 9524"/>
            </a:avLst>
          </a:prstGeom>
          <a:solidFill xmlns:a="http://schemas.openxmlformats.org/drawingml/2006/main">
            <a:srgbClr val="EEE4F3"/>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D84629E-D746-4860-A0E4-8700C318E60A}"/>
              </a:ext>
            </a:extLst>
          </p:cNvPr>
          <p:cNvSpPr>
            <a:spLocks xmlns:a="http://schemas.openxmlformats.org/drawingml/2006/main" noGrp="1"/>
          </p:cNvSpPr>
          <p:nvPr/>
        </p:nvSpPr>
        <p:spPr>
          <a:xfrm xmlns:a="http://schemas.openxmlformats.org/drawingml/2006/main">
            <a:off x="1162050" y="5057775"/>
            <a:ext cx="9982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Encryption without host verification can still connect you to an attacker.</a:t>
            </a:r>
          </a:p>
        </p:txBody>
      </p:sp>
    </p:spTree>
    <p:extLst>
      <p:ext uri="{BB962C8B-B14F-4D97-AF65-F5344CB8AC3E}">
        <p14:creationId xmlns:p14="http://schemas.microsoft.com/office/powerpoint/2010/main" val="1651290256"/>
      </p:ext>
    </p:extLst>
  </p:cSld>
</p:sld>
</file>

<file path=ppt/slides/slide64.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SSH separates transport, host, and user trust</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64</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72"/>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Transport</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encrypts and protects session integrity</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Host key</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proves which server endpoint answered</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693"/>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User proof</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proves which account may log in</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9564"/>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Account policy</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server maps proof to account policy</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Session</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starts command, shell, forwarding, or subsystem</a:t>
            </a:r>
          </a:p>
        </p:txBody>
      </p:sp>
    </p:spTree>
    <p:extLst>
      <p:ext uri="{BB962C8B-B14F-4D97-AF65-F5344CB8AC3E}">
        <p14:creationId xmlns:p14="http://schemas.microsoft.com/office/powerpoint/2010/main" val="1018217464"/>
      </p:ext>
    </p:extLst>
  </p:cSld>
</p:sld>
</file>

<file path=ppt/slides/slide65.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53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Host keys identify servers; user keys identify people</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65</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HOST KEY</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server identity</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Private half stays on server</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Client stores public fingerprint</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Change requires investigation</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USER KEY</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user identity</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Private half stays with user</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Server stores public key</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 be revoked per account</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Never copy either private key to the opposite side.</a:t>
            </a:r>
          </a:p>
        </p:txBody>
      </p:sp>
    </p:spTree>
    <p:extLst>
      <p:ext uri="{BB962C8B-B14F-4D97-AF65-F5344CB8AC3E}">
        <p14:creationId xmlns:p14="http://schemas.microsoft.com/office/powerpoint/2010/main" val="1882871272"/>
      </p:ext>
    </p:extLst>
  </p:cSld>
</p:sld>
</file>

<file path=ppt/slides/slide66.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51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Verify host keys through an independent channel</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66</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Obtain</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get the expected fingerprint from an administrator</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Connect</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observe the presented fingerprint</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Compare</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match algorithm and complete fingerprint</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Accept</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store the verified key in known_hosts</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Recheck</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treat later changes as an event</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Typing yes without comparison is trust on first use, not verification.</a:t>
            </a:r>
          </a:p>
        </p:txBody>
      </p:sp>
    </p:spTree>
    <p:extLst>
      <p:ext uri="{BB962C8B-B14F-4D97-AF65-F5344CB8AC3E}">
        <p14:creationId xmlns:p14="http://schemas.microsoft.com/office/powerpoint/2010/main" val="802295806"/>
      </p:ext>
    </p:extLst>
  </p:cSld>
</p:sld>
</file>

<file path=ppt/slides/slide67.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F03A8508-46DE-43F6-8684-0C1CE0F6AE9C}"/>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8039DED0-8320-486C-83A5-449B0325723B}"/>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The private key proves; the public key permits</a:t>
            </a:r>
          </a:p>
        </p:txBody>
      </p:sp>
      <p:sp>
        <p:nvSpPr>
          <p:cNvPr id="3" name="">
            <a:extLst xmlns:a="http://schemas.openxmlformats.org/drawingml/2006/main">
              <a:ext uri="{FF2B5EF4-FFF2-40B4-BE49-F238E27FC236}">
                <a16:creationId xmlns:a16="http://schemas.microsoft.com/office/drawing/2014/main" id="{C61BFA9B-3348-406E-90ED-565652D44DB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98453EF-7B33-46B1-B8A8-2161AC07039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3D85D9E6-8C82-42F1-BB6C-56C5E7DBE61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67</a:t>
            </a:r>
          </a:p>
        </p:txBody>
      </p:sp>
      <p:sp>
        <p:nvSpPr>
          <p:cNvPr id="6" name="">
            <a:extLst xmlns:a="http://schemas.openxmlformats.org/drawingml/2006/main">
              <a:ext uri="{FF2B5EF4-FFF2-40B4-BE49-F238E27FC236}">
                <a16:creationId xmlns:a16="http://schemas.microsoft.com/office/drawing/2014/main" id="{FED7897E-9195-4619-9551-0E51E012B5E8}"/>
              </a:ext>
            </a:extLst>
          </p:cNvPr>
          <p:cNvSpPr>
            <a:spLocks xmlns:a="http://schemas.openxmlformats.org/drawingml/2006/main" noGrp="1"/>
          </p:cNvSpPr>
          <p:nvPr/>
        </p:nvSpPr>
        <p:spPr>
          <a:xfrm xmlns:a="http://schemas.openxmlformats.org/drawingml/2006/main">
            <a:off x="952500" y="18097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PRIVATE KEY</a:t>
            </a:r>
          </a:p>
        </p:txBody>
      </p:sp>
      <p:sp>
        <p:nvSpPr>
          <p:cNvPr id="7" name="">
            <a:extLst xmlns:a="http://schemas.openxmlformats.org/drawingml/2006/main">
              <a:ext uri="{FF2B5EF4-FFF2-40B4-BE49-F238E27FC236}">
                <a16:creationId xmlns:a16="http://schemas.microsoft.com/office/drawing/2014/main" id="{AC220EB7-D9D1-44C0-9A8E-D20C6EA710C7}"/>
              </a:ext>
            </a:extLst>
          </p:cNvPr>
          <p:cNvSpPr>
            <a:spLocks xmlns:a="http://schemas.openxmlformats.org/drawingml/2006/main" noGrp="1"/>
          </p:cNvSpPr>
          <p:nvPr/>
        </p:nvSpPr>
        <p:spPr>
          <a:xfrm xmlns:a="http://schemas.openxmlformats.org/drawingml/2006/main">
            <a:off x="952500" y="2324100"/>
            <a:ext cx="4381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400" b="1" i="0">
                <a:solidFill>
                  <a:srgbClr val="FFF8EE"/>
                </a:solidFill>
                <a:latin typeface="Courier New"/>
                <a:ea typeface="Courier New"/>
                <a:cs typeface="Courier New"/>
              </a:defRPr>
            </a:pPr>
            <a:r>
              <a:rPr sz="2400" b="1" i="0">
                <a:solidFill>
                  <a:srgbClr val="FFF8EE"/>
                </a:solidFill>
                <a:latin typeface="Courier New"/>
                <a:ea typeface="Courier New"/>
                <a:cs typeface="Courier New"/>
              </a:rPr>
              <a:t>~/.ssh/id_ed25519</a:t>
            </a:r>
          </a:p>
        </p:txBody>
      </p:sp>
      <p:sp>
        <p:nvSpPr>
          <p:cNvPr id="8" name="">
            <a:extLst xmlns:a="http://schemas.openxmlformats.org/drawingml/2006/main">
              <a:ext uri="{FF2B5EF4-FFF2-40B4-BE49-F238E27FC236}">
                <a16:creationId xmlns:a16="http://schemas.microsoft.com/office/drawing/2014/main" id="{4FC0636F-0C9B-49B6-97EE-6325642241EC}"/>
              </a:ext>
            </a:extLst>
          </p:cNvPr>
          <p:cNvSpPr>
            <a:spLocks xmlns:a="http://schemas.openxmlformats.org/drawingml/2006/main" noGrp="1"/>
          </p:cNvSpPr>
          <p:nvPr/>
        </p:nvSpPr>
        <p:spPr>
          <a:xfrm xmlns:a="http://schemas.openxmlformats.org/drawingml/2006/main">
            <a:off x="952500" y="32099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E4FEFBE-A2E8-4ABC-91E5-80DD9F7A076D}"/>
              </a:ext>
            </a:extLst>
          </p:cNvPr>
          <p:cNvSpPr>
            <a:spLocks xmlns:a="http://schemas.openxmlformats.org/drawingml/2006/main" noGrp="1"/>
          </p:cNvSpPr>
          <p:nvPr/>
        </p:nvSpPr>
        <p:spPr>
          <a:xfrm xmlns:a="http://schemas.openxmlformats.org/drawingml/2006/main">
            <a:off x="1219200" y="3143250"/>
            <a:ext cx="3924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Stays on the client</a:t>
            </a:r>
          </a:p>
        </p:txBody>
      </p:sp>
      <p:sp>
        <p:nvSpPr>
          <p:cNvPr id="10" name="">
            <a:extLst xmlns:a="http://schemas.openxmlformats.org/drawingml/2006/main">
              <a:ext uri="{FF2B5EF4-FFF2-40B4-BE49-F238E27FC236}">
                <a16:creationId xmlns:a16="http://schemas.microsoft.com/office/drawing/2014/main" id="{C7E17F14-1D77-4001-89F8-3999D119461F}"/>
              </a:ext>
            </a:extLst>
          </p:cNvPr>
          <p:cNvSpPr>
            <a:spLocks xmlns:a="http://schemas.openxmlformats.org/drawingml/2006/main" noGrp="1"/>
          </p:cNvSpPr>
          <p:nvPr/>
        </p:nvSpPr>
        <p:spPr>
          <a:xfrm xmlns:a="http://schemas.openxmlformats.org/drawingml/2006/main">
            <a:off x="952500" y="38004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B172C40-B467-4FEE-A812-4EA8E4B7A0DE}"/>
              </a:ext>
            </a:extLst>
          </p:cNvPr>
          <p:cNvSpPr>
            <a:spLocks xmlns:a="http://schemas.openxmlformats.org/drawingml/2006/main" noGrp="1"/>
          </p:cNvSpPr>
          <p:nvPr/>
        </p:nvSpPr>
        <p:spPr>
          <a:xfrm xmlns:a="http://schemas.openxmlformats.org/drawingml/2006/main">
            <a:off x="1219200" y="3733800"/>
            <a:ext cx="3924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Protect with a passphrase</a:t>
            </a:r>
          </a:p>
        </p:txBody>
      </p:sp>
      <p:sp>
        <p:nvSpPr>
          <p:cNvPr id="12" name="">
            <a:extLst xmlns:a="http://schemas.openxmlformats.org/drawingml/2006/main">
              <a:ext uri="{FF2B5EF4-FFF2-40B4-BE49-F238E27FC236}">
                <a16:creationId xmlns:a16="http://schemas.microsoft.com/office/drawing/2014/main" id="{6CEBE412-9C19-44B8-9CDE-E52596ED953F}"/>
              </a:ext>
            </a:extLst>
          </p:cNvPr>
          <p:cNvSpPr>
            <a:spLocks xmlns:a="http://schemas.openxmlformats.org/drawingml/2006/main" noGrp="1"/>
          </p:cNvSpPr>
          <p:nvPr/>
        </p:nvSpPr>
        <p:spPr>
          <a:xfrm xmlns:a="http://schemas.openxmlformats.org/drawingml/2006/main">
            <a:off x="952500" y="43910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2DA52D8C-5E50-4113-96DF-D697BB3ABD5B}"/>
              </a:ext>
            </a:extLst>
          </p:cNvPr>
          <p:cNvSpPr>
            <a:spLocks xmlns:a="http://schemas.openxmlformats.org/drawingml/2006/main" noGrp="1"/>
          </p:cNvSpPr>
          <p:nvPr/>
        </p:nvSpPr>
        <p:spPr>
          <a:xfrm xmlns:a="http://schemas.openxmlformats.org/drawingml/2006/main">
            <a:off x="1219200" y="4324350"/>
            <a:ext cx="3924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Never email or copy to server</a:t>
            </a:r>
          </a:p>
        </p:txBody>
      </p:sp>
      <p:sp>
        <p:nvSpPr>
          <p:cNvPr id="14" name="">
            <a:extLst xmlns:a="http://schemas.openxmlformats.org/drawingml/2006/main">
              <a:ext uri="{FF2B5EF4-FFF2-40B4-BE49-F238E27FC236}">
                <a16:creationId xmlns:a16="http://schemas.microsoft.com/office/drawing/2014/main" id="{632EA1CA-553A-419A-A9C6-75FE2B9696F0}"/>
              </a:ext>
            </a:extLst>
          </p:cNvPr>
          <p:cNvSpPr>
            <a:spLocks xmlns:a="http://schemas.openxmlformats.org/drawingml/2006/main" noGrp="1"/>
          </p:cNvSpPr>
          <p:nvPr/>
        </p:nvSpPr>
        <p:spPr>
          <a:xfrm xmlns:a="http://schemas.openxmlformats.org/drawingml/2006/main">
            <a:off x="5943600" y="1714500"/>
            <a:ext cx="19050" cy="3429000"/>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36B8555-44B7-4718-A3E6-BF16E8E79B0D}"/>
              </a:ext>
            </a:extLst>
          </p:cNvPr>
          <p:cNvSpPr>
            <a:spLocks xmlns:a="http://schemas.openxmlformats.org/drawingml/2006/main" noGrp="1"/>
          </p:cNvSpPr>
          <p:nvPr/>
        </p:nvSpPr>
        <p:spPr>
          <a:xfrm xmlns:a="http://schemas.openxmlformats.org/drawingml/2006/main">
            <a:off x="6858000" y="18097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PUBLIC KEY</a:t>
            </a:r>
          </a:p>
        </p:txBody>
      </p:sp>
      <p:sp>
        <p:nvSpPr>
          <p:cNvPr id="16" name="">
            <a:extLst xmlns:a="http://schemas.openxmlformats.org/drawingml/2006/main">
              <a:ext uri="{FF2B5EF4-FFF2-40B4-BE49-F238E27FC236}">
                <a16:creationId xmlns:a16="http://schemas.microsoft.com/office/drawing/2014/main" id="{A196EBF8-53F4-4AEF-8C3D-38F35A099B79}"/>
              </a:ext>
            </a:extLst>
          </p:cNvPr>
          <p:cNvSpPr>
            <a:spLocks xmlns:a="http://schemas.openxmlformats.org/drawingml/2006/main" noGrp="1"/>
          </p:cNvSpPr>
          <p:nvPr/>
        </p:nvSpPr>
        <p:spPr>
          <a:xfrm xmlns:a="http://schemas.openxmlformats.org/drawingml/2006/main">
            <a:off x="6858000" y="2324100"/>
            <a:ext cx="4381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400" b="1" i="0">
                <a:solidFill>
                  <a:srgbClr val="FFF8EE"/>
                </a:solidFill>
                <a:latin typeface="Courier New"/>
                <a:ea typeface="Courier New"/>
                <a:cs typeface="Courier New"/>
              </a:defRPr>
            </a:pPr>
            <a:r>
              <a:rPr sz="2400" b="1" i="0">
                <a:solidFill>
                  <a:srgbClr val="FFF8EE"/>
                </a:solidFill>
                <a:latin typeface="Courier New"/>
                <a:ea typeface="Courier New"/>
                <a:cs typeface="Courier New"/>
              </a:rPr>
              <a:t>~/.ssh/id_ed25519.pub</a:t>
            </a:r>
          </a:p>
        </p:txBody>
      </p:sp>
      <p:sp>
        <p:nvSpPr>
          <p:cNvPr id="17" name="">
            <a:extLst xmlns:a="http://schemas.openxmlformats.org/drawingml/2006/main">
              <a:ext uri="{FF2B5EF4-FFF2-40B4-BE49-F238E27FC236}">
                <a16:creationId xmlns:a16="http://schemas.microsoft.com/office/drawing/2014/main" id="{31C587A9-3EDD-4E7E-A406-55008A4E05A0}"/>
              </a:ext>
            </a:extLst>
          </p:cNvPr>
          <p:cNvSpPr>
            <a:spLocks xmlns:a="http://schemas.openxmlformats.org/drawingml/2006/main" noGrp="1"/>
          </p:cNvSpPr>
          <p:nvPr/>
        </p:nvSpPr>
        <p:spPr>
          <a:xfrm xmlns:a="http://schemas.openxmlformats.org/drawingml/2006/main">
            <a:off x="6858000" y="32099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2888C2E-A686-49F4-9F51-D664ABA4272C}"/>
              </a:ext>
            </a:extLst>
          </p:cNvPr>
          <p:cNvSpPr>
            <a:spLocks xmlns:a="http://schemas.openxmlformats.org/drawingml/2006/main" noGrp="1"/>
          </p:cNvSpPr>
          <p:nvPr/>
        </p:nvSpPr>
        <p:spPr>
          <a:xfrm xmlns:a="http://schemas.openxmlformats.org/drawingml/2006/main">
            <a:off x="7124700" y="3143250"/>
            <a:ext cx="3924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May be copied to servers</a:t>
            </a:r>
          </a:p>
        </p:txBody>
      </p:sp>
      <p:sp>
        <p:nvSpPr>
          <p:cNvPr id="19" name="">
            <a:extLst xmlns:a="http://schemas.openxmlformats.org/drawingml/2006/main">
              <a:ext uri="{FF2B5EF4-FFF2-40B4-BE49-F238E27FC236}">
                <a16:creationId xmlns:a16="http://schemas.microsoft.com/office/drawing/2014/main" id="{817DFDFD-EE17-481A-B3FD-D0D7CA723659}"/>
              </a:ext>
            </a:extLst>
          </p:cNvPr>
          <p:cNvSpPr>
            <a:spLocks xmlns:a="http://schemas.openxmlformats.org/drawingml/2006/main" noGrp="1"/>
          </p:cNvSpPr>
          <p:nvPr/>
        </p:nvSpPr>
        <p:spPr>
          <a:xfrm xmlns:a="http://schemas.openxmlformats.org/drawingml/2006/main">
            <a:off x="6858000" y="38004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0D0064E-28FA-41D3-9FA0-715CA86A9BEC}"/>
              </a:ext>
            </a:extLst>
          </p:cNvPr>
          <p:cNvSpPr>
            <a:spLocks xmlns:a="http://schemas.openxmlformats.org/drawingml/2006/main" noGrp="1"/>
          </p:cNvSpPr>
          <p:nvPr/>
        </p:nvSpPr>
        <p:spPr>
          <a:xfrm xmlns:a="http://schemas.openxmlformats.org/drawingml/2006/main">
            <a:off x="7124700" y="3733800"/>
            <a:ext cx="3924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Stored in authorized_keys</a:t>
            </a:r>
          </a:p>
        </p:txBody>
      </p:sp>
      <p:sp>
        <p:nvSpPr>
          <p:cNvPr id="21" name="">
            <a:extLst xmlns:a="http://schemas.openxmlformats.org/drawingml/2006/main">
              <a:ext uri="{FF2B5EF4-FFF2-40B4-BE49-F238E27FC236}">
                <a16:creationId xmlns:a16="http://schemas.microsoft.com/office/drawing/2014/main" id="{52996F74-0D39-4FC6-B3B7-5CD859706BF3}"/>
              </a:ext>
            </a:extLst>
          </p:cNvPr>
          <p:cNvSpPr>
            <a:spLocks xmlns:a="http://schemas.openxmlformats.org/drawingml/2006/main" noGrp="1"/>
          </p:cNvSpPr>
          <p:nvPr/>
        </p:nvSpPr>
        <p:spPr>
          <a:xfrm xmlns:a="http://schemas.openxmlformats.org/drawingml/2006/main">
            <a:off x="6858000" y="43910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D69ABCF4-8666-45E4-B5F7-071F3D649C0F}"/>
              </a:ext>
            </a:extLst>
          </p:cNvPr>
          <p:cNvSpPr>
            <a:spLocks xmlns:a="http://schemas.openxmlformats.org/drawingml/2006/main" noGrp="1"/>
          </p:cNvSpPr>
          <p:nvPr/>
        </p:nvSpPr>
        <p:spPr>
          <a:xfrm xmlns:a="http://schemas.openxmlformats.org/drawingml/2006/main">
            <a:off x="7124700" y="4324350"/>
            <a:ext cx="3924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Can be revoked independently</a:t>
            </a:r>
          </a:p>
        </p:txBody>
      </p:sp>
      <p:sp>
        <p:nvSpPr>
          <p:cNvPr id="23" name="">
            <a:extLst xmlns:a="http://schemas.openxmlformats.org/drawingml/2006/main">
              <a:ext uri="{FF2B5EF4-FFF2-40B4-BE49-F238E27FC236}">
                <a16:creationId xmlns:a16="http://schemas.microsoft.com/office/drawing/2014/main" id="{49EC3D8E-94A7-433F-86A6-C0279E17CEA9}"/>
              </a:ext>
            </a:extLst>
          </p:cNvPr>
          <p:cNvSpPr>
            <a:spLocks xmlns:a="http://schemas.openxmlformats.org/drawingml/2006/main" noGrp="1"/>
          </p:cNvSpPr>
          <p:nvPr/>
        </p:nvSpPr>
        <p:spPr>
          <a:xfrm xmlns:a="http://schemas.openxmlformats.org/drawingml/2006/main">
            <a:off x="952500" y="5067300"/>
            <a:ext cx="10287000" cy="1123950"/>
          </a:xfrm>
          <a:prstGeom xmlns:a="http://schemas.openxmlformats.org/drawingml/2006/main" prst="roundRect">
            <a:avLst>
              <a:gd name="adj" fmla="val 13559"/>
            </a:avLst>
          </a:prstGeom>
          <a:solidFill xmlns:a="http://schemas.openxmlformats.org/drawingml/2006/main">
            <a:srgbClr val="28183A"/>
          </a:solidFill>
          <a:ln xmlns:a="http://schemas.openxmlformats.org/drawingml/2006/main" w="9525">
            <a:solidFill>
              <a:srgbClr val="4A335D"/>
            </a:solidFill>
            <a:prstDash val="solid"/>
          </a:ln>
        </p:spPr>
      </p:sp>
      <p:sp>
        <p:nvSpPr>
          <p:cNvPr id="24" name="">
            <a:extLst xmlns:a="http://schemas.openxmlformats.org/drawingml/2006/main">
              <a:ext uri="{FF2B5EF4-FFF2-40B4-BE49-F238E27FC236}">
                <a16:creationId xmlns:a16="http://schemas.microsoft.com/office/drawing/2014/main" id="{21BC6A05-0E39-45F1-BB3C-5D2857CA439C}"/>
              </a:ext>
            </a:extLst>
          </p:cNvPr>
          <p:cNvSpPr>
            <a:spLocks xmlns:a="http://schemas.openxmlformats.org/drawingml/2006/main" noGrp="1"/>
          </p:cNvSpPr>
          <p:nvPr/>
        </p:nvSpPr>
        <p:spPr>
          <a:xfrm xmlns:a="http://schemas.openxmlformats.org/drawingml/2006/main">
            <a:off x="952500" y="5067300"/>
            <a:ext cx="10287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66E8CDF-15A6-4CC5-B0D5-F91CC8FC2254}"/>
              </a:ext>
            </a:extLst>
          </p:cNvPr>
          <p:cNvSpPr>
            <a:spLocks xmlns:a="http://schemas.openxmlformats.org/drawingml/2006/main" noGrp="1"/>
          </p:cNvSpPr>
          <p:nvPr/>
        </p:nvSpPr>
        <p:spPr>
          <a:xfrm xmlns:a="http://schemas.openxmlformats.org/drawingml/2006/main">
            <a:off x="952500" y="5334000"/>
            <a:ext cx="10287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DBC90E87-6CE8-4F92-886E-2486133173F1}"/>
              </a:ext>
            </a:extLst>
          </p:cNvPr>
          <p:cNvSpPr>
            <a:spLocks xmlns:a="http://schemas.openxmlformats.org/drawingml/2006/main" noGrp="1"/>
          </p:cNvSpPr>
          <p:nvPr/>
        </p:nvSpPr>
        <p:spPr>
          <a:xfrm xmlns:a="http://schemas.openxmlformats.org/drawingml/2006/main">
            <a:off x="1123950" y="52197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777C28D4-B313-4F7F-A9BA-018EFD3DD252}"/>
              </a:ext>
            </a:extLst>
          </p:cNvPr>
          <p:cNvSpPr>
            <a:spLocks xmlns:a="http://schemas.openxmlformats.org/drawingml/2006/main" noGrp="1"/>
          </p:cNvSpPr>
          <p:nvPr/>
        </p:nvSpPr>
        <p:spPr>
          <a:xfrm xmlns:a="http://schemas.openxmlformats.org/drawingml/2006/main">
            <a:off x="1295400" y="52197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C42FB88-FB26-4DD8-8C75-FE72293132B5}"/>
              </a:ext>
            </a:extLst>
          </p:cNvPr>
          <p:cNvSpPr>
            <a:spLocks xmlns:a="http://schemas.openxmlformats.org/drawingml/2006/main" noGrp="1"/>
          </p:cNvSpPr>
          <p:nvPr/>
        </p:nvSpPr>
        <p:spPr>
          <a:xfrm xmlns:a="http://schemas.openxmlformats.org/drawingml/2006/main">
            <a:off x="1466850" y="52197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D1416DFE-4A3A-466E-9A98-0A7A9344342E}"/>
              </a:ext>
            </a:extLst>
          </p:cNvPr>
          <p:cNvSpPr>
            <a:spLocks xmlns:a="http://schemas.openxmlformats.org/drawingml/2006/main" noGrp="1"/>
          </p:cNvSpPr>
          <p:nvPr/>
        </p:nvSpPr>
        <p:spPr>
          <a:xfrm xmlns:a="http://schemas.openxmlformats.org/drawingml/2006/main">
            <a:off x="1733550" y="518160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70D6A6"/>
                </a:solidFill>
                <a:latin typeface="Aptos"/>
                <a:ea typeface="Aptos"/>
                <a:cs typeface="Aptos"/>
              </a:defRPr>
            </a:pPr>
            <a:r>
              <a:rPr sz="900" b="1" i="0">
                <a:solidFill>
                  <a:srgbClr val="70D6A6"/>
                </a:solidFill>
                <a:latin typeface="Aptos"/>
                <a:ea typeface="Aptos"/>
                <a:cs typeface="Aptos"/>
              </a:rPr>
              <a:t>GENERATE ON THE CLIENT</a:t>
            </a:r>
          </a:p>
        </p:txBody>
      </p:sp>
      <p:sp>
        <p:nvSpPr>
          <p:cNvPr id="30" name="">
            <a:extLst xmlns:a="http://schemas.openxmlformats.org/drawingml/2006/main">
              <a:ext uri="{FF2B5EF4-FFF2-40B4-BE49-F238E27FC236}">
                <a16:creationId xmlns:a16="http://schemas.microsoft.com/office/drawing/2014/main" id="{31433E2D-158D-4A9C-BA8E-BBB684713941}"/>
              </a:ext>
            </a:extLst>
          </p:cNvPr>
          <p:cNvSpPr>
            <a:spLocks xmlns:a="http://schemas.openxmlformats.org/drawingml/2006/main" noGrp="1"/>
          </p:cNvSpPr>
          <p:nvPr/>
        </p:nvSpPr>
        <p:spPr>
          <a:xfrm xmlns:a="http://schemas.openxmlformats.org/drawingml/2006/main">
            <a:off x="1181100" y="5638800"/>
            <a:ext cx="9829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ssh-keygen -t ed25519 -a 64 -C "linux-course"</a:t>
            </a:r>
          </a:p>
        </p:txBody>
      </p:sp>
    </p:spTree>
    <p:extLst>
      <p:ext uri="{BB962C8B-B14F-4D97-AF65-F5344CB8AC3E}">
        <p14:creationId xmlns:p14="http://schemas.microsoft.com/office/powerpoint/2010/main" val="1161993316"/>
      </p:ext>
    </p:extLst>
  </p:cSld>
</p:sld>
</file>

<file path=ppt/slides/slide68.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089"/>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A passphrase and agent reduce private-key exposure</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68</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Phrase</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a passphrase encrypts the private key file at rest</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693"/>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KDF rounds</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increase cost of password guessing</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Agent</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holds an unlocked key for a limited session</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Permissions</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prevent other local users from reading the file</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Rotation</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replace compromised or obsolete credentials</a:t>
            </a:r>
          </a:p>
        </p:txBody>
      </p:sp>
    </p:spTree>
    <p:extLst>
      <p:ext uri="{BB962C8B-B14F-4D97-AF65-F5344CB8AC3E}">
        <p14:creationId xmlns:p14="http://schemas.microsoft.com/office/powerpoint/2010/main" val="1018217464"/>
      </p:ext>
    </p:extLst>
  </p:cSld>
</p:sld>
</file>

<file path=ppt/slides/slide69.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770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OpenSSH checks every component of the authorization path</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69</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Home directory</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154"/>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owned by the account; not broadly writable</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~/.ssh</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normally mode 700</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authorized_keys</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normally mode 600</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Public key line</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complete algorithm and key data</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Account</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login shell and policy must allow access</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Server log</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explains rejected ownership or mode</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7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0B479595-09F8-47F6-A13C-937FAB4015E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8B6BE641-0DF9-4F1E-8677-F0B06F2B0F2D}"/>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Put safe SSH defaults in a named client profile</a:t>
            </a:r>
          </a:p>
        </p:txBody>
      </p:sp>
      <p:sp>
        <p:nvSpPr>
          <p:cNvPr id="3" name="">
            <a:extLst xmlns:a="http://schemas.openxmlformats.org/drawingml/2006/main">
              <a:ext uri="{FF2B5EF4-FFF2-40B4-BE49-F238E27FC236}">
                <a16:creationId xmlns:a16="http://schemas.microsoft.com/office/drawing/2014/main" id="{3A007525-12B0-4801-8266-DAE2D0A889DC}"/>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5AB9A4B-31E3-4D98-8B57-E98252DE299A}"/>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A8DAEDF-0627-4C82-B861-FBBC3E2A919E}"/>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70</a:t>
            </a:r>
          </a:p>
        </p:txBody>
      </p:sp>
      <p:sp>
        <p:nvSpPr>
          <p:cNvPr id="6" name="">
            <a:extLst xmlns:a="http://schemas.openxmlformats.org/drawingml/2006/main">
              <a:ext uri="{FF2B5EF4-FFF2-40B4-BE49-F238E27FC236}">
                <a16:creationId xmlns:a16="http://schemas.microsoft.com/office/drawing/2014/main" id="{3F062EF5-86AB-4B71-9BFC-EB02F12880E5}"/>
              </a:ext>
            </a:extLst>
          </p:cNvPr>
          <p:cNvSpPr>
            <a:spLocks xmlns:a="http://schemas.openxmlformats.org/drawingml/2006/main" noGrp="1"/>
          </p:cNvSpPr>
          <p:nvPr/>
        </p:nvSpPr>
        <p:spPr>
          <a:xfrm xmlns:a="http://schemas.openxmlformats.org/drawingml/2006/main">
            <a:off x="762000" y="1695450"/>
            <a:ext cx="6381750" cy="3733800"/>
          </a:xfrm>
          <a:prstGeom xmlns:a="http://schemas.openxmlformats.org/drawingml/2006/main" prst="roundRect">
            <a:avLst>
              <a:gd name="adj" fmla="val 4082"/>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2582F1B3-14E9-45FD-913E-9592351D8BD1}"/>
              </a:ext>
            </a:extLst>
          </p:cNvPr>
          <p:cNvSpPr>
            <a:spLocks xmlns:a="http://schemas.openxmlformats.org/drawingml/2006/main" noGrp="1"/>
          </p:cNvSpPr>
          <p:nvPr/>
        </p:nvSpPr>
        <p:spPr>
          <a:xfrm xmlns:a="http://schemas.openxmlformats.org/drawingml/2006/main">
            <a:off x="762000" y="1695450"/>
            <a:ext cx="638175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0405278-E0AA-4833-946E-187599BA518E}"/>
              </a:ext>
            </a:extLst>
          </p:cNvPr>
          <p:cNvSpPr>
            <a:spLocks xmlns:a="http://schemas.openxmlformats.org/drawingml/2006/main" noGrp="1"/>
          </p:cNvSpPr>
          <p:nvPr/>
        </p:nvSpPr>
        <p:spPr>
          <a:xfrm xmlns:a="http://schemas.openxmlformats.org/drawingml/2006/main">
            <a:off x="762000" y="1962150"/>
            <a:ext cx="638175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095E590-AFFB-42CA-8EDE-3678DF0434CE}"/>
              </a:ext>
            </a:extLst>
          </p:cNvPr>
          <p:cNvSpPr>
            <a:spLocks xmlns:a="http://schemas.openxmlformats.org/drawingml/2006/main" noGrp="1"/>
          </p:cNvSpPr>
          <p:nvPr/>
        </p:nvSpPr>
        <p:spPr>
          <a:xfrm xmlns:a="http://schemas.openxmlformats.org/drawingml/2006/main">
            <a:off x="933450" y="18478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E5E2DBA-EF08-4270-97E4-D088BDE6129E}"/>
              </a:ext>
            </a:extLst>
          </p:cNvPr>
          <p:cNvSpPr>
            <a:spLocks xmlns:a="http://schemas.openxmlformats.org/drawingml/2006/main" noGrp="1"/>
          </p:cNvSpPr>
          <p:nvPr/>
        </p:nvSpPr>
        <p:spPr>
          <a:xfrm xmlns:a="http://schemas.openxmlformats.org/drawingml/2006/main">
            <a:off x="1104900" y="18478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797B98B4-AB20-40AF-A17C-375BB021AB96}"/>
              </a:ext>
            </a:extLst>
          </p:cNvPr>
          <p:cNvSpPr>
            <a:spLocks xmlns:a="http://schemas.openxmlformats.org/drawingml/2006/main" noGrp="1"/>
          </p:cNvSpPr>
          <p:nvPr/>
        </p:nvSpPr>
        <p:spPr>
          <a:xfrm xmlns:a="http://schemas.openxmlformats.org/drawingml/2006/main">
            <a:off x="1276350" y="18478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B663427-C93B-4258-9C9A-EAC18AD053D0}"/>
              </a:ext>
            </a:extLst>
          </p:cNvPr>
          <p:cNvSpPr>
            <a:spLocks xmlns:a="http://schemas.openxmlformats.org/drawingml/2006/main" noGrp="1"/>
          </p:cNvSpPr>
          <p:nvPr/>
        </p:nvSpPr>
        <p:spPr>
          <a:xfrm xmlns:a="http://schemas.openxmlformats.org/drawingml/2006/main">
            <a:off x="1543050" y="1809750"/>
            <a:ext cx="542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~/.ssh/config</a:t>
            </a:r>
          </a:p>
        </p:txBody>
      </p:sp>
      <p:sp>
        <p:nvSpPr>
          <p:cNvPr id="13" name="">
            <a:extLst xmlns:a="http://schemas.openxmlformats.org/drawingml/2006/main">
              <a:ext uri="{FF2B5EF4-FFF2-40B4-BE49-F238E27FC236}">
                <a16:creationId xmlns:a16="http://schemas.microsoft.com/office/drawing/2014/main" id="{D48CA226-F286-4B6F-8E20-84E09A3C230F}"/>
              </a:ext>
            </a:extLst>
          </p:cNvPr>
          <p:cNvSpPr>
            <a:spLocks xmlns:a="http://schemas.openxmlformats.org/drawingml/2006/main" noGrp="1"/>
          </p:cNvSpPr>
          <p:nvPr/>
        </p:nvSpPr>
        <p:spPr>
          <a:xfrm xmlns:a="http://schemas.openxmlformats.org/drawingml/2006/main">
            <a:off x="990600" y="2266950"/>
            <a:ext cx="5924550" cy="2971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Host linux-course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HostName 192.168.64.10</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User trainee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IdentityFile ~/.ssh/linux_course_ed25519</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IdentitiesOnly yes</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StrictHostKeyChecking accept-new</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ServerAliveInterval 60</a:t>
            </a:r>
          </a:p>
        </p:txBody>
      </p:sp>
      <p:sp>
        <p:nvSpPr>
          <p:cNvPr id="14" name="">
            <a:extLst xmlns:a="http://schemas.openxmlformats.org/drawingml/2006/main">
              <a:ext uri="{FF2B5EF4-FFF2-40B4-BE49-F238E27FC236}">
                <a16:creationId xmlns:a16="http://schemas.microsoft.com/office/drawing/2014/main" id="{C41211EB-B947-48E2-9CB8-0502D0799EFE}"/>
              </a:ext>
            </a:extLst>
          </p:cNvPr>
          <p:cNvSpPr>
            <a:spLocks xmlns:a="http://schemas.openxmlformats.org/drawingml/2006/main" noGrp="1"/>
          </p:cNvSpPr>
          <p:nvPr/>
        </p:nvSpPr>
        <p:spPr>
          <a:xfrm xmlns:a="http://schemas.openxmlformats.org/drawingml/2006/main">
            <a:off x="7620000" y="2162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4679DD7B-531D-40D0-B394-1598F9825A21}"/>
              </a:ext>
            </a:extLst>
          </p:cNvPr>
          <p:cNvSpPr>
            <a:spLocks xmlns:a="http://schemas.openxmlformats.org/drawingml/2006/main" noGrp="1"/>
          </p:cNvSpPr>
          <p:nvPr/>
        </p:nvSpPr>
        <p:spPr>
          <a:xfrm xmlns:a="http://schemas.openxmlformats.org/drawingml/2006/main">
            <a:off x="7886700" y="2095500"/>
            <a:ext cx="3162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One alias replaces repeated flags</a:t>
            </a:r>
          </a:p>
        </p:txBody>
      </p:sp>
      <p:sp>
        <p:nvSpPr>
          <p:cNvPr id="16" name="">
            <a:extLst xmlns:a="http://schemas.openxmlformats.org/drawingml/2006/main">
              <a:ext uri="{FF2B5EF4-FFF2-40B4-BE49-F238E27FC236}">
                <a16:creationId xmlns:a16="http://schemas.microsoft.com/office/drawing/2014/main" id="{2E9D49B2-8C10-4B5D-B43C-A4E5283DD865}"/>
              </a:ext>
            </a:extLst>
          </p:cNvPr>
          <p:cNvSpPr>
            <a:spLocks xmlns:a="http://schemas.openxmlformats.org/drawingml/2006/main" noGrp="1"/>
          </p:cNvSpPr>
          <p:nvPr/>
        </p:nvSpPr>
        <p:spPr>
          <a:xfrm xmlns:a="http://schemas.openxmlformats.org/drawingml/2006/main">
            <a:off x="7620000" y="28098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878B8E9-F20A-489F-8E38-61B64C3EFDCB}"/>
              </a:ext>
            </a:extLst>
          </p:cNvPr>
          <p:cNvSpPr>
            <a:spLocks xmlns:a="http://schemas.openxmlformats.org/drawingml/2006/main" noGrp="1"/>
          </p:cNvSpPr>
          <p:nvPr/>
        </p:nvSpPr>
        <p:spPr>
          <a:xfrm xmlns:a="http://schemas.openxmlformats.org/drawingml/2006/main">
            <a:off x="7886700" y="2743200"/>
            <a:ext cx="3162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IdentitiesOnly avoids key roulette</a:t>
            </a:r>
          </a:p>
        </p:txBody>
      </p:sp>
      <p:sp>
        <p:nvSpPr>
          <p:cNvPr id="18" name="">
            <a:extLst xmlns:a="http://schemas.openxmlformats.org/drawingml/2006/main">
              <a:ext uri="{FF2B5EF4-FFF2-40B4-BE49-F238E27FC236}">
                <a16:creationId xmlns:a16="http://schemas.microsoft.com/office/drawing/2014/main" id="{BBDF2332-267B-4A85-8F8A-459927DD7B01}"/>
              </a:ext>
            </a:extLst>
          </p:cNvPr>
          <p:cNvSpPr>
            <a:spLocks xmlns:a="http://schemas.openxmlformats.org/drawingml/2006/main" noGrp="1"/>
          </p:cNvSpPr>
          <p:nvPr/>
        </p:nvSpPr>
        <p:spPr>
          <a:xfrm xmlns:a="http://schemas.openxmlformats.org/drawingml/2006/main">
            <a:off x="7620000" y="34575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62CA3DE-3004-4AD4-A732-B98BBA4E1915}"/>
              </a:ext>
            </a:extLst>
          </p:cNvPr>
          <p:cNvSpPr>
            <a:spLocks xmlns:a="http://schemas.openxmlformats.org/drawingml/2006/main" noGrp="1"/>
          </p:cNvSpPr>
          <p:nvPr/>
        </p:nvSpPr>
        <p:spPr>
          <a:xfrm xmlns:a="http://schemas.openxmlformats.org/drawingml/2006/main">
            <a:off x="7886700" y="3390900"/>
            <a:ext cx="3162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Verify the first host fingerprint</a:t>
            </a:r>
          </a:p>
        </p:txBody>
      </p:sp>
      <p:sp>
        <p:nvSpPr>
          <p:cNvPr id="20" name="">
            <a:extLst xmlns:a="http://schemas.openxmlformats.org/drawingml/2006/main">
              <a:ext uri="{FF2B5EF4-FFF2-40B4-BE49-F238E27FC236}">
                <a16:creationId xmlns:a16="http://schemas.microsoft.com/office/drawing/2014/main" id="{20C72FD0-38B9-42C9-B457-7F72B019077F}"/>
              </a:ext>
            </a:extLst>
          </p:cNvPr>
          <p:cNvSpPr>
            <a:spLocks xmlns:a="http://schemas.openxmlformats.org/drawingml/2006/main" noGrp="1"/>
          </p:cNvSpPr>
          <p:nvPr/>
        </p:nvSpPr>
        <p:spPr>
          <a:xfrm xmlns:a="http://schemas.openxmlformats.org/drawingml/2006/main">
            <a:off x="7620000" y="4105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0197AE6-3954-4DEB-99B5-4DD0C4EDB606}"/>
              </a:ext>
            </a:extLst>
          </p:cNvPr>
          <p:cNvSpPr>
            <a:spLocks xmlns:a="http://schemas.openxmlformats.org/drawingml/2006/main" noGrp="1"/>
          </p:cNvSpPr>
          <p:nvPr/>
        </p:nvSpPr>
        <p:spPr>
          <a:xfrm xmlns:a="http://schemas.openxmlformats.org/drawingml/2006/main">
            <a:off x="7886700" y="4038600"/>
            <a:ext cx="3162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Use “yes” after onboarding for strictness</a:t>
            </a:r>
          </a:p>
        </p:txBody>
      </p:sp>
      <p:sp>
        <p:nvSpPr>
          <p:cNvPr id="22" name="">
            <a:extLst xmlns:a="http://schemas.openxmlformats.org/drawingml/2006/main">
              <a:ext uri="{FF2B5EF4-FFF2-40B4-BE49-F238E27FC236}">
                <a16:creationId xmlns:a16="http://schemas.microsoft.com/office/drawing/2014/main" id="{2ED109F0-CC37-4B8F-BCDB-D5B25B5EB7F8}"/>
              </a:ext>
            </a:extLst>
          </p:cNvPr>
          <p:cNvSpPr>
            <a:spLocks xmlns:a="http://schemas.openxmlformats.org/drawingml/2006/main" noGrp="1"/>
          </p:cNvSpPr>
          <p:nvPr/>
        </p:nvSpPr>
        <p:spPr>
          <a:xfrm xmlns:a="http://schemas.openxmlformats.org/drawingml/2006/main">
            <a:off x="7620000" y="5067300"/>
            <a:ext cx="342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725" b="1" i="0">
                <a:solidFill>
                  <a:srgbClr val="8B5CF6"/>
                </a:solidFill>
                <a:latin typeface="Aptos"/>
                <a:ea typeface="Aptos"/>
                <a:cs typeface="Aptos"/>
              </a:defRPr>
            </a:pPr>
            <a:r>
              <a:rPr sz="1725" b="1" i="0">
                <a:solidFill>
                  <a:srgbClr val="8B5CF6"/>
                </a:solidFill>
                <a:latin typeface="Aptos"/>
                <a:ea typeface="Aptos"/>
                <a:cs typeface="Aptos"/>
              </a:rPr>
              <a:t>Same OpenSSH syntax on macOS and Windows.</a:t>
            </a:r>
          </a:p>
        </p:txBody>
      </p:sp>
    </p:spTree>
    <p:extLst>
      <p:ext uri="{BB962C8B-B14F-4D97-AF65-F5344CB8AC3E}">
        <p14:creationId xmlns:p14="http://schemas.microsoft.com/office/powerpoint/2010/main" val="135157086"/>
      </p:ext>
    </p:extLst>
  </p:cSld>
</p:sld>
</file>

<file path=ppt/slides/slide71.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SSH uses the first value obtained</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71</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9057"/>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Command line</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explicit options for this invocation</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User config</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~/.ssh/config patterns in order</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397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System config</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/etc/ssh/ssh_config defaults</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397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Host patterns</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specific entries should appear before broad ones</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9564"/>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Effective view</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ssh -G alias prints resolved settings</a:t>
            </a:r>
          </a:p>
        </p:txBody>
      </p:sp>
    </p:spTree>
    <p:extLst>
      <p:ext uri="{BB962C8B-B14F-4D97-AF65-F5344CB8AC3E}">
        <p14:creationId xmlns:p14="http://schemas.microsoft.com/office/powerpoint/2010/main" val="1018217464"/>
      </p:ext>
    </p:extLst>
  </p:cSld>
</p:sld>
</file>

<file path=ppt/slides/slide72.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CA7D24E-0906-4912-B515-2728FCE9495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6 / SSH TRUST</a:t>
            </a:r>
          </a:p>
        </p:txBody>
      </p:sp>
      <p:sp>
        <p:nvSpPr>
          <p:cNvPr id="2" name="">
            <a:extLst xmlns:a="http://schemas.openxmlformats.org/drawingml/2006/main">
              <a:ext uri="{FF2B5EF4-FFF2-40B4-BE49-F238E27FC236}">
                <a16:creationId xmlns:a16="http://schemas.microsoft.com/office/drawing/2014/main" id="{E4C7EBB4-7E54-45D6-9AA9-2A3D11BB08E7}"/>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4793"/>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7EF"/>
                </a:solidFill>
                <a:latin typeface="Aptos"/>
                <a:ea typeface="Aptos"/>
                <a:cs typeface="Aptos"/>
              </a:rPr>
              <a:t>Live demo: verify a separate SSH endpoint on port 2207</a:t>
            </a:r>
          </a:p>
        </p:txBody>
      </p:sp>
      <p:sp>
        <p:nvSpPr>
          <p:cNvPr id="3" name="">
            <a:extLst xmlns:a="http://schemas.openxmlformats.org/drawingml/2006/main">
              <a:ext uri="{FF2B5EF4-FFF2-40B4-BE49-F238E27FC236}">
                <a16:creationId xmlns:a16="http://schemas.microsoft.com/office/drawing/2014/main" id="{77C20360-1A61-46E3-A7F6-C6976C29AA6D}"/>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DCBAF05-2306-430B-8F02-B48AD5A71A2F}"/>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8FBFA74-1BD9-4897-92E2-D103DFA2602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72</a:t>
            </a:r>
          </a:p>
        </p:txBody>
      </p:sp>
      <p:sp>
        <p:nvSpPr>
          <p:cNvPr id="6" name="">
            <a:extLst xmlns:a="http://schemas.openxmlformats.org/drawingml/2006/main">
              <a:ext uri="{FF2B5EF4-FFF2-40B4-BE49-F238E27FC236}">
                <a16:creationId xmlns:a16="http://schemas.microsoft.com/office/drawing/2014/main" id="{857BC15A-FF1D-4556-AD45-392605BCAB2E}"/>
              </a:ext>
            </a:extLst>
          </p:cNvPr>
          <p:cNvSpPr>
            <a:spLocks xmlns:a="http://schemas.openxmlformats.org/drawingml/2006/main" noGrp="1"/>
          </p:cNvSpPr>
          <p:nvPr/>
        </p:nvSpPr>
        <p:spPr>
          <a:xfrm xmlns:a="http://schemas.openxmlformats.org/drawingml/2006/main">
            <a:off x="762000" y="1695450"/>
            <a:ext cx="10668000" cy="3981450"/>
          </a:xfrm>
          <a:prstGeom xmlns:a="http://schemas.openxmlformats.org/drawingml/2006/main" prst="roundRect">
            <a:avLst>
              <a:gd name="adj" fmla="val 3828"/>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FE4165AE-C4D3-4216-9D1A-0F793B9798BB}"/>
              </a:ext>
            </a:extLst>
          </p:cNvPr>
          <p:cNvSpPr>
            <a:spLocks xmlns:a="http://schemas.openxmlformats.org/drawingml/2006/main" noGrp="1"/>
          </p:cNvSpPr>
          <p:nvPr/>
        </p:nvSpPr>
        <p:spPr>
          <a:xfrm xmlns:a="http://schemas.openxmlformats.org/drawingml/2006/main">
            <a:off x="762000" y="1695450"/>
            <a:ext cx="10668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4F4DA88-06B6-48A6-8FB7-E5EF1D462186}"/>
              </a:ext>
            </a:extLst>
          </p:cNvPr>
          <p:cNvSpPr>
            <a:spLocks xmlns:a="http://schemas.openxmlformats.org/drawingml/2006/main" noGrp="1"/>
          </p:cNvSpPr>
          <p:nvPr/>
        </p:nvSpPr>
        <p:spPr>
          <a:xfrm xmlns:a="http://schemas.openxmlformats.org/drawingml/2006/main">
            <a:off x="762000" y="1962150"/>
            <a:ext cx="10668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8230223-41DC-43DF-A06D-2AE430BEB7F7}"/>
              </a:ext>
            </a:extLst>
          </p:cNvPr>
          <p:cNvSpPr>
            <a:spLocks xmlns:a="http://schemas.openxmlformats.org/drawingml/2006/main" noGrp="1"/>
          </p:cNvSpPr>
          <p:nvPr/>
        </p:nvSpPr>
        <p:spPr>
          <a:xfrm xmlns:a="http://schemas.openxmlformats.org/drawingml/2006/main">
            <a:off x="933450" y="18478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C2E4AD1-304E-4E85-82CA-8CDA980E29D1}"/>
              </a:ext>
            </a:extLst>
          </p:cNvPr>
          <p:cNvSpPr>
            <a:spLocks xmlns:a="http://schemas.openxmlformats.org/drawingml/2006/main" noGrp="1"/>
          </p:cNvSpPr>
          <p:nvPr/>
        </p:nvSpPr>
        <p:spPr>
          <a:xfrm xmlns:a="http://schemas.openxmlformats.org/drawingml/2006/main">
            <a:off x="1104900" y="18478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6955A35-3C8A-4170-BC36-0CA9F8B318D1}"/>
              </a:ext>
            </a:extLst>
          </p:cNvPr>
          <p:cNvSpPr>
            <a:spLocks xmlns:a="http://schemas.openxmlformats.org/drawingml/2006/main" noGrp="1"/>
          </p:cNvSpPr>
          <p:nvPr/>
        </p:nvSpPr>
        <p:spPr>
          <a:xfrm xmlns:a="http://schemas.openxmlformats.org/drawingml/2006/main">
            <a:off x="1276350" y="18478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4766F9D-7979-4089-A8D1-8EAAFE491F5A}"/>
              </a:ext>
            </a:extLst>
          </p:cNvPr>
          <p:cNvSpPr>
            <a:spLocks xmlns:a="http://schemas.openxmlformats.org/drawingml/2006/main" noGrp="1"/>
          </p:cNvSpPr>
          <p:nvPr/>
        </p:nvSpPr>
        <p:spPr>
          <a:xfrm xmlns:a="http://schemas.openxmlformats.org/drawingml/2006/main">
            <a:off x="1543050" y="1809750"/>
            <a:ext cx="971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SERVER FINGERPRINT → USER AUTHENTICATION</a:t>
            </a:r>
          </a:p>
        </p:txBody>
      </p:sp>
      <p:sp>
        <p:nvSpPr>
          <p:cNvPr id="13" name="">
            <a:extLst xmlns:a="http://schemas.openxmlformats.org/drawingml/2006/main">
              <a:ext uri="{FF2B5EF4-FFF2-40B4-BE49-F238E27FC236}">
                <a16:creationId xmlns:a16="http://schemas.microsoft.com/office/drawing/2014/main" id="{2FBD59BD-EAA0-47F4-A19A-6E3A0D349253}"/>
              </a:ext>
            </a:extLst>
          </p:cNvPr>
          <p:cNvSpPr>
            <a:spLocks xmlns:a="http://schemas.openxmlformats.org/drawingml/2006/main" noGrp="1"/>
          </p:cNvSpPr>
          <p:nvPr/>
        </p:nvSpPr>
        <p:spPr>
          <a:xfrm xmlns:a="http://schemas.openxmlformats.org/drawingml/2006/main">
            <a:off x="990600" y="2266950"/>
            <a:ext cx="10210800" cy="3219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ssh-keyscan -t ed25519 -p 2207 localhost &gt; host.scan</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ssh-keygen -lf /run/demo-sshd/ssh_host_ed25519_key.pub -E sha256</a:t>
            </a:r>
          </a:p>
          <a:p xmlns:a="http://schemas.openxmlformats.org/drawingml/2006/main">
            <a:pPr>
              <a:defRPr sz="1500">
                <a:solidFill>
                  <a:srgbClr val="FFF8EE"/>
                </a:solidFill>
              </a:defRPr>
            </a:pPr>
            <a:r>
              <a:rPr sz="1500">
                <a:solidFill>
                  <a:srgbClr val="FFF8EE"/>
                </a:solidFill>
              </a:rPr>
              <a:t>ssh-keygen -lf host.scan -E sha256</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install -m 600 host.scan demo-known_hosts</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ssh -o BatchMode=yes -o StrictHostKeyChecking=yes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-o UserKnownHostsFile=demo-known_hosts \</a:t>
            </a:r>
          </a:p>
          <a:p xmlns:a="http://schemas.openxmlformats.org/drawingml/2006/main">
            <a:pPr>
              <a:defRPr sz="1500">
                <a:solidFill>
                  <a:srgbClr val="FFF8EE"/>
                </a:solidFill>
              </a:defRPr>
            </a:pPr>
            <a:r>
              <a:rPr sz="1500">
                <a:solidFill>
                  <a:srgbClr val="FFF8EE"/>
                </a:solidFill>
              </a:rPr>
              <a:t>  -i demo-client/id_ed25519 -p 2207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demo-operator@localhost 'id; hostname'</a:t>
            </a:r>
          </a:p>
        </p:txBody>
      </p:sp>
      <p:sp>
        <p:nvSpPr>
          <p:cNvPr id="14" name="">
            <a:extLst xmlns:a="http://schemas.openxmlformats.org/drawingml/2006/main">
              <a:ext uri="{FF2B5EF4-FFF2-40B4-BE49-F238E27FC236}">
                <a16:creationId xmlns:a16="http://schemas.microsoft.com/office/drawing/2014/main" id="{FC5CC4BB-F5E3-452A-A6FC-B969F5A64BF6}"/>
              </a:ext>
            </a:extLst>
          </p:cNvPr>
          <p:cNvSpPr>
            <a:spLocks xmlns:a="http://schemas.openxmlformats.org/drawingml/2006/main" noGrp="1"/>
          </p:cNvSpPr>
          <p:nvPr/>
        </p:nvSpPr>
        <p:spPr>
          <a:xfrm xmlns:a="http://schemas.openxmlformats.org/drawingml/2006/main">
            <a:off x="857250" y="581025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575" b="1" i="0">
                <a:solidFill>
                  <a:srgbClr val="70D6A6"/>
                </a:solidFill>
                <a:latin typeface="Aptos"/>
                <a:ea typeface="Aptos"/>
                <a:cs typeface="Aptos"/>
              </a:defRPr>
            </a:pPr>
            <a:r>
              <a:rPr sz="1575" b="1" i="0">
                <a:solidFill>
                  <a:srgbClr val="70D6A6"/>
                </a:solidFill>
                <a:latin typeface="Aptos"/>
                <a:ea typeface="Aptos"/>
                <a:cs typeface="Aptos"/>
              </a:rPr>
              <a:t>Host trust and user trust are separate claims with separate keys.</a:t>
            </a:r>
          </a:p>
        </p:txBody>
      </p:sp>
    </p:spTree>
    <p:extLst>
      <p:ext uri="{BB962C8B-B14F-4D97-AF65-F5344CB8AC3E}">
        <p14:creationId xmlns:p14="http://schemas.microsoft.com/office/powerpoint/2010/main" val="213335683"/>
      </p:ext>
    </p:extLst>
  </p:cSld>
</p:sld>
</file>

<file path=ppt/slides/slide7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Test SSH failures one layer at a time</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73</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Network</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resolve name and reach the port</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Host trust</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inspect known_hosts and fingerprint</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77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Client choice</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ssh -G shows user, key, and port</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User auth</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ssh -vv reveals offered and accepted methods</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437"/>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Server policy</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read ssh service logs and account state</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Verbose output is most useful after the basic target, port, and identity are confirmed.</a:t>
            </a:r>
          </a:p>
        </p:txBody>
      </p:sp>
    </p:spTree>
    <p:extLst>
      <p:ext uri="{BB962C8B-B14F-4D97-AF65-F5344CB8AC3E}">
        <p14:creationId xmlns:p14="http://schemas.microsoft.com/office/powerpoint/2010/main" val="802295806"/>
      </p:ext>
    </p:extLst>
  </p:cSld>
</p:sld>
</file>

<file path=ppt/slides/slide74.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D9833BD3-0672-4779-9EB3-8E71DC050B3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HANDS-ON / LAB 6</a:t>
            </a:r>
          </a:p>
        </p:txBody>
      </p:sp>
      <p:sp>
        <p:nvSpPr>
          <p:cNvPr id="2" name="">
            <a:extLst xmlns:a="http://schemas.openxmlformats.org/drawingml/2006/main">
              <a:ext uri="{FF2B5EF4-FFF2-40B4-BE49-F238E27FC236}">
                <a16:creationId xmlns:a16="http://schemas.microsoft.com/office/drawing/2014/main" id="{D247334C-6068-4782-81A5-2555B3D14565}"/>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1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Lab 6 — Establish host and user trust with SSH</a:t>
            </a:r>
          </a:p>
        </p:txBody>
      </p:sp>
      <p:sp>
        <p:nvSpPr>
          <p:cNvPr id="3" name="">
            <a:extLst xmlns:a="http://schemas.openxmlformats.org/drawingml/2006/main">
              <a:ext uri="{FF2B5EF4-FFF2-40B4-BE49-F238E27FC236}">
                <a16:creationId xmlns:a16="http://schemas.microsoft.com/office/drawing/2014/main" id="{5B7E1CFF-45E6-46A2-AC95-345A45864F6C}"/>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48BD663-E972-4A30-92C1-C04C99DD27E6}"/>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C00D4498-7AEF-4978-A0D4-A384B6DF2296}"/>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74</a:t>
            </a:r>
          </a:p>
        </p:txBody>
      </p:sp>
      <p:sp>
        <p:nvSpPr>
          <p:cNvPr id="6" name="">
            <a:extLst xmlns:a="http://schemas.openxmlformats.org/drawingml/2006/main">
              <a:ext uri="{FF2B5EF4-FFF2-40B4-BE49-F238E27FC236}">
                <a16:creationId xmlns:a16="http://schemas.microsoft.com/office/drawing/2014/main" id="{324D7AA5-1B7A-46F0-B60D-AFDF7AA06C69}"/>
              </a:ext>
            </a:extLst>
          </p:cNvPr>
          <p:cNvSpPr>
            <a:spLocks xmlns:a="http://schemas.openxmlformats.org/drawingml/2006/main" noGrp="1"/>
          </p:cNvSpPr>
          <p:nvPr/>
        </p:nvSpPr>
        <p:spPr>
          <a:xfrm xmlns:a="http://schemas.openxmlformats.org/drawingml/2006/main">
            <a:off x="800100" y="17907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MISSION · 25 MIN</a:t>
            </a:r>
          </a:p>
        </p:txBody>
      </p:sp>
      <p:sp>
        <p:nvSpPr>
          <p:cNvPr id="7" name="">
            <a:extLst xmlns:a="http://schemas.openxmlformats.org/drawingml/2006/main">
              <a:ext uri="{FF2B5EF4-FFF2-40B4-BE49-F238E27FC236}">
                <a16:creationId xmlns:a16="http://schemas.microsoft.com/office/drawing/2014/main" id="{F9415872-9C11-409D-903F-82DFBD71123F}"/>
              </a:ext>
            </a:extLst>
          </p:cNvPr>
          <p:cNvSpPr>
            <a:spLocks xmlns:a="http://schemas.openxmlformats.org/drawingml/2006/main" noGrp="1"/>
          </p:cNvSpPr>
          <p:nvPr/>
        </p:nvSpPr>
        <p:spPr>
          <a:xfrm xmlns:a="http://schemas.openxmlformats.org/drawingml/2006/main">
            <a:off x="800100" y="2228850"/>
            <a:ext cx="4095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SSH trust setup</a:t>
            </a:r>
          </a:p>
        </p:txBody>
      </p:sp>
      <p:sp>
        <p:nvSpPr>
          <p:cNvPr id="8" name="">
            <a:extLst xmlns:a="http://schemas.openxmlformats.org/drawingml/2006/main">
              <a:ext uri="{FF2B5EF4-FFF2-40B4-BE49-F238E27FC236}">
                <a16:creationId xmlns:a16="http://schemas.microsoft.com/office/drawing/2014/main" id="{AF5C6E71-8DD4-4FC1-BEE6-6BBC5B9C2F42}"/>
              </a:ext>
            </a:extLst>
          </p:cNvPr>
          <p:cNvSpPr>
            <a:spLocks xmlns:a="http://schemas.openxmlformats.org/drawingml/2006/main" noGrp="1"/>
          </p:cNvSpPr>
          <p:nvPr/>
        </p:nvSpPr>
        <p:spPr>
          <a:xfrm xmlns:a="http://schemas.openxmlformats.org/drawingml/2006/main">
            <a:off x="800100" y="3009900"/>
            <a:ext cx="4953000" cy="2190750"/>
          </a:xfrm>
          <a:prstGeom xmlns:a="http://schemas.openxmlformats.org/drawingml/2006/main" prst="roundRect">
            <a:avLst>
              <a:gd name="adj" fmla="val 6957"/>
            </a:avLst>
          </a:prstGeom>
          <a:solidFill xmlns:a="http://schemas.openxmlformats.org/drawingml/2006/main">
            <a:srgbClr val="28183A"/>
          </a:solidFill>
          <a:ln xmlns:a="http://schemas.openxmlformats.org/drawingml/2006/main" w="9525">
            <a:solidFill>
              <a:srgbClr val="4A335D"/>
            </a:solidFill>
            <a:prstDash val="solid"/>
          </a:ln>
        </p:spPr>
      </p:sp>
      <p:sp>
        <p:nvSpPr>
          <p:cNvPr id="9" name="">
            <a:extLst xmlns:a="http://schemas.openxmlformats.org/drawingml/2006/main">
              <a:ext uri="{FF2B5EF4-FFF2-40B4-BE49-F238E27FC236}">
                <a16:creationId xmlns:a16="http://schemas.microsoft.com/office/drawing/2014/main" id="{80367D35-5EDB-429E-922C-C046DC415680}"/>
              </a:ext>
            </a:extLst>
          </p:cNvPr>
          <p:cNvSpPr>
            <a:spLocks xmlns:a="http://schemas.openxmlformats.org/drawingml/2006/main" noGrp="1"/>
          </p:cNvSpPr>
          <p:nvPr/>
        </p:nvSpPr>
        <p:spPr>
          <a:xfrm xmlns:a="http://schemas.openxmlformats.org/drawingml/2006/main">
            <a:off x="800100" y="3009900"/>
            <a:ext cx="4953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CE8F602-67C2-43C8-AF34-A023C509094B}"/>
              </a:ext>
            </a:extLst>
          </p:cNvPr>
          <p:cNvSpPr>
            <a:spLocks xmlns:a="http://schemas.openxmlformats.org/drawingml/2006/main" noGrp="1"/>
          </p:cNvSpPr>
          <p:nvPr/>
        </p:nvSpPr>
        <p:spPr>
          <a:xfrm xmlns:a="http://schemas.openxmlformats.org/drawingml/2006/main">
            <a:off x="800100" y="3276600"/>
            <a:ext cx="4953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F7E26F0-5CC2-4A12-BDCC-1A06D14D095C}"/>
              </a:ext>
            </a:extLst>
          </p:cNvPr>
          <p:cNvSpPr>
            <a:spLocks xmlns:a="http://schemas.openxmlformats.org/drawingml/2006/main" noGrp="1"/>
          </p:cNvSpPr>
          <p:nvPr/>
        </p:nvSpPr>
        <p:spPr>
          <a:xfrm xmlns:a="http://schemas.openxmlformats.org/drawingml/2006/main">
            <a:off x="971550" y="31623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826F062-9D6E-4828-9B6B-EA58B274D004}"/>
              </a:ext>
            </a:extLst>
          </p:cNvPr>
          <p:cNvSpPr>
            <a:spLocks xmlns:a="http://schemas.openxmlformats.org/drawingml/2006/main" noGrp="1"/>
          </p:cNvSpPr>
          <p:nvPr/>
        </p:nvSpPr>
        <p:spPr>
          <a:xfrm xmlns:a="http://schemas.openxmlformats.org/drawingml/2006/main">
            <a:off x="1143000" y="31623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D6A8CEC-C44D-4259-82B1-364089D5F457}"/>
              </a:ext>
            </a:extLst>
          </p:cNvPr>
          <p:cNvSpPr>
            <a:spLocks xmlns:a="http://schemas.openxmlformats.org/drawingml/2006/main" noGrp="1"/>
          </p:cNvSpPr>
          <p:nvPr/>
        </p:nvSpPr>
        <p:spPr>
          <a:xfrm xmlns:a="http://schemas.openxmlformats.org/drawingml/2006/main">
            <a:off x="1314450" y="31623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48FAD2D-474C-4D7E-8D6B-08B0CD42FA19}"/>
              </a:ext>
            </a:extLst>
          </p:cNvPr>
          <p:cNvSpPr>
            <a:spLocks xmlns:a="http://schemas.openxmlformats.org/drawingml/2006/main" noGrp="1"/>
          </p:cNvSpPr>
          <p:nvPr/>
        </p:nvSpPr>
        <p:spPr>
          <a:xfrm xmlns:a="http://schemas.openxmlformats.org/drawingml/2006/main">
            <a:off x="1581150" y="31242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DELIVERABLES</a:t>
            </a:r>
          </a:p>
        </p:txBody>
      </p:sp>
      <p:sp>
        <p:nvSpPr>
          <p:cNvPr id="15" name="">
            <a:extLst xmlns:a="http://schemas.openxmlformats.org/drawingml/2006/main">
              <a:ext uri="{FF2B5EF4-FFF2-40B4-BE49-F238E27FC236}">
                <a16:creationId xmlns:a16="http://schemas.microsoft.com/office/drawing/2014/main" id="{AC61AC9D-DEB2-4D1D-9A32-C13A6D89E8B9}"/>
              </a:ext>
            </a:extLst>
          </p:cNvPr>
          <p:cNvSpPr>
            <a:spLocks xmlns:a="http://schemas.openxmlformats.org/drawingml/2006/main" noGrp="1"/>
          </p:cNvSpPr>
          <p:nvPr/>
        </p:nvSpPr>
        <p:spPr>
          <a:xfrm xmlns:a="http://schemas.openxmlformats.org/drawingml/2006/main">
            <a:off x="1028700" y="3581400"/>
            <a:ext cx="44958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Generate a dedicated Ed25519 key</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Verify the server fingerprint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Build the training-server profile</a:t>
            </a:r>
          </a:p>
        </p:txBody>
      </p:sp>
      <p:sp>
        <p:nvSpPr>
          <p:cNvPr id="16" name="">
            <a:extLst xmlns:a="http://schemas.openxmlformats.org/drawingml/2006/main">
              <a:ext uri="{FF2B5EF4-FFF2-40B4-BE49-F238E27FC236}">
                <a16:creationId xmlns:a16="http://schemas.microsoft.com/office/drawing/2014/main" id="{18FA52CE-1464-4ABC-8C2B-0417FBBC0443}"/>
              </a:ext>
            </a:extLst>
          </p:cNvPr>
          <p:cNvSpPr>
            <a:spLocks xmlns:a="http://schemas.openxmlformats.org/drawingml/2006/main" noGrp="1"/>
          </p:cNvSpPr>
          <p:nvPr/>
        </p:nvSpPr>
        <p:spPr>
          <a:xfrm xmlns:a="http://schemas.openxmlformats.org/drawingml/2006/main">
            <a:off x="6667500" y="17907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ACCEPTANCE EVIDENCE</a:t>
            </a:r>
          </a:p>
        </p:txBody>
      </p:sp>
      <p:sp>
        <p:nvSpPr>
          <p:cNvPr id="17" name="">
            <a:extLst xmlns:a="http://schemas.openxmlformats.org/drawingml/2006/main">
              <a:ext uri="{FF2B5EF4-FFF2-40B4-BE49-F238E27FC236}">
                <a16:creationId xmlns:a16="http://schemas.microsoft.com/office/drawing/2014/main" id="{3A11BCE1-4A2A-4883-A988-CD70CAA4FCAD}"/>
              </a:ext>
            </a:extLst>
          </p:cNvPr>
          <p:cNvSpPr>
            <a:spLocks xmlns:a="http://schemas.openxmlformats.org/drawingml/2006/main" noGrp="1"/>
          </p:cNvSpPr>
          <p:nvPr/>
        </p:nvSpPr>
        <p:spPr>
          <a:xfrm xmlns:a="http://schemas.openxmlformats.org/drawingml/2006/main">
            <a:off x="6667500" y="2228850"/>
            <a:ext cx="428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Checker requires</a:t>
            </a:r>
          </a:p>
        </p:txBody>
      </p:sp>
      <p:sp>
        <p:nvSpPr>
          <p:cNvPr id="18" name="">
            <a:extLst xmlns:a="http://schemas.openxmlformats.org/drawingml/2006/main">
              <a:ext uri="{FF2B5EF4-FFF2-40B4-BE49-F238E27FC236}">
                <a16:creationId xmlns:a16="http://schemas.microsoft.com/office/drawing/2014/main" id="{27F87451-D0E8-4D78-B5C3-D526E48F5BB7}"/>
              </a:ext>
            </a:extLst>
          </p:cNvPr>
          <p:cNvSpPr>
            <a:spLocks xmlns:a="http://schemas.openxmlformats.org/drawingml/2006/main" noGrp="1"/>
          </p:cNvSpPr>
          <p:nvPr/>
        </p:nvSpPr>
        <p:spPr>
          <a:xfrm xmlns:a="http://schemas.openxmlformats.org/drawingml/2006/main">
            <a:off x="6667500" y="3171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FD88F18-46B5-41BD-BFCA-8B5AAF8849FF}"/>
              </a:ext>
            </a:extLst>
          </p:cNvPr>
          <p:cNvSpPr>
            <a:spLocks xmlns:a="http://schemas.openxmlformats.org/drawingml/2006/main" noGrp="1"/>
          </p:cNvSpPr>
          <p:nvPr/>
        </p:nvSpPr>
        <p:spPr>
          <a:xfrm xmlns:a="http://schemas.openxmlformats.org/drawingml/2006/main">
            <a:off x="6934200" y="31051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Private material has restrictive modes</a:t>
            </a:r>
          </a:p>
        </p:txBody>
      </p:sp>
      <p:sp>
        <p:nvSpPr>
          <p:cNvPr id="20" name="">
            <a:extLst xmlns:a="http://schemas.openxmlformats.org/drawingml/2006/main">
              <a:ext uri="{FF2B5EF4-FFF2-40B4-BE49-F238E27FC236}">
                <a16:creationId xmlns:a16="http://schemas.microsoft.com/office/drawing/2014/main" id="{B3D28E46-FE52-45D5-8EA1-BF10770E6C54}"/>
              </a:ext>
            </a:extLst>
          </p:cNvPr>
          <p:cNvSpPr>
            <a:spLocks xmlns:a="http://schemas.openxmlformats.org/drawingml/2006/main" noGrp="1"/>
          </p:cNvSpPr>
          <p:nvPr/>
        </p:nvSpPr>
        <p:spPr>
          <a:xfrm xmlns:a="http://schemas.openxmlformats.org/drawingml/2006/main">
            <a:off x="6667500" y="37433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3C2B25C-6BDE-4AAB-904E-0F15113DF0D2}"/>
              </a:ext>
            </a:extLst>
          </p:cNvPr>
          <p:cNvSpPr>
            <a:spLocks xmlns:a="http://schemas.openxmlformats.org/drawingml/2006/main" noGrp="1"/>
          </p:cNvSpPr>
          <p:nvPr/>
        </p:nvSpPr>
        <p:spPr>
          <a:xfrm xmlns:a="http://schemas.openxmlformats.org/drawingml/2006/main">
            <a:off x="6934200" y="36766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known_hosts is verified before login</a:t>
            </a:r>
          </a:p>
        </p:txBody>
      </p:sp>
      <p:sp>
        <p:nvSpPr>
          <p:cNvPr id="22" name="">
            <a:extLst xmlns:a="http://schemas.openxmlformats.org/drawingml/2006/main">
              <a:ext uri="{FF2B5EF4-FFF2-40B4-BE49-F238E27FC236}">
                <a16:creationId xmlns:a16="http://schemas.microsoft.com/office/drawing/2014/main" id="{2E701848-E1C5-4F87-8279-E3EBE384F7A9}"/>
              </a:ext>
            </a:extLst>
          </p:cNvPr>
          <p:cNvSpPr>
            <a:spLocks xmlns:a="http://schemas.openxmlformats.org/drawingml/2006/main" noGrp="1"/>
          </p:cNvSpPr>
          <p:nvPr/>
        </p:nvSpPr>
        <p:spPr>
          <a:xfrm xmlns:a="http://schemas.openxmlformats.org/drawingml/2006/main">
            <a:off x="6667500" y="4314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09B7F9F-1914-4FC1-9251-2A3E490D832A}"/>
              </a:ext>
            </a:extLst>
          </p:cNvPr>
          <p:cNvSpPr>
            <a:spLocks xmlns:a="http://schemas.openxmlformats.org/drawingml/2006/main" noGrp="1"/>
          </p:cNvSpPr>
          <p:nvPr/>
        </p:nvSpPr>
        <p:spPr>
          <a:xfrm xmlns:a="http://schemas.openxmlformats.org/drawingml/2006/main">
            <a:off x="6934200" y="42481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Effective client options are pinned</a:t>
            </a:r>
          </a:p>
        </p:txBody>
      </p:sp>
      <p:sp>
        <p:nvSpPr>
          <p:cNvPr id="24" name="">
            <a:extLst xmlns:a="http://schemas.openxmlformats.org/drawingml/2006/main">
              <a:ext uri="{FF2B5EF4-FFF2-40B4-BE49-F238E27FC236}">
                <a16:creationId xmlns:a16="http://schemas.microsoft.com/office/drawing/2014/main" id="{B139B5F9-EFF3-4E76-9E50-53E4221E0BC5}"/>
              </a:ext>
            </a:extLst>
          </p:cNvPr>
          <p:cNvSpPr>
            <a:spLocks xmlns:a="http://schemas.openxmlformats.org/drawingml/2006/main" noGrp="1"/>
          </p:cNvSpPr>
          <p:nvPr/>
        </p:nvSpPr>
        <p:spPr>
          <a:xfrm xmlns:a="http://schemas.openxmlformats.org/drawingml/2006/main">
            <a:off x="6667500" y="48863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1629B6F-E8A2-4282-9017-3DE5C9ABE668}"/>
              </a:ext>
            </a:extLst>
          </p:cNvPr>
          <p:cNvSpPr>
            <a:spLocks xmlns:a="http://schemas.openxmlformats.org/drawingml/2006/main" noGrp="1"/>
          </p:cNvSpPr>
          <p:nvPr/>
        </p:nvSpPr>
        <p:spPr>
          <a:xfrm xmlns:a="http://schemas.openxmlformats.org/drawingml/2006/main">
            <a:off x="6934200" y="48196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BatchMode key-only login succeeds</a:t>
            </a:r>
          </a:p>
        </p:txBody>
      </p:sp>
      <p:sp>
        <p:nvSpPr>
          <p:cNvPr id="26" name="">
            <a:extLst xmlns:a="http://schemas.openxmlformats.org/drawingml/2006/main">
              <a:ext uri="{FF2B5EF4-FFF2-40B4-BE49-F238E27FC236}">
                <a16:creationId xmlns:a16="http://schemas.microsoft.com/office/drawing/2014/main" id="{31BF24E7-ED3D-4226-A7DC-0713BF70C771}"/>
              </a:ext>
            </a:extLst>
          </p:cNvPr>
          <p:cNvSpPr>
            <a:spLocks xmlns:a="http://schemas.openxmlformats.org/drawingml/2006/main" noGrp="1"/>
          </p:cNvSpPr>
          <p:nvPr/>
        </p:nvSpPr>
        <p:spPr>
          <a:xfrm xmlns:a="http://schemas.openxmlformats.org/drawingml/2006/main">
            <a:off x="800100" y="5600700"/>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1" i="0">
                <a:solidFill>
                  <a:srgbClr val="8B5CF6"/>
                </a:solidFill>
                <a:latin typeface="Aptos"/>
                <a:ea typeface="Aptos"/>
                <a:cs typeface="Aptos"/>
              </a:defRPr>
            </a:pPr>
            <a:r>
              <a:rPr sz="1650" b="1" i="0">
                <a:solidFill>
                  <a:srgbClr val="8B5CF6"/>
                </a:solidFill>
                <a:latin typeface="Aptos"/>
                <a:ea typeface="Aptos"/>
                <a:cs typeface="Aptos"/>
              </a:rPr>
              <a:t>Debrief: which key authenticates the server, and which key authenticates you?</a:t>
            </a:r>
          </a:p>
        </p:txBody>
      </p:sp>
    </p:spTree>
    <p:extLst>
      <p:ext uri="{BB962C8B-B14F-4D97-AF65-F5344CB8AC3E}">
        <p14:creationId xmlns:p14="http://schemas.microsoft.com/office/powerpoint/2010/main" val="276205261"/>
      </p:ext>
    </p:extLst>
  </p:cSld>
</p:sld>
</file>

<file path=ppt/slides/slide75.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LOGS</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283"/>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Linux logs live in files and in the systemd journal</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75</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TEXT FILES</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/var/log</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Application-specific files</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APT and dpkg history</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Rotation changes filenames</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STRUCTURED JOURNAL</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journalctl</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Unit, boot, PID, priority fields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Time-aware filtering</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May be volatile or persistent</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Start with the service and time window—not “all logs”.</a:t>
            </a:r>
          </a:p>
        </p:txBody>
      </p:sp>
    </p:spTree>
    <p:extLst>
      <p:ext uri="{BB962C8B-B14F-4D97-AF65-F5344CB8AC3E}">
        <p14:creationId xmlns:p14="http://schemas.microsoft.com/office/powerpoint/2010/main" val="1882871272"/>
      </p:ext>
    </p:extLst>
  </p:cSld>
</p:sld>
</file>

<file path=ppt/slides/slide76.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LOGS</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A useful log record answers five questions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76</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When</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timestamp with timezone or boot context</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Where</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host, container, or node</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Who</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unit, process, PID, or identity</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What</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event and severity</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Why next</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correlation field, exit code, or causal detail</a:t>
            </a:r>
          </a:p>
        </p:txBody>
      </p:sp>
    </p:spTree>
    <p:extLst>
      <p:ext uri="{BB962C8B-B14F-4D97-AF65-F5344CB8AC3E}">
        <p14:creationId xmlns:p14="http://schemas.microsoft.com/office/powerpoint/2010/main" val="1018217464"/>
      </p:ext>
    </p:extLst>
  </p:cSld>
</p:sld>
</file>

<file path=ppt/slides/slide77.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716BDE4B-77DF-48D4-A644-9ACE57CE3675}"/>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LOGS</a:t>
            </a:r>
          </a:p>
        </p:txBody>
      </p:sp>
      <p:sp>
        <p:nvSpPr>
          <p:cNvPr id="2" name="">
            <a:extLst xmlns:a="http://schemas.openxmlformats.org/drawingml/2006/main">
              <a:ext uri="{FF2B5EF4-FFF2-40B4-BE49-F238E27FC236}">
                <a16:creationId xmlns:a16="http://schemas.microsoft.com/office/drawing/2014/main" id="{5A2E5DEE-F618-4327-AD7B-D279D1BD4B6B}"/>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Filter the journal toward one answer</a:t>
            </a:r>
          </a:p>
        </p:txBody>
      </p:sp>
      <p:sp>
        <p:nvSpPr>
          <p:cNvPr id="3" name="">
            <a:extLst xmlns:a="http://schemas.openxmlformats.org/drawingml/2006/main">
              <a:ext uri="{FF2B5EF4-FFF2-40B4-BE49-F238E27FC236}">
                <a16:creationId xmlns:a16="http://schemas.microsoft.com/office/drawing/2014/main" id="{3B16A7E3-82A0-4E1A-A3A6-AA06EF104F67}"/>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8AB3276-AE5D-4A28-A173-8FE09AB2FFD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10892764-5CBA-47F1-A3E5-876B40FF7AD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77</a:t>
            </a:r>
          </a:p>
        </p:txBody>
      </p:sp>
      <p:sp>
        <p:nvSpPr>
          <p:cNvPr id="6" name="">
            <a:extLst xmlns:a="http://schemas.openxmlformats.org/drawingml/2006/main">
              <a:ext uri="{FF2B5EF4-FFF2-40B4-BE49-F238E27FC236}">
                <a16:creationId xmlns:a16="http://schemas.microsoft.com/office/drawing/2014/main" id="{5C0D4547-8738-448F-8C1F-C667D46B54DD}"/>
              </a:ext>
            </a:extLst>
          </p:cNvPr>
          <p:cNvSpPr>
            <a:spLocks xmlns:a="http://schemas.openxmlformats.org/drawingml/2006/main" noGrp="1"/>
          </p:cNvSpPr>
          <p:nvPr/>
        </p:nvSpPr>
        <p:spPr>
          <a:xfrm xmlns:a="http://schemas.openxmlformats.org/drawingml/2006/main">
            <a:off x="857250" y="175260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1" i="0">
                <a:solidFill>
                  <a:srgbClr val="BFAFCB"/>
                </a:solidFill>
                <a:latin typeface="Aptos"/>
                <a:ea typeface="Aptos"/>
                <a:cs typeface="Aptos"/>
              </a:defRPr>
            </a:pPr>
            <a:r>
              <a:rPr sz="1650" b="1" i="0">
                <a:solidFill>
                  <a:srgbClr val="BFAFCB"/>
                </a:solidFill>
                <a:latin typeface="Aptos"/>
                <a:ea typeface="Aptos"/>
                <a:cs typeface="Aptos"/>
              </a:rPr>
              <a:t>Which service?</a:t>
            </a:r>
          </a:p>
        </p:txBody>
      </p:sp>
      <p:sp>
        <p:nvSpPr>
          <p:cNvPr id="7" name="">
            <a:extLst xmlns:a="http://schemas.openxmlformats.org/drawingml/2006/main">
              <a:ext uri="{FF2B5EF4-FFF2-40B4-BE49-F238E27FC236}">
                <a16:creationId xmlns:a16="http://schemas.microsoft.com/office/drawing/2014/main" id="{C71F5C20-E527-4094-8BE4-EF42F238343D}"/>
              </a:ext>
            </a:extLst>
          </p:cNvPr>
          <p:cNvSpPr>
            <a:spLocks xmlns:a="http://schemas.openxmlformats.org/drawingml/2006/main" noGrp="1"/>
          </p:cNvSpPr>
          <p:nvPr/>
        </p:nvSpPr>
        <p:spPr>
          <a:xfrm xmlns:a="http://schemas.openxmlformats.org/drawingml/2006/main">
            <a:off x="3714750" y="17526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950" b="1" i="0">
                <a:solidFill>
                  <a:srgbClr val="FF6B4A"/>
                </a:solidFill>
                <a:latin typeface="Courier New"/>
                <a:ea typeface="Courier New"/>
                <a:cs typeface="Courier New"/>
              </a:defRPr>
            </a:pPr>
            <a:r>
              <a:rPr sz="1950" b="1" i="0">
                <a:solidFill>
                  <a:srgbClr val="FF6B4A"/>
                </a:solidFill>
                <a:latin typeface="Courier New"/>
                <a:ea typeface="Courier New"/>
                <a:cs typeface="Courier New"/>
              </a:rPr>
              <a:t>journalctl -u ssh</a:t>
            </a:r>
          </a:p>
        </p:txBody>
      </p:sp>
      <p:sp>
        <p:nvSpPr>
          <p:cNvPr id="8" name="">
            <a:extLst xmlns:a="http://schemas.openxmlformats.org/drawingml/2006/main">
              <a:ext uri="{FF2B5EF4-FFF2-40B4-BE49-F238E27FC236}">
                <a16:creationId xmlns:a16="http://schemas.microsoft.com/office/drawing/2014/main" id="{C39723C3-E35F-4B75-A3BC-8E355C4C7D70}"/>
              </a:ext>
            </a:extLst>
          </p:cNvPr>
          <p:cNvSpPr>
            <a:spLocks xmlns:a="http://schemas.openxmlformats.org/drawingml/2006/main" noGrp="1"/>
          </p:cNvSpPr>
          <p:nvPr/>
        </p:nvSpPr>
        <p:spPr>
          <a:xfrm xmlns:a="http://schemas.openxmlformats.org/drawingml/2006/main">
            <a:off x="857250" y="2228850"/>
            <a:ext cx="9715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B4E5C10-B477-4DF5-9DEF-D3AE2C21528F}"/>
              </a:ext>
            </a:extLst>
          </p:cNvPr>
          <p:cNvSpPr>
            <a:spLocks xmlns:a="http://schemas.openxmlformats.org/drawingml/2006/main" noGrp="1"/>
          </p:cNvSpPr>
          <p:nvPr/>
        </p:nvSpPr>
        <p:spPr>
          <a:xfrm xmlns:a="http://schemas.openxmlformats.org/drawingml/2006/main">
            <a:off x="857250" y="24955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1" i="0">
                <a:solidFill>
                  <a:srgbClr val="BFAFCB"/>
                </a:solidFill>
                <a:latin typeface="Aptos"/>
                <a:ea typeface="Aptos"/>
                <a:cs typeface="Aptos"/>
              </a:defRPr>
            </a:pPr>
            <a:r>
              <a:rPr sz="1650" b="1" i="0">
                <a:solidFill>
                  <a:srgbClr val="BFAFCB"/>
                </a:solidFill>
                <a:latin typeface="Aptos"/>
                <a:ea typeface="Aptos"/>
                <a:cs typeface="Aptos"/>
              </a:rPr>
              <a:t>Which time?</a:t>
            </a:r>
          </a:p>
        </p:txBody>
      </p:sp>
      <p:sp>
        <p:nvSpPr>
          <p:cNvPr id="10" name="">
            <a:extLst xmlns:a="http://schemas.openxmlformats.org/drawingml/2006/main">
              <a:ext uri="{FF2B5EF4-FFF2-40B4-BE49-F238E27FC236}">
                <a16:creationId xmlns:a16="http://schemas.microsoft.com/office/drawing/2014/main" id="{5A2460A2-7FF7-4B14-A68E-060B14C7E3B6}"/>
              </a:ext>
            </a:extLst>
          </p:cNvPr>
          <p:cNvSpPr>
            <a:spLocks xmlns:a="http://schemas.openxmlformats.org/drawingml/2006/main" noGrp="1"/>
          </p:cNvSpPr>
          <p:nvPr/>
        </p:nvSpPr>
        <p:spPr>
          <a:xfrm xmlns:a="http://schemas.openxmlformats.org/drawingml/2006/main">
            <a:off x="3714750" y="249555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950" b="1" i="0">
                <a:solidFill>
                  <a:srgbClr val="C9B6FF"/>
                </a:solidFill>
                <a:latin typeface="Courier New"/>
                <a:ea typeface="Courier New"/>
                <a:cs typeface="Courier New"/>
              </a:defRPr>
            </a:pPr>
            <a:r>
              <a:rPr sz="1950" b="1" i="0">
                <a:solidFill>
                  <a:srgbClr val="C9B6FF"/>
                </a:solidFill>
                <a:latin typeface="Courier New"/>
                <a:ea typeface="Courier New"/>
                <a:cs typeface="Courier New"/>
              </a:rPr>
              <a:t>--since "-10 min"</a:t>
            </a:r>
          </a:p>
        </p:txBody>
      </p:sp>
      <p:sp>
        <p:nvSpPr>
          <p:cNvPr id="11" name="">
            <a:extLst xmlns:a="http://schemas.openxmlformats.org/drawingml/2006/main">
              <a:ext uri="{FF2B5EF4-FFF2-40B4-BE49-F238E27FC236}">
                <a16:creationId xmlns:a16="http://schemas.microsoft.com/office/drawing/2014/main" id="{4B87832B-73F7-4322-94CC-B6A2F801BC6A}"/>
              </a:ext>
            </a:extLst>
          </p:cNvPr>
          <p:cNvSpPr>
            <a:spLocks xmlns:a="http://schemas.openxmlformats.org/drawingml/2006/main" noGrp="1"/>
          </p:cNvSpPr>
          <p:nvPr/>
        </p:nvSpPr>
        <p:spPr>
          <a:xfrm xmlns:a="http://schemas.openxmlformats.org/drawingml/2006/main">
            <a:off x="857250" y="2971800"/>
            <a:ext cx="9715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AA103CD-2112-414D-A88D-1F486E432F1A}"/>
              </a:ext>
            </a:extLst>
          </p:cNvPr>
          <p:cNvSpPr>
            <a:spLocks xmlns:a="http://schemas.openxmlformats.org/drawingml/2006/main" noGrp="1"/>
          </p:cNvSpPr>
          <p:nvPr/>
        </p:nvSpPr>
        <p:spPr>
          <a:xfrm xmlns:a="http://schemas.openxmlformats.org/drawingml/2006/main">
            <a:off x="857250" y="323850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1" i="0">
                <a:solidFill>
                  <a:srgbClr val="BFAFCB"/>
                </a:solidFill>
                <a:latin typeface="Aptos"/>
                <a:ea typeface="Aptos"/>
                <a:cs typeface="Aptos"/>
              </a:defRPr>
            </a:pPr>
            <a:r>
              <a:rPr sz="1650" b="1" i="0">
                <a:solidFill>
                  <a:srgbClr val="BFAFCB"/>
                </a:solidFill>
                <a:latin typeface="Aptos"/>
                <a:ea typeface="Aptos"/>
                <a:cs typeface="Aptos"/>
              </a:rPr>
              <a:t>Which severity?</a:t>
            </a:r>
          </a:p>
        </p:txBody>
      </p:sp>
      <p:sp>
        <p:nvSpPr>
          <p:cNvPr id="13" name="">
            <a:extLst xmlns:a="http://schemas.openxmlformats.org/drawingml/2006/main">
              <a:ext uri="{FF2B5EF4-FFF2-40B4-BE49-F238E27FC236}">
                <a16:creationId xmlns:a16="http://schemas.microsoft.com/office/drawing/2014/main" id="{D4A417F6-F4BF-4CAD-809D-639B1C7F98B2}"/>
              </a:ext>
            </a:extLst>
          </p:cNvPr>
          <p:cNvSpPr>
            <a:spLocks xmlns:a="http://schemas.openxmlformats.org/drawingml/2006/main" noGrp="1"/>
          </p:cNvSpPr>
          <p:nvPr/>
        </p:nvSpPr>
        <p:spPr>
          <a:xfrm xmlns:a="http://schemas.openxmlformats.org/drawingml/2006/main">
            <a:off x="3714750" y="32385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950" b="1" i="0">
                <a:solidFill>
                  <a:srgbClr val="C9B6FF"/>
                </a:solidFill>
                <a:latin typeface="Courier New"/>
                <a:ea typeface="Courier New"/>
                <a:cs typeface="Courier New"/>
              </a:defRPr>
            </a:pPr>
            <a:r>
              <a:rPr sz="1950" b="1" i="0">
                <a:solidFill>
                  <a:srgbClr val="C9B6FF"/>
                </a:solidFill>
                <a:latin typeface="Courier New"/>
                <a:ea typeface="Courier New"/>
                <a:cs typeface="Courier New"/>
              </a:rPr>
              <a:t>-p warning</a:t>
            </a:r>
          </a:p>
        </p:txBody>
      </p:sp>
      <p:sp>
        <p:nvSpPr>
          <p:cNvPr id="14" name="">
            <a:extLst xmlns:a="http://schemas.openxmlformats.org/drawingml/2006/main">
              <a:ext uri="{FF2B5EF4-FFF2-40B4-BE49-F238E27FC236}">
                <a16:creationId xmlns:a16="http://schemas.microsoft.com/office/drawing/2014/main" id="{E0EEB404-CFF0-451B-A4D6-54AEC600A809}"/>
              </a:ext>
            </a:extLst>
          </p:cNvPr>
          <p:cNvSpPr>
            <a:spLocks xmlns:a="http://schemas.openxmlformats.org/drawingml/2006/main" noGrp="1"/>
          </p:cNvSpPr>
          <p:nvPr/>
        </p:nvSpPr>
        <p:spPr>
          <a:xfrm xmlns:a="http://schemas.openxmlformats.org/drawingml/2006/main">
            <a:off x="857250" y="3714750"/>
            <a:ext cx="9715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765D20DD-B3E6-4489-8FF5-87AD80B2C29F}"/>
              </a:ext>
            </a:extLst>
          </p:cNvPr>
          <p:cNvSpPr>
            <a:spLocks xmlns:a="http://schemas.openxmlformats.org/drawingml/2006/main" noGrp="1"/>
          </p:cNvSpPr>
          <p:nvPr/>
        </p:nvSpPr>
        <p:spPr>
          <a:xfrm xmlns:a="http://schemas.openxmlformats.org/drawingml/2006/main">
            <a:off x="857250" y="3981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1" i="0">
                <a:solidFill>
                  <a:srgbClr val="BFAFCB"/>
                </a:solidFill>
                <a:latin typeface="Aptos"/>
                <a:ea typeface="Aptos"/>
                <a:cs typeface="Aptos"/>
              </a:defRPr>
            </a:pPr>
            <a:r>
              <a:rPr sz="1650" b="1" i="0">
                <a:solidFill>
                  <a:srgbClr val="BFAFCB"/>
                </a:solidFill>
                <a:latin typeface="Aptos"/>
                <a:ea typeface="Aptos"/>
                <a:cs typeface="Aptos"/>
              </a:rPr>
              <a:t>How much?</a:t>
            </a:r>
          </a:p>
        </p:txBody>
      </p:sp>
      <p:sp>
        <p:nvSpPr>
          <p:cNvPr id="16" name="">
            <a:extLst xmlns:a="http://schemas.openxmlformats.org/drawingml/2006/main">
              <a:ext uri="{FF2B5EF4-FFF2-40B4-BE49-F238E27FC236}">
                <a16:creationId xmlns:a16="http://schemas.microsoft.com/office/drawing/2014/main" id="{937BE1CE-8DFD-4F65-8018-327541773F93}"/>
              </a:ext>
            </a:extLst>
          </p:cNvPr>
          <p:cNvSpPr>
            <a:spLocks xmlns:a="http://schemas.openxmlformats.org/drawingml/2006/main" noGrp="1"/>
          </p:cNvSpPr>
          <p:nvPr/>
        </p:nvSpPr>
        <p:spPr>
          <a:xfrm xmlns:a="http://schemas.openxmlformats.org/drawingml/2006/main">
            <a:off x="3714750" y="398145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950" b="1" i="0">
                <a:solidFill>
                  <a:srgbClr val="C9B6FF"/>
                </a:solidFill>
                <a:latin typeface="Courier New"/>
                <a:ea typeface="Courier New"/>
                <a:cs typeface="Courier New"/>
              </a:defRPr>
            </a:pPr>
            <a:r>
              <a:rPr sz="1950" b="1" i="0">
                <a:solidFill>
                  <a:srgbClr val="C9B6FF"/>
                </a:solidFill>
                <a:latin typeface="Courier New"/>
                <a:ea typeface="Courier New"/>
                <a:cs typeface="Courier New"/>
              </a:rPr>
              <a:t>-n 50 --no-pager</a:t>
            </a:r>
          </a:p>
        </p:txBody>
      </p:sp>
      <p:sp>
        <p:nvSpPr>
          <p:cNvPr id="17" name="">
            <a:extLst xmlns:a="http://schemas.openxmlformats.org/drawingml/2006/main">
              <a:ext uri="{FF2B5EF4-FFF2-40B4-BE49-F238E27FC236}">
                <a16:creationId xmlns:a16="http://schemas.microsoft.com/office/drawing/2014/main" id="{847A4EA3-A79E-4803-9454-FEE092EF295C}"/>
              </a:ext>
            </a:extLst>
          </p:cNvPr>
          <p:cNvSpPr>
            <a:spLocks xmlns:a="http://schemas.openxmlformats.org/drawingml/2006/main" noGrp="1"/>
          </p:cNvSpPr>
          <p:nvPr/>
        </p:nvSpPr>
        <p:spPr>
          <a:xfrm xmlns:a="http://schemas.openxmlformats.org/drawingml/2006/main">
            <a:off x="857250" y="4457700"/>
            <a:ext cx="9715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A2CFBF5-1C03-4F83-95E8-8A565DF4721C}"/>
              </a:ext>
            </a:extLst>
          </p:cNvPr>
          <p:cNvSpPr>
            <a:spLocks xmlns:a="http://schemas.openxmlformats.org/drawingml/2006/main" noGrp="1"/>
          </p:cNvSpPr>
          <p:nvPr/>
        </p:nvSpPr>
        <p:spPr>
          <a:xfrm xmlns:a="http://schemas.openxmlformats.org/drawingml/2006/main">
            <a:off x="857250" y="472440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1" i="0">
                <a:solidFill>
                  <a:srgbClr val="BFAFCB"/>
                </a:solidFill>
                <a:latin typeface="Aptos"/>
                <a:ea typeface="Aptos"/>
                <a:cs typeface="Aptos"/>
              </a:defRPr>
            </a:pPr>
            <a:r>
              <a:rPr sz="1650" b="1" i="0">
                <a:solidFill>
                  <a:srgbClr val="BFAFCB"/>
                </a:solidFill>
                <a:latin typeface="Aptos"/>
                <a:ea typeface="Aptos"/>
                <a:cs typeface="Aptos"/>
              </a:rPr>
              <a:t>Live?</a:t>
            </a:r>
          </a:p>
        </p:txBody>
      </p:sp>
      <p:sp>
        <p:nvSpPr>
          <p:cNvPr id="19" name="">
            <a:extLst xmlns:a="http://schemas.openxmlformats.org/drawingml/2006/main">
              <a:ext uri="{FF2B5EF4-FFF2-40B4-BE49-F238E27FC236}">
                <a16:creationId xmlns:a16="http://schemas.microsoft.com/office/drawing/2014/main" id="{FE4D2FCB-305A-49CE-8BAF-B6C7EF023E0F}"/>
              </a:ext>
            </a:extLst>
          </p:cNvPr>
          <p:cNvSpPr>
            <a:spLocks xmlns:a="http://schemas.openxmlformats.org/drawingml/2006/main" noGrp="1"/>
          </p:cNvSpPr>
          <p:nvPr/>
        </p:nvSpPr>
        <p:spPr>
          <a:xfrm xmlns:a="http://schemas.openxmlformats.org/drawingml/2006/main">
            <a:off x="3714750" y="47244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950" b="1" i="0">
                <a:solidFill>
                  <a:srgbClr val="C9B6FF"/>
                </a:solidFill>
                <a:latin typeface="Courier New"/>
                <a:ea typeface="Courier New"/>
                <a:cs typeface="Courier New"/>
              </a:defRPr>
            </a:pPr>
            <a:r>
              <a:rPr sz="1950" b="1" i="0">
                <a:solidFill>
                  <a:srgbClr val="C9B6FF"/>
                </a:solidFill>
                <a:latin typeface="Courier New"/>
                <a:ea typeface="Courier New"/>
                <a:cs typeface="Courier New"/>
              </a:rPr>
              <a:t>-f</a:t>
            </a:r>
          </a:p>
        </p:txBody>
      </p:sp>
      <p:sp>
        <p:nvSpPr>
          <p:cNvPr id="20" name="">
            <a:extLst xmlns:a="http://schemas.openxmlformats.org/drawingml/2006/main">
              <a:ext uri="{FF2B5EF4-FFF2-40B4-BE49-F238E27FC236}">
                <a16:creationId xmlns:a16="http://schemas.microsoft.com/office/drawing/2014/main" id="{0449BAA3-446A-44E3-88D9-C09EDD50D631}"/>
              </a:ext>
            </a:extLst>
          </p:cNvPr>
          <p:cNvSpPr>
            <a:spLocks xmlns:a="http://schemas.openxmlformats.org/drawingml/2006/main" noGrp="1"/>
          </p:cNvSpPr>
          <p:nvPr/>
        </p:nvSpPr>
        <p:spPr>
          <a:xfrm xmlns:a="http://schemas.openxmlformats.org/drawingml/2006/main">
            <a:off x="857250" y="5200650"/>
            <a:ext cx="9715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Tree>
    <p:extLst>
      <p:ext uri="{BB962C8B-B14F-4D97-AF65-F5344CB8AC3E}">
        <p14:creationId xmlns:p14="http://schemas.microsoft.com/office/powerpoint/2010/main" val="190799599"/>
      </p:ext>
    </p:extLst>
  </p:cSld>
</p:sld>
</file>

<file path=ppt/slides/slide7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LOGS</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537"/>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journalctl can narrow by unit, boot, time, and priority</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78</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Unit</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-u ssh.service</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Current boot</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-b</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Previous boot</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-b -1</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Time</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--since '-10 minutes'</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Priority</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-p warning</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Stable output</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-n 50 --no-pager -o short-iso</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79.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LOGS</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37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Filter narrowly, then widen one dimension at a time</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79</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Bound</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Read</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Widen</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Choose one unit</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Select one boot</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Set the time window</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Name the incident</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Follow timestamps</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Find the first cause</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Capture exit reason</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Note dependencies</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Extend time</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Add priorities</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Inspect related units</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Inspect the process</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Do not begin with all logs and search by intuition.</a:t>
            </a:r>
          </a:p>
        </p:txBody>
      </p:sp>
    </p:spTree>
    <p:extLst>
      <p:ext uri="{BB962C8B-B14F-4D97-AF65-F5344CB8AC3E}">
        <p14:creationId xmlns:p14="http://schemas.microsoft.com/office/powerpoint/2010/main" val="281690250"/>
      </p:ext>
    </p:extLst>
  </p:cSld>
</p:sld>
</file>

<file path=ppt/slides/slide80.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95E451A-A361-49E3-9DEB-D569AC6F6486}"/>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7 / JOURNAL</a:t>
            </a:r>
          </a:p>
        </p:txBody>
      </p:sp>
      <p:sp>
        <p:nvSpPr>
          <p:cNvPr id="2" name="">
            <a:extLst xmlns:a="http://schemas.openxmlformats.org/drawingml/2006/main">
              <a:ext uri="{FF2B5EF4-FFF2-40B4-BE49-F238E27FC236}">
                <a16:creationId xmlns:a16="http://schemas.microsoft.com/office/drawing/2014/main" id="{4FBF596B-6E7E-455E-84BA-F4A643FCC0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147"/>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Live demo: separate STALE_CACHE from failed state</a:t>
            </a:r>
          </a:p>
        </p:txBody>
      </p:sp>
      <p:sp>
        <p:nvSpPr>
          <p:cNvPr id="3" name="">
            <a:extLst xmlns:a="http://schemas.openxmlformats.org/drawingml/2006/main">
              <a:ext uri="{FF2B5EF4-FFF2-40B4-BE49-F238E27FC236}">
                <a16:creationId xmlns:a16="http://schemas.microsoft.com/office/drawing/2014/main" id="{473BCCE3-F442-4F23-BD63-64849657CBE4}"/>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EEAD1FF-97F6-4791-A89A-7B45733BA3C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5052089F-C58C-4904-A98F-1987A7FD8C3F}"/>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80</a:t>
            </a:r>
          </a:p>
        </p:txBody>
      </p:sp>
      <p:sp>
        <p:nvSpPr>
          <p:cNvPr id="6" name="">
            <a:extLst xmlns:a="http://schemas.openxmlformats.org/drawingml/2006/main">
              <a:ext uri="{FF2B5EF4-FFF2-40B4-BE49-F238E27FC236}">
                <a16:creationId xmlns:a16="http://schemas.microsoft.com/office/drawing/2014/main" id="{03D4919D-3C6B-4B56-96B2-D1EE9FA8F034}"/>
              </a:ext>
            </a:extLst>
          </p:cNvPr>
          <p:cNvSpPr>
            <a:spLocks xmlns:a="http://schemas.openxmlformats.org/drawingml/2006/main" noGrp="1"/>
          </p:cNvSpPr>
          <p:nvPr/>
        </p:nvSpPr>
        <p:spPr>
          <a:xfrm xmlns:a="http://schemas.openxmlformats.org/drawingml/2006/main">
            <a:off x="876300" y="1752600"/>
            <a:ext cx="10439400" cy="3295650"/>
          </a:xfrm>
          <a:prstGeom xmlns:a="http://schemas.openxmlformats.org/drawingml/2006/main" prst="roundRect">
            <a:avLst>
              <a:gd name="adj" fmla="val 4624"/>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73F98162-D602-4D41-9DB4-3B5135B31560}"/>
              </a:ext>
            </a:extLst>
          </p:cNvPr>
          <p:cNvSpPr>
            <a:spLocks xmlns:a="http://schemas.openxmlformats.org/drawingml/2006/main" noGrp="1"/>
          </p:cNvSpPr>
          <p:nvPr/>
        </p:nvSpPr>
        <p:spPr>
          <a:xfrm xmlns:a="http://schemas.openxmlformats.org/drawingml/2006/main">
            <a:off x="876300" y="1752600"/>
            <a:ext cx="104394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DFEB084-8873-4E6D-B64A-B2C241C106D5}"/>
              </a:ext>
            </a:extLst>
          </p:cNvPr>
          <p:cNvSpPr>
            <a:spLocks xmlns:a="http://schemas.openxmlformats.org/drawingml/2006/main" noGrp="1"/>
          </p:cNvSpPr>
          <p:nvPr/>
        </p:nvSpPr>
        <p:spPr>
          <a:xfrm xmlns:a="http://schemas.openxmlformats.org/drawingml/2006/main">
            <a:off x="876300" y="2019300"/>
            <a:ext cx="104394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1BFF759-1810-40E8-AABE-2CA8460A8B7A}"/>
              </a:ext>
            </a:extLst>
          </p:cNvPr>
          <p:cNvSpPr>
            <a:spLocks xmlns:a="http://schemas.openxmlformats.org/drawingml/2006/main" noGrp="1"/>
          </p:cNvSpPr>
          <p:nvPr/>
        </p:nvSpPr>
        <p:spPr>
          <a:xfrm xmlns:a="http://schemas.openxmlformats.org/drawingml/2006/main">
            <a:off x="1047750" y="19050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33C6EBC-4E0D-4B03-8318-D7180DABE34F}"/>
              </a:ext>
            </a:extLst>
          </p:cNvPr>
          <p:cNvSpPr>
            <a:spLocks xmlns:a="http://schemas.openxmlformats.org/drawingml/2006/main" noGrp="1"/>
          </p:cNvSpPr>
          <p:nvPr/>
        </p:nvSpPr>
        <p:spPr>
          <a:xfrm xmlns:a="http://schemas.openxmlformats.org/drawingml/2006/main">
            <a:off x="1219200" y="19050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A08CABC-E112-41D2-BFF1-CE78E76631F1}"/>
              </a:ext>
            </a:extLst>
          </p:cNvPr>
          <p:cNvSpPr>
            <a:spLocks xmlns:a="http://schemas.openxmlformats.org/drawingml/2006/main" noGrp="1"/>
          </p:cNvSpPr>
          <p:nvPr/>
        </p:nvSpPr>
        <p:spPr>
          <a:xfrm xmlns:a="http://schemas.openxmlformats.org/drawingml/2006/main">
            <a:off x="1390650" y="19050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E3D8EF2-4881-4FBF-8B3F-400AA3AFF4AD}"/>
              </a:ext>
            </a:extLst>
          </p:cNvPr>
          <p:cNvSpPr>
            <a:spLocks xmlns:a="http://schemas.openxmlformats.org/drawingml/2006/main" noGrp="1"/>
          </p:cNvSpPr>
          <p:nvPr/>
        </p:nvSpPr>
        <p:spPr>
          <a:xfrm xmlns:a="http://schemas.openxmlformats.org/drawingml/2006/main">
            <a:off x="1657350" y="1866900"/>
            <a:ext cx="9486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UNIT → BOOT → CAUSAL EVENT → RESULT</a:t>
            </a:r>
          </a:p>
        </p:txBody>
      </p:sp>
      <p:sp>
        <p:nvSpPr>
          <p:cNvPr id="13" name="">
            <a:extLst xmlns:a="http://schemas.openxmlformats.org/drawingml/2006/main">
              <a:ext uri="{FF2B5EF4-FFF2-40B4-BE49-F238E27FC236}">
                <a16:creationId xmlns:a16="http://schemas.microsoft.com/office/drawing/2014/main" id="{5A4E6BBE-8FA1-4430-A56C-AA7F592937E7}"/>
              </a:ext>
            </a:extLst>
          </p:cNvPr>
          <p:cNvSpPr>
            <a:spLocks xmlns:a="http://schemas.openxmlformats.org/drawingml/2006/main" noGrp="1"/>
          </p:cNvSpPr>
          <p:nvPr/>
        </p:nvSpPr>
        <p:spPr>
          <a:xfrm xmlns:a="http://schemas.openxmlformats.org/drawingml/2006/main">
            <a:off x="1104900" y="2324100"/>
            <a:ext cx="99822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systemctl show course-demo-noisy.service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-p ActiveState -p Result -p ExecMainStatus</a:t>
            </a:r>
          </a:p>
          <a:p xmlns:a="http://schemas.openxmlformats.org/drawingml/2006/main">
            <a:pPr>
              <a:defRPr sz="1500">
                <a:solidFill>
                  <a:srgbClr val="FFF8EE"/>
                </a:solidFill>
              </a:defRPr>
            </a:pPr>
            <a:r>
              <a:rPr sz="1500">
                <a:solidFill>
                  <a:srgbClr val="FFF8EE"/>
                </a:solidFill>
              </a:rPr>
              <a:t>journalctl -u course-demo-noisy.service -b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-o short-iso --no-pager</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journalctl -u course-demo-noisy.service -b --no-pager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 grep -E 'incident=|code=exited'</a:t>
            </a:r>
          </a:p>
        </p:txBody>
      </p:sp>
      <p:sp>
        <p:nvSpPr>
          <p:cNvPr id="14" name="">
            <a:extLst xmlns:a="http://schemas.openxmlformats.org/drawingml/2006/main">
              <a:ext uri="{FF2B5EF4-FFF2-40B4-BE49-F238E27FC236}">
                <a16:creationId xmlns:a16="http://schemas.microsoft.com/office/drawing/2014/main" id="{E4DE4CEC-2102-4E2B-80AF-4023CE7A4E40}"/>
              </a:ext>
            </a:extLst>
          </p:cNvPr>
          <p:cNvSpPr>
            <a:spLocks xmlns:a="http://schemas.openxmlformats.org/drawingml/2006/main" noGrp="1"/>
          </p:cNvSpPr>
          <p:nvPr/>
        </p:nvSpPr>
        <p:spPr>
          <a:xfrm xmlns:a="http://schemas.openxmlformats.org/drawingml/2006/main">
            <a:off x="876300" y="5429250"/>
            <a:ext cx="10439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025" b="1" i="0">
                <a:solidFill>
                  <a:srgbClr val="70D6A6"/>
                </a:solidFill>
                <a:latin typeface="Aptos"/>
                <a:ea typeface="Aptos"/>
                <a:cs typeface="Aptos"/>
              </a:defRPr>
            </a:pPr>
            <a:r>
              <a:rPr sz="2025" b="1" i="0">
                <a:solidFill>
                  <a:srgbClr val="70D6A6"/>
                </a:solidFill>
                <a:latin typeface="Aptos"/>
                <a:ea typeface="Aptos"/>
                <a:cs typeface="Aptos"/>
              </a:rPr>
              <a:t>The application event carrying exit code 17 precedes systemd's consequence.</a:t>
            </a:r>
          </a:p>
        </p:txBody>
      </p:sp>
    </p:spTree>
    <p:extLst>
      <p:ext uri="{BB962C8B-B14F-4D97-AF65-F5344CB8AC3E}">
        <p14:creationId xmlns:p14="http://schemas.microsoft.com/office/powerpoint/2010/main" val="1230538595"/>
      </p:ext>
    </p:extLst>
  </p:cSld>
</p:sld>
</file>

<file path=ppt/slides/slide81.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D9833BD3-0672-4779-9EB3-8E71DC050B3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HANDS-ON / LAB 7</a:t>
            </a:r>
          </a:p>
        </p:txBody>
      </p:sp>
      <p:sp>
        <p:nvSpPr>
          <p:cNvPr id="2" name="">
            <a:extLst xmlns:a="http://schemas.openxmlformats.org/drawingml/2006/main">
              <a:ext uri="{FF2B5EF4-FFF2-40B4-BE49-F238E27FC236}">
                <a16:creationId xmlns:a16="http://schemas.microsoft.com/office/drawing/2014/main" id="{D247334C-6068-4782-81A5-2555B3D14565}"/>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Lab 7 — Find the causal event in the journal</a:t>
            </a:r>
          </a:p>
        </p:txBody>
      </p:sp>
      <p:sp>
        <p:nvSpPr>
          <p:cNvPr id="3" name="">
            <a:extLst xmlns:a="http://schemas.openxmlformats.org/drawingml/2006/main">
              <a:ext uri="{FF2B5EF4-FFF2-40B4-BE49-F238E27FC236}">
                <a16:creationId xmlns:a16="http://schemas.microsoft.com/office/drawing/2014/main" id="{5B7E1CFF-45E6-46A2-AC95-345A45864F6C}"/>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48BD663-E972-4A30-92C1-C04C99DD27E6}"/>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C00D4498-7AEF-4978-A0D4-A384B6DF2296}"/>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81</a:t>
            </a:r>
          </a:p>
        </p:txBody>
      </p:sp>
      <p:sp>
        <p:nvSpPr>
          <p:cNvPr id="6" name="">
            <a:extLst xmlns:a="http://schemas.openxmlformats.org/drawingml/2006/main">
              <a:ext uri="{FF2B5EF4-FFF2-40B4-BE49-F238E27FC236}">
                <a16:creationId xmlns:a16="http://schemas.microsoft.com/office/drawing/2014/main" id="{324D7AA5-1B7A-46F0-B60D-AFDF7AA06C69}"/>
              </a:ext>
            </a:extLst>
          </p:cNvPr>
          <p:cNvSpPr>
            <a:spLocks xmlns:a="http://schemas.openxmlformats.org/drawingml/2006/main" noGrp="1"/>
          </p:cNvSpPr>
          <p:nvPr/>
        </p:nvSpPr>
        <p:spPr>
          <a:xfrm xmlns:a="http://schemas.openxmlformats.org/drawingml/2006/main">
            <a:off x="800100" y="17907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MISSION · 20 MIN</a:t>
            </a:r>
          </a:p>
        </p:txBody>
      </p:sp>
      <p:sp>
        <p:nvSpPr>
          <p:cNvPr id="7" name="">
            <a:extLst xmlns:a="http://schemas.openxmlformats.org/drawingml/2006/main">
              <a:ext uri="{FF2B5EF4-FFF2-40B4-BE49-F238E27FC236}">
                <a16:creationId xmlns:a16="http://schemas.microsoft.com/office/drawing/2014/main" id="{F9415872-9C11-409D-903F-82DFBD71123F}"/>
              </a:ext>
            </a:extLst>
          </p:cNvPr>
          <p:cNvSpPr>
            <a:spLocks xmlns:a="http://schemas.openxmlformats.org/drawingml/2006/main" noGrp="1"/>
          </p:cNvSpPr>
          <p:nvPr/>
        </p:nvSpPr>
        <p:spPr>
          <a:xfrm xmlns:a="http://schemas.openxmlformats.org/drawingml/2006/main">
            <a:off x="800100" y="2228850"/>
            <a:ext cx="4095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Journal investigation</a:t>
            </a:r>
          </a:p>
        </p:txBody>
      </p:sp>
      <p:sp>
        <p:nvSpPr>
          <p:cNvPr id="8" name="">
            <a:extLst xmlns:a="http://schemas.openxmlformats.org/drawingml/2006/main">
              <a:ext uri="{FF2B5EF4-FFF2-40B4-BE49-F238E27FC236}">
                <a16:creationId xmlns:a16="http://schemas.microsoft.com/office/drawing/2014/main" id="{AF5C6E71-8DD4-4FC1-BEE6-6BBC5B9C2F42}"/>
              </a:ext>
            </a:extLst>
          </p:cNvPr>
          <p:cNvSpPr>
            <a:spLocks xmlns:a="http://schemas.openxmlformats.org/drawingml/2006/main" noGrp="1"/>
          </p:cNvSpPr>
          <p:nvPr/>
        </p:nvSpPr>
        <p:spPr>
          <a:xfrm xmlns:a="http://schemas.openxmlformats.org/drawingml/2006/main">
            <a:off x="800100" y="3009900"/>
            <a:ext cx="4953000" cy="2190750"/>
          </a:xfrm>
          <a:prstGeom xmlns:a="http://schemas.openxmlformats.org/drawingml/2006/main" prst="roundRect">
            <a:avLst>
              <a:gd name="adj" fmla="val 6957"/>
            </a:avLst>
          </a:prstGeom>
          <a:solidFill xmlns:a="http://schemas.openxmlformats.org/drawingml/2006/main">
            <a:srgbClr val="28183A"/>
          </a:solidFill>
          <a:ln xmlns:a="http://schemas.openxmlformats.org/drawingml/2006/main" w="9525">
            <a:solidFill>
              <a:srgbClr val="4A335D"/>
            </a:solidFill>
            <a:prstDash val="solid"/>
          </a:ln>
        </p:spPr>
      </p:sp>
      <p:sp>
        <p:nvSpPr>
          <p:cNvPr id="9" name="">
            <a:extLst xmlns:a="http://schemas.openxmlformats.org/drawingml/2006/main">
              <a:ext uri="{FF2B5EF4-FFF2-40B4-BE49-F238E27FC236}">
                <a16:creationId xmlns:a16="http://schemas.microsoft.com/office/drawing/2014/main" id="{80367D35-5EDB-429E-922C-C046DC415680}"/>
              </a:ext>
            </a:extLst>
          </p:cNvPr>
          <p:cNvSpPr>
            <a:spLocks xmlns:a="http://schemas.openxmlformats.org/drawingml/2006/main" noGrp="1"/>
          </p:cNvSpPr>
          <p:nvPr/>
        </p:nvSpPr>
        <p:spPr>
          <a:xfrm xmlns:a="http://schemas.openxmlformats.org/drawingml/2006/main">
            <a:off x="800100" y="3009900"/>
            <a:ext cx="4953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CE8F602-67C2-43C8-AF34-A023C509094B}"/>
              </a:ext>
            </a:extLst>
          </p:cNvPr>
          <p:cNvSpPr>
            <a:spLocks xmlns:a="http://schemas.openxmlformats.org/drawingml/2006/main" noGrp="1"/>
          </p:cNvSpPr>
          <p:nvPr/>
        </p:nvSpPr>
        <p:spPr>
          <a:xfrm xmlns:a="http://schemas.openxmlformats.org/drawingml/2006/main">
            <a:off x="800100" y="3276600"/>
            <a:ext cx="4953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F7E26F0-5CC2-4A12-BDCC-1A06D14D095C}"/>
              </a:ext>
            </a:extLst>
          </p:cNvPr>
          <p:cNvSpPr>
            <a:spLocks xmlns:a="http://schemas.openxmlformats.org/drawingml/2006/main" noGrp="1"/>
          </p:cNvSpPr>
          <p:nvPr/>
        </p:nvSpPr>
        <p:spPr>
          <a:xfrm xmlns:a="http://schemas.openxmlformats.org/drawingml/2006/main">
            <a:off x="971550" y="31623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826F062-9D6E-4828-9B6B-EA58B274D004}"/>
              </a:ext>
            </a:extLst>
          </p:cNvPr>
          <p:cNvSpPr>
            <a:spLocks xmlns:a="http://schemas.openxmlformats.org/drawingml/2006/main" noGrp="1"/>
          </p:cNvSpPr>
          <p:nvPr/>
        </p:nvSpPr>
        <p:spPr>
          <a:xfrm xmlns:a="http://schemas.openxmlformats.org/drawingml/2006/main">
            <a:off x="1143000" y="31623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D6A8CEC-C44D-4259-82B1-364089D5F457}"/>
              </a:ext>
            </a:extLst>
          </p:cNvPr>
          <p:cNvSpPr>
            <a:spLocks xmlns:a="http://schemas.openxmlformats.org/drawingml/2006/main" noGrp="1"/>
          </p:cNvSpPr>
          <p:nvPr/>
        </p:nvSpPr>
        <p:spPr>
          <a:xfrm xmlns:a="http://schemas.openxmlformats.org/drawingml/2006/main">
            <a:off x="1314450" y="31623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48FAD2D-474C-4D7E-8D6B-08B0CD42FA19}"/>
              </a:ext>
            </a:extLst>
          </p:cNvPr>
          <p:cNvSpPr>
            <a:spLocks xmlns:a="http://schemas.openxmlformats.org/drawingml/2006/main" noGrp="1"/>
          </p:cNvSpPr>
          <p:nvPr/>
        </p:nvSpPr>
        <p:spPr>
          <a:xfrm xmlns:a="http://schemas.openxmlformats.org/drawingml/2006/main">
            <a:off x="1581150" y="31242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DELIVERABLES</a:t>
            </a:r>
          </a:p>
        </p:txBody>
      </p:sp>
      <p:sp>
        <p:nvSpPr>
          <p:cNvPr id="15" name="">
            <a:extLst xmlns:a="http://schemas.openxmlformats.org/drawingml/2006/main">
              <a:ext uri="{FF2B5EF4-FFF2-40B4-BE49-F238E27FC236}">
                <a16:creationId xmlns:a16="http://schemas.microsoft.com/office/drawing/2014/main" id="{AC61AC9D-DEB2-4D1D-9A32-C13A6D89E8B9}"/>
              </a:ext>
            </a:extLst>
          </p:cNvPr>
          <p:cNvSpPr>
            <a:spLocks xmlns:a="http://schemas.openxmlformats.org/drawingml/2006/main" noGrp="1"/>
          </p:cNvSpPr>
          <p:nvPr/>
        </p:nvSpPr>
        <p:spPr>
          <a:xfrm xmlns:a="http://schemas.openxmlformats.org/drawingml/2006/main">
            <a:off x="1028700" y="3581400"/>
            <a:ext cx="44958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Preserve unit-scoped journal evidence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Record state, result, incident, and code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Explain cause versus consequence</a:t>
            </a:r>
          </a:p>
        </p:txBody>
      </p:sp>
      <p:sp>
        <p:nvSpPr>
          <p:cNvPr id="16" name="">
            <a:extLst xmlns:a="http://schemas.openxmlformats.org/drawingml/2006/main">
              <a:ext uri="{FF2B5EF4-FFF2-40B4-BE49-F238E27FC236}">
                <a16:creationId xmlns:a16="http://schemas.microsoft.com/office/drawing/2014/main" id="{18FA52CE-1464-4ABC-8C2B-0417FBBC0443}"/>
              </a:ext>
            </a:extLst>
          </p:cNvPr>
          <p:cNvSpPr>
            <a:spLocks xmlns:a="http://schemas.openxmlformats.org/drawingml/2006/main" noGrp="1"/>
          </p:cNvSpPr>
          <p:nvPr/>
        </p:nvSpPr>
        <p:spPr>
          <a:xfrm xmlns:a="http://schemas.openxmlformats.org/drawingml/2006/main">
            <a:off x="6667500" y="17907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ACCEPTANCE EVIDENCE</a:t>
            </a:r>
          </a:p>
        </p:txBody>
      </p:sp>
      <p:sp>
        <p:nvSpPr>
          <p:cNvPr id="17" name="">
            <a:extLst xmlns:a="http://schemas.openxmlformats.org/drawingml/2006/main">
              <a:ext uri="{FF2B5EF4-FFF2-40B4-BE49-F238E27FC236}">
                <a16:creationId xmlns:a16="http://schemas.microsoft.com/office/drawing/2014/main" id="{3A11BCE1-4A2A-4883-A988-CD70CAA4FCAD}"/>
              </a:ext>
            </a:extLst>
          </p:cNvPr>
          <p:cNvSpPr>
            <a:spLocks xmlns:a="http://schemas.openxmlformats.org/drawingml/2006/main" noGrp="1"/>
          </p:cNvSpPr>
          <p:nvPr/>
        </p:nvSpPr>
        <p:spPr>
          <a:xfrm xmlns:a="http://schemas.openxmlformats.org/drawingml/2006/main">
            <a:off x="6667500" y="2228850"/>
            <a:ext cx="428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Checker requires</a:t>
            </a:r>
          </a:p>
        </p:txBody>
      </p:sp>
      <p:sp>
        <p:nvSpPr>
          <p:cNvPr id="18" name="">
            <a:extLst xmlns:a="http://schemas.openxmlformats.org/drawingml/2006/main">
              <a:ext uri="{FF2B5EF4-FFF2-40B4-BE49-F238E27FC236}">
                <a16:creationId xmlns:a16="http://schemas.microsoft.com/office/drawing/2014/main" id="{27F87451-D0E8-4D78-B5C3-D526E48F5BB7}"/>
              </a:ext>
            </a:extLst>
          </p:cNvPr>
          <p:cNvSpPr>
            <a:spLocks xmlns:a="http://schemas.openxmlformats.org/drawingml/2006/main" noGrp="1"/>
          </p:cNvSpPr>
          <p:nvPr/>
        </p:nvSpPr>
        <p:spPr>
          <a:xfrm xmlns:a="http://schemas.openxmlformats.org/drawingml/2006/main">
            <a:off x="6667500" y="3171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FD88F18-46B5-41BD-BFCA-8B5AAF8849FF}"/>
              </a:ext>
            </a:extLst>
          </p:cNvPr>
          <p:cNvSpPr>
            <a:spLocks xmlns:a="http://schemas.openxmlformats.org/drawingml/2006/main" noGrp="1"/>
          </p:cNvSpPr>
          <p:nvPr/>
        </p:nvSpPr>
        <p:spPr>
          <a:xfrm xmlns:a="http://schemas.openxmlformats.org/drawingml/2006/main">
            <a:off x="6934200" y="31051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Unit and current boot are scoped</a:t>
            </a:r>
          </a:p>
        </p:txBody>
      </p:sp>
      <p:sp>
        <p:nvSpPr>
          <p:cNvPr id="20" name="">
            <a:extLst xmlns:a="http://schemas.openxmlformats.org/drawingml/2006/main">
              <a:ext uri="{FF2B5EF4-FFF2-40B4-BE49-F238E27FC236}">
                <a16:creationId xmlns:a16="http://schemas.microsoft.com/office/drawing/2014/main" id="{B3D28E46-FE52-45D5-8EA1-BF10770E6C54}"/>
              </a:ext>
            </a:extLst>
          </p:cNvPr>
          <p:cNvSpPr>
            <a:spLocks xmlns:a="http://schemas.openxmlformats.org/drawingml/2006/main" noGrp="1"/>
          </p:cNvSpPr>
          <p:nvPr/>
        </p:nvSpPr>
        <p:spPr>
          <a:xfrm xmlns:a="http://schemas.openxmlformats.org/drawingml/2006/main">
            <a:off x="6667500" y="37433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3C2B25C-6BDE-4AAB-904E-0F15113DF0D2}"/>
              </a:ext>
            </a:extLst>
          </p:cNvPr>
          <p:cNvSpPr>
            <a:spLocks xmlns:a="http://schemas.openxmlformats.org/drawingml/2006/main" noGrp="1"/>
          </p:cNvSpPr>
          <p:nvPr/>
        </p:nvSpPr>
        <p:spPr>
          <a:xfrm xmlns:a="http://schemas.openxmlformats.org/drawingml/2006/main">
            <a:off x="6934200" y="36766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ActiveState and Result are distinct</a:t>
            </a:r>
          </a:p>
        </p:txBody>
      </p:sp>
      <p:sp>
        <p:nvSpPr>
          <p:cNvPr id="22" name="">
            <a:extLst xmlns:a="http://schemas.openxmlformats.org/drawingml/2006/main">
              <a:ext uri="{FF2B5EF4-FFF2-40B4-BE49-F238E27FC236}">
                <a16:creationId xmlns:a16="http://schemas.microsoft.com/office/drawing/2014/main" id="{2E701848-E1C5-4F87-8279-E3EBE384F7A9}"/>
              </a:ext>
            </a:extLst>
          </p:cNvPr>
          <p:cNvSpPr>
            <a:spLocks xmlns:a="http://schemas.openxmlformats.org/drawingml/2006/main" noGrp="1"/>
          </p:cNvSpPr>
          <p:nvPr/>
        </p:nvSpPr>
        <p:spPr>
          <a:xfrm xmlns:a="http://schemas.openxmlformats.org/drawingml/2006/main">
            <a:off x="6667500" y="4314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09B7F9F-1914-4FC1-9251-2A3E490D832A}"/>
              </a:ext>
            </a:extLst>
          </p:cNvPr>
          <p:cNvSpPr>
            <a:spLocks xmlns:a="http://schemas.openxmlformats.org/drawingml/2006/main" noGrp="1"/>
          </p:cNvSpPr>
          <p:nvPr/>
        </p:nvSpPr>
        <p:spPr>
          <a:xfrm xmlns:a="http://schemas.openxmlformats.org/drawingml/2006/main">
            <a:off x="6934200" y="42481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DISK_THRESHOLD is identified</a:t>
            </a:r>
          </a:p>
        </p:txBody>
      </p:sp>
      <p:sp>
        <p:nvSpPr>
          <p:cNvPr id="24" name="">
            <a:extLst xmlns:a="http://schemas.openxmlformats.org/drawingml/2006/main">
              <a:ext uri="{FF2B5EF4-FFF2-40B4-BE49-F238E27FC236}">
                <a16:creationId xmlns:a16="http://schemas.microsoft.com/office/drawing/2014/main" id="{B139B5F9-EFF3-4E76-9E50-53E4221E0BC5}"/>
              </a:ext>
            </a:extLst>
          </p:cNvPr>
          <p:cNvSpPr>
            <a:spLocks xmlns:a="http://schemas.openxmlformats.org/drawingml/2006/main" noGrp="1"/>
          </p:cNvSpPr>
          <p:nvPr/>
        </p:nvSpPr>
        <p:spPr>
          <a:xfrm xmlns:a="http://schemas.openxmlformats.org/drawingml/2006/main">
            <a:off x="6667500" y="48863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1629B6F-E8A2-4282-9017-3DE5C9ABE668}"/>
              </a:ext>
            </a:extLst>
          </p:cNvPr>
          <p:cNvSpPr>
            <a:spLocks xmlns:a="http://schemas.openxmlformats.org/drawingml/2006/main" noGrp="1"/>
          </p:cNvSpPr>
          <p:nvPr/>
        </p:nvSpPr>
        <p:spPr>
          <a:xfrm xmlns:a="http://schemas.openxmlformats.org/drawingml/2006/main">
            <a:off x="6934200" y="48196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Exit code 42 is preserved</a:t>
            </a:r>
          </a:p>
        </p:txBody>
      </p:sp>
      <p:sp>
        <p:nvSpPr>
          <p:cNvPr id="26" name="">
            <a:extLst xmlns:a="http://schemas.openxmlformats.org/drawingml/2006/main">
              <a:ext uri="{FF2B5EF4-FFF2-40B4-BE49-F238E27FC236}">
                <a16:creationId xmlns:a16="http://schemas.microsoft.com/office/drawing/2014/main" id="{31BF24E7-ED3D-4226-A7DC-0713BF70C771}"/>
              </a:ext>
            </a:extLst>
          </p:cNvPr>
          <p:cNvSpPr>
            <a:spLocks xmlns:a="http://schemas.openxmlformats.org/drawingml/2006/main" noGrp="1"/>
          </p:cNvSpPr>
          <p:nvPr/>
        </p:nvSpPr>
        <p:spPr>
          <a:xfrm xmlns:a="http://schemas.openxmlformats.org/drawingml/2006/main">
            <a:off x="800100" y="5600700"/>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1" i="0">
                <a:solidFill>
                  <a:srgbClr val="8B5CF6"/>
                </a:solidFill>
                <a:latin typeface="Aptos"/>
                <a:ea typeface="Aptos"/>
                <a:cs typeface="Aptos"/>
              </a:defRPr>
            </a:pPr>
            <a:r>
              <a:rPr sz="1650" b="1" i="0">
                <a:solidFill>
                  <a:srgbClr val="8B5CF6"/>
                </a:solidFill>
                <a:latin typeface="Aptos"/>
                <a:ea typeface="Aptos"/>
                <a:cs typeface="Aptos"/>
              </a:rPr>
              <a:t>Debrief: which line is the application cause, and which line is systemd's result?</a:t>
            </a:r>
          </a:p>
        </p:txBody>
      </p:sp>
    </p:spTree>
    <p:extLst>
      <p:ext uri="{BB962C8B-B14F-4D97-AF65-F5344CB8AC3E}">
        <p14:creationId xmlns:p14="http://schemas.microsoft.com/office/powerpoint/2010/main" val="276205261"/>
      </p:ext>
    </p:extLst>
  </p:cSld>
</p:sld>
</file>

<file path=ppt/slides/slide8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7FF7E22-AD57-4C8D-AE65-38829DE663A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433AB877-4AB3-4B27-9A12-AE2A320B325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92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systemd manages declared units toward a state</a:t>
            </a:r>
          </a:p>
        </p:txBody>
      </p:sp>
      <p:sp>
        <p:nvSpPr>
          <p:cNvPr id="3" name="">
            <a:extLst xmlns:a="http://schemas.openxmlformats.org/drawingml/2006/main">
              <a:ext uri="{FF2B5EF4-FFF2-40B4-BE49-F238E27FC236}">
                <a16:creationId xmlns:a16="http://schemas.microsoft.com/office/drawing/2014/main" id="{61BEB8B2-BAFD-48B7-847B-5CB0B0B4FD0D}"/>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7C7CC09-1BF3-4D2E-A1DA-D2D79A0C855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8F5F02AC-8C9B-4E6F-A0AE-539C3CB3B98E}"/>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82</a:t>
            </a:r>
          </a:p>
        </p:txBody>
      </p:sp>
      <p:sp>
        <p:nvSpPr>
          <p:cNvPr id="6" name="">
            <a:extLst xmlns:a="http://schemas.openxmlformats.org/drawingml/2006/main">
              <a:ext uri="{FF2B5EF4-FFF2-40B4-BE49-F238E27FC236}">
                <a16:creationId xmlns:a16="http://schemas.microsoft.com/office/drawing/2014/main" id="{4BB146FD-85CF-4381-B5DF-0A2F479F6858}"/>
              </a:ext>
            </a:extLst>
          </p:cNvPr>
          <p:cNvSpPr>
            <a:spLocks xmlns:a="http://schemas.openxmlformats.org/drawingml/2006/main" noGrp="1"/>
          </p:cNvSpPr>
          <p:nvPr/>
        </p:nvSpPr>
        <p:spPr>
          <a:xfrm xmlns:a="http://schemas.openxmlformats.org/drawingml/2006/main">
            <a:off x="819150" y="18097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UNIT FILE</a:t>
            </a:r>
          </a:p>
        </p:txBody>
      </p:sp>
      <p:sp>
        <p:nvSpPr>
          <p:cNvPr id="7" name="">
            <a:extLst xmlns:a="http://schemas.openxmlformats.org/drawingml/2006/main">
              <a:ext uri="{FF2B5EF4-FFF2-40B4-BE49-F238E27FC236}">
                <a16:creationId xmlns:a16="http://schemas.microsoft.com/office/drawing/2014/main" id="{66CE1EC7-EE5A-4522-9063-940134669544}"/>
              </a:ext>
            </a:extLst>
          </p:cNvPr>
          <p:cNvSpPr>
            <a:spLocks xmlns:a="http://schemas.openxmlformats.org/drawingml/2006/main" noGrp="1"/>
          </p:cNvSpPr>
          <p:nvPr/>
        </p:nvSpPr>
        <p:spPr>
          <a:xfrm xmlns:a="http://schemas.openxmlformats.org/drawingml/2006/main">
            <a:off x="819150" y="23050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What should run?</a:t>
            </a:r>
          </a:p>
        </p:txBody>
      </p:sp>
      <p:sp>
        <p:nvSpPr>
          <p:cNvPr id="8" name="">
            <a:extLst xmlns:a="http://schemas.openxmlformats.org/drawingml/2006/main">
              <a:ext uri="{FF2B5EF4-FFF2-40B4-BE49-F238E27FC236}">
                <a16:creationId xmlns:a16="http://schemas.microsoft.com/office/drawing/2014/main" id="{67083701-A05F-4358-A0C9-1B8C17A9523C}"/>
              </a:ext>
            </a:extLst>
          </p:cNvPr>
          <p:cNvSpPr>
            <a:spLocks xmlns:a="http://schemas.openxmlformats.org/drawingml/2006/main" noGrp="1"/>
          </p:cNvSpPr>
          <p:nvPr/>
        </p:nvSpPr>
        <p:spPr>
          <a:xfrm xmlns:a="http://schemas.openxmlformats.org/drawingml/2006/main">
            <a:off x="819150" y="2971800"/>
            <a:ext cx="3333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dependencies · user · command</a:t>
            </a:r>
          </a:p>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restart policy · boot target</a:t>
            </a:r>
          </a:p>
        </p:txBody>
      </p:sp>
      <p:sp>
        <p:nvSpPr>
          <p:cNvPr id="9" name="">
            <a:extLst xmlns:a="http://schemas.openxmlformats.org/drawingml/2006/main">
              <a:ext uri="{FF2B5EF4-FFF2-40B4-BE49-F238E27FC236}">
                <a16:creationId xmlns:a16="http://schemas.microsoft.com/office/drawing/2014/main" id="{81AD9658-5F0C-4CD4-9376-1A6C8D1E3657}"/>
              </a:ext>
            </a:extLst>
          </p:cNvPr>
          <p:cNvSpPr>
            <a:spLocks xmlns:a="http://schemas.openxmlformats.org/drawingml/2006/main" noGrp="1"/>
          </p:cNvSpPr>
          <p:nvPr/>
        </p:nvSpPr>
        <p:spPr>
          <a:xfrm xmlns:a="http://schemas.openxmlformats.org/drawingml/2006/main">
            <a:off x="4286250" y="2724150"/>
            <a:ext cx="857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450" b="1" i="0">
                <a:solidFill>
                  <a:srgbClr val="8B5CF6"/>
                </a:solidFill>
                <a:latin typeface="Aptos"/>
                <a:ea typeface="Aptos"/>
                <a:cs typeface="Aptos"/>
              </a:defRPr>
            </a:pPr>
            <a:r>
              <a:rPr sz="3450" b="1" i="0">
                <a:solidFill>
                  <a:srgbClr val="8B5CF6"/>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0D477B34-4BC1-47B5-94B9-2CAF0A8AC359}"/>
              </a:ext>
            </a:extLst>
          </p:cNvPr>
          <p:cNvSpPr>
            <a:spLocks xmlns:a="http://schemas.openxmlformats.org/drawingml/2006/main" noGrp="1"/>
          </p:cNvSpPr>
          <p:nvPr/>
        </p:nvSpPr>
        <p:spPr>
          <a:xfrm xmlns:a="http://schemas.openxmlformats.org/drawingml/2006/main">
            <a:off x="5429250" y="18097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MANAGER</a:t>
            </a:r>
          </a:p>
        </p:txBody>
      </p:sp>
      <p:sp>
        <p:nvSpPr>
          <p:cNvPr id="11" name="">
            <a:extLst xmlns:a="http://schemas.openxmlformats.org/drawingml/2006/main">
              <a:ext uri="{FF2B5EF4-FFF2-40B4-BE49-F238E27FC236}">
                <a16:creationId xmlns:a16="http://schemas.microsoft.com/office/drawing/2014/main" id="{62BCA6B4-B7AC-4F12-8721-99D9A3750B0D}"/>
              </a:ext>
            </a:extLst>
          </p:cNvPr>
          <p:cNvSpPr>
            <a:spLocks xmlns:a="http://schemas.openxmlformats.org/drawingml/2006/main" noGrp="1"/>
          </p:cNvSpPr>
          <p:nvPr/>
        </p:nvSpPr>
        <p:spPr>
          <a:xfrm xmlns:a="http://schemas.openxmlformats.org/drawingml/2006/main">
            <a:off x="5429250" y="23050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What is running?</a:t>
            </a:r>
          </a:p>
        </p:txBody>
      </p:sp>
      <p:sp>
        <p:nvSpPr>
          <p:cNvPr id="12" name="">
            <a:extLst xmlns:a="http://schemas.openxmlformats.org/drawingml/2006/main">
              <a:ext uri="{FF2B5EF4-FFF2-40B4-BE49-F238E27FC236}">
                <a16:creationId xmlns:a16="http://schemas.microsoft.com/office/drawing/2014/main" id="{0256D31F-B9BB-4FE7-9578-6EA0A85A0787}"/>
              </a:ext>
            </a:extLst>
          </p:cNvPr>
          <p:cNvSpPr>
            <a:spLocks xmlns:a="http://schemas.openxmlformats.org/drawingml/2006/main" noGrp="1"/>
          </p:cNvSpPr>
          <p:nvPr/>
        </p:nvSpPr>
        <p:spPr>
          <a:xfrm xmlns:a="http://schemas.openxmlformats.org/drawingml/2006/main">
            <a:off x="5429250" y="2971800"/>
            <a:ext cx="3143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start · stop · supervise</a:t>
            </a:r>
          </a:p>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track exit status</a:t>
            </a:r>
          </a:p>
        </p:txBody>
      </p:sp>
      <p:sp>
        <p:nvSpPr>
          <p:cNvPr id="13" name="">
            <a:extLst xmlns:a="http://schemas.openxmlformats.org/drawingml/2006/main">
              <a:ext uri="{FF2B5EF4-FFF2-40B4-BE49-F238E27FC236}">
                <a16:creationId xmlns:a16="http://schemas.microsoft.com/office/drawing/2014/main" id="{3D218284-2EB7-4A18-9587-14BB726F12BE}"/>
              </a:ext>
            </a:extLst>
          </p:cNvPr>
          <p:cNvSpPr>
            <a:spLocks xmlns:a="http://schemas.openxmlformats.org/drawingml/2006/main" noGrp="1"/>
          </p:cNvSpPr>
          <p:nvPr/>
        </p:nvSpPr>
        <p:spPr>
          <a:xfrm xmlns:a="http://schemas.openxmlformats.org/drawingml/2006/main">
            <a:off x="8801100" y="2724150"/>
            <a:ext cx="857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450" b="1" i="0">
                <a:solidFill>
                  <a:srgbClr val="8B5CF6"/>
                </a:solidFill>
                <a:latin typeface="Aptos"/>
                <a:ea typeface="Aptos"/>
                <a:cs typeface="Aptos"/>
              </a:defRPr>
            </a:pPr>
            <a:r>
              <a:rPr sz="3450" b="1" i="0">
                <a:solidFill>
                  <a:srgbClr val="8B5CF6"/>
                </a:solidFill>
                <a:latin typeface="Aptos"/>
                <a:ea typeface="Aptos"/>
                <a:cs typeface="Aptos"/>
              </a:rPr>
              <a:t>→</a:t>
            </a:r>
          </a:p>
        </p:txBody>
      </p:sp>
      <p:sp>
        <p:nvSpPr>
          <p:cNvPr id="14" name="">
            <a:extLst xmlns:a="http://schemas.openxmlformats.org/drawingml/2006/main">
              <a:ext uri="{FF2B5EF4-FFF2-40B4-BE49-F238E27FC236}">
                <a16:creationId xmlns:a16="http://schemas.microsoft.com/office/drawing/2014/main" id="{A135BC3C-14E6-44BA-9F20-F7AF53E1ACF7}"/>
              </a:ext>
            </a:extLst>
          </p:cNvPr>
          <p:cNvSpPr>
            <a:spLocks xmlns:a="http://schemas.openxmlformats.org/drawingml/2006/main" noGrp="1"/>
          </p:cNvSpPr>
          <p:nvPr/>
        </p:nvSpPr>
        <p:spPr>
          <a:xfrm xmlns:a="http://schemas.openxmlformats.org/drawingml/2006/main">
            <a:off x="9810750" y="180975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JOURNAL</a:t>
            </a:r>
          </a:p>
        </p:txBody>
      </p:sp>
      <p:sp>
        <p:nvSpPr>
          <p:cNvPr id="15" name="">
            <a:extLst xmlns:a="http://schemas.openxmlformats.org/drawingml/2006/main">
              <a:ext uri="{FF2B5EF4-FFF2-40B4-BE49-F238E27FC236}">
                <a16:creationId xmlns:a16="http://schemas.microsoft.com/office/drawing/2014/main" id="{6F03048F-8D77-4A95-ABBE-57D30AC7CBBB}"/>
              </a:ext>
            </a:extLst>
          </p:cNvPr>
          <p:cNvSpPr>
            <a:spLocks xmlns:a="http://schemas.openxmlformats.org/drawingml/2006/main" noGrp="1"/>
          </p:cNvSpPr>
          <p:nvPr/>
        </p:nvSpPr>
        <p:spPr>
          <a:xfrm xmlns:a="http://schemas.openxmlformats.org/drawingml/2006/main">
            <a:off x="9620250" y="2305050"/>
            <a:ext cx="1905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What happened?</a:t>
            </a:r>
          </a:p>
        </p:txBody>
      </p:sp>
      <p:sp>
        <p:nvSpPr>
          <p:cNvPr id="16" name="">
            <a:extLst xmlns:a="http://schemas.openxmlformats.org/drawingml/2006/main">
              <a:ext uri="{FF2B5EF4-FFF2-40B4-BE49-F238E27FC236}">
                <a16:creationId xmlns:a16="http://schemas.microsoft.com/office/drawing/2014/main" id="{F8367EEA-852D-4AA2-9F07-33029BB88450}"/>
              </a:ext>
            </a:extLst>
          </p:cNvPr>
          <p:cNvSpPr>
            <a:spLocks xmlns:a="http://schemas.openxmlformats.org/drawingml/2006/main" noGrp="1"/>
          </p:cNvSpPr>
          <p:nvPr/>
        </p:nvSpPr>
        <p:spPr>
          <a:xfrm xmlns:a="http://schemas.openxmlformats.org/drawingml/2006/main">
            <a:off x="9620250" y="3238500"/>
            <a:ext cx="190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events + output</a:t>
            </a:r>
          </a:p>
        </p:txBody>
      </p:sp>
      <p:sp>
        <p:nvSpPr>
          <p:cNvPr id="17" name="">
            <a:extLst xmlns:a="http://schemas.openxmlformats.org/drawingml/2006/main">
              <a:ext uri="{FF2B5EF4-FFF2-40B4-BE49-F238E27FC236}">
                <a16:creationId xmlns:a16="http://schemas.microsoft.com/office/drawing/2014/main" id="{71BAC77F-BB03-4E9C-BC59-DCC13D30E7B1}"/>
              </a:ext>
            </a:extLst>
          </p:cNvPr>
          <p:cNvSpPr>
            <a:spLocks xmlns:a="http://schemas.openxmlformats.org/drawingml/2006/main" noGrp="1"/>
          </p:cNvSpPr>
          <p:nvPr/>
        </p:nvSpPr>
        <p:spPr>
          <a:xfrm xmlns:a="http://schemas.openxmlformats.org/drawingml/2006/main">
            <a:off x="819150" y="4629150"/>
            <a:ext cx="10610850" cy="952500"/>
          </a:xfrm>
          <a:prstGeom xmlns:a="http://schemas.openxmlformats.org/drawingml/2006/main" prst="roundRect">
            <a:avLst>
              <a:gd name="adj" fmla="val 16000"/>
            </a:avLst>
          </a:prstGeom>
          <a:solidFill xmlns:a="http://schemas.openxmlformats.org/drawingml/2006/main">
            <a:srgbClr val="EEE4F3"/>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85FCBB6-3065-4728-9310-1BD4B04AEAFA}"/>
              </a:ext>
            </a:extLst>
          </p:cNvPr>
          <p:cNvSpPr>
            <a:spLocks xmlns:a="http://schemas.openxmlformats.org/drawingml/2006/main" noGrp="1"/>
          </p:cNvSpPr>
          <p:nvPr/>
        </p:nvSpPr>
        <p:spPr>
          <a:xfrm xmlns:a="http://schemas.openxmlformats.org/drawingml/2006/main">
            <a:off x="1104900" y="4895850"/>
            <a:ext cx="100393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706"/>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“Enabled” configures future activation. “Active” describes runtime state. They are independent.</a:t>
            </a:r>
          </a:p>
        </p:txBody>
      </p:sp>
    </p:spTree>
    <p:extLst>
      <p:ext uri="{BB962C8B-B14F-4D97-AF65-F5344CB8AC3E}">
        <p14:creationId xmlns:p14="http://schemas.microsoft.com/office/powerpoint/2010/main" val="829158630"/>
      </p:ext>
    </p:extLst>
  </p:cSld>
</p:sld>
</file>

<file path=ppt/slides/slide8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Service transitions leave journal evidence</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83</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Declared</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Transition</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Observed</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ExecStart command</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Service user</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Dependencies</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Restart policy</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Conditions</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Ordering</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Credentials</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Exit status</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Active state</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Substate</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Main PID</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Journal events</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systemctl status is a current summary; journalctl provides the longer event sequence.</a:t>
            </a:r>
          </a:p>
        </p:txBody>
      </p:sp>
    </p:spTree>
    <p:extLst>
      <p:ext uri="{BB962C8B-B14F-4D97-AF65-F5344CB8AC3E}">
        <p14:creationId xmlns:p14="http://schemas.microsoft.com/office/powerpoint/2010/main" val="281690250"/>
      </p:ext>
    </p:extLst>
  </p:cSld>
</p:sld>
</file>

<file path=ppt/slides/slide84.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143"/>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Requirement and ordering are separate relationships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84</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72"/>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Requires=</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start together; failure relationship</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Wants=</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weaker activation relationship</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After=</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ordering only; does not pull a unit in</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Before=</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inverse ordering relationship</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PartOf=</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propagate selected lifecycle actions</a:t>
            </a:r>
          </a:p>
        </p:txBody>
      </p:sp>
    </p:spTree>
    <p:extLst>
      <p:ext uri="{BB962C8B-B14F-4D97-AF65-F5344CB8AC3E}">
        <p14:creationId xmlns:p14="http://schemas.microsoft.com/office/powerpoint/2010/main" val="1018217464"/>
      </p:ext>
    </p:extLst>
  </p:cSld>
</p:sld>
</file>

<file path=ppt/slides/slide85.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B45BB6C-2634-4967-B7D8-66C648A4AF42}"/>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BB6905EA-EB73-48B3-BFC6-F36ACCF1D759}"/>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Use systemctl verbs deliberately</a:t>
            </a:r>
          </a:p>
        </p:txBody>
      </p:sp>
      <p:sp>
        <p:nvSpPr>
          <p:cNvPr id="3" name="">
            <a:extLst xmlns:a="http://schemas.openxmlformats.org/drawingml/2006/main">
              <a:ext uri="{FF2B5EF4-FFF2-40B4-BE49-F238E27FC236}">
                <a16:creationId xmlns:a16="http://schemas.microsoft.com/office/drawing/2014/main" id="{1E8D3E8C-57A8-4DE4-9B45-F8D9952C5AF1}"/>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88C3C1C-306D-4E7E-9D4B-50F518FDFB31}"/>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50B362DF-2860-4B88-9BA4-770B28CCC43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85</a:t>
            </a:r>
          </a:p>
        </p:txBody>
      </p:sp>
      <p:sp>
        <p:nvSpPr>
          <p:cNvPr id="6" name="">
            <a:extLst xmlns:a="http://schemas.openxmlformats.org/drawingml/2006/main">
              <a:ext uri="{FF2B5EF4-FFF2-40B4-BE49-F238E27FC236}">
                <a16:creationId xmlns:a16="http://schemas.microsoft.com/office/drawing/2014/main" id="{BCE8133F-AED5-4FF3-A5CF-B58C3DDCB692}"/>
              </a:ext>
            </a:extLst>
          </p:cNvPr>
          <p:cNvSpPr>
            <a:spLocks xmlns:a="http://schemas.openxmlformats.org/drawingml/2006/main" noGrp="1"/>
          </p:cNvSpPr>
          <p:nvPr/>
        </p:nvSpPr>
        <p:spPr>
          <a:xfrm xmlns:a="http://schemas.openxmlformats.org/drawingml/2006/main">
            <a:off x="857250" y="1714500"/>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BFAFCB"/>
                </a:solidFill>
                <a:latin typeface="Aptos"/>
                <a:ea typeface="Aptos"/>
                <a:cs typeface="Aptos"/>
              </a:defRPr>
            </a:pPr>
            <a:r>
              <a:rPr sz="1725" b="1" i="0">
                <a:solidFill>
                  <a:srgbClr val="BFAFCB"/>
                </a:solidFill>
                <a:latin typeface="Aptos"/>
                <a:ea typeface="Aptos"/>
                <a:cs typeface="Aptos"/>
              </a:rPr>
              <a:t>Observe</a:t>
            </a:r>
          </a:p>
        </p:txBody>
      </p:sp>
      <p:sp>
        <p:nvSpPr>
          <p:cNvPr id="7" name="">
            <a:extLst xmlns:a="http://schemas.openxmlformats.org/drawingml/2006/main">
              <a:ext uri="{FF2B5EF4-FFF2-40B4-BE49-F238E27FC236}">
                <a16:creationId xmlns:a16="http://schemas.microsoft.com/office/drawing/2014/main" id="{98A00DAD-9748-4040-BDA9-24B5B12EA22F}"/>
              </a:ext>
            </a:extLst>
          </p:cNvPr>
          <p:cNvSpPr>
            <a:spLocks xmlns:a="http://schemas.openxmlformats.org/drawingml/2006/main" noGrp="1"/>
          </p:cNvSpPr>
          <p:nvPr/>
        </p:nvSpPr>
        <p:spPr>
          <a:xfrm xmlns:a="http://schemas.openxmlformats.org/drawingml/2006/main">
            <a:off x="3810000" y="17145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FF6B4A"/>
                </a:solidFill>
                <a:latin typeface="Courier New"/>
                <a:ea typeface="Courier New"/>
                <a:cs typeface="Courier New"/>
              </a:defRPr>
            </a:pPr>
            <a:r>
              <a:rPr sz="2100" b="1" i="0">
                <a:solidFill>
                  <a:srgbClr val="FF6B4A"/>
                </a:solidFill>
                <a:latin typeface="Courier New"/>
                <a:ea typeface="Courier New"/>
                <a:cs typeface="Courier New"/>
              </a:rPr>
              <a:t>status · is-active · is-enabled</a:t>
            </a:r>
          </a:p>
        </p:txBody>
      </p:sp>
      <p:sp>
        <p:nvSpPr>
          <p:cNvPr id="8" name="">
            <a:extLst xmlns:a="http://schemas.openxmlformats.org/drawingml/2006/main">
              <a:ext uri="{FF2B5EF4-FFF2-40B4-BE49-F238E27FC236}">
                <a16:creationId xmlns:a16="http://schemas.microsoft.com/office/drawing/2014/main" id="{71640330-1AB8-4F1C-8892-6C1D8B2071B3}"/>
              </a:ext>
            </a:extLst>
          </p:cNvPr>
          <p:cNvSpPr>
            <a:spLocks xmlns:a="http://schemas.openxmlformats.org/drawingml/2006/main" noGrp="1"/>
          </p:cNvSpPr>
          <p:nvPr/>
        </p:nvSpPr>
        <p:spPr>
          <a:xfrm xmlns:a="http://schemas.openxmlformats.org/drawingml/2006/main">
            <a:off x="857250" y="2209800"/>
            <a:ext cx="981075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AE87DD9-12B8-4504-8C00-7474EC432A97}"/>
              </a:ext>
            </a:extLst>
          </p:cNvPr>
          <p:cNvSpPr>
            <a:spLocks xmlns:a="http://schemas.openxmlformats.org/drawingml/2006/main" noGrp="1"/>
          </p:cNvSpPr>
          <p:nvPr/>
        </p:nvSpPr>
        <p:spPr>
          <a:xfrm xmlns:a="http://schemas.openxmlformats.org/drawingml/2006/main">
            <a:off x="857250" y="2457450"/>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BFAFCB"/>
                </a:solidFill>
                <a:latin typeface="Aptos"/>
                <a:ea typeface="Aptos"/>
                <a:cs typeface="Aptos"/>
              </a:defRPr>
            </a:pPr>
            <a:r>
              <a:rPr sz="1725" b="1" i="0">
                <a:solidFill>
                  <a:srgbClr val="BFAFCB"/>
                </a:solidFill>
                <a:latin typeface="Aptos"/>
                <a:ea typeface="Aptos"/>
                <a:cs typeface="Aptos"/>
              </a:rPr>
              <a:t>Change runtime</a:t>
            </a:r>
          </a:p>
        </p:txBody>
      </p:sp>
      <p:sp>
        <p:nvSpPr>
          <p:cNvPr id="10" name="">
            <a:extLst xmlns:a="http://schemas.openxmlformats.org/drawingml/2006/main">
              <a:ext uri="{FF2B5EF4-FFF2-40B4-BE49-F238E27FC236}">
                <a16:creationId xmlns:a16="http://schemas.microsoft.com/office/drawing/2014/main" id="{7C986552-3E30-47B8-A022-1A15061C873D}"/>
              </a:ext>
            </a:extLst>
          </p:cNvPr>
          <p:cNvSpPr>
            <a:spLocks xmlns:a="http://schemas.openxmlformats.org/drawingml/2006/main" noGrp="1"/>
          </p:cNvSpPr>
          <p:nvPr/>
        </p:nvSpPr>
        <p:spPr>
          <a:xfrm xmlns:a="http://schemas.openxmlformats.org/drawingml/2006/main">
            <a:off x="3810000" y="245745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FF6B4A"/>
                </a:solidFill>
                <a:latin typeface="Courier New"/>
                <a:ea typeface="Courier New"/>
                <a:cs typeface="Courier New"/>
              </a:defRPr>
            </a:pPr>
            <a:r>
              <a:rPr sz="2100" b="1" i="0">
                <a:solidFill>
                  <a:srgbClr val="FF6B4A"/>
                </a:solidFill>
                <a:latin typeface="Courier New"/>
                <a:ea typeface="Courier New"/>
                <a:cs typeface="Courier New"/>
              </a:rPr>
              <a:t>start · stop · restart · reload</a:t>
            </a:r>
          </a:p>
        </p:txBody>
      </p:sp>
      <p:sp>
        <p:nvSpPr>
          <p:cNvPr id="11" name="">
            <a:extLst xmlns:a="http://schemas.openxmlformats.org/drawingml/2006/main">
              <a:ext uri="{FF2B5EF4-FFF2-40B4-BE49-F238E27FC236}">
                <a16:creationId xmlns:a16="http://schemas.microsoft.com/office/drawing/2014/main" id="{270495CD-6293-42CB-80AC-5233D37C38C4}"/>
              </a:ext>
            </a:extLst>
          </p:cNvPr>
          <p:cNvSpPr>
            <a:spLocks xmlns:a="http://schemas.openxmlformats.org/drawingml/2006/main" noGrp="1"/>
          </p:cNvSpPr>
          <p:nvPr/>
        </p:nvSpPr>
        <p:spPr>
          <a:xfrm xmlns:a="http://schemas.openxmlformats.org/drawingml/2006/main">
            <a:off x="857250" y="2952750"/>
            <a:ext cx="981075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2CC06FB-426F-4713-B11A-1377D8D24316}"/>
              </a:ext>
            </a:extLst>
          </p:cNvPr>
          <p:cNvSpPr>
            <a:spLocks xmlns:a="http://schemas.openxmlformats.org/drawingml/2006/main" noGrp="1"/>
          </p:cNvSpPr>
          <p:nvPr/>
        </p:nvSpPr>
        <p:spPr>
          <a:xfrm xmlns:a="http://schemas.openxmlformats.org/drawingml/2006/main">
            <a:off x="857250" y="3200400"/>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BFAFCB"/>
                </a:solidFill>
                <a:latin typeface="Aptos"/>
                <a:ea typeface="Aptos"/>
                <a:cs typeface="Aptos"/>
              </a:defRPr>
            </a:pPr>
            <a:r>
              <a:rPr sz="1725" b="1" i="0">
                <a:solidFill>
                  <a:srgbClr val="BFAFCB"/>
                </a:solidFill>
                <a:latin typeface="Aptos"/>
                <a:ea typeface="Aptos"/>
                <a:cs typeface="Aptos"/>
              </a:rPr>
              <a:t>Change boot</a:t>
            </a:r>
          </a:p>
        </p:txBody>
      </p:sp>
      <p:sp>
        <p:nvSpPr>
          <p:cNvPr id="13" name="">
            <a:extLst xmlns:a="http://schemas.openxmlformats.org/drawingml/2006/main">
              <a:ext uri="{FF2B5EF4-FFF2-40B4-BE49-F238E27FC236}">
                <a16:creationId xmlns:a16="http://schemas.microsoft.com/office/drawing/2014/main" id="{708BD511-BA2B-49F7-9F89-AE48E7C1D7EC}"/>
              </a:ext>
            </a:extLst>
          </p:cNvPr>
          <p:cNvSpPr>
            <a:spLocks xmlns:a="http://schemas.openxmlformats.org/drawingml/2006/main" noGrp="1"/>
          </p:cNvSpPr>
          <p:nvPr/>
        </p:nvSpPr>
        <p:spPr>
          <a:xfrm xmlns:a="http://schemas.openxmlformats.org/drawingml/2006/main">
            <a:off x="3810000" y="32004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C9B6FF"/>
                </a:solidFill>
                <a:latin typeface="Courier New"/>
                <a:ea typeface="Courier New"/>
                <a:cs typeface="Courier New"/>
              </a:defRPr>
            </a:pPr>
            <a:r>
              <a:rPr sz="2100" b="1" i="0">
                <a:solidFill>
                  <a:srgbClr val="C9B6FF"/>
                </a:solidFill>
                <a:latin typeface="Courier New"/>
                <a:ea typeface="Courier New"/>
                <a:cs typeface="Courier New"/>
              </a:rPr>
              <a:t>enable · disable</a:t>
            </a:r>
          </a:p>
        </p:txBody>
      </p:sp>
      <p:sp>
        <p:nvSpPr>
          <p:cNvPr id="14" name="">
            <a:extLst xmlns:a="http://schemas.openxmlformats.org/drawingml/2006/main">
              <a:ext uri="{FF2B5EF4-FFF2-40B4-BE49-F238E27FC236}">
                <a16:creationId xmlns:a16="http://schemas.microsoft.com/office/drawing/2014/main" id="{EF1154BA-966C-4734-932D-55C2E3AC5EF6}"/>
              </a:ext>
            </a:extLst>
          </p:cNvPr>
          <p:cNvSpPr>
            <a:spLocks xmlns:a="http://schemas.openxmlformats.org/drawingml/2006/main" noGrp="1"/>
          </p:cNvSpPr>
          <p:nvPr/>
        </p:nvSpPr>
        <p:spPr>
          <a:xfrm xmlns:a="http://schemas.openxmlformats.org/drawingml/2006/main">
            <a:off x="857250" y="3695700"/>
            <a:ext cx="981075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76784CA-A452-4904-BF2F-120CF6574B95}"/>
              </a:ext>
            </a:extLst>
          </p:cNvPr>
          <p:cNvSpPr>
            <a:spLocks xmlns:a="http://schemas.openxmlformats.org/drawingml/2006/main" noGrp="1"/>
          </p:cNvSpPr>
          <p:nvPr/>
        </p:nvSpPr>
        <p:spPr>
          <a:xfrm xmlns:a="http://schemas.openxmlformats.org/drawingml/2006/main">
            <a:off x="857250" y="3943350"/>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BFAFCB"/>
                </a:solidFill>
                <a:latin typeface="Aptos"/>
                <a:ea typeface="Aptos"/>
                <a:cs typeface="Aptos"/>
              </a:defRPr>
            </a:pPr>
            <a:r>
              <a:rPr sz="1725" b="1" i="0">
                <a:solidFill>
                  <a:srgbClr val="BFAFCB"/>
                </a:solidFill>
                <a:latin typeface="Aptos"/>
                <a:ea typeface="Aptos"/>
                <a:cs typeface="Aptos"/>
              </a:rPr>
              <a:t>Inspect config</a:t>
            </a:r>
          </a:p>
        </p:txBody>
      </p:sp>
      <p:sp>
        <p:nvSpPr>
          <p:cNvPr id="16" name="">
            <a:extLst xmlns:a="http://schemas.openxmlformats.org/drawingml/2006/main">
              <a:ext uri="{FF2B5EF4-FFF2-40B4-BE49-F238E27FC236}">
                <a16:creationId xmlns:a16="http://schemas.microsoft.com/office/drawing/2014/main" id="{898C00F1-1DFC-4ECD-B3CE-3926C78D69D9}"/>
              </a:ext>
            </a:extLst>
          </p:cNvPr>
          <p:cNvSpPr>
            <a:spLocks xmlns:a="http://schemas.openxmlformats.org/drawingml/2006/main" noGrp="1"/>
          </p:cNvSpPr>
          <p:nvPr/>
        </p:nvSpPr>
        <p:spPr>
          <a:xfrm xmlns:a="http://schemas.openxmlformats.org/drawingml/2006/main">
            <a:off x="3810000" y="394335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C9B6FF"/>
                </a:solidFill>
                <a:latin typeface="Courier New"/>
                <a:ea typeface="Courier New"/>
                <a:cs typeface="Courier New"/>
              </a:defRPr>
            </a:pPr>
            <a:r>
              <a:rPr sz="2100" b="1" i="0">
                <a:solidFill>
                  <a:srgbClr val="C9B6FF"/>
                </a:solidFill>
                <a:latin typeface="Courier New"/>
                <a:ea typeface="Courier New"/>
                <a:cs typeface="Courier New"/>
              </a:rPr>
              <a:t>cat · show</a:t>
            </a:r>
          </a:p>
        </p:txBody>
      </p:sp>
      <p:sp>
        <p:nvSpPr>
          <p:cNvPr id="17" name="">
            <a:extLst xmlns:a="http://schemas.openxmlformats.org/drawingml/2006/main">
              <a:ext uri="{FF2B5EF4-FFF2-40B4-BE49-F238E27FC236}">
                <a16:creationId xmlns:a16="http://schemas.microsoft.com/office/drawing/2014/main" id="{D096A127-C584-4574-B58D-CC0BA0302440}"/>
              </a:ext>
            </a:extLst>
          </p:cNvPr>
          <p:cNvSpPr>
            <a:spLocks xmlns:a="http://schemas.openxmlformats.org/drawingml/2006/main" noGrp="1"/>
          </p:cNvSpPr>
          <p:nvPr/>
        </p:nvSpPr>
        <p:spPr>
          <a:xfrm xmlns:a="http://schemas.openxmlformats.org/drawingml/2006/main">
            <a:off x="857250" y="4438650"/>
            <a:ext cx="981075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D71FCA8-80F8-4878-BA0E-248D5D79E0C7}"/>
              </a:ext>
            </a:extLst>
          </p:cNvPr>
          <p:cNvSpPr>
            <a:spLocks xmlns:a="http://schemas.openxmlformats.org/drawingml/2006/main" noGrp="1"/>
          </p:cNvSpPr>
          <p:nvPr/>
        </p:nvSpPr>
        <p:spPr>
          <a:xfrm xmlns:a="http://schemas.openxmlformats.org/drawingml/2006/main">
            <a:off x="857250" y="4686300"/>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BFAFCB"/>
                </a:solidFill>
                <a:latin typeface="Aptos"/>
                <a:ea typeface="Aptos"/>
                <a:cs typeface="Aptos"/>
              </a:defRPr>
            </a:pPr>
            <a:r>
              <a:rPr sz="1725" b="1" i="0">
                <a:solidFill>
                  <a:srgbClr val="BFAFCB"/>
                </a:solidFill>
                <a:latin typeface="Aptos"/>
                <a:ea typeface="Aptos"/>
                <a:cs typeface="Aptos"/>
              </a:rPr>
              <a:t>After unit edits</a:t>
            </a:r>
          </a:p>
        </p:txBody>
      </p:sp>
      <p:sp>
        <p:nvSpPr>
          <p:cNvPr id="19" name="">
            <a:extLst xmlns:a="http://schemas.openxmlformats.org/drawingml/2006/main">
              <a:ext uri="{FF2B5EF4-FFF2-40B4-BE49-F238E27FC236}">
                <a16:creationId xmlns:a16="http://schemas.microsoft.com/office/drawing/2014/main" id="{9E3DD638-E069-467F-B4C5-7813ED102B83}"/>
              </a:ext>
            </a:extLst>
          </p:cNvPr>
          <p:cNvSpPr>
            <a:spLocks xmlns:a="http://schemas.openxmlformats.org/drawingml/2006/main" noGrp="1"/>
          </p:cNvSpPr>
          <p:nvPr/>
        </p:nvSpPr>
        <p:spPr>
          <a:xfrm xmlns:a="http://schemas.openxmlformats.org/drawingml/2006/main">
            <a:off x="3810000" y="46863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C9B6FF"/>
                </a:solidFill>
                <a:latin typeface="Courier New"/>
                <a:ea typeface="Courier New"/>
                <a:cs typeface="Courier New"/>
              </a:defRPr>
            </a:pPr>
            <a:r>
              <a:rPr sz="2100" b="1" i="0">
                <a:solidFill>
                  <a:srgbClr val="C9B6FF"/>
                </a:solidFill>
                <a:latin typeface="Courier New"/>
                <a:ea typeface="Courier New"/>
                <a:cs typeface="Courier New"/>
              </a:rPr>
              <a:t>daemon-reload</a:t>
            </a:r>
          </a:p>
        </p:txBody>
      </p:sp>
      <p:sp>
        <p:nvSpPr>
          <p:cNvPr id="20" name="">
            <a:extLst xmlns:a="http://schemas.openxmlformats.org/drawingml/2006/main">
              <a:ext uri="{FF2B5EF4-FFF2-40B4-BE49-F238E27FC236}">
                <a16:creationId xmlns:a16="http://schemas.microsoft.com/office/drawing/2014/main" id="{CAA4C09D-5931-47BA-BA0E-69BA41702634}"/>
              </a:ext>
            </a:extLst>
          </p:cNvPr>
          <p:cNvSpPr>
            <a:spLocks xmlns:a="http://schemas.openxmlformats.org/drawingml/2006/main" noGrp="1"/>
          </p:cNvSpPr>
          <p:nvPr/>
        </p:nvSpPr>
        <p:spPr>
          <a:xfrm xmlns:a="http://schemas.openxmlformats.org/drawingml/2006/main">
            <a:off x="857250" y="5181600"/>
            <a:ext cx="981075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7A9BCC4-B67F-4B04-BEA6-0F84DD23DA4B}"/>
              </a:ext>
            </a:extLst>
          </p:cNvPr>
          <p:cNvSpPr>
            <a:spLocks xmlns:a="http://schemas.openxmlformats.org/drawingml/2006/main" noGrp="1"/>
          </p:cNvSpPr>
          <p:nvPr/>
        </p:nvSpPr>
        <p:spPr>
          <a:xfrm xmlns:a="http://schemas.openxmlformats.org/drawingml/2006/main">
            <a:off x="857250" y="5657850"/>
            <a:ext cx="981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725" b="1" i="0">
                <a:solidFill>
                  <a:srgbClr val="70D6A6"/>
                </a:solidFill>
                <a:latin typeface="Aptos"/>
                <a:ea typeface="Aptos"/>
                <a:cs typeface="Aptos"/>
              </a:defRPr>
            </a:pPr>
            <a:r>
              <a:rPr sz="1725" b="1" i="0">
                <a:solidFill>
                  <a:srgbClr val="70D6A6"/>
                </a:solidFill>
                <a:latin typeface="Aptos"/>
                <a:ea typeface="Aptos"/>
                <a:cs typeface="Aptos"/>
              </a:rPr>
              <a:t>Restart a service only after capturing evidence.</a:t>
            </a:r>
          </a:p>
        </p:txBody>
      </p:sp>
    </p:spTree>
    <p:extLst>
      <p:ext uri="{BB962C8B-B14F-4D97-AF65-F5344CB8AC3E}">
        <p14:creationId xmlns:p14="http://schemas.microsoft.com/office/powerpoint/2010/main" val="1092880753"/>
      </p:ext>
    </p:extLst>
  </p:cSld>
</p:sld>
</file>

<file path=ppt/slides/slide86.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CB828C7-CAAA-417C-AB5C-5B87881A1B8A}"/>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8 / SYSTEMD</a:t>
            </a:r>
          </a:p>
        </p:txBody>
      </p:sp>
      <p:sp>
        <p:nvSpPr>
          <p:cNvPr id="2" name="">
            <a:extLst xmlns:a="http://schemas.openxmlformats.org/drawingml/2006/main">
              <a:ext uri="{FF2B5EF4-FFF2-40B4-BE49-F238E27FC236}">
                <a16:creationId xmlns:a16="http://schemas.microsoft.com/office/drawing/2014/main" id="{FD3486F9-95BE-4388-B05C-15DFD8039B5C}"/>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885"/>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Live demo: diagnose a missing EnvironmentFile</a:t>
            </a:r>
          </a:p>
        </p:txBody>
      </p:sp>
      <p:sp>
        <p:nvSpPr>
          <p:cNvPr id="3" name="">
            <a:extLst xmlns:a="http://schemas.openxmlformats.org/drawingml/2006/main">
              <a:ext uri="{FF2B5EF4-FFF2-40B4-BE49-F238E27FC236}">
                <a16:creationId xmlns:a16="http://schemas.microsoft.com/office/drawing/2014/main" id="{17EC8EB2-0465-4724-AB3B-7DDE6419D5CA}"/>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DADF1D4-19DF-4B0F-85A8-272F546FD19C}"/>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3ABA09BB-6D3A-4794-A3AF-EC69BD41C31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86</a:t>
            </a:r>
          </a:p>
        </p:txBody>
      </p:sp>
      <p:sp>
        <p:nvSpPr>
          <p:cNvPr id="6" name="">
            <a:extLst xmlns:a="http://schemas.openxmlformats.org/drawingml/2006/main">
              <a:ext uri="{FF2B5EF4-FFF2-40B4-BE49-F238E27FC236}">
                <a16:creationId xmlns:a16="http://schemas.microsoft.com/office/drawing/2014/main" id="{C9888974-0EF9-414D-B135-556B638750AC}"/>
              </a:ext>
            </a:extLst>
          </p:cNvPr>
          <p:cNvSpPr>
            <a:spLocks xmlns:a="http://schemas.openxmlformats.org/drawingml/2006/main" noGrp="1"/>
          </p:cNvSpPr>
          <p:nvPr/>
        </p:nvSpPr>
        <p:spPr>
          <a:xfrm xmlns:a="http://schemas.openxmlformats.org/drawingml/2006/main">
            <a:off x="762000" y="1714500"/>
            <a:ext cx="10668000" cy="3752850"/>
          </a:xfrm>
          <a:prstGeom xmlns:a="http://schemas.openxmlformats.org/drawingml/2006/main" prst="roundRect">
            <a:avLst>
              <a:gd name="adj" fmla="val 4061"/>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E7BC5BC6-EB19-40D9-8142-4CDB3A82399F}"/>
              </a:ext>
            </a:extLst>
          </p:cNvPr>
          <p:cNvSpPr>
            <a:spLocks xmlns:a="http://schemas.openxmlformats.org/drawingml/2006/main" noGrp="1"/>
          </p:cNvSpPr>
          <p:nvPr/>
        </p:nvSpPr>
        <p:spPr>
          <a:xfrm xmlns:a="http://schemas.openxmlformats.org/drawingml/2006/main">
            <a:off x="762000" y="1714500"/>
            <a:ext cx="10668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ED6BD52-1361-4D41-B287-3C1C5A654111}"/>
              </a:ext>
            </a:extLst>
          </p:cNvPr>
          <p:cNvSpPr>
            <a:spLocks xmlns:a="http://schemas.openxmlformats.org/drawingml/2006/main" noGrp="1"/>
          </p:cNvSpPr>
          <p:nvPr/>
        </p:nvSpPr>
        <p:spPr>
          <a:xfrm xmlns:a="http://schemas.openxmlformats.org/drawingml/2006/main">
            <a:off x="762000" y="1981200"/>
            <a:ext cx="10668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417C470-CF85-44BF-B5F5-B3EECC96BA1A}"/>
              </a:ext>
            </a:extLst>
          </p:cNvPr>
          <p:cNvSpPr>
            <a:spLocks xmlns:a="http://schemas.openxmlformats.org/drawingml/2006/main" noGrp="1"/>
          </p:cNvSpPr>
          <p:nvPr/>
        </p:nvSpPr>
        <p:spPr>
          <a:xfrm xmlns:a="http://schemas.openxmlformats.org/drawingml/2006/main">
            <a:off x="933450" y="18669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5A26308-2FEB-4C5F-853B-69979C4C0596}"/>
              </a:ext>
            </a:extLst>
          </p:cNvPr>
          <p:cNvSpPr>
            <a:spLocks xmlns:a="http://schemas.openxmlformats.org/drawingml/2006/main" noGrp="1"/>
          </p:cNvSpPr>
          <p:nvPr/>
        </p:nvSpPr>
        <p:spPr>
          <a:xfrm xmlns:a="http://schemas.openxmlformats.org/drawingml/2006/main">
            <a:off x="1104900" y="18669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737C462D-5F49-407F-9D00-AA19D6476B1E}"/>
              </a:ext>
            </a:extLst>
          </p:cNvPr>
          <p:cNvSpPr>
            <a:spLocks xmlns:a="http://schemas.openxmlformats.org/drawingml/2006/main" noGrp="1"/>
          </p:cNvSpPr>
          <p:nvPr/>
        </p:nvSpPr>
        <p:spPr>
          <a:xfrm xmlns:a="http://schemas.openxmlformats.org/drawingml/2006/main">
            <a:off x="1276350" y="18669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E1CB042-084B-4CE4-A0CB-A09D8CB7C5D6}"/>
              </a:ext>
            </a:extLst>
          </p:cNvPr>
          <p:cNvSpPr>
            <a:spLocks xmlns:a="http://schemas.openxmlformats.org/drawingml/2006/main" noGrp="1"/>
          </p:cNvSpPr>
          <p:nvPr/>
        </p:nvSpPr>
        <p:spPr>
          <a:xfrm xmlns:a="http://schemas.openxmlformats.org/drawingml/2006/main">
            <a:off x="1543050" y="1828800"/>
            <a:ext cx="971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FAILED DECLARATION → VERIFIED ENDPOINT</a:t>
            </a:r>
          </a:p>
        </p:txBody>
      </p:sp>
      <p:sp>
        <p:nvSpPr>
          <p:cNvPr id="13" name="">
            <a:extLst xmlns:a="http://schemas.openxmlformats.org/drawingml/2006/main">
              <a:ext uri="{FF2B5EF4-FFF2-40B4-BE49-F238E27FC236}">
                <a16:creationId xmlns:a16="http://schemas.microsoft.com/office/drawing/2014/main" id="{F7678265-E1CF-4478-9773-56C70B6118B3}"/>
              </a:ext>
            </a:extLst>
          </p:cNvPr>
          <p:cNvSpPr>
            <a:spLocks xmlns:a="http://schemas.openxmlformats.org/drawingml/2006/main" noGrp="1"/>
          </p:cNvSpPr>
          <p:nvPr/>
        </p:nvSpPr>
        <p:spPr>
          <a:xfrm xmlns:a="http://schemas.openxmlformats.org/drawingml/2006/main">
            <a:off x="990600" y="2286000"/>
            <a:ext cx="10210800" cy="2990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systemctl status demo-api.service --no-pager</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journalctl -u demo-api.service -b --no-pager</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systemctl cat demo-api.service</a:t>
            </a:r>
          </a:p>
          <a:p xmlns:a="http://schemas.openxmlformats.org/drawingml/2006/main">
            <a:pPr>
              <a:defRPr sz="1500">
                <a:solidFill>
                  <a:srgbClr val="FFF8EE"/>
                </a:solidFill>
              </a:defRPr>
            </a:pPr>
            <a:r>
              <a:rPr sz="1500">
                <a:solidFill>
                  <a:srgbClr val="FFF8EE"/>
                </a:solidFill>
              </a:rPr>
              <a:t>printf 'DEMO_PORT=8181\n' | sudo tee /etc/demo-api.env</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systemctl restart demo-api.service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systemctl is-active demo-api.service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ss -ltn 'sport = :8181'</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curl -I http://127.0.0.1:8181/</a:t>
            </a:r>
          </a:p>
        </p:txBody>
      </p:sp>
      <p:sp>
        <p:nvSpPr>
          <p:cNvPr id="14" name="">
            <a:extLst xmlns:a="http://schemas.openxmlformats.org/drawingml/2006/main">
              <a:ext uri="{FF2B5EF4-FFF2-40B4-BE49-F238E27FC236}">
                <a16:creationId xmlns:a16="http://schemas.microsoft.com/office/drawing/2014/main" id="{D2DDF713-7C35-4595-AE97-FFF039E5F694}"/>
              </a:ext>
            </a:extLst>
          </p:cNvPr>
          <p:cNvSpPr>
            <a:spLocks xmlns:a="http://schemas.openxmlformats.org/drawingml/2006/main" noGrp="1"/>
          </p:cNvSpPr>
          <p:nvPr/>
        </p:nvSpPr>
        <p:spPr>
          <a:xfrm xmlns:a="http://schemas.openxmlformats.org/drawingml/2006/main">
            <a:off x="762000" y="5715000"/>
            <a:ext cx="1066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70D6A6"/>
                </a:solidFill>
                <a:latin typeface="Aptos"/>
                <a:ea typeface="Aptos"/>
                <a:cs typeface="Aptos"/>
              </a:defRPr>
            </a:pPr>
            <a:r>
              <a:rPr sz="1875" b="1" i="0">
                <a:solidFill>
                  <a:srgbClr val="70D6A6"/>
                </a:solidFill>
                <a:latin typeface="Aptos"/>
                <a:ea typeface="Aptos"/>
                <a:cs typeface="Aptos"/>
              </a:rPr>
              <a:t>Restore the declared prerequisite; then test state, socket, and protocol.</a:t>
            </a:r>
          </a:p>
        </p:txBody>
      </p:sp>
    </p:spTree>
    <p:extLst>
      <p:ext uri="{BB962C8B-B14F-4D97-AF65-F5344CB8AC3E}">
        <p14:creationId xmlns:p14="http://schemas.microsoft.com/office/powerpoint/2010/main" val="293971651"/>
      </p:ext>
    </p:extLst>
  </p:cSld>
</p:sld>
</file>

<file path=ppt/slides/slide87.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093"/>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Diagnose services from symptom to verified behavior</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87</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State</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systemctl status and is-active</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Events</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journalctl by unit, boot, and time</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Definition</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systemctl cat and show</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Repair</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change one evidenced cause</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Behavior</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test the endpoint as a real client</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1644"/>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A green active state proves that systemd sees a running process, not that users receive the intended service.</a:t>
            </a:r>
          </a:p>
        </p:txBody>
      </p:sp>
    </p:spTree>
    <p:extLst>
      <p:ext uri="{BB962C8B-B14F-4D97-AF65-F5344CB8AC3E}">
        <p14:creationId xmlns:p14="http://schemas.microsoft.com/office/powerpoint/2010/main" val="802295806"/>
      </p:ext>
    </p:extLst>
  </p:cSld>
</p:sld>
</file>

<file path=ppt/slides/slide8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8 / EVIDENCE CHAIN</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Read the repair from declaration to behavior</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88</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State</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systemctl status demo-api --no-pager</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Events</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journalctl -u demo-api -b</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Definition</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systemctl cat demo-api</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Repair</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create /etc/demo-api.env only</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Restart</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systemctl restart demo-api</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Verify</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is-active + ss :8181 + curl -I</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89.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D9833BD3-0672-4779-9EB3-8E71DC050B3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HANDS-ON / LAB 8</a:t>
            </a:r>
          </a:p>
        </p:txBody>
      </p:sp>
      <p:sp>
        <p:nvSpPr>
          <p:cNvPr id="2" name="">
            <a:extLst xmlns:a="http://schemas.openxmlformats.org/drawingml/2006/main">
              <a:ext uri="{FF2B5EF4-FFF2-40B4-BE49-F238E27FC236}">
                <a16:creationId xmlns:a16="http://schemas.microsoft.com/office/drawing/2014/main" id="{D247334C-6068-4782-81A5-2555B3D14565}"/>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Lab 8 — Repair a service from evidence</a:t>
            </a:r>
          </a:p>
        </p:txBody>
      </p:sp>
      <p:sp>
        <p:nvSpPr>
          <p:cNvPr id="3" name="">
            <a:extLst xmlns:a="http://schemas.openxmlformats.org/drawingml/2006/main">
              <a:ext uri="{FF2B5EF4-FFF2-40B4-BE49-F238E27FC236}">
                <a16:creationId xmlns:a16="http://schemas.microsoft.com/office/drawing/2014/main" id="{5B7E1CFF-45E6-46A2-AC95-345A45864F6C}"/>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48BD663-E972-4A30-92C1-C04C99DD27E6}"/>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C00D4498-7AEF-4978-A0D4-A384B6DF2296}"/>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89</a:t>
            </a:r>
          </a:p>
        </p:txBody>
      </p:sp>
      <p:sp>
        <p:nvSpPr>
          <p:cNvPr id="6" name="">
            <a:extLst xmlns:a="http://schemas.openxmlformats.org/drawingml/2006/main">
              <a:ext uri="{FF2B5EF4-FFF2-40B4-BE49-F238E27FC236}">
                <a16:creationId xmlns:a16="http://schemas.microsoft.com/office/drawing/2014/main" id="{324D7AA5-1B7A-46F0-B60D-AFDF7AA06C69}"/>
              </a:ext>
            </a:extLst>
          </p:cNvPr>
          <p:cNvSpPr>
            <a:spLocks xmlns:a="http://schemas.openxmlformats.org/drawingml/2006/main" noGrp="1"/>
          </p:cNvSpPr>
          <p:nvPr/>
        </p:nvSpPr>
        <p:spPr>
          <a:xfrm xmlns:a="http://schemas.openxmlformats.org/drawingml/2006/main">
            <a:off x="800100" y="17907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MISSION · 25 MIN</a:t>
            </a:r>
          </a:p>
        </p:txBody>
      </p:sp>
      <p:sp>
        <p:nvSpPr>
          <p:cNvPr id="7" name="">
            <a:extLst xmlns:a="http://schemas.openxmlformats.org/drawingml/2006/main">
              <a:ext uri="{FF2B5EF4-FFF2-40B4-BE49-F238E27FC236}">
                <a16:creationId xmlns:a16="http://schemas.microsoft.com/office/drawing/2014/main" id="{F9415872-9C11-409D-903F-82DFBD71123F}"/>
              </a:ext>
            </a:extLst>
          </p:cNvPr>
          <p:cNvSpPr>
            <a:spLocks xmlns:a="http://schemas.openxmlformats.org/drawingml/2006/main" noGrp="1"/>
          </p:cNvSpPr>
          <p:nvPr/>
        </p:nvSpPr>
        <p:spPr>
          <a:xfrm xmlns:a="http://schemas.openxmlformats.org/drawingml/2006/main">
            <a:off x="800100" y="2228850"/>
            <a:ext cx="4095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Broken service capstone</a:t>
            </a:r>
          </a:p>
        </p:txBody>
      </p:sp>
      <p:sp>
        <p:nvSpPr>
          <p:cNvPr id="8" name="">
            <a:extLst xmlns:a="http://schemas.openxmlformats.org/drawingml/2006/main">
              <a:ext uri="{FF2B5EF4-FFF2-40B4-BE49-F238E27FC236}">
                <a16:creationId xmlns:a16="http://schemas.microsoft.com/office/drawing/2014/main" id="{AF5C6E71-8DD4-4FC1-BEE6-6BBC5B9C2F42}"/>
              </a:ext>
            </a:extLst>
          </p:cNvPr>
          <p:cNvSpPr>
            <a:spLocks xmlns:a="http://schemas.openxmlformats.org/drawingml/2006/main" noGrp="1"/>
          </p:cNvSpPr>
          <p:nvPr/>
        </p:nvSpPr>
        <p:spPr>
          <a:xfrm xmlns:a="http://schemas.openxmlformats.org/drawingml/2006/main">
            <a:off x="800100" y="3009900"/>
            <a:ext cx="4953000" cy="2190750"/>
          </a:xfrm>
          <a:prstGeom xmlns:a="http://schemas.openxmlformats.org/drawingml/2006/main" prst="roundRect">
            <a:avLst>
              <a:gd name="adj" fmla="val 6957"/>
            </a:avLst>
          </a:prstGeom>
          <a:solidFill xmlns:a="http://schemas.openxmlformats.org/drawingml/2006/main">
            <a:srgbClr val="28183A"/>
          </a:solidFill>
          <a:ln xmlns:a="http://schemas.openxmlformats.org/drawingml/2006/main" w="9525">
            <a:solidFill>
              <a:srgbClr val="4A335D"/>
            </a:solidFill>
            <a:prstDash val="solid"/>
          </a:ln>
        </p:spPr>
      </p:sp>
      <p:sp>
        <p:nvSpPr>
          <p:cNvPr id="9" name="">
            <a:extLst xmlns:a="http://schemas.openxmlformats.org/drawingml/2006/main">
              <a:ext uri="{FF2B5EF4-FFF2-40B4-BE49-F238E27FC236}">
                <a16:creationId xmlns:a16="http://schemas.microsoft.com/office/drawing/2014/main" id="{80367D35-5EDB-429E-922C-C046DC415680}"/>
              </a:ext>
            </a:extLst>
          </p:cNvPr>
          <p:cNvSpPr>
            <a:spLocks xmlns:a="http://schemas.openxmlformats.org/drawingml/2006/main" noGrp="1"/>
          </p:cNvSpPr>
          <p:nvPr/>
        </p:nvSpPr>
        <p:spPr>
          <a:xfrm xmlns:a="http://schemas.openxmlformats.org/drawingml/2006/main">
            <a:off x="800100" y="3009900"/>
            <a:ext cx="4953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CE8F602-67C2-43C8-AF34-A023C509094B}"/>
              </a:ext>
            </a:extLst>
          </p:cNvPr>
          <p:cNvSpPr>
            <a:spLocks xmlns:a="http://schemas.openxmlformats.org/drawingml/2006/main" noGrp="1"/>
          </p:cNvSpPr>
          <p:nvPr/>
        </p:nvSpPr>
        <p:spPr>
          <a:xfrm xmlns:a="http://schemas.openxmlformats.org/drawingml/2006/main">
            <a:off x="800100" y="3276600"/>
            <a:ext cx="4953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F7E26F0-5CC2-4A12-BDCC-1A06D14D095C}"/>
              </a:ext>
            </a:extLst>
          </p:cNvPr>
          <p:cNvSpPr>
            <a:spLocks xmlns:a="http://schemas.openxmlformats.org/drawingml/2006/main" noGrp="1"/>
          </p:cNvSpPr>
          <p:nvPr/>
        </p:nvSpPr>
        <p:spPr>
          <a:xfrm xmlns:a="http://schemas.openxmlformats.org/drawingml/2006/main">
            <a:off x="971550" y="31623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826F062-9D6E-4828-9B6B-EA58B274D004}"/>
              </a:ext>
            </a:extLst>
          </p:cNvPr>
          <p:cNvSpPr>
            <a:spLocks xmlns:a="http://schemas.openxmlformats.org/drawingml/2006/main" noGrp="1"/>
          </p:cNvSpPr>
          <p:nvPr/>
        </p:nvSpPr>
        <p:spPr>
          <a:xfrm xmlns:a="http://schemas.openxmlformats.org/drawingml/2006/main">
            <a:off x="1143000" y="31623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D6A8CEC-C44D-4259-82B1-364089D5F457}"/>
              </a:ext>
            </a:extLst>
          </p:cNvPr>
          <p:cNvSpPr>
            <a:spLocks xmlns:a="http://schemas.openxmlformats.org/drawingml/2006/main" noGrp="1"/>
          </p:cNvSpPr>
          <p:nvPr/>
        </p:nvSpPr>
        <p:spPr>
          <a:xfrm xmlns:a="http://schemas.openxmlformats.org/drawingml/2006/main">
            <a:off x="1314450" y="31623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48FAD2D-474C-4D7E-8D6B-08B0CD42FA19}"/>
              </a:ext>
            </a:extLst>
          </p:cNvPr>
          <p:cNvSpPr>
            <a:spLocks xmlns:a="http://schemas.openxmlformats.org/drawingml/2006/main" noGrp="1"/>
          </p:cNvSpPr>
          <p:nvPr/>
        </p:nvSpPr>
        <p:spPr>
          <a:xfrm xmlns:a="http://schemas.openxmlformats.org/drawingml/2006/main">
            <a:off x="1581150" y="31242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DELIVERABLES</a:t>
            </a:r>
          </a:p>
        </p:txBody>
      </p:sp>
      <p:sp>
        <p:nvSpPr>
          <p:cNvPr id="15" name="">
            <a:extLst xmlns:a="http://schemas.openxmlformats.org/drawingml/2006/main">
              <a:ext uri="{FF2B5EF4-FFF2-40B4-BE49-F238E27FC236}">
                <a16:creationId xmlns:a16="http://schemas.microsoft.com/office/drawing/2014/main" id="{AC61AC9D-DEB2-4D1D-9A32-C13A6D89E8B9}"/>
              </a:ext>
            </a:extLst>
          </p:cNvPr>
          <p:cNvSpPr>
            <a:spLocks xmlns:a="http://schemas.openxmlformats.org/drawingml/2006/main" noGrp="1"/>
          </p:cNvSpPr>
          <p:nvPr/>
        </p:nvSpPr>
        <p:spPr>
          <a:xfrm xmlns:a="http://schemas.openxmlformats.org/drawingml/2006/main">
            <a:off x="1028700" y="3581400"/>
            <a:ext cx="44958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Explain the CHDIR failure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Create only the missing prerequisites</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Enable, start, and verify course-web</a:t>
            </a:r>
          </a:p>
        </p:txBody>
      </p:sp>
      <p:sp>
        <p:nvSpPr>
          <p:cNvPr id="16" name="">
            <a:extLst xmlns:a="http://schemas.openxmlformats.org/drawingml/2006/main">
              <a:ext uri="{FF2B5EF4-FFF2-40B4-BE49-F238E27FC236}">
                <a16:creationId xmlns:a16="http://schemas.microsoft.com/office/drawing/2014/main" id="{18FA52CE-1464-4ABC-8C2B-0417FBBC0443}"/>
              </a:ext>
            </a:extLst>
          </p:cNvPr>
          <p:cNvSpPr>
            <a:spLocks xmlns:a="http://schemas.openxmlformats.org/drawingml/2006/main" noGrp="1"/>
          </p:cNvSpPr>
          <p:nvPr/>
        </p:nvSpPr>
        <p:spPr>
          <a:xfrm xmlns:a="http://schemas.openxmlformats.org/drawingml/2006/main">
            <a:off x="6667500" y="17907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ACCEPTANCE EVIDENCE</a:t>
            </a:r>
          </a:p>
        </p:txBody>
      </p:sp>
      <p:sp>
        <p:nvSpPr>
          <p:cNvPr id="17" name="">
            <a:extLst xmlns:a="http://schemas.openxmlformats.org/drawingml/2006/main">
              <a:ext uri="{FF2B5EF4-FFF2-40B4-BE49-F238E27FC236}">
                <a16:creationId xmlns:a16="http://schemas.microsoft.com/office/drawing/2014/main" id="{3A11BCE1-4A2A-4883-A988-CD70CAA4FCAD}"/>
              </a:ext>
            </a:extLst>
          </p:cNvPr>
          <p:cNvSpPr>
            <a:spLocks xmlns:a="http://schemas.openxmlformats.org/drawingml/2006/main" noGrp="1"/>
          </p:cNvSpPr>
          <p:nvPr/>
        </p:nvSpPr>
        <p:spPr>
          <a:xfrm xmlns:a="http://schemas.openxmlformats.org/drawingml/2006/main">
            <a:off x="6667500" y="2228850"/>
            <a:ext cx="428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Checker requires</a:t>
            </a:r>
          </a:p>
        </p:txBody>
      </p:sp>
      <p:sp>
        <p:nvSpPr>
          <p:cNvPr id="18" name="">
            <a:extLst xmlns:a="http://schemas.openxmlformats.org/drawingml/2006/main">
              <a:ext uri="{FF2B5EF4-FFF2-40B4-BE49-F238E27FC236}">
                <a16:creationId xmlns:a16="http://schemas.microsoft.com/office/drawing/2014/main" id="{27F87451-D0E8-4D78-B5C3-D526E48F5BB7}"/>
              </a:ext>
            </a:extLst>
          </p:cNvPr>
          <p:cNvSpPr>
            <a:spLocks xmlns:a="http://schemas.openxmlformats.org/drawingml/2006/main" noGrp="1"/>
          </p:cNvSpPr>
          <p:nvPr/>
        </p:nvSpPr>
        <p:spPr>
          <a:xfrm xmlns:a="http://schemas.openxmlformats.org/drawingml/2006/main">
            <a:off x="6667500" y="3171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FD88F18-46B5-41BD-BFCA-8B5AAF8849FF}"/>
              </a:ext>
            </a:extLst>
          </p:cNvPr>
          <p:cNvSpPr>
            <a:spLocks xmlns:a="http://schemas.openxmlformats.org/drawingml/2006/main" noGrp="1"/>
          </p:cNvSpPr>
          <p:nvPr/>
        </p:nvSpPr>
        <p:spPr>
          <a:xfrm xmlns:a="http://schemas.openxmlformats.org/drawingml/2006/main">
            <a:off x="6934200" y="31051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Web root ownership and mode are correct</a:t>
            </a:r>
          </a:p>
        </p:txBody>
      </p:sp>
      <p:sp>
        <p:nvSpPr>
          <p:cNvPr id="20" name="">
            <a:extLst xmlns:a="http://schemas.openxmlformats.org/drawingml/2006/main">
              <a:ext uri="{FF2B5EF4-FFF2-40B4-BE49-F238E27FC236}">
                <a16:creationId xmlns:a16="http://schemas.microsoft.com/office/drawing/2014/main" id="{B3D28E46-FE52-45D5-8EA1-BF10770E6C54}"/>
              </a:ext>
            </a:extLst>
          </p:cNvPr>
          <p:cNvSpPr>
            <a:spLocks xmlns:a="http://schemas.openxmlformats.org/drawingml/2006/main" noGrp="1"/>
          </p:cNvSpPr>
          <p:nvPr/>
        </p:nvSpPr>
        <p:spPr>
          <a:xfrm xmlns:a="http://schemas.openxmlformats.org/drawingml/2006/main">
            <a:off x="6667500" y="37433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3C2B25C-6BDE-4AAB-904E-0F15113DF0D2}"/>
              </a:ext>
            </a:extLst>
          </p:cNvPr>
          <p:cNvSpPr>
            <a:spLocks xmlns:a="http://schemas.openxmlformats.org/drawingml/2006/main" noGrp="1"/>
          </p:cNvSpPr>
          <p:nvPr/>
        </p:nvSpPr>
        <p:spPr>
          <a:xfrm xmlns:a="http://schemas.openxmlformats.org/drawingml/2006/main">
            <a:off x="6934200" y="36766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Unit is active and enabled</a:t>
            </a:r>
          </a:p>
        </p:txBody>
      </p:sp>
      <p:sp>
        <p:nvSpPr>
          <p:cNvPr id="22" name="">
            <a:extLst xmlns:a="http://schemas.openxmlformats.org/drawingml/2006/main">
              <a:ext uri="{FF2B5EF4-FFF2-40B4-BE49-F238E27FC236}">
                <a16:creationId xmlns:a16="http://schemas.microsoft.com/office/drawing/2014/main" id="{2E701848-E1C5-4F87-8279-E3EBE384F7A9}"/>
              </a:ext>
            </a:extLst>
          </p:cNvPr>
          <p:cNvSpPr>
            <a:spLocks xmlns:a="http://schemas.openxmlformats.org/drawingml/2006/main" noGrp="1"/>
          </p:cNvSpPr>
          <p:nvPr/>
        </p:nvSpPr>
        <p:spPr>
          <a:xfrm xmlns:a="http://schemas.openxmlformats.org/drawingml/2006/main">
            <a:off x="6667500" y="4314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09B7F9F-1914-4FC1-9251-2A3E490D832A}"/>
              </a:ext>
            </a:extLst>
          </p:cNvPr>
          <p:cNvSpPr>
            <a:spLocks xmlns:a="http://schemas.openxmlformats.org/drawingml/2006/main" noGrp="1"/>
          </p:cNvSpPr>
          <p:nvPr/>
        </p:nvSpPr>
        <p:spPr>
          <a:xfrm xmlns:a="http://schemas.openxmlformats.org/drawingml/2006/main">
            <a:off x="6934200" y="42481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Port 8088 is listening</a:t>
            </a:r>
          </a:p>
        </p:txBody>
      </p:sp>
      <p:sp>
        <p:nvSpPr>
          <p:cNvPr id="24" name="">
            <a:extLst xmlns:a="http://schemas.openxmlformats.org/drawingml/2006/main">
              <a:ext uri="{FF2B5EF4-FFF2-40B4-BE49-F238E27FC236}">
                <a16:creationId xmlns:a16="http://schemas.microsoft.com/office/drawing/2014/main" id="{B139B5F9-EFF3-4E76-9E50-53E4221E0BC5}"/>
              </a:ext>
            </a:extLst>
          </p:cNvPr>
          <p:cNvSpPr>
            <a:spLocks xmlns:a="http://schemas.openxmlformats.org/drawingml/2006/main" noGrp="1"/>
          </p:cNvSpPr>
          <p:nvPr/>
        </p:nvSpPr>
        <p:spPr>
          <a:xfrm xmlns:a="http://schemas.openxmlformats.org/drawingml/2006/main">
            <a:off x="6667500" y="48863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1629B6F-E8A2-4282-9017-3DE5C9ABE668}"/>
              </a:ext>
            </a:extLst>
          </p:cNvPr>
          <p:cNvSpPr>
            <a:spLocks xmlns:a="http://schemas.openxmlformats.org/drawingml/2006/main" noGrp="1"/>
          </p:cNvSpPr>
          <p:nvPr/>
        </p:nvSpPr>
        <p:spPr>
          <a:xfrm xmlns:a="http://schemas.openxmlformats.org/drawingml/2006/main">
            <a:off x="6934200" y="48196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HTTP returns the health sentence</a:t>
            </a:r>
          </a:p>
        </p:txBody>
      </p:sp>
      <p:sp>
        <p:nvSpPr>
          <p:cNvPr id="26" name="">
            <a:extLst xmlns:a="http://schemas.openxmlformats.org/drawingml/2006/main">
              <a:ext uri="{FF2B5EF4-FFF2-40B4-BE49-F238E27FC236}">
                <a16:creationId xmlns:a16="http://schemas.microsoft.com/office/drawing/2014/main" id="{31BF24E7-ED3D-4226-A7DC-0713BF70C771}"/>
              </a:ext>
            </a:extLst>
          </p:cNvPr>
          <p:cNvSpPr>
            <a:spLocks xmlns:a="http://schemas.openxmlformats.org/drawingml/2006/main" noGrp="1"/>
          </p:cNvSpPr>
          <p:nvPr/>
        </p:nvSpPr>
        <p:spPr>
          <a:xfrm xmlns:a="http://schemas.openxmlformats.org/drawingml/2006/main">
            <a:off x="800100" y="5600700"/>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1" i="0">
                <a:solidFill>
                  <a:srgbClr val="8B5CF6"/>
                </a:solidFill>
                <a:latin typeface="Aptos"/>
                <a:ea typeface="Aptos"/>
                <a:cs typeface="Aptos"/>
              </a:defRPr>
            </a:pPr>
            <a:r>
              <a:rPr sz="1650" b="1" i="0">
                <a:solidFill>
                  <a:srgbClr val="8B5CF6"/>
                </a:solidFill>
                <a:latin typeface="Aptos"/>
                <a:ea typeface="Aptos"/>
                <a:cs typeface="Aptos"/>
              </a:rPr>
              <a:t>Debrief: why was creating the directory safer than editing the unit?</a:t>
            </a:r>
          </a:p>
        </p:txBody>
      </p:sp>
    </p:spTree>
    <p:extLst>
      <p:ext uri="{BB962C8B-B14F-4D97-AF65-F5344CB8AC3E}">
        <p14:creationId xmlns:p14="http://schemas.microsoft.com/office/powerpoint/2010/main" val="276205261"/>
      </p:ext>
    </p:extLst>
  </p:cSld>
</p:sld>
</file>

<file path=ppt/slides/slide90.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LINUX / PROCESSES</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A process is a running program with context</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90</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PID</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a temporary process identifier</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Parent</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the process that created it</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Identity</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effective user and groups used for access checks</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Environment</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name/value data inherited at process start</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Descriptors</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open files, sockets, and streams</a:t>
            </a:r>
          </a:p>
        </p:txBody>
      </p:sp>
    </p:spTree>
    <p:extLst>
      <p:ext uri="{BB962C8B-B14F-4D97-AF65-F5344CB8AC3E}">
        <p14:creationId xmlns:p14="http://schemas.microsoft.com/office/powerpoint/2010/main" val="1018217464"/>
      </p:ext>
    </p:extLst>
  </p:cSld>
</p:sld>
</file>

<file path=ppt/slides/slide91.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PROCESSES / SOCKETS</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34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A service is observable through independent interfaces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91</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MANAGER + PROCESS</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unit → MainPID</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systemctl show exposes runtime state</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ps shows hierarchy and credentials</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/proc/PID/cmdline supports the account</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SOCKET + BEHAVIOR</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17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listener → client</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ss proves a listening transport endpoint</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curl proves application behavior</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stop through the manager</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No single view proves declaration, process, network, and behavior.</a:t>
            </a:r>
          </a:p>
        </p:txBody>
      </p:sp>
    </p:spTree>
    <p:extLst>
      <p:ext uri="{BB962C8B-B14F-4D97-AF65-F5344CB8AC3E}">
        <p14:creationId xmlns:p14="http://schemas.microsoft.com/office/powerpoint/2010/main" val="1882871272"/>
      </p:ext>
    </p:extLst>
  </p:cSld>
</p:sld>
</file>

<file path=ppt/slides/slide92.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D3EC027-DBDF-4617-BA18-14262B0A74D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9 / PROCESS + PORT</a:t>
            </a:r>
          </a:p>
        </p:txBody>
      </p:sp>
      <p:sp>
        <p:nvSpPr>
          <p:cNvPr id="2" name="">
            <a:extLst xmlns:a="http://schemas.openxmlformats.org/drawingml/2006/main">
              <a:ext uri="{FF2B5EF4-FFF2-40B4-BE49-F238E27FC236}">
                <a16:creationId xmlns:a16="http://schemas.microsoft.com/office/drawing/2014/main" id="{14BF0B22-E65F-4DC1-91D6-D681B52760C3}"/>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827"/>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Live demo: trace demo-echo.service to port 9191</a:t>
            </a:r>
          </a:p>
        </p:txBody>
      </p:sp>
      <p:sp>
        <p:nvSpPr>
          <p:cNvPr id="3" name="">
            <a:extLst xmlns:a="http://schemas.openxmlformats.org/drawingml/2006/main">
              <a:ext uri="{FF2B5EF4-FFF2-40B4-BE49-F238E27FC236}">
                <a16:creationId xmlns:a16="http://schemas.microsoft.com/office/drawing/2014/main" id="{FF1053F3-6C0A-402A-A846-6E35A6A1D93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7221C33-5CAC-4B74-81AB-4A80530F6D48}"/>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C4DE9BD8-9B2C-4DA9-B386-375C89C59E4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92</a:t>
            </a:r>
          </a:p>
        </p:txBody>
      </p:sp>
      <p:sp>
        <p:nvSpPr>
          <p:cNvPr id="6" name="">
            <a:extLst xmlns:a="http://schemas.openxmlformats.org/drawingml/2006/main">
              <a:ext uri="{FF2B5EF4-FFF2-40B4-BE49-F238E27FC236}">
                <a16:creationId xmlns:a16="http://schemas.microsoft.com/office/drawing/2014/main" id="{D7BF475F-C704-4D84-A6DD-FE05602D7BE1}"/>
              </a:ext>
            </a:extLst>
          </p:cNvPr>
          <p:cNvSpPr>
            <a:spLocks xmlns:a="http://schemas.openxmlformats.org/drawingml/2006/main" noGrp="1"/>
          </p:cNvSpPr>
          <p:nvPr/>
        </p:nvSpPr>
        <p:spPr>
          <a:xfrm xmlns:a="http://schemas.openxmlformats.org/drawingml/2006/main">
            <a:off x="952500" y="1733550"/>
            <a:ext cx="10287000" cy="3638550"/>
          </a:xfrm>
          <a:prstGeom xmlns:a="http://schemas.openxmlformats.org/drawingml/2006/main" prst="roundRect">
            <a:avLst>
              <a:gd name="adj" fmla="val 4188"/>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1A73946E-109A-4648-9A64-BB72C508626B}"/>
              </a:ext>
            </a:extLst>
          </p:cNvPr>
          <p:cNvSpPr>
            <a:spLocks xmlns:a="http://schemas.openxmlformats.org/drawingml/2006/main" noGrp="1"/>
          </p:cNvSpPr>
          <p:nvPr/>
        </p:nvSpPr>
        <p:spPr>
          <a:xfrm xmlns:a="http://schemas.openxmlformats.org/drawingml/2006/main">
            <a:off x="952500" y="1733550"/>
            <a:ext cx="10287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E98DF47-7106-44F2-9C04-D652349EFD84}"/>
              </a:ext>
            </a:extLst>
          </p:cNvPr>
          <p:cNvSpPr>
            <a:spLocks xmlns:a="http://schemas.openxmlformats.org/drawingml/2006/main" noGrp="1"/>
          </p:cNvSpPr>
          <p:nvPr/>
        </p:nvSpPr>
        <p:spPr>
          <a:xfrm xmlns:a="http://schemas.openxmlformats.org/drawingml/2006/main">
            <a:off x="952500" y="2000250"/>
            <a:ext cx="10287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86F70EA-1FBC-42ED-98FD-B7BBF40310E7}"/>
              </a:ext>
            </a:extLst>
          </p:cNvPr>
          <p:cNvSpPr>
            <a:spLocks xmlns:a="http://schemas.openxmlformats.org/drawingml/2006/main" noGrp="1"/>
          </p:cNvSpPr>
          <p:nvPr/>
        </p:nvSpPr>
        <p:spPr>
          <a:xfrm xmlns:a="http://schemas.openxmlformats.org/drawingml/2006/main">
            <a:off x="1123950" y="18859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4C9F1AE-3A06-4A6D-9D81-5C96B71174C3}"/>
              </a:ext>
            </a:extLst>
          </p:cNvPr>
          <p:cNvSpPr>
            <a:spLocks xmlns:a="http://schemas.openxmlformats.org/drawingml/2006/main" noGrp="1"/>
          </p:cNvSpPr>
          <p:nvPr/>
        </p:nvSpPr>
        <p:spPr>
          <a:xfrm xmlns:a="http://schemas.openxmlformats.org/drawingml/2006/main">
            <a:off x="1295400" y="18859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1D630A9-A77F-4C74-B406-DCF51A76EB90}"/>
              </a:ext>
            </a:extLst>
          </p:cNvPr>
          <p:cNvSpPr>
            <a:spLocks xmlns:a="http://schemas.openxmlformats.org/drawingml/2006/main" noGrp="1"/>
          </p:cNvSpPr>
          <p:nvPr/>
        </p:nvSpPr>
        <p:spPr>
          <a:xfrm xmlns:a="http://schemas.openxmlformats.org/drawingml/2006/main">
            <a:off x="1466850" y="18859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AD5B70C-5E7E-405F-9661-03C199CD992C}"/>
              </a:ext>
            </a:extLst>
          </p:cNvPr>
          <p:cNvSpPr>
            <a:spLocks xmlns:a="http://schemas.openxmlformats.org/drawingml/2006/main" noGrp="1"/>
          </p:cNvSpPr>
          <p:nvPr/>
        </p:nvSpPr>
        <p:spPr>
          <a:xfrm xmlns:a="http://schemas.openxmlformats.org/drawingml/2006/main">
            <a:off x="1733550" y="1847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UNIT → PID → COMMAND → SOCKET → CLIENT</a:t>
            </a:r>
          </a:p>
        </p:txBody>
      </p:sp>
      <p:sp>
        <p:nvSpPr>
          <p:cNvPr id="13" name="">
            <a:extLst xmlns:a="http://schemas.openxmlformats.org/drawingml/2006/main">
              <a:ext uri="{FF2B5EF4-FFF2-40B4-BE49-F238E27FC236}">
                <a16:creationId xmlns:a16="http://schemas.microsoft.com/office/drawing/2014/main" id="{1BAB4BA9-0778-4E8F-878A-B659872B8D27}"/>
              </a:ext>
            </a:extLst>
          </p:cNvPr>
          <p:cNvSpPr>
            <a:spLocks xmlns:a="http://schemas.openxmlformats.org/drawingml/2006/main" noGrp="1"/>
          </p:cNvSpPr>
          <p:nvPr/>
        </p:nvSpPr>
        <p:spPr>
          <a:xfrm xmlns:a="http://schemas.openxmlformats.org/drawingml/2006/main">
            <a:off x="1181100" y="2305050"/>
            <a:ext cx="982980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systemctl show demo-echo.service -p MainPID -p ExecStart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pid="$(systemctl show demo-echo.service -p MainPID --value)"</a:t>
            </a:r>
          </a:p>
          <a:p xmlns:a="http://schemas.openxmlformats.org/drawingml/2006/main">
            <a:pPr>
              <a:defRPr sz="1500">
                <a:solidFill>
                  <a:srgbClr val="FFF8EE"/>
                </a:solidFill>
              </a:defRPr>
            </a:pPr>
            <a:r>
              <a:rPr sz="1500">
                <a:solidFill>
                  <a:srgbClr val="FFF8EE"/>
                </a:solidFill>
              </a:rPr>
              <a:t>ps -o pid,ppid,user,stat,cmd -p "$pid"</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tr '\0' ' ' &lt;"/proc/$pid/cmdline"; echo</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ss -ltnp 'sport = :9191'</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curl -fsS http://127.0.0.1:9191/</a:t>
            </a:r>
          </a:p>
          <a:p xmlns:a="http://schemas.openxmlformats.org/drawingml/2006/main">
            <a:pPr>
              <a:defRPr sz="1500">
                <a:solidFill>
                  <a:srgbClr val="FFF8EE"/>
                </a:solidFill>
              </a:defRPr>
            </a:pPr>
            <a:r>
              <a:rPr sz="1500">
                <a:solidFill>
                  <a:srgbClr val="FFF8EE"/>
                </a:solidFill>
              </a:rPr>
              <a:t>sudo systemctl stop demo-echo.service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ss -ltnH 'sport = :9191'</a:t>
            </a:r>
          </a:p>
        </p:txBody>
      </p:sp>
      <p:sp>
        <p:nvSpPr>
          <p:cNvPr id="14" name="">
            <a:extLst xmlns:a="http://schemas.openxmlformats.org/drawingml/2006/main">
              <a:ext uri="{FF2B5EF4-FFF2-40B4-BE49-F238E27FC236}">
                <a16:creationId xmlns:a16="http://schemas.microsoft.com/office/drawing/2014/main" id="{C79234DC-739F-4960-B431-15C06ABB8D92}"/>
              </a:ext>
            </a:extLst>
          </p:cNvPr>
          <p:cNvSpPr>
            <a:spLocks xmlns:a="http://schemas.openxmlformats.org/drawingml/2006/main" noGrp="1"/>
          </p:cNvSpPr>
          <p:nvPr/>
        </p:nvSpPr>
        <p:spPr>
          <a:xfrm xmlns:a="http://schemas.openxmlformats.org/drawingml/2006/main">
            <a:off x="952500" y="5619750"/>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250"/>
          </a:bodyPr>
          <a:lstStyle xmlns:a="http://schemas.openxmlformats.org/drawingml/2006/main"/>
          <a:p xmlns:a="http://schemas.openxmlformats.org/drawingml/2006/main">
            <a:pPr algn="ctr">
              <a:lnSpc>
                <a:spcPct val="102000"/>
              </a:lnSpc>
              <a:buNone/>
              <a:defRPr sz="2025" b="1" i="0">
                <a:solidFill>
                  <a:srgbClr val="70D6A6"/>
                </a:solidFill>
                <a:latin typeface="Aptos"/>
                <a:ea typeface="Aptos"/>
                <a:cs typeface="Aptos"/>
              </a:defRPr>
            </a:pPr>
            <a:r>
              <a:rPr sz="2025" b="1" i="0">
                <a:solidFill>
                  <a:srgbClr val="70D6A6"/>
                </a:solidFill>
                <a:latin typeface="Aptos"/>
                <a:ea typeface="Aptos"/>
                <a:cs typeface="Aptos"/>
              </a:rPr>
              <a:t>Stop a managed process through systemd, then verify both manager and socket state.</a:t>
            </a:r>
          </a:p>
        </p:txBody>
      </p:sp>
    </p:spTree>
    <p:extLst>
      <p:ext uri="{BB962C8B-B14F-4D97-AF65-F5344CB8AC3E}">
        <p14:creationId xmlns:p14="http://schemas.microsoft.com/office/powerpoint/2010/main" val="1765259028"/>
      </p:ext>
    </p:extLst>
  </p:cSld>
</p:sld>
</file>

<file path=ppt/slides/slide9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D9833BD3-0672-4779-9EB3-8E71DC050B3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HANDS-ON / LAB 9</a:t>
            </a:r>
          </a:p>
        </p:txBody>
      </p:sp>
      <p:sp>
        <p:nvSpPr>
          <p:cNvPr id="2" name="">
            <a:extLst xmlns:a="http://schemas.openxmlformats.org/drawingml/2006/main">
              <a:ext uri="{FF2B5EF4-FFF2-40B4-BE49-F238E27FC236}">
                <a16:creationId xmlns:a16="http://schemas.microsoft.com/office/drawing/2014/main" id="{D247334C-6068-4782-81A5-2555B3D14565}"/>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Lab 9 — Trace one service through four layers</a:t>
            </a:r>
          </a:p>
        </p:txBody>
      </p:sp>
      <p:sp>
        <p:nvSpPr>
          <p:cNvPr id="3" name="">
            <a:extLst xmlns:a="http://schemas.openxmlformats.org/drawingml/2006/main">
              <a:ext uri="{FF2B5EF4-FFF2-40B4-BE49-F238E27FC236}">
                <a16:creationId xmlns:a16="http://schemas.microsoft.com/office/drawing/2014/main" id="{5B7E1CFF-45E6-46A2-AC95-345A45864F6C}"/>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48BD663-E972-4A30-92C1-C04C99DD27E6}"/>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C00D4498-7AEF-4978-A0D4-A384B6DF2296}"/>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93</a:t>
            </a:r>
          </a:p>
        </p:txBody>
      </p:sp>
      <p:sp>
        <p:nvSpPr>
          <p:cNvPr id="6" name="">
            <a:extLst xmlns:a="http://schemas.openxmlformats.org/drawingml/2006/main">
              <a:ext uri="{FF2B5EF4-FFF2-40B4-BE49-F238E27FC236}">
                <a16:creationId xmlns:a16="http://schemas.microsoft.com/office/drawing/2014/main" id="{324D7AA5-1B7A-46F0-B60D-AFDF7AA06C69}"/>
              </a:ext>
            </a:extLst>
          </p:cNvPr>
          <p:cNvSpPr>
            <a:spLocks xmlns:a="http://schemas.openxmlformats.org/drawingml/2006/main" noGrp="1"/>
          </p:cNvSpPr>
          <p:nvPr/>
        </p:nvSpPr>
        <p:spPr>
          <a:xfrm xmlns:a="http://schemas.openxmlformats.org/drawingml/2006/main">
            <a:off x="800100" y="17907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MISSION · 15 MIN</a:t>
            </a:r>
          </a:p>
        </p:txBody>
      </p:sp>
      <p:sp>
        <p:nvSpPr>
          <p:cNvPr id="7" name="">
            <a:extLst xmlns:a="http://schemas.openxmlformats.org/drawingml/2006/main">
              <a:ext uri="{FF2B5EF4-FFF2-40B4-BE49-F238E27FC236}">
                <a16:creationId xmlns:a16="http://schemas.microsoft.com/office/drawing/2014/main" id="{F9415872-9C11-409D-903F-82DFBD71123F}"/>
              </a:ext>
            </a:extLst>
          </p:cNvPr>
          <p:cNvSpPr>
            <a:spLocks xmlns:a="http://schemas.openxmlformats.org/drawingml/2006/main" noGrp="1"/>
          </p:cNvSpPr>
          <p:nvPr/>
        </p:nvSpPr>
        <p:spPr>
          <a:xfrm xmlns:a="http://schemas.openxmlformats.org/drawingml/2006/main">
            <a:off x="800100" y="2228850"/>
            <a:ext cx="4095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057"/>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Process and port investigation</a:t>
            </a:r>
          </a:p>
        </p:txBody>
      </p:sp>
      <p:sp>
        <p:nvSpPr>
          <p:cNvPr id="8" name="">
            <a:extLst xmlns:a="http://schemas.openxmlformats.org/drawingml/2006/main">
              <a:ext uri="{FF2B5EF4-FFF2-40B4-BE49-F238E27FC236}">
                <a16:creationId xmlns:a16="http://schemas.microsoft.com/office/drawing/2014/main" id="{AF5C6E71-8DD4-4FC1-BEE6-6BBC5B9C2F42}"/>
              </a:ext>
            </a:extLst>
          </p:cNvPr>
          <p:cNvSpPr>
            <a:spLocks xmlns:a="http://schemas.openxmlformats.org/drawingml/2006/main" noGrp="1"/>
          </p:cNvSpPr>
          <p:nvPr/>
        </p:nvSpPr>
        <p:spPr>
          <a:xfrm xmlns:a="http://schemas.openxmlformats.org/drawingml/2006/main">
            <a:off x="800100" y="3009900"/>
            <a:ext cx="4953000" cy="2190750"/>
          </a:xfrm>
          <a:prstGeom xmlns:a="http://schemas.openxmlformats.org/drawingml/2006/main" prst="roundRect">
            <a:avLst>
              <a:gd name="adj" fmla="val 6957"/>
            </a:avLst>
          </a:prstGeom>
          <a:solidFill xmlns:a="http://schemas.openxmlformats.org/drawingml/2006/main">
            <a:srgbClr val="28183A"/>
          </a:solidFill>
          <a:ln xmlns:a="http://schemas.openxmlformats.org/drawingml/2006/main" w="9525">
            <a:solidFill>
              <a:srgbClr val="4A335D"/>
            </a:solidFill>
            <a:prstDash val="solid"/>
          </a:ln>
        </p:spPr>
      </p:sp>
      <p:sp>
        <p:nvSpPr>
          <p:cNvPr id="9" name="">
            <a:extLst xmlns:a="http://schemas.openxmlformats.org/drawingml/2006/main">
              <a:ext uri="{FF2B5EF4-FFF2-40B4-BE49-F238E27FC236}">
                <a16:creationId xmlns:a16="http://schemas.microsoft.com/office/drawing/2014/main" id="{80367D35-5EDB-429E-922C-C046DC415680}"/>
              </a:ext>
            </a:extLst>
          </p:cNvPr>
          <p:cNvSpPr>
            <a:spLocks xmlns:a="http://schemas.openxmlformats.org/drawingml/2006/main" noGrp="1"/>
          </p:cNvSpPr>
          <p:nvPr/>
        </p:nvSpPr>
        <p:spPr>
          <a:xfrm xmlns:a="http://schemas.openxmlformats.org/drawingml/2006/main">
            <a:off x="800100" y="3009900"/>
            <a:ext cx="4953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CE8F602-67C2-43C8-AF34-A023C509094B}"/>
              </a:ext>
            </a:extLst>
          </p:cNvPr>
          <p:cNvSpPr>
            <a:spLocks xmlns:a="http://schemas.openxmlformats.org/drawingml/2006/main" noGrp="1"/>
          </p:cNvSpPr>
          <p:nvPr/>
        </p:nvSpPr>
        <p:spPr>
          <a:xfrm xmlns:a="http://schemas.openxmlformats.org/drawingml/2006/main">
            <a:off x="800100" y="3276600"/>
            <a:ext cx="4953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F7E26F0-5CC2-4A12-BDCC-1A06D14D095C}"/>
              </a:ext>
            </a:extLst>
          </p:cNvPr>
          <p:cNvSpPr>
            <a:spLocks xmlns:a="http://schemas.openxmlformats.org/drawingml/2006/main" noGrp="1"/>
          </p:cNvSpPr>
          <p:nvPr/>
        </p:nvSpPr>
        <p:spPr>
          <a:xfrm xmlns:a="http://schemas.openxmlformats.org/drawingml/2006/main">
            <a:off x="971550" y="31623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826F062-9D6E-4828-9B6B-EA58B274D004}"/>
              </a:ext>
            </a:extLst>
          </p:cNvPr>
          <p:cNvSpPr>
            <a:spLocks xmlns:a="http://schemas.openxmlformats.org/drawingml/2006/main" noGrp="1"/>
          </p:cNvSpPr>
          <p:nvPr/>
        </p:nvSpPr>
        <p:spPr>
          <a:xfrm xmlns:a="http://schemas.openxmlformats.org/drawingml/2006/main">
            <a:off x="1143000" y="31623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D6A8CEC-C44D-4259-82B1-364089D5F457}"/>
              </a:ext>
            </a:extLst>
          </p:cNvPr>
          <p:cNvSpPr>
            <a:spLocks xmlns:a="http://schemas.openxmlformats.org/drawingml/2006/main" noGrp="1"/>
          </p:cNvSpPr>
          <p:nvPr/>
        </p:nvSpPr>
        <p:spPr>
          <a:xfrm xmlns:a="http://schemas.openxmlformats.org/drawingml/2006/main">
            <a:off x="1314450" y="31623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48FAD2D-474C-4D7E-8D6B-08B0CD42FA19}"/>
              </a:ext>
            </a:extLst>
          </p:cNvPr>
          <p:cNvSpPr>
            <a:spLocks xmlns:a="http://schemas.openxmlformats.org/drawingml/2006/main" noGrp="1"/>
          </p:cNvSpPr>
          <p:nvPr/>
        </p:nvSpPr>
        <p:spPr>
          <a:xfrm xmlns:a="http://schemas.openxmlformats.org/drawingml/2006/main">
            <a:off x="1581150" y="31242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DELIVERABLES</a:t>
            </a:r>
          </a:p>
        </p:txBody>
      </p:sp>
      <p:sp>
        <p:nvSpPr>
          <p:cNvPr id="15" name="">
            <a:extLst xmlns:a="http://schemas.openxmlformats.org/drawingml/2006/main">
              <a:ext uri="{FF2B5EF4-FFF2-40B4-BE49-F238E27FC236}">
                <a16:creationId xmlns:a16="http://schemas.microsoft.com/office/drawing/2014/main" id="{AC61AC9D-DEB2-4D1D-9A32-C13A6D89E8B9}"/>
              </a:ext>
            </a:extLst>
          </p:cNvPr>
          <p:cNvSpPr>
            <a:spLocks xmlns:a="http://schemas.openxmlformats.org/drawingml/2006/main" noGrp="1"/>
          </p:cNvSpPr>
          <p:nvPr/>
        </p:nvSpPr>
        <p:spPr>
          <a:xfrm xmlns:a="http://schemas.openxmlformats.org/drawingml/2006/main">
            <a:off x="1028700" y="3581400"/>
            <a:ext cx="44958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Record unit, PID, user, port, and HTTP</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Stop the process through systemd</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Prove the listener disappears</a:t>
            </a:r>
          </a:p>
        </p:txBody>
      </p:sp>
      <p:sp>
        <p:nvSpPr>
          <p:cNvPr id="16" name="">
            <a:extLst xmlns:a="http://schemas.openxmlformats.org/drawingml/2006/main">
              <a:ext uri="{FF2B5EF4-FFF2-40B4-BE49-F238E27FC236}">
                <a16:creationId xmlns:a16="http://schemas.microsoft.com/office/drawing/2014/main" id="{18FA52CE-1464-4ABC-8C2B-0417FBBC0443}"/>
              </a:ext>
            </a:extLst>
          </p:cNvPr>
          <p:cNvSpPr>
            <a:spLocks xmlns:a="http://schemas.openxmlformats.org/drawingml/2006/main" noGrp="1"/>
          </p:cNvSpPr>
          <p:nvPr/>
        </p:nvSpPr>
        <p:spPr>
          <a:xfrm xmlns:a="http://schemas.openxmlformats.org/drawingml/2006/main">
            <a:off x="6667500" y="17907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ACCEPTANCE EVIDENCE</a:t>
            </a:r>
          </a:p>
        </p:txBody>
      </p:sp>
      <p:sp>
        <p:nvSpPr>
          <p:cNvPr id="17" name="">
            <a:extLst xmlns:a="http://schemas.openxmlformats.org/drawingml/2006/main">
              <a:ext uri="{FF2B5EF4-FFF2-40B4-BE49-F238E27FC236}">
                <a16:creationId xmlns:a16="http://schemas.microsoft.com/office/drawing/2014/main" id="{3A11BCE1-4A2A-4883-A988-CD70CAA4FCAD}"/>
              </a:ext>
            </a:extLst>
          </p:cNvPr>
          <p:cNvSpPr>
            <a:spLocks xmlns:a="http://schemas.openxmlformats.org/drawingml/2006/main" noGrp="1"/>
          </p:cNvSpPr>
          <p:nvPr/>
        </p:nvSpPr>
        <p:spPr>
          <a:xfrm xmlns:a="http://schemas.openxmlformats.org/drawingml/2006/main">
            <a:off x="6667500" y="2228850"/>
            <a:ext cx="428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Checker requires</a:t>
            </a:r>
          </a:p>
        </p:txBody>
      </p:sp>
      <p:sp>
        <p:nvSpPr>
          <p:cNvPr id="18" name="">
            <a:extLst xmlns:a="http://schemas.openxmlformats.org/drawingml/2006/main">
              <a:ext uri="{FF2B5EF4-FFF2-40B4-BE49-F238E27FC236}">
                <a16:creationId xmlns:a16="http://schemas.microsoft.com/office/drawing/2014/main" id="{27F87451-D0E8-4D78-B5C3-D526E48F5BB7}"/>
              </a:ext>
            </a:extLst>
          </p:cNvPr>
          <p:cNvSpPr>
            <a:spLocks xmlns:a="http://schemas.openxmlformats.org/drawingml/2006/main" noGrp="1"/>
          </p:cNvSpPr>
          <p:nvPr/>
        </p:nvSpPr>
        <p:spPr>
          <a:xfrm xmlns:a="http://schemas.openxmlformats.org/drawingml/2006/main">
            <a:off x="6667500" y="3171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FD88F18-46B5-41BD-BFCA-8B5AAF8849FF}"/>
              </a:ext>
            </a:extLst>
          </p:cNvPr>
          <p:cNvSpPr>
            <a:spLocks xmlns:a="http://schemas.openxmlformats.org/drawingml/2006/main" noGrp="1"/>
          </p:cNvSpPr>
          <p:nvPr/>
        </p:nvSpPr>
        <p:spPr>
          <a:xfrm xmlns:a="http://schemas.openxmlformats.org/drawingml/2006/main">
            <a:off x="6934200" y="31051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MainPID matches the saved report</a:t>
            </a:r>
          </a:p>
        </p:txBody>
      </p:sp>
      <p:sp>
        <p:nvSpPr>
          <p:cNvPr id="20" name="">
            <a:extLst xmlns:a="http://schemas.openxmlformats.org/drawingml/2006/main">
              <a:ext uri="{FF2B5EF4-FFF2-40B4-BE49-F238E27FC236}">
                <a16:creationId xmlns:a16="http://schemas.microsoft.com/office/drawing/2014/main" id="{B3D28E46-FE52-45D5-8EA1-BF10770E6C54}"/>
              </a:ext>
            </a:extLst>
          </p:cNvPr>
          <p:cNvSpPr>
            <a:spLocks xmlns:a="http://schemas.openxmlformats.org/drawingml/2006/main" noGrp="1"/>
          </p:cNvSpPr>
          <p:nvPr/>
        </p:nvSpPr>
        <p:spPr>
          <a:xfrm xmlns:a="http://schemas.openxmlformats.org/drawingml/2006/main">
            <a:off x="6667500" y="37433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3C2B25C-6BDE-4AAB-904E-0F15113DF0D2}"/>
              </a:ext>
            </a:extLst>
          </p:cNvPr>
          <p:cNvSpPr>
            <a:spLocks xmlns:a="http://schemas.openxmlformats.org/drawingml/2006/main" noGrp="1"/>
          </p:cNvSpPr>
          <p:nvPr/>
        </p:nvSpPr>
        <p:spPr>
          <a:xfrm xmlns:a="http://schemas.openxmlformats.org/drawingml/2006/main">
            <a:off x="6934200" y="36766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Process identity is courseprobe</a:t>
            </a:r>
          </a:p>
        </p:txBody>
      </p:sp>
      <p:sp>
        <p:nvSpPr>
          <p:cNvPr id="22" name="">
            <a:extLst xmlns:a="http://schemas.openxmlformats.org/drawingml/2006/main">
              <a:ext uri="{FF2B5EF4-FFF2-40B4-BE49-F238E27FC236}">
                <a16:creationId xmlns:a16="http://schemas.microsoft.com/office/drawing/2014/main" id="{2E701848-E1C5-4F87-8279-E3EBE384F7A9}"/>
              </a:ext>
            </a:extLst>
          </p:cNvPr>
          <p:cNvSpPr>
            <a:spLocks xmlns:a="http://schemas.openxmlformats.org/drawingml/2006/main" noGrp="1"/>
          </p:cNvSpPr>
          <p:nvPr/>
        </p:nvSpPr>
        <p:spPr>
          <a:xfrm xmlns:a="http://schemas.openxmlformats.org/drawingml/2006/main">
            <a:off x="6667500" y="4314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09B7F9F-1914-4FC1-9251-2A3E490D832A}"/>
              </a:ext>
            </a:extLst>
          </p:cNvPr>
          <p:cNvSpPr>
            <a:spLocks xmlns:a="http://schemas.openxmlformats.org/drawingml/2006/main" noGrp="1"/>
          </p:cNvSpPr>
          <p:nvPr/>
        </p:nvSpPr>
        <p:spPr>
          <a:xfrm xmlns:a="http://schemas.openxmlformats.org/drawingml/2006/main">
            <a:off x="6934200" y="42481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Port 9099 serves the expected body</a:t>
            </a:r>
          </a:p>
        </p:txBody>
      </p:sp>
      <p:sp>
        <p:nvSpPr>
          <p:cNvPr id="24" name="">
            <a:extLst xmlns:a="http://schemas.openxmlformats.org/drawingml/2006/main">
              <a:ext uri="{FF2B5EF4-FFF2-40B4-BE49-F238E27FC236}">
                <a16:creationId xmlns:a16="http://schemas.microsoft.com/office/drawing/2014/main" id="{B139B5F9-EFF3-4E76-9E50-53E4221E0BC5}"/>
              </a:ext>
            </a:extLst>
          </p:cNvPr>
          <p:cNvSpPr>
            <a:spLocks xmlns:a="http://schemas.openxmlformats.org/drawingml/2006/main" noGrp="1"/>
          </p:cNvSpPr>
          <p:nvPr/>
        </p:nvSpPr>
        <p:spPr>
          <a:xfrm xmlns:a="http://schemas.openxmlformats.org/drawingml/2006/main">
            <a:off x="6667500" y="48863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1629B6F-E8A2-4282-9017-3DE5C9ABE668}"/>
              </a:ext>
            </a:extLst>
          </p:cNvPr>
          <p:cNvSpPr>
            <a:spLocks xmlns:a="http://schemas.openxmlformats.org/drawingml/2006/main" noGrp="1"/>
          </p:cNvSpPr>
          <p:nvPr/>
        </p:nvSpPr>
        <p:spPr>
          <a:xfrm xmlns:a="http://schemas.openxmlformats.org/drawingml/2006/main">
            <a:off x="6934200" y="48196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Unit inactive and socket closed</a:t>
            </a:r>
          </a:p>
        </p:txBody>
      </p:sp>
      <p:sp>
        <p:nvSpPr>
          <p:cNvPr id="26" name="">
            <a:extLst xmlns:a="http://schemas.openxmlformats.org/drawingml/2006/main">
              <a:ext uri="{FF2B5EF4-FFF2-40B4-BE49-F238E27FC236}">
                <a16:creationId xmlns:a16="http://schemas.microsoft.com/office/drawing/2014/main" id="{31BF24E7-ED3D-4226-A7DC-0713BF70C771}"/>
              </a:ext>
            </a:extLst>
          </p:cNvPr>
          <p:cNvSpPr>
            <a:spLocks xmlns:a="http://schemas.openxmlformats.org/drawingml/2006/main" noGrp="1"/>
          </p:cNvSpPr>
          <p:nvPr/>
        </p:nvSpPr>
        <p:spPr>
          <a:xfrm xmlns:a="http://schemas.openxmlformats.org/drawingml/2006/main">
            <a:off x="800100" y="5600700"/>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1" i="0">
                <a:solidFill>
                  <a:srgbClr val="8B5CF6"/>
                </a:solidFill>
                <a:latin typeface="Aptos"/>
                <a:ea typeface="Aptos"/>
                <a:cs typeface="Aptos"/>
              </a:defRPr>
            </a:pPr>
            <a:r>
              <a:rPr sz="1650" b="1" i="0">
                <a:solidFill>
                  <a:srgbClr val="8B5CF6"/>
                </a:solidFill>
                <a:latin typeface="Aptos"/>
                <a:ea typeface="Aptos"/>
                <a:cs typeface="Aptos"/>
              </a:rPr>
              <a:t>Debrief: what does each of systemctl, ps, ss, and curl prove?</a:t>
            </a:r>
          </a:p>
        </p:txBody>
      </p:sp>
    </p:spTree>
    <p:extLst>
      <p:ext uri="{BB962C8B-B14F-4D97-AF65-F5344CB8AC3E}">
        <p14:creationId xmlns:p14="http://schemas.microsoft.com/office/powerpoint/2010/main" val="276205261"/>
      </p:ext>
    </p:extLst>
  </p:cSld>
</p:sld>
</file>

<file path=ppt/slides/slide94.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Unit files come from layered locations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94</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978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Vendor units</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vendor path varies by distribution</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Admin units</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/etc/systemd/system and overrides</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397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Runtime units</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/run/systemd/system</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Drop-ins</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name.service.d/*.conf overrides selected settings</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9564"/>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Effective view</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systemctl cat name.service</a:t>
            </a:r>
          </a:p>
        </p:txBody>
      </p:sp>
    </p:spTree>
    <p:extLst>
      <p:ext uri="{BB962C8B-B14F-4D97-AF65-F5344CB8AC3E}">
        <p14:creationId xmlns:p14="http://schemas.microsoft.com/office/powerpoint/2010/main" val="1018217464"/>
      </p:ext>
    </p:extLst>
  </p:cSld>
</p:sld>
</file>

<file path=ppt/slides/slide95.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58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Enabled, active, reloaded, and restarted are independent facts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95</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BOOT + RUNTIME</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enable / start</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enable changes boot links</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start changes current state</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--now requests both operations</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CONFIG APPLY</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reload / restart</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reload asks process to reread</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restart replaces runtime process</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daemon-reload rereads unit files</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Name the state you intend to change before choosing the verb.</a:t>
            </a:r>
          </a:p>
        </p:txBody>
      </p:sp>
    </p:spTree>
    <p:extLst>
      <p:ext uri="{BB962C8B-B14F-4D97-AF65-F5344CB8AC3E}">
        <p14:creationId xmlns:p14="http://schemas.microsoft.com/office/powerpoint/2010/main" val="1882871272"/>
      </p:ext>
    </p:extLst>
  </p:cSld>
</p:sld>
</file>

<file path=ppt/slides/slide96.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D3EC027-DBDF-4617-BA18-14262B0A74D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10 / DROP-IN</a:t>
            </a:r>
          </a:p>
        </p:txBody>
      </p:sp>
      <p:sp>
        <p:nvSpPr>
          <p:cNvPr id="2" name="">
            <a:extLst xmlns:a="http://schemas.openxmlformats.org/drawingml/2006/main">
              <a:ext uri="{FF2B5EF4-FFF2-40B4-BE49-F238E27FC236}">
                <a16:creationId xmlns:a16="http://schemas.microsoft.com/office/drawing/2014/main" id="{14BF0B22-E65F-4DC1-91D6-D681B52760C3}"/>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2921"/>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Live demo: override demo-banner without editing its unit</a:t>
            </a:r>
          </a:p>
        </p:txBody>
      </p:sp>
      <p:sp>
        <p:nvSpPr>
          <p:cNvPr id="3" name="">
            <a:extLst xmlns:a="http://schemas.openxmlformats.org/drawingml/2006/main">
              <a:ext uri="{FF2B5EF4-FFF2-40B4-BE49-F238E27FC236}">
                <a16:creationId xmlns:a16="http://schemas.microsoft.com/office/drawing/2014/main" id="{FF1053F3-6C0A-402A-A846-6E35A6A1D93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7221C33-5CAC-4B74-81AB-4A80530F6D48}"/>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C4DE9BD8-9B2C-4DA9-B386-375C89C59E4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96</a:t>
            </a:r>
          </a:p>
        </p:txBody>
      </p:sp>
      <p:sp>
        <p:nvSpPr>
          <p:cNvPr id="6" name="">
            <a:extLst xmlns:a="http://schemas.openxmlformats.org/drawingml/2006/main">
              <a:ext uri="{FF2B5EF4-FFF2-40B4-BE49-F238E27FC236}">
                <a16:creationId xmlns:a16="http://schemas.microsoft.com/office/drawing/2014/main" id="{D7BF475F-C704-4D84-A6DD-FE05602D7BE1}"/>
              </a:ext>
            </a:extLst>
          </p:cNvPr>
          <p:cNvSpPr>
            <a:spLocks xmlns:a="http://schemas.openxmlformats.org/drawingml/2006/main" noGrp="1"/>
          </p:cNvSpPr>
          <p:nvPr/>
        </p:nvSpPr>
        <p:spPr>
          <a:xfrm xmlns:a="http://schemas.openxmlformats.org/drawingml/2006/main">
            <a:off x="952500" y="1733550"/>
            <a:ext cx="10287000" cy="3638550"/>
          </a:xfrm>
          <a:prstGeom xmlns:a="http://schemas.openxmlformats.org/drawingml/2006/main" prst="roundRect">
            <a:avLst>
              <a:gd name="adj" fmla="val 4188"/>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1A73946E-109A-4648-9A64-BB72C508626B}"/>
              </a:ext>
            </a:extLst>
          </p:cNvPr>
          <p:cNvSpPr>
            <a:spLocks xmlns:a="http://schemas.openxmlformats.org/drawingml/2006/main" noGrp="1"/>
          </p:cNvSpPr>
          <p:nvPr/>
        </p:nvSpPr>
        <p:spPr>
          <a:xfrm xmlns:a="http://schemas.openxmlformats.org/drawingml/2006/main">
            <a:off x="952500" y="1733550"/>
            <a:ext cx="10287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E98DF47-7106-44F2-9C04-D652349EFD84}"/>
              </a:ext>
            </a:extLst>
          </p:cNvPr>
          <p:cNvSpPr>
            <a:spLocks xmlns:a="http://schemas.openxmlformats.org/drawingml/2006/main" noGrp="1"/>
          </p:cNvSpPr>
          <p:nvPr/>
        </p:nvSpPr>
        <p:spPr>
          <a:xfrm xmlns:a="http://schemas.openxmlformats.org/drawingml/2006/main">
            <a:off x="952500" y="2000250"/>
            <a:ext cx="10287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86F70EA-1FBC-42ED-98FD-B7BBF40310E7}"/>
              </a:ext>
            </a:extLst>
          </p:cNvPr>
          <p:cNvSpPr>
            <a:spLocks xmlns:a="http://schemas.openxmlformats.org/drawingml/2006/main" noGrp="1"/>
          </p:cNvSpPr>
          <p:nvPr/>
        </p:nvSpPr>
        <p:spPr>
          <a:xfrm xmlns:a="http://schemas.openxmlformats.org/drawingml/2006/main">
            <a:off x="1123950" y="18859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4C9F1AE-3A06-4A6D-9D81-5C96B71174C3}"/>
              </a:ext>
            </a:extLst>
          </p:cNvPr>
          <p:cNvSpPr>
            <a:spLocks xmlns:a="http://schemas.openxmlformats.org/drawingml/2006/main" noGrp="1"/>
          </p:cNvSpPr>
          <p:nvPr/>
        </p:nvSpPr>
        <p:spPr>
          <a:xfrm xmlns:a="http://schemas.openxmlformats.org/drawingml/2006/main">
            <a:off x="1295400" y="18859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1D630A9-A77F-4C74-B406-DCF51A76EB90}"/>
              </a:ext>
            </a:extLst>
          </p:cNvPr>
          <p:cNvSpPr>
            <a:spLocks xmlns:a="http://schemas.openxmlformats.org/drawingml/2006/main" noGrp="1"/>
          </p:cNvSpPr>
          <p:nvPr/>
        </p:nvSpPr>
        <p:spPr>
          <a:xfrm xmlns:a="http://schemas.openxmlformats.org/drawingml/2006/main">
            <a:off x="1466850" y="18859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AD5B70C-5E7E-405F-9661-03C199CD992C}"/>
              </a:ext>
            </a:extLst>
          </p:cNvPr>
          <p:cNvSpPr>
            <a:spLocks xmlns:a="http://schemas.openxmlformats.org/drawingml/2006/main" noGrp="1"/>
          </p:cNvSpPr>
          <p:nvPr/>
        </p:nvSpPr>
        <p:spPr>
          <a:xfrm xmlns:a="http://schemas.openxmlformats.org/drawingml/2006/main">
            <a:off x="1733550" y="1847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FRAGMENT → DROP-IN → RELOAD → RESTART → BEHAVIOR</a:t>
            </a:r>
          </a:p>
        </p:txBody>
      </p:sp>
      <p:sp>
        <p:nvSpPr>
          <p:cNvPr id="13" name="">
            <a:extLst xmlns:a="http://schemas.openxmlformats.org/drawingml/2006/main">
              <a:ext uri="{FF2B5EF4-FFF2-40B4-BE49-F238E27FC236}">
                <a16:creationId xmlns:a16="http://schemas.microsoft.com/office/drawing/2014/main" id="{1BAB4BA9-0778-4E8F-878A-B659872B8D27}"/>
              </a:ext>
            </a:extLst>
          </p:cNvPr>
          <p:cNvSpPr>
            <a:spLocks xmlns:a="http://schemas.openxmlformats.org/drawingml/2006/main" noGrp="1"/>
          </p:cNvSpPr>
          <p:nvPr/>
        </p:nvSpPr>
        <p:spPr>
          <a:xfrm xmlns:a="http://schemas.openxmlformats.org/drawingml/2006/main">
            <a:off x="1181100" y="2305050"/>
            <a:ext cx="982980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systemctl show demo-banner.service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-p FragmentPath -p DropInPaths -p Environment</a:t>
            </a:r>
          </a:p>
          <a:p xmlns:a="http://schemas.openxmlformats.org/drawingml/2006/main">
            <a:pPr>
              <a:defRPr sz="1500">
                <a:solidFill>
                  <a:srgbClr val="FFF8EE"/>
                </a:solidFill>
              </a:defRPr>
            </a:pPr>
            <a:r>
              <a:rPr sz="1500">
                <a:solidFill>
                  <a:srgbClr val="FFF8EE"/>
                </a:solidFill>
              </a:rPr>
              <a:t>sudo install -d /etc/systemd/system/demo-banner.service.d</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printf '[Service]\nEnvironment=DEMO_LOG_LEVEL=debug\n'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 sudo tee /etc/systemd/system/demo-banner.service.d/override.conf</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systemctl daemon-reload</a:t>
            </a:r>
          </a:p>
          <a:p xmlns:a="http://schemas.openxmlformats.org/drawingml/2006/main">
            <a:pPr>
              <a:defRPr sz="1500">
                <a:solidFill>
                  <a:srgbClr val="FFF8EE"/>
                </a:solidFill>
              </a:defRPr>
            </a:pPr>
            <a:r>
              <a:rPr sz="1500">
                <a:solidFill>
                  <a:srgbClr val="FFF8EE"/>
                </a:solidFill>
              </a:rPr>
              <a:t>sudo systemctl restart demo-banner.service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systemctl cat demo-banner.service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cat /run/demo-banner.txt</a:t>
            </a:r>
          </a:p>
        </p:txBody>
      </p:sp>
      <p:sp>
        <p:nvSpPr>
          <p:cNvPr id="14" name="">
            <a:extLst xmlns:a="http://schemas.openxmlformats.org/drawingml/2006/main">
              <a:ext uri="{FF2B5EF4-FFF2-40B4-BE49-F238E27FC236}">
                <a16:creationId xmlns:a16="http://schemas.microsoft.com/office/drawing/2014/main" id="{C79234DC-739F-4960-B431-15C06ABB8D92}"/>
              </a:ext>
            </a:extLst>
          </p:cNvPr>
          <p:cNvSpPr>
            <a:spLocks xmlns:a="http://schemas.openxmlformats.org/drawingml/2006/main" noGrp="1"/>
          </p:cNvSpPr>
          <p:nvPr/>
        </p:nvSpPr>
        <p:spPr>
          <a:xfrm xmlns:a="http://schemas.openxmlformats.org/drawingml/2006/main">
            <a:off x="952500" y="5619750"/>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025" b="1" i="0">
                <a:solidFill>
                  <a:srgbClr val="70D6A6"/>
                </a:solidFill>
                <a:latin typeface="Aptos"/>
                <a:ea typeface="Aptos"/>
                <a:cs typeface="Aptos"/>
              </a:defRPr>
            </a:pPr>
            <a:r>
              <a:rPr sz="2025" b="1" i="0">
                <a:solidFill>
                  <a:srgbClr val="70D6A6"/>
                </a:solidFill>
                <a:latin typeface="Aptos"/>
                <a:ea typeface="Aptos"/>
                <a:cs typeface="Aptos"/>
              </a:rPr>
              <a:t>Effective declaration, manager state, and generated behavior must agree.</a:t>
            </a:r>
          </a:p>
        </p:txBody>
      </p:sp>
    </p:spTree>
    <p:extLst>
      <p:ext uri="{BB962C8B-B14F-4D97-AF65-F5344CB8AC3E}">
        <p14:creationId xmlns:p14="http://schemas.microsoft.com/office/powerpoint/2010/main" val="1765259028"/>
      </p:ext>
    </p:extLst>
  </p:cSld>
</p:sld>
</file>

<file path=ppt/slides/slide97.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D9833BD3-0672-4779-9EB3-8E71DC050B3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HANDS-ON / LAB 10</a:t>
            </a:r>
          </a:p>
        </p:txBody>
      </p:sp>
      <p:sp>
        <p:nvSpPr>
          <p:cNvPr id="2" name="">
            <a:extLst xmlns:a="http://schemas.openxmlformats.org/drawingml/2006/main">
              <a:ext uri="{FF2B5EF4-FFF2-40B4-BE49-F238E27FC236}">
                <a16:creationId xmlns:a16="http://schemas.microsoft.com/office/drawing/2014/main" id="{D247334C-6068-4782-81A5-2555B3D14565}"/>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Lab 10 — Apply a durable systemd override</a:t>
            </a:r>
          </a:p>
        </p:txBody>
      </p:sp>
      <p:sp>
        <p:nvSpPr>
          <p:cNvPr id="3" name="">
            <a:extLst xmlns:a="http://schemas.openxmlformats.org/drawingml/2006/main">
              <a:ext uri="{FF2B5EF4-FFF2-40B4-BE49-F238E27FC236}">
                <a16:creationId xmlns:a16="http://schemas.microsoft.com/office/drawing/2014/main" id="{5B7E1CFF-45E6-46A2-AC95-345A45864F6C}"/>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48BD663-E972-4A30-92C1-C04C99DD27E6}"/>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C00D4498-7AEF-4978-A0D4-A384B6DF2296}"/>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97</a:t>
            </a:r>
          </a:p>
        </p:txBody>
      </p:sp>
      <p:sp>
        <p:nvSpPr>
          <p:cNvPr id="6" name="">
            <a:extLst xmlns:a="http://schemas.openxmlformats.org/drawingml/2006/main">
              <a:ext uri="{FF2B5EF4-FFF2-40B4-BE49-F238E27FC236}">
                <a16:creationId xmlns:a16="http://schemas.microsoft.com/office/drawing/2014/main" id="{324D7AA5-1B7A-46F0-B60D-AFDF7AA06C69}"/>
              </a:ext>
            </a:extLst>
          </p:cNvPr>
          <p:cNvSpPr>
            <a:spLocks xmlns:a="http://schemas.openxmlformats.org/drawingml/2006/main" noGrp="1"/>
          </p:cNvSpPr>
          <p:nvPr/>
        </p:nvSpPr>
        <p:spPr>
          <a:xfrm xmlns:a="http://schemas.openxmlformats.org/drawingml/2006/main">
            <a:off x="800100" y="17907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MISSION · 15 MIN</a:t>
            </a:r>
          </a:p>
        </p:txBody>
      </p:sp>
      <p:sp>
        <p:nvSpPr>
          <p:cNvPr id="7" name="">
            <a:extLst xmlns:a="http://schemas.openxmlformats.org/drawingml/2006/main">
              <a:ext uri="{FF2B5EF4-FFF2-40B4-BE49-F238E27FC236}">
                <a16:creationId xmlns:a16="http://schemas.microsoft.com/office/drawing/2014/main" id="{F9415872-9C11-409D-903F-82DFBD71123F}"/>
              </a:ext>
            </a:extLst>
          </p:cNvPr>
          <p:cNvSpPr>
            <a:spLocks xmlns:a="http://schemas.openxmlformats.org/drawingml/2006/main" noGrp="1"/>
          </p:cNvSpPr>
          <p:nvPr/>
        </p:nvSpPr>
        <p:spPr>
          <a:xfrm xmlns:a="http://schemas.openxmlformats.org/drawingml/2006/main">
            <a:off x="800100" y="2228850"/>
            <a:ext cx="4095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systemd drop-in</a:t>
            </a:r>
          </a:p>
        </p:txBody>
      </p:sp>
      <p:sp>
        <p:nvSpPr>
          <p:cNvPr id="8" name="">
            <a:extLst xmlns:a="http://schemas.openxmlformats.org/drawingml/2006/main">
              <a:ext uri="{FF2B5EF4-FFF2-40B4-BE49-F238E27FC236}">
                <a16:creationId xmlns:a16="http://schemas.microsoft.com/office/drawing/2014/main" id="{AF5C6E71-8DD4-4FC1-BEE6-6BBC5B9C2F42}"/>
              </a:ext>
            </a:extLst>
          </p:cNvPr>
          <p:cNvSpPr>
            <a:spLocks xmlns:a="http://schemas.openxmlformats.org/drawingml/2006/main" noGrp="1"/>
          </p:cNvSpPr>
          <p:nvPr/>
        </p:nvSpPr>
        <p:spPr>
          <a:xfrm xmlns:a="http://schemas.openxmlformats.org/drawingml/2006/main">
            <a:off x="800100" y="3009900"/>
            <a:ext cx="4953000" cy="2190750"/>
          </a:xfrm>
          <a:prstGeom xmlns:a="http://schemas.openxmlformats.org/drawingml/2006/main" prst="roundRect">
            <a:avLst>
              <a:gd name="adj" fmla="val 6957"/>
            </a:avLst>
          </a:prstGeom>
          <a:solidFill xmlns:a="http://schemas.openxmlformats.org/drawingml/2006/main">
            <a:srgbClr val="28183A"/>
          </a:solidFill>
          <a:ln xmlns:a="http://schemas.openxmlformats.org/drawingml/2006/main" w="9525">
            <a:solidFill>
              <a:srgbClr val="4A335D"/>
            </a:solidFill>
            <a:prstDash val="solid"/>
          </a:ln>
        </p:spPr>
      </p:sp>
      <p:sp>
        <p:nvSpPr>
          <p:cNvPr id="9" name="">
            <a:extLst xmlns:a="http://schemas.openxmlformats.org/drawingml/2006/main">
              <a:ext uri="{FF2B5EF4-FFF2-40B4-BE49-F238E27FC236}">
                <a16:creationId xmlns:a16="http://schemas.microsoft.com/office/drawing/2014/main" id="{80367D35-5EDB-429E-922C-C046DC415680}"/>
              </a:ext>
            </a:extLst>
          </p:cNvPr>
          <p:cNvSpPr>
            <a:spLocks xmlns:a="http://schemas.openxmlformats.org/drawingml/2006/main" noGrp="1"/>
          </p:cNvSpPr>
          <p:nvPr/>
        </p:nvSpPr>
        <p:spPr>
          <a:xfrm xmlns:a="http://schemas.openxmlformats.org/drawingml/2006/main">
            <a:off x="800100" y="3009900"/>
            <a:ext cx="4953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CE8F602-67C2-43C8-AF34-A023C509094B}"/>
              </a:ext>
            </a:extLst>
          </p:cNvPr>
          <p:cNvSpPr>
            <a:spLocks xmlns:a="http://schemas.openxmlformats.org/drawingml/2006/main" noGrp="1"/>
          </p:cNvSpPr>
          <p:nvPr/>
        </p:nvSpPr>
        <p:spPr>
          <a:xfrm xmlns:a="http://schemas.openxmlformats.org/drawingml/2006/main">
            <a:off x="800100" y="3276600"/>
            <a:ext cx="4953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F7E26F0-5CC2-4A12-BDCC-1A06D14D095C}"/>
              </a:ext>
            </a:extLst>
          </p:cNvPr>
          <p:cNvSpPr>
            <a:spLocks xmlns:a="http://schemas.openxmlformats.org/drawingml/2006/main" noGrp="1"/>
          </p:cNvSpPr>
          <p:nvPr/>
        </p:nvSpPr>
        <p:spPr>
          <a:xfrm xmlns:a="http://schemas.openxmlformats.org/drawingml/2006/main">
            <a:off x="971550" y="31623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826F062-9D6E-4828-9B6B-EA58B274D004}"/>
              </a:ext>
            </a:extLst>
          </p:cNvPr>
          <p:cNvSpPr>
            <a:spLocks xmlns:a="http://schemas.openxmlformats.org/drawingml/2006/main" noGrp="1"/>
          </p:cNvSpPr>
          <p:nvPr/>
        </p:nvSpPr>
        <p:spPr>
          <a:xfrm xmlns:a="http://schemas.openxmlformats.org/drawingml/2006/main">
            <a:off x="1143000" y="31623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D6A8CEC-C44D-4259-82B1-364089D5F457}"/>
              </a:ext>
            </a:extLst>
          </p:cNvPr>
          <p:cNvSpPr>
            <a:spLocks xmlns:a="http://schemas.openxmlformats.org/drawingml/2006/main" noGrp="1"/>
          </p:cNvSpPr>
          <p:nvPr/>
        </p:nvSpPr>
        <p:spPr>
          <a:xfrm xmlns:a="http://schemas.openxmlformats.org/drawingml/2006/main">
            <a:off x="1314450" y="31623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48FAD2D-474C-4D7E-8D6B-08B0CD42FA19}"/>
              </a:ext>
            </a:extLst>
          </p:cNvPr>
          <p:cNvSpPr>
            <a:spLocks xmlns:a="http://schemas.openxmlformats.org/drawingml/2006/main" noGrp="1"/>
          </p:cNvSpPr>
          <p:nvPr/>
        </p:nvSpPr>
        <p:spPr>
          <a:xfrm xmlns:a="http://schemas.openxmlformats.org/drawingml/2006/main">
            <a:off x="1581150" y="31242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DELIVERABLES</a:t>
            </a:r>
          </a:p>
        </p:txBody>
      </p:sp>
      <p:sp>
        <p:nvSpPr>
          <p:cNvPr id="15" name="">
            <a:extLst xmlns:a="http://schemas.openxmlformats.org/drawingml/2006/main">
              <a:ext uri="{FF2B5EF4-FFF2-40B4-BE49-F238E27FC236}">
                <a16:creationId xmlns:a16="http://schemas.microsoft.com/office/drawing/2014/main" id="{AC61AC9D-DEB2-4D1D-9A32-C13A6D89E8B9}"/>
              </a:ext>
            </a:extLst>
          </p:cNvPr>
          <p:cNvSpPr>
            <a:spLocks xmlns:a="http://schemas.openxmlformats.org/drawingml/2006/main" noGrp="1"/>
          </p:cNvSpPr>
          <p:nvPr/>
        </p:nvSpPr>
        <p:spPr>
          <a:xfrm xmlns:a="http://schemas.openxmlformats.org/drawingml/2006/main">
            <a:off x="1028700" y="3581400"/>
            <a:ext cx="44958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Add one administrator drop-in</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Reload definitions and restart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Verify declaration and behavior</a:t>
            </a:r>
          </a:p>
        </p:txBody>
      </p:sp>
      <p:sp>
        <p:nvSpPr>
          <p:cNvPr id="16" name="">
            <a:extLst xmlns:a="http://schemas.openxmlformats.org/drawingml/2006/main">
              <a:ext uri="{FF2B5EF4-FFF2-40B4-BE49-F238E27FC236}">
                <a16:creationId xmlns:a16="http://schemas.microsoft.com/office/drawing/2014/main" id="{18FA52CE-1464-4ABC-8C2B-0417FBBC0443}"/>
              </a:ext>
            </a:extLst>
          </p:cNvPr>
          <p:cNvSpPr>
            <a:spLocks xmlns:a="http://schemas.openxmlformats.org/drawingml/2006/main" noGrp="1"/>
          </p:cNvSpPr>
          <p:nvPr/>
        </p:nvSpPr>
        <p:spPr>
          <a:xfrm xmlns:a="http://schemas.openxmlformats.org/drawingml/2006/main">
            <a:off x="6667500" y="17907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ACCEPTANCE EVIDENCE</a:t>
            </a:r>
          </a:p>
        </p:txBody>
      </p:sp>
      <p:sp>
        <p:nvSpPr>
          <p:cNvPr id="17" name="">
            <a:extLst xmlns:a="http://schemas.openxmlformats.org/drawingml/2006/main">
              <a:ext uri="{FF2B5EF4-FFF2-40B4-BE49-F238E27FC236}">
                <a16:creationId xmlns:a16="http://schemas.microsoft.com/office/drawing/2014/main" id="{3A11BCE1-4A2A-4883-A988-CD70CAA4FCAD}"/>
              </a:ext>
            </a:extLst>
          </p:cNvPr>
          <p:cNvSpPr>
            <a:spLocks xmlns:a="http://schemas.openxmlformats.org/drawingml/2006/main" noGrp="1"/>
          </p:cNvSpPr>
          <p:nvPr/>
        </p:nvSpPr>
        <p:spPr>
          <a:xfrm xmlns:a="http://schemas.openxmlformats.org/drawingml/2006/main">
            <a:off x="6667500" y="2228850"/>
            <a:ext cx="428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Checker requires</a:t>
            </a:r>
          </a:p>
        </p:txBody>
      </p:sp>
      <p:sp>
        <p:nvSpPr>
          <p:cNvPr id="18" name="">
            <a:extLst xmlns:a="http://schemas.openxmlformats.org/drawingml/2006/main">
              <a:ext uri="{FF2B5EF4-FFF2-40B4-BE49-F238E27FC236}">
                <a16:creationId xmlns:a16="http://schemas.microsoft.com/office/drawing/2014/main" id="{27F87451-D0E8-4D78-B5C3-D526E48F5BB7}"/>
              </a:ext>
            </a:extLst>
          </p:cNvPr>
          <p:cNvSpPr>
            <a:spLocks xmlns:a="http://schemas.openxmlformats.org/drawingml/2006/main" noGrp="1"/>
          </p:cNvSpPr>
          <p:nvPr/>
        </p:nvSpPr>
        <p:spPr>
          <a:xfrm xmlns:a="http://schemas.openxmlformats.org/drawingml/2006/main">
            <a:off x="6667500" y="3171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FD88F18-46B5-41BD-BFCA-8B5AAF8849FF}"/>
              </a:ext>
            </a:extLst>
          </p:cNvPr>
          <p:cNvSpPr>
            <a:spLocks xmlns:a="http://schemas.openxmlformats.org/drawingml/2006/main" noGrp="1"/>
          </p:cNvSpPr>
          <p:nvPr/>
        </p:nvSpPr>
        <p:spPr>
          <a:xfrm xmlns:a="http://schemas.openxmlformats.org/drawingml/2006/main">
            <a:off x="6934200" y="31051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Original fragment remains intact</a:t>
            </a:r>
          </a:p>
        </p:txBody>
      </p:sp>
      <p:sp>
        <p:nvSpPr>
          <p:cNvPr id="20" name="">
            <a:extLst xmlns:a="http://schemas.openxmlformats.org/drawingml/2006/main">
              <a:ext uri="{FF2B5EF4-FFF2-40B4-BE49-F238E27FC236}">
                <a16:creationId xmlns:a16="http://schemas.microsoft.com/office/drawing/2014/main" id="{B3D28E46-FE52-45D5-8EA1-BF10770E6C54}"/>
              </a:ext>
            </a:extLst>
          </p:cNvPr>
          <p:cNvSpPr>
            <a:spLocks xmlns:a="http://schemas.openxmlformats.org/drawingml/2006/main" noGrp="1"/>
          </p:cNvSpPr>
          <p:nvPr/>
        </p:nvSpPr>
        <p:spPr>
          <a:xfrm xmlns:a="http://schemas.openxmlformats.org/drawingml/2006/main">
            <a:off x="6667500" y="37433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3C2B25C-6BDE-4AAB-904E-0F15113DF0D2}"/>
              </a:ext>
            </a:extLst>
          </p:cNvPr>
          <p:cNvSpPr>
            <a:spLocks xmlns:a="http://schemas.openxmlformats.org/drawingml/2006/main" noGrp="1"/>
          </p:cNvSpPr>
          <p:nvPr/>
        </p:nvSpPr>
        <p:spPr>
          <a:xfrm xmlns:a="http://schemas.openxmlformats.org/drawingml/2006/main">
            <a:off x="6934200" y="36766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DropInPaths includes override.conf</a:t>
            </a:r>
          </a:p>
        </p:txBody>
      </p:sp>
      <p:sp>
        <p:nvSpPr>
          <p:cNvPr id="22" name="">
            <a:extLst xmlns:a="http://schemas.openxmlformats.org/drawingml/2006/main">
              <a:ext uri="{FF2B5EF4-FFF2-40B4-BE49-F238E27FC236}">
                <a16:creationId xmlns:a16="http://schemas.microsoft.com/office/drawing/2014/main" id="{2E701848-E1C5-4F87-8279-E3EBE384F7A9}"/>
              </a:ext>
            </a:extLst>
          </p:cNvPr>
          <p:cNvSpPr>
            <a:spLocks xmlns:a="http://schemas.openxmlformats.org/drawingml/2006/main" noGrp="1"/>
          </p:cNvSpPr>
          <p:nvPr/>
        </p:nvSpPr>
        <p:spPr>
          <a:xfrm xmlns:a="http://schemas.openxmlformats.org/drawingml/2006/main">
            <a:off x="6667500" y="4314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09B7F9F-1914-4FC1-9251-2A3E490D832A}"/>
              </a:ext>
            </a:extLst>
          </p:cNvPr>
          <p:cNvSpPr>
            <a:spLocks xmlns:a="http://schemas.openxmlformats.org/drawingml/2006/main" noGrp="1"/>
          </p:cNvSpPr>
          <p:nvPr/>
        </p:nvSpPr>
        <p:spPr>
          <a:xfrm xmlns:a="http://schemas.openxmlformats.org/drawingml/2006/main">
            <a:off x="6934200" y="42481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Environment reports production</a:t>
            </a:r>
          </a:p>
        </p:txBody>
      </p:sp>
      <p:sp>
        <p:nvSpPr>
          <p:cNvPr id="24" name="">
            <a:extLst xmlns:a="http://schemas.openxmlformats.org/drawingml/2006/main">
              <a:ext uri="{FF2B5EF4-FFF2-40B4-BE49-F238E27FC236}">
                <a16:creationId xmlns:a16="http://schemas.microsoft.com/office/drawing/2014/main" id="{B139B5F9-EFF3-4E76-9E50-53E4221E0BC5}"/>
              </a:ext>
            </a:extLst>
          </p:cNvPr>
          <p:cNvSpPr>
            <a:spLocks xmlns:a="http://schemas.openxmlformats.org/drawingml/2006/main" noGrp="1"/>
          </p:cNvSpPr>
          <p:nvPr/>
        </p:nvSpPr>
        <p:spPr>
          <a:xfrm xmlns:a="http://schemas.openxmlformats.org/drawingml/2006/main">
            <a:off x="6667500" y="48863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1629B6F-E8A2-4282-9017-3DE5C9ABE668}"/>
              </a:ext>
            </a:extLst>
          </p:cNvPr>
          <p:cNvSpPr>
            <a:spLocks xmlns:a="http://schemas.openxmlformats.org/drawingml/2006/main" noGrp="1"/>
          </p:cNvSpPr>
          <p:nvPr/>
        </p:nvSpPr>
        <p:spPr>
          <a:xfrm xmlns:a="http://schemas.openxmlformats.org/drawingml/2006/main">
            <a:off x="6934200" y="48196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/run/course-mode.txt says production</a:t>
            </a:r>
          </a:p>
        </p:txBody>
      </p:sp>
      <p:sp>
        <p:nvSpPr>
          <p:cNvPr id="26" name="">
            <a:extLst xmlns:a="http://schemas.openxmlformats.org/drawingml/2006/main">
              <a:ext uri="{FF2B5EF4-FFF2-40B4-BE49-F238E27FC236}">
                <a16:creationId xmlns:a16="http://schemas.microsoft.com/office/drawing/2014/main" id="{31BF24E7-ED3D-4226-A7DC-0713BF70C771}"/>
              </a:ext>
            </a:extLst>
          </p:cNvPr>
          <p:cNvSpPr>
            <a:spLocks xmlns:a="http://schemas.openxmlformats.org/drawingml/2006/main" noGrp="1"/>
          </p:cNvSpPr>
          <p:nvPr/>
        </p:nvSpPr>
        <p:spPr>
          <a:xfrm xmlns:a="http://schemas.openxmlformats.org/drawingml/2006/main">
            <a:off x="800100" y="5600700"/>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1" i="0">
                <a:solidFill>
                  <a:srgbClr val="8B5CF6"/>
                </a:solidFill>
                <a:latin typeface="Aptos"/>
                <a:ea typeface="Aptos"/>
                <a:cs typeface="Aptos"/>
              </a:defRPr>
            </a:pPr>
            <a:r>
              <a:rPr sz="1650" b="1" i="0">
                <a:solidFill>
                  <a:srgbClr val="8B5CF6"/>
                </a:solidFill>
                <a:latin typeface="Aptos"/>
                <a:ea typeface="Aptos"/>
                <a:cs typeface="Aptos"/>
              </a:rPr>
              <a:t>Debrief: why are daemon-reload, restart, and behavior checks separate steps?</a:t>
            </a:r>
          </a:p>
        </p:txBody>
      </p:sp>
    </p:spTree>
    <p:extLst>
      <p:ext uri="{BB962C8B-B14F-4D97-AF65-F5344CB8AC3E}">
        <p14:creationId xmlns:p14="http://schemas.microsoft.com/office/powerpoint/2010/main" val="276205261"/>
      </p:ext>
    </p:extLst>
  </p:cSld>
</p:sld>
</file>

<file path=ppt/slides/slide9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THEORY CHECKPOINT</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6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A safe operator closes every change with evidence</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98</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Locate</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browser or session · user · directory</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Predict</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what state should change?</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Act</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one scoped command</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Observe</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output · status · logs</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Verify</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behavior through another check</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Pair prompt: explain this loop using the failed-service demo.</a:t>
            </a:r>
          </a:p>
        </p:txBody>
      </p:sp>
    </p:spTree>
    <p:extLst>
      <p:ext uri="{BB962C8B-B14F-4D97-AF65-F5344CB8AC3E}">
        <p14:creationId xmlns:p14="http://schemas.microsoft.com/office/powerpoint/2010/main" val="802295806"/>
      </p:ext>
    </p:extLst>
  </p:cSld>
</p:sld>
</file>

<file path=ppt/slides/slide99.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A9B8F41-CE3E-45EC-863B-0D3BC2FB8669}"/>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TROUBLESHOOT + ASSESS</a:t>
            </a:r>
          </a:p>
        </p:txBody>
      </p:sp>
      <p:sp>
        <p:nvSpPr>
          <p:cNvPr id="2" name="">
            <a:extLst xmlns:a="http://schemas.openxmlformats.org/drawingml/2006/main">
              <a:ext uri="{FF2B5EF4-FFF2-40B4-BE49-F238E27FC236}">
                <a16:creationId xmlns:a16="http://schemas.microsoft.com/office/drawing/2014/main" id="{6D5A2159-DB52-4711-80C7-6155031596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When blocked, explain the evidence chain</a:t>
            </a:r>
          </a:p>
        </p:txBody>
      </p:sp>
      <p:sp>
        <p:nvSpPr>
          <p:cNvPr id="3" name="">
            <a:extLst xmlns:a="http://schemas.openxmlformats.org/drawingml/2006/main">
              <a:ext uri="{FF2B5EF4-FFF2-40B4-BE49-F238E27FC236}">
                <a16:creationId xmlns:a16="http://schemas.microsoft.com/office/drawing/2014/main" id="{570B39B0-CB5D-47FC-9BA4-2182B16440C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972DE11-3FEA-4E01-B5F7-7222B411DF7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848080AD-EB11-4E3B-8543-C160E29B8492}"/>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99</a:t>
            </a:r>
          </a:p>
        </p:txBody>
      </p:sp>
      <p:sp>
        <p:nvSpPr>
          <p:cNvPr id="6" name="">
            <a:extLst xmlns:a="http://schemas.openxmlformats.org/drawingml/2006/main">
              <a:ext uri="{FF2B5EF4-FFF2-40B4-BE49-F238E27FC236}">
                <a16:creationId xmlns:a16="http://schemas.microsoft.com/office/drawing/2014/main" id="{7D45A41E-A7AE-4B36-A0F9-2F0C3EF873A0}"/>
              </a:ext>
            </a:extLst>
          </p:cNvPr>
          <p:cNvSpPr>
            <a:spLocks xmlns:a="http://schemas.openxmlformats.org/drawingml/2006/main" noGrp="1"/>
          </p:cNvSpPr>
          <p:nvPr/>
        </p:nvSpPr>
        <p:spPr>
          <a:xfrm xmlns:a="http://schemas.openxmlformats.org/drawingml/2006/main">
            <a:off x="857250" y="179070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028"/>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Use this five-step peer check:</a:t>
            </a:r>
          </a:p>
        </p:txBody>
      </p:sp>
      <p:sp>
        <p:nvSpPr>
          <p:cNvPr id="7" name="">
            <a:extLst xmlns:a="http://schemas.openxmlformats.org/drawingml/2006/main">
              <a:ext uri="{FF2B5EF4-FFF2-40B4-BE49-F238E27FC236}">
                <a16:creationId xmlns:a16="http://schemas.microsoft.com/office/drawing/2014/main" id="{6EB1064C-52E5-469B-AC52-32E0688635C7}"/>
              </a:ext>
            </a:extLst>
          </p:cNvPr>
          <p:cNvSpPr>
            <a:spLocks xmlns:a="http://schemas.openxmlformats.org/drawingml/2006/main" noGrp="1"/>
          </p:cNvSpPr>
          <p:nvPr/>
        </p:nvSpPr>
        <p:spPr>
          <a:xfrm xmlns:a="http://schemas.openxmlformats.org/drawingml/2006/main">
            <a:off x="857250" y="26384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472B604-825A-4B4E-BDD2-F447D4472E42}"/>
              </a:ext>
            </a:extLst>
          </p:cNvPr>
          <p:cNvSpPr>
            <a:spLocks xmlns:a="http://schemas.openxmlformats.org/drawingml/2006/main" noGrp="1"/>
          </p:cNvSpPr>
          <p:nvPr/>
        </p:nvSpPr>
        <p:spPr>
          <a:xfrm xmlns:a="http://schemas.openxmlformats.org/drawingml/2006/main">
            <a:off x="1123950" y="257175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60B20"/>
                </a:solidFill>
                <a:latin typeface="Aptos"/>
                <a:ea typeface="Aptos"/>
                <a:cs typeface="Aptos"/>
              </a:defRPr>
            </a:pPr>
            <a:r>
              <a:rPr sz="1725" b="0" i="0">
                <a:solidFill>
                  <a:srgbClr val="160B20"/>
                </a:solidFill>
                <a:latin typeface="Aptos"/>
                <a:ea typeface="Aptos"/>
                <a:cs typeface="Aptos"/>
              </a:rPr>
              <a:t>Which user, host, and working directory?</a:t>
            </a:r>
          </a:p>
        </p:txBody>
      </p:sp>
      <p:sp>
        <p:nvSpPr>
          <p:cNvPr id="9" name="">
            <a:extLst xmlns:a="http://schemas.openxmlformats.org/drawingml/2006/main">
              <a:ext uri="{FF2B5EF4-FFF2-40B4-BE49-F238E27FC236}">
                <a16:creationId xmlns:a16="http://schemas.microsoft.com/office/drawing/2014/main" id="{16437412-68AC-4FB6-B1C7-BBFB905896B6}"/>
              </a:ext>
            </a:extLst>
          </p:cNvPr>
          <p:cNvSpPr>
            <a:spLocks xmlns:a="http://schemas.openxmlformats.org/drawingml/2006/main" noGrp="1"/>
          </p:cNvSpPr>
          <p:nvPr/>
        </p:nvSpPr>
        <p:spPr>
          <a:xfrm xmlns:a="http://schemas.openxmlformats.org/drawingml/2006/main">
            <a:off x="857250" y="32480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9A92179-FDFD-43B5-8A52-B5398FA67ED7}"/>
              </a:ext>
            </a:extLst>
          </p:cNvPr>
          <p:cNvSpPr>
            <a:spLocks xmlns:a="http://schemas.openxmlformats.org/drawingml/2006/main" noGrp="1"/>
          </p:cNvSpPr>
          <p:nvPr/>
        </p:nvSpPr>
        <p:spPr>
          <a:xfrm xmlns:a="http://schemas.openxmlformats.org/drawingml/2006/main">
            <a:off x="1123950" y="318135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60B20"/>
                </a:solidFill>
                <a:latin typeface="Aptos"/>
                <a:ea typeface="Aptos"/>
                <a:cs typeface="Aptos"/>
              </a:defRPr>
            </a:pPr>
            <a:r>
              <a:rPr sz="1725" b="0" i="0">
                <a:solidFill>
                  <a:srgbClr val="160B20"/>
                </a:solidFill>
                <a:latin typeface="Aptos"/>
                <a:ea typeface="Aptos"/>
                <a:cs typeface="Aptos"/>
              </a:rPr>
              <a:t>What target state did you inspect?</a:t>
            </a:r>
          </a:p>
        </p:txBody>
      </p:sp>
      <p:sp>
        <p:nvSpPr>
          <p:cNvPr id="11" name="">
            <a:extLst xmlns:a="http://schemas.openxmlformats.org/drawingml/2006/main">
              <a:ext uri="{FF2B5EF4-FFF2-40B4-BE49-F238E27FC236}">
                <a16:creationId xmlns:a16="http://schemas.microsoft.com/office/drawing/2014/main" id="{BCB4ED32-EB0A-42F1-9CB5-CB31E23993EF}"/>
              </a:ext>
            </a:extLst>
          </p:cNvPr>
          <p:cNvSpPr>
            <a:spLocks xmlns:a="http://schemas.openxmlformats.org/drawingml/2006/main" noGrp="1"/>
          </p:cNvSpPr>
          <p:nvPr/>
        </p:nvSpPr>
        <p:spPr>
          <a:xfrm xmlns:a="http://schemas.openxmlformats.org/drawingml/2006/main">
            <a:off x="857250" y="3857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E522941-DF34-49DE-BA79-5872CBC2B9C6}"/>
              </a:ext>
            </a:extLst>
          </p:cNvPr>
          <p:cNvSpPr>
            <a:spLocks xmlns:a="http://schemas.openxmlformats.org/drawingml/2006/main" noGrp="1"/>
          </p:cNvSpPr>
          <p:nvPr/>
        </p:nvSpPr>
        <p:spPr>
          <a:xfrm xmlns:a="http://schemas.openxmlformats.org/drawingml/2006/main">
            <a:off x="1123950" y="379095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60B20"/>
                </a:solidFill>
                <a:latin typeface="Aptos"/>
                <a:ea typeface="Aptos"/>
                <a:cs typeface="Aptos"/>
              </a:defRPr>
            </a:pPr>
            <a:r>
              <a:rPr sz="1725" b="0" i="0">
                <a:solidFill>
                  <a:srgbClr val="160B20"/>
                </a:solidFill>
                <a:latin typeface="Aptos"/>
                <a:ea typeface="Aptos"/>
                <a:cs typeface="Aptos"/>
              </a:rPr>
              <a:t>Can you repeat the exact symptom?</a:t>
            </a:r>
          </a:p>
        </p:txBody>
      </p:sp>
      <p:sp>
        <p:nvSpPr>
          <p:cNvPr id="13" name="">
            <a:extLst xmlns:a="http://schemas.openxmlformats.org/drawingml/2006/main">
              <a:ext uri="{FF2B5EF4-FFF2-40B4-BE49-F238E27FC236}">
                <a16:creationId xmlns:a16="http://schemas.microsoft.com/office/drawing/2014/main" id="{6180DBC1-FFC3-4FC0-8EAF-A92F72F9E6A1}"/>
              </a:ext>
            </a:extLst>
          </p:cNvPr>
          <p:cNvSpPr>
            <a:spLocks xmlns:a="http://schemas.openxmlformats.org/drawingml/2006/main" noGrp="1"/>
          </p:cNvSpPr>
          <p:nvPr/>
        </p:nvSpPr>
        <p:spPr>
          <a:xfrm xmlns:a="http://schemas.openxmlformats.org/drawingml/2006/main">
            <a:off x="857250" y="44672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9F5B79A-609E-4323-A237-0FA4C1A64C89}"/>
              </a:ext>
            </a:extLst>
          </p:cNvPr>
          <p:cNvSpPr>
            <a:spLocks xmlns:a="http://schemas.openxmlformats.org/drawingml/2006/main" noGrp="1"/>
          </p:cNvSpPr>
          <p:nvPr/>
        </p:nvSpPr>
        <p:spPr>
          <a:xfrm xmlns:a="http://schemas.openxmlformats.org/drawingml/2006/main">
            <a:off x="1123950" y="440055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60B20"/>
                </a:solidFill>
                <a:latin typeface="Aptos"/>
                <a:ea typeface="Aptos"/>
                <a:cs typeface="Aptos"/>
              </a:defRPr>
            </a:pPr>
            <a:r>
              <a:rPr sz="1725" b="0" i="0">
                <a:solidFill>
                  <a:srgbClr val="160B20"/>
                </a:solidFill>
                <a:latin typeface="Aptos"/>
                <a:ea typeface="Aptos"/>
                <a:cs typeface="Aptos"/>
              </a:rPr>
              <a:t>Which log or exit status identifies the cause?</a:t>
            </a:r>
          </a:p>
        </p:txBody>
      </p:sp>
      <p:sp>
        <p:nvSpPr>
          <p:cNvPr id="15" name="">
            <a:extLst xmlns:a="http://schemas.openxmlformats.org/drawingml/2006/main">
              <a:ext uri="{FF2B5EF4-FFF2-40B4-BE49-F238E27FC236}">
                <a16:creationId xmlns:a16="http://schemas.microsoft.com/office/drawing/2014/main" id="{7CFEA46A-0538-4DB8-AE59-66460D148648}"/>
              </a:ext>
            </a:extLst>
          </p:cNvPr>
          <p:cNvSpPr>
            <a:spLocks xmlns:a="http://schemas.openxmlformats.org/drawingml/2006/main" noGrp="1"/>
          </p:cNvSpPr>
          <p:nvPr/>
        </p:nvSpPr>
        <p:spPr>
          <a:xfrm xmlns:a="http://schemas.openxmlformats.org/drawingml/2006/main">
            <a:off x="857250" y="5076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DEBA772C-436B-4F5D-89DC-767040C03314}"/>
              </a:ext>
            </a:extLst>
          </p:cNvPr>
          <p:cNvSpPr>
            <a:spLocks xmlns:a="http://schemas.openxmlformats.org/drawingml/2006/main" noGrp="1"/>
          </p:cNvSpPr>
          <p:nvPr/>
        </p:nvSpPr>
        <p:spPr>
          <a:xfrm xmlns:a="http://schemas.openxmlformats.org/drawingml/2006/main">
            <a:off x="1123950" y="501015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60B20"/>
                </a:solidFill>
                <a:latin typeface="Aptos"/>
                <a:ea typeface="Aptos"/>
                <a:cs typeface="Aptos"/>
              </a:defRPr>
            </a:pPr>
            <a:r>
              <a:rPr sz="1725" b="0" i="0">
                <a:solidFill>
                  <a:srgbClr val="160B20"/>
                </a:solidFill>
                <a:latin typeface="Aptos"/>
                <a:ea typeface="Aptos"/>
                <a:cs typeface="Aptos"/>
              </a:rPr>
              <a:t>What one change did you retest?</a:t>
            </a:r>
          </a:p>
        </p:txBody>
      </p:sp>
      <p:sp>
        <p:nvSpPr>
          <p:cNvPr id="17" name="">
            <a:extLst xmlns:a="http://schemas.openxmlformats.org/drawingml/2006/main">
              <a:ext uri="{FF2B5EF4-FFF2-40B4-BE49-F238E27FC236}">
                <a16:creationId xmlns:a16="http://schemas.microsoft.com/office/drawing/2014/main" id="{6C607691-D7CD-42C9-977D-48D8F7E16E36}"/>
              </a:ext>
            </a:extLst>
          </p:cNvPr>
          <p:cNvSpPr>
            <a:spLocks xmlns:a="http://schemas.openxmlformats.org/drawingml/2006/main" noGrp="1"/>
          </p:cNvSpPr>
          <p:nvPr/>
        </p:nvSpPr>
        <p:spPr>
          <a:xfrm xmlns:a="http://schemas.openxmlformats.org/drawingml/2006/main">
            <a:off x="857250" y="5676900"/>
            <a:ext cx="10001250" cy="1905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A98F226-7AD8-470E-BE3B-08F551D0BDEE}"/>
              </a:ext>
            </a:extLst>
          </p:cNvPr>
          <p:cNvSpPr>
            <a:spLocks xmlns:a="http://schemas.openxmlformats.org/drawingml/2006/main" noGrp="1"/>
          </p:cNvSpPr>
          <p:nvPr/>
        </p:nvSpPr>
        <p:spPr>
          <a:xfrm xmlns:a="http://schemas.openxmlformats.org/drawingml/2006/main">
            <a:off x="857250" y="5905500"/>
            <a:ext cx="1000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725" b="1" i="0">
                <a:solidFill>
                  <a:srgbClr val="8B5CF6"/>
                </a:solidFill>
                <a:latin typeface="Aptos"/>
                <a:ea typeface="Aptos"/>
                <a:cs typeface="Aptos"/>
              </a:defRPr>
            </a:pPr>
            <a:r>
              <a:rPr sz="1725" b="1" i="0">
                <a:solidFill>
                  <a:srgbClr val="8B5CF6"/>
                </a:solidFill>
                <a:latin typeface="Aptos"/>
                <a:ea typeface="Aptos"/>
                <a:cs typeface="Aptos"/>
              </a:rPr>
              <a:t>A green checker starts the explanation; it does not replace it.</a:t>
            </a:r>
          </a:p>
        </p:txBody>
      </p:sp>
    </p:spTree>
    <p:extLst>
      <p:ext uri="{BB962C8B-B14F-4D97-AF65-F5344CB8AC3E}">
        <p14:creationId xmlns:p14="http://schemas.microsoft.com/office/powerpoint/2010/main" val="871392501"/>
      </p:ext>
    </p:extLst>
  </p:cSld>
</p:sld>
</file>

<file path=ppt/slides/slide10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1854899-E3E9-43C8-B123-E1AC1D9B29BD}"/>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REFERENCES</a:t>
            </a:r>
          </a:p>
        </p:txBody>
      </p:sp>
      <p:sp>
        <p:nvSpPr>
          <p:cNvPr id="2" name="">
            <a:extLst xmlns:a="http://schemas.openxmlformats.org/drawingml/2006/main">
              <a:ext uri="{FF2B5EF4-FFF2-40B4-BE49-F238E27FC236}">
                <a16:creationId xmlns:a16="http://schemas.microsoft.com/office/drawing/2014/main" id="{796F7F47-FD35-495B-AD80-2866EFC9D258}"/>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9277"/>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Primary manuals, claim ledger, and open-course attribution</a:t>
            </a:r>
          </a:p>
        </p:txBody>
      </p:sp>
      <p:sp>
        <p:nvSpPr>
          <p:cNvPr id="3" name="">
            <a:extLst xmlns:a="http://schemas.openxmlformats.org/drawingml/2006/main">
              <a:ext uri="{FF2B5EF4-FFF2-40B4-BE49-F238E27FC236}">
                <a16:creationId xmlns:a16="http://schemas.microsoft.com/office/drawing/2014/main" id="{E995ECD2-5541-4C80-9225-E9B47C587E1A}"/>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0021072-48B1-4BA3-8C0F-726F068DD8DB}"/>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6FD60E5-6908-4870-B308-36E4CE04BE0A}"/>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100</a:t>
            </a:r>
          </a:p>
        </p:txBody>
      </p:sp>
      <p:sp>
        <p:nvSpPr>
          <p:cNvPr id="6" name="">
            <a:extLst xmlns:a="http://schemas.openxmlformats.org/drawingml/2006/main">
              <a:ext uri="{FF2B5EF4-FFF2-40B4-BE49-F238E27FC236}">
                <a16:creationId xmlns:a16="http://schemas.microsoft.com/office/drawing/2014/main" id="{BB7A6176-4E18-45E7-9751-6BB89CBED57F}"/>
              </a:ext>
            </a:extLst>
          </p:cNvPr>
          <p:cNvSpPr>
            <a:spLocks xmlns:a="http://schemas.openxmlformats.org/drawingml/2006/main" noGrp="1"/>
          </p:cNvSpPr>
          <p:nvPr/>
        </p:nvSpPr>
        <p:spPr>
          <a:xfrm xmlns:a="http://schemas.openxmlformats.org/drawingml/2006/main">
            <a:off x="723900" y="1657350"/>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OPEN COURSE INSPIRATION</a:t>
            </a:r>
          </a:p>
        </p:txBody>
      </p:sp>
      <p:sp>
        <p:nvSpPr>
          <p:cNvPr id="7" name="">
            <a:extLst xmlns:a="http://schemas.openxmlformats.org/drawingml/2006/main">
              <a:ext uri="{FF2B5EF4-FFF2-40B4-BE49-F238E27FC236}">
                <a16:creationId xmlns:a16="http://schemas.microsoft.com/office/drawing/2014/main" id="{918DF477-CA56-4D7A-8FCB-E6C76A04E765}"/>
              </a:ext>
            </a:extLst>
          </p:cNvPr>
          <p:cNvSpPr>
            <a:spLocks xmlns:a="http://schemas.openxmlformats.org/drawingml/2006/main" noGrp="1"/>
          </p:cNvSpPr>
          <p:nvPr/>
        </p:nvSpPr>
        <p:spPr>
          <a:xfrm xmlns:a="http://schemas.openxmlformats.org/drawingml/2006/main">
            <a:off x="723900" y="2038350"/>
            <a:ext cx="4667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3000"/>
              </a:lnSpc>
              <a:buNone/>
              <a:defRPr sz="1575" b="0" i="0">
                <a:solidFill>
                  <a:srgbClr val="160B20"/>
                </a:solidFill>
                <a:latin typeface="Aptos"/>
                <a:ea typeface="Aptos"/>
                <a:cs typeface="Aptos"/>
              </a:defRPr>
            </a:pPr>
            <a:r>
              <a:rPr sz="1575" b="0" i="0">
                <a:solidFill>
                  <a:srgbClr val="160B20"/>
                </a:solidFill>
                <a:latin typeface="Aptos"/>
                <a:ea typeface="Aptos"/>
                <a:cs typeface="Aptos"/>
              </a:rPr>
              <a:t>Linux Upskill Challenge · CC BY 4.0</a:t>
            </a:r>
          </a:p>
          <a:p xmlns:a="http://schemas.openxmlformats.org/drawingml/2006/main">
            <a:pPr algn="l">
              <a:lnSpc>
                <a:spcPct val="113000"/>
              </a:lnSpc>
              <a:buNone/>
              <a:defRPr sz="1575" b="0" i="0">
                <a:solidFill>
                  <a:srgbClr val="160B20"/>
                </a:solidFill>
                <a:latin typeface="Aptos"/>
                <a:ea typeface="Aptos"/>
                <a:cs typeface="Aptos"/>
              </a:defRPr>
            </a:pPr>
            <a:r>
              <a:rPr sz="1575" b="0" i="0">
                <a:solidFill>
                  <a:srgbClr val="160B20"/>
                </a:solidFill>
                <a:latin typeface="Aptos"/>
                <a:ea typeface="Aptos"/>
                <a:cs typeface="Aptos"/>
              </a:rPr>
              <a:t>linuxupskillchallenge.com</a:t>
            </a:r>
          </a:p>
          <a:p xmlns:a="http://schemas.openxmlformats.org/drawingml/2006/main">
            <a:r>
              <a:t/>
            </a:r>
          </a:p>
          <a:p xmlns:a="http://schemas.openxmlformats.org/drawingml/2006/main">
            <a:pPr algn="l">
              <a:lnSpc>
                <a:spcPct val="113000"/>
              </a:lnSpc>
              <a:buNone/>
              <a:defRPr sz="1575" b="0" i="0">
                <a:solidFill>
                  <a:srgbClr val="160B20"/>
                </a:solidFill>
                <a:latin typeface="Aptos"/>
                <a:ea typeface="Aptos"/>
                <a:cs typeface="Aptos"/>
              </a:defRPr>
            </a:pPr>
            <a:r>
              <a:rPr sz="1575" b="0" i="0">
                <a:solidFill>
                  <a:srgbClr val="160B20"/>
                </a:solidFill>
                <a:latin typeface="Aptos"/>
                <a:ea typeface="Aptos"/>
                <a:cs typeface="Aptos"/>
              </a:rPr>
              <a:t>Linux Training + Linux101Labs</a:t>
            </a:r>
          </a:p>
          <a:p xmlns:a="http://schemas.openxmlformats.org/drawingml/2006/main">
            <a:pPr algn="l">
              <a:lnSpc>
                <a:spcPct val="113000"/>
              </a:lnSpc>
              <a:buNone/>
              <a:defRPr sz="1575" b="0" i="0">
                <a:solidFill>
                  <a:srgbClr val="160B20"/>
                </a:solidFill>
                <a:latin typeface="Aptos"/>
                <a:ea typeface="Aptos"/>
                <a:cs typeface="Aptos"/>
              </a:defRPr>
            </a:pPr>
            <a:r>
              <a:rPr sz="1575" b="0" i="0">
                <a:solidFill>
                  <a:srgbClr val="160B20"/>
                </a:solidFill>
                <a:latin typeface="Aptos"/>
                <a:ea typeface="Aptos"/>
                <a:cs typeface="Aptos"/>
              </a:rPr>
              <a:t>coverage and exercise-pattern review</a:t>
            </a:r>
          </a:p>
        </p:txBody>
      </p:sp>
      <p:sp>
        <p:nvSpPr>
          <p:cNvPr id="8" name="">
            <a:extLst xmlns:a="http://schemas.openxmlformats.org/drawingml/2006/main">
              <a:ext uri="{FF2B5EF4-FFF2-40B4-BE49-F238E27FC236}">
                <a16:creationId xmlns:a16="http://schemas.microsoft.com/office/drawing/2014/main" id="{196BCEE2-5735-4330-8E57-8E1EE4B066D4}"/>
              </a:ext>
            </a:extLst>
          </p:cNvPr>
          <p:cNvSpPr>
            <a:spLocks xmlns:a="http://schemas.openxmlformats.org/drawingml/2006/main" noGrp="1"/>
          </p:cNvSpPr>
          <p:nvPr/>
        </p:nvSpPr>
        <p:spPr>
          <a:xfrm xmlns:a="http://schemas.openxmlformats.org/drawingml/2006/main">
            <a:off x="6191250" y="1657350"/>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NORMATIVE REFERENCES</a:t>
            </a:r>
          </a:p>
        </p:txBody>
      </p:sp>
      <p:sp>
        <p:nvSpPr>
          <p:cNvPr id="9" name="">
            <a:extLst xmlns:a="http://schemas.openxmlformats.org/drawingml/2006/main">
              <a:ext uri="{FF2B5EF4-FFF2-40B4-BE49-F238E27FC236}">
                <a16:creationId xmlns:a16="http://schemas.microsoft.com/office/drawing/2014/main" id="{6F0C484F-6FF0-41A0-B894-6329455AEFEE}"/>
              </a:ext>
            </a:extLst>
          </p:cNvPr>
          <p:cNvSpPr>
            <a:spLocks xmlns:a="http://schemas.openxmlformats.org/drawingml/2006/main" noGrp="1"/>
          </p:cNvSpPr>
          <p:nvPr/>
        </p:nvSpPr>
        <p:spPr>
          <a:xfrm xmlns:a="http://schemas.openxmlformats.org/drawingml/2006/main">
            <a:off x="6191250" y="2038350"/>
            <a:ext cx="48577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575" b="0" i="0">
                <a:solidFill>
                  <a:srgbClr val="160B20"/>
                </a:solidFill>
                <a:latin typeface="Aptos"/>
                <a:ea typeface="Aptos"/>
                <a:cs typeface="Aptos"/>
              </a:defRPr>
            </a:pPr>
            <a:r>
              <a:rPr sz="1575" b="0" i="0">
                <a:solidFill>
                  <a:srgbClr val="160B20"/>
                </a:solidFill>
                <a:latin typeface="Aptos"/>
                <a:ea typeface="Aptos"/>
                <a:cs typeface="Aptos"/>
              </a:rPr>
              <a:t>Linux kernel + GNU manuals</a:t>
            </a:r>
          </a:p>
          <a:p xmlns:a="http://schemas.openxmlformats.org/drawingml/2006/main">
            <a:pPr algn="l">
              <a:lnSpc>
                <a:spcPct val="118000"/>
              </a:lnSpc>
              <a:buNone/>
              <a:defRPr sz="1575" b="0" i="0">
                <a:solidFill>
                  <a:srgbClr val="160B20"/>
                </a:solidFill>
                <a:latin typeface="Aptos"/>
                <a:ea typeface="Aptos"/>
                <a:cs typeface="Aptos"/>
              </a:defRPr>
            </a:pPr>
            <a:r>
              <a:rPr sz="1575" b="0" i="0">
                <a:solidFill>
                  <a:srgbClr val="160B20"/>
                </a:solidFill>
                <a:latin typeface="Aptos"/>
                <a:ea typeface="Aptos"/>
                <a:cs typeface="Aptos"/>
              </a:rPr>
              <a:t>FHS 3.0 + Ubuntu Server docs</a:t>
            </a:r>
          </a:p>
          <a:p xmlns:a="http://schemas.openxmlformats.org/drawingml/2006/main">
            <a:pPr algn="l">
              <a:lnSpc>
                <a:spcPct val="118000"/>
              </a:lnSpc>
              <a:buNone/>
              <a:defRPr sz="1575" b="0" i="0">
                <a:solidFill>
                  <a:srgbClr val="160B20"/>
                </a:solidFill>
                <a:latin typeface="Aptos"/>
                <a:ea typeface="Aptos"/>
                <a:cs typeface="Aptos"/>
              </a:defRPr>
            </a:pPr>
            <a:r>
              <a:rPr sz="1575" b="0" i="0">
                <a:solidFill>
                  <a:srgbClr val="160B20"/>
                </a:solidFill>
                <a:latin typeface="Aptos"/>
                <a:ea typeface="Aptos"/>
                <a:cs typeface="Aptos"/>
              </a:rPr>
              <a:t>OpenSSH + systemd manuals</a:t>
            </a:r>
          </a:p>
          <a:p xmlns:a="http://schemas.openxmlformats.org/drawingml/2006/main">
            <a:pPr algn="l">
              <a:lnSpc>
                <a:spcPct val="118000"/>
              </a:lnSpc>
              <a:buNone/>
              <a:defRPr sz="1575" b="0" i="0">
                <a:solidFill>
                  <a:srgbClr val="160B20"/>
                </a:solidFill>
                <a:latin typeface="Aptos"/>
                <a:ea typeface="Aptos"/>
                <a:cs typeface="Aptos"/>
              </a:defRPr>
            </a:pPr>
            <a:r>
              <a:rPr sz="1575" b="0" i="0">
                <a:solidFill>
                  <a:srgbClr val="160B20"/>
                </a:solidFill>
                <a:latin typeface="Aptos"/>
                <a:ea typeface="Aptos"/>
                <a:cs typeface="Aptos"/>
              </a:rPr>
              <a:t>Incus instance documentation</a:t>
            </a:r>
          </a:p>
        </p:txBody>
      </p:sp>
      <p:sp>
        <p:nvSpPr>
          <p:cNvPr id="10" name="">
            <a:extLst xmlns:a="http://schemas.openxmlformats.org/drawingml/2006/main">
              <a:ext uri="{FF2B5EF4-FFF2-40B4-BE49-F238E27FC236}">
                <a16:creationId xmlns:a16="http://schemas.microsoft.com/office/drawing/2014/main" id="{11792DE1-C131-4AB8-B7DF-607B0B131ACF}"/>
              </a:ext>
            </a:extLst>
          </p:cNvPr>
          <p:cNvSpPr>
            <a:spLocks xmlns:a="http://schemas.openxmlformats.org/drawingml/2006/main" noGrp="1"/>
          </p:cNvSpPr>
          <p:nvPr/>
        </p:nvSpPr>
        <p:spPr>
          <a:xfrm xmlns:a="http://schemas.openxmlformats.org/drawingml/2006/main">
            <a:off x="723900" y="4171950"/>
            <a:ext cx="10325100" cy="9525"/>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B835E9B-8665-44D6-9887-3EA0ECE8A464}"/>
              </a:ext>
            </a:extLst>
          </p:cNvPr>
          <p:cNvSpPr>
            <a:spLocks xmlns:a="http://schemas.openxmlformats.org/drawingml/2006/main" noGrp="1"/>
          </p:cNvSpPr>
          <p:nvPr/>
        </p:nvSpPr>
        <p:spPr>
          <a:xfrm xmlns:a="http://schemas.openxmlformats.org/drawingml/2006/main">
            <a:off x="723900" y="447675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1" i="0">
                <a:solidFill>
                  <a:srgbClr val="8B5CF6"/>
                </a:solidFill>
                <a:latin typeface="Aptos"/>
                <a:ea typeface="Aptos"/>
                <a:cs typeface="Aptos"/>
              </a:defRPr>
            </a:pPr>
            <a:r>
              <a:rPr sz="1500" b="1" i="0">
                <a:solidFill>
                  <a:srgbClr val="8B5CF6"/>
                </a:solidFill>
                <a:latin typeface="Aptos"/>
                <a:ea typeface="Aptos"/>
                <a:cs typeface="Aptos"/>
              </a:rPr>
              <a:t>Claim-level traceability</a:t>
            </a:r>
          </a:p>
        </p:txBody>
      </p:sp>
      <p:sp>
        <p:nvSpPr>
          <p:cNvPr id="12" name="">
            <a:extLst xmlns:a="http://schemas.openxmlformats.org/drawingml/2006/main">
              <a:ext uri="{FF2B5EF4-FFF2-40B4-BE49-F238E27FC236}">
                <a16:creationId xmlns:a16="http://schemas.microsoft.com/office/drawing/2014/main" id="{D0197078-ADFA-43C0-B4D4-EB9B4B4587C0}"/>
              </a:ext>
            </a:extLst>
          </p:cNvPr>
          <p:cNvSpPr>
            <a:spLocks xmlns:a="http://schemas.openxmlformats.org/drawingml/2006/main" noGrp="1"/>
          </p:cNvSpPr>
          <p:nvPr/>
        </p:nvSpPr>
        <p:spPr>
          <a:xfrm xmlns:a="http://schemas.openxmlformats.org/drawingml/2006/main">
            <a:off x="3048000" y="4476750"/>
            <a:ext cx="8001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514658"/>
                </a:solidFill>
                <a:latin typeface="Aptos"/>
                <a:ea typeface="Aptos"/>
                <a:cs typeface="Aptos"/>
              </a:defRPr>
            </a:pPr>
            <a:r>
              <a:rPr sz="1500" b="0" i="0">
                <a:solidFill>
                  <a:srgbClr val="514658"/>
                </a:solidFill>
                <a:latin typeface="Aptos"/>
                <a:ea typeface="Aptos"/>
                <a:cs typeface="Aptos"/>
              </a:rPr>
              <a:t>resources/CLAIM_LEDGER.md · labs/FACT_CHECK.md</a:t>
            </a:r>
          </a:p>
        </p:txBody>
      </p:sp>
      <p:sp>
        <p:nvSpPr>
          <p:cNvPr id="13" name="">
            <a:extLst xmlns:a="http://schemas.openxmlformats.org/drawingml/2006/main">
              <a:ext uri="{FF2B5EF4-FFF2-40B4-BE49-F238E27FC236}">
                <a16:creationId xmlns:a16="http://schemas.microsoft.com/office/drawing/2014/main" id="{CEA57DC7-5D5E-419E-94FD-4A7ADF4E8DED}"/>
              </a:ext>
            </a:extLst>
          </p:cNvPr>
          <p:cNvSpPr>
            <a:spLocks xmlns:a="http://schemas.openxmlformats.org/drawingml/2006/main" noGrp="1"/>
          </p:cNvSpPr>
          <p:nvPr/>
        </p:nvSpPr>
        <p:spPr>
          <a:xfrm xmlns:a="http://schemas.openxmlformats.org/drawingml/2006/main">
            <a:off x="723900" y="5543550"/>
            <a:ext cx="10325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575" b="1" i="0">
                <a:solidFill>
                  <a:srgbClr val="8B5CF6"/>
                </a:solidFill>
                <a:latin typeface="Aptos"/>
                <a:ea typeface="Aptos"/>
                <a:cs typeface="Aptos"/>
              </a:defRPr>
            </a:pPr>
            <a:r>
              <a:rPr sz="1575" b="1" i="0">
                <a:solidFill>
                  <a:srgbClr val="8B5CF6"/>
                </a:solidFill>
                <a:latin typeface="Aptos"/>
                <a:ea typeface="Aptos"/>
                <a:cs typeface="Aptos"/>
              </a:rPr>
              <a:t>Full URLs, scope qualifications, and licenses: resources/SOURCES.md</a:t>
            </a:r>
          </a:p>
        </p:txBody>
      </p:sp>
    </p:spTree>
    <p:extLst>
      <p:ext uri="{BB962C8B-B14F-4D97-AF65-F5344CB8AC3E}">
        <p14:creationId xmlns:p14="http://schemas.microsoft.com/office/powerpoint/2010/main" val="6802673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2026-07-19T07:12:02.3240000Z</dcterms:created>
  <dcterms:modified xsi:type="dcterms:W3CDTF">2026-07-19T07:12:02.3240000Z</dcterms:modified>
</coreProperties>
</file>