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6a0612024234710" Type="http://schemas.openxmlformats.org/officeDocument/2006/relationships/extended-properties" Target="docProps/app.xml"/><Relationship Id="Rd50d53353cec4a55" Type="http://schemas.openxmlformats.org/package/2006/relationships/metadata/core-properties" Target="docProps/core.xml"/><Relationship Id="Rf547a8c2407347b1"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c5713a4c553a4260"/>
  </p:sldMasterIdLst>
  <p:notesMasterIdLst>
    <p:notesMasterId xmlns:r="http://schemas.openxmlformats.org/officeDocument/2006/relationships" r:id="R5acf69b6c5eb4b05"/>
  </p:notesMasterIdLst>
  <p:sldIdLst>
    <p:sldId xmlns:r="http://schemas.openxmlformats.org/officeDocument/2006/relationships" id="256" r:id="R7e9768963e6b47d0"/>
    <p:sldId xmlns:r="http://schemas.openxmlformats.org/officeDocument/2006/relationships" id="257" r:id="R24f066ebbef548a0"/>
    <p:sldId xmlns:r="http://schemas.openxmlformats.org/officeDocument/2006/relationships" id="260" r:id="R1652a0a0376a4890"/>
    <p:sldId xmlns:r="http://schemas.openxmlformats.org/officeDocument/2006/relationships" id="261" r:id="R0dfd26b317414b12"/>
    <p:sldId xmlns:ns0="http://schemas.openxmlformats.org/officeDocument/2006/relationships" id="369" ns0:id="rId97"/>
    <p:sldId xmlns:r="http://schemas.openxmlformats.org/officeDocument/2006/relationships" id="263" r:id="Ra44ff381e0514077"/>
    <p:sldId xmlns:r="http://schemas.openxmlformats.org/officeDocument/2006/relationships" id="264" r:id="Rea5ec1f6006148bd"/>
    <p:sldId xmlns:r="http://schemas.openxmlformats.org/officeDocument/2006/relationships" id="265" r:id="R5604b50b3f2e4871"/>
    <p:sldId xmlns:ns0="http://schemas.openxmlformats.org/officeDocument/2006/relationships" id="378" ns0:id="rId106"/>
    <p:sldId xmlns:r="http://schemas.openxmlformats.org/officeDocument/2006/relationships" id="266" r:id="Rad39b4cfa2b541ef"/>
    <p:sldId xmlns:r="http://schemas.openxmlformats.org/officeDocument/2006/relationships" id="267" r:id="R00cb8650e5594a44"/>
    <p:sldId xmlns:r="http://schemas.openxmlformats.org/officeDocument/2006/relationships" id="268" r:id="Rbb5478c51b3f4f46"/>
    <p:sldId xmlns:r="http://schemas.openxmlformats.org/officeDocument/2006/relationships" id="270" r:id="R602d1dc12995406f"/>
    <p:sldId xmlns:r="http://schemas.openxmlformats.org/officeDocument/2006/relationships" id="271" r:id="R498acd2809334a92"/>
    <p:sldId xmlns:r="http://schemas.openxmlformats.org/officeDocument/2006/relationships" id="272" r:id="R7b13614596cf46dd"/>
    <p:sldId xmlns:r="http://schemas.openxmlformats.org/officeDocument/2006/relationships" id="273" r:id="Rbeec9f18e74f461f"/>
    <p:sldId xmlns:r="http://schemas.openxmlformats.org/officeDocument/2006/relationships" id="275" r:id="Rf2935f5b30494b3d"/>
    <p:sldId xmlns:ns0="http://schemas.openxmlformats.org/officeDocument/2006/relationships" id="379" ns0:id="rId107"/>
    <p:sldId xmlns:ns0="http://schemas.openxmlformats.org/officeDocument/2006/relationships" id="388" ns0:id="rId116"/>
    <p:sldId xmlns:r="http://schemas.openxmlformats.org/officeDocument/2006/relationships" id="276" r:id="R10eec4fa0b7b4806"/>
    <p:sldId xmlns:r="http://schemas.openxmlformats.org/officeDocument/2006/relationships" id="277" r:id="R5ea33104ccd54dee"/>
    <p:sldId xmlns:r="http://schemas.openxmlformats.org/officeDocument/2006/relationships" id="278" r:id="R6d3498808cd348e9"/>
    <p:sldId xmlns:r="http://schemas.openxmlformats.org/officeDocument/2006/relationships" id="280" r:id="Ra690d17fe8414c40"/>
    <p:sldId xmlns:r="http://schemas.openxmlformats.org/officeDocument/2006/relationships" id="281" r:id="R7bbf45e88ae64cb9"/>
    <p:sldId xmlns:r="http://schemas.openxmlformats.org/officeDocument/2006/relationships" id="282" r:id="R88f54188ea4149d0"/>
    <p:sldId xmlns:r="http://schemas.openxmlformats.org/officeDocument/2006/relationships" id="283" r:id="Rf86ab0f9b3cc4b65"/>
    <p:sldId xmlns:ns0="http://schemas.openxmlformats.org/officeDocument/2006/relationships" id="376" ns0:id="rId104"/>
    <p:sldId xmlns:r="http://schemas.openxmlformats.org/officeDocument/2006/relationships" id="285" r:id="R2ad14f36f84d4a47"/>
    <p:sldId xmlns:ns0="http://schemas.openxmlformats.org/officeDocument/2006/relationships" id="380" ns0:id="rId108"/>
    <p:sldId xmlns:r="http://schemas.openxmlformats.org/officeDocument/2006/relationships" id="286" r:id="R62bf55855e1e4c3a"/>
    <p:sldId xmlns:r="http://schemas.openxmlformats.org/officeDocument/2006/relationships" id="287" r:id="R947ef45825d04fdb"/>
    <p:sldId xmlns:r="http://schemas.openxmlformats.org/officeDocument/2006/relationships" id="288" r:id="R8fed7aa26b0f4356"/>
    <p:sldId xmlns:r="http://schemas.openxmlformats.org/officeDocument/2006/relationships" id="290" r:id="R073d581fdcee4610"/>
    <p:sldId xmlns:r="http://schemas.openxmlformats.org/officeDocument/2006/relationships" id="291" r:id="Rcfaf2ae9e2874112"/>
    <p:sldId xmlns:r="http://schemas.openxmlformats.org/officeDocument/2006/relationships" id="292" r:id="R3d0bd55f2aac4f52"/>
    <p:sldId xmlns:r="http://schemas.openxmlformats.org/officeDocument/2006/relationships" id="293" r:id="R4ae4e17bf38844a0"/>
    <p:sldId xmlns:r="http://schemas.openxmlformats.org/officeDocument/2006/relationships" id="295" r:id="Re5c382b7737f4910"/>
    <p:sldId xmlns:ns0="http://schemas.openxmlformats.org/officeDocument/2006/relationships" id="381" ns0:id="rId109"/>
    <p:sldId xmlns:r="http://schemas.openxmlformats.org/officeDocument/2006/relationships" id="296" r:id="R5b8f4abea8634db8"/>
    <p:sldId xmlns:r="http://schemas.openxmlformats.org/officeDocument/2006/relationships" id="297" r:id="R4b11184059d64a97"/>
    <p:sldId xmlns:r="http://schemas.openxmlformats.org/officeDocument/2006/relationships" id="298" r:id="Rb11e9a1eaff640cb"/>
    <p:sldId xmlns:r="http://schemas.openxmlformats.org/officeDocument/2006/relationships" id="300" r:id="R66909f440ee04b18"/>
    <p:sldId xmlns:r="http://schemas.openxmlformats.org/officeDocument/2006/relationships" id="301" r:id="Rd789a450c96248ae"/>
    <p:sldId xmlns:r="http://schemas.openxmlformats.org/officeDocument/2006/relationships" id="302" r:id="Ra05d5f650c6941dd"/>
    <p:sldId xmlns:r="http://schemas.openxmlformats.org/officeDocument/2006/relationships" id="303" r:id="Rdf5563eb30e9452e"/>
    <p:sldId xmlns:ns0="http://schemas.openxmlformats.org/officeDocument/2006/relationships" id="374" ns0:id="rId102"/>
    <p:sldId xmlns:ns0="http://schemas.openxmlformats.org/officeDocument/2006/relationships" id="373" ns0:id="rId101"/>
    <p:sldId xmlns:ns0="http://schemas.openxmlformats.org/officeDocument/2006/relationships" id="372" ns0:id="rId100"/>
    <p:sldId xmlns:ns0="http://schemas.openxmlformats.org/officeDocument/2006/relationships" id="371" ns0:id="rId99"/>
    <p:sldId xmlns:ns0="http://schemas.openxmlformats.org/officeDocument/2006/relationships" id="382" ns0:id="rId110"/>
    <p:sldId xmlns:r="http://schemas.openxmlformats.org/officeDocument/2006/relationships" id="305" r:id="Rcd1d7700e09d4b04"/>
    <p:sldId xmlns:r="http://schemas.openxmlformats.org/officeDocument/2006/relationships" id="306" r:id="R436cf4eff10146f2"/>
    <p:sldId xmlns:r="http://schemas.openxmlformats.org/officeDocument/2006/relationships" id="307" r:id="R6b05dddf4aae4276"/>
    <p:sldId xmlns:r="http://schemas.openxmlformats.org/officeDocument/2006/relationships" id="308" r:id="Rbb01fd12c92c4b70"/>
    <p:sldId xmlns:r="http://schemas.openxmlformats.org/officeDocument/2006/relationships" id="310" r:id="R6795d2c768254d70"/>
    <p:sldId xmlns:r="http://schemas.openxmlformats.org/officeDocument/2006/relationships" id="311" r:id="R49a2b914e1734895"/>
    <p:sldId xmlns:r="http://schemas.openxmlformats.org/officeDocument/2006/relationships" id="312" r:id="R93a9bc9356f94d38"/>
    <p:sldId xmlns:r="http://schemas.openxmlformats.org/officeDocument/2006/relationships" id="313" r:id="R614d3a8b0bf04ffe"/>
    <p:sldId xmlns:ns0="http://schemas.openxmlformats.org/officeDocument/2006/relationships" id="375" ns0:id="rId103"/>
    <p:sldId xmlns:r="http://schemas.openxmlformats.org/officeDocument/2006/relationships" id="315" r:id="Rde4f6fcb968d4b95"/>
    <p:sldId xmlns:ns0="http://schemas.openxmlformats.org/officeDocument/2006/relationships" id="383" ns0:id="rId111"/>
    <p:sldId xmlns:r="http://schemas.openxmlformats.org/officeDocument/2006/relationships" id="316" r:id="R37327b8ee4a446ff"/>
    <p:sldId xmlns:r="http://schemas.openxmlformats.org/officeDocument/2006/relationships" id="317" r:id="Rbaad928bf8854f47"/>
    <p:sldId xmlns:r="http://schemas.openxmlformats.org/officeDocument/2006/relationships" id="318" r:id="R04244212863e406d"/>
    <p:sldId xmlns:r="http://schemas.openxmlformats.org/officeDocument/2006/relationships" id="320" r:id="Rf07d34444bf64dd3"/>
    <p:sldId xmlns:r="http://schemas.openxmlformats.org/officeDocument/2006/relationships" id="321" r:id="Reb48ff1f3d284ced"/>
    <p:sldId xmlns:r="http://schemas.openxmlformats.org/officeDocument/2006/relationships" id="322" r:id="R6b7c5c9bd80a43b9"/>
    <p:sldId xmlns:r="http://schemas.openxmlformats.org/officeDocument/2006/relationships" id="323" r:id="R112f3c2043694cf1"/>
    <p:sldId xmlns:r="http://schemas.openxmlformats.org/officeDocument/2006/relationships" id="325" r:id="Rb5fcc35e07ac4166"/>
    <p:sldId xmlns:ns0="http://schemas.openxmlformats.org/officeDocument/2006/relationships" id="384" ns0:id="rId112"/>
    <p:sldId xmlns:r="http://schemas.openxmlformats.org/officeDocument/2006/relationships" id="326" r:id="R0232434f49db4bd8"/>
    <p:sldId xmlns:r="http://schemas.openxmlformats.org/officeDocument/2006/relationships" id="327" r:id="Reb78452bfbb34464"/>
    <p:sldId xmlns:r="http://schemas.openxmlformats.org/officeDocument/2006/relationships" id="328" r:id="R10671c87a03f43d8"/>
    <p:sldId xmlns:r="http://schemas.openxmlformats.org/officeDocument/2006/relationships" id="330" r:id="R11362e2574b647d4"/>
    <p:sldId xmlns:r="http://schemas.openxmlformats.org/officeDocument/2006/relationships" id="331" r:id="Rae9791fa5cc54026"/>
    <p:sldId xmlns:r="http://schemas.openxmlformats.org/officeDocument/2006/relationships" id="332" r:id="R7d55ca97267b4554"/>
    <p:sldId xmlns:r="http://schemas.openxmlformats.org/officeDocument/2006/relationships" id="333" r:id="R3ef33a60cb5a4e2c"/>
    <p:sldId xmlns:ns0="http://schemas.openxmlformats.org/officeDocument/2006/relationships" id="377" ns0:id="rId105"/>
    <p:sldId xmlns:ns0="http://schemas.openxmlformats.org/officeDocument/2006/relationships" id="385" ns0:id="rId113"/>
    <p:sldId xmlns:r="http://schemas.openxmlformats.org/officeDocument/2006/relationships" id="335" r:id="Rb40c38ef16f743f1"/>
    <p:sldId xmlns:r="http://schemas.openxmlformats.org/officeDocument/2006/relationships" id="336" r:id="Rc3201bb9ccf64986"/>
    <p:sldId xmlns:ns0="http://schemas.openxmlformats.org/officeDocument/2006/relationships" id="368" ns0:id="rId96"/>
    <p:sldId xmlns:r="http://schemas.openxmlformats.org/officeDocument/2006/relationships" id="337" r:id="R1e77c0ca4490450e"/>
    <p:sldId xmlns:r="http://schemas.openxmlformats.org/officeDocument/2006/relationships" id="338" r:id="Rdfb2674e56bf41ee"/>
    <p:sldId xmlns:r="http://schemas.openxmlformats.org/officeDocument/2006/relationships" id="340" r:id="Rba5822f36b55481e"/>
    <p:sldId xmlns:r="http://schemas.openxmlformats.org/officeDocument/2006/relationships" id="341" r:id="R3e320ce19d114ebb"/>
    <p:sldId xmlns:r="http://schemas.openxmlformats.org/officeDocument/2006/relationships" id="342" r:id="R77cf5a0267034253"/>
    <p:sldId xmlns:r="http://schemas.openxmlformats.org/officeDocument/2006/relationships" id="343" r:id="R236c7aac06234d9e"/>
    <p:sldId xmlns:ns0="http://schemas.openxmlformats.org/officeDocument/2006/relationships" id="370" ns0:id="rId98"/>
    <p:sldId xmlns:ns0="http://schemas.openxmlformats.org/officeDocument/2006/relationships" id="386" ns0:id="rId114"/>
    <p:sldId xmlns:r="http://schemas.openxmlformats.org/officeDocument/2006/relationships" id="345" r:id="R2f890571f2564ef9"/>
    <p:sldId xmlns:r="http://schemas.openxmlformats.org/officeDocument/2006/relationships" id="346" r:id="R0de2c57c543e4c85"/>
    <p:sldId xmlns:r="http://schemas.openxmlformats.org/officeDocument/2006/relationships" id="347" r:id="Rcf663b91684c4100"/>
    <p:sldId xmlns:r="http://schemas.openxmlformats.org/officeDocument/2006/relationships" id="348" r:id="R9cca151cc59b4275"/>
    <p:sldId xmlns:r="http://schemas.openxmlformats.org/officeDocument/2006/relationships" id="350" r:id="Rd31e060e16804235"/>
    <p:sldId xmlns:r="http://schemas.openxmlformats.org/officeDocument/2006/relationships" id="351" r:id="Rc4b3802f8af64283"/>
    <p:sldId xmlns:r="http://schemas.openxmlformats.org/officeDocument/2006/relationships" id="352" r:id="Rdd354704fe854ff5"/>
    <p:sldId xmlns:r="http://schemas.openxmlformats.org/officeDocument/2006/relationships" id="353" r:id="R7c8ba50a7cf6430c"/>
    <p:sldId xmlns:r="http://schemas.openxmlformats.org/officeDocument/2006/relationships" id="355" r:id="R7090485c07c64650"/>
    <p:sldId xmlns:ns0="http://schemas.openxmlformats.org/officeDocument/2006/relationships" id="387" ns0:id="rId115"/>
    <p:sldId xmlns:r="http://schemas.openxmlformats.org/officeDocument/2006/relationships" id="356" r:id="Rc300e6cc07834dfe"/>
    <p:sldId xmlns:r="http://schemas.openxmlformats.org/officeDocument/2006/relationships" id="357" r:id="Rf1f8a36821014eec"/>
    <p:sldId xmlns:r="http://schemas.openxmlformats.org/officeDocument/2006/relationships" id="358" r:id="R9806b8c85f064797"/>
    <p:sldId xmlns:r="http://schemas.openxmlformats.org/officeDocument/2006/relationships" id="360" r:id="R3de0cf70b089485b"/>
    <p:sldId xmlns:r="http://schemas.openxmlformats.org/officeDocument/2006/relationships" id="361" r:id="R63169f82eedd44b7"/>
    <p:sldId xmlns:r="http://schemas.openxmlformats.org/officeDocument/2006/relationships" id="362" r:id="Rbaf43bbf67444a89"/>
    <p:sldId xmlns:r="http://schemas.openxmlformats.org/officeDocument/2006/relationships" id="363" r:id="Rdfa7349cae654bb7"/>
    <p:sldId xmlns:r="http://schemas.openxmlformats.org/officeDocument/2006/relationships" id="364" r:id="R0a8eac7cd9514214"/>
    <p:sldId xmlns:r="http://schemas.openxmlformats.org/officeDocument/2006/relationships" id="365" r:id="Rd4a795c3734743a4"/>
    <p:sldId xmlns:r="http://schemas.openxmlformats.org/officeDocument/2006/relationships" id="366" r:id="R5d312fe6c7564fae"/>
    <p:sldId xmlns:r="http://schemas.openxmlformats.org/officeDocument/2006/relationships" id="367" r:id="Rc5dae57efbbc481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cb8650e5594a44" Type="http://schemas.openxmlformats.org/officeDocument/2006/relationships/slide" Target="slides/slide11.xml"/><Relationship Id="R0232434f49db4bd8" Type="http://schemas.openxmlformats.org/officeDocument/2006/relationships/slide" Target="slides/slide71.xml"/><Relationship Id="R04244212863e406d" Type="http://schemas.openxmlformats.org/officeDocument/2006/relationships/slide" Target="slides/slide64.xml"/><Relationship Id="R073d581fdcee4610" Type="http://schemas.openxmlformats.org/officeDocument/2006/relationships/slide" Target="slides/slide33.xml"/><Relationship Id="R0a8eac7cd9514214" Type="http://schemas.openxmlformats.org/officeDocument/2006/relationships/slide" Target="slides/slide108.xml"/><Relationship Id="R0de2c57c543e4c85" Type="http://schemas.openxmlformats.org/officeDocument/2006/relationships/slide" Target="slides/slide92.xml"/><Relationship Id="R0dfd26b317414b12" Type="http://schemas.openxmlformats.org/officeDocument/2006/relationships/slide" Target="slides/slide4.xml"/><Relationship Id="R10671c87a03f43d8" Type="http://schemas.openxmlformats.org/officeDocument/2006/relationships/slide" Target="slides/slide73.xml"/><Relationship Id="R10eec4fa0b7b4806" Type="http://schemas.openxmlformats.org/officeDocument/2006/relationships/slide" Target="slides/slide20.xml"/><Relationship Id="R112f3c2043694cf1" Type="http://schemas.openxmlformats.org/officeDocument/2006/relationships/slide" Target="slides/slide68.xml"/><Relationship Id="R11362e2574b647d4" Type="http://schemas.openxmlformats.org/officeDocument/2006/relationships/slide" Target="slides/slide74.xml"/><Relationship Id="R1652a0a0376a4890" Type="http://schemas.openxmlformats.org/officeDocument/2006/relationships/slide" Target="slides/slide3.xml"/><Relationship Id="R1e77c0ca4490450e" Type="http://schemas.openxmlformats.org/officeDocument/2006/relationships/slide" Target="slides/slide83.xml"/><Relationship Id="R236c7aac06234d9e" Type="http://schemas.openxmlformats.org/officeDocument/2006/relationships/slide" Target="slides/slide88.xml"/><Relationship Id="R24f066ebbef548a0" Type="http://schemas.openxmlformats.org/officeDocument/2006/relationships/slide" Target="slides/slide2.xml"/><Relationship Id="R2ad14f36f84d4a47" Type="http://schemas.openxmlformats.org/officeDocument/2006/relationships/slide" Target="slides/slide28.xml"/><Relationship Id="R2f890571f2564ef9" Type="http://schemas.openxmlformats.org/officeDocument/2006/relationships/slide" Target="slides/slide91.xml"/><Relationship Id="R35d32a532468432a" Type="http://schemas.openxmlformats.org/officeDocument/2006/relationships/tableStyles" Target="tableStyles.xml"/><Relationship Id="R37327b8ee4a446ff" Type="http://schemas.openxmlformats.org/officeDocument/2006/relationships/slide" Target="slides/slide62.xml"/><Relationship Id="R3aec901dcdec496d" Type="http://schemas.openxmlformats.org/officeDocument/2006/relationships/theme" Target="theme/theme1.xml"/><Relationship Id="R3d0bd55f2aac4f52" Type="http://schemas.openxmlformats.org/officeDocument/2006/relationships/slide" Target="slides/slide35.xml"/><Relationship Id="R3de0cf70b089485b" Type="http://schemas.openxmlformats.org/officeDocument/2006/relationships/slide" Target="slides/slide104.xml"/><Relationship Id="R3e320ce19d114ebb" Type="http://schemas.openxmlformats.org/officeDocument/2006/relationships/slide" Target="slides/slide86.xml"/><Relationship Id="R3ef33a60cb5a4e2c" Type="http://schemas.openxmlformats.org/officeDocument/2006/relationships/slide" Target="slides/slide77.xml"/><Relationship Id="R436cf4eff10146f2" Type="http://schemas.openxmlformats.org/officeDocument/2006/relationships/slide" Target="slides/slide52.xml"/><Relationship Id="R498acd2809334a92" Type="http://schemas.openxmlformats.org/officeDocument/2006/relationships/slide" Target="slides/slide14.xml"/><Relationship Id="R49a2b914e1734895" Type="http://schemas.openxmlformats.org/officeDocument/2006/relationships/slide" Target="slides/slide56.xml"/><Relationship Id="R4ae4e17bf38844a0" Type="http://schemas.openxmlformats.org/officeDocument/2006/relationships/slide" Target="slides/slide36.xml"/><Relationship Id="R4b11184059d64a97" Type="http://schemas.openxmlformats.org/officeDocument/2006/relationships/slide" Target="slides/slide40.xml"/><Relationship Id="R5604b50b3f2e4871" Type="http://schemas.openxmlformats.org/officeDocument/2006/relationships/slide" Target="slides/slide8.xml"/><Relationship Id="R5acf69b6c5eb4b05" Type="http://schemas.openxmlformats.org/officeDocument/2006/relationships/notesMaster" Target="notesMasters/notesMaster1.xml"/><Relationship Id="R5b8f4abea8634db8" Type="http://schemas.openxmlformats.org/officeDocument/2006/relationships/slide" Target="slides/slide39.xml"/><Relationship Id="R5d312fe6c7564fae" Type="http://schemas.openxmlformats.org/officeDocument/2006/relationships/slide" Target="slides/slide110.xml"/><Relationship Id="R5ea33104ccd54dee" Type="http://schemas.openxmlformats.org/officeDocument/2006/relationships/slide" Target="slides/slide21.xml"/><Relationship Id="R602d1dc12995406f" Type="http://schemas.openxmlformats.org/officeDocument/2006/relationships/slide" Target="slides/slide13.xml"/><Relationship Id="R614d3a8b0bf04ffe" Type="http://schemas.openxmlformats.org/officeDocument/2006/relationships/slide" Target="slides/slide58.xml"/><Relationship Id="R62bf55855e1e4c3a" Type="http://schemas.openxmlformats.org/officeDocument/2006/relationships/slide" Target="slides/slide30.xml"/><Relationship Id="R63169f82eedd44b7" Type="http://schemas.openxmlformats.org/officeDocument/2006/relationships/slide" Target="slides/slide105.xml"/><Relationship Id="R66909f440ee04b18" Type="http://schemas.openxmlformats.org/officeDocument/2006/relationships/slide" Target="slides/slide42.xml"/><Relationship Id="R6795d2c768254d70" Type="http://schemas.openxmlformats.org/officeDocument/2006/relationships/slide" Target="slides/slide55.xml"/><Relationship Id="R6b05dddf4aae4276" Type="http://schemas.openxmlformats.org/officeDocument/2006/relationships/slide" Target="slides/slide53.xml"/><Relationship Id="R6b7c5c9bd80a43b9" Type="http://schemas.openxmlformats.org/officeDocument/2006/relationships/slide" Target="slides/slide67.xml"/><Relationship Id="R6d3498808cd348e9" Type="http://schemas.openxmlformats.org/officeDocument/2006/relationships/slide" Target="slides/slide22.xml"/><Relationship Id="R7090485c07c64650" Type="http://schemas.openxmlformats.org/officeDocument/2006/relationships/slide" Target="slides/slide99.xml"/><Relationship Id="R77cf5a0267034253" Type="http://schemas.openxmlformats.org/officeDocument/2006/relationships/slide" Target="slides/slide87.xml"/><Relationship Id="R7b13614596cf46dd" Type="http://schemas.openxmlformats.org/officeDocument/2006/relationships/slide" Target="slides/slide15.xml"/><Relationship Id="R7bbf45e88ae64cb9" Type="http://schemas.openxmlformats.org/officeDocument/2006/relationships/slide" Target="slides/slide24.xml"/><Relationship Id="R7c8ba50a7cf6430c" Type="http://schemas.openxmlformats.org/officeDocument/2006/relationships/slide" Target="slides/slide98.xml"/><Relationship Id="R7d55ca97267b4554" Type="http://schemas.openxmlformats.org/officeDocument/2006/relationships/slide" Target="slides/slide76.xml"/><Relationship Id="R7e9768963e6b47d0" Type="http://schemas.openxmlformats.org/officeDocument/2006/relationships/slide" Target="slides/slide1.xml"/><Relationship Id="R88f54188ea4149d0" Type="http://schemas.openxmlformats.org/officeDocument/2006/relationships/slide" Target="slides/slide25.xml"/><Relationship Id="R8fed7aa26b0f4356" Type="http://schemas.openxmlformats.org/officeDocument/2006/relationships/slide" Target="slides/slide32.xml"/><Relationship Id="R93a9bc9356f94d38" Type="http://schemas.openxmlformats.org/officeDocument/2006/relationships/slide" Target="slides/slide57.xml"/><Relationship Id="R947ef45825d04fdb" Type="http://schemas.openxmlformats.org/officeDocument/2006/relationships/slide" Target="slides/slide31.xml"/><Relationship Id="R9806b8c85f064797" Type="http://schemas.openxmlformats.org/officeDocument/2006/relationships/slide" Target="slides/slide103.xml"/><Relationship Id="R9cca151cc59b4275" Type="http://schemas.openxmlformats.org/officeDocument/2006/relationships/slide" Target="slides/slide94.xml"/><Relationship Id="Ra05d5f650c6941dd" Type="http://schemas.openxmlformats.org/officeDocument/2006/relationships/slide" Target="slides/slide44.xml"/><Relationship Id="Ra44ff381e0514077" Type="http://schemas.openxmlformats.org/officeDocument/2006/relationships/slide" Target="slides/slide6.xml"/><Relationship Id="Ra690d17fe8414c40" Type="http://schemas.openxmlformats.org/officeDocument/2006/relationships/slide" Target="slides/slide23.xml"/><Relationship Id="Ra9c766a7060d4404" Type="http://schemas.openxmlformats.org/officeDocument/2006/relationships/presProps" Target="presProps.xml"/><Relationship Id="Rad39b4cfa2b541ef" Type="http://schemas.openxmlformats.org/officeDocument/2006/relationships/slide" Target="slides/slide10.xml"/><Relationship Id="Rae9791fa5cc54026" Type="http://schemas.openxmlformats.org/officeDocument/2006/relationships/slide" Target="slides/slide75.xml"/><Relationship Id="Rb11e9a1eaff640cb" Type="http://schemas.openxmlformats.org/officeDocument/2006/relationships/slide" Target="slides/slide41.xml"/><Relationship Id="Rb40c38ef16f743f1" Type="http://schemas.openxmlformats.org/officeDocument/2006/relationships/slide" Target="slides/slide80.xml"/><Relationship Id="Rb5fcc35e07ac4166" Type="http://schemas.openxmlformats.org/officeDocument/2006/relationships/slide" Target="slides/slide69.xml"/><Relationship Id="Rba5822f36b55481e" Type="http://schemas.openxmlformats.org/officeDocument/2006/relationships/slide" Target="slides/slide85.xml"/><Relationship Id="Rbaad928bf8854f47" Type="http://schemas.openxmlformats.org/officeDocument/2006/relationships/slide" Target="slides/slide63.xml"/><Relationship Id="Rbaf43bbf67444a89" Type="http://schemas.openxmlformats.org/officeDocument/2006/relationships/slide" Target="slides/slide106.xml"/><Relationship Id="Rbb01fd12c92c4b70" Type="http://schemas.openxmlformats.org/officeDocument/2006/relationships/slide" Target="slides/slide54.xml"/><Relationship Id="Rbb5478c51b3f4f46" Type="http://schemas.openxmlformats.org/officeDocument/2006/relationships/slide" Target="slides/slide12.xml"/><Relationship Id="Rbeec9f18e74f461f" Type="http://schemas.openxmlformats.org/officeDocument/2006/relationships/slide" Target="slides/slide16.xml"/><Relationship Id="Rc300e6cc07834dfe" Type="http://schemas.openxmlformats.org/officeDocument/2006/relationships/slide" Target="slides/slide101.xml"/><Relationship Id="Rc3201bb9ccf64986" Type="http://schemas.openxmlformats.org/officeDocument/2006/relationships/slide" Target="slides/slide81.xml"/><Relationship Id="Rc4b3802f8af64283" Type="http://schemas.openxmlformats.org/officeDocument/2006/relationships/slide" Target="slides/slide96.xml"/><Relationship Id="Rc5713a4c553a4260" Type="http://schemas.openxmlformats.org/officeDocument/2006/relationships/slideMaster" Target="slideMasters/slideMaster1.xml"/><Relationship Id="Rc5dae57efbbc4818" Type="http://schemas.openxmlformats.org/officeDocument/2006/relationships/slide" Target="slides/slide111.xml"/><Relationship Id="Rcd1d7700e09d4b04" Type="http://schemas.openxmlformats.org/officeDocument/2006/relationships/slide" Target="slides/slide51.xml"/><Relationship Id="Rcf663b91684c4100" Type="http://schemas.openxmlformats.org/officeDocument/2006/relationships/slide" Target="slides/slide93.xml"/><Relationship Id="Rcfaf2ae9e2874112" Type="http://schemas.openxmlformats.org/officeDocument/2006/relationships/slide" Target="slides/slide34.xml"/><Relationship Id="Rd31e060e16804235" Type="http://schemas.openxmlformats.org/officeDocument/2006/relationships/slide" Target="slides/slide95.xml"/><Relationship Id="Rd4a795c3734743a4" Type="http://schemas.openxmlformats.org/officeDocument/2006/relationships/slide" Target="slides/slide109.xml"/><Relationship Id="Rd789a450c96248ae" Type="http://schemas.openxmlformats.org/officeDocument/2006/relationships/slide" Target="slides/slide43.xml"/><Relationship Id="Rdd354704fe854ff5" Type="http://schemas.openxmlformats.org/officeDocument/2006/relationships/slide" Target="slides/slide97.xml"/><Relationship Id="Rde4f6fcb968d4b95" Type="http://schemas.openxmlformats.org/officeDocument/2006/relationships/slide" Target="slides/slide60.xml"/><Relationship Id="Rdf5563eb30e9452e" Type="http://schemas.openxmlformats.org/officeDocument/2006/relationships/slide" Target="slides/slide45.xml"/><Relationship Id="Rdfa7349cae654bb7" Type="http://schemas.openxmlformats.org/officeDocument/2006/relationships/slide" Target="slides/slide107.xml"/><Relationship Id="Rdfb2674e56bf41ee" Type="http://schemas.openxmlformats.org/officeDocument/2006/relationships/slide" Target="slides/slide84.xml"/><Relationship Id="Re5c382b7737f4910" Type="http://schemas.openxmlformats.org/officeDocument/2006/relationships/slide" Target="slides/slide37.xml"/><Relationship Id="Rea5ec1f6006148bd" Type="http://schemas.openxmlformats.org/officeDocument/2006/relationships/slide" Target="slides/slide7.xml"/><Relationship Id="Reb48ff1f3d284ced" Type="http://schemas.openxmlformats.org/officeDocument/2006/relationships/slide" Target="slides/slide66.xml"/><Relationship Id="Reb78452bfbb34464" Type="http://schemas.openxmlformats.org/officeDocument/2006/relationships/slide" Target="slides/slide72.xml"/><Relationship Id="Rf07d34444bf64dd3" Type="http://schemas.openxmlformats.org/officeDocument/2006/relationships/slide" Target="slides/slide65.xml"/><Relationship Id="Rf1f8a36821014eec" Type="http://schemas.openxmlformats.org/officeDocument/2006/relationships/slide" Target="slides/slide102.xml"/><Relationship Id="Rf2935f5b30494b3d" Type="http://schemas.openxmlformats.org/officeDocument/2006/relationships/slide" Target="slides/slide17.xml"/><Relationship Id="Rf86ab0f9b3cc4b65" Type="http://schemas.openxmlformats.org/officeDocument/2006/relationships/slide" Target="slides/slide26.xml"/><Relationship Id="rId96" Type="http://schemas.openxmlformats.org/officeDocument/2006/relationships/slide" Target="slides/slide82.xml"/><Relationship Id="rId97" Type="http://schemas.openxmlformats.org/officeDocument/2006/relationships/slide" Target="slides/slide5.xml"/><Relationship Id="rId98" Type="http://schemas.openxmlformats.org/officeDocument/2006/relationships/slide" Target="slides/slide89.xml"/><Relationship Id="rId99" Type="http://schemas.openxmlformats.org/officeDocument/2006/relationships/slide" Target="slides/slide49.xml"/><Relationship Id="rId100" Type="http://schemas.openxmlformats.org/officeDocument/2006/relationships/slide" Target="slides/slide48.xml"/><Relationship Id="rId101" Type="http://schemas.openxmlformats.org/officeDocument/2006/relationships/slide" Target="slides/slide47.xml"/><Relationship Id="rId102" Type="http://schemas.openxmlformats.org/officeDocument/2006/relationships/slide" Target="slides/slide46.xml"/><Relationship Id="rId103" Type="http://schemas.openxmlformats.org/officeDocument/2006/relationships/slide" Target="slides/slide59.xml"/><Relationship Id="rId104" Type="http://schemas.openxmlformats.org/officeDocument/2006/relationships/slide" Target="slides/slide27.xml"/><Relationship Id="rId105" Type="http://schemas.openxmlformats.org/officeDocument/2006/relationships/slide" Target="slides/slide78.xml"/><Relationship Id="rId106" Type="http://schemas.openxmlformats.org/officeDocument/2006/relationships/slide" Target="slides/slide9.xml"/><Relationship Id="rId107" Type="http://schemas.openxmlformats.org/officeDocument/2006/relationships/slide" Target="slides/slide18.xml"/><Relationship Id="rId108" Type="http://schemas.openxmlformats.org/officeDocument/2006/relationships/slide" Target="slides/slide29.xml"/><Relationship Id="rId109" Type="http://schemas.openxmlformats.org/officeDocument/2006/relationships/slide" Target="slides/slide38.xml"/><Relationship Id="rId110" Type="http://schemas.openxmlformats.org/officeDocument/2006/relationships/slide" Target="slides/slide50.xml"/><Relationship Id="rId111" Type="http://schemas.openxmlformats.org/officeDocument/2006/relationships/slide" Target="slides/slide61.xml"/><Relationship Id="rId112" Type="http://schemas.openxmlformats.org/officeDocument/2006/relationships/slide" Target="slides/slide70.xml"/><Relationship Id="rId113" Type="http://schemas.openxmlformats.org/officeDocument/2006/relationships/slide" Target="slides/slide79.xml"/><Relationship Id="rId114" Type="http://schemas.openxmlformats.org/officeDocument/2006/relationships/slide" Target="slides/slide90.xml"/><Relationship Id="rId115" Type="http://schemas.openxmlformats.org/officeDocument/2006/relationships/slide" Target="slides/slide100.xml"/><Relationship Id="rId11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3f173d71b4eb4c9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d86a6433e38d42d2" Type="http://schemas.openxmlformats.org/officeDocument/2006/relationships/notesMaster" Target="../notesMasters/notesMaster1.xml"/><Relationship Id="Rf1fcf4d877fe428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be3c57549f84e05" Type="http://schemas.openxmlformats.org/officeDocument/2006/relationships/notesMaster" Target="../notesMasters/notesMaster1.xml"/><Relationship Id="R67f89b6ba7094d6c"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230fd25aa10f4fac" Type="http://schemas.openxmlformats.org/officeDocument/2006/relationships/notesMaster" Target="../notesMasters/notesMaster1.xml"/><Relationship Id="Rd9799a45c2c24f49"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04cab2a1c2cb4846" Type="http://schemas.openxmlformats.org/officeDocument/2006/relationships/notesMaster" Target="../notesMasters/notesMaster1.xml"/><Relationship Id="Rc026e8b59e6c47bf"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xml.rels><?xml version='1.0' encoding='UTF-8' standalone='yes'?>
<Relationships xmlns="http://schemas.openxmlformats.org/package/2006/relationships"><Relationship Id="R1d77800bfd6a4a49" Type="http://schemas.openxmlformats.org/officeDocument/2006/relationships/slide" Target="../slides/slide6.xml"/><Relationship Id="R5348eda9d4594a6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e7a0bda4420450d" Type="http://schemas.openxmlformats.org/officeDocument/2006/relationships/slide" Target="../slides/slide7.xml"/><Relationship Id="Rb4ccbe8c472e46df"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69f174d26224326" Type="http://schemas.openxmlformats.org/officeDocument/2006/relationships/notesMaster" Target="../notesMasters/notesMaster1.xml"/><Relationship Id="Rd2385f19e7c04797"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a4877c40e48047a4" Type="http://schemas.openxmlformats.org/officeDocument/2006/relationships/notesMaster" Target="../notesMasters/notesMaster1.xml"/><Relationship Id="Rb0a1485093ba4864"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1ee5d01b6d6f4507" Type="http://schemas.openxmlformats.org/officeDocument/2006/relationships/slide" Target="../slides/slide11.xml"/><Relationship Id="R6c425af761bb49c6"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ae3eee9d4d254dc1" Type="http://schemas.openxmlformats.org/officeDocument/2006/relationships/slide" Target="../slides/slide12.xml"/><Relationship Id="Rfdae4d50397a42c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5.xml.rels><?xml version='1.0' encoding='UTF-8' standalone='yes'?>
<Relationships xmlns="http://schemas.openxmlformats.org/package/2006/relationships"><Relationship Id="Rcf7fdae562134656" Type="http://schemas.openxmlformats.org/officeDocument/2006/relationships/slide" Target="../slides/slide13.xml"/><Relationship Id="Rfdb9b1ec3934446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449a7cd56f444345" Type="http://schemas.openxmlformats.org/officeDocument/2006/relationships/slide" Target="../slides/slide14.xml"/><Relationship Id="Rdbbd89e6fba74ee0"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18a75b8bdfd6461b" Type="http://schemas.openxmlformats.org/officeDocument/2006/relationships/slide" Target="../slides/slide15.xml"/><Relationship Id="R57ccb00f7aa243a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d27f9bd9358d4129" Type="http://schemas.openxmlformats.org/officeDocument/2006/relationships/notesMaster" Target="../notesMasters/notesMaster1.xml"/><Relationship Id="Rd3e72511e3cd46b1"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20.xml.rels><?xml version='1.0' encoding='UTF-8' standalone='yes'?>
<Relationships xmlns="http://schemas.openxmlformats.org/package/2006/relationships"><Relationship Id="R42e2d08762974663" Type="http://schemas.openxmlformats.org/officeDocument/2006/relationships/notesMaster" Target="../notesMasters/notesMaster1.xml"/><Relationship Id="R8ca21a0a5854481e"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d222c3f1d9a948d6" Type="http://schemas.openxmlformats.org/officeDocument/2006/relationships/slide" Target="../slides/slide20.xml"/><Relationship Id="Re235e1b8305149e7"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3252445fee41449d" Type="http://schemas.openxmlformats.org/officeDocument/2006/relationships/slide" Target="../slides/slide21.xml"/><Relationship Id="R9d5ec888b48a45c9"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29887683515e4720" Type="http://schemas.openxmlformats.org/officeDocument/2006/relationships/slide" Target="../slides/slide22.xml"/><Relationship Id="Re761ff56abe74b1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25.xml.rels><?xml version='1.0' encoding='UTF-8' standalone='yes'?>
<Relationships xmlns="http://schemas.openxmlformats.org/package/2006/relationships"><Relationship Id="R6a3333bf5b1642ea" Type="http://schemas.openxmlformats.org/officeDocument/2006/relationships/notesMaster" Target="../notesMasters/notesMaster1.xml"/><Relationship Id="R8308a68d163b4705"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30d1994a0fce4d21" Type="http://schemas.openxmlformats.org/officeDocument/2006/relationships/slide" Target="../slides/slide24.xml"/><Relationship Id="R8593df16bbb34443"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1f1ac2316cf54aac" Type="http://schemas.openxmlformats.org/officeDocument/2006/relationships/notesMaster" Target="../notesMasters/notesMaster1.xml"/><Relationship Id="R57e779800e204911"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26ce1626d7204e25" Type="http://schemas.openxmlformats.org/officeDocument/2006/relationships/notesMaster" Target="../notesMasters/notesMaster1.xml"/><Relationship Id="R71a2bd4d9b664e9a"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17d8116a64054dc2" Type="http://schemas.openxmlformats.org/officeDocument/2006/relationships/slide" Target="../slides/slide28.xml"/><Relationship Id="R28ade0bddb404f1e"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3b882f02e8d841ec" Type="http://schemas.openxmlformats.org/officeDocument/2006/relationships/slide" Target="../slides/slide30.xml"/><Relationship Id="R7d8ba77c5d3949ec"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45ccb9986b614b4a" Type="http://schemas.openxmlformats.org/officeDocument/2006/relationships/slide" Target="../slides/slide31.xml"/><Relationship Id="Race1d19429dd425f"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5b16aaec9e124b97" Type="http://schemas.openxmlformats.org/officeDocument/2006/relationships/slide" Target="../slides/slide32.xml"/><Relationship Id="R62ecc481cc6d4559"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500f79732f7f482d" Type="http://schemas.openxmlformats.org/officeDocument/2006/relationships/notesMaster" Target="../notesMasters/notesMaster1.xml"/><Relationship Id="Rbabf777ed1104c50" Type="http://schemas.openxmlformats.org/officeDocument/2006/relationships/slide" Target="../slides/slide33.xml"/></Relationships>
</file>

<file path=ppt/notesSlides/_rels/notesSlide36.xml.rels><?xml version='1.0' encoding='UTF-8' standalone='yes'?>
<Relationships xmlns="http://schemas.openxmlformats.org/package/2006/relationships"><Relationship Id="R0341b2575a024b78" Type="http://schemas.openxmlformats.org/officeDocument/2006/relationships/notesMaster" Target="../notesMasters/notesMaster1.xml"/><Relationship Id="R25fc6cc7d6b64bb6"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02a79cfca67e47dd" Type="http://schemas.openxmlformats.org/officeDocument/2006/relationships/notesMaster" Target="../notesMasters/notesMaster1.xml"/><Relationship Id="Rb9288fbcc08d4dbf"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6ed4fd72bcb842cc" Type="http://schemas.openxmlformats.org/officeDocument/2006/relationships/slide" Target="../slides/slide36.xml"/><Relationship Id="R7bb9fdfd9f9541a6"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0.xml.rels><?xml version='1.0' encoding='UTF-8' standalone='yes'?>
<Relationships xmlns="http://schemas.openxmlformats.org/package/2006/relationships"><Relationship Id="R7ee1cc6071dd47ca" Type="http://schemas.openxmlformats.org/officeDocument/2006/relationships/notesMaster" Target="../notesMasters/notesMaster1.xml"/><Relationship Id="Reffe2c68ea304327" Type="http://schemas.openxmlformats.org/officeDocument/2006/relationships/slide" Target="../slides/slide37.xml"/></Relationships>
</file>

<file path=ppt/notesSlides/_rels/notesSlide41.xml.rels><?xml version='1.0' encoding='UTF-8' standalone='yes'?>
<Relationships xmlns="http://schemas.openxmlformats.org/package/2006/relationships"><Relationship Id="R5f3b653319c44d82" Type="http://schemas.openxmlformats.org/officeDocument/2006/relationships/notesMaster" Target="../notesMasters/notesMaster1.xml"/><Relationship Id="R6e49e131dcee40e3" Type="http://schemas.openxmlformats.org/officeDocument/2006/relationships/slide" Target="../slides/slide39.xml"/></Relationships>
</file>

<file path=ppt/notesSlides/_rels/notesSlide42.xml.rels><?xml version='1.0' encoding='UTF-8' standalone='yes'?>
<Relationships xmlns="http://schemas.openxmlformats.org/package/2006/relationships"><Relationship Id="R6cc536d7c4704e96" Type="http://schemas.openxmlformats.org/officeDocument/2006/relationships/notesMaster" Target="../notesMasters/notesMaster1.xml"/><Relationship Id="R959e62d8558d4017" Type="http://schemas.openxmlformats.org/officeDocument/2006/relationships/slide" Target="../slides/slide40.xml"/></Relationships>
</file>

<file path=ppt/notesSlides/_rels/notesSlide43.xml.rels><?xml version='1.0' encoding='UTF-8' standalone='yes'?>
<Relationships xmlns="http://schemas.openxmlformats.org/package/2006/relationships"><Relationship Id="R2b17df44f65c48a1" Type="http://schemas.openxmlformats.org/officeDocument/2006/relationships/slide" Target="../slides/slide41.xml"/><Relationship Id="Reee4e00ad0ca4b2a"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5.xml.rels><?xml version='1.0' encoding='UTF-8' standalone='yes'?>
<Relationships xmlns="http://schemas.openxmlformats.org/package/2006/relationships"><Relationship Id="R2dd511a2b53b461a" Type="http://schemas.openxmlformats.org/officeDocument/2006/relationships/notesMaster" Target="../notesMasters/notesMaster1.xml"/><Relationship Id="Re39ac2bd5ed74439" Type="http://schemas.openxmlformats.org/officeDocument/2006/relationships/slide" Target="../slides/slide42.xml"/></Relationships>
</file>

<file path=ppt/notesSlides/_rels/notesSlide46.xml.rels><?xml version='1.0' encoding='UTF-8' standalone='yes'?>
<Relationships xmlns="http://schemas.openxmlformats.org/package/2006/relationships"><Relationship Id="R44592576383648a5" Type="http://schemas.openxmlformats.org/officeDocument/2006/relationships/notesMaster" Target="../notesMasters/notesMaster1.xml"/><Relationship Id="Rb8c4a66d02474d45" Type="http://schemas.openxmlformats.org/officeDocument/2006/relationships/slide" Target="../slides/slide43.xml"/></Relationships>
</file>

<file path=ppt/notesSlides/_rels/notesSlide47.xml.rels><?xml version='1.0' encoding='UTF-8' standalone='yes'?>
<Relationships xmlns="http://schemas.openxmlformats.org/package/2006/relationships"><Relationship Id="R7867908e47fa4e13" Type="http://schemas.openxmlformats.org/officeDocument/2006/relationships/notesMaster" Target="../notesMasters/notesMaster1.xml"/><Relationship Id="Rf9fa5096639b4aa2" Type="http://schemas.openxmlformats.org/officeDocument/2006/relationships/slide" Target="../slides/slide44.xml"/></Relationships>
</file>

<file path=ppt/notesSlides/_rels/notesSlide48.xml.rels><?xml version='1.0' encoding='UTF-8' standalone='yes'?>
<Relationships xmlns="http://schemas.openxmlformats.org/package/2006/relationships"><Relationship Id="R1384c90eeef54f8b" Type="http://schemas.openxmlformats.org/officeDocument/2006/relationships/notesMaster" Target="../notesMasters/notesMaster1.xml"/><Relationship Id="Rb33854e90ffd4143" Type="http://schemas.openxmlformats.org/officeDocument/2006/relationships/slide" Target="../slides/slide4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0.xml.rels><?xml version='1.0' encoding='UTF-8' standalone='yes'?>
<Relationships xmlns="http://schemas.openxmlformats.org/package/2006/relationships"><Relationship Id="Rb177c6ec062647d9" Type="http://schemas.openxmlformats.org/officeDocument/2006/relationships/slide" Target="../slides/slide51.xml"/><Relationship Id="Rcba6c1adc4e943d3"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35dcec28e0724f77" Type="http://schemas.openxmlformats.org/officeDocument/2006/relationships/notesMaster" Target="../notesMasters/notesMaster1.xml"/><Relationship Id="R6be9169474ca4e5d"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3246364f1e7d4857" Type="http://schemas.openxmlformats.org/officeDocument/2006/relationships/slide" Target="../slides/slide53.xml"/><Relationship Id="R3fd22449160a4f50"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33ea6d127e46444e" Type="http://schemas.openxmlformats.org/officeDocument/2006/relationships/notesMaster" Target="../notesMasters/notesMaster1.xml"/><Relationship Id="Rb534354e0bde4796"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5.xml.rels><?xml version='1.0' encoding='UTF-8' standalone='yes'?>
<Relationships xmlns="http://schemas.openxmlformats.org/package/2006/relationships"><Relationship Id="R3d3e6327768c4d42" Type="http://schemas.openxmlformats.org/officeDocument/2006/relationships/slide" Target="../slides/slide55.xml"/><Relationship Id="Re70fdfc98dea430a"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32390f2f1b9f40cd" Type="http://schemas.openxmlformats.org/officeDocument/2006/relationships/notesMaster" Target="../notesMasters/notesMaster1.xml"/><Relationship Id="R95e7e87ead384816"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27beeaf05d5e451c" Type="http://schemas.openxmlformats.org/officeDocument/2006/relationships/slide" Target="../slides/slide57.xml"/><Relationship Id="R4cfe99bfefde4388"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0a363635e5004e8d" Type="http://schemas.openxmlformats.org/officeDocument/2006/relationships/slide" Target="../slides/slide58.xml"/><Relationship Id="R8072c51e0d6c4693"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8a2b49d33ac346f7" Type="http://schemas.openxmlformats.org/officeDocument/2006/relationships/notesMaster" Target="../notesMasters/notesMaster1.xml"/><Relationship Id="Rac77f5e0b7d64f0b"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950ea6819d20415c" Type="http://schemas.openxmlformats.org/officeDocument/2006/relationships/notesMaster" Target="../notesMasters/notesMaster1.xml"/><Relationship Id="Rfb8b3e86a844465c"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c1e077d729474b6e" Type="http://schemas.openxmlformats.org/officeDocument/2006/relationships/notesMaster" Target="../notesMasters/notesMaster1.xml"/><Relationship Id="Rdcbaa8da435049ff"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00a9ccbf0d34400d" Type="http://schemas.openxmlformats.org/officeDocument/2006/relationships/notesMaster" Target="../notesMasters/notesMaster1.xml"/><Relationship Id="R254e8aa285fa48ca"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5.xml.rels><?xml version='1.0' encoding='UTF-8' standalone='yes'?>
<Relationships xmlns="http://schemas.openxmlformats.org/package/2006/relationships"><Relationship Id="R756bec07ba4b4c53" Type="http://schemas.openxmlformats.org/officeDocument/2006/relationships/notesMaster" Target="../notesMasters/notesMaster1.xml"/><Relationship Id="Rb9f3ff87f5ff490c"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ec0999a64f0742ad" Type="http://schemas.openxmlformats.org/officeDocument/2006/relationships/slide" Target="../slides/slide66.xml"/><Relationship Id="Reeea5c74cecb46a3"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31ea36edcde540e7" Type="http://schemas.openxmlformats.org/officeDocument/2006/relationships/slide" Target="../slides/slide67.xml"/><Relationship Id="Rd87cab7015f74178"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65ecb2a0dcac434a" Type="http://schemas.openxmlformats.org/officeDocument/2006/relationships/slide" Target="../slides/slide68.xml"/><Relationship Id="R9e0a7ba24c404c2b"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0.xml.rels><?xml version='1.0' encoding='UTF-8' standalone='yes'?>
<Relationships xmlns="http://schemas.openxmlformats.org/package/2006/relationships"><Relationship Id="R0efd1297043f4ff4" Type="http://schemas.openxmlformats.org/officeDocument/2006/relationships/notesMaster" Target="../notesMasters/notesMaster1.xml"/><Relationship Id="Ra36917fd3af1437a" Type="http://schemas.openxmlformats.org/officeDocument/2006/relationships/slide" Target="../slides/slide69.xml"/></Relationships>
</file>

<file path=ppt/notesSlides/_rels/notesSlide71.xml.rels><?xml version='1.0' encoding='UTF-8' standalone='yes'?>
<Relationships xmlns="http://schemas.openxmlformats.org/package/2006/relationships"><Relationship Id="R528b00afc29049e7" Type="http://schemas.openxmlformats.org/officeDocument/2006/relationships/notesMaster" Target="../notesMasters/notesMaster1.xml"/><Relationship Id="Rff095d04de5047e6"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2d2f98784db24b4f" Type="http://schemas.openxmlformats.org/officeDocument/2006/relationships/notesMaster" Target="../notesMasters/notesMaster1.xml"/><Relationship Id="R558ff6f2d97640f6"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56e219d79569408e" Type="http://schemas.openxmlformats.org/officeDocument/2006/relationships/slide" Target="../slides/slide73.xml"/><Relationship Id="R5cd1e07dfb984b66"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5.xml.rels><?xml version='1.0' encoding='UTF-8' standalone='yes'?>
<Relationships xmlns="http://schemas.openxmlformats.org/package/2006/relationships"><Relationship Id="R3d3b7feaebfb44c9" Type="http://schemas.openxmlformats.org/officeDocument/2006/relationships/slide" Target="../slides/slide74.xml"/><Relationship Id="R6db01b4b97ac4bab"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549edf79f9eb49bb" Type="http://schemas.openxmlformats.org/officeDocument/2006/relationships/slide" Target="../slides/slide75.xml"/><Relationship Id="R9cffd69125884e5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b0d88a8058904561" Type="http://schemas.openxmlformats.org/officeDocument/2006/relationships/slide" Target="../slides/slide76.xml"/><Relationship Id="Rc5f20ac5a545480c"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09543e1f8d084e3e" Type="http://schemas.openxmlformats.org/officeDocument/2006/relationships/slide" Target="../slides/slide77.xml"/><Relationship Id="Rc5860101327a4de3"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9075f9fe9d6c428f" Type="http://schemas.openxmlformats.org/officeDocument/2006/relationships/notesMaster" Target="../notesMasters/notesMaster1.xml"/><Relationship Id="Rf814d204b8d54a34"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24f40398758941ff" Type="http://schemas.openxmlformats.org/officeDocument/2006/relationships/slide" Target="../slides/slide81.xml"/><Relationship Id="R7b4eb63d0c8d45b6"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a33b275488684848" Type="http://schemas.openxmlformats.org/officeDocument/2006/relationships/notesMaster" Target="../notesMasters/notesMaster1.xml"/><Relationship Id="Rdb0304d8b8fd4f16"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ce8637cf54604f69" Type="http://schemas.openxmlformats.org/officeDocument/2006/relationships/slide" Target="../slides/slide84.xml"/><Relationship Id="Rd298d992c673432c"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5.xml.rels><?xml version='1.0' encoding='UTF-8' standalone='yes'?>
<Relationships xmlns="http://schemas.openxmlformats.org/package/2006/relationships"><Relationship Id="R1a6e50ed5de04463" Type="http://schemas.openxmlformats.org/officeDocument/2006/relationships/slide" Target="../slides/slide85.xml"/><Relationship Id="Ref0e96e9694e4568"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1554e042fc64464a" Type="http://schemas.openxmlformats.org/officeDocument/2006/relationships/slide" Target="../slides/slide86.xml"/><Relationship Id="Rb7df11851eb046cc"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7faad99757c34905" Type="http://schemas.openxmlformats.org/officeDocument/2006/relationships/slide" Target="../slides/slide87.xml"/><Relationship Id="Rb0549a6f1e544f72"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3cbbb2558e33416a" Type="http://schemas.openxmlformats.org/officeDocument/2006/relationships/slide" Target="../slides/slide88.xml"/><Relationship Id="R889693c5a3364809"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90.xml.rels><?xml version='1.0' encoding='UTF-8' standalone='yes'?>
<Relationships xmlns="http://schemas.openxmlformats.org/package/2006/relationships"><Relationship Id="R7997e8700da84005" Type="http://schemas.openxmlformats.org/officeDocument/2006/relationships/notesMaster" Target="../notesMasters/notesMaster1.xml"/><Relationship Id="R857ce9d983474233"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98401912351d452b" Type="http://schemas.openxmlformats.org/officeDocument/2006/relationships/notesMaster" Target="../notesMasters/notesMaster1.xml"/><Relationship Id="Rf01847ecbfcf4a5a"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23d6c99512ab45f3" Type="http://schemas.openxmlformats.org/officeDocument/2006/relationships/slide" Target="../slides/slide93.xml"/><Relationship Id="Ra4be0252dcc746c8"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2b9dbaa0319e40d3" Type="http://schemas.openxmlformats.org/officeDocument/2006/relationships/slide" Target="../slides/slide94.xml"/><Relationship Id="Rb00b0d667db543e9"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5.xml.rels><?xml version='1.0' encoding='UTF-8' standalone='yes'?>
<Relationships xmlns="http://schemas.openxmlformats.org/package/2006/relationships"><Relationship Id="R7464be9651044a49" Type="http://schemas.openxmlformats.org/officeDocument/2006/relationships/notesMaster" Target="../notesMasters/notesMaster1.xml"/><Relationship Id="Ra78b287501254347"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171473af61504279" Type="http://schemas.openxmlformats.org/officeDocument/2006/relationships/notesMaster" Target="../notesMasters/notesMaster1.xml"/><Relationship Id="R4eacec9be09a45e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a2548cde191642e8" Type="http://schemas.openxmlformats.org/officeDocument/2006/relationships/slide" Target="../slides/slide97.xml"/><Relationship Id="Rf4b603cf36294da3"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19af84ba10894d54" Type="http://schemas.openxmlformats.org/officeDocument/2006/relationships/notesMaster" Target="../notesMasters/notesMaster1.xml"/><Relationship Id="R3c0653040d5e4cfc"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0.xml.rels><?xml version='1.0' encoding='UTF-8' standalone='yes'?>
<Relationships xmlns="http://schemas.openxmlformats.org/package/2006/relationships"><Relationship Id="R84ed548c42184463" Type="http://schemas.openxmlformats.org/officeDocument/2006/relationships/notesMaster" Target="../notesMasters/notesMaster1.xml"/><Relationship Id="Re50352b17f354b25" Type="http://schemas.openxmlformats.org/officeDocument/2006/relationships/slide" Target="../slides/slide99.xml"/></Relationships>
</file>

<file path=ppt/notesSlides/_rels/notesSlide101.xml.rels><?xml version='1.0' encoding='UTF-8' standalone='yes'?>
<Relationships xmlns="http://schemas.openxmlformats.org/package/2006/relationships"><Relationship Id="R85343b9f34294668" Type="http://schemas.openxmlformats.org/officeDocument/2006/relationships/notesMaster" Target="../notesMasters/notesMaster1.xml"/><Relationship Id="Rffed9631141a43b5"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59a0733056b147f1" Type="http://schemas.openxmlformats.org/officeDocument/2006/relationships/notesMaster" Target="../notesMasters/notesMaster1.xml"/><Relationship Id="Rff49fabb311944b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203fdcb73ef5457f" Type="http://schemas.openxmlformats.org/officeDocument/2006/relationships/slide" Target="../slides/slide103.xml"/><Relationship Id="R790cfa5055094639"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5.xml.rels><?xml version='1.0' encoding='UTF-8' standalone='yes'?>
<Relationships xmlns="http://schemas.openxmlformats.org/package/2006/relationships"><Relationship Id="R882ee4e61c94449e" Type="http://schemas.openxmlformats.org/officeDocument/2006/relationships/notesMaster" Target="../notesMasters/notesMaster1.xml"/><Relationship Id="R89f42396eb334ce1" Type="http://schemas.openxmlformats.org/officeDocument/2006/relationships/slide" Target="../slides/slide104.xml"/></Relationships>
</file>

<file path=ppt/notesSlides/_rels/notesSlide106.xml.rels><?xml version='1.0' encoding='UTF-8' standalone='yes'?>
<Relationships xmlns="http://schemas.openxmlformats.org/package/2006/relationships"><Relationship Id="R410f30664ac244d4" Type="http://schemas.openxmlformats.org/officeDocument/2006/relationships/notesMaster" Target="../notesMasters/notesMaster1.xml"/><Relationship Id="Rc6d4df1e313a4609" Type="http://schemas.openxmlformats.org/officeDocument/2006/relationships/slide" Target="../slides/slide105.xml"/></Relationships>
</file>

<file path=ppt/notesSlides/_rels/notesSlide107.xml.rels><?xml version='1.0' encoding='UTF-8' standalone='yes'?>
<Relationships xmlns="http://schemas.openxmlformats.org/package/2006/relationships"><Relationship Id="R31892d1a78504840" Type="http://schemas.openxmlformats.org/officeDocument/2006/relationships/slide" Target="../slides/slide106.xml"/><Relationship Id="R7be16aad3377462c"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71c05ca69ab344c2" Type="http://schemas.openxmlformats.org/officeDocument/2006/relationships/slide" Target="../slides/slide107.xml"/><Relationship Id="Rc529bb95ae6545ee"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71280eed3124442b" Type="http://schemas.openxmlformats.org/officeDocument/2006/relationships/notesMaster" Target="../notesMasters/notesMaster1.xml"/><Relationship Id="Rf4ed8a301b134ba9" Type="http://schemas.openxmlformats.org/officeDocument/2006/relationships/slide" Target="../slides/slide108.xml"/></Relationships>
</file>

<file path=ppt/notesSlides/_rels/notesSlide110.xml.rels><?xml version='1.0' encoding='UTF-8' standalone='yes'?>
<Relationships xmlns="http://schemas.openxmlformats.org/package/2006/relationships"><Relationship Id="R38071ae2f0a44555" Type="http://schemas.openxmlformats.org/officeDocument/2006/relationships/notesMaster" Target="../notesMasters/notesMaster1.xml"/><Relationship Id="R9cf7acad9c4345aa" Type="http://schemas.openxmlformats.org/officeDocument/2006/relationships/slide" Target="../slides/slide109.xml"/></Relationships>
</file>

<file path=ppt/notesSlides/_rels/notesSlide111.xml.rels><?xml version='1.0' encoding='UTF-8' standalone='yes'?>
<Relationships xmlns="http://schemas.openxmlformats.org/package/2006/relationships"><Relationship Id="R7ebbc09b17b64f54" Type="http://schemas.openxmlformats.org/officeDocument/2006/relationships/slide" Target="../slides/slide110.xml"/><Relationship Id="R92ffc42a8e7a4594"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0bdfefa24ef04a18" Type="http://schemas.openxmlformats.org/officeDocument/2006/relationships/slide" Target="../slides/slide111.xml"/><Relationship Id="Rcde818f8865e482a"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TITLE</a:t>
            </a:r>
          </a:p>
          <a:p xmlns:a="http://schemas.openxmlformats.org/drawingml/2006/main">
            <a:r>
              <a:rPr sz="1200" b="1"/>
              <a:t>★ Factual open, no pitch: 10 modules, 10 labs, half the time at your keyboard. One habit all day: predict → one change → verify from a second angle. The terminal on the right shows our real lab seat.</a:t>
            </a:r>
          </a:p>
          <a:p xmlns:a="http://schemas.openxmlformats.org/drawingml/2006/main">
            <a:r>
              <a:rPr sz="1200"/>
              <a:t>──────────────────────────────────────────────</a:t>
            </a:r>
          </a:p>
          <a:p xmlns:a="http://schemas.openxmlformats.org/drawingml/2006/main">
            <a:r>
              <a:rPr sz="1200"/>
              <a:t>Welcome — quick and factual. Ten modules, each with a short bit of theory, a live demo, and a lab you do yourself on your own Ubuntu 24.04 seat. Half the time is yours at the keyboard. One working habit I'll hold us to all day: predict what a command should do, make one small change, then verify it from a second angle. Here is the agenda.</a:t>
            </a:r>
          </a:p>
          <a:p xmlns:a="http://schemas.openxmlformats.org/drawingml/2006/main">
            <a:r>
              <a:rPr sz="1200"/>
              <a:t>──────────────────────────────────────────────</a:t>
            </a:r>
          </a:p>
          <a:p xmlns:a="http://schemas.openxmlformats.org/drawingml/2006/main">
            <a:r>
              <a:rPr sz="1200" b="1"/>
              <a:t>→ NEXT: the agenda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AGENDA</a:t>
            </a:r>
          </a:p>
          <a:p xmlns:a="http://schemas.openxmlformats.org/drawingml/2006/main">
            <a:r>
              <a:rPr sz="1200" b="1"/>
              <a:t>★ Walk it briskly, morning then afternoon; each row says what you'll do. Lab minutes are protected. Close by STATING the three working rules: predict first; never silence an error you don't understand; reset only your own lab.</a:t>
            </a:r>
          </a:p>
          <a:p xmlns:a="http://schemas.openxmlformats.org/drawingml/2006/main">
            <a:r>
              <a:rPr sz="1200" b="1"/>
              <a:t>? ASK: any scheduling constraints I should know about now?</a:t>
            </a:r>
          </a:p>
          <a:p xmlns:a="http://schemas.openxmlformats.org/drawingml/2006/main">
            <a:r>
              <a:rPr sz="1200"/>
              <a:t>──────────────────────────────────────────────</a:t>
            </a:r>
          </a:p>
          <a:p xmlns:a="http://schemas.openxmlformats.org/drawingml/2006/main">
            <a:r>
              <a:rPr sz="1200"/>
              <a:t>Walk the agenda left column then right, and keep it brisk — this is orientation, not a lecture. Morning half: what system am I on and how does the terminal work; where files live, paths and links; turning logs into answers with pipelines; installing software and proving where it came from; and the largest block, users, groups, and permissions — thirty lab minutes because it is where people struggle. Afternoon half: SSH done properly, host and user keys; reading the journal to find causes, not symptoms; systemd services, including writing your own; processes and sockets down to what a client actually sees; and finally changing services safely with drop-in overrides. Every module ends at your keyboard — the lab minutes on the right are real, and they are protected. Close with the three working rules, stated verbally: predict before you type; never make an error disappear without understanding it — not with sudo, not by discarding the message; and reset only your own lab. When stuck, bring five facts: who you are, which machine, which directory, the exact command, its unchanged output. Any scheduling questions, now is the moment.</a:t>
            </a:r>
          </a:p>
          <a:p xmlns:a="http://schemas.openxmlformats.org/drawingml/2006/main">
            <a:r>
              <a:rPr sz="1200"/>
              <a:t>──────────────────────────────────────────────</a:t>
            </a:r>
          </a:p>
          <a:p xmlns:a="http://schemas.openxmlformats.org/drawingml/2006/main">
            <a:r>
              <a:rPr sz="1200" b="1"/>
              <a:t>→ NEXT: Module 1: system boundaries &amp; the terminal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2 · PICTURE THE LINKS</a:t>
            </a:r>
          </a:p>
          <a:p>
            <a:r>
              <a:rPr sz="1200" b="1"/>
              <a:t>★ Left: two names → one inode, link count 2; rm one name and content survives. Right: the symlink stores only path text, re-resolved each use; rename the target → dangling.</a:t>
            </a:r>
          </a:p>
          <a:p>
            <a:r>
              <a:rPr sz="1200" b="1"/>
              <a:t>? ASK: which panel changes when the target is renamed — and why?</a:t>
            </a:r>
          </a:p>
          <a:p>
            <a:r>
              <a:rPr sz="1200"/>
              <a:t>──────────────────────────────────────────────</a:t>
            </a:r>
          </a:p>
          <a:p>
            <a:r>
              <a:rPr sz="1200"/>
              <a:t>Read the two panels side by side. On the left, the hard link: two directory entries, notes/welcome.txt and notes/welcome-hard.txt, both point directly at inode 5124. Neither is the original — they are equal names for one object, and the inode's link count records that there are two. Remove one name and the other still opens the content; the data is freed only when the link count reaches zero. On the right, the symbolic link: links/latest-note contains no data at all, only the text '../notes/welcome.txt'. That path is resolved every time the link is used, relative to the link's own directory. Rename the target and the stored text now resolves to nothing — a dangling link — while the hard link on the left is unaffected. The two commands along the bottom are your evidence tools: ls -li for inode numbers, readlink for the stored path.</a:t>
            </a:r>
          </a:p>
          <a:p>
            <a:r>
              <a:rPr sz="1200"/>
              <a:t>──────────────────────────────────────────────</a:t>
            </a:r>
          </a:p>
          <a:p>
            <a:r>
              <a:rPr sz="1200" b="1"/>
              <a:t>→ NEXT: the worked example: links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1</a:t>
            </a:r>
          </a:p>
          <a:p xmlns:a="http://schemas.openxmlformats.org/drawingml/2006/main">
            <a:r>
              <a:rPr sz="1200" b="1"/>
              <a:t>★ Two questions for every machine: what am I running, and what happens when you press Enter?</a:t>
            </a:r>
          </a:p>
          <a:p xmlns:a="http://schemas.openxmlformats.org/drawingml/2006/main">
            <a:r>
              <a:rPr sz="1200" b="1"/>
              <a:t>? ASK: uname -r inside our container — container's kernel or the host's? (hold it)</a:t>
            </a:r>
          </a:p>
          <a:p xmlns:a="http://schemas.openxmlformats.org/drawingml/2006/main">
            <a:r>
              <a:rPr sz="1200"/>
              <a:t>──────────────────────────────────────────────</a:t>
            </a:r>
          </a:p>
          <a:p xmlns:a="http://schemas.openxmlformats.org/drawingml/2006/main">
            <a:r>
              <a:rPr sz="1200"/>
              <a:t>This first module answers two questions you'll ask on every machine you ever touch: what am I actually running, and what happens when I press Enter? Before we change anything, we learn to read where we are. Give me one prediction right now: when you type 'uname -r' inside one of our lab containers, do you see the container's own kernel, or the host's? Hold that thought. By the end of the module you'll prove the answer instead of guessing. Scope today is general Linux plus Bash on the Ubuntu 24.04 lab.</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1 · MODEL</a:t>
            </a:r>
          </a:p>
          <a:p xmlns:a="http://schemas.openxmlformats.org/drawingml/2006/main">
            <a:r>
              <a:rPr sz="1200" b="1"/>
              <a:t>★ Layers only — no shell mechanics yet. Linux = the kernel; a distribution packages user space around it; a VM boots its own kernel, a container shares the host's. os-release and uname -r answer different layers.</a:t>
            </a:r>
          </a:p>
          <a:p xmlns:a="http://schemas.openxmlformats.org/drawingml/2006/main">
            <a:r>
              <a:rPr sz="1200" b="1"/>
              <a:t>? ASK: resolve the uname prediction: the container shows the host kernel — on our seats: 6.17.0-1026-nvidia</a:t>
            </a:r>
          </a:p>
          <a:p xmlns:a="http://schemas.openxmlformats.org/drawingml/2006/main">
            <a:r>
              <a:rPr sz="1200"/>
              <a:t>──────────────────────────────────────────────</a:t>
            </a:r>
          </a:p>
          <a:p xmlns:a="http://schemas.openxmlformats.org/drawingml/2006/main">
            <a:r>
              <a:rPr sz="1200"/>
              <a:t>Before operating anything, establish what it is. 'Linux' strictly names the kernel; everything you will actually type — ls, bash, apt — is user space, which a distribution such as Ubuntu selects and configures. Two virtualisation forms matter here: a virtual machine boots its own kernel on virtual hardware, while a container, like our Incus lab seats, has a private user space but shares the host's kernel. The practical consequence: 'which Ubuntu' and 'which kernel' are different questions with different answers — /etc/os-release for the first, uname -r for the second. And the payoff on the opening prediction: on our seats uname -r reports 6.17.0-1026-nvidia, an NVIDIA-flavoured kernel that no plain Ubuntu container would ship. That is the controller's kernel showing through, because the container never had one of its own. We verify exactly this in the demo; the next slide shows these layers as a picture.</a:t>
            </a:r>
          </a:p>
          <a:p xmlns:a="http://schemas.openxmlformats.org/drawingml/2006/main">
            <a:r>
              <a:rPr sz="1200"/>
              <a:t>──────────────────────────────────────────────</a:t>
            </a:r>
          </a:p>
          <a:p xmlns:a="http://schemas.openxmlformats.org/drawingml/2006/main">
            <a:r>
              <a:rPr sz="1200" b="1"/>
              <a:t>→ NEXT: picture of the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10 · MODEL</a:t>
            </a:r>
          </a:p>
          <a:p>
            <a:r>
              <a:rPr sz="1200" b="1"/>
              <a:t>★ daemon-reload re-reads unit files; the process keeps its old configuration until restart. Five separately verifiable states.</a:t>
            </a:r>
          </a:p>
          <a:p>
            <a:r>
              <a:rPr sz="1200" b="1"/>
              <a:t>? ASK: after reload, before restart — which configuration is the process using?</a:t>
            </a:r>
          </a:p>
          <a:p>
            <a:r>
              <a:rPr sz="1200"/>
              <a:t>──────────────────────────────────────────────</a:t>
            </a:r>
          </a:p>
          <a:p>
            <a:r>
              <a:rPr sz="1200"/>
              <a:t>The distinction the worked example turns on: reloading definitions versus restarting a process. 'systemctl daemon-reload' makes the manager re-read unit files — its picture of the world updates, but the running process is untouched and continues with its old configuration. Only 'restart' creates a new execution that observes the effective settings. That gives five separately verifiable states: enabled, active, definitions reloaded, process restarted, and behaviour observed. Verify each; none substitutes for another. Question: after daemon-reload but before restart, which configuration is the process using?</a:t>
            </a:r>
          </a:p>
          <a:p>
            <a:r>
              <a:rPr sz="1200"/>
              <a:t>──────────────────────────────────────────────</a:t>
            </a:r>
          </a:p>
          <a:p>
            <a:r>
              <a:rPr sz="1200" b="1"/>
              <a:t>→ NEXT: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1 · BUILD THE MODEL</a:t>
            </a:r>
          </a:p>
          <a:p xmlns:a="http://schemas.openxmlformats.org/drawingml/2006/main">
            <a:r>
              <a:rPr sz="1200" b="1"/>
              <a:t>★ Kernel = referee for shared hardware: CPU, memory, filesystem, network. Programs ask; they never touch.</a:t>
            </a:r>
          </a:p>
          <a:p xmlns:a="http://schemas.openxmlformats.org/drawingml/2006/main">
            <a:r>
              <a:rPr sz="1200" b="1"/>
              <a:t>? ASK: when cat reads a file, which of the four does the work?</a:t>
            </a:r>
          </a:p>
          <a:p xmlns:a="http://schemas.openxmlformats.org/drawingml/2006/main">
            <a:r>
              <a:rPr sz="1200"/>
              <a:t>──────────────────────────────────────────────</a:t>
            </a:r>
          </a:p>
          <a:p xmlns:a="http://schemas.openxmlformats.org/drawingml/2006/main">
            <a:r>
              <a:rPr sz="1200"/>
              <a:t>Let's build up why those layers matter. The kernel's whole job is to be the referee for shared hardware. Four things it arbitrates: it schedules CPU time so runnable processes take turns; it maps virtual memory and stops one process reading another's; it resolves filesystem and device operations; and it moves your network data through sockets. The idea to hold onto: your program never touches hardware directly, it asks. So when something fails, ask which of these the kernel was doing on your behalf. Predict with me: when 'cat' reads a file, which of the four is doing the real work?</a:t>
            </a:r>
          </a:p>
          <a:p xmlns:a="http://schemas.openxmlformats.org/drawingml/2006/main">
            <a:r>
              <a:rPr sz="1200"/>
              <a:t>──────────────────────────────────────────────</a:t>
            </a:r>
          </a:p>
          <a:p xmlns:a="http://schemas.openxmlformats.org/drawingml/2006/main">
            <a:r>
              <a:rPr sz="1200" b="1"/>
              <a:t>→ NEXT: follow one request across the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1 · BUILD THE MODEL</a:t>
            </a:r>
          </a:p>
          <a:p xmlns:a="http://schemas.openxmlformats.org/drawingml/2006/main">
            <a:r>
              <a:rPr sz="1200" b="1"/>
              <a:t>★ Four stops: shell → program → kernel check → bytes back. A failure lives at a specific stop.</a:t>
            </a:r>
          </a:p>
          <a:p xmlns:a="http://schemas.openxmlformats.org/drawingml/2006/main">
            <a:r>
              <a:rPr sz="1200" b="1"/>
              <a:t>? ASK: filename typo — does that fail in user space or the kernel?</a:t>
            </a:r>
          </a:p>
          <a:p xmlns:a="http://schemas.openxmlformats.org/drawingml/2006/main">
            <a:r>
              <a:rPr sz="1200"/>
              <a:t>──────────────────────────────────────────────</a:t>
            </a:r>
          </a:p>
          <a:p xmlns:a="http://schemas.openxmlformats.org/drawingml/2006/main">
            <a:r>
              <a:rPr sz="1200"/>
              <a:t>Now watch a request cross the boundary, because failures live at specific points on this path. You type 'cat report.txt'. The shell, in user space, starts the cat program. Cat can't read the disk itself, so it makes a system call: kernel, please open and read this path. The kernel checks your credentials and resolves the path to a real filesystem object. If that's allowed, the bytes come back to cat, which writes them to standard output. Four stops, and a command can break at any one of them: the shell, the program, or the kernel-facing operation. Quick prediction: a typo in the filename, does that fail in user space or in the kernel?</a:t>
            </a:r>
          </a:p>
          <a:p xmlns:a="http://schemas.openxmlformats.org/drawingml/2006/main">
            <a:r>
              <a:rPr sz="1200"/>
              <a:t>──────────────────────────────────────────────</a:t>
            </a:r>
          </a:p>
          <a:p xmlns:a="http://schemas.openxmlformats.org/drawingml/2006/main">
            <a:r>
              <a:rPr sz="1200" b="1"/>
              <a:t>→ NEXT: distro vs VM vs container naming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1 · BUILD THE MODEL</a:t>
            </a:r>
          </a:p>
          <a:p xmlns:a="http://schemas.openxmlformats.org/drawingml/2006/main">
            <a:r>
              <a:rPr sz="1200" b="1"/>
              <a:t>★ Before following any tutorial, record both facts: /etc/os-release (distribution) and uname -r (kernel).</a:t>
            </a:r>
          </a:p>
          <a:p xmlns:a="http://schemas.openxmlformats.org/drawingml/2006/main">
            <a:r>
              <a:rPr sz="1200"/>
              <a:t>──────────────────────────────────────────────</a:t>
            </a:r>
          </a:p>
          <a:p xmlns:a="http://schemas.openxmlformats.org/drawingml/2006/main">
            <a:r>
              <a:rPr sz="1200"/>
              <a:t>Last piece, and it's the one that trips people following instructions off the internet. A distribution curates user space: packages, defaults, support. A VM has virtual hardware and its own guest kernel. A system container has isolated user space but shares the host kernel. So before you follow a tutorial that confidently says 'your kernel is X,' record both facts yourself: what does /etc/os-release say about the distro, and what does uname say about the kernel? They can disagree, and that's not a bug, it's the layers talking.</a:t>
            </a:r>
          </a:p>
          <a:p xmlns:a="http://schemas.openxmlformats.org/drawingml/2006/main">
            <a:r>
              <a:rPr sz="1200"/>
              <a:t>──────────────────────────────────────────────</a:t>
            </a:r>
          </a:p>
          <a:p xmlns:a="http://schemas.openxmlformats.org/drawingml/2006/main">
            <a:r>
              <a:rPr sz="1200" b="1"/>
              <a:t>→ NEXT: worked example: read a line as data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1 · WORKED EXAMPLE</a:t>
            </a:r>
          </a:p>
          <a:p xmlns:a="http://schemas.openxmlformats.org/drawingml/2006/main">
            <a:r>
              <a:rPr sz="1200" b="1"/>
              <a:t>★ Read left→right as data flow. Quotes keep one argument; $() runs first; '&gt;' replaces the file.</a:t>
            </a:r>
          </a:p>
          <a:p xmlns:a="http://schemas.openxmlformats.org/drawingml/2006/main">
            <a:r>
              <a:rPr sz="1200"/>
              <a:t>──────────────────────────────────────────────</a:t>
            </a:r>
          </a:p>
          <a:p xmlns:a="http://schemas.openxmlformats.org/drawingml/2006/main">
            <a:r>
              <a:rPr sz="1200"/>
              <a:t>Let's read a real line as data flowing, not keystrokes to copy. printf, a format string with two placeholders, then two arguments, then redirect into ~/profile.txt. Start from the left. printf receives the format plus two expanded arguments. The double quotes matter: they keep each value as a single argument even if it contained spaces. $USER expands to your name; $(uname -r) runs uname and substitutes its output. Then '&gt;' sends standard output into the file, replacing whatever was there, not appending. Pause on that: '&gt;' is destructive. After each piece, ask 'what evidence did that produce?' If anyone can't explain an operator, say so now, that's exactly what the next slide is for.</a:t>
            </a:r>
          </a:p>
          <a:p xmlns:a="http://schemas.openxmlformats.org/drawingml/2006/main">
            <a:r>
              <a:rPr sz="1200"/>
              <a:t>──────────────────────────────────────────────</a:t>
            </a:r>
          </a:p>
          <a:p xmlns:a="http://schemas.openxmlformats.org/drawingml/2006/main">
            <a:r>
              <a:rPr sz="1200" b="1"/>
              <a:t>→ NEXT: guided command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1 · GUIDED COMMANDS</a:t>
            </a:r>
          </a:p>
          <a:p xmlns:a="http://schemas.openxmlformats.org/drawingml/2006/main">
            <a:r>
              <a:rPr sz="1200" b="1"/>
              <a:t>★ Each command answers exactly one question — don't memorize, know which tool asks what. Show 'man test'.</a:t>
            </a:r>
          </a:p>
          <a:p xmlns:a="http://schemas.openxmlformats.org/drawingml/2006/main">
            <a:r>
              <a:rPr sz="1200"/>
              <a:t>──────────────────────────────────────────────</a:t>
            </a:r>
          </a:p>
          <a:p xmlns:a="http://schemas.openxmlformats.org/drawingml/2006/main">
            <a:r>
              <a:rPr sz="1200"/>
              <a:t>Quick reference, and the point of this slide is that each of these is a tool that answers one question, not a list to memorize. $HOME: where's my home directory? $(...): capture a command's output. '&gt; file': replace a file with output. printf: produce predictable, formatted text. 'test -d PATH': is this a directory, yes or no? The lab guide repeats all of it with the expected output, so don't write it down, just remember which tool asks which question. Let me show help for one so you can self-serve: 'man test'.</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1 · LIVE DEMO</a:t>
            </a:r>
          </a:p>
          <a:p xmlns:a="http://schemas.openxmlformats.org/drawingml/2006/main">
            <a:r>
              <a:rPr sz="1200" b="1"/>
              <a:t>★ os-release → uname -r → ps -p 1, on controller AND container. Kernels identical (6.17.0-1026-nvidia); PID 1 differs. One command at a time.</a:t>
            </a:r>
          </a:p>
          <a:p xmlns:a="http://schemas.openxmlformats.org/drawingml/2006/main">
            <a:r>
              <a:rPr sz="1200" b="1"/>
              <a:t>? ASK: which of the three answers will differ between the seats?</a:t>
            </a:r>
          </a:p>
          <a:p xmlns:a="http://schemas.openxmlformats.org/drawingml/2006/main">
            <a:r>
              <a:rPr sz="1200"/>
              <a:t>──────────────────────────────────────────────</a:t>
            </a:r>
          </a:p>
          <a:p xmlns:a="http://schemas.openxmlformats.org/drawingml/2006/main">
            <a:r>
              <a:rPr sz="1200"/>
              <a:t>Instructor seat, one command at a time, and a prediction before each. First /etc/os-release on the controller and in the container — the distribution claims may well match. Then uname -r on both: the room has predicted; both return 6.17.0-1026-nvidia, because the container has no kernel of its own. Then ps -p 1 on each — different PID-1 processes, so the user spaces are separate. Close by stating the pattern that transfers to the lab: three questions, three different layers, verified rather than assumed. Setup and cleanup are in resources/LIVE_DEMOS.md; if the seat looks wrong, reset it rather than improvise.</a:t>
            </a:r>
          </a:p>
          <a:p xmlns:a="http://schemas.openxmlformats.org/drawingml/2006/main">
            <a:r>
              <a:rPr sz="1200"/>
              <a:t>──────────────────────────────────────────────</a:t>
            </a:r>
          </a:p>
          <a:p xmlns:a="http://schemas.openxmlformats.org/drawingml/2006/main">
            <a:r>
              <a:rPr sz="1200" b="1"/>
              <a:t>→ NEXT: Lab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9 · MODEL</a:t>
            </a:r>
          </a:p>
          <a:p>
            <a:r>
              <a:rPr sz="1200" b="1"/>
              <a:t>★ ss proves acceptance at a port and nothing more; only a real client verifies answers; stop managed processes through systemd.</a:t>
            </a:r>
          </a:p>
          <a:p>
            <a:r>
              <a:rPr sz="1200" b="1"/>
              <a:t>? ASK: describe one way a port is open while the application is broken</a:t>
            </a:r>
          </a:p>
          <a:p>
            <a:r>
              <a:rPr sz="1200"/>
              <a:t>──────────────────────────────────────────────</a:t>
            </a:r>
          </a:p>
          <a:p>
            <a:r>
              <a:rPr sz="1200"/>
              <a:t>Before tracing the four layers, fix the distinction the whole trace rests on. A listening socket, shown by ss, proves that some process accepts connections at a port — nothing more. An application can accept connections and still return errors, wrong data, or nothing. Behaviour is verified only by a real client, such as curl against the actual endpoint. And an operational rule: stop managed processes through systemd rather than killing the PID, so the manager's records remain accurate. Question: describe one way a port can be open while the application is broken.</a:t>
            </a:r>
          </a:p>
          <a:p>
            <a:r>
              <a:rPr sz="1200"/>
              <a:t>──────────────────────────────────────────────</a:t>
            </a:r>
          </a:p>
          <a:p>
            <a:r>
              <a:rPr sz="1200" b="1"/>
              <a:t>→ NEXT: build-up: four layers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15 MIN  ·  HANDS-ON · LAB 1</a:t>
            </a:r>
          </a:p>
          <a:p xmlns:a="http://schemas.openxmlformats.org/drawingml/2006/main">
            <a:r>
              <a:rPr sz="1200" b="1"/>
              <a:t>★ 15 min: system-profile.txt + path-map.txt. Check readiness before opening the terminal; reset only your own lab.</a:t>
            </a:r>
          </a:p>
          <a:p xmlns:a="http://schemas.openxmlformats.org/drawingml/2006/main">
            <a:r>
              <a:rPr sz="1200" b="1"/>
              <a:t>? ASK: what is your very first inspection step?</a:t>
            </a:r>
          </a:p>
          <a:p xmlns:a="http://schemas.openxmlformats.org/drawingml/2006/main">
            <a:r>
              <a:rPr sz="1200"/>
              <a:t>──────────────────────────────────────────────</a:t>
            </a:r>
          </a:p>
          <a:p xmlns:a="http://schemas.openxmlformats.org/drawingml/2006/main">
            <a:r>
              <a:rPr sz="1200"/>
              <a:t>Fifteen minutes. Your mission: create system-profile.txt and path-map.txt that prove this seat's user space, kernel, architecture, init system, and filesystem anchors. Before you open the terminal, check three things, because these are the readiness bar for this lab: can you explain kernel versus user space, can you point to the prompt, command, arguments, quoting and expansion in a line, and can you use redirection and then immediately inspect the file you wrote? If any of those is unclear, raise it now rather than during the lab. Prepare or reset only this lab. When you're stuck, send me identity, host, directory, the exact command, and the unchanged output. Full task, hints, recovery, and the checker are in labs/LAB_GUIDE.md. Start by telling me your very first inspection step.</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1 · DEBRIEF</a:t>
            </a:r>
          </a:p>
          <a:p xmlns:a="http://schemas.openxmlformats.org/drawingml/2006/main">
            <a:r>
              <a:rPr sz="1200" b="1"/>
              <a:t>★ Different layers give different answers — that's the design, not a bug. Drill the 3 debrief questions.</a:t>
            </a:r>
          </a:p>
          <a:p xmlns:a="http://schemas.openxmlformats.org/drawingml/2006/main">
            <a:r>
              <a:rPr sz="1200" b="1"/>
              <a:t>? ASK: which independent evidence closed your claim — not the command that felt right?</a:t>
            </a:r>
          </a:p>
          <a:p xmlns:a="http://schemas.openxmlformats.org/drawingml/2006/main">
            <a:r>
              <a:rPr sz="1200"/>
              <a:t>──────────────────────────────────────────────</a:t>
            </a:r>
          </a:p>
          <a:p xmlns:a="http://schemas.openxmlformats.org/drawingml/2006/main">
            <a:r>
              <a:rPr sz="1200"/>
              <a:t>Let's connect it back without re-running anything. Someone tell me the causal chain: why can this seat report Ubuntu 24.04 and a kernel version that doesn't obviously 'look' like Ubuntu's? Right, different layers, the distribution versus the kernel. Now someone else: which independent piece of evidence actually closed your claim, not the command that felt right, but the second view that confirmed it? Use these three questions every single time: what did you expect, what did you observe, and what independent evidence settled it. That last question is the whole course in one line. Next module: now that we know which system we're on, where do things actually live? Paths.</a:t>
            </a:r>
          </a:p>
          <a:p xmlns:a="http://schemas.openxmlformats.org/drawingml/2006/main">
            <a:r>
              <a:rPr sz="1200"/>
              <a:t>──────────────────────────────────────────────</a:t>
            </a:r>
          </a:p>
          <a:p xmlns:a="http://schemas.openxmlformats.org/drawingml/2006/main">
            <a:r>
              <a:rPr sz="1200" b="1"/>
              <a:t>→ NEXT: Module 2: where things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2</a:t>
            </a:r>
          </a:p>
          <a:p xmlns:a="http://schemas.openxmlformats.org/drawingml/2006/main">
            <a:r>
              <a:rPr sz="1200" b="1"/>
              <a:t>★ How does a pathname become an object? Position problems masquerade as missing-data problems.</a:t>
            </a:r>
          </a:p>
          <a:p xmlns:a="http://schemas.openxmlformats.org/drawingml/2006/main">
            <a:r>
              <a:rPr sz="1200" b="1"/>
              <a:t>? ASK: cat report.txt in the wrong dir — the file's fault or yours?</a:t>
            </a:r>
          </a:p>
          <a:p xmlns:a="http://schemas.openxmlformats.org/drawingml/2006/main">
            <a:r>
              <a:rPr sz="1200"/>
              <a:t>──────────────────────────────────────────────</a:t>
            </a:r>
          </a:p>
          <a:p xmlns:a="http://schemas.openxmlformats.org/drawingml/2006/main">
            <a:r>
              <a:rPr sz="1200"/>
              <a:t>Module two. We know which system we're on; now, where does anything actually live? The operating question: how does Linux turn a pathname like /etc/os-release into an actual object on disk? Predict: if I'm sitting in /home/you and I type 'cat report.txt' but the file is in /tmp, whose fault is the error, the file's or mine? We'll see it's almost always a position problem, not a missing-data problem. Scope: general Linux, the Filesystem Hierarchy Standard, and the virtual filesystem layer.</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2 · MODEL</a:t>
            </a:r>
          </a:p>
          <a:p xmlns:a="http://schemas.openxmlformats.org/drawingml/2006/main">
            <a:r>
              <a:rPr sz="1200" b="1"/>
              <a:t>★ One tree rooted at /; absolute vs relative is only the starting point; every parent needs x. A 'missing file' error is often a statement about position.</a:t>
            </a:r>
          </a:p>
          <a:p xmlns:a="http://schemas.openxmlformats.org/drawingml/2006/main">
            <a:r>
              <a:rPr sz="1200" b="1"/>
              <a:t>? ASK: same file, two different valid paths — how?</a:t>
            </a:r>
          </a:p>
          <a:p xmlns:a="http://schemas.openxmlformats.org/drawingml/2006/main">
            <a:r>
              <a:rPr sz="1200"/>
              <a:t>──────────────────────────────────────────────</a:t>
            </a:r>
          </a:p>
          <a:p xmlns:a="http://schemas.openxmlformats.org/drawingml/2006/main">
            <a:r>
              <a:rPr sz="1200"/>
              <a:t>Establish the coordinate system first. Linux presents one directory tree, rooted at /, and mounted filesystems simply join it at directories — there are no drive letters. A path is a route through that tree: an absolute path starts at the root, a relative path starts at your working directory. The consequence: the same file has many valid names depending on where you stand, and an error about a 'missing' file is often a statement about your position. One requirement people meet later in the permissions module already applies here: traversing a directory needs its search permission.</a:t>
            </a:r>
          </a:p>
          <a:p xmlns:a="http://schemas.openxmlformats.org/drawingml/2006/main">
            <a:r>
              <a:rPr sz="1200"/>
              <a:t>──────────────────────────────────────────────</a:t>
            </a:r>
          </a:p>
          <a:p xmlns:a="http://schemas.openxmlformats.org/drawingml/2006/main">
            <a:r>
              <a:rPr sz="1200" b="1"/>
              <a:t>→ NEXT: build-up: resolution is mechanical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8 · MODEL</a:t>
            </a:r>
          </a:p>
          <a:p>
            <a:r>
              <a:rPr sz="1200" b="1"/>
              <a:t>★ Requires/Wants select units into the transaction; After/Before only sequence them; ordering never pulls a unit in. network.target is not network-ready.</a:t>
            </a:r>
          </a:p>
          <a:p>
            <a:r>
              <a:rPr sz="1200" b="1"/>
              <a:t>? ASK: with only After=network.target — may it start with no usable network?</a:t>
            </a:r>
          </a:p>
          <a:p>
            <a:r>
              <a:rPr sz="1200"/>
              <a:t>──────────────────────────────────────────────</a:t>
            </a:r>
          </a:p>
          <a:p>
            <a:r>
              <a:rPr sz="1200"/>
              <a:t>The two relationship families in unit files answer different questions, and conflating them causes real outages. Requires= and Wants= are activation relations: they decide which units are pulled into the same transaction. After= and Before= are ordering relations: they decide sequence among units that are already going to run — ordering never pulls a missing unit in. The canonical example: After=network.target sequences your service after that point in boot; it neither starts the network nor guarantees it is usable by applications. Question: with only After=network.target declared, may the service start with no usable network?</a:t>
            </a:r>
          </a:p>
          <a:p>
            <a:r>
              <a:rPr sz="1200"/>
              <a:t>──────────────────────────────────────────────</a:t>
            </a:r>
          </a:p>
          <a:p>
            <a:r>
              <a:rPr sz="1200" b="1"/>
              <a:t>→ NEXT: build-up: the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2 · BUILD THE MODEL</a:t>
            </a:r>
          </a:p>
          <a:p xmlns:a="http://schemas.openxmlformats.org/drawingml/2006/main">
            <a:r>
              <a:rPr sz="1200" b="1"/>
              <a:t>★ Resolution is mechanical: start → each entry → follow mounts/symlinks → x required on every parent. A 644 file can still be unreachable.</a:t>
            </a:r>
          </a:p>
          <a:p xmlns:a="http://schemas.openxmlformats.org/drawingml/2006/main">
            <a:r>
              <a:rPr sz="1200"/>
              <a:t>──────────────────────────────────────────────</a:t>
            </a:r>
          </a:p>
          <a:p xmlns:a="http://schemas.openxmlformats.org/drawingml/2006/main">
            <a:r>
              <a:rPr sz="1200"/>
              <a:t>Let's make path resolution concrete, because it's mechanical. The kernel walks your path one component at a time. It picks a starting point, slash for absolute or your working directory for relative. It reads each directory entry left to right, following any mounts or symlinks it meets. And at every parent directory it demands search permission, the x bit. The consequence that surprises people: a file can be perfectly readable, mode 644, and you still can't reach it because you lack x on a directory above it. So 'permission denied' might be about the path, not the file.</a:t>
            </a:r>
          </a:p>
          <a:p xmlns:a="http://schemas.openxmlformats.org/drawingml/2006/main">
            <a:r>
              <a:rPr sz="1200"/>
              <a:t>──────────────────────────────────────────────</a:t>
            </a:r>
          </a:p>
          <a:p xmlns:a="http://schemas.openxmlformats.org/drawingml/2006/main">
            <a:r>
              <a:rPr sz="1200" b="1"/>
              <a:t>→ NEXT: the links model, then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2 · WORKED EXAMPLE</a:t>
            </a:r>
          </a:p>
          <a:p xmlns:a="http://schemas.openxmlformats.org/drawingml/2006/main">
            <a:r>
              <a:rPr sz="1200" b="1"/>
              <a:t>★ Equal inode numbers = identity, proof on screen. A symlink stores only path text — move the target and it dangles.</a:t>
            </a:r>
          </a:p>
          <a:p xmlns:a="http://schemas.openxmlformats.org/drawingml/2006/main">
            <a:r>
              <a:rPr sz="1200"/>
              <a:t>──────────────────────────────────────────────</a:t>
            </a:r>
          </a:p>
          <a:p xmlns:a="http://schemas.openxmlformats.org/drawingml/2006/main">
            <a:r>
              <a:rPr sz="1200"/>
              <a:t>Read this as behavior, not keystrokes. First 'ln' with no dash-s makes welcome-hard.txt a hard link, a second name for the same inode as welcome.txt. Then 'ln -s' makes a symbolic link storing the text '../notes/welcome.txt'. Now 'ls -li' shows inode numbers: the original and the hard link share a number, and that shared number is identity, proof they're the same object. 'readlink' shows the path stored inside the symlink. The lesson lands when you move the target: the symlink breaks because its stored path no longer resolves, but the hard link keeps working because it never cared about the name.</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2 · GUIDED COMMANDS</a:t>
            </a:r>
          </a:p>
          <a:p xmlns:a="http://schemas.openxmlformats.org/drawingml/2006/main">
            <a:r>
              <a:rPr sz="1200" b="1"/>
              <a:t>★ pwd / file / realpath / stat / find — and 'file' only guesses; 'stat' is the authority.</a:t>
            </a:r>
          </a:p>
          <a:p xmlns:a="http://schemas.openxmlformats.org/drawingml/2006/main">
            <a:r>
              <a:rPr sz="1200"/>
              <a:t>──────────────────────────────────────────────</a:t>
            </a:r>
          </a:p>
          <a:p xmlns:a="http://schemas.openxmlformats.org/drawingml/2006/main">
            <a:r>
              <a:rPr sz="1200"/>
              <a:t>Reference. Each answers one question. 'pwd': where am I? 'file PATH': what kind of content is this? 'realpath PATH': what's the fully-resolved absolute path? 'stat PATH': the authoritative metadata, inode, link count, owner, mode. 'find' with -printf: enumerate names and their link targets. Don't memorize; the lab guide has the syntax and the expected evidence. One caution: 'file' only guesses from content, it's a hint, not truth; 'stat' is the authority.</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2 · LIVE DEMO</a:t>
            </a:r>
          </a:p>
          <a:p xmlns:a="http://schemas.openxmlformats.org/drawingml/2006/main">
            <a:r>
              <a:rPr sz="1200" b="1"/>
              <a:t>★ Fail on purpose in the wrong dir; rebuild coordinates: pwd → realpath → namei -l → correct cat. Nothing was repaired — only the position assumption.</a:t>
            </a:r>
          </a:p>
          <a:p xmlns:a="http://schemas.openxmlformats.org/drawingml/2006/main">
            <a:r>
              <a:rPr sz="1200" b="1"/>
              <a:t>? ASK: is the file missing, or am I — and which command settles it?</a:t>
            </a:r>
          </a:p>
          <a:p xmlns:a="http://schemas.openxmlformats.org/drawingml/2006/main">
            <a:r>
              <a:rPr sz="1200"/>
              <a:t>──────────────────────────────────────────────</a:t>
            </a:r>
          </a:p>
          <a:p xmlns:a="http://schemas.openxmlformats.org/drawingml/2006/main">
            <a:r>
              <a:rPr sz="1200"/>
              <a:t>A deliberate failure first: cat report.txt from the wrong working directory, and the error stays on screen. Then rebuild the coordinates out loud: pwd for position, realpath for what the relative name would resolve to from here, namei -l on the intended absolute path to walk every component. Only then cat again, correctly. The point to name explicitly: nothing was repaired — only the position assumption changed, and the evidence identified it without any retry-and-hope. Setup/cleanup in resources/LIVE_DEMOS.md.</a:t>
            </a:r>
          </a:p>
          <a:p xmlns:a="http://schemas.openxmlformats.org/drawingml/2006/main">
            <a:r>
              <a:rPr sz="1200"/>
              <a:t>──────────────────────────────────────────────</a:t>
            </a:r>
          </a:p>
          <a:p xmlns:a="http://schemas.openxmlformats.org/drawingml/2006/main">
            <a:r>
              <a:rPr sz="1200" b="1"/>
              <a:t>→ NEXT: Lab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7 · MODEL</a:t>
            </a:r>
          </a:p>
          <a:p>
            <a:r>
              <a:rPr sz="1200" b="1"/>
              <a:t>★ show -p summarises the outcome; journalctl holds the events. 'failed' is a consequence; the cause is the earliest relevant record.</a:t>
            </a:r>
          </a:p>
          <a:p>
            <a:r>
              <a:rPr sz="1200" b="1"/>
              <a:t>? ASK: inside the window — cause near the top or the bottom?</a:t>
            </a:r>
          </a:p>
          <a:p>
            <a:r>
              <a:rPr sz="1200"/>
              <a:t>──────────────────────────────────────────────</a:t>
            </a:r>
          </a:p>
          <a:p>
            <a:r>
              <a:rPr sz="1200"/>
              <a:t>Two different questions, two different tools. 'systemctl show' with properties such as ActiveState, Result, and ExecMainStatus reports the outcome — a summary of where the unit ended up. journalctl reports the sequence of events that led there. Keep them apart, because the record that says 'failed' is almost always a consequence, written after the interesting part. The cause is the earliest relevant record inside your bounded window. Question: within the window, do you expect the cause near the top or the bottom?</a:t>
            </a:r>
          </a:p>
          <a:p>
            <a:r>
              <a:rPr sz="1200"/>
              <a:t>──────────────────────────────────────────────</a:t>
            </a:r>
          </a:p>
          <a:p>
            <a:r>
              <a:rPr sz="1200" b="1"/>
              <a:t>→ NEXT: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25 MIN  ·  HANDS-ON · LAB 2</a:t>
            </a:r>
          </a:p>
          <a:p xmlns:a="http://schemas.openxmlformats.org/drawingml/2006/main">
            <a:r>
              <a:rPr sz="1200" b="1"/>
              <a:t>★ 25 min: organize ~/inbox, then demonstrate copy vs hard link vs relative symlink semantics.</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Twenty-five minutes. Mission: organize ~/inbox, then prove, not assert, the different semantics of a copy, a hard link, and a relative symlink. Readiness check before you start: can you tell an absolute path from a relative one, can you predict what copy, move, hard-link and symlink each do, and will you inspect the exact target before you change it? A copy is independent; a hard link shares the inode; a relative symlink is fragile to moves, and your evidence should show each. Stuck? Identity, host, directory, command, unchanged output. Guide is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2 · DEBRIEF</a:t>
            </a:r>
          </a:p>
          <a:p xmlns:a="http://schemas.openxmlformats.org/drawingml/2006/main">
            <a:r>
              <a:rPr sz="1200" b="1"/>
              <a:t>★ 'No such file' usually reveals a position assumption, not missing data. The error is a hypothesis, not a verdict.</a:t>
            </a:r>
          </a:p>
          <a:p xmlns:a="http://schemas.openxmlformats.org/drawingml/2006/main">
            <a:r>
              <a:rPr sz="1200" b="1"/>
              <a:t>? ASK: was it realpath or the inode from stat that closed it for you?</a:t>
            </a:r>
          </a:p>
          <a:p xmlns:a="http://schemas.openxmlformats.org/drawingml/2006/main">
            <a:r>
              <a:rPr sz="1200"/>
              <a:t>──────────────────────────────────────────────</a:t>
            </a:r>
          </a:p>
          <a:p xmlns:a="http://schemas.openxmlformats.org/drawingml/2006/main">
            <a:r>
              <a:rPr sz="1200"/>
              <a:t>Without re-running: tell me why 'No such file' this module was usually a lie, the data was there, your assumption about where it lived wasn't. And which independent view closed it for you, was it realpath, or the inode number from stat? The habit forming here is that an error message is a starting hypothesis, not a verdict. Next we stop navigating and start extracting: turning file and log text into a reviewable answer with the shell.</a:t>
            </a:r>
          </a:p>
          <a:p xmlns:a="http://schemas.openxmlformats.org/drawingml/2006/main">
            <a:r>
              <a:rPr sz="1200"/>
              <a:t>──────────────────────────────────────────────</a:t>
            </a:r>
          </a:p>
          <a:p xmlns:a="http://schemas.openxmlformats.org/drawingml/2006/main">
            <a:r>
              <a:rPr sz="1200" b="1"/>
              <a:t>→ NEXT: Module 3: text into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3</a:t>
            </a:r>
          </a:p>
          <a:p xmlns:a="http://schemas.openxmlformats.org/drawingml/2006/main">
            <a:r>
              <a:rPr sz="1200" b="1"/>
              <a:t>★ Can a pipeline turn a pile of records into a small reviewable answer? Yes — one explainable stage at a time.</a:t>
            </a:r>
          </a:p>
          <a:p xmlns:a="http://schemas.openxmlformats.org/drawingml/2006/main">
            <a:r>
              <a:rPr sz="1200" b="1"/>
              <a:t>? ASK: how many distinct steps to count status codes in a log? (hold a number)</a:t>
            </a:r>
          </a:p>
          <a:p xmlns:a="http://schemas.openxmlformats.org/drawingml/2006/main">
            <a:r>
              <a:rPr sz="1200"/>
              <a:t>──────────────────────────────────────────────</a:t>
            </a:r>
          </a:p>
          <a:p xmlns:a="http://schemas.openxmlformats.org/drawingml/2006/main">
            <a:r>
              <a:rPr sz="1200"/>
              <a:t>Module three. Now we make the shell do work for us. The question: how can a pipeline turn a pile of records, say a log file, into a small, reviewable answer? Predict: if I want the count of each HTTP status code in an access log, how many distinct steps do you think that takes? Hold a number. By the end you'll build it one stage at a time and be able to explain every stage. Scope: Bash plus the GNU text tools on the Ubuntu lab.</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3 · MODEL</a:t>
            </a:r>
          </a:p>
          <a:p xmlns:a="http://schemas.openxmlformats.org/drawingml/2006/main">
            <a:r>
              <a:rPr sz="1200" b="1"/>
              <a:t>★ Three streams; redirecting stdout does not capture stderr; exit status is a third signal. Tie-back: 2&gt;/dev/null is the 'discarding errors' the ground rules forbid.</a:t>
            </a:r>
          </a:p>
          <a:p xmlns:a="http://schemas.openxmlformats.org/drawingml/2006/main">
            <a:r>
              <a:rPr sz="1200" b="1"/>
              <a:t>? ASK: the output file looks clean — what does that establish about errors?</a:t>
            </a:r>
          </a:p>
          <a:p xmlns:a="http://schemas.openxmlformats.org/drawingml/2006/main">
            <a:r>
              <a:rPr sz="1200"/>
              <a:t>──────────────────────────────────────────────</a:t>
            </a:r>
          </a:p>
          <a:p xmlns:a="http://schemas.openxmlformats.org/drawingml/2006/main">
            <a:r>
              <a:rPr sz="1200"/>
              <a:t>Every process is created with three streams: standard input to read, standard output for its results, and standard error for its diagnostics. The design decision that matters: output and errors travel on separate channels. Redirect stdout into a file and the file receives the data only — errors continue to the terminal. So a clean-looking output file does not demonstrate a clean run. The third, independent signal is the exit status: zero for success, non-zero for failure, and testable in scripts. This is also the mechanism behind a ground rule from the introduction: writing '2&gt;/dev/null' sends stream 2 — stderr — into the discard device, which is precisely the 'do not suppress error messages' rule made concrete. Question for the room: you redirect a command's output to a file and the file looks correct — what has that established about errors?</a:t>
            </a:r>
          </a:p>
          <a:p xmlns:a="http://schemas.openxmlformats.org/drawingml/2006/main">
            <a:r>
              <a:rPr sz="1200"/>
              <a:t>──────────────────────────────────────────────</a:t>
            </a:r>
          </a:p>
          <a:p xmlns:a="http://schemas.openxmlformats.org/drawingml/2006/main">
            <a:r>
              <a:rPr sz="1200" b="1"/>
              <a:t>→ NEXT: picture: streams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6 · MODEL</a:t>
            </a:r>
          </a:p>
          <a:p>
            <a:r>
              <a:rPr sz="1200" b="1"/>
              <a:t>★ The private key stays on the client and proves possession; authorized_keys is the server's authorisation; over-permissive key files are refused silently.</a:t>
            </a:r>
          </a:p>
          <a:p>
            <a:r>
              <a:rPr sz="1200" b="1"/>
              <a:t>? ASK: key login silently falls back to a password — likely cause?</a:t>
            </a:r>
          </a:p>
          <a:p>
            <a:r>
              <a:rPr sz="1200"/>
              <a:t>──────────────────────────────────────────────</a:t>
            </a:r>
          </a:p>
          <a:p>
            <a:r>
              <a:rPr sz="1200"/>
              <a:t>The second trust decision uses a different key pair entirely. You generate a key pair; the private half remains on the client and is never transmitted — authentication works by proving possession through a signature. The public half is placed in the server account's authorized_keys, which is the server's authorisation decision. OpenSSH additionally checks ownership and permissions along this path, and refuses a private key that is readable by others — silently, from the user's point of view. Question: key-based login quietly falls back to a password prompt — what is the likely cause?</a:t>
            </a:r>
          </a:p>
          <a:p>
            <a:r>
              <a:rPr sz="1200"/>
              <a:t>──────────────────────────────────────────────</a:t>
            </a:r>
          </a:p>
          <a:p>
            <a:r>
              <a:rPr sz="1200" b="1"/>
              <a:t>→ NEXT: the worked example: verify host, then user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3 · BUILD THE MODEL</a:t>
            </a:r>
          </a:p>
          <a:p xmlns:a="http://schemas.openxmlformats.org/drawingml/2006/main">
            <a:r>
              <a:rPr sz="1200" b="1"/>
              <a:t>★ A pipeline is several processes started at once. Status comes from the last command — an early stage can fail silently. Inspect between stages.</a:t>
            </a:r>
          </a:p>
          <a:p xmlns:a="http://schemas.openxmlformats.org/drawingml/2006/main">
            <a:r>
              <a:rPr sz="1200"/>
              <a:t>──────────────────────────────────────────────</a:t>
            </a:r>
          </a:p>
          <a:p xmlns:a="http://schemas.openxmlformats.org/drawingml/2006/main">
            <a:r>
              <a:rPr sz="1200"/>
              <a:t>Let's be precise about what a pipeline is, because treating it as one thing causes bad debugging. The shell creates the pipes first, then starts all the programs at once. Each stage receives the previous stage's standard output. Standard error stays separate unless you explicitly redirect it. And in Bash the pipeline's exit status normally comes from the last command, which means an earlier stage can fail silently while the whole thing looks successful. So when a pipeline gives a weird answer, inspect between the stages.</a:t>
            </a:r>
          </a:p>
          <a:p xmlns:a="http://schemas.openxmlformats.org/drawingml/2006/main">
            <a:r>
              <a:rPr sz="1200"/>
              <a:t>──────────────────────────────────────────────</a:t>
            </a:r>
          </a:p>
          <a:p xmlns:a="http://schemas.openxmlformats.org/drawingml/2006/main">
            <a:r>
              <a:rPr sz="1200" b="1"/>
              <a:t>→ NEXT: the staging model, then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3 · WORKED EXAMPLE</a:t>
            </a:r>
          </a:p>
          <a:p xmlns:a="http://schemas.openxmlformats.org/drawingml/2006/main">
            <a:r>
              <a:rPr sz="1200" b="1"/>
              <a:t>★ Every stage has one job you can state in a sentence — and you can stop after any stage and eyeball it. That's what makes the answer trustworthy.</a:t>
            </a:r>
          </a:p>
          <a:p xmlns:a="http://schemas.openxmlformats.org/drawingml/2006/main">
            <a:r>
              <a:rPr sz="1200"/>
              <a:t>──────────────────────────────────────────────</a:t>
            </a:r>
          </a:p>
          <a:p xmlns:a="http://schemas.openxmlformats.org/drawingml/2006/main">
            <a:r>
              <a:rPr sz="1200"/>
              <a:t>Data flow, stage by stage. First 'awk' prints field four of the access log, one HTTP status per line. Pipe into 'sort', which groups equal values next to each other. Pipe into 'uniq -c', which now counts each adjacent group. Then a final 'awk' flips the columns to STATUS then COUNT and we redirect to a file. Every stage has one job you can state in a sentence, and you could stop after any stage and eyeball the intermediate output. That's what makes the result trustworthy rather than magical.</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3 · GUIDED COMMANDS</a:t>
            </a:r>
          </a:p>
          <a:p xmlns:a="http://schemas.openxmlformats.org/drawingml/2006/main">
            <a:r>
              <a:rPr sz="1200" b="1"/>
              <a:t>★ nano / grep / awk / sort / uniq -c — sort-then-uniq are a team, never separate them.</a:t>
            </a:r>
          </a:p>
          <a:p xmlns:a="http://schemas.openxmlformats.org/drawingml/2006/main">
            <a:r>
              <a:rPr sz="1200"/>
              <a:t>──────────────────────────────────────────────</a:t>
            </a:r>
          </a:p>
          <a:p xmlns:a="http://schemas.openxmlformats.org/drawingml/2006/main">
            <a:r>
              <a:rPr sz="1200"/>
              <a:t>Reference. 'nano FILE': edit interactively, Ctrl-O saves, Ctrl-X exits. 'grep PATTERN': select matching records. 'awk': extract or reshape fields. 'sort': order records so equal ones sit together. 'uniq -c': count adjacent identical lines. The pairing to remember is sort-then-uniq; they're a team. Lab guide has the exact syntax and expected output.</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3 · LIVE DEMO</a:t>
            </a:r>
          </a:p>
          <a:p xmlns:a="http://schemas.openxmlformats.org/drawingml/2006/main">
            <a:r>
              <a:rPr sz="1200" b="1"/>
              <a:t>★ head → awk → sort | uniq -c → redirect, inspecting between every stage. If time allows, show the wrong counts without sort.</a:t>
            </a:r>
          </a:p>
          <a:p xmlns:a="http://schemas.openxmlformats.org/drawingml/2006/main">
            <a:r>
              <a:rPr sz="1200" b="1"/>
              <a:t>? ASK: what do the counts look like if sort is skipped?</a:t>
            </a:r>
          </a:p>
          <a:p xmlns:a="http://schemas.openxmlformats.org/drawingml/2006/main">
            <a:r>
              <a:rPr sz="1200"/>
              <a:t>──────────────────────────────────────────────</a:t>
            </a:r>
          </a:p>
          <a:p xmlns:a="http://schemas.openxmlformats.org/drawingml/2006/main">
            <a:r>
              <a:rPr sz="1200"/>
              <a:t>Build the pipeline the way it should be debugged: one stage, inspect, next stage. head shows the record structure; awk extracts the single field we care about, and we look at that intermediate output before continuing; sort groups equal values so uniq -c can count them — the room has already predicted what happens without sort, and if time allows, show it. Finally redirect to a file and read the file back, because saving and verifying are separate acts. Resist assembling the one-liner in a single step — the staged build is the lesson.</a:t>
            </a:r>
          </a:p>
          <a:p xmlns:a="http://schemas.openxmlformats.org/drawingml/2006/main">
            <a:r>
              <a:rPr sz="1200"/>
              <a:t>──────────────────────────────────────────────</a:t>
            </a:r>
          </a:p>
          <a:p xmlns:a="http://schemas.openxmlformats.org/drawingml/2006/main">
            <a:r>
              <a:rPr sz="1200" b="1"/>
              <a:t>→ NEXT: Lab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5 · MODEL</a:t>
            </a:r>
          </a:p>
          <a:p>
            <a:r>
              <a:rPr sz="1200" b="1"/>
              <a:t>★ Directory bits: r lists, w adds/removes names, x traverses; reaching a file needs x on every parent. setgid inherits the group; sticky guards deletion.</a:t>
            </a:r>
          </a:p>
          <a:p>
            <a:r>
              <a:rPr sz="1200" b="1"/>
              <a:t>? ASK: your own file, mode 400, yet read fails — likely cause?</a:t>
            </a:r>
          </a:p>
          <a:p>
            <a:r>
              <a:rPr sz="1200"/>
              <a:t>──────────────────────────────────────────────</a:t>
            </a:r>
          </a:p>
          <a:p>
            <a:r>
              <a:rPr sz="1200"/>
              <a:t>Directories interpret the same three bits differently, and this is where most real diagnoses end up. On a directory, read lists the names, write creates or removes names — including deleting files — and execute permits traversal. Reaching any file therefore requires x on every directory along its path. Two special bits from the earlier slide now become operational: setgid on a shared directory makes new files inherit the group, and the sticky bit prevents users deleting each other's files. Question: a file is mode 400 and you own it, yet reading fails — what is the likely cause?</a:t>
            </a:r>
          </a:p>
          <a:p>
            <a:r>
              <a:rPr sz="1200"/>
              <a:t>──────────────────────────────────────────────</a:t>
            </a:r>
          </a:p>
          <a:p>
            <a:r>
              <a:rPr sz="1200" b="1"/>
              <a:t>→ NEXT: the diagnosis order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20 MIN  ·  HANDS-ON · LAB 3</a:t>
            </a:r>
          </a:p>
          <a:p xmlns:a="http://schemas.openxmlformats.org/drawingml/2006/main">
            <a:r>
              <a:rPr sz="1200" b="1"/>
              <a:t>★ 20 min: edit app.conf, reduce logs into evidence files another operator could review without rerunning you.</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Twenty minutes. Mission: edit app.conf, then reduce the application and access logs into small evidence files another operator could review without rerunning your work. Readiness: can you explain stdin, stdout, stderr and exit status; can you say what each pipeline stage receives and emits; and can you edit, save, reopen and validate a text file? Build incrementally and inspect between stages. Stuck? The usual five: identity, host, directory, command, unchanged output.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3 · DEBRIEF</a:t>
            </a:r>
          </a:p>
          <a:p xmlns:a="http://schemas.openxmlformats.org/drawingml/2006/main">
            <a:r>
              <a:rPr sz="1200" b="1"/>
              <a:t>★ A pipeline is trustworthy when each stage has a stated input and output — anyone can check it.</a:t>
            </a:r>
          </a:p>
          <a:p xmlns:a="http://schemas.openxmlformats.org/drawingml/2006/main">
            <a:r>
              <a:rPr sz="1200" b="1"/>
              <a:t>? ASK: which intermediate inspection saved you from a wrong answer?</a:t>
            </a:r>
          </a:p>
          <a:p xmlns:a="http://schemas.openxmlformats.org/drawingml/2006/main">
            <a:r>
              <a:rPr sz="1200"/>
              <a:t>──────────────────────────────────────────────</a:t>
            </a:r>
          </a:p>
          <a:p xmlns:a="http://schemas.openxmlformats.org/drawingml/2006/main">
            <a:r>
              <a:rPr sz="1200"/>
              <a:t>No re-running. Tell me: what makes a pipeline trustworthy rather than just clever? Right, every stage has a stated input and output, so anyone can check it. And which stage did you inspect that saved you from a wrong answer? Next, we point this same evidence discipline at software itself: package tools give us several independent views of what's installed and where it came from.</a:t>
            </a:r>
          </a:p>
          <a:p xmlns:a="http://schemas.openxmlformats.org/drawingml/2006/main">
            <a:r>
              <a:rPr sz="1200"/>
              <a:t>──────────────────────────────────────────────</a:t>
            </a:r>
          </a:p>
          <a:p xmlns:a="http://schemas.openxmlformats.org/drawingml/2006/main">
            <a:r>
              <a:rPr sz="1200" b="1"/>
              <a:t>→ NEXT: Module 4: software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4</a:t>
            </a:r>
          </a:p>
          <a:p xmlns:a="http://schemas.openxmlformats.org/drawingml/2006/main">
            <a:r>
              <a:rPr sz="1200" b="1"/>
              <a:t>★ What proves software came from the supported repo? running it is not sufficient evidence.</a:t>
            </a:r>
          </a:p>
          <a:p xmlns:a="http://schemas.openxmlformats.org/drawingml/2006/main">
            <a:r>
              <a:rPr sz="1200" b="1"/>
              <a:t>? ASK: I type a command and it works — installed from Ubuntu's repos?</a:t>
            </a:r>
          </a:p>
          <a:p xmlns:a="http://schemas.openxmlformats.org/drawingml/2006/main">
            <a:r>
              <a:rPr sz="1200"/>
              <a:t>──────────────────────────────────────────────</a:t>
            </a:r>
          </a:p>
          <a:p xmlns:a="http://schemas.openxmlformats.org/drawingml/2006/main">
            <a:r>
              <a:rPr sz="1200"/>
              <a:t>Module four. Software. The question sounds simple but it's sharp: what actually proves that a program came from the supported package system, rather than just happening to be runnable? Predict: if I type a command and it works, does that prove it's installed from Ubuntu's repositories? Hold your answer. Scope: Ubuntu 24.04 with APT and dpkg.</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4 · MODEL</a:t>
            </a:r>
          </a:p>
          <a:p xmlns:a="http://schemas.openxmlformats.org/drawingml/2006/main">
            <a:r>
              <a:rPr sz="1200" b="1"/>
              <a:t>★ Three stores: the repository (network), the local index (apt update refreshes only this), the installed database (dpkg).</a:t>
            </a:r>
          </a:p>
          <a:p xmlns:a="http://schemas.openxmlformats.org/drawingml/2006/main">
            <a:r>
              <a:rPr sz="1200" b="1"/>
              <a:t>? ASK: immediately after 'apt update' — has anything been installed?</a:t>
            </a:r>
          </a:p>
          <a:p xmlns:a="http://schemas.openxmlformats.org/drawingml/2006/main">
            <a:r>
              <a:rPr sz="1200"/>
              <a:t>──────────────────────────────────────────────</a:t>
            </a:r>
          </a:p>
          <a:p xmlns:a="http://schemas.openxmlformats.org/drawingml/2006/main">
            <a:r>
              <a:rPr sz="1200"/>
              <a:t>Three separate stores of state, frequently conflated. A repository, on the network, publishes packages and signed metadata. Your local index is a cached copy of that catalogue — 'apt update' refreshes the index and installs nothing. And the installed database, maintained by dpkg, records what is actually on this machine and which files belong to which package. APT works at the top of this stack, resolving and fetching; dpkg records the ground truth below. Question: immediately after 'apt update', has anything new been installed?</a:t>
            </a:r>
          </a:p>
          <a:p xmlns:a="http://schemas.openxmlformats.org/drawingml/2006/main">
            <a:r>
              <a:rPr sz="1200"/>
              <a:t>──────────────────────────────────────────────</a:t>
            </a:r>
          </a:p>
          <a:p xmlns:a="http://schemas.openxmlformats.org/drawingml/2006/main">
            <a:r>
              <a:rPr sz="1200" b="1"/>
              <a:t>→ NEXT: build-up: the independent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3 · MODEL</a:t>
            </a:r>
          </a:p>
          <a:p>
            <a:r>
              <a:rPr sz="1200" b="1"/>
              <a:t>★ Build one stage at a time and inspect between stages; sort must precede uniq -c.</a:t>
            </a:r>
          </a:p>
          <a:p>
            <a:r>
              <a:rPr sz="1200" b="1"/>
              <a:t>? ASK: what does uniq -c report on unsorted input?</a:t>
            </a:r>
          </a:p>
          <a:p>
            <a:r>
              <a:rPr sz="1200"/>
              <a:t>──────────────────────────────────────────────</a:t>
            </a:r>
          </a:p>
          <a:p>
            <a:r>
              <a:rPr sz="1200"/>
              <a:t>Now the composition rule the worked example relies on. A pipeline connects one command's standard output to the next command's standard input, so a long transformation becomes a sequence of small, checkable stages: inspect the record structure, select the relevant records, extract the field, group, and only then save. Build it one stage at a time and look at the intermediate output before adding the next. And one ordering rule with no exceptions: sort before uniq -c, because uniq counts only adjacent identical lines. Prediction: what does uniq -c report on unsorted input?</a:t>
            </a:r>
          </a:p>
          <a:p>
            <a:r>
              <a:rPr sz="1200"/>
              <a:t>──────────────────────────────────────────────</a:t>
            </a:r>
          </a:p>
          <a:p>
            <a:r>
              <a:rPr sz="1200" b="1"/>
              <a:t>→ NEXT: the worked example: build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4 · BUILD THE MODEL</a:t>
            </a:r>
          </a:p>
          <a:p xmlns:a="http://schemas.openxmlformats.org/drawingml/2006/main">
            <a:r>
              <a:rPr sz="1200" b="1"/>
              <a:t>★ Four independent layers. A binary dropped in /usr/local/bin runs fine and is invisible to dpkg — 'works' ≠ 'supported install'.</a:t>
            </a:r>
          </a:p>
          <a:p xmlns:a="http://schemas.openxmlformats.org/drawingml/2006/main">
            <a:r>
              <a:rPr sz="1200"/>
              <a:t>──────────────────────────────────────────────</a:t>
            </a:r>
          </a:p>
          <a:p xmlns:a="http://schemas.openxmlformats.org/drawingml/2006/main">
            <a:r>
              <a:rPr sz="1200"/>
              <a:t>Software state has independent layers, and conflating them leads to incorrect conclusions. Repository metadata says what's available. The package database says what's registered as installed. The shell decides which executable path it would actually run, via PATH. And the executable's behavior is a final, separate observation. A binary you dropped in /usr/local/bin runs fine and is invisible to dpkg. So 'it works' and 'it's a supported install' are genuinely different facts.</a:t>
            </a:r>
          </a:p>
          <a:p xmlns:a="http://schemas.openxmlformats.org/drawingml/2006/main">
            <a:r>
              <a:rPr sz="1200"/>
              <a:t>──────────────────────────────────────────────</a:t>
            </a:r>
          </a:p>
          <a:p xmlns:a="http://schemas.openxmlformats.org/drawingml/2006/main">
            <a:r>
              <a:rPr sz="1200" b="1"/>
              <a:t>→ NEXT: the provenance chain, then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4 · WORKED EXAMPLE</a:t>
            </a:r>
          </a:p>
          <a:p xmlns:a="http://schemas.openxmlformats.org/drawingml/2006/main">
            <a:r>
              <a:rPr sz="1200" b="1"/>
              <a:t>★ Five commands, five distinct questions about one tool. Only the last one is 'does it behave'.</a:t>
            </a:r>
          </a:p>
          <a:p xmlns:a="http://schemas.openxmlformats.org/drawingml/2006/main">
            <a:r>
              <a:rPr sz="1200"/>
              <a:t>──────────────────────────────────────────────</a:t>
            </a:r>
          </a:p>
          <a:p xmlns:a="http://schemas.openxmlformats.org/drawingml/2006/main">
            <a:r>
              <a:rPr sz="1200"/>
              <a:t>Independent views of one tool, 'tree'. 'apt-cache policy tree' shows the candidate, what's available. Install it. 'dpkg-query -W' with a status format shows it's registered as installed, a different claim. 'command -v tree' asks the shell where it would run tree from, that's discovery, not ownership. Then 'dpkg-query -S' on that path asks which package owns the file. Only after all that do we run tree to confirm behavior. Five commands, five distinct questions, that's the whole point.</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4 · GUIDED COMMANDS</a:t>
            </a:r>
          </a:p>
          <a:p xmlns:a="http://schemas.openxmlformats.org/drawingml/2006/main">
            <a:r>
              <a:rPr sz="1200" b="1"/>
              <a:t>★ Division of labour: apt talks to the repository world, dpkg-query to the installed-state world.</a:t>
            </a:r>
          </a:p>
          <a:p xmlns:a="http://schemas.openxmlformats.org/drawingml/2006/main">
            <a:r>
              <a:rPr sz="1200"/>
              <a:t>──────────────────────────────────────────────</a:t>
            </a:r>
          </a:p>
          <a:p xmlns:a="http://schemas.openxmlformats.org/drawingml/2006/main">
            <a:r>
              <a:rPr sz="1200"/>
              <a:t>Reference. 'apt-cache policy NAME': inspect candidate versions. 'apt update': refresh metadata only. 'apt install NAME': resolve and install. 'dpkg-query -W': is it registered installed? 'dpkg-query -S PATH': which package owns this file? Note the division of labour: apt for the repository world, dpkg-query for the installed-state world.</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4 · LIVE DEMO</a:t>
            </a:r>
          </a:p>
          <a:p xmlns:a="http://schemas.openxmlformats.org/drawingml/2006/main">
            <a:r>
              <a:rPr sz="1200" b="1"/>
              <a:t>★ Five commands ↔ five claims, mapped by the room before each run. 'It printed output' never substitutes for the first four.</a:t>
            </a:r>
          </a:p>
          <a:p xmlns:a="http://schemas.openxmlformats.org/drawingml/2006/main">
            <a:r>
              <a:rPr sz="1200" b="1"/>
              <a:t>? ASK: which claim does each command close?</a:t>
            </a:r>
          </a:p>
          <a:p xmlns:a="http://schemas.openxmlformats.org/drawingml/2006/main">
            <a:r>
              <a:rPr sz="1200"/>
              <a:t>──────────────────────────────────────────────</a:t>
            </a:r>
          </a:p>
          <a:p xmlns:a="http://schemas.openxmlformats.org/drawingml/2006/main">
            <a:r>
              <a:rPr sz="1200"/>
              <a:t>One tool, five claims, five commands — and the room maps each command to its claim before I run it. apt-cache policy shows a candidate and its repository. After installing, dpkg-query -W shows registration — a different fact from 'it runs'. command -v shows what the shell would execute; dpkg-query -S on that exact path shows ownership. Only then does jq process a piece of JSON, closing the behaviour claim. The discipline to name: at no point did 'it printed output' substitute for any of the first four claims.</a:t>
            </a:r>
          </a:p>
          <a:p xmlns:a="http://schemas.openxmlformats.org/drawingml/2006/main">
            <a:r>
              <a:rPr sz="1200"/>
              <a:t>──────────────────────────────────────────────</a:t>
            </a:r>
          </a:p>
          <a:p xmlns:a="http://schemas.openxmlformats.org/drawingml/2006/main">
            <a:r>
              <a:rPr sz="1200" b="1"/>
              <a:t>→ NEXT: Lab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2 · MODEL</a:t>
            </a:r>
          </a:p>
          <a:p>
            <a:r>
              <a:rPr sz="1200" b="1"/>
              <a:t>★ DEFINE inode first: the file's on-disk record — metadata + data location, link count, and no name. Names are directory entries pointing at it. Hard link = second name; symlink = stored path text.</a:t>
            </a:r>
          </a:p>
          <a:p>
            <a:r>
              <a:rPr sz="1200" b="1"/>
              <a:t>? ASK: hard-link a file, rename the original — does the hard link still work?</a:t>
            </a:r>
          </a:p>
          <a:p>
            <a:r>
              <a:rPr sz="1200"/>
              <a:t>──────────────────────────────────────────────</a:t>
            </a:r>
          </a:p>
          <a:p>
            <a:r>
              <a:rPr sz="1200"/>
              <a:t>Define the central term before using it. On disk, a file IS its inode: the filesystem's record holding the metadata — owner, mode, size, timestamps, link count — and the location of the data blocks. One thing the inode does not contain is a name. Names live in directories: a directory entry is a label that points at an inode number, and that number, not the name, is the file's identity. From that definition both link types follow. A hard link is simply a second directory entry pointing at the same inode — neither name is more 'real'. A symbolic link is different in kind: its content is a path as text, resolved on every use, so renaming the target leaves it pointing at nothing. Prediction for the picture: hard-link a file, rename the original — does the hard link still work?</a:t>
            </a:r>
          </a:p>
          <a:p>
            <a:r>
              <a:rPr sz="1200"/>
              <a:t>──────────────────────────────────────────────</a:t>
            </a:r>
          </a:p>
          <a:p>
            <a:r>
              <a:rPr sz="1200" b="1"/>
              <a:t>→ NEXT: the links picture, then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20 MIN  ·  HANDS-ON · LAB 4</a:t>
            </a:r>
          </a:p>
          <a:p xmlns:a="http://schemas.openxmlformats.org/drawingml/2006/main">
            <a:r>
              <a:rPr sz="1200" b="1"/>
              <a:t>★ 20 min: install tree, produce evidence for all five claims — candidate, state, path, ownership, behavior.</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Twenty minutes. Mission: install 'tree' from the configured Ubuntu repositories and produce evidence for all five, candidate, installed state, path, ownership, and behavior. Readiness: can you distinguish repository, index, installed state, and files; can you say why update and install are separate steps; and can you verify provenance and behavior independently? Stuck? Identity, host, directory, command, unchanged output.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4 · DEBRIEF</a:t>
            </a:r>
          </a:p>
          <a:p xmlns:a="http://schemas.openxmlformats.org/drawingml/2006/main">
            <a:r>
              <a:rPr sz="1200" b="1"/>
              <a:t>★ Package state is a chain of claims, not a single command result.</a:t>
            </a:r>
          </a:p>
          <a:p xmlns:a="http://schemas.openxmlformats.org/drawingml/2006/main">
            <a:r>
              <a:rPr sz="1200" b="1"/>
              <a:t>? ASK: which independent view did you trust most — ownership via dpkg-query -S?</a:t>
            </a:r>
          </a:p>
          <a:p xmlns:a="http://schemas.openxmlformats.org/drawingml/2006/main">
            <a:r>
              <a:rPr sz="1200"/>
              <a:t>──────────────────────────────────────────────</a:t>
            </a:r>
          </a:p>
          <a:p xmlns:a="http://schemas.openxmlformats.org/drawingml/2006/main">
            <a:r>
              <a:rPr sz="1200"/>
              <a:t>No re-running. Someone state why 'the command works' was not enough this module. Right, package state is a chain of claims, and a runnable binary can satisfy none of them. Which independent view did you trust most, ownership via dpkg-query -S? Next: now that we can trust where files came from, who is even allowed to change them? Identity and permissions.</a:t>
            </a:r>
          </a:p>
          <a:p xmlns:a="http://schemas.openxmlformats.org/drawingml/2006/main">
            <a:r>
              <a:rPr sz="1200"/>
              <a:t>──────────────────────────────────────────────</a:t>
            </a:r>
          </a:p>
          <a:p xmlns:a="http://schemas.openxmlformats.org/drawingml/2006/main">
            <a:r>
              <a:rPr sz="1200" b="1"/>
              <a:t>→ NEXT: Module 5: who may change those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5</a:t>
            </a:r>
          </a:p>
          <a:p xmlns:a="http://schemas.openxmlformats.org/drawingml/2006/main">
            <a:r>
              <a:rPr sz="1200" b="1"/>
              <a:t>★ Same file, one identity granted, another denied — the task is establishing why.</a:t>
            </a:r>
          </a:p>
          <a:p xmlns:a="http://schemas.openxmlformats.org/drawingml/2006/main">
            <a:r>
              <a:rPr sz="1200" b="1"/>
              <a:t>? ASK: file is 640 root:webteam, alice is in webteam — can she read it?</a:t>
            </a:r>
          </a:p>
          <a:p xmlns:a="http://schemas.openxmlformats.org/drawingml/2006/main">
            <a:r>
              <a:rPr sz="1200"/>
              <a:t>──────────────────────────────────────────────</a:t>
            </a:r>
          </a:p>
          <a:p xmlns:a="http://schemas.openxmlformats.org/drawingml/2006/main">
            <a:r>
              <a:rPr sz="1200"/>
              <a:t>Module five. Permissions — an area where systematic reasoning matters most. The question: why does one identity get access while another is denied, for the very same file? Predict: if a file is mode 640 and owned by root:webteam, and Alice is in webteam, can she read it? Consider it carefully. Scope: traditional Linux discretionary access control, with Ubuntu's sudo.</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5 · MODEL</a:t>
            </a:r>
          </a:p>
          <a:p xmlns:a="http://schemas.openxmlformats.org/drawingml/2006/main">
            <a:r>
              <a:rPr sz="1200" b="1"/>
              <a:t>★ Identity is numeric and captured at login; exactly one class applies — owner, else group, else other — never combined.</a:t>
            </a:r>
          </a:p>
          <a:p xmlns:a="http://schemas.openxmlformats.org/drawingml/2006/main">
            <a:r>
              <a:rPr sz="1200" b="1"/>
              <a:t>? ASK: 640 root:webteam, alice in webteam — can she read it?</a:t>
            </a:r>
          </a:p>
          <a:p xmlns:a="http://schemas.openxmlformats.org/drawingml/2006/main">
            <a:r>
              <a:rPr sz="1200"/>
              <a:t>──────────────────────────────────────────────</a:t>
            </a:r>
          </a:p>
          <a:p xmlns:a="http://schemas.openxmlformats.org/drawingml/2006/main">
            <a:r>
              <a:rPr sz="1200"/>
              <a:t>Access control starts with who is asking. A process carries an effective user and a set of group credentials, captured when the session started — which is why a group change requires a new login. The kernel compares numeric identities, not usernames. Then the selection rule that surprises people: for traditional mode bits the kernel applies exactly one class. If you are the owner, the owner bits decide; otherwise, if a group matches, the group bits decide; otherwise the other bits. The classes are never combined. Question: a file is mode 640, owner root, group webteam, and alice is a member of webteam — can she read it?</a:t>
            </a:r>
          </a:p>
          <a:p xmlns:a="http://schemas.openxmlformats.org/drawingml/2006/main">
            <a:r>
              <a:rPr sz="1200"/>
              <a:t>──────────────────────────────────────────────</a:t>
            </a:r>
          </a:p>
          <a:p xmlns:a="http://schemas.openxmlformats.org/drawingml/2006/main">
            <a:r>
              <a:rPr sz="1200" b="1"/>
              <a:t>→ NEXT: three picture slides: ls -l, users &amp; groups, special bits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1 · MODEL</a:t>
            </a:r>
          </a:p>
          <a:p>
            <a:r>
              <a:rPr sz="1200" b="1"/>
              <a:t>★ The shell in one line: prompt = context only; first word = the program; the rest = arguments. Bash substitutes $VAR / $(cmd), applies quotes, then records an exit status (0 = success).</a:t>
            </a:r>
          </a:p>
          <a:p>
            <a:r>
              <a:rPr sz="1200" b="1"/>
              <a:t>? ASK: before you press Enter — what will the shell do to this line first?</a:t>
            </a:r>
          </a:p>
          <a:p>
            <a:r>
              <a:rPr sz="1200"/>
              <a:t>──────────────────────────────────────────────</a:t>
            </a:r>
          </a:p>
          <a:p>
            <a:r>
              <a:rPr sz="1200"/>
              <a:t>Now the second half of the module: what happens between pressing Enter and a program running. Read a command line as three parts. The prompt is not part of the command; it only reports who and where you are. The first word selects what runs — a program or a shell built-in. Everything after it is arguments handed to that program. Then two mechanisms you will use in a moment: substitution, where Bash replaces $USER or $(uname -r) with their values before the program ever starts; and quoting, where double quotes keep a substituted value together as a single argument. Finally, when the program finishes, the shell records an exit status — zero for success, non-zero for failure — which is evidence you can test. Each of these terms appears in the worked example on the next slide, so questions on vocabulary are welcome now.</a:t>
            </a:r>
          </a:p>
          <a:p>
            <a:r>
              <a:rPr sz="1200"/>
              <a:t>──────────────────────────────────────────────</a:t>
            </a:r>
          </a:p>
          <a:p>
            <a:r>
              <a:rPr sz="1200" b="1"/>
              <a:t>→ NEXT: the worked example that uses each of these terms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5 · BUILD THE MODEL</a:t>
            </a:r>
          </a:p>
          <a:p xmlns:a="http://schemas.openxmlformats.org/drawingml/2006/main">
            <a:r>
              <a:rPr sz="1200" b="1"/>
              <a:t>★ Fixed order: id → namei -l every parent → pick the ONE class → test the exact operation. chmod comes last, after you know which check failed.</a:t>
            </a:r>
          </a:p>
          <a:p xmlns:a="http://schemas.openxmlformats.org/drawingml/2006/main">
            <a:r>
              <a:rPr sz="1200"/>
              <a:t>──────────────────────────────────────────────</a:t>
            </a:r>
          </a:p>
          <a:p xmlns:a="http://schemas.openxmlformats.org/drawingml/2006/main">
            <a:r>
              <a:rPr sz="1200"/>
              <a:t>Permission diagnosis follows a fixed order, and jumping to chmod is the classic mistake. Step one: identify the process user and its supplementary groups. Step two: check search, the x bit, on every parent directory. Step three: figure out which single class applies, owner, matching group, or other. Step four: test the exact operation you need, read, write, create, or remove. Only then do you know which check failed, and therefore what the minimal fix is. chmod-ing blindly often opens more than you meant and still doesn't fix the real problem.</a:t>
            </a:r>
          </a:p>
          <a:p xmlns:a="http://schemas.openxmlformats.org/drawingml/2006/main">
            <a:r>
              <a:rPr sz="1200"/>
              <a:t>──────────────────────────────────────────────</a:t>
            </a:r>
          </a:p>
          <a:p xmlns:a="http://schemas.openxmlformats.org/drawingml/2006/main">
            <a:r>
              <a:rPr sz="1200" b="1"/>
              <a:t>→ NEXT: worked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5 · WORKED EXAMPLE</a:t>
            </a:r>
          </a:p>
          <a:p xmlns:a="http://schemas.openxmlformats.org/drawingml/2006/main">
            <a:r>
              <a:rPr sz="1200" b="1"/>
              <a:t>★ Repair from identity outward — and test as Alice with sudo -u, because testing as yourself proves nothing. 2770 = setgid + rwx/rwx/---.</a:t>
            </a:r>
          </a:p>
          <a:p xmlns:a="http://schemas.openxmlformats.org/drawingml/2006/main">
            <a:r>
              <a:rPr sz="1200"/>
              <a:t>──────────────────────────────────────────────</a:t>
            </a:r>
          </a:p>
          <a:p xmlns:a="http://schemas.openxmlformats.org/drawingml/2006/main">
            <a:r>
              <a:rPr sz="1200"/>
              <a:t>Repair from identity outward. 'id alice' shows the credentials the kernel will actually use, not who you think she is. 'namei -l' on the file walks every path component and shows its permissions, exposing a missing x on a parent. Then we set group ownership and mode 2770 on the shared directory, and that leading 2 is setgid, so new files inherit the group. The crucial last line: 'sudo -u alice test -w' tests the policy AS Alice. Testing as yourself proves nothing about her.</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5 · GUIDED COMMANDS</a:t>
            </a:r>
          </a:p>
          <a:p xmlns:a="http://schemas.openxmlformats.org/drawingml/2006/main">
            <a:r>
              <a:rPr sz="1200" b="1"/>
              <a:t>★ The essential commands are id and namei -l (identity and path — the two things permission depends on). chmod 2770 / chown u:g close the loop.</a:t>
            </a:r>
          </a:p>
          <a:p xmlns:a="http://schemas.openxmlformats.org/drawingml/2006/main">
            <a:r>
              <a:rPr sz="1200"/>
              <a:t>──────────────────────────────────────────────</a:t>
            </a:r>
          </a:p>
          <a:p xmlns:a="http://schemas.openxmlformats.org/drawingml/2006/main">
            <a:r>
              <a:rPr sz="1200"/>
              <a:t>Reference. 'id USER': the UID, primary group, supplementary groups. 'namei -l PATH': every component along the path with its permissions. 'stat -c': owner, group, numeric mode. 'sudo -u' runs a check as another identity — the only honest test. And the fix commands now share the slide: 'chmod 2770' sets setgid plus rwx for owner and group and nothing for others, and 'chown u:g' sets ownership. Decode any mode in your head — 2770 is setgid, then rwx, rwx, ---. The essential commands are 'sudo -u' and 'namei -l': identity and path, the two things permission actually depends on.</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5 · LIVE DEMO</a:t>
            </a:r>
          </a:p>
          <a:p xmlns:a="http://schemas.openxmlformats.org/drawingml/2006/main">
            <a:r>
              <a:rPr sz="1200" b="1"/>
              <a:t>★ id both identities → namei -l to the failing component → ONE change (chown + 2770) → verify BOTH verdicts with sudo -u.</a:t>
            </a:r>
          </a:p>
          <a:p xmlns:a="http://schemas.openxmlformats.org/drawingml/2006/main">
            <a:r>
              <a:rPr sz="1200" b="1"/>
              <a:t>? ASK: which check fails first — class selection or a parent's x?</a:t>
            </a:r>
          </a:p>
          <a:p xmlns:a="http://schemas.openxmlformats.org/drawingml/2006/main">
            <a:r>
              <a:rPr sz="1200"/>
              <a:t>──────────────────────────────────────────────</a:t>
            </a:r>
          </a:p>
          <a:p xmlns:a="http://schemas.openxmlformats.org/drawingml/2006/main">
            <a:r>
              <a:rPr sz="1200"/>
              <a:t>The discipline on display: no chmod until the failing check is named. id on both identities shows what the kernel actually compares. namei -l walks the path and exposes the component where access dies. Then exactly one change — group ownership plus mode 2770 — chosen to satisfy the named failure, not sprayed. Verification is two-sided: demoops must succeed AND outsider must still be denied, each tested with sudo -u, because testing as myself proves nothing about either.</a:t>
            </a:r>
          </a:p>
          <a:p xmlns:a="http://schemas.openxmlformats.org/drawingml/2006/main">
            <a:r>
              <a:rPr sz="1200"/>
              <a:t>──────────────────────────────────────────────</a:t>
            </a:r>
          </a:p>
          <a:p xmlns:a="http://schemas.openxmlformats.org/drawingml/2006/main">
            <a:r>
              <a:rPr sz="1200" b="1"/>
              <a:t>→ NEXT: Lab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8 · PICTURE THE STATES</a:t>
            </a:r>
          </a:p>
          <a:p>
            <a:r>
              <a:rPr sz="1200" b="1"/>
              <a:t>★ Four cards, four commands — check each fact on its own. Bottom: activation (pulls in) vs ordering (sequences only, never pulls in).</a:t>
            </a:r>
          </a:p>
          <a:p>
            <a:r>
              <a:rPr sz="1200"/>
              <a:t>──────────────────────────────────────────────</a:t>
            </a:r>
          </a:p>
          <a:p>
            <a:r>
              <a:rPr sz="1200"/>
              <a:t>This is the mental model for the whole systemd block. On top, four facts people collapse into one word, 'running,' but they're independent — check each on its own. Loaded: has systemd read and parsed the unit file? Enabled: will it start at boot? Active: is it running this second? Successful: did its process exit cleanly? A unit can be enabled but not active, or active now but not successful a moment later — none implies another. The bottom half fixes the other classic confusion. Requires and Wants are about activation: if A requires B, starting A pulls B into the same job and starts it too. After and Before are only about order — they sequence units that are already going to run, but never pull anything in. That's why After=network.target just means 'start me after that point'; it doesn't add the network or promise it's ready for your app.</a:t>
            </a:r>
          </a:p>
          <a:p>
            <a:r>
              <a:rPr sz="1200"/>
              <a:t>──────────────────────────────────────────────</a:t>
            </a:r>
          </a:p>
          <a:p>
            <a:r>
              <a:rPr sz="1200" b="1"/>
              <a:t>→ NEXT: requirement vs ordering, then the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30 MIN  ·  HANDS-ON · LAB 5</a:t>
            </a:r>
          </a:p>
          <a:p xmlns:a="http://schemas.openxmlformats.org/drawingml/2006/main">
            <a:r>
              <a:rPr sz="1200" b="1"/>
              <a:t>★ 30 min: webteam creates and updates, outsider stays denied — prove both halves. A fix proving only the insider is half a fix.</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Thirty minutes, the longest lab, because this is subtle. Mission: repair /srv/team-share so webteam members can create and update files while an outsider stays denied, and prove both halves. Readiness: can you select owner, group, or other without combining them; can you explain directory r, w, x; and will you test both the allowed and the denied identity? A fix that only proves the insider works is half a fix. Stuck? Identity, host, directory, command, unchanged output.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5 · DEBRIEF</a:t>
            </a:r>
          </a:p>
          <a:p xmlns:a="http://schemas.openxmlformats.org/drawingml/2006/main">
            <a:r>
              <a:rPr sz="1200" b="1"/>
              <a:t>★ Least privilege = matching identity + path traversal + the exact operation.</a:t>
            </a:r>
          </a:p>
          <a:p xmlns:a="http://schemas.openxmlformats.org/drawingml/2006/main">
            <a:r>
              <a:rPr sz="1200" b="1"/>
              <a:t>? ASK: did you test as the denied identity?</a:t>
            </a:r>
          </a:p>
          <a:p xmlns:a="http://schemas.openxmlformats.org/drawingml/2006/main">
            <a:r>
              <a:rPr sz="1200"/>
              <a:t>──────────────────────────────────────────────</a:t>
            </a:r>
          </a:p>
          <a:p xmlns:a="http://schemas.openxmlformats.org/drawingml/2006/main">
            <a:r>
              <a:rPr sz="1200"/>
              <a:t>No re-running. Tell me the causal chain for one denial you hit, was it the class rule, or a missing x on a parent? And how did you prove the outsider is still denied, did you actually test as them? Least privilege comes from matching identity, path traversal, and the exact operation. Next: we leave one machine and connect two, SSH, and how each end proves who it is.</a:t>
            </a:r>
          </a:p>
          <a:p xmlns:a="http://schemas.openxmlformats.org/drawingml/2006/main">
            <a:r>
              <a:rPr sz="1200"/>
              <a:t>──────────────────────────────────────────────</a:t>
            </a:r>
          </a:p>
          <a:p xmlns:a="http://schemas.openxmlformats.org/drawingml/2006/main">
            <a:r>
              <a:rPr sz="1200" b="1"/>
              <a:t>→ NEXT: Module 6: SSH, two machines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6</a:t>
            </a:r>
          </a:p>
          <a:p xmlns:a="http://schemas.openxmlformats.org/drawingml/2006/main">
            <a:r>
              <a:rPr sz="1200" b="1"/>
              <a:t>★ Two halves: how your client knows the server, and how the server knows you.</a:t>
            </a:r>
          </a:p>
          <a:p xmlns:a="http://schemas.openxmlformats.org/drawingml/2006/main">
            <a:r>
              <a:rPr sz="1200" b="1"/>
              <a:t>? ASK: you typed 'yes' at the fingerprint prompt — what exactly did you vouch for?</a:t>
            </a:r>
          </a:p>
          <a:p xmlns:a="http://schemas.openxmlformats.org/drawingml/2006/main">
            <a:r>
              <a:rPr sz="1200"/>
              <a:t>──────────────────────────────────────────────</a:t>
            </a:r>
          </a:p>
          <a:p xmlns:a="http://schemas.openxmlformats.org/drawingml/2006/main">
            <a:r>
              <a:rPr sz="1200"/>
              <a:t>Module six. We go remote. The question has two halves: how does your SSH client know the server is really the server, and how does the server know you're really you? Predict: when SSH shows that 'authenticity of host can't be established, fingerprint is...' prompt and you type yes, what exactly did you just vouch for? Scope: OpenSSH against an Ubuntu lab endpoint.</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6 · MODEL</a:t>
            </a:r>
          </a:p>
          <a:p xmlns:a="http://schemas.openxmlformats.org/drawingml/2006/main">
            <a:r>
              <a:rPr sz="1200" b="1"/>
              <a:t>★ Encryption is not identity. The server proves itself by host key against known_hosts; a first contact must be verified out-of-band.</a:t>
            </a:r>
          </a:p>
          <a:p xmlns:a="http://schemas.openxmlformats.org/drawingml/2006/main">
            <a:r>
              <a:rPr sz="1200" b="1"/>
              <a:t>? ASK: what exactly does typing 'yes' at the prompt assert?</a:t>
            </a:r>
          </a:p>
          <a:p xmlns:a="http://schemas.openxmlformats.org/drawingml/2006/main">
            <a:r>
              <a:rPr sz="1200"/>
              <a:t>──────────────────────────────────────────────</a:t>
            </a:r>
          </a:p>
          <a:p xmlns:a="http://schemas.openxmlformats.org/drawingml/2006/main">
            <a:r>
              <a:rPr sz="1200"/>
              <a:t>Begin with what the encrypted channel does not provide: identity. Encryption protects the conversation, but with an unverified peer it is a private conversation with an unknown party. SSH therefore authenticates the server: it presents its host key, and your client compares that key's fingerprint with the record in known_hosts. The critical moment is the first connection, when no record exists — the fingerprint must be compared through an independent, trusted channel before you accept it. Question: what exactly does typing 'yes' at that prompt assert?</a:t>
            </a:r>
          </a:p>
          <a:p xmlns:a="http://schemas.openxmlformats.org/drawingml/2006/main">
            <a:r>
              <a:rPr sz="1200"/>
              <a:t>──────────────────────────────────────────────</a:t>
            </a:r>
          </a:p>
          <a:p xmlns:a="http://schemas.openxmlformats.org/drawingml/2006/main">
            <a:r>
              <a:rPr sz="1200" b="1"/>
              <a:t>→ NEXT: the trust picture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6 · PICTURE THE TRUST</a:t>
            </a:r>
          </a:p>
          <a:p>
            <a:r>
              <a:rPr sz="1200" b="1"/>
              <a:t>★ Two arrows, two keys: ① host key checked against known_hosts (first time: out-of-band). ② your private key signs; server checks authorized_keys. Failures are specific to an arrow.</a:t>
            </a:r>
          </a:p>
          <a:p>
            <a:r>
              <a:rPr sz="1200"/>
              <a:t>──────────────────────────────────────────────</a:t>
            </a:r>
          </a:p>
          <a:p>
            <a:r>
              <a:rPr sz="1200"/>
              <a:t>Here's the whole module in one picture. On the left, your laptop; on the right, the server. The encrypted tunnel in the middle is the easy part and, on its own, proves nothing about who you're talking to. The real work is two separate decisions with two different keys. Decision one, in coral: is the server really the server? The server presents its host key and your client compares that key's fingerprint against ~/.ssh/known_hosts — and the first time, against a value you trust from an independent channel. Decision two, in purple: are you really you? Your client signs a challenge with your private key, which never leaves the laptop, and the server checks the matching public key in ~/.ssh/authorized_keys. Keep them separate, because failures are specific: a host-key mismatch is decision one shouting at you — never silence it by deleting known_hosts — while 'permission denied (publickey)' is decision two.</a:t>
            </a:r>
          </a:p>
          <a:p>
            <a:r>
              <a:rPr sz="1200"/>
              <a:t>──────────────────────────────────────────────</a:t>
            </a:r>
          </a:p>
          <a:p>
            <a:r>
              <a:rPr sz="1200" b="1"/>
              <a:t>→ NEXT: the four stages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6 · BUILD THE MODEL</a:t>
            </a:r>
          </a:p>
          <a:p xmlns:a="http://schemas.openxmlformats.org/drawingml/2006/main">
            <a:r>
              <a:rPr sz="1200" b="1"/>
              <a:t>★ Four stages: reach → verify host → offer key → server matches policy. Never fix one stage by weakening another — deleting known_hosts on a mismatch is the classic error.</a:t>
            </a:r>
          </a:p>
          <a:p xmlns:a="http://schemas.openxmlformats.org/drawingml/2006/main">
            <a:r>
              <a:rPr sz="1200"/>
              <a:t>──────────────────────────────────────────────</a:t>
            </a:r>
          </a:p>
          <a:p xmlns:a="http://schemas.openxmlformats.org/drawingml/2006/main">
            <a:r>
              <a:rPr sz="1200"/>
              <a:t>An SSH connection builds trust in stages, and the danger is fixing one stage by weakening another. Stage one: reach the correct host and TCP port. Stage two: verify the server's host-key fingerprint independently. Stage three: offer proof from your client's private key. Stage four: the server matches your authorized public key and its account policy. When something fails, name the stage. The classic error is a host-key mismatch, a stage-two alarm, being silenced by deleting known_hosts, which is precisely when it must not be.</a:t>
            </a:r>
          </a:p>
          <a:p xmlns:a="http://schemas.openxmlformats.org/drawingml/2006/main">
            <a:r>
              <a:rPr sz="1200"/>
              <a:t>──────────────────────────────────────────────</a:t>
            </a:r>
          </a:p>
          <a:p xmlns:a="http://schemas.openxmlformats.org/drawingml/2006/main">
            <a:r>
              <a:rPr sz="1200" b="1"/>
              <a:t>→ NEXT: user authentication model, then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6 · WORKED EXAMPLE</a:t>
            </a:r>
          </a:p>
          <a:p xmlns:a="http://schemas.openxmlformats.org/drawingml/2006/main">
            <a:r>
              <a:rPr sz="1200" b="1"/>
              <a:t>★ ssh-keyscan collects; it does not authenticate — compare the fingerprint out-of-band first. BatchMode=yes fails loudly instead of hiding key failure behind a password prompt.</a:t>
            </a:r>
          </a:p>
          <a:p xmlns:a="http://schemas.openxmlformats.org/drawingml/2006/main">
            <a:r>
              <a:rPr sz="1200"/>
              <a:t>──────────────────────────────────────────────</a:t>
            </a:r>
          </a:p>
          <a:p xmlns:a="http://schemas.openxmlformats.org/drawingml/2006/main">
            <a:r>
              <a:rPr sz="1200"/>
              <a:t>Verify host trust before user trust. 'ssh-keyscan' on port 2222 collects the server's key into a file, but collecting is not authenticating. 'ssh-keygen -lf' prints its fingerprint, which you compare against the value the instructor gives you out-of-band. Only once that matches do we connect, with 'BatchMode=yes', which is a deliberate choice: it makes SSH fail loudly instead of falling back to a password prompt that would hide a key failure. Order is the lesson: trust the host, then prove the user.</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6 · GUIDED COMMANDS</a:t>
            </a:r>
          </a:p>
          <a:p xmlns:a="http://schemas.openxmlformats.org/drawingml/2006/main">
            <a:r>
              <a:rPr sz="1200" b="1"/>
              <a:t>★ ssh -G answers 'why did it use that key?'. BatchMode is a diagnostic tool, not just a setting.</a:t>
            </a:r>
          </a:p>
          <a:p xmlns:a="http://schemas.openxmlformats.org/drawingml/2006/main">
            <a:r>
              <a:rPr sz="1200"/>
              <a:t>──────────────────────────────────────────────</a:t>
            </a:r>
          </a:p>
          <a:p xmlns:a="http://schemas.openxmlformats.org/drawingml/2006/main">
            <a:r>
              <a:rPr sz="1200"/>
              <a:t>Reference. 'ssh-keygen -t ed25519': make a dedicated key pair. 'ssh-keyscan': collect a server's host key. 'ssh-keygen -lf': show a fingerprint. 'ssh -G HOST': print the effective client config for that host, great for 'why did it use that key?'. 'BatchMode=yes': fail instead of prompting for a password. That last one is a diagnostic tool, not just a setting.</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6 · LIVE DEMO</a:t>
            </a:r>
          </a:p>
          <a:p xmlns:a="http://schemas.openxmlformats.org/drawingml/2006/main">
            <a:r>
              <a:rPr sz="1200" b="1"/>
              <a:t>★ keyscan collects → fingerprint compared against the posted value → BatchMode key login. Mismatch = stop; known_hosts is never deleted.</a:t>
            </a:r>
          </a:p>
          <a:p xmlns:a="http://schemas.openxmlformats.org/drawingml/2006/main">
            <a:r>
              <a:rPr sz="1200" b="1"/>
              <a:t>? ASK: does a matching fingerprint prove identity, or only consistency?</a:t>
            </a:r>
          </a:p>
          <a:p xmlns:a="http://schemas.openxmlformats.org/drawingml/2006/main">
            <a:r>
              <a:rPr sz="1200"/>
              <a:t>──────────────────────────────────────────────</a:t>
            </a:r>
          </a:p>
          <a:p xmlns:a="http://schemas.openxmlformats.org/drawingml/2006/main">
            <a:r>
              <a:rPr sz="1200"/>
              <a:t>Order is the lesson: host trust before user trust. ssh-keyscan collects the server's key — collecting is not trusting. ssh-keygen -lf turns it into a fingerprint, and I compare it against the value posted through an independent channel, in front of the room. Only after recording it do we authenticate the user, with BatchMode=yes so a key failure fails loudly instead of hiding behind a password prompt. And the counterfactual, stated: had the fingerprint mismatched, the demo would stop there — that alarm is never silenced by deleting known_hosts.</a:t>
            </a:r>
          </a:p>
          <a:p xmlns:a="http://schemas.openxmlformats.org/drawingml/2006/main">
            <a:r>
              <a:rPr sz="1200"/>
              <a:t>──────────────────────────────────────────────</a:t>
            </a:r>
          </a:p>
          <a:p xmlns:a="http://schemas.openxmlformats.org/drawingml/2006/main">
            <a:r>
              <a:rPr sz="1200" b="1"/>
              <a:t>→ NEXT: Lab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5 · READING ls -l</a:t>
            </a:r>
          </a:p>
          <a:p>
            <a:r>
              <a:rPr sz="1200" b="1"/>
              <a:t>★ Type char + three triads (owner/group/others), each r-w-x. Octal: add 4/2/1 per slot → 644. Drill the second example: rwxr-x--- = 750.</a:t>
            </a:r>
          </a:p>
          <a:p>
            <a:r>
              <a:rPr sz="1200"/>
              <a:t>──────────────────────────────────────────────</a:t>
            </a:r>
          </a:p>
          <a:p>
            <a:r>
              <a:rPr sz="1200"/>
              <a:t>Before you can fix permissions you have to read them. The first character is the type — a dash for a file, d for a directory, l for a symlink. Then nine characters in three groups of three: owner, group, others, and within each group it's read, write, execute in that order. So -rw-r--r-- means owner alice can read and write, group devs can read, and everyone else can read — nobody can execute. To get the octal, add the bits in each slot: r is 4, w is 2, x is 1, and a missing letter is 0. So rw- is 6 and r-- is 4, which gives 644. Practise on the second example — rwxr-x--- is 750. Once these three digits are automatic, chmod stops being guesswork.</a:t>
            </a:r>
          </a:p>
          <a:p>
            <a:r>
              <a:rPr sz="1200"/>
              <a:t>──────────────────────────────────────────────</a:t>
            </a:r>
          </a:p>
          <a:p>
            <a:r>
              <a:rPr sz="1200" b="1"/>
              <a:t>→ NEXT: the rest of the line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25 MIN  ·  HANDS-ON · LAB 6</a:t>
            </a:r>
          </a:p>
          <a:p xmlns:a="http://schemas.openxmlformats.org/drawingml/2006/main">
            <a:r>
              <a:rPr sz="1200" b="1"/>
              <a:t>★ 25 min: strict profile on port 2222, verified host key, dedicated key authorized, BatchMode login proven.</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Twenty-five minutes. Mission: create a strict client profile for training-server on port 2222, verify its host key, authorize a dedicated user key, and prove a BatchMode login. Readiness: can you separate transport, server identity, and user identity; can you protect the private key and its authorization path; and can you diagnose network, host-key, and user-key failures as three different problems? Stuck? Identity, host, directory, command, unchanged output.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6 · DEBRIEF</a:t>
            </a:r>
          </a:p>
          <a:p xmlns:a="http://schemas.openxmlformats.org/drawingml/2006/main">
            <a:r>
              <a:rPr sz="1200" b="1"/>
              <a:t>★ A successful session rests on two explicit yeses — host and user.</a:t>
            </a:r>
          </a:p>
          <a:p xmlns:a="http://schemas.openxmlformats.org/drawingml/2006/main">
            <a:r>
              <a:rPr sz="1200" b="1"/>
              <a:t>? ASK: when it failed: which stage was it, and did you fix THAT one?</a:t>
            </a:r>
          </a:p>
          <a:p xmlns:a="http://schemas.openxmlformats.org/drawingml/2006/main">
            <a:r>
              <a:rPr sz="1200"/>
              <a:t>──────────────────────────────────────────────</a:t>
            </a:r>
          </a:p>
          <a:p xmlns:a="http://schemas.openxmlformats.org/drawingml/2006/main">
            <a:r>
              <a:rPr sz="1200"/>
              <a:t>No re-running. Tell me the two trust decisions a successful login actually rests on. And when your first attempt failed, which stage was it, and did you fix the right one, or weaken a different one? A good SSH setup is two explicit yeses, host and user. Next: when a service or login fails, the logs let us reconstruct what happened.</a:t>
            </a:r>
          </a:p>
          <a:p xmlns:a="http://schemas.openxmlformats.org/drawingml/2006/main">
            <a:r>
              <a:rPr sz="1200"/>
              <a:t>──────────────────────────────────────────────</a:t>
            </a:r>
          </a:p>
          <a:p xmlns:a="http://schemas.openxmlformats.org/drawingml/2006/main">
            <a:r>
              <a:rPr sz="1200" b="1"/>
              <a:t>→ NEXT: Module 7: logs reconstruct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7</a:t>
            </a:r>
          </a:p>
          <a:p xmlns:a="http://schemas.openxmlformats.org/drawingml/2006/main">
            <a:r>
              <a:rPr sz="1200" b="1"/>
              <a:t>★ Which event explains the failure, rather than reporting its consequence?</a:t>
            </a:r>
          </a:p>
          <a:p xmlns:a="http://schemas.openxmlformats.org/drawingml/2006/main">
            <a:r>
              <a:rPr sz="1200" b="1"/>
              <a:t>? ASK: the line that says 'failed' — cause, or aftermath?</a:t>
            </a:r>
          </a:p>
          <a:p xmlns:a="http://schemas.openxmlformats.org/drawingml/2006/main">
            <a:r>
              <a:rPr sz="1200"/>
              <a:t>──────────────────────────────────────────────</a:t>
            </a:r>
          </a:p>
          <a:p xmlns:a="http://schemas.openxmlformats.org/drawingml/2006/main">
            <a:r>
              <a:rPr sz="1200"/>
              <a:t>Module seven. Things fail; now we investigate. The question: which log event actually explains a failure, rather than just reporting its consequence? Predict: when a service dies, is the line that says 'failed' usually the cause, or the aftermath? Hold that. Scope: the systemd journal on Ubuntu 24.04.</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7 · MODEL</a:t>
            </a:r>
          </a:p>
          <a:p xmlns:a="http://schemas.openxmlformats.org/drawingml/2006/main">
            <a:r>
              <a:rPr sz="1200" b="1"/>
              <a:t>★ The journal holds structured records. Scope by unit, boot, and time; read the chronology before any keyword filter.</a:t>
            </a:r>
          </a:p>
          <a:p xmlns:a="http://schemas.openxmlformats.org/drawingml/2006/main">
            <a:r>
              <a:rPr sz="1200" b="1"/>
              <a:t>? ASK: why read before searching?</a:t>
            </a:r>
          </a:p>
          <a:p xmlns:a="http://schemas.openxmlformats.org/drawingml/2006/main">
            <a:r>
              <a:rPr sz="1200"/>
              <a:t>──────────────────────────────────────────────</a:t>
            </a:r>
          </a:p>
          <a:p xmlns:a="http://schemas.openxmlformats.org/drawingml/2006/main">
            <a:r>
              <a:rPr sz="1200"/>
              <a:t>Logs are evidence, and evidence needs a defined scope. The systemd journal stores structured records — timestamp, unit, priority, message — which means you can bound your view precisely: one unit, one boot, one time window around the symptom. Establish that window first, and read the sequence in order before filtering for any keyword. A grep executed too early returns the lines that contain your word and removes the chronology around them — and the chronology is usually where the explanation lives. Question: why read before searching?</a:t>
            </a:r>
          </a:p>
          <a:p xmlns:a="http://schemas.openxmlformats.org/drawingml/2006/main">
            <a:r>
              <a:rPr sz="1200"/>
              <a:t>──────────────────────────────────────────────</a:t>
            </a:r>
          </a:p>
          <a:p xmlns:a="http://schemas.openxmlformats.org/drawingml/2006/main">
            <a:r>
              <a:rPr sz="1200" b="1"/>
              <a:t>→ NEXT: build-up: the incident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5 · READING ls -l</a:t>
            </a:r>
          </a:p>
          <a:p>
            <a:r>
              <a:rPr sz="1200" b="1"/>
              <a:t>★ Read the line as a sentence: file, owned by alice, group devs. Owner + group are the two identities every access check uses.</a:t>
            </a:r>
          </a:p>
          <a:p>
            <a:r>
              <a:rPr sz="1200"/>
              <a:t>──────────────────────────────────────────────</a:t>
            </a:r>
          </a:p>
          <a:p>
            <a:r>
              <a:rPr sz="1200"/>
              <a:t>The permission block is only the front of the line — here's the rest, field by field. After the ten permission characters comes the link count, then the owner, then the group, then the size in bytes, then the last-modified time, and finally the name. Two of these are the identities every access check uses: the owner and the group. So read a listing as a sentence — this is a file, owned by alice, group devs, that alice can write and everyone can read. When a teammate can't touch a file, this one line usually tells you why before you run anything else.</a:t>
            </a:r>
          </a:p>
          <a:p>
            <a:r>
              <a:rPr sz="1200"/>
              <a:t>──────────────────────────────────────────────</a:t>
            </a:r>
          </a:p>
          <a:p>
            <a:r>
              <a:rPr sz="1200" b="1"/>
              <a:t>→ NEXT: how identities are made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7 · BUILD THE MODEL</a:t>
            </a:r>
          </a:p>
          <a:p xmlns:a="http://schemas.openxmlformats.org/drawingml/2006/main">
            <a:r>
              <a:rPr sz="1200" b="1"/>
              <a:t>★ Narrow the noise without destroying the story. Over-filtering deletes evidence; a premature grep hides the cause.</a:t>
            </a:r>
          </a:p>
          <a:p xmlns:a="http://schemas.openxmlformats.org/drawingml/2006/main">
            <a:r>
              <a:rPr sz="1200"/>
              <a:t>──────────────────────────────────────────────</a:t>
            </a:r>
          </a:p>
          <a:p xmlns:a="http://schemas.openxmlformats.org/drawingml/2006/main">
            <a:r>
              <a:rPr sz="1200"/>
              <a:t>A good incident window preserves causality, narrow it without destroying the story. Step one: select the affected unit and the boot. Step two: bound the time around the reported symptom. Step three: read the sequence before filtering for keywords, because a premature grep hides the cause. Step four: separate the first cause from the later failure summaries. Narrow scope reduces noise; over-filtering deletes evidence. The difference matters.</a:t>
            </a:r>
          </a:p>
          <a:p xmlns:a="http://schemas.openxmlformats.org/drawingml/2006/main">
            <a:r>
              <a:rPr sz="1200"/>
              <a:t>──────────────────────────────────────────────</a:t>
            </a:r>
          </a:p>
          <a:p xmlns:a="http://schemas.openxmlformats.org/drawingml/2006/main">
            <a:r>
              <a:rPr sz="1200" b="1"/>
              <a:t>→ NEXT: state vs events, then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7 · WORKED EXAMPLE</a:t>
            </a:r>
          </a:p>
          <a:p xmlns:a="http://schemas.openxmlformats.org/drawingml/2006/main">
            <a:r>
              <a:rPr sz="1200" b="1"/>
              <a:t>★ show -p gives the symptom; bounded journalctl gives the sequence; time bounds make the query repeatable by someone else.</a:t>
            </a:r>
          </a:p>
          <a:p xmlns:a="http://schemas.openxmlformats.org/drawingml/2006/main">
            <a:r>
              <a:rPr sz="1200"/>
              <a:t>──────────────────────────────────────────────</a:t>
            </a:r>
          </a:p>
          <a:p xmlns:a="http://schemas.openxmlformats.org/drawingml/2006/main">
            <a:r>
              <a:rPr sz="1200"/>
              <a:t>Narrow without losing chronology. 'systemctl show' with ActiveState, Result, ExecMainStatus gives the state summary, the symptom. Then 'journalctl -u noisy.service -b --since "-10 min"' with iso timestamps gives the event sequence within a bounded window. Properties tell you what state it's in; the journal tells you how it got there. And the time bound makes the query repeatable, someone else can run the exact same thing and see the exact same evidence.</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7 · GUIDED COMMANDS</a:t>
            </a:r>
          </a:p>
          <a:p xmlns:a="http://schemas.openxmlformats.org/drawingml/2006/main">
            <a:r>
              <a:rPr sz="1200" b="1"/>
              <a:t>★ The flag order encodes the method: -u, -b, --since/--until — and only then -p severity.</a:t>
            </a:r>
          </a:p>
          <a:p xmlns:a="http://schemas.openxmlformats.org/drawingml/2006/main">
            <a:r>
              <a:rPr sz="1200"/>
              <a:t>──────────────────────────────────────────────</a:t>
            </a:r>
          </a:p>
          <a:p xmlns:a="http://schemas.openxmlformats.org/drawingml/2006/main">
            <a:r>
              <a:rPr sz="1200"/>
              <a:t>Reference. 'journalctl -u UNIT': one unit. '-b': the current boot. '--since / --until': bound the time. '-p PRIORITY': filter by severity, but after scoping, not instead of it. '--no-pager': stable, scriptable output. The order encodes the method: unit, boot, time, then maybe priority.</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7 · LIVE DEMO</a:t>
            </a:r>
          </a:p>
          <a:p xmlns:a="http://schemas.openxmlformats.org/drawingml/2006/main">
            <a:r>
              <a:rPr sz="1200" b="1"/>
              <a:t>★ status → show -p (exit 17) → bounded journal read top-to-bottom. STALE_CACHE sits above the 'failed' consequences.</a:t>
            </a:r>
          </a:p>
          <a:p xmlns:a="http://schemas.openxmlformats.org/drawingml/2006/main">
            <a:r>
              <a:rPr sz="1200" b="1"/>
              <a:t>? ASK: cause near the top of the window, or the bottom?</a:t>
            </a:r>
          </a:p>
          <a:p xmlns:a="http://schemas.openxmlformats.org/drawingml/2006/main">
            <a:r>
              <a:rPr sz="1200"/>
              <a:t>──────────────────────────────────────────────</a:t>
            </a:r>
          </a:p>
          <a:p xmlns:a="http://schemas.openxmlformats.org/drawingml/2006/main">
            <a:r>
              <a:rPr sz="1200"/>
              <a:t>Start the service, let it fail, and resist the urge to grep. status gives the symptom; show -p gives the recorded outcome, exit code 17. Then the disciplined part: a journal window bounded by unit, boot, and time, read top to bottom. The room has predicted where the cause sits; the STALE_CACHE record appears well above the final 'failed' lines, which are consequences written by the manager afterwards. Close by re-stating the rule: the last line is almost never the explanation.</a:t>
            </a:r>
          </a:p>
          <a:p xmlns:a="http://schemas.openxmlformats.org/drawingml/2006/main">
            <a:r>
              <a:rPr sz="1200"/>
              <a:t>──────────────────────────────────────────────</a:t>
            </a:r>
          </a:p>
          <a:p xmlns:a="http://schemas.openxmlformats.org/drawingml/2006/main">
            <a:r>
              <a:rPr sz="1200" b="1"/>
              <a:t>→ NEXT: Lab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5 · USERS &amp; GROUPS</a:t>
            </a:r>
          </a:p>
          <a:p>
            <a:r>
              <a:rPr sz="1200" b="1"/>
              <a:t>★ groupadd → useradd -m -G → usermod -aG (forget -a and you replace their groups) → id to verify. Groups are captured at login — re-login to pick up changes.</a:t>
            </a:r>
          </a:p>
          <a:p>
            <a:r>
              <a:rPr sz="1200"/>
              <a:t>──────────────────────────────────────────────</a:t>
            </a:r>
          </a:p>
          <a:p>
            <a:r>
              <a:rPr sz="1200"/>
              <a:t>Permissions are checked against identities, so you need to know how identities are made. Groups first: groupadd developers makes an empty group. Then useradd with -m creates the user alice and her home directory, and -G puts her in developers at creation. To add someone who already exists, usermod -aG — and the -a is the one people forget; without it you replace all of that user's extra groups instead of appending, which quietly locks them out of everything else. Finally, id alice checks your work: it prints her uid, her primary group, and every supplementary group the kernel will actually use. Remember from the model — a login shell captures these groups when the session starts, so after changing someone's groups they must log out and back in.</a:t>
            </a:r>
          </a:p>
          <a:p>
            <a:r>
              <a:rPr sz="1200"/>
              <a:t>──────────────────────────────────────────────</a:t>
            </a:r>
          </a:p>
          <a:p>
            <a:r>
              <a:rPr sz="1200" b="1"/>
              <a:t>→ NEXT: the three special bits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20 MIN  ·  HANDS-ON · LAB 7</a:t>
            </a:r>
          </a:p>
          <a:p xmlns:a="http://schemas.openxmlformats.org/drawingml/2006/main">
            <a:r>
              <a:rPr sz="1200" b="1"/>
              <a:t>★ 20 min: disk-threshold incident — preserve unit-scoped evidence, explain exit 42, keep the causal line.</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Twenty minutes. Mission: investigate a disk-threshold incident, preserve unit-scoped journal evidence, and explain why exit code 42 occurred. Readiness: can you distinguish state properties from event records; will you scope by unit, boot, and time before grepping; and can you preserve the causal line along with its exit evidence? Save evidence someone else could re-derive. Stuck? Identity, host, directory, command, unchanged output.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7 · DEBRIEF</a:t>
            </a:r>
          </a:p>
          <a:p xmlns:a="http://schemas.openxmlformats.org/drawingml/2006/main">
            <a:r>
              <a:rPr sz="1200" b="1"/>
              <a:t>★ The journal connects a state to the sequence that produced it.</a:t>
            </a:r>
          </a:p>
          <a:p xmlns:a="http://schemas.openxmlformats.org/drawingml/2006/main">
            <a:r>
              <a:rPr sz="1200" b="1"/>
              <a:t>? ASK: how did you KNOW your line was cause, not symptom?</a:t>
            </a:r>
          </a:p>
          <a:p xmlns:a="http://schemas.openxmlformats.org/drawingml/2006/main">
            <a:r>
              <a:rPr sz="1200"/>
              <a:t>──────────────────────────────────────────────</a:t>
            </a:r>
          </a:p>
          <a:p xmlns:a="http://schemas.openxmlformats.org/drawingml/2006/main">
            <a:r>
              <a:rPr sz="1200"/>
              <a:t>No re-running. Tell me the earliest causal line you found and how you knew it was the cause and not a symptom. Did scoping before grepping change what you saw? The journal connects a state to the sequence that produced it. Next: we go up a level to systemd itself, what the manager was declared to do, and why it did or didn't.</a:t>
            </a:r>
          </a:p>
          <a:p xmlns:a="http://schemas.openxmlformats.org/drawingml/2006/main">
            <a:r>
              <a:rPr sz="1200"/>
              <a:t>──────────────────────────────────────────────</a:t>
            </a:r>
          </a:p>
          <a:p xmlns:a="http://schemas.openxmlformats.org/drawingml/2006/main">
            <a:r>
              <a:rPr sz="1200" b="1"/>
              <a:t>→ NEXT: Module 8: the manager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8</a:t>
            </a:r>
          </a:p>
          <a:p xmlns:a="http://schemas.openxmlformats.org/drawingml/2006/main">
            <a:r>
              <a:rPr sz="1200" b="1"/>
              <a:t>★ How does a text file (the unit) become runtime behavior?</a:t>
            </a:r>
          </a:p>
          <a:p xmlns:a="http://schemas.openxmlformats.org/drawingml/2006/main">
            <a:r>
              <a:rPr sz="1200" b="1"/>
              <a:t>? ASK: After=network.target — is the network ready for the application?</a:t>
            </a:r>
          </a:p>
          <a:p xmlns:a="http://schemas.openxmlformats.org/drawingml/2006/main">
            <a:r>
              <a:rPr sz="1200"/>
              <a:t>──────────────────────────────────────────────</a:t>
            </a:r>
          </a:p>
          <a:p xmlns:a="http://schemas.openxmlformats.org/drawingml/2006/main">
            <a:r>
              <a:rPr sz="1200"/>
              <a:t>Module eight. We meet the manager. The question: how does systemd turn a unit declaration, a text file, into actual runtime behavior? Predict: if a unit says 'After=network.target', does that guarantee the network is ready for the app when it starts? Consider it carefully. Scope: systemd on Ubuntu 24.04.</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8 · MODEL</a:t>
            </a:r>
          </a:p>
          <a:p xmlns:a="http://schemas.openxmlformats.org/drawingml/2006/main">
            <a:r>
              <a:rPr sz="1200" b="1"/>
              <a:t>★ A unit file is a declaration; the manager records transitions. Loaded, enabled, active, successful are independent; status is a symptom summary.</a:t>
            </a:r>
          </a:p>
          <a:p xmlns:a="http://schemas.openxmlformats.org/drawingml/2006/main">
            <a:r>
              <a:rPr sz="1200" b="1"/>
              <a:t>? ASK: enabled but not active — is that a fault?</a:t>
            </a:r>
          </a:p>
          <a:p xmlns:a="http://schemas.openxmlformats.org/drawingml/2006/main">
            <a:r>
              <a:rPr sz="1200"/>
              <a:t>──────────────────────────────────────────────</a:t>
            </a:r>
          </a:p>
          <a:p xmlns:a="http://schemas.openxmlformats.org/drawingml/2006/main">
            <a:r>
              <a:rPr sz="1200"/>
              <a:t>Separate what is written from what is happening. A unit file is a declaration: the command, the identity to run as, the working directory, dependencies, environment, restart policy. The manager reads it, attempts to reach the declared state, and records each transition. Runtime reality is then described by four independent facts: loaded — was the file read; enabled — will it start at boot; active — is it running now; successful — did it exit cleanly. None implies another, and 'systemctl status' is a symptom summary, not a diagnosis. Question: a unit is enabled but not active — is that a fault?</a:t>
            </a:r>
          </a:p>
          <a:p xmlns:a="http://schemas.openxmlformats.org/drawingml/2006/main">
            <a:r>
              <a:rPr sz="1200"/>
              <a:t>──────────────────────────────────────────────</a:t>
            </a:r>
          </a:p>
          <a:p xmlns:a="http://schemas.openxmlformats.org/drawingml/2006/main">
            <a:r>
              <a:rPr sz="1200" b="1"/>
              <a:t>→ NEXT: picture: states + needs vs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9 · PICTURE A PROCESS</a:t>
            </a:r>
          </a:p>
          <a:p>
            <a:r>
              <a:rPr sz="1200" b="1"/>
              <a:t>★ htop live: meters = kernel arbitration; PID is temporary; USER is what the kernel checks; R/S state; PID 1 = systemd, ancestor of every service. F9 signals — but we stop via systemd.</a:t>
            </a:r>
          </a:p>
          <a:p>
            <a:r>
              <a:rPr sz="1200"/>
              <a:t>──────────────────────────────────────────────</a:t>
            </a:r>
          </a:p>
          <a:p>
            <a:r>
              <a:rPr sz="1200"/>
              <a:t>Let's make 'a process' concrete with htop — you can run it yourself with just 'htop'. Along the top: per-core CPU meters and a memory bar, the kernel's arbitration you can watch live. Below, one row per process; follow the highlighted row, our little web service. PID 1234 is its identity — one number, and temporary; restart it and the number changes. USER alice is the effective identity the kernel checks for every permission. S is state: R is running right now, S is sleeping. CPU% and MEM% are the exact resources the kernel is handing it. COMMAND is the program plus its arguments — the recipe. And notice PID 1 at the bottom is systemd, the ancestor of every service. F9 sends a signal here, but managed services we stop through systemd, not with a kill.</a:t>
            </a:r>
          </a:p>
          <a:p>
            <a:r>
              <a:rPr sz="1200"/>
              <a:t>──────────────────────────────────────────────</a:t>
            </a:r>
          </a:p>
          <a:p>
            <a:r>
              <a:rPr sz="1200" b="1"/>
              <a:t>→ NEXT: listener vs behaviour, then the four layers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8 · BUILD THE MODEL</a:t>
            </a:r>
          </a:p>
          <a:p xmlns:a="http://schemas.openxmlformats.org/drawingml/2006/main">
            <a:r>
              <a:rPr sz="1200" b="1"/>
              <a:t>★ systemd builds the transaction first: activation picks members, ordering sequences them, conditions can stop before ExecStart. Mantra: Requires ≠ 'run first'; After ≠ 'start it'.</a:t>
            </a:r>
          </a:p>
          <a:p xmlns:a="http://schemas.openxmlformats.org/drawingml/2006/main">
            <a:r>
              <a:rPr sz="1200"/>
              <a:t>──────────────────────────────────────────────</a:t>
            </a:r>
          </a:p>
          <a:p xmlns:a="http://schemas.openxmlformats.org/drawingml/2006/main">
            <a:r>
              <a:rPr sz="1200"/>
              <a:t>systemd builds a transaction before it starts any process, think it through in that order. Activation relationships, Requires and Wants, decide which units join the job. Ordering relationships, After and Before, decide which one runs first. Conditions and prerequisites can stop execution before ExecStart even runs, so a service can 'do nothing' and still not be a bug. And every transition leaves both manager evidence and application evidence. The mantra: Requires does not mean 'run first'; After does not mean 'start it'.</a:t>
            </a:r>
          </a:p>
          <a:p xmlns:a="http://schemas.openxmlformats.org/drawingml/2006/main">
            <a:r>
              <a:rPr sz="1200"/>
              <a:t>──────────────────────────────────────────────</a:t>
            </a:r>
          </a:p>
          <a:p xmlns:a="http://schemas.openxmlformats.org/drawingml/2006/main">
            <a:r>
              <a:rPr sz="1200" b="1"/>
              <a:t>→ NEXT: worked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8 · WORKED EXAMPLE</a:t>
            </a:r>
          </a:p>
          <a:p xmlns:a="http://schemas.openxmlformats.org/drawingml/2006/main">
            <a:r>
              <a:rPr sz="1200" b="1"/>
              <a:t>★ Move deliberately: status (symptom) → journal (events) → cat (declaration) → show (relationships). Each answers a different question.</a:t>
            </a:r>
          </a:p>
          <a:p xmlns:a="http://schemas.openxmlformats.org/drawingml/2006/main">
            <a:r>
              <a:rPr sz="1200"/>
              <a:t>──────────────────────────────────────────────</a:t>
            </a:r>
          </a:p>
          <a:p xmlns:a="http://schemas.openxmlformats.org/drawingml/2006/main">
            <a:r>
              <a:rPr sz="1200"/>
              <a:t>Read diagnosis from declaration to behavior. 'systemctl status' names the symptom and recent context. 'journalctl -u' shows the transition and failure events. 'systemctl cat' shows the effective unit, the actual declaration, including drop-ins. 'systemctl show' with Wants, Requires, After exposes the real relationships, normalized. So you move deliberately: state, then events, then declaration, then relationships, each answering a different question about why the manager did what it did.</a:t>
            </a:r>
          </a:p>
          <a:p xmlns:a="http://schemas.openxmlformats.org/drawingml/2006/main">
            <a:r>
              <a:rPr sz="1200"/>
              <a:t>──────────────────────────────────────────────</a:t>
            </a:r>
          </a:p>
          <a:p xmlns:a="http://schemas.openxmlformats.org/drawingml/2006/main">
            <a:r>
              <a:rPr sz="1200" b="1"/>
              <a:t>→ NEXT: create your OWN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8 · GUIDED COMMANDS</a:t>
            </a:r>
          </a:p>
          <a:p xmlns:a="http://schemas.openxmlformats.org/drawingml/2006/main">
            <a:r>
              <a:rPr sz="1200" b="1"/>
              <a:t>★ cat/show = the effective declaration. daemon-reload after any edit. Keep enabled and active separate in your head.</a:t>
            </a:r>
          </a:p>
          <a:p xmlns:a="http://schemas.openxmlformats.org/drawingml/2006/main">
            <a:r>
              <a:rPr sz="1200"/>
              <a:t>──────────────────────────────────────────────</a:t>
            </a:r>
          </a:p>
          <a:p xmlns:a="http://schemas.openxmlformats.org/drawingml/2006/main">
            <a:r>
              <a:rPr sz="1200"/>
              <a:t>Reference. 'status / is-active': current runtime state. 'is-enabled': boot policy. 'cat / show': the effective declaration and its normalized properties. 'daemon-reload': make the manager reread changed unit files. 'restart': create a fresh execution from the effective definition. Keep 'enabled' and 'active' separate in your head, they answer different questions.</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8 · LIVE DEMO</a:t>
            </a:r>
          </a:p>
          <a:p xmlns:a="http://schemas.openxmlformats.org/drawingml/2006/main">
            <a:r>
              <a:rPr sz="1200" b="1"/>
              <a:t>★ status → journal names the missing EnvironmentFile → cat confirms the declaration → create the file, restart, curl. Unit never edited.</a:t>
            </a:r>
          </a:p>
          <a:p xmlns:a="http://schemas.openxmlformats.org/drawingml/2006/main">
            <a:r>
              <a:rPr sz="1200" b="1"/>
              <a:t>? ASK: edit the unit, or satisfy its declaration — which is safer?</a:t>
            </a:r>
          </a:p>
          <a:p xmlns:a="http://schemas.openxmlformats.org/drawingml/2006/main">
            <a:r>
              <a:rPr sz="1200"/>
              <a:t>──────────────────────────────────────────────</a:t>
            </a:r>
          </a:p>
          <a:p xmlns:a="http://schemas.openxmlformats.org/drawingml/2006/main">
            <a:r>
              <a:rPr sz="1200"/>
              <a:t>A failing service whose unit file is entirely correct. status points at trouble; the journal names it — a required EnvironmentFile does not exist; systemctl cat confirms the declaration expects it. The room votes on the fix before I act: edit the unit, or create what it declares? We create the file, restart, and verify with curl. The principle, stated plainly: the safest repair satisfies the declaration rather than rewriting it — the unit remains exactly as shipped.</a:t>
            </a:r>
          </a:p>
          <a:p xmlns:a="http://schemas.openxmlformats.org/drawingml/2006/main">
            <a:r>
              <a:rPr sz="1200"/>
              <a:t>──────────────────────────────────────────────</a:t>
            </a:r>
          </a:p>
          <a:p xmlns:a="http://schemas.openxmlformats.org/drawingml/2006/main">
            <a:r>
              <a:rPr sz="1200" b="1"/>
              <a:t>→ NEXT: Lab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1 · PICTURE THE MODEL</a:t>
            </a:r>
          </a:p>
          <a:p>
            <a:r>
              <a:rPr sz="1200" b="1"/>
              <a:t>★ Requests go down as system calls; bytes and an exit status come back up. That up-arrow is what we verify all day.</a:t>
            </a:r>
          </a:p>
          <a:p>
            <a:r>
              <a:rPr sz="1200"/>
              <a:t>──────────────────────────────────────────────</a:t>
            </a:r>
          </a:p>
          <a:p>
            <a:r>
              <a:rPr sz="1200"/>
              <a:t>The same model as the last slide, now as a picture — read it top to bottom. Your programs live in user space: bash, python3, sshd. They never touch hardware. When they need something they cross the dashed line with a system call — open, read, write, execve. Below the line the kernel is the referee: it schedules the CPU, maps and protects memory, resolves files through the VFS, and moves packets through the network stack. Underneath sits the real hardware. The one idea to carry all course: every command sends a request down and gets evidence back up — that up-arrow, bytes and an exit status, is exactly what we keep verifying.</a:t>
            </a:r>
          </a:p>
          <a:p>
            <a:r>
              <a:rPr sz="1200"/>
              <a:t>──────────────────────────────────────────────</a:t>
            </a:r>
          </a:p>
          <a:p>
            <a:r>
              <a:rPr sz="1200" b="1"/>
              <a:t>→ NEXT: build-up: the kernel as referee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25 MIN  ·  HANDS-ON · LAB 8</a:t>
            </a:r>
          </a:p>
          <a:p xmlns:a="http://schemas.openxmlformats.org/drawingml/2006/main">
            <a:r>
              <a:rPr sz="1200" b="1"/>
              <a:t>★ 25 min: fix course-web's CHDIR failure WITHOUT editing the supplied unit — the constraint is the lesson.</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Twenty-five minutes. Mission: repair course-web.service from its CHDIR failure, without editing the supplied unit, then prove state, enablement, socket, and HTTP behavior. Readiness: can you separate activation requirements from ordering; can you distinguish enabled, active, loaded, and successful; and can you move from state to events to declaration to behavior? The 'don't edit the unit' constraint is the whole lesson, fix the environment, not the file. Stuck? The usual five.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8 · DEBRIEF</a:t>
            </a:r>
          </a:p>
          <a:p xmlns:a="http://schemas.openxmlformats.org/drawingml/2006/main">
            <a:r>
              <a:rPr sz="1200" b="1"/>
              <a:t>★ The safest repair satisfies the declaration's missing prerequisite; it doesn't fork the file.</a:t>
            </a:r>
          </a:p>
          <a:p xmlns:a="http://schemas.openxmlformats.org/drawingml/2006/main">
            <a:r>
              <a:rPr sz="1200" b="1"/>
              <a:t>? ASK: what was actually broken — the unit, or its world?</a:t>
            </a:r>
          </a:p>
          <a:p xmlns:a="http://schemas.openxmlformats.org/drawingml/2006/main">
            <a:r>
              <a:rPr sz="1200"/>
              <a:t>──────────────────────────────────────────────</a:t>
            </a:r>
          </a:p>
          <a:p xmlns:a="http://schemas.openxmlformats.org/drawingml/2006/main">
            <a:r>
              <a:rPr sz="1200"/>
              <a:t>No re-running. Tell me: what was actually broken, the unit, or its world? And why is satisfying the missing prerequisite safer than editing the vendor unit? A declaration is intent; runtime state is reality; they can disagree. Next: we drop below the manager to the process and socket it actually produced.</a:t>
            </a:r>
          </a:p>
          <a:p xmlns:a="http://schemas.openxmlformats.org/drawingml/2006/main">
            <a:r>
              <a:rPr sz="1200"/>
              <a:t>──────────────────────────────────────────────</a:t>
            </a:r>
          </a:p>
          <a:p xmlns:a="http://schemas.openxmlformats.org/drawingml/2006/main">
            <a:r>
              <a:rPr sz="1200" b="1"/>
              <a:t>→ NEXT: Module 9: the running 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9</a:t>
            </a:r>
          </a:p>
          <a:p xmlns:a="http://schemas.openxmlformats.org/drawingml/2006/main">
            <a:r>
              <a:rPr sz="1200" b="1"/>
              <a:t>★ Where do unit, process, socket, and behavior connect — and where can they disagree?</a:t>
            </a:r>
          </a:p>
          <a:p xmlns:a="http://schemas.openxmlformats.org/drawingml/2006/main">
            <a:r>
              <a:rPr sz="1200" b="1"/>
              <a:t>? ASK: active service + listening port — does a user get a correct response?</a:t>
            </a:r>
          </a:p>
          <a:p xmlns:a="http://schemas.openxmlformats.org/drawingml/2006/main">
            <a:r>
              <a:rPr sz="1200"/>
              <a:t>──────────────────────────────────────────────</a:t>
            </a:r>
          </a:p>
          <a:p xmlns:a="http://schemas.openxmlformats.org/drawingml/2006/main">
            <a:r>
              <a:rPr sz="1200"/>
              <a:t>Module nine. Below the manager: the actual running thing. The question: how do unit state, process state, socket state, and client-visible behavior connect, and where can they disagree? Predict: a service is active and a port is listening. Does that prove a user gets a correct response? Scope: general Linux processes, iproute2, and systemd.</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9 · MODEL</a:t>
            </a:r>
          </a:p>
          <a:p xmlns:a="http://schemas.openxmlformats.org/drawingml/2006/main">
            <a:r>
              <a:rPr sz="1200" b="1"/>
              <a:t>★ Executable = template; process = live instantiation with PID, parent, identity, memory, descriptors. MainPID names the supervised one; PIDs are transient.</a:t>
            </a:r>
          </a:p>
          <a:p xmlns:a="http://schemas.openxmlformats.org/drawingml/2006/main">
            <a:r>
              <a:rPr sz="1200" b="1"/>
              <a:t>? ASK: after a restart, does the PID survive?</a:t>
            </a:r>
          </a:p>
          <a:p xmlns:a="http://schemas.openxmlformats.org/drawingml/2006/main">
            <a:r>
              <a:rPr sz="1200"/>
              <a:t>──────────────────────────────────────────────</a:t>
            </a:r>
          </a:p>
          <a:p xmlns:a="http://schemas.openxmlformats.org/drawingml/2006/main">
            <a:r>
              <a:rPr sz="1200"/>
              <a:t>Distinguish the program from the process. The executable on disk is a template; the process is that template running, with context of its own: a process ID, a parent, an effective identity, memory, and open file descriptors. PIDs are transient — restart the service and the number changes — so treat them as observations, not identifiers to memorise. For managed services, systemd's MainPID property names the one process it supervises; ps shows that process's context, and /proc/PID offers the kernel's view. Question: after a service restart, does its PID survive?</a:t>
            </a:r>
          </a:p>
          <a:p xmlns:a="http://schemas.openxmlformats.org/drawingml/2006/main">
            <a:r>
              <a:rPr sz="1200"/>
              <a:t>──────────────────────────────────────────────</a:t>
            </a:r>
          </a:p>
          <a:p xmlns:a="http://schemas.openxmlformats.org/drawingml/2006/main">
            <a:r>
              <a:rPr sz="1200" b="1"/>
              <a:t>→ NEXT: annotated htop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4 MIN  ·  MODULE 8 · CREATE A SERVICE</a:t>
            </a:r>
          </a:p>
          <a:p>
            <a:r>
              <a:rPr sz="1200" b="1"/>
              <a:t>★ Three sections: [Unit] name+order, [Service] ExecStart/WorkingDirectory/Restart, [Install] WantedBy for enable. Ritual: daemon-reload → enable --now → status + curl. Never edit /lib units.</a:t>
            </a:r>
          </a:p>
          <a:p>
            <a:r>
              <a:rPr sz="1200"/>
              <a:t>──────────────────────────────────────────────</a:t>
            </a:r>
          </a:p>
          <a:p>
            <a:r>
              <a:rPr sz="1200"/>
              <a:t>This is the part the course never showed until now: writing your own unit. Three sections. [Unit] names it and orders it after the network is up. [Service] is the heart — ExecStart is the command to run, WorkingDirectory is where, and Restart=on-failure brings it back if it crashes. [Install] with WantedBy is what 'enable' hooks into so it also starts at boot. Then the ritual you already know from diagnosis: daemon-reload so systemd reads the file, enable --now to start it now and at boot, and status plus a curl to prove it actually serves on 8080. Changing it later? Edit, daemon-reload, restart — and never hand-edit the vendor files under /lib/systemd; put your change in /etc or a drop-in.</a:t>
            </a:r>
          </a:p>
          <a:p>
            <a:r>
              <a:rPr sz="1200"/>
              <a:t>──────────────────────────────────────────────</a:t>
            </a:r>
          </a:p>
          <a:p>
            <a:r>
              <a:rPr sz="1200" b="1"/>
              <a:t>→ NEXT: guided commands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9 · BUILD THE MODEL</a:t>
            </a:r>
          </a:p>
          <a:p xmlns:a="http://schemas.openxmlformats.org/drawingml/2006/main">
            <a:r>
              <a:rPr sz="1200" b="1"/>
              <a:t>★ Four layers — manager, process, socket, client — each can pass while the next fails. Only a real client speaks for the user.</a:t>
            </a:r>
          </a:p>
          <a:p xmlns:a="http://schemas.openxmlformats.org/drawingml/2006/main">
            <a:r>
              <a:rPr sz="1200"/>
              <a:t>──────────────────────────────────────────────</a:t>
            </a:r>
          </a:p>
          <a:p xmlns:a="http://schemas.openxmlformats.org/drawingml/2006/main">
            <a:r>
              <a:rPr sz="1200"/>
              <a:t>A service claim crosses four observable layers, and each can succeed while the next fails. Manager state connects the unit to a MainPID. Process evidence shows that PID's identity and command context. Socket evidence shows whether a transport endpoint is actually listening. And a real client proves application-visible behavior. Four layers, four checks, because 'active' at the top doesn't guarantee 'answers correctly' at the bottom.</a:t>
            </a:r>
          </a:p>
          <a:p xmlns:a="http://schemas.openxmlformats.org/drawingml/2006/main">
            <a:r>
              <a:rPr sz="1200"/>
              <a:t>──────────────────────────────────────────────</a:t>
            </a:r>
          </a:p>
          <a:p xmlns:a="http://schemas.openxmlformats.org/drawingml/2006/main">
            <a:r>
              <a:rPr sz="1200" b="1"/>
              <a:t>→ NEXT: worked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9 · WORKED EXAMPLE</a:t>
            </a:r>
          </a:p>
          <a:p xmlns:a="http://schemas.openxmlformats.org/drawingml/2006/main">
            <a:r>
              <a:rPr sz="1200" b="1"/>
              <a:t>★ MainPID → ps → ss -ltnp → curl --fail. Each command hands evidence to the next; only curl speaks for the user.</a:t>
            </a:r>
          </a:p>
          <a:p xmlns:a="http://schemas.openxmlformats.org/drawingml/2006/main">
            <a:r>
              <a:rPr sz="1200"/>
              <a:t>──────────────────────────────────────────────</a:t>
            </a:r>
          </a:p>
          <a:p xmlns:a="http://schemas.openxmlformats.org/drawingml/2006/main">
            <a:r>
              <a:rPr sz="1200"/>
              <a:t>Trace one service through the four layers. Capture MainPID from 'systemctl show'. Feed it to 'ps' to see identity and command line. 'ss -ltnp' on the port shows the listener and, with privilege, the owning process. Then 'curl --fail' proves the application actually responds. Notice each command hands evidence to the next, and only the last one, curl, speaks for the user. Everything above it is necessary but not sufficient.</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9 · GUIDED COMMANDS</a:t>
            </a:r>
          </a:p>
          <a:p xmlns:a="http://schemas.openxmlformats.org/drawingml/2006/main">
            <a:r>
              <a:rPr sz="1200" b="1"/>
              <a:t>★ ss -ltnp: listening-tcp-numeric-process. curl --fail turns an HTTP error into a non-zero exit. htop is the live overview.</a:t>
            </a:r>
          </a:p>
          <a:p xmlns:a="http://schemas.openxmlformats.org/drawingml/2006/main">
            <a:r>
              <a:rPr sz="1200"/>
              <a:t>──────────────────────────────────────────────</a:t>
            </a:r>
          </a:p>
          <a:p xmlns:a="http://schemas.openxmlformats.org/drawingml/2006/main">
            <a:r>
              <a:rPr sz="1200"/>
              <a:t>Reference. 'systemctl show -p MainPID': the manager's PID for the service. 'ps -p PID': inspect that one process. '/proc/PID/cmdline': supporting argument evidence. 'ss -ltnp': numeric TCP listeners with owning process. 'curl --fail URL': behavior as a client, and --fail so an HTTP error becomes a non-zero exit, not a pretty error page you might mistake for success. And 'htop' is the live overview — CPU and memory meters, the process tree, F3 to search, F9 to signal — the picture earlier in this module.</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9 · LIVE DEMO</a:t>
            </a:r>
          </a:p>
          <a:p xmlns:a="http://schemas.openxmlformats.org/drawingml/2006/main">
            <a:r>
              <a:rPr sz="1200" b="1"/>
              <a:t>★ MainPID → ps → ss :9191 → curl; then stop THROUGH systemd and re-check all four layers. Manager records stay truthful.</a:t>
            </a:r>
          </a:p>
          <a:p xmlns:a="http://schemas.openxmlformats.org/drawingml/2006/main">
            <a:r>
              <a:rPr sz="1200" b="1"/>
              <a:t>? ASK: after the stop, what does each layer report?</a:t>
            </a:r>
          </a:p>
          <a:p xmlns:a="http://schemas.openxmlformats.org/drawingml/2006/main">
            <a:r>
              <a:rPr sz="1200"/>
              <a:t>──────────────────────────────────────────────</a:t>
            </a:r>
          </a:p>
          <a:p xmlns:a="http://schemas.openxmlformats.org/drawingml/2006/main">
            <a:r>
              <a:rPr sz="1200"/>
              <a:t>One service traced through all four layers, each command handing evidence to the next. MainPID connects the manager's claim to a real process; ps shows that process's identity and command line; ss shows the listener on 9191 owned by that PID; curl gives the only verdict that speaks for a client. Then the finale the room has predicted: stop through systemd — not kill — and re-check every layer. Unit inactive, process gone, socket released, client refused; and the manager's records stayed truthful because the stop went through it.</a:t>
            </a:r>
          </a:p>
          <a:p xmlns:a="http://schemas.openxmlformats.org/drawingml/2006/main">
            <a:r>
              <a:rPr sz="1200"/>
              <a:t>──────────────────────────────────────────────</a:t>
            </a:r>
          </a:p>
          <a:p xmlns:a="http://schemas.openxmlformats.org/drawingml/2006/main">
            <a:r>
              <a:rPr sz="1200" b="1"/>
              <a:t>→ NEXT: Lab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5 · SPECIAL BITS</a:t>
            </a:r>
          </a:p>
          <a:p>
            <a:r>
              <a:rPr sz="1200" b="1"/>
              <a:t>★ setuid 4000 = run as file's owner (passwd). setgid 2000 = dir's group inherited (team folders). sticky 1000 = only owner deletes (/tmp). Lowercase s/t = x set; uppercase = not.</a:t>
            </a:r>
          </a:p>
          <a:p>
            <a:r>
              <a:rPr sz="1200"/>
              <a:t>──────────────────────────────────────────────</a:t>
            </a:r>
          </a:p>
          <a:p>
            <a:r>
              <a:rPr sz="1200"/>
              <a:t>Beyond read, write and execute there are three special bits, and they show up right in the ls -l string. setuid, octal 4000, puts an s where the owner's execute would be: the program runs as the file's owner, not as you. The classic case is /usr/bin/passwd — owned by root with setuid, which is how an ordinary user can update the root-owned password file. setgid, octal 2000, is the s in the group slot; on a directory it's the one from our lab — new files inherit the directory's group, ideal for a shared team folder. Sticky, octal 1000, is the t in the others slot: in a world-writable directory like /tmp, only the owner of a file may delete it, so people can't remove each other's work. One subtlety worth naming: a lowercase s or t means execute is set too; an uppercase S or T means the special bit is set but execute is not, usually a mistake.</a:t>
            </a:r>
          </a:p>
          <a:p>
            <a:r>
              <a:rPr sz="1200"/>
              <a:t>──────────────────────────────────────────────</a:t>
            </a:r>
          </a:p>
          <a:p>
            <a:r>
              <a:rPr sz="1200" b="1"/>
              <a:t>→ NEXT: directory permissions, then the diagnosis order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15 MIN  ·  HANDS-ON · LAB 9</a:t>
            </a:r>
          </a:p>
          <a:p xmlns:a="http://schemas.openxmlformats.org/drawingml/2006/main">
            <a:r>
              <a:rPr sz="1200" b="1"/>
              <a:t>★ 15 min: trace course-probe end to end (unit→PID→user→cmdline→port→HTTP), stop it, prove the listener is gone.</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Fifteen minutes. Mission: trace course-probe.service through unit, PID, user, command line, port 9099, and HTTP, then stop it and prove the listener is gone. Readiness: can you explain why a PID is temporary; can you separate process, listener, and application evidence; and will you stop the service through its manager and re-verify every layer? Stuck? The usual five.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9 · DEBRIEF</a:t>
            </a:r>
          </a:p>
          <a:p xmlns:a="http://schemas.openxmlformats.org/drawingml/2006/main">
            <a:r>
              <a:rPr sz="1200" b="1"/>
              <a:t>★ No single interface proves the whole service — each layer only speaks for itself.</a:t>
            </a:r>
          </a:p>
          <a:p xmlns:a="http://schemas.openxmlformats.org/drawingml/2006/main">
            <a:r>
              <a:rPr sz="1200" b="1"/>
              <a:t>? ASK: which layer looked fine while another was broken?</a:t>
            </a:r>
          </a:p>
          <a:p xmlns:a="http://schemas.openxmlformats.org/drawingml/2006/main">
            <a:r>
              <a:rPr sz="1200"/>
              <a:t>──────────────────────────────────────────────</a:t>
            </a:r>
          </a:p>
          <a:p xmlns:a="http://schemas.openxmlformats.org/drawingml/2006/main">
            <a:r>
              <a:rPr sz="1200"/>
              <a:t>No re-running. Tell me a layer that looked fine while another was broken, active but not answering, maybe. Why does no single interface prove the whole service? Because each layer only speaks for itself; only a real client speaks for the user. Last module: making a durable configuration change without editing the file systemd shipped.</a:t>
            </a:r>
          </a:p>
          <a:p xmlns:a="http://schemas.openxmlformats.org/drawingml/2006/main">
            <a:r>
              <a:rPr sz="1200"/>
              <a:t>──────────────────────────────────────────────</a:t>
            </a:r>
          </a:p>
          <a:p xmlns:a="http://schemas.openxmlformats.org/drawingml/2006/main">
            <a:r>
              <a:rPr sz="1200" b="1"/>
              <a:t>→ NEXT: Module 10: durable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10</a:t>
            </a:r>
          </a:p>
          <a:p xmlns:a="http://schemas.openxmlformats.org/drawingml/2006/main">
            <a:r>
              <a:rPr sz="1200" b="1"/>
              <a:t>★ Change a unit's behavior without forking the vendor file — so updates still work and undo is trivial.</a:t>
            </a:r>
          </a:p>
          <a:p xmlns:a="http://schemas.openxmlformats.org/drawingml/2006/main">
            <a:r>
              <a:rPr sz="1200" b="1"/>
              <a:t>? ASK: you edit the shipped unit file directly — what happens on the next package update?</a:t>
            </a:r>
          </a:p>
          <a:p xmlns:a="http://schemas.openxmlformats.org/drawingml/2006/main">
            <a:r>
              <a:rPr sz="1200"/>
              <a:t>──────────────────────────────────────────────</a:t>
            </a:r>
          </a:p>
          <a:p xmlns:a="http://schemas.openxmlformats.org/drawingml/2006/main">
            <a:r>
              <a:rPr sz="1200"/>
              <a:t>Module ten, the final module. The question: how does an administrator change a unit's behavior without forking the vendor's file, so that package updates still work and your change is easy to undo? Predict: if you edit the shipped unit file directly, what happens on the next package update? Scope: systemd unit layering on Ubuntu 24.04.</a:t>
            </a:r>
          </a:p>
          <a:p xmlns:a="http://schemas.openxmlformats.org/drawingml/2006/main">
            <a:r>
              <a:rPr sz="1200"/>
              <a:t>──────────────────────────────────────────────</a:t>
            </a:r>
          </a:p>
          <a:p xmlns:a="http://schemas.openxmlformats.org/drawingml/2006/main">
            <a:r>
              <a:rPr sz="1200" b="1"/>
              <a:t>→ NEXT: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10 · MODEL</a:t>
            </a:r>
          </a:p>
          <a:p xmlns:a="http://schemas.openxmlformats.org/drawingml/2006/main">
            <a:r>
              <a:rPr sz="1200" b="1"/>
              <a:t>★ Effective config = vendor fragment + admin units + drop-ins, by precedence. A drop-in is a narrow, attributable override; the vendor file stays intact.</a:t>
            </a:r>
          </a:p>
          <a:p xmlns:a="http://schemas.openxmlformats.org/drawingml/2006/main">
            <a:r>
              <a:rPr sz="1200" b="1"/>
              <a:t>? ASK: what is the failure mode of editing the vendor file directly?</a:t>
            </a:r>
          </a:p>
          <a:p xmlns:a="http://schemas.openxmlformats.org/drawingml/2006/main">
            <a:r>
              <a:rPr sz="1200"/>
              <a:t>──────────────────────────────────────────────</a:t>
            </a:r>
          </a:p>
          <a:p xmlns:a="http://schemas.openxmlformats.org/drawingml/2006/main">
            <a:r>
              <a:rPr sz="1200"/>
              <a:t>A unit's effective configuration is not one file — it is assembled from layers: the vendor's shipped fragment, any administrator unit, and drop-in files, combined by load-path precedence. This is why the recommended change mechanism is a drop-in: it records a narrow, attributable override while the vendor file stays intact for package updates and for comparison. One technical footnote: some list-valued directives, such as ExecStart for some unit types, must be reset with an empty assignment before new entries are added. Question: what is the failure mode of editing the vendor file directly?</a:t>
            </a:r>
          </a:p>
          <a:p xmlns:a="http://schemas.openxmlformats.org/drawingml/2006/main">
            <a:r>
              <a:rPr sz="1200"/>
              <a:t>──────────────────────────────────────────────</a:t>
            </a:r>
          </a:p>
          <a:p xmlns:a="http://schemas.openxmlformats.org/drawingml/2006/main">
            <a:r>
              <a:rPr sz="1200" b="1"/>
              <a:t>→ NEXT: build-up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3 MIN  ·  MODULE 3 · PICTURE THE STREAMS</a:t>
            </a:r>
          </a:p>
          <a:p>
            <a:r>
              <a:rPr sz="1200" b="1"/>
              <a:t>★ Top: the three streams. Bottom: stdout chains stage to stage, stderr still hits your terminal, and exit status is a third separate signal (last command's, in bash).</a:t>
            </a:r>
          </a:p>
          <a:p>
            <a:r>
              <a:rPr sz="1200"/>
              <a:t>──────────────────────────────────────────────</a:t>
            </a:r>
          </a:p>
          <a:p>
            <a:r>
              <a:rPr sz="1200"/>
              <a:t>Module three in one picture. Every process is born with three streams: standard input on descriptor 0, standard output on 1, and standard error on 2. The top half shows them — input comes in, the answer goes out on stdout, and, the part that catches people, diagnostics go out on a completely separate channel, stderr. The bottom half is a pipeline: the shell wires each command's stdout into the next command's stdin — awk to sort to uniq -c — and a final redirect saves the last stdout into status-counts.txt. But look at the red arrows: every stage's stderr still goes to your terminal, not into the file, so a file that looks clean can hide errors you never captured. And there's a third, separate signal we lean on all course: the exit status, where 0 means success, and in bash a pipeline reports its last command's status.</a:t>
            </a:r>
          </a:p>
          <a:p>
            <a:r>
              <a:rPr sz="1200"/>
              <a:t>──────────────────────────────────────────────</a:t>
            </a:r>
          </a:p>
          <a:p>
            <a:r>
              <a:rPr sz="1200" b="1"/>
              <a:t>→ NEXT: build-up: several processes, not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10 · BUILD THE MODEL</a:t>
            </a:r>
          </a:p>
          <a:p xmlns:a="http://schemas.openxmlformats.org/drawingml/2006/main">
            <a:r>
              <a:rPr sz="1200" b="1"/>
              <a:t>★ Plan the rollback (remove the drop-in) before applying. A change you can't cleanly undo isn't finished.</a:t>
            </a:r>
          </a:p>
          <a:p xmlns:a="http://schemas.openxmlformats.org/drawingml/2006/main">
            <a:r>
              <a:rPr sz="1200"/>
              <a:t>──────────────────────────────────────────────</a:t>
            </a:r>
          </a:p>
          <a:p xmlns:a="http://schemas.openxmlformats.org/drawingml/2006/main">
            <a:r>
              <a:rPr sz="1200"/>
              <a:t>A drop-in changes exactly one layer of the effective configuration, and the discipline is to plan the undo up front. The supplied fragment stays intact. Your administrator drop-in loads with higher precedence. 'daemon-reload' updates the manager's picture. 'restart' makes a new process, and then behavior verifies the result. And crucially: plan removal of the drop-in as your rollback path before you apply it, a change you can't cleanly undo isn't finished.</a:t>
            </a:r>
          </a:p>
          <a:p xmlns:a="http://schemas.openxmlformats.org/drawingml/2006/main">
            <a:r>
              <a:rPr sz="1200"/>
              <a:t>──────────────────────────────────────────────</a:t>
            </a:r>
          </a:p>
          <a:p xmlns:a="http://schemas.openxmlformats.org/drawingml/2006/main">
            <a:r>
              <a:rPr sz="1200" b="1"/>
              <a:t>→ NEXT: reload vs restart, then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MODULE 10 · WORKED EXAMPLE</a:t>
            </a:r>
          </a:p>
          <a:p xmlns:a="http://schemas.openxmlformats.org/drawingml/2006/main">
            <a:r>
              <a:rPr sz="1200" b="1"/>
              <a:t>★ Provenance (FragmentPath/DropInPaths) → daemon-reload → restart → the regenerated /run file is the proof, not the edit itself.</a:t>
            </a:r>
          </a:p>
          <a:p xmlns:a="http://schemas.openxmlformats.org/drawingml/2006/main">
            <a:r>
              <a:rPr sz="1200"/>
              <a:t>──────────────────────────────────────────────</a:t>
            </a:r>
          </a:p>
          <a:p xmlns:a="http://schemas.openxmlformats.org/drawingml/2006/main">
            <a:r>
              <a:rPr sz="1200"/>
              <a:t>Close the loop from layer to behavior. 'systemctl show' with FragmentPath, DropInPaths, Environment shows configuration provenance, where each setting comes from. 'daemon-reload' updates the manager's definition. 'restart' creates the new process. Then 'cat /run/course-banner.txt', the regenerated file, proves the restarted process actually observed the new value. Provenance, then reload, then restart, then behavior. The generated artifact is the proof, not the fact that you edited a file.</a:t>
            </a:r>
          </a:p>
          <a:p xmlns:a="http://schemas.openxmlformats.org/drawingml/2006/main">
            <a:r>
              <a:rPr sz="1200"/>
              <a:t>──────────────────────────────────────────────</a:t>
            </a:r>
          </a:p>
          <a:p xmlns:a="http://schemas.openxmlformats.org/drawingml/2006/main">
            <a:r>
              <a:rPr sz="1200" b="1"/>
              <a:t>→ NEXT: guided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MODULE 10 · GUIDED COMMANDS</a:t>
            </a:r>
          </a:p>
          <a:p xmlns:a="http://schemas.openxmlformats.org/drawingml/2006/main">
            <a:r>
              <a:rPr sz="1200" b="1"/>
              <a:t>★ systemctl edit over hand-hacking files; systemctl revert drops all overrides back to shipped.</a:t>
            </a:r>
          </a:p>
          <a:p xmlns:a="http://schemas.openxmlformats.org/drawingml/2006/main">
            <a:r>
              <a:rPr sz="1200"/>
              <a:t>──────────────────────────────────────────────</a:t>
            </a:r>
          </a:p>
          <a:p xmlns:a="http://schemas.openxmlformats.org/drawingml/2006/main">
            <a:r>
              <a:rPr sz="1200"/>
              <a:t>Reference. 'systemctl cat UNIT': the fragment and its drop-ins together. 'systemctl edit UNIT': create an administrator drop-in the safe way. 'FragmentPath / DropInPaths': inspect provenance. 'daemon-reload': reread definitions. And restart plus a behavior check: apply, then independently verify. Using 'edit' over hand-hacking files is the habit to leave with.</a:t>
            </a:r>
          </a:p>
          <a:p xmlns:a="http://schemas.openxmlformats.org/drawingml/2006/main">
            <a:r>
              <a:rPr sz="1200"/>
              <a:t>──────────────────────────────────────────────</a:t>
            </a:r>
          </a:p>
          <a:p xmlns:a="http://schemas.openxmlformats.org/drawingml/2006/main">
            <a:r>
              <a:rPr sz="1200" b="1"/>
              <a:t>→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MODULE 10 · LIVE DEMO</a:t>
            </a:r>
          </a:p>
          <a:p xmlns:a="http://schemas.openxmlformats.org/drawingml/2006/main">
            <a:r>
              <a:rPr sz="1200" b="1"/>
              <a:t>★ Freeze-frame: drop-in via systemctl edit → after daemon-reload the manager knows but the process doesn't → restart closes the gap (regenerated file).</a:t>
            </a:r>
          </a:p>
          <a:p xmlns:a="http://schemas.openxmlformats.org/drawingml/2006/main">
            <a:r>
              <a:rPr sz="1200" b="1"/>
              <a:t>? ASK: what changes after reload but before restart?</a:t>
            </a:r>
          </a:p>
          <a:p xmlns:a="http://schemas.openxmlformats.org/drawingml/2006/main">
            <a:r>
              <a:rPr sz="1200"/>
              <a:t>──────────────────────────────────────────────</a:t>
            </a:r>
          </a:p>
          <a:p xmlns:a="http://schemas.openxmlformats.org/drawingml/2006/main">
            <a:r>
              <a:rPr sz="1200"/>
              <a:t>The freeze-frame demo. Record the current Environment value and the current output file. systemctl edit writes a drop-in — the vendor file untouched. After daemon-reload the room's prediction is tested: systemctl show already reports the new value, yet the running process still writes the old one — the manager knows, the process does not. Only the restart closes the gap, proven by the regenerated file. Five states — enabled, active, reloaded, restarted, observed — verified separately, exactly as the model claimed.</a:t>
            </a:r>
          </a:p>
          <a:p xmlns:a="http://schemas.openxmlformats.org/drawingml/2006/main">
            <a:r>
              <a:rPr sz="1200"/>
              <a:t>──────────────────────────────────────────────</a:t>
            </a:r>
          </a:p>
          <a:p xmlns:a="http://schemas.openxmlformats.org/drawingml/2006/main">
            <a:r>
              <a:rPr sz="1200" b="1"/>
              <a:t>→ NEXT: Lab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 2 MIN  ·  MODULE 4 · MODEL</a:t>
            </a:r>
          </a:p>
          <a:p>
            <a:r>
              <a:rPr sz="1200" b="1"/>
              <a:t>★ Candidate → registered → on PATH → owned → behaves. Each claim has its own command; running the tool proves only the fifth.</a:t>
            </a:r>
          </a:p>
          <a:p>
            <a:r>
              <a:rPr sz="1200" b="1"/>
              <a:t>? ASK: which of the five does 'the command runs' prove?</a:t>
            </a:r>
          </a:p>
          <a:p>
            <a:r>
              <a:rPr sz="1200"/>
              <a:t>──────────────────────────────────────────────</a:t>
            </a:r>
          </a:p>
          <a:p>
            <a:r>
              <a:rPr sz="1200"/>
              <a:t>The worked example verifies one tool through five independent claims, so name them first. One: a candidate version exists in a configured repository. Two: the package is registered as installed. Three: an executable with that name is discoverable on PATH. Four: that specific file is owned by that package. Five: the program behaves correctly. Each claim has its own command, and none follows from the others — in particular, a working command establishes only the fifth. Question: which of the five does 'the command runs' actually prove?</a:t>
            </a:r>
          </a:p>
          <a:p>
            <a:r>
              <a:rPr sz="1200"/>
              <a:t>──────────────────────────────────────────────</a:t>
            </a:r>
          </a:p>
          <a:p>
            <a:r>
              <a:rPr sz="1200" b="1"/>
              <a:t>→ NEXT: the worked example on 'tree'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15 MIN  ·  HANDS-ON · LAB 10</a:t>
            </a:r>
          </a:p>
          <a:p xmlns:a="http://schemas.openxmlformats.org/drawingml/2006/main">
            <a:r>
              <a:rPr sz="1200" b="1"/>
              <a:t>★ 15 min: COURSE_MODE=production via drop-in — and design verification and rollback before changing anything. That last part is the whole course.</a:t>
            </a:r>
          </a:p>
          <a:p xmlns:a="http://schemas.openxmlformats.org/drawingml/2006/main">
            <a:r>
              <a:rPr sz="1200" b="1"/>
              <a:t>? ASK: what is your first inspection step?</a:t>
            </a:r>
          </a:p>
          <a:p xmlns:a="http://schemas.openxmlformats.org/drawingml/2006/main">
            <a:r>
              <a:rPr sz="1200"/>
              <a:t>──────────────────────────────────────────────</a:t>
            </a:r>
          </a:p>
          <a:p xmlns:a="http://schemas.openxmlformats.org/drawingml/2006/main">
            <a:r>
              <a:rPr sz="1200"/>
              <a:t>Fifteen minutes, the capstone. Mission: set COURSE_MODE=production with a drop-in, reload definitions, restart the service, and prove both effective configuration and regenerated behavior. Readiness: can you explain fragment and drop-in precedence; can you distinguish reloading definitions from restarting a process; and did you design your verification and your rollback before changing anything? That last one is the whole course. Stuck? The usual five. Guide: labs/LAB_GUIDE.md.</a:t>
            </a:r>
          </a:p>
          <a:p xmlns:a="http://schemas.openxmlformats.org/drawingml/2006/main">
            <a:r>
              <a:rPr sz="1200"/>
              <a:t>──────────────────────────────────────────────</a:t>
            </a:r>
          </a:p>
          <a:p xmlns:a="http://schemas.openxmlformats.org/drawingml/2006/main">
            <a:r>
              <a:rPr sz="1200" b="1"/>
              <a:t>→ NEXT: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MODULE 10 · DEBRIEF</a:t>
            </a:r>
          </a:p>
          <a:p xmlns:a="http://schemas.openxmlformats.org/drawingml/2006/main">
            <a:r>
              <a:rPr sz="1200" b="1"/>
              <a:t>★ A durable change is complete when provenance, runtime state, and behavior agree — and rollback is understood.</a:t>
            </a:r>
          </a:p>
          <a:p xmlns:a="http://schemas.openxmlformats.org/drawingml/2006/main">
            <a:r>
              <a:rPr sz="1200" b="1"/>
              <a:t>? ASK: why does a drop-in beat editing the vendor file?</a:t>
            </a:r>
          </a:p>
          <a:p xmlns:a="http://schemas.openxmlformats.org/drawingml/2006/main">
            <a:r>
              <a:rPr sz="1200"/>
              <a:t>──────────────────────────────────────────────</a:t>
            </a:r>
          </a:p>
          <a:p xmlns:a="http://schemas.openxmlformats.org/drawingml/2006/main">
            <a:r>
              <a:rPr sz="1200"/>
              <a:t>No re-running. Tell me why a drop-in beats editing the vendor file, and what your rollback path was. When is a durable change actually complete? When provenance, runtime state, and behavior all agree, and you know how to undo it. That's every module in one sentence. Let's zoom out and name the pattern you've been practising all day.</a:t>
            </a:r>
          </a:p>
          <a:p xmlns:a="http://schemas.openxmlformats.org/drawingml/2006/main">
            <a:r>
              <a:rPr sz="1200"/>
              <a:t>──────────────────────────────────────────────</a:t>
            </a:r>
          </a:p>
          <a:p xmlns:a="http://schemas.openxmlformats.org/drawingml/2006/main">
            <a:r>
              <a:rPr sz="1200" b="1"/>
              <a:t>→ NEXT: synthesis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4 MIN  ·  SYNTHESIS</a:t>
            </a:r>
          </a:p>
          <a:p xmlns:a="http://schemas.openxmlformats.org/drawingml/2006/main">
            <a:r>
              <a:rPr sz="1200" b="1"/>
              <a:t>★ The loop, one slide: locate → predict → act narrowly → observe → verify independently. Then the 60-second pair exercise — listen for the five evidence steps.</a:t>
            </a:r>
          </a:p>
          <a:p xmlns:a="http://schemas.openxmlformats.org/drawingml/2006/main">
            <a:r>
              <a:rPr sz="1200"/>
              <a:t>──────────────────────────────────────────────</a:t>
            </a:r>
          </a:p>
          <a:p xmlns:a="http://schemas.openxmlformats.org/drawingml/2006/main">
            <a:r>
              <a:rPr sz="1200"/>
              <a:t>Here's the whole course on one slide, and it's a loop you can carry to any system. Locate your context. Predict the state. Act narrowly, one bounded change. Observe the output and the events. Then verify behavior independently. Three warnings we hit over and over: a declaration is not runtime state, runtime state is not useful behavior, and one successful command is not the whole claim. Quick exercise: turn to a partner, I'll give you a fresh broken-service scenario, and in sixty seconds name the five evidence steps out loud. I'm listening for identity, host, target, prediction, bounded change, event evidence, and client behavior.</a:t>
            </a:r>
          </a:p>
          <a:p xmlns:a="http://schemas.openxmlformats.org/drawingml/2006/main">
            <a:r>
              <a:rPr sz="1200"/>
              <a:t>──────────────────────────────────────────────</a:t>
            </a:r>
          </a:p>
          <a:p xmlns:a="http://schemas.openxmlformats.org/drawingml/2006/main">
            <a:r>
              <a:rPr sz="1200" b="1"/>
              <a:t>→ NEXT: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3 MIN  ·  ASSESSMENT</a:t>
            </a:r>
          </a:p>
          <a:p xmlns:a="http://schemas.openxmlformats.org/drawingml/2006/main">
            <a:r>
              <a:rPr sz="1200" b="1"/>
              <a:t>★ Grade the evidence chain and safe recovery, not command volume. Four parts: identity/host/dir, target state, repeatable command+output, change+independent check.</a:t>
            </a:r>
          </a:p>
          <a:p xmlns:a="http://schemas.openxmlformats.org/drawingml/2006/main">
            <a:r>
              <a:rPr sz="1200"/>
              <a:t>──────────────────────────────────────────────</a:t>
            </a:r>
          </a:p>
          <a:p xmlns:a="http://schemas.openxmlformats.org/drawingml/2006/main">
            <a:r>
              <a:rPr sz="1200"/>
              <a:t>Your assessment isn't 'how many commands do you know.' It's whether you can explain the chain when you're blocked, well enough that someone else could reason alongside you. Four things make a help request useful: which user, host, and directory you're on; the exact target state you inspected; the command and its unchanged output, repeatable by someone else; and what you changed plus the independent check that followed. Do this as a peer check, pair up and grade each other on the coherence of the evidence chain and a safe recovery choice, not on command volume.</a:t>
            </a:r>
          </a:p>
          <a:p xmlns:a="http://schemas.openxmlformats.org/drawingml/2006/main">
            <a:r>
              <a:rPr sz="1200"/>
              <a:t>──────────────────────────────────────────────</a:t>
            </a:r>
          </a:p>
          <a:p xmlns:a="http://schemas.openxmlformats.org/drawingml/2006/main">
            <a:r>
              <a:rPr sz="1200" b="1"/>
              <a:t>→ NEXT: delivery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1 MIN  ·  DELIVERY</a:t>
            </a:r>
          </a:p>
          <a:p xmlns:a="http://schemas.openxmlformats.org/drawingml/2006/main">
            <a:r>
              <a:rPr sz="1200" b="1"/>
              <a:t>★ If the schedule shrinks: compress examples and discussion, never labs, verification, or debriefs.</a:t>
            </a:r>
          </a:p>
          <a:p xmlns:a="http://schemas.openxmlformats.org/drawingml/2006/main">
            <a:r>
              <a:rPr sz="1200"/>
              <a:t>──────────────────────────────────────────────</a:t>
            </a:r>
          </a:p>
          <a:p xmlns:a="http://schemas.openxmlformats.org/drawingml/2006/main">
            <a:r>
              <a:rPr sz="1200"/>
              <a:t>A note for anyone re-delivering this, including future me. Protect the 50/50 balance. If the room's schedule shrinks, shorten the examples and the discussion evenly, do not remove labs, verification steps, or debriefs. Never buy back lecture time by cutting learner verification, and never teach a required concept for the very first time inside the lab. The hands-on half is where the learning actually happens; guard it.</a:t>
            </a:r>
          </a:p>
          <a:p xmlns:a="http://schemas.openxmlformats.org/drawingml/2006/main">
            <a:r>
              <a:rPr sz="1200"/>
              <a:t>──────────────────────────────────────────────</a:t>
            </a:r>
          </a:p>
          <a:p xmlns:a="http://schemas.openxmlformats.org/drawingml/2006/main">
            <a:r>
              <a:rPr sz="1200" b="1"/>
              <a:t>→ NEXT: next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2 MIN  ·  NEXT STEPS</a:t>
            </a:r>
          </a:p>
          <a:p xmlns:a="http://schemas.openxmlformats.org/drawingml/2006/main">
            <a:r>
              <a:rPr sz="1200" b="1"/>
              <a:t>★ Transfer beats thank-you: each person picks one practice task and states when. A plan with a time beats a good intention.</a:t>
            </a:r>
          </a:p>
          <a:p xmlns:a="http://schemas.openxmlformats.org/drawingml/2006/main">
            <a:r>
              <a:rPr sz="1200"/>
              <a:t>──────────────────────────────────────────────</a:t>
            </a:r>
          </a:p>
          <a:p xmlns:a="http://schemas.openxmlformats.org/drawingml/2006/main">
            <a:r>
              <a:rPr sz="1200"/>
              <a:t>Don't close the laptop and forget this. One concrete practice: reset a single lab and solve it again without copying your earlier command sequence, and explain the evidence out loud as you go. A few targeted reps: rebuild the SSH profile from the trust model, explain 640 and 2770 without looking them up, and trace a service from its unit all the way to client behavior. Pick one now and say when you'll do it, a plan with a time beats a good intention.</a:t>
            </a:r>
          </a:p>
          <a:p xmlns:a="http://schemas.openxmlformats.org/drawingml/2006/main">
            <a:r>
              <a:rPr sz="1200"/>
              <a:t>──────────────────────────────────────────────</a:t>
            </a:r>
          </a:p>
          <a:p xmlns:a="http://schemas.openxmlformats.org/drawingml/2006/main">
            <a:r>
              <a:rPr sz="1200" b="1"/>
              <a:t>→ NEXT: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&lt;1 MIN  ·  SOURCES</a:t>
            </a:r>
          </a:p>
          <a:p xmlns:a="http://schemas.openxmlformats.org/drawingml/2006/main">
            <a:r>
              <a:rPr sz="1200" b="1"/>
              <a:t>★ Manuals are authoritative; community courses are inspiration. CLAIM_LEDGER.md maps every claim to a primary source.</a:t>
            </a:r>
          </a:p>
          <a:p xmlns:a="http://schemas.openxmlformats.org/drawingml/2006/main">
            <a:r>
              <a:rPr sz="1200"/>
              <a:t>──────────────────────────────────────────────</a:t>
            </a:r>
          </a:p>
          <a:p xmlns:a="http://schemas.openxmlformats.org/drawingml/2006/main">
            <a:r>
              <a:rPr sz="1200"/>
              <a:t>Where the claims come from, because in this course manuals are authoritative and community tutorials are just inspiration. The GNU Bash reference, Ubuntu Server docs, the systemd manuals, OpenSSH manuals, the Linux man-pages and the Filesystem Hierarchy Standard, and the Incus instance docs. The claim ledger in resources/CLAIM_LEDGER.md maps every module and lab back to one of these, so if you ever doubt something I said, you can check the primary source, not a forum post.</a:t>
            </a:r>
          </a:p>
          <a:p xmlns:a="http://schemas.openxmlformats.org/drawingml/2006/main">
            <a:r>
              <a:rPr sz="1200"/>
              <a:t>──────────────────────────────────────────────</a:t>
            </a:r>
          </a:p>
          <a:p xmlns:a="http://schemas.openxmlformats.org/drawingml/2006/main">
            <a:r>
              <a:rPr sz="1200" b="1"/>
              <a:t>→ NEXT: closing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1"/>
              <a:t>⏱ &lt;1 MIN  ·  LINUX FOUNDATIONS</a:t>
            </a:r>
          </a:p>
          <a:p xmlns:a="http://schemas.openxmlformats.org/drawingml/2006/main">
            <a:r>
              <a:rPr sz="1200" b="1"/>
              <a:t>★ Resolve the promise: know the question to ask, what changed, and what would prove it. Invite final questions framed as evidence chains.</a:t>
            </a:r>
          </a:p>
          <a:p xmlns:a="http://schemas.openxmlformats.org/drawingml/2006/main">
            <a:r>
              <a:rPr sz="1200"/>
              <a:t>──────────────────────────────────────────────</a:t>
            </a:r>
          </a:p>
          <a:p xmlns:a="http://schemas.openxmlformats.org/drawingml/2006/main">
            <a:r>
              <a:rPr sz="1200"/>
              <a:t>Where we started: operate the system, trust the evidence. You do not need to remember every command, they'll change, and you can look them up. What you need is to know which question to ask, what you changed, and what would prove it. That transfers to every machine you'll ever touch. Final questions, but frame them as evidence chains, and let's close the loop.</a:t>
            </a:r>
          </a:p>
          <a:p xmlns:a="http://schemas.openxmlformats.org/drawingml/2006/main">
            <a:r>
              <a:rPr sz="1200"/>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19c929c7ae84dc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559143d5842470c" Type="http://schemas.openxmlformats.org/officeDocument/2006/relationships/theme" Target="theme/theme2.xml"/><Relationship Id="R56355b858dd24d7f"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355b858dd24d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4018059cda24c82" Type="http://schemas.openxmlformats.org/officeDocument/2006/relationships/notesSlide" Target="../notesSlides/notesSlide1.xml"/><Relationship Id="R44b749c5ce88461f" Type="http://schemas.openxmlformats.org/officeDocument/2006/relationships/image" Target="../media/image.png"/><Relationship Id="Rea041e52d6ca49a1" Type="http://schemas.openxmlformats.org/officeDocument/2006/relationships/slideLayout" Target="../slideLayouts/slideLayout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71241d1593624aba" Type="http://schemas.openxmlformats.org/officeDocument/2006/relationships/notesSlide" Target="../notesSlides/notesSlide2.xml"/><Relationship Id="Rccf3aeaaf73c4b0b" Type="http://schemas.openxmlformats.org/officeDocument/2006/relationships/slideLayout" Target="../slideLayouts/slideLayout1.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5cb619c706274b62" Type="http://schemas.openxmlformats.org/officeDocument/2006/relationships/slideLayout" Target="../slideLayouts/slideLayout1.xml"/><Relationship Id="Rfa9b2aa489884a55"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46fca9ca6cbf45ab" Type="http://schemas.openxmlformats.org/officeDocument/2006/relationships/notesSlide" Target="../notesSlides/notesSlide6.xml"/><Relationship Id="Reabad69050ae4396"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6.xml.rels><?xml version='1.0' encoding='UTF-8' standalone='yes'?>
<Relationships xmlns="http://schemas.openxmlformats.org/package/2006/relationships"><Relationship Id="R371314e11b4f4fcc" Type="http://schemas.openxmlformats.org/officeDocument/2006/relationships/slideLayout" Target="../slideLayouts/slideLayout1.xml"/><Relationship Id="R62d48ef7c2bc4779"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10e8769f1f4a4c18" Type="http://schemas.openxmlformats.org/officeDocument/2006/relationships/slideLayout" Target="../slideLayouts/slideLayout1.xml"/><Relationship Id="Rf40ffcf210fe446b"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0b0b6a87cd5e4672" Type="http://schemas.openxmlformats.org/officeDocument/2006/relationships/slideLayout" Target="../slideLayouts/slideLayout1.xml"/><Relationship Id="R7e9bdfd64318442d"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10.xml.rels><?xml version='1.0' encoding='UTF-8' standalone='yes'?>
<Relationships xmlns="http://schemas.openxmlformats.org/package/2006/relationships"><Relationship Id="R3ffd59d302c14466" Type="http://schemas.openxmlformats.org/officeDocument/2006/relationships/slideLayout" Target="../slideLayouts/slideLayout1.xml"/><Relationship Id="Rf2c2e333f18d484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acea501346a94169" Type="http://schemas.openxmlformats.org/officeDocument/2006/relationships/notesSlide" Target="../notesSlides/notesSlide12.xml"/><Relationship Id="Rfc5eceb7a7f44900"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6c3d5198970341aa" Type="http://schemas.openxmlformats.org/officeDocument/2006/relationships/notesSlide" Target="../notesSlides/notesSlide13.xml"/><Relationship Id="Re2bfa332b6f6427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948f861bc0c24217" Type="http://schemas.openxmlformats.org/officeDocument/2006/relationships/notesSlide" Target="../notesSlides/notesSlide15.xml"/><Relationship Id="Rbc189b8d2d014e7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68f325d496c5461c" Type="http://schemas.openxmlformats.org/officeDocument/2006/relationships/slideLayout" Target="../slideLayouts/slideLayout1.xml"/><Relationship Id="R7686b5aaae3e4550"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85818d895261422e" Type="http://schemas.openxmlformats.org/officeDocument/2006/relationships/notesSlide" Target="../notesSlides/notesSlide17.xml"/><Relationship Id="Rc412ccaf20d54cfa"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a8d546e024864941" Type="http://schemas.openxmlformats.org/officeDocument/2006/relationships/notesSlide" Target="../notesSlides/notesSlide18.xml"/><Relationship Id="Ree8d5584a71a4c17"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0b228c1a6f3749ef" Type="http://schemas.openxmlformats.org/officeDocument/2006/relationships/notesSlide" Target="../notesSlides/notesSlide20.xml"/><Relationship Id="R2e828c8bbd8e41b9"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d3e87a4fc33d4de4" Type="http://schemas.openxmlformats.org/officeDocument/2006/relationships/slideLayout" Target="../slideLayouts/slideLayout1.xml"/><Relationship Id="Reb138d8074954ee3"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6897992b7df04f19" Type="http://schemas.openxmlformats.org/officeDocument/2006/relationships/slideLayout" Target="../slideLayouts/slideLayout1.xml"/><Relationship Id="Rbf171b56815149d8"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1b79ec6a88724c24" Type="http://schemas.openxmlformats.org/officeDocument/2006/relationships/slideLayout" Target="../slideLayouts/slideLayout1.xml"/><Relationship Id="Rc9a4077ff46f4f23"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84047544e73a44d7" Type="http://schemas.openxmlformats.org/officeDocument/2006/relationships/slideLayout" Target="../slideLayouts/slideLayout1.xml"/><Relationship Id="R86655fb27fd74b3a"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5e839998271f4144" Type="http://schemas.openxmlformats.org/officeDocument/2006/relationships/slideLayout" Target="../slideLayouts/slideLayout1.xml"/><Relationship Id="R7d88c3aa7f9446a3"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6f24efe929894a51" Type="http://schemas.openxmlformats.org/officeDocument/2006/relationships/slideLayout" Target="../slideLayouts/slideLayout1.xml"/><Relationship Id="R99bc687600b0478f"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088e45d1e4f84a45" Type="http://schemas.openxmlformats.org/officeDocument/2006/relationships/slideLayout" Target="../slideLayouts/slideLayout1.xml"/><Relationship Id="Re24f0545eef845d7"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99.xml"/></Relationships>
</file>

<file path=ppt/slides/_rels/slide28.xml.rels><?xml version='1.0' encoding='UTF-8' standalone='yes'?>
<Relationships xmlns="http://schemas.openxmlformats.org/package/2006/relationships"><Relationship Id="R6f9bac7c345442bb" Type="http://schemas.openxmlformats.org/officeDocument/2006/relationships/notesSlide" Target="../notesSlides/notesSlide30.xml"/><Relationship Id="Raab144403a1b40ec"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0.xml.rels><?xml version='1.0' encoding='UTF-8' standalone='yes'?>
<Relationships xmlns="http://schemas.openxmlformats.org/package/2006/relationships"><Relationship Id="R9ee810ff07b04f12" Type="http://schemas.openxmlformats.org/officeDocument/2006/relationships/notesSlide" Target="../notesSlides/notesSlide31.xml"/><Relationship Id="Rdb6d2d64c7074094"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32cd6d9a09514d88" Type="http://schemas.openxmlformats.org/officeDocument/2006/relationships/notesSlide" Target="../notesSlides/notesSlide32.xml"/><Relationship Id="Rdc69bea9751f466a"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2495656c6f054c08" Type="http://schemas.openxmlformats.org/officeDocument/2006/relationships/notesSlide" Target="../notesSlides/notesSlide33.xml"/><Relationship Id="Rd72c8f2211344c52"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7316ea436cd3439b" Type="http://schemas.openxmlformats.org/officeDocument/2006/relationships/slideLayout" Target="../slideLayouts/slideLayout1.xml"/><Relationship Id="Rf5e4a2b5d8b546f7" Type="http://schemas.openxmlformats.org/officeDocument/2006/relationships/notesSlide" Target="../notesSlides/notesSlide35.xml"/></Relationships>
</file>

<file path=ppt/slides/_rels/slide34.xml.rels><?xml version='1.0' encoding='UTF-8' standalone='yes'?>
<Relationships xmlns="http://schemas.openxmlformats.org/package/2006/relationships"><Relationship Id="R4701dfaf4a074d1d" Type="http://schemas.openxmlformats.org/officeDocument/2006/relationships/slideLayout" Target="../slideLayouts/slideLayout1.xml"/><Relationship Id="R8702732214c747b4" Type="http://schemas.openxmlformats.org/officeDocument/2006/relationships/notesSlide" Target="../notesSlides/notesSlide36.xml"/></Relationships>
</file>

<file path=ppt/slides/_rels/slide35.xml.rels><?xml version='1.0' encoding='UTF-8' standalone='yes'?>
<Relationships xmlns="http://schemas.openxmlformats.org/package/2006/relationships"><Relationship Id="R4618ae9332764da7" Type="http://schemas.openxmlformats.org/officeDocument/2006/relationships/slideLayout" Target="../slideLayouts/slideLayout1.xml"/><Relationship Id="Rdff80d990d8c4cd9" Type="http://schemas.openxmlformats.org/officeDocument/2006/relationships/notesSlide" Target="../notesSlides/notesSlide37.xml"/></Relationships>
</file>

<file path=ppt/slides/_rels/slide36.xml.rels><?xml version='1.0' encoding='UTF-8' standalone='yes'?>
<Relationships xmlns="http://schemas.openxmlformats.org/package/2006/relationships"><Relationship Id="R73bd3cf5cf434096" Type="http://schemas.openxmlformats.org/officeDocument/2006/relationships/notesSlide" Target="../notesSlides/notesSlide38.xml"/><Relationship Id="Rbc7b3d8979fb4967"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15a7ca6fc5d54948" Type="http://schemas.openxmlformats.org/officeDocument/2006/relationships/notesSlide" Target="../notesSlides/notesSlide40.xml"/><Relationship Id="R21352a3162c14599"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39.xml.rels><?xml version='1.0' encoding='UTF-8' standalone='yes'?>
<Relationships xmlns="http://schemas.openxmlformats.org/package/2006/relationships"><Relationship Id="R3cb7af9a24f641b7" Type="http://schemas.openxmlformats.org/officeDocument/2006/relationships/notesSlide" Target="../notesSlides/notesSlide41.xml"/><Relationship Id="Rb17adf3a7d7941d9"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2412e1a3c154f99" Type="http://schemas.openxmlformats.org/officeDocument/2006/relationships/slideLayout" Target="../slideLayouts/slideLayout1.xml"/><Relationship Id="R1a2a827cced5469e" Type="http://schemas.openxmlformats.org/officeDocument/2006/relationships/notesSlide" Target="../notesSlides/notesSlide42.xml"/></Relationships>
</file>

<file path=ppt/slides/_rels/slide41.xml.rels><?xml version='1.0' encoding='UTF-8' standalone='yes'?>
<Relationships xmlns="http://schemas.openxmlformats.org/package/2006/relationships"><Relationship Id="R8130cefa96664b26" Type="http://schemas.openxmlformats.org/officeDocument/2006/relationships/slideLayout" Target="../slideLayouts/slideLayout1.xml"/><Relationship Id="Recb184839b6a4f6b" Type="http://schemas.openxmlformats.org/officeDocument/2006/relationships/notesSlide" Target="../notesSlides/notesSlide43.xml"/></Relationships>
</file>

<file path=ppt/slides/_rels/slide42.xml.rels><?xml version='1.0' encoding='UTF-8' standalone='yes'?>
<Relationships xmlns="http://schemas.openxmlformats.org/package/2006/relationships"><Relationship Id="R02bec479806b47b3" Type="http://schemas.openxmlformats.org/officeDocument/2006/relationships/notesSlide" Target="../notesSlides/notesSlide45.xml"/><Relationship Id="R0e50f795e7af4e4c"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5a77ea1f5937445e" Type="http://schemas.openxmlformats.org/officeDocument/2006/relationships/notesSlide" Target="../notesSlides/notesSlide46.xml"/><Relationship Id="Rd58247dce1ec4a6f"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8d6dfdfc5d6440e" Type="http://schemas.openxmlformats.org/officeDocument/2006/relationships/notesSlide" Target="../notesSlides/notesSlide47.xml"/><Relationship Id="Rf3d402a8569e4f75"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273fef180c6d418b" Type="http://schemas.openxmlformats.org/officeDocument/2006/relationships/slideLayout" Target="../slideLayouts/slideLayout1.xml"/><Relationship Id="R7e367fc90d774fe8" Type="http://schemas.openxmlformats.org/officeDocument/2006/relationships/notesSlide" Target="../notesSlides/notesSlide4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9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51.xml.rels><?xml version='1.0' encoding='UTF-8' standalone='yes'?>
<Relationships xmlns="http://schemas.openxmlformats.org/package/2006/relationships"><Relationship Id="Raf0cbe7637f84fbf" Type="http://schemas.openxmlformats.org/officeDocument/2006/relationships/notesSlide" Target="../notesSlides/notesSlide50.xml"/><Relationship Id="Rd424529487dd484d"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101c6b223e08490e" Type="http://schemas.openxmlformats.org/officeDocument/2006/relationships/slideLayout" Target="../slideLayouts/slideLayout1.xml"/><Relationship Id="R469670271c674b7c"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8ee5ac1789d845c2" Type="http://schemas.openxmlformats.org/officeDocument/2006/relationships/slideLayout" Target="../slideLayouts/slideLayout1.xml"/><Relationship Id="Rc6e8c209f0274d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a8ec4de2f9124688" Type="http://schemas.openxmlformats.org/officeDocument/2006/relationships/slideLayout" Target="../slideLayouts/slideLayout1.xml"/><Relationship Id="Rb5345c56f7bd4349"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a022113cd2a44ca4" Type="http://schemas.openxmlformats.org/officeDocument/2006/relationships/notesSlide" Target="../notesSlides/notesSlide55.xml"/><Relationship Id="Ref820376d766415d"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05a181cd6a4c40d2" Type="http://schemas.openxmlformats.org/officeDocument/2006/relationships/notesSlide" Target="../notesSlides/notesSlide56.xml"/><Relationship Id="Rbf1e78ecc6a44a83"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1abd0e8cc1534fc2" Type="http://schemas.openxmlformats.org/officeDocument/2006/relationships/slideLayout" Target="../slideLayouts/slideLayout1.xml"/><Relationship Id="R53e6a0c2ff87491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e2f679918b554161" Type="http://schemas.openxmlformats.org/officeDocument/2006/relationships/notesSlide" Target="../notesSlides/notesSlide58.xml"/><Relationship Id="Rf1a49e4c8f5c4b7e"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5832cb4b6d9f4799" Type="http://schemas.openxmlformats.org/officeDocument/2006/relationships/slideLayout" Target="../slideLayouts/slideLayout1.xml"/><Relationship Id="R8d69f9249e87424c"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62.xml.rels><?xml version='1.0' encoding='UTF-8' standalone='yes'?>
<Relationships xmlns="http://schemas.openxmlformats.org/package/2006/relationships"><Relationship Id="R4efdd690a78a4781" Type="http://schemas.openxmlformats.org/officeDocument/2006/relationships/notesSlide" Target="../notesSlides/notesSlide61.xml"/><Relationship Id="R8ac64c40c83a4fdc"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248a02efcb674f58" Type="http://schemas.openxmlformats.org/officeDocument/2006/relationships/notesSlide" Target="../notesSlides/notesSlide62.xml"/><Relationship Id="Rc1abff7b7ec8458b"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3dee97e448194533" Type="http://schemas.openxmlformats.org/officeDocument/2006/relationships/slideLayout" Target="../slideLayouts/slideLayout1.xml"/><Relationship Id="R50d09daccbfa4299"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75eb43eb93034ac4" Type="http://schemas.openxmlformats.org/officeDocument/2006/relationships/notesSlide" Target="../notesSlides/notesSlide65.xml"/><Relationship Id="Ree3a07be94754f49"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43b9545357f44392" Type="http://schemas.openxmlformats.org/officeDocument/2006/relationships/slideLayout" Target="../slideLayouts/slideLayout1.xml"/><Relationship Id="R888369255980446c"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b78ecc62c94f4150" Type="http://schemas.openxmlformats.org/officeDocument/2006/relationships/notesSlide" Target="../notesSlides/notesSlide67.xml"/><Relationship Id="Rfe8149abb4da451b"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4d02e85933ca40e9" Type="http://schemas.openxmlformats.org/officeDocument/2006/relationships/notesSlide" Target="../notesSlides/notesSlide68.xml"/><Relationship Id="Rbd90199c81a24515"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5e6245858eb0456c" Type="http://schemas.openxmlformats.org/officeDocument/2006/relationships/notesSlide" Target="../notesSlides/notesSlide70.xml"/><Relationship Id="R8690a5a1f7884a72"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71.xml.rels><?xml version='1.0' encoding='UTF-8' standalone='yes'?>
<Relationships xmlns="http://schemas.openxmlformats.org/package/2006/relationships"><Relationship Id="R2e8266206143483f" Type="http://schemas.openxmlformats.org/officeDocument/2006/relationships/slideLayout" Target="../slideLayouts/slideLayout1.xml"/><Relationship Id="R36471d8998c74061"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50b81e2e5e94d32" Type="http://schemas.openxmlformats.org/officeDocument/2006/relationships/notesSlide" Target="../notesSlides/notesSlide72.xml"/><Relationship Id="R28aeeabc94284159"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0613403645c44b9e" Type="http://schemas.openxmlformats.org/officeDocument/2006/relationships/notesSlide" Target="../notesSlides/notesSlide73.xml"/><Relationship Id="R2fd4e9033f864e47"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64a6826d4a9e49e4" Type="http://schemas.openxmlformats.org/officeDocument/2006/relationships/notesSlide" Target="../notesSlides/notesSlide75.xml"/><Relationship Id="Rd7deae12afab4fed"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0ba37920c4eb4fde" Type="http://schemas.openxmlformats.org/officeDocument/2006/relationships/notesSlide" Target="../notesSlides/notesSlide76.xml"/><Relationship Id="Rcec545fbf3354484"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0eab924908af48db" Type="http://schemas.openxmlformats.org/officeDocument/2006/relationships/slideLayout" Target="../slideLayouts/slideLayout1.xml"/><Relationship Id="R3d076299e0cc4466" Type="http://schemas.openxmlformats.org/officeDocument/2006/relationships/notesSlide" Target="../notesSlides/notesSlide77.xml"/></Relationships>
</file>

<file path=ppt/slides/_rels/slide77.xml.rels><?xml version='1.0' encoding='UTF-8' standalone='yes'?>
<Relationships xmlns="http://schemas.openxmlformats.org/package/2006/relationships"><Relationship Id="Rbddd51d01b5c4201" Type="http://schemas.openxmlformats.org/officeDocument/2006/relationships/slideLayout" Target="../slideLayouts/slideLayout1.xml"/><Relationship Id="Rc07c36de71d34a2e"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80.xml.rels><?xml version='1.0' encoding='UTF-8' standalone='yes'?>
<Relationships xmlns="http://schemas.openxmlformats.org/package/2006/relationships"><Relationship Id="R01fd0b1a08c94be4" Type="http://schemas.openxmlformats.org/officeDocument/2006/relationships/notesSlide" Target="../notesSlides/notesSlide80.xml"/><Relationship Id="R71d8fc013d194763"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181fd4c14b1e4371" Type="http://schemas.openxmlformats.org/officeDocument/2006/relationships/notesSlide" Target="../notesSlides/notesSlide81.xml"/><Relationship Id="R3e58755b0d5d44ab"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83.xml.rels><?xml version='1.0' encoding='UTF-8' standalone='yes'?>
<Relationships xmlns="http://schemas.openxmlformats.org/package/2006/relationships"><Relationship Id="R5d701aa2152a4374" Type="http://schemas.openxmlformats.org/officeDocument/2006/relationships/notesSlide" Target="../notesSlides/notesSlide82.xml"/><Relationship Id="R9eb490766dca4950"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6a652c6aa0ce48fb" Type="http://schemas.openxmlformats.org/officeDocument/2006/relationships/slideLayout" Target="../slideLayouts/slideLayout1.xml"/><Relationship Id="R7591c6e529f74ea7"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2566a86c11004bbd" Type="http://schemas.openxmlformats.org/officeDocument/2006/relationships/slideLayout" Target="../slideLayouts/slideLayout1.xml"/><Relationship Id="Rc2eb0179b65e420e"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031fb43752564a6f" Type="http://schemas.openxmlformats.org/officeDocument/2006/relationships/notesSlide" Target="../notesSlides/notesSlide86.xml"/><Relationship Id="Rac312e716a504045"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4b93b5d9f4b9492d" Type="http://schemas.openxmlformats.org/officeDocument/2006/relationships/notesSlide" Target="../notesSlides/notesSlide87.xml"/><Relationship Id="Ra9de6164f25c4792"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ae3757ca8dc346ad" Type="http://schemas.openxmlformats.org/officeDocument/2006/relationships/slideLayout" Target="../slideLayouts/slideLayout1.xml"/><Relationship Id="Rbd3e3f85ed524371"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7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91.xml.rels><?xml version='1.0' encoding='UTF-8' standalone='yes'?>
<Relationships xmlns="http://schemas.openxmlformats.org/package/2006/relationships"><Relationship Id="R15fda8cea7264b9f" Type="http://schemas.openxmlformats.org/officeDocument/2006/relationships/slideLayout" Target="../slideLayouts/slideLayout1.xml"/><Relationship Id="R630b2d1f5c824544"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0fc1126ed21b4415" Type="http://schemas.openxmlformats.org/officeDocument/2006/relationships/notesSlide" Target="../notesSlides/notesSlide91.xml"/><Relationship Id="Rb93e281ba49a4be5"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1de54cff561c4b9c" Type="http://schemas.openxmlformats.org/officeDocument/2006/relationships/notesSlide" Target="../notesSlides/notesSlide92.xml"/><Relationship Id="Ree8e13c1fc8d4bc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36e0cbc5a2eb4c01" Type="http://schemas.openxmlformats.org/officeDocument/2006/relationships/notesSlide" Target="../notesSlides/notesSlide93.xml"/><Relationship Id="Rce735c5e9fdc458d"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8e76474939eb411f" Type="http://schemas.openxmlformats.org/officeDocument/2006/relationships/slideLayout" Target="../slideLayouts/slideLayout1.xml"/><Relationship Id="Reb7578f3a3a8443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332cf00368e34dea" Type="http://schemas.openxmlformats.org/officeDocument/2006/relationships/notesSlide" Target="../notesSlides/notesSlide96.xml"/><Relationship Id="R6d7ffa1c43d2480a"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160c56fae619424f" Type="http://schemas.openxmlformats.org/officeDocument/2006/relationships/notesSlide" Target="../notesSlides/notesSlide97.xml"/><Relationship Id="Rc6033d7f029246b9"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96dcff3c426744a4" Type="http://schemas.openxmlformats.org/officeDocument/2006/relationships/notesSlide" Target="../notesSlides/notesSlide98.xml"/><Relationship Id="Rbfde0ff55f1e4715"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1b70b66e93794b34" Type="http://schemas.openxmlformats.org/officeDocument/2006/relationships/notesSlide" Target="../notesSlides/notesSlide100.xml"/><Relationship Id="R49799d984a0645e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1.xml.rels><?xml version='1.0' encoding='UTF-8' standalone='yes'?>
<Relationships xmlns="http://schemas.openxmlformats.org/package/2006/relationships"><Relationship Id="R782522fef42942b5" Type="http://schemas.openxmlformats.org/officeDocument/2006/relationships/slideLayout" Target="../slideLayouts/slideLayout1.xml"/><Relationship Id="Re32ed29880294189"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b9a3eaf34bd745e3" Type="http://schemas.openxmlformats.org/officeDocument/2006/relationships/notesSlide" Target="../notesSlides/notesSlide102.xml"/><Relationship Id="Rbb042a6068824052"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6569d514233642de" Type="http://schemas.openxmlformats.org/officeDocument/2006/relationships/notesSlide" Target="../notesSlides/notesSlide103.xml"/><Relationship Id="Re79e96b673e44279"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773565f38925436a" Type="http://schemas.openxmlformats.org/officeDocument/2006/relationships/notesSlide" Target="../notesSlides/notesSlide105.xml"/><Relationship Id="R861d6b742e374a26"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2031c44ee1fc4d0e" Type="http://schemas.openxmlformats.org/officeDocument/2006/relationships/notesSlide" Target="../notesSlides/notesSlide106.xml"/><Relationship Id="Rf942f85019ef413b"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522a01f33a184358" Type="http://schemas.openxmlformats.org/officeDocument/2006/relationships/notesSlide" Target="../notesSlides/notesSlide107.xml"/><Relationship Id="Rffd9afbeb4f4475d"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090d18f4f9cc4a3d" Type="http://schemas.openxmlformats.org/officeDocument/2006/relationships/notesSlide" Target="../notesSlides/notesSlide108.xml"/><Relationship Id="Ra2bda7cf72d4422f"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660b5d1908b24426" Type="http://schemas.openxmlformats.org/officeDocument/2006/relationships/slideLayout" Target="../slideLayouts/slideLayout1.xml"/><Relationship Id="Rb7cb4b9e73b54c49" Type="http://schemas.openxmlformats.org/officeDocument/2006/relationships/notesSlide" Target="../notesSlides/notesSlide109.xml"/></Relationships>
</file>

<file path=ppt/slides/_rels/slide109.xml.rels><?xml version='1.0' encoding='UTF-8' standalone='yes'?>
<Relationships xmlns="http://schemas.openxmlformats.org/package/2006/relationships"><Relationship Id="R7fb65b4fa1084959" Type="http://schemas.openxmlformats.org/officeDocument/2006/relationships/notesSlide" Target="../notesSlides/notesSlide110.xml"/><Relationship Id="Rc2a5d67308364d09"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9da3cad1e8c24621" Type="http://schemas.openxmlformats.org/officeDocument/2006/relationships/slideLayout" Target="../slideLayouts/slideLayout1.xml"/><Relationship Id="Rc605dd0ae3d44cd4" Type="http://schemas.openxmlformats.org/officeDocument/2006/relationships/notesSlide" Target="../notesSlides/notesSlide111.xml"/></Relationships>
</file>

<file path=ppt/slides/_rels/slide111.xml.rels><?xml version='1.0' encoding='UTF-8' standalone='yes'?>
<Relationships xmlns="http://schemas.openxmlformats.org/package/2006/relationships"><Relationship Id="R18e8b818cc134e36" Type="http://schemas.openxmlformats.org/officeDocument/2006/relationships/slideLayout" Target="../slideLayouts/slideLayout1.xml"/><Relationship Id="R6242ffc06acc4568" Type="http://schemas.openxmlformats.org/officeDocument/2006/relationships/notesSlide" Target="../notesSlides/notesSlide112.xml"/></Relationships>
</file>

<file path=ppt/slides/slide1.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cover.png"/>
          <p:cNvPicPr>
            <a:picLocks noChangeAspect="1"/>
          </p:cNvPicPr>
          <p:nvPr/>
        </p:nvPicPr>
        <p:blipFill>
          <a:blip r:embed="rId4"/>
          <a:stretch>
            <a:fillRect/>
          </a:stretch>
        </p:blipFill>
        <p:spPr>
          <a:xfrm>
            <a:off x="0" y="0"/>
            <a:ext cx="12191695" cy="6858000"/>
          </a:xfrm>
          <a:prstGeom prst="rect">
            <a:avLst/>
          </a:prstGeom>
        </p:spPr>
      </p:pic>
    </p:spTree>
    <p:extLst>
      <p:ext uri="{BB962C8B-B14F-4D97-AF65-F5344CB8AC3E}">
        <p14:creationId xmlns:p14="http://schemas.microsoft.com/office/powerpoint/2010/main" val="76582918"/>
      </p:ext>
    </p:extLst>
  </p:cSld>
</p:sld>
</file>

<file path=ppt/slides/slide2.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FAD903-9F0F-4CEC-B898-DCED446E838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4BE32DD-996F-4669-9869-06A329415AD6}"/>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AGENDA</a:t>
            </a:r>
          </a:p>
        </p:txBody>
      </p:sp>
      <p:sp>
        <p:nvSpPr>
          <p:cNvPr id="3" name="">
            <a:extLst xmlns:a="http://schemas.openxmlformats.org/drawingml/2006/main">
              <a:ext uri="{FF2B5EF4-FFF2-40B4-BE49-F238E27FC236}">
                <a16:creationId xmlns:a16="http://schemas.microsoft.com/office/drawing/2014/main" id="{65595749-74F7-4D1E-9BCA-0B34D4BBD39A}"/>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DD4E9757-230E-4867-990A-209E1B9401DA}"/>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02</a:t>
            </a:r>
          </a:p>
        </p:txBody>
      </p:sp>
      <p:sp>
        <p:nvSpPr>
          <p:cNvPr id="5" name="">
            <a:extLst xmlns:a="http://schemas.openxmlformats.org/drawingml/2006/main">
              <a:ext uri="{FF2B5EF4-FFF2-40B4-BE49-F238E27FC236}">
                <a16:creationId xmlns:a16="http://schemas.microsoft.com/office/drawing/2014/main" id="{C03B5A35-C33F-45AA-8C38-CB44F43C06A5}"/>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Course agenda</a:t>
            </a:r>
          </a:p>
        </p:txBody>
      </p:sp>
      <p:pic xmlns:a="http://schemas.openxmlformats.org/drawingml/2006/main" xmlns:r="http://schemas.openxmlformats.org/officeDocument/2006/relationships">
        <p:nvPicPr>
          <p:cNvPr id="14" name="Picture 13" descr="agenda.png"/>
          <p:cNvPicPr>
            <a:picLocks noChangeAspect="1"/>
          </p:cNvPicPr>
          <p:nvPr/>
        </p:nvPicPr>
        <p:blipFill>
          <a:blip r:embed="rId3"/>
          <a:stretch>
            <a:fillRect/>
          </a:stretch>
        </p:blipFill>
        <p:spPr>
          <a:xfrm>
            <a:off x="1514050" y="1417320"/>
            <a:ext cx="9163594" cy="4206240"/>
          </a:xfrm>
          <a:prstGeom prst="rect">
            <a:avLst/>
          </a:prstGeom>
        </p:spPr>
      </p:pic>
      <p:sp xmlns:a="http://schemas.openxmlformats.org/drawingml/2006/main">
        <p:nvSpPr>
          <p:cNvPr id="15" name="TextBox 14"/>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Laboratory time per module is fixed; any schedule adjustment reduces lecture time only.</a:t>
            </a:r>
          </a:p>
        </p:txBody>
      </p:sp>
    </p:spTree>
    <p:extLst>
      <p:ext uri="{BB962C8B-B14F-4D97-AF65-F5344CB8AC3E}">
        <p14:creationId xmlns:p14="http://schemas.microsoft.com/office/powerpoint/2010/main" val="609499073"/>
      </p:ext>
    </p:extLst>
  </p:cSld>
</p:sld>
</file>

<file path=ppt/slides/slide3.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6B30E9-B033-41E6-B74C-07278995840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0DFE004-394D-49CE-973E-66ED792BCA3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1</a:t>
            </a:r>
          </a:p>
        </p:txBody>
      </p:sp>
      <p:sp>
        <p:nvSpPr>
          <p:cNvPr id="3" name="">
            <a:extLst xmlns:a="http://schemas.openxmlformats.org/drawingml/2006/main">
              <a:ext uri="{FF2B5EF4-FFF2-40B4-BE49-F238E27FC236}">
                <a16:creationId xmlns:a16="http://schemas.microsoft.com/office/drawing/2014/main" id="{8482D36A-499F-4D2B-9536-9F1F886D0728}"/>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47563265-EFEE-4B1E-80B9-194EAED66080}"/>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03</a:t>
            </a:r>
          </a:p>
        </p:txBody>
      </p:sp>
      <p:sp>
        <p:nvSpPr>
          <p:cNvPr id="5" name="">
            <a:extLst xmlns:a="http://schemas.openxmlformats.org/drawingml/2006/main">
              <a:ext uri="{FF2B5EF4-FFF2-40B4-BE49-F238E27FC236}">
                <a16:creationId xmlns:a16="http://schemas.microsoft.com/office/drawing/2014/main" id="{B4E275F3-4F60-4A7A-A044-C7A4D69C2DC0}"/>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01</a:t>
            </a:r>
          </a:p>
        </p:txBody>
      </p:sp>
      <p:sp>
        <p:nvSpPr>
          <p:cNvPr id="6" name="">
            <a:extLst xmlns:a="http://schemas.openxmlformats.org/drawingml/2006/main">
              <a:ext uri="{FF2B5EF4-FFF2-40B4-BE49-F238E27FC236}">
                <a16:creationId xmlns:a16="http://schemas.microsoft.com/office/drawing/2014/main" id="{CB8212BC-DE0D-4463-AC1B-6DE3E3F1CE2E}"/>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System boundaries and terminal survival</a:t>
            </a:r>
          </a:p>
        </p:txBody>
      </p:sp>
      <p:sp>
        <p:nvSpPr>
          <p:cNvPr id="7" name="">
            <a:extLst xmlns:a="http://schemas.openxmlformats.org/drawingml/2006/main">
              <a:ext uri="{FF2B5EF4-FFF2-40B4-BE49-F238E27FC236}">
                <a16:creationId xmlns:a16="http://schemas.microsoft.com/office/drawing/2014/main" id="{FAD183F3-1337-46F9-9657-241756412572}"/>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Which system am I operating, and how does the shell turn text into work?</a:t>
            </a:r>
          </a:p>
        </p:txBody>
      </p:sp>
      <p:sp>
        <p:nvSpPr>
          <p:cNvPr id="8" name="">
            <a:extLst xmlns:a="http://schemas.openxmlformats.org/drawingml/2006/main">
              <a:ext uri="{FF2B5EF4-FFF2-40B4-BE49-F238E27FC236}">
                <a16:creationId xmlns:a16="http://schemas.microsoft.com/office/drawing/2014/main" id="{C17F2499-FE95-4C6F-88D4-A45ED2B37184}"/>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8E2583D-8E00-4020-A7CB-334327F88184}"/>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General Linux + Bash · Ubuntu 24.04 lab</a:t>
            </a:r>
          </a:p>
        </p:txBody>
      </p:sp>
    </p:spTree>
    <p:extLst>
      <p:ext uri="{BB962C8B-B14F-4D97-AF65-F5344CB8AC3E}">
        <p14:creationId xmlns:p14="http://schemas.microsoft.com/office/powerpoint/2010/main" val="629916044"/>
      </p:ext>
    </p:extLst>
  </p:cSld>
</p:sld>
</file>

<file path=ppt/slides/slide4.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3EFE10-7E44-4C42-86F5-D2291FE511E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4D6A4AA-8150-4328-8944-934EF141798A}"/>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 · MODEL</a:t>
            </a:r>
          </a:p>
        </p:txBody>
      </p:sp>
      <p:sp>
        <p:nvSpPr>
          <p:cNvPr id="3" name="">
            <a:extLst xmlns:a="http://schemas.openxmlformats.org/drawingml/2006/main">
              <a:ext uri="{FF2B5EF4-FFF2-40B4-BE49-F238E27FC236}">
                <a16:creationId xmlns:a16="http://schemas.microsoft.com/office/drawing/2014/main" id="{50A86E40-7DE5-49E5-9D40-FC5258328555}"/>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C8FAB066-CA8B-45AE-98D9-895EDA64364E}"/>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04</a:t>
            </a:r>
          </a:p>
        </p:txBody>
      </p:sp>
      <p:sp>
        <p:nvSpPr>
          <p:cNvPr id="5" name="">
            <a:extLst xmlns:a="http://schemas.openxmlformats.org/drawingml/2006/main">
              <a:ext uri="{FF2B5EF4-FFF2-40B4-BE49-F238E27FC236}">
                <a16:creationId xmlns:a16="http://schemas.microsoft.com/office/drawing/2014/main" id="{C441E251-A093-448F-A823-C2D96640D1CF}"/>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What am I actually running?</a:t>
            </a:r>
          </a:p>
        </p:txBody>
      </p:sp>
      <p:sp>
        <p:nvSpPr>
          <p:cNvPr id="6" name="">
            <a:extLst xmlns:a="http://schemas.openxmlformats.org/drawingml/2006/main">
              <a:ext uri="{FF2B5EF4-FFF2-40B4-BE49-F238E27FC236}">
                <a16:creationId xmlns:a16="http://schemas.microsoft.com/office/drawing/2014/main" id="{EE3F3AD8-84B6-443D-995A-6E494C55D2FF}"/>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Linux, distribution, virtual machine, container — different layers that answer different questions.</a:t>
            </a:r>
          </a:p>
        </p:txBody>
      </p:sp>
      <p:sp>
        <p:nvSpPr>
          <p:cNvPr id="7" name="">
            <a:extLst xmlns:a="http://schemas.openxmlformats.org/drawingml/2006/main">
              <a:ext uri="{FF2B5EF4-FFF2-40B4-BE49-F238E27FC236}">
                <a16:creationId xmlns:a16="http://schemas.microsoft.com/office/drawing/2014/main" id="{5B5E2C57-B654-415B-BE03-6ACA3FE5672B}"/>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FC79A07D-642D-4584-8BB6-3215E6AE9157}"/>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Linux is strictly the kernel. A distribution such as Ubuntu packages the user-space tools, services, and defaults around it.</a:t>
            </a:r>
          </a:p>
        </p:txBody>
      </p:sp>
      <p:sp>
        <p:nvSpPr>
          <p:cNvPr id="9" name="">
            <a:extLst xmlns:a="http://schemas.openxmlformats.org/drawingml/2006/main">
              <a:ext uri="{FF2B5EF4-FFF2-40B4-BE49-F238E27FC236}">
                <a16:creationId xmlns:a16="http://schemas.microsoft.com/office/drawing/2014/main" id="{35253761-E479-4A83-8016-4BB2D9FB92D5}"/>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78A230AE-4F08-47CF-94A3-BF745D32C699}"/>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virtual machine boots its own kernel; a container has a private user space but shares the host's kernel.</a:t>
            </a:r>
          </a:p>
        </p:txBody>
      </p:sp>
    </p:spTree>
    <p:extLst>
      <p:ext uri="{BB962C8B-B14F-4D97-AF65-F5344CB8AC3E}">
        <p14:creationId xmlns:p14="http://schemas.microsoft.com/office/powerpoint/2010/main" val="862131206"/>
      </p:ext>
    </p:extLst>
  </p:cSld>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
            <a:extLst>
              <a:ext uri="{FF2B5EF4-FFF2-40B4-BE49-F238E27FC236}">
                <a16:creationId xmlns:a16="http://schemas.microsoft.com/office/drawing/2014/main" id="{709F78FB-E9E0-4138-B000-CB0D2D6AD251}"/>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00336177-D728-4456-A02B-F336E1421182}"/>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1 · PICTURE THE MODEL</a:t>
            </a:r>
          </a:p>
        </p:txBody>
      </p:sp>
      <p:sp>
        <p:nvSpPr>
          <p:cNvPr id="3" name="">
            <a:extLst>
              <a:ext uri="{FF2B5EF4-FFF2-40B4-BE49-F238E27FC236}">
                <a16:creationId xmlns:a16="http://schemas.microsoft.com/office/drawing/2014/main" id="{62CE87CC-929B-4BC7-8F1A-4A5D48101020}"/>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6358837B-C0E9-4F7A-BF05-EC5D76030C20}"/>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05</a:t>
            </a:r>
          </a:p>
        </p:txBody>
      </p:sp>
      <p:sp>
        <p:nvSpPr>
          <p:cNvPr id="5" name="">
            <a:extLst>
              <a:ext uri="{FF2B5EF4-FFF2-40B4-BE49-F238E27FC236}">
                <a16:creationId xmlns:a16="http://schemas.microsoft.com/office/drawing/2014/main" id="{6F50C00F-16BC-445C-8E6A-8CBE7F17B532}"/>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The system in layers</a:t>
            </a:r>
          </a:p>
        </p:txBody>
      </p:sp>
      <p:pic>
        <p:nvPicPr>
          <p:cNvPr id="16" name="Picture 15" descr="kernel_layers.png"/>
          <p:cNvPicPr>
            <a:picLocks noChangeAspect="1"/>
          </p:cNvPicPr>
          <p:nvPr/>
        </p:nvPicPr>
        <p:blipFill>
          <a:blip r:embed="rId2"/>
          <a:stretch>
            <a:fillRect/>
          </a:stretch>
        </p:blipFill>
        <p:spPr>
          <a:xfrm>
            <a:off x="886968" y="1572768"/>
            <a:ext cx="10424160" cy="4417017"/>
          </a:xfrm>
          <a:prstGeom prst="rect">
            <a:avLst/>
          </a:prstGeom>
        </p:spPr>
      </p:pic>
      <p:sp>
        <p:nvSpPr>
          <p:cNvPr id="17" name="TextBox 16"/>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Your command travels down as system calls; bytes and an exit status come back up.</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09F78FB-E9E0-4138-B000-CB0D2D6AD2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0336177-D728-4456-A02B-F336E1421182}"/>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 · BUILD THE MODEL</a:t>
            </a:r>
          </a:p>
        </p:txBody>
      </p:sp>
      <p:sp>
        <p:nvSpPr>
          <p:cNvPr id="3" name="">
            <a:extLst xmlns:a="http://schemas.openxmlformats.org/drawingml/2006/main">
              <a:ext uri="{FF2B5EF4-FFF2-40B4-BE49-F238E27FC236}">
                <a16:creationId xmlns:a16="http://schemas.microsoft.com/office/drawing/2014/main" id="{62CE87CC-929B-4BC7-8F1A-4A5D4810102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6358837B-C0E9-4F7A-BF05-EC5D76030C20}"/>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06</a:t>
            </a:r>
          </a:p>
        </p:txBody>
      </p:sp>
      <p:sp>
        <p:nvSpPr>
          <p:cNvPr id="5" name="">
            <a:extLst xmlns:a="http://schemas.openxmlformats.org/drawingml/2006/main">
              <a:ext uri="{FF2B5EF4-FFF2-40B4-BE49-F238E27FC236}">
                <a16:creationId xmlns:a16="http://schemas.microsoft.com/office/drawing/2014/main" id="{6F50C00F-16BC-445C-8E6A-8CBE7F17B532}"/>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 kernel arbitrates shared resources</a:t>
            </a:r>
          </a:p>
        </p:txBody>
      </p:sp>
      <p:sp>
        <p:nvSpPr>
          <p:cNvPr id="6" name="">
            <a:extLst xmlns:a="http://schemas.openxmlformats.org/drawingml/2006/main">
              <a:ext uri="{FF2B5EF4-FFF2-40B4-BE49-F238E27FC236}">
                <a16:creationId xmlns:a16="http://schemas.microsoft.com/office/drawing/2014/main" id="{03580292-1217-438C-92F0-8276F692239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Applications request these services; they do not control hardware directly.</a:t>
            </a:r>
          </a:p>
        </p:txBody>
      </p:sp>
      <p:sp>
        <p:nvSpPr>
          <p:cNvPr id="7" name="">
            <a:extLst xmlns:a="http://schemas.openxmlformats.org/drawingml/2006/main">
              <a:ext uri="{FF2B5EF4-FFF2-40B4-BE49-F238E27FC236}">
                <a16:creationId xmlns:a16="http://schemas.microsoft.com/office/drawing/2014/main" id="{BBC29A70-15D1-4AB0-8F0C-B7DA1F38A2C7}"/>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5245316-2143-4971-8E16-988474FDD10A}"/>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Schedules CPU time between runnable processes</a:t>
            </a:r>
          </a:p>
        </p:txBody>
      </p:sp>
      <p:sp>
        <p:nvSpPr>
          <p:cNvPr id="9" name="">
            <a:extLst xmlns:a="http://schemas.openxmlformats.org/drawingml/2006/main">
              <a:ext uri="{FF2B5EF4-FFF2-40B4-BE49-F238E27FC236}">
                <a16:creationId xmlns:a16="http://schemas.microsoft.com/office/drawing/2014/main" id="{322B0390-5D50-4DDC-A609-3DF3FE18D2E3}"/>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E3DC935B-0B2F-4382-9E2A-14648DA9797B}"/>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Maps virtual memory and enforces protection</a:t>
            </a:r>
          </a:p>
        </p:txBody>
      </p:sp>
      <p:sp>
        <p:nvSpPr>
          <p:cNvPr id="11" name="">
            <a:extLst xmlns:a="http://schemas.openxmlformats.org/drawingml/2006/main">
              <a:ext uri="{FF2B5EF4-FFF2-40B4-BE49-F238E27FC236}">
                <a16:creationId xmlns:a16="http://schemas.microsoft.com/office/drawing/2014/main" id="{C34F15A9-F2D9-4C88-8667-EFBCBD71CDD0}"/>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AFF07254-992C-46D4-AEAF-AEDA8CC4A45B}"/>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Resolves filesystem and device operations</a:t>
            </a:r>
          </a:p>
        </p:txBody>
      </p:sp>
      <p:sp>
        <p:nvSpPr>
          <p:cNvPr id="13" name="">
            <a:extLst xmlns:a="http://schemas.openxmlformats.org/drawingml/2006/main">
              <a:ext uri="{FF2B5EF4-FFF2-40B4-BE49-F238E27FC236}">
                <a16:creationId xmlns:a16="http://schemas.microsoft.com/office/drawing/2014/main" id="{48B1BC09-650F-4767-B9F8-3D0C4DAA5873}"/>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E1FA4231-0637-4360-9F58-4FC14CB010B3}"/>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Moves network data through sockets and interfaces</a:t>
            </a:r>
          </a:p>
        </p:txBody>
      </p:sp>
    </p:spTree>
    <p:extLst>
      <p:ext uri="{BB962C8B-B14F-4D97-AF65-F5344CB8AC3E}">
        <p14:creationId xmlns:p14="http://schemas.microsoft.com/office/powerpoint/2010/main" val="995519665"/>
      </p:ext>
    </p:extLst>
  </p:cSld>
</p:sld>
</file>

<file path=ppt/slides/slide7.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AF5E56-F034-4372-8457-05AEEE91E83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7A40AF9-833C-4013-A898-A9D103BDF5F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 · BUILD THE MODEL</a:t>
            </a:r>
          </a:p>
        </p:txBody>
      </p:sp>
      <p:sp>
        <p:nvSpPr>
          <p:cNvPr id="3" name="">
            <a:extLst xmlns:a="http://schemas.openxmlformats.org/drawingml/2006/main">
              <a:ext uri="{FF2B5EF4-FFF2-40B4-BE49-F238E27FC236}">
                <a16:creationId xmlns:a16="http://schemas.microsoft.com/office/drawing/2014/main" id="{5CC45DF2-8674-418D-8654-203BE54DE27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17F6911E-5CCE-4F2E-85E8-EE5279BE3494}"/>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07</a:t>
            </a:r>
          </a:p>
        </p:txBody>
      </p:sp>
      <p:sp>
        <p:nvSpPr>
          <p:cNvPr id="5" name="">
            <a:extLst xmlns:a="http://schemas.openxmlformats.org/drawingml/2006/main">
              <a:ext uri="{FF2B5EF4-FFF2-40B4-BE49-F238E27FC236}">
                <a16:creationId xmlns:a16="http://schemas.microsoft.com/office/drawing/2014/main" id="{7E940471-CA73-4B72-B603-3A7307A66555}"/>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system call crosses the user–kernel boundary</a:t>
            </a:r>
          </a:p>
        </p:txBody>
      </p:sp>
      <p:sp>
        <p:nvSpPr>
          <p:cNvPr id="6" name="">
            <a:extLst xmlns:a="http://schemas.openxmlformats.org/drawingml/2006/main">
              <a:ext uri="{FF2B5EF4-FFF2-40B4-BE49-F238E27FC236}">
                <a16:creationId xmlns:a16="http://schemas.microsoft.com/office/drawing/2014/main" id="{A67611FB-4E5C-4847-98C8-FED221371E79}"/>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A command can fail in the shell, the program, or the kernel-facing operation.</a:t>
            </a:r>
          </a:p>
        </p:txBody>
      </p:sp>
      <p:sp>
        <p:nvSpPr>
          <p:cNvPr id="7" name="">
            <a:extLst xmlns:a="http://schemas.openxmlformats.org/drawingml/2006/main">
              <a:ext uri="{FF2B5EF4-FFF2-40B4-BE49-F238E27FC236}">
                <a16:creationId xmlns:a16="http://schemas.microsoft.com/office/drawing/2014/main" id="{2B3761B5-9FC3-496B-8CF8-3C7FFC31A4AA}"/>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B745ABE-A44D-4B0F-AB36-C5230BC73E68}"/>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shell starts a user-space program such as cat</a:t>
            </a:r>
          </a:p>
        </p:txBody>
      </p:sp>
      <p:sp>
        <p:nvSpPr>
          <p:cNvPr id="9" name="">
            <a:extLst xmlns:a="http://schemas.openxmlformats.org/drawingml/2006/main">
              <a:ext uri="{FF2B5EF4-FFF2-40B4-BE49-F238E27FC236}">
                <a16:creationId xmlns:a16="http://schemas.microsoft.com/office/drawing/2014/main" id="{93324CD4-AF62-43D3-BD9C-2044AF6647F4}"/>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787077CF-469B-45DA-BA9F-57B4697F3BB9}"/>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cat asks the kernel to open and read a path</a:t>
            </a:r>
          </a:p>
        </p:txBody>
      </p:sp>
      <p:sp>
        <p:nvSpPr>
          <p:cNvPr id="11" name="">
            <a:extLst xmlns:a="http://schemas.openxmlformats.org/drawingml/2006/main">
              <a:ext uri="{FF2B5EF4-FFF2-40B4-BE49-F238E27FC236}">
                <a16:creationId xmlns:a16="http://schemas.microsoft.com/office/drawing/2014/main" id="{F16F151A-DF96-4E05-839E-55FDB9D275A7}"/>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6C69767-2825-4A23-A3ED-714116321B27}"/>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kernel checks credentials and resolves the filesystem object</a:t>
            </a:r>
          </a:p>
        </p:txBody>
      </p:sp>
      <p:sp>
        <p:nvSpPr>
          <p:cNvPr id="13" name="">
            <a:extLst xmlns:a="http://schemas.openxmlformats.org/drawingml/2006/main">
              <a:ext uri="{FF2B5EF4-FFF2-40B4-BE49-F238E27FC236}">
                <a16:creationId xmlns:a16="http://schemas.microsoft.com/office/drawing/2014/main" id="{634A0879-A905-416D-AEB1-9AED4373B885}"/>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17765067-865D-4CBC-AA9D-8DCDF8861B30}"/>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Bytes return to cat, which writes them to standard output</a:t>
            </a:r>
          </a:p>
        </p:txBody>
      </p:sp>
    </p:spTree>
    <p:extLst>
      <p:ext uri="{BB962C8B-B14F-4D97-AF65-F5344CB8AC3E}">
        <p14:creationId xmlns:p14="http://schemas.microsoft.com/office/powerpoint/2010/main" val="492036333"/>
      </p:ext>
    </p:extLst>
  </p:cSld>
</p:sld>
</file>

<file path=ppt/slides/slide8.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25099C-E5EC-454A-A7C1-5B48FA4A1C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0E6F916-E853-4944-AE27-F94B09ED4936}"/>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 · BUILD THE MODEL</a:t>
            </a:r>
          </a:p>
        </p:txBody>
      </p:sp>
      <p:sp>
        <p:nvSpPr>
          <p:cNvPr id="3" name="">
            <a:extLst xmlns:a="http://schemas.openxmlformats.org/drawingml/2006/main">
              <a:ext uri="{FF2B5EF4-FFF2-40B4-BE49-F238E27FC236}">
                <a16:creationId xmlns:a16="http://schemas.microsoft.com/office/drawing/2014/main" id="{68B24F79-FB81-44E2-BF81-9015722E640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B3405BF4-66FD-494E-9EFC-796EEE2C29E8}"/>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08</a:t>
            </a:r>
          </a:p>
        </p:txBody>
      </p:sp>
      <p:sp>
        <p:nvSpPr>
          <p:cNvPr id="5" name="">
            <a:extLst xmlns:a="http://schemas.openxmlformats.org/drawingml/2006/main">
              <a:ext uri="{FF2B5EF4-FFF2-40B4-BE49-F238E27FC236}">
                <a16:creationId xmlns:a16="http://schemas.microsoft.com/office/drawing/2014/main" id="{F351CC0C-FAAE-47A3-BBF0-EA895731620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Distribution, VM, and container describe different layers</a:t>
            </a:r>
          </a:p>
        </p:txBody>
      </p:sp>
      <p:sp>
        <p:nvSpPr>
          <p:cNvPr id="6" name="">
            <a:extLst xmlns:a="http://schemas.openxmlformats.org/drawingml/2006/main">
              <a:ext uri="{FF2B5EF4-FFF2-40B4-BE49-F238E27FC236}">
                <a16:creationId xmlns:a16="http://schemas.microsoft.com/office/drawing/2014/main" id="{58A5B9AD-F06F-47ED-BCFE-67C3F8C54976}"/>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Record both user-space and kernel facts before following external instructions.</a:t>
            </a:r>
          </a:p>
        </p:txBody>
      </p:sp>
      <p:sp>
        <p:nvSpPr>
          <p:cNvPr id="7" name="">
            <a:extLst xmlns:a="http://schemas.openxmlformats.org/drawingml/2006/main">
              <a:ext uri="{FF2B5EF4-FFF2-40B4-BE49-F238E27FC236}">
                <a16:creationId xmlns:a16="http://schemas.microsoft.com/office/drawing/2014/main" id="{0D5161A3-4E18-4D5C-BA0A-213295B3CEE6}"/>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AEBA2687-7D02-4188-A396-BAF189E932A3}"/>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A distribution curates user space, packages, defaults, and support</a:t>
            </a:r>
          </a:p>
        </p:txBody>
      </p:sp>
      <p:sp>
        <p:nvSpPr>
          <p:cNvPr id="9" name="">
            <a:extLst xmlns:a="http://schemas.openxmlformats.org/drawingml/2006/main">
              <a:ext uri="{FF2B5EF4-FFF2-40B4-BE49-F238E27FC236}">
                <a16:creationId xmlns:a16="http://schemas.microsoft.com/office/drawing/2014/main" id="{5879C42B-6A40-43CC-A5A8-5F9F0CCC231E}"/>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4E8AA56-143C-4BE7-BF07-6DACD03AABB9}"/>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A virtual machine has virtual hardware and its own guest kernel</a:t>
            </a:r>
          </a:p>
        </p:txBody>
      </p:sp>
      <p:sp>
        <p:nvSpPr>
          <p:cNvPr id="11" name="">
            <a:extLst xmlns:a="http://schemas.openxmlformats.org/drawingml/2006/main">
              <a:ext uri="{FF2B5EF4-FFF2-40B4-BE49-F238E27FC236}">
                <a16:creationId xmlns:a16="http://schemas.microsoft.com/office/drawing/2014/main" id="{9ED36F02-98AD-4A6A-BBFB-F626F19EC81E}"/>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D5F15C0F-8A6A-4998-A3BF-4D63E1443B71}"/>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A system container has isolated user space but shares the host kernel</a:t>
            </a:r>
          </a:p>
        </p:txBody>
      </p:sp>
      <p:sp>
        <p:nvSpPr>
          <p:cNvPr id="13" name="">
            <a:extLst xmlns:a="http://schemas.openxmlformats.org/drawingml/2006/main">
              <a:ext uri="{FF2B5EF4-FFF2-40B4-BE49-F238E27FC236}">
                <a16:creationId xmlns:a16="http://schemas.microsoft.com/office/drawing/2014/main" id="{2AB4A7D3-5CDE-4AF6-9611-FF097DE8F959}"/>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0CC1EDF1-1DC1-4A61-8360-8A024D8E6489}"/>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/etc/os-release and uname answer different layer questions</a:t>
            </a:r>
          </a:p>
        </p:txBody>
      </p:sp>
    </p:spTree>
    <p:extLst>
      <p:ext uri="{BB962C8B-B14F-4D97-AF65-F5344CB8AC3E}">
        <p14:creationId xmlns:p14="http://schemas.microsoft.com/office/powerpoint/2010/main" val="1323599313"/>
      </p:ext>
    </p:extLst>
  </p:cSld>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0A3EFE10-7E44-4C42-86F5-D2291FE511E5}"/>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34D6A4AA-8150-4328-8944-934EF141798A}"/>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1 · MODEL</a:t>
            </a:r>
          </a:p>
        </p:txBody>
      </p:sp>
      <p:sp>
        <p:nvSpPr>
          <p:cNvPr id="3" name="">
            <a:extLst>
              <a:ext uri="{FF2B5EF4-FFF2-40B4-BE49-F238E27FC236}">
                <a16:creationId xmlns:a16="http://schemas.microsoft.com/office/drawing/2014/main" id="{50A86E40-7DE5-49E5-9D40-FC5258328555}"/>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C8FAB066-CA8B-45AE-98D9-895EDA64364E}"/>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09</a:t>
            </a:r>
          </a:p>
        </p:txBody>
      </p:sp>
      <p:sp>
        <p:nvSpPr>
          <p:cNvPr id="5" name="">
            <a:extLst>
              <a:ext uri="{FF2B5EF4-FFF2-40B4-BE49-F238E27FC236}">
                <a16:creationId xmlns:a16="http://schemas.microsoft.com/office/drawing/2014/main" id="{C441E251-A093-448F-A823-C2D96640D1CF}"/>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How the shell reads a line</a:t>
            </a:r>
          </a:p>
        </p:txBody>
      </p:sp>
      <p:sp>
        <p:nvSpPr>
          <p:cNvPr id="6" name="">
            <a:extLst>
              <a:ext uri="{FF2B5EF4-FFF2-40B4-BE49-F238E27FC236}">
                <a16:creationId xmlns:a16="http://schemas.microsoft.com/office/drawing/2014/main" id="{EE3F3AD8-84B6-443D-995A-6E494C55D2FF}"/>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You type text; the shell prepares it before any program runs.</a:t>
            </a:r>
          </a:p>
        </p:txBody>
      </p:sp>
      <p:sp>
        <p:nvSpPr>
          <p:cNvPr id="7" name="">
            <a:extLst>
              <a:ext uri="{FF2B5EF4-FFF2-40B4-BE49-F238E27FC236}">
                <a16:creationId xmlns:a16="http://schemas.microsoft.com/office/drawing/2014/main" id="{5B5E2C57-B654-415B-BE03-6ACA3FE5672B}"/>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FC79A07D-642D-4584-8BB6-3215E6AE9157}"/>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The prompt only reports context. The first word names a program or built-in; the rest of the line is its arguments.</a:t>
            </a:r>
          </a:p>
        </p:txBody>
      </p:sp>
      <p:sp>
        <p:nvSpPr>
          <p:cNvPr id="9" name="">
            <a:extLst>
              <a:ext uri="{FF2B5EF4-FFF2-40B4-BE49-F238E27FC236}">
                <a16:creationId xmlns:a16="http://schemas.microsoft.com/office/drawing/2014/main" id="{35253761-E479-4A83-8016-4BB2D9FB92D5}"/>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78A230AE-4F08-47CF-94A3-BF745D32C699}"/>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Before running, Bash substitutes $VAR and $(command) and applies quotes; afterwards it records an exit status, where 0 means success.</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89CDFA-FD49-4796-A332-87A96180432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9DE7E2-15BF-4AD8-901B-1BF966A169C6}"/>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 · WORKED EXAMPLE</a:t>
            </a:r>
          </a:p>
        </p:txBody>
      </p:sp>
      <p:sp>
        <p:nvSpPr>
          <p:cNvPr id="3" name="">
            <a:extLst xmlns:a="http://schemas.openxmlformats.org/drawingml/2006/main">
              <a:ext uri="{FF2B5EF4-FFF2-40B4-BE49-F238E27FC236}">
                <a16:creationId xmlns:a16="http://schemas.microsoft.com/office/drawing/2014/main" id="{6CDE0664-0C50-4719-B42B-35A6AA6499CB}"/>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A4220D2C-CBAA-4BDC-AAA8-DAAC7DB614ED}"/>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a:t>
            </a:r>
          </a:p>
        </p:txBody>
      </p:sp>
      <p:sp>
        <p:nvSpPr>
          <p:cNvPr id="5" name="">
            <a:extLst xmlns:a="http://schemas.openxmlformats.org/drawingml/2006/main">
              <a:ext uri="{FF2B5EF4-FFF2-40B4-BE49-F238E27FC236}">
                <a16:creationId xmlns:a16="http://schemas.microsoft.com/office/drawing/2014/main" id="{3706A811-4C55-4877-9DAD-BFBC404712DA}"/>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Read a command from left to right</a:t>
            </a:r>
          </a:p>
        </p:txBody>
      </p:sp>
      <p:sp>
        <p:nvSpPr>
          <p:cNvPr id="6" name="">
            <a:extLst xmlns:a="http://schemas.openxmlformats.org/drawingml/2006/main">
              <a:ext uri="{FF2B5EF4-FFF2-40B4-BE49-F238E27FC236}">
                <a16:creationId xmlns:a16="http://schemas.microsoft.com/office/drawing/2014/main" id="{3DBAE25F-8FD1-4D3A-AAFA-93FA58BE538E}"/>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3785B75-6B2D-4CA1-B8B0-0DDB0669E428}"/>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printf 'USER=%s\nKERNEL=%s\n' \</a:t>
            </a:r>
          </a:p>
          <a:p xmlns:a="http://schemas.openxmlformats.org/drawingml/2006/main">
            <a:pPr algn="l">
              <a:buNone/>
              <a:defRPr sz="1575" b="0">
                <a:solidFill>
                  <a:srgbClr val="F7F1FA"/>
                </a:solidFill>
              </a:defRPr>
            </a:pPr>
            <a:r>
              <a:rPr sz="1575" b="0">
                <a:solidFill>
                  <a:srgbClr val="F7F1FA"/>
                </a:solidFill>
              </a:rPr>
              <a:t>  "$USER" "$(uname -r)" &gt; ~/profile.txt</a:t>
            </a:r>
          </a:p>
        </p:txBody>
      </p:sp>
      <p:sp>
        <p:nvSpPr>
          <p:cNvPr id="8" name="">
            <a:extLst xmlns:a="http://schemas.openxmlformats.org/drawingml/2006/main">
              <a:ext uri="{FF2B5EF4-FFF2-40B4-BE49-F238E27FC236}">
                <a16:creationId xmlns:a16="http://schemas.microsoft.com/office/drawing/2014/main" id="{4E8DEF32-83A5-4CA5-883E-FE0EC240D68D}"/>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635C3481-AA68-4906-B216-695E8796D99D}"/>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printf takes a format then two arguments; %s slots each value in.</a:t>
            </a:r>
          </a:p>
        </p:txBody>
      </p:sp>
      <p:sp>
        <p:nvSpPr>
          <p:cNvPr id="10" name="">
            <a:extLst xmlns:a="http://schemas.openxmlformats.org/drawingml/2006/main">
              <a:ext uri="{FF2B5EF4-FFF2-40B4-BE49-F238E27FC236}">
                <a16:creationId xmlns:a16="http://schemas.microsoft.com/office/drawing/2014/main" id="{B629236D-A1BD-41CF-AC49-845E88E2E21A}"/>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34BE7CF9-E69F-4A1B-AE6F-1D249370F089}"/>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Double quotes keep each value one argument, even with spaces.</a:t>
            </a:r>
          </a:p>
        </p:txBody>
      </p:sp>
      <p:sp>
        <p:nvSpPr>
          <p:cNvPr id="12" name="">
            <a:extLst xmlns:a="http://schemas.openxmlformats.org/drawingml/2006/main">
              <a:ext uri="{FF2B5EF4-FFF2-40B4-BE49-F238E27FC236}">
                <a16:creationId xmlns:a16="http://schemas.microsoft.com/office/drawing/2014/main" id="{10337769-4CB3-441C-8C51-8E153CB6C0EF}"/>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D4A1EAA6-F5AD-4102-97A5-F0FD9370FC28}"/>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&gt; replaces the file ( &gt;&gt; appends ); the shell opens it, not printf.</a:t>
            </a:r>
          </a:p>
        </p:txBody>
      </p:sp>
      <p:sp>
        <p:nvSpPr>
          <p:cNvPr id="13" name="">
            <a:extLst xmlns:a="http://schemas.openxmlformats.org/drawingml/2006/main">
              <a:ext uri="{FF2B5EF4-FFF2-40B4-BE49-F238E27FC236}">
                <a16:creationId xmlns:a16="http://schemas.microsoft.com/office/drawing/2014/main" id="{D4A1EAA6-F5AD-4102-97A5-F0FD9370FC28}"/>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$(uname -r) runs first — substituted before printf even starts.</a:t>
            </a:r>
          </a:p>
        </p:txBody>
      </p:sp>
      <p:sp>
        <p:nvSpPr>
          <p:cNvPr id="12" name="">
            <a:extLst xmlns:a="http://schemas.openxmlformats.org/drawingml/2006/main">
              <a:ext uri="{FF2B5EF4-FFF2-40B4-BE49-F238E27FC236}">
                <a16:creationId xmlns:a16="http://schemas.microsoft.com/office/drawing/2014/main" id="{10337769-4CB3-441C-8C51-8E153CB6C0EF}"/>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817576133"/>
      </p:ext>
    </p:extLst>
  </p:cSld>
</p:sld>
</file>

<file path=ppt/slides/slide1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E0400F-B53F-4010-A124-DBC458874A8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0CC424-DAD5-4188-A40D-59B5FF548123}"/>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 · GUIDED COMMANDS</a:t>
            </a:r>
          </a:p>
        </p:txBody>
      </p:sp>
      <p:sp>
        <p:nvSpPr>
          <p:cNvPr id="3" name="">
            <a:extLst xmlns:a="http://schemas.openxmlformats.org/drawingml/2006/main">
              <a:ext uri="{FF2B5EF4-FFF2-40B4-BE49-F238E27FC236}">
                <a16:creationId xmlns:a16="http://schemas.microsoft.com/office/drawing/2014/main" id="{E5511E55-AF41-434F-88C8-6806C7AA48C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1BF06054-5523-460E-AC54-EC74D6558A1D}"/>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11</a:t>
            </a:r>
          </a:p>
        </p:txBody>
      </p:sp>
      <p:sp>
        <p:nvSpPr>
          <p:cNvPr id="5" name="">
            <a:extLst xmlns:a="http://schemas.openxmlformats.org/drawingml/2006/main">
              <a:ext uri="{FF2B5EF4-FFF2-40B4-BE49-F238E27FC236}">
                <a16:creationId xmlns:a16="http://schemas.microsoft.com/office/drawing/2014/main" id="{0FA6FB7D-2FAD-4F11-972A-605A9F62A6F9}"/>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361EAFDA-0741-40C5-8D86-A2DECA074AAE}"/>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467C3FFA-5BD7-4100-B78F-34441BCE31BE}"/>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$HOME</a:t>
            </a:r>
          </a:p>
        </p:txBody>
      </p:sp>
      <p:sp>
        <p:nvSpPr>
          <p:cNvPr id="8" name="">
            <a:extLst xmlns:a="http://schemas.openxmlformats.org/drawingml/2006/main">
              <a:ext uri="{FF2B5EF4-FFF2-40B4-BE49-F238E27FC236}">
                <a16:creationId xmlns:a16="http://schemas.microsoft.com/office/drawing/2014/main" id="{9A55F767-A965-4AFE-926C-4015517B0D06}"/>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your home directory, e.g. /home/alice</a:t>
            </a:r>
          </a:p>
        </p:txBody>
      </p:sp>
      <p:sp>
        <p:nvSpPr>
          <p:cNvPr id="9" name="">
            <a:extLst xmlns:a="http://schemas.openxmlformats.org/drawingml/2006/main">
              <a:ext uri="{FF2B5EF4-FFF2-40B4-BE49-F238E27FC236}">
                <a16:creationId xmlns:a16="http://schemas.microsoft.com/office/drawing/2014/main" id="{4C4AE72E-205A-4D60-9C90-ACBB858F5ACC}"/>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2C87038B-84A8-4118-8226-844C3204C780}"/>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$(uname -r)</a:t>
            </a:r>
          </a:p>
        </p:txBody>
      </p:sp>
      <p:sp>
        <p:nvSpPr>
          <p:cNvPr id="11" name="">
            <a:extLst xmlns:a="http://schemas.openxmlformats.org/drawingml/2006/main">
              <a:ext uri="{FF2B5EF4-FFF2-40B4-BE49-F238E27FC236}">
                <a16:creationId xmlns:a16="http://schemas.microsoft.com/office/drawing/2014/main" id="{05764FC1-D97C-43D7-945E-DCC2F4383E89}"/>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capture a command's output, e.g. 6.8.0-31-generic</a:t>
            </a:r>
          </a:p>
        </p:txBody>
      </p:sp>
      <p:sp>
        <p:nvSpPr>
          <p:cNvPr id="12" name="">
            <a:extLst xmlns:a="http://schemas.openxmlformats.org/drawingml/2006/main">
              <a:ext uri="{FF2B5EF4-FFF2-40B4-BE49-F238E27FC236}">
                <a16:creationId xmlns:a16="http://schemas.microsoft.com/office/drawing/2014/main" id="{9B31F436-C8D6-46B5-90F6-5276BA146DD6}"/>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F7AF4B21-FC0E-40E1-8A10-177DE1D1C63C}"/>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&gt; file</a:t>
            </a:r>
          </a:p>
        </p:txBody>
      </p:sp>
      <p:sp>
        <p:nvSpPr>
          <p:cNvPr id="14" name="">
            <a:extLst xmlns:a="http://schemas.openxmlformats.org/drawingml/2006/main">
              <a:ext uri="{FF2B5EF4-FFF2-40B4-BE49-F238E27FC236}">
                <a16:creationId xmlns:a16="http://schemas.microsoft.com/office/drawing/2014/main" id="{36B61007-C2BF-41FE-913D-B735BD2611C5}"/>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replace a file with stdout ( &gt;&gt; appends )</a:t>
            </a:r>
          </a:p>
        </p:txBody>
      </p:sp>
      <p:sp>
        <p:nvSpPr>
          <p:cNvPr id="15" name="">
            <a:extLst xmlns:a="http://schemas.openxmlformats.org/drawingml/2006/main">
              <a:ext uri="{FF2B5EF4-FFF2-40B4-BE49-F238E27FC236}">
                <a16:creationId xmlns:a16="http://schemas.microsoft.com/office/drawing/2014/main" id="{7BD74230-CB7C-4318-AF22-A34E0C6390D6}"/>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FC09BE-4E0D-4563-9430-047C35F50F9A}"/>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printf</a:t>
            </a:r>
          </a:p>
        </p:txBody>
      </p:sp>
      <p:sp>
        <p:nvSpPr>
          <p:cNvPr id="17" name="">
            <a:extLst xmlns:a="http://schemas.openxmlformats.org/drawingml/2006/main">
              <a:ext uri="{FF2B5EF4-FFF2-40B4-BE49-F238E27FC236}">
                <a16:creationId xmlns:a16="http://schemas.microsoft.com/office/drawing/2014/main" id="{61738A8F-E9EC-49E8-B31A-79C479C403A3}"/>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predictable formatted text — safer than echo</a:t>
            </a:r>
          </a:p>
        </p:txBody>
      </p:sp>
      <p:sp>
        <p:nvSpPr>
          <p:cNvPr id="18" name="">
            <a:extLst xmlns:a="http://schemas.openxmlformats.org/drawingml/2006/main">
              <a:ext uri="{FF2B5EF4-FFF2-40B4-BE49-F238E27FC236}">
                <a16:creationId xmlns:a16="http://schemas.microsoft.com/office/drawing/2014/main" id="{EFB25430-0047-4062-A801-7D8C2DCDE249}"/>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8930D5A-BFD3-47F3-923C-BC35B94F210F}"/>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test -d PATH</a:t>
            </a:r>
          </a:p>
        </p:txBody>
      </p:sp>
      <p:sp>
        <p:nvSpPr>
          <p:cNvPr id="20" name="">
            <a:extLst xmlns:a="http://schemas.openxmlformats.org/drawingml/2006/main">
              <a:ext uri="{FF2B5EF4-FFF2-40B4-BE49-F238E27FC236}">
                <a16:creationId xmlns:a16="http://schemas.microsoft.com/office/drawing/2014/main" id="{D4DC894C-19A3-43D8-9927-B4EDFD28CA9A}"/>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true if a directory exists ( -f file, -e exists )</a:t>
            </a:r>
          </a:p>
        </p:txBody>
      </p:sp>
      <p:sp>
        <p:nvSpPr>
          <p:cNvPr id="19" name="">
            <a:extLst xmlns:a="http://schemas.openxmlformats.org/drawingml/2006/main">
              <a:ext uri="{FF2B5EF4-FFF2-40B4-BE49-F238E27FC236}">
                <a16:creationId xmlns:a16="http://schemas.microsoft.com/office/drawing/2014/main" id="{E8930D5A-BFD3-47F3-923C-BC35B94F210F}"/>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echo $?</a:t>
            </a:r>
          </a:p>
        </p:txBody>
      </p:sp>
      <p:sp>
        <p:nvSpPr>
          <p:cNvPr id="20" name="">
            <a:extLst xmlns:a="http://schemas.openxmlformats.org/drawingml/2006/main">
              <a:ext uri="{FF2B5EF4-FFF2-40B4-BE49-F238E27FC236}">
                <a16:creationId xmlns:a16="http://schemas.microsoft.com/office/drawing/2014/main" id="{D4DC894C-19A3-43D8-9927-B4EDFD28CA9A}"/>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exit status of the last command — 0 means success</a:t>
            </a:r>
          </a:p>
        </p:txBody>
      </p:sp>
      <p:sp>
        <p:nvSpPr>
          <p:cNvPr id="18" name="">
            <a:extLst xmlns:a="http://schemas.openxmlformats.org/drawingml/2006/main">
              <a:ext uri="{FF2B5EF4-FFF2-40B4-BE49-F238E27FC236}">
                <a16:creationId xmlns:a16="http://schemas.microsoft.com/office/drawing/2014/main" id="{EFB25430-0047-4062-A801-7D8C2DCDE249}"/>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864421531"/>
      </p:ext>
    </p:extLst>
  </p:cSld>
</p:sld>
</file>

<file path=ppt/slides/slide12.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4E72F36-ADD4-41A2-8AEA-1668E0C29D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D135EB2-CD66-413E-A68E-60BB20601DF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1 · LIVE DEMO</a:t>
            </a:r>
          </a:p>
        </p:txBody>
      </p:sp>
      <p:sp>
        <p:nvSpPr>
          <p:cNvPr id="3" name="">
            <a:extLst xmlns:a="http://schemas.openxmlformats.org/drawingml/2006/main">
              <a:ext uri="{FF2B5EF4-FFF2-40B4-BE49-F238E27FC236}">
                <a16:creationId xmlns:a16="http://schemas.microsoft.com/office/drawing/2014/main" id="{D8B066E0-E6B9-4EF4-9162-97FCB995E82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094F1F26-8B06-4431-A399-9D546F34E495}"/>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12</a:t>
            </a:r>
          </a:p>
        </p:txBody>
      </p:sp>
      <p:sp>
        <p:nvSpPr>
          <p:cNvPr id="5" name="">
            <a:extLst xmlns:a="http://schemas.openxmlformats.org/drawingml/2006/main">
              <a:ext uri="{FF2B5EF4-FFF2-40B4-BE49-F238E27FC236}">
                <a16:creationId xmlns:a16="http://schemas.microsoft.com/office/drawing/2014/main" id="{D8C66215-EBAA-4CEC-90E2-A3A1F5F96CBF}"/>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one kernel, two user spaces</a:t>
            </a:r>
          </a:p>
        </p:txBody>
      </p:sp>
      <p:sp>
        <p:nvSpPr>
          <p:cNvPr id="6" name="">
            <a:extLst xmlns:a="http://schemas.openxmlformats.org/drawingml/2006/main">
              <a:ext uri="{FF2B5EF4-FFF2-40B4-BE49-F238E27FC236}">
                <a16:creationId xmlns:a16="http://schemas.microsoft.com/office/drawing/2014/main" id="{6AF085B1-5C2F-419E-9A95-305BAC0F985C}"/>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Same three questions, two seats: the controller and a throwaway container.</a:t>
            </a:r>
          </a:p>
        </p:txBody>
      </p:sp>
      <p:sp>
        <p:nvSpPr>
          <p:cNvPr id="7" name="">
            <a:extLst xmlns:a="http://schemas.openxmlformats.org/drawingml/2006/main">
              <a:ext uri="{FF2B5EF4-FFF2-40B4-BE49-F238E27FC236}">
                <a16:creationId xmlns:a16="http://schemas.microsoft.com/office/drawing/2014/main" id="{63DE28CC-2A72-42F7-B150-B2A15F7F625F}"/>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BC4DCC5-72C2-4591-9510-2C589B9F851F}"/>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Compare /etc/os-release, uname -r, and PID 1 on the controller and in a separate demo container.</a:t>
            </a:r>
          </a:p>
        </p:txBody>
      </p:sp>
      <p:sp>
        <p:nvSpPr>
          <p:cNvPr id="9" name="">
            <a:extLst xmlns:a="http://schemas.openxmlformats.org/drawingml/2006/main">
              <a:ext uri="{FF2B5EF4-FFF2-40B4-BE49-F238E27FC236}">
                <a16:creationId xmlns:a16="http://schemas.microsoft.com/office/drawing/2014/main" id="{3A285C2D-DD54-4E1F-A676-EF28CCBD0C4D}"/>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E6D6AB-BF2B-49EB-A0E2-AE63F3AC54FA}"/>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cat /etc/os-release on both seats — compare the distribution claim</a:t>
            </a:r>
          </a:p>
        </p:txBody>
      </p:sp>
      <p:sp>
        <p:nvSpPr>
          <p:cNvPr id="11" name="">
            <a:extLst xmlns:a="http://schemas.openxmlformats.org/drawingml/2006/main">
              <a:ext uri="{FF2B5EF4-FFF2-40B4-BE49-F238E27FC236}">
                <a16:creationId xmlns:a16="http://schemas.microsoft.com/office/drawing/2014/main" id="{E249FE4D-4C0E-435F-A079-BB3C3C93DB05}"/>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3ECDA46-F202-4560-8095-216E906486F2}"/>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uname -r on both — expect 6.17.0-1026-nvidia on each</a:t>
            </a:r>
          </a:p>
        </p:txBody>
      </p:sp>
      <p:sp>
        <p:nvSpPr>
          <p:cNvPr id="13" name="">
            <a:extLst xmlns:a="http://schemas.openxmlformats.org/drawingml/2006/main">
              <a:ext uri="{FF2B5EF4-FFF2-40B4-BE49-F238E27FC236}">
                <a16:creationId xmlns:a16="http://schemas.microsoft.com/office/drawing/2014/main" id="{F83374FB-1928-4C50-ABE7-2AA752D5A032}"/>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5CC04B5C-EBE2-4CE5-BD71-4827561DA534}"/>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ps -p 1 on both — which program runs as PID 1?</a:t>
            </a:r>
          </a:p>
        </p:txBody>
      </p:sp>
      <p:sp>
        <p:nvSpPr>
          <p:cNvPr id="15" name="">
            <a:extLst xmlns:a="http://schemas.openxmlformats.org/drawingml/2006/main">
              <a:ext uri="{FF2B5EF4-FFF2-40B4-BE49-F238E27FC236}">
                <a16:creationId xmlns:a16="http://schemas.microsoft.com/office/drawing/2014/main" id="{72D2E77A-2C67-4524-822A-CD02D47ACEA7}"/>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B65D58-B82D-4105-8569-F7A501558BE3}"/>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Conclusion, stated aloud: the container shares the controller's kernel</a:t>
            </a:r>
          </a:p>
        </p:txBody>
      </p:sp>
      <p:sp>
        <p:nvSpPr>
          <p:cNvPr id="17" name="">
            <a:extLst xmlns:a="http://schemas.openxmlformats.org/drawingml/2006/main">
              <a:ext uri="{FF2B5EF4-FFF2-40B4-BE49-F238E27FC236}">
                <a16:creationId xmlns:a16="http://schemas.microsoft.com/office/drawing/2014/main" id="{9FCE61F3-D83C-427A-93E2-8CCBDD978ECC}"/>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which of the three answers will differ between the two seats?</a:t>
            </a:r>
          </a:p>
        </p:txBody>
      </p:sp>
    </p:spTree>
    <p:extLst>
      <p:ext uri="{BB962C8B-B14F-4D97-AF65-F5344CB8AC3E}">
        <p14:creationId xmlns:p14="http://schemas.microsoft.com/office/powerpoint/2010/main" val="956357748"/>
      </p:ext>
    </p:extLst>
  </p:cSld>
</p:sld>
</file>

<file path=ppt/slides/slide1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9A7429-115E-48FD-9267-9CD420A4C4E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03B55C8-D0B7-4CE9-BB03-8FA9D8946908}"/>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1</a:t>
            </a:r>
          </a:p>
        </p:txBody>
      </p:sp>
      <p:sp>
        <p:nvSpPr>
          <p:cNvPr id="3" name="">
            <a:extLst xmlns:a="http://schemas.openxmlformats.org/drawingml/2006/main">
              <a:ext uri="{FF2B5EF4-FFF2-40B4-BE49-F238E27FC236}">
                <a16:creationId xmlns:a16="http://schemas.microsoft.com/office/drawing/2014/main" id="{653877D2-7665-4718-8D87-4160DAF8297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940FBF52-EFCD-4D9C-8EC0-9432B5A6151D}"/>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13</a:t>
            </a:r>
          </a:p>
        </p:txBody>
      </p:sp>
      <p:sp>
        <p:nvSpPr>
          <p:cNvPr id="5" name="">
            <a:extLst xmlns:a="http://schemas.openxmlformats.org/drawingml/2006/main">
              <a:ext uri="{FF2B5EF4-FFF2-40B4-BE49-F238E27FC236}">
                <a16:creationId xmlns:a16="http://schemas.microsoft.com/office/drawing/2014/main" id="{0E05A6A4-493F-45EB-AD4C-C96CEAE769AF}"/>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System boundaries and terminal survival</a:t>
            </a:r>
          </a:p>
        </p:txBody>
      </p:sp>
      <p:sp>
        <p:nvSpPr>
          <p:cNvPr id="6" name="">
            <a:extLst xmlns:a="http://schemas.openxmlformats.org/drawingml/2006/main">
              <a:ext uri="{FF2B5EF4-FFF2-40B4-BE49-F238E27FC236}">
                <a16:creationId xmlns:a16="http://schemas.microsoft.com/office/drawing/2014/main" id="{764DBCF4-CC1A-49BC-82EB-3094EC724AB3}"/>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15 minutes: produce the evidence, then explain it.</a:t>
            </a:r>
          </a:p>
        </p:txBody>
      </p:sp>
      <p:sp>
        <p:nvSpPr>
          <p:cNvPr id="7" name="">
            <a:extLst xmlns:a="http://schemas.openxmlformats.org/drawingml/2006/main">
              <a:ext uri="{FF2B5EF4-FFF2-40B4-BE49-F238E27FC236}">
                <a16:creationId xmlns:a16="http://schemas.microsoft.com/office/drawing/2014/main" id="{B288AC4E-2D80-48D4-A467-0C90ACA321B0}"/>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9D6978F-ED0F-4782-A29F-DCD971FFDA16}"/>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Create system-profile.txt and path-map.txt that prove the seat’s user space, kernel, architecture, init system, and filesystem anchors.</a:t>
            </a:r>
          </a:p>
        </p:txBody>
      </p:sp>
      <p:sp>
        <p:nvSpPr>
          <p:cNvPr id="9" name="">
            <a:extLst xmlns:a="http://schemas.openxmlformats.org/drawingml/2006/main">
              <a:ext uri="{FF2B5EF4-FFF2-40B4-BE49-F238E27FC236}">
                <a16:creationId xmlns:a16="http://schemas.microsoft.com/office/drawing/2014/main" id="{0DB7FFCF-23C8-443A-947A-95372E0EBACF}"/>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556AF8A-D525-4E04-B85B-6097E7376A3D}"/>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15 minutes</a:t>
            </a:r>
          </a:p>
        </p:txBody>
      </p:sp>
      <p:sp>
        <p:nvSpPr>
          <p:cNvPr id="11" name="">
            <a:extLst xmlns:a="http://schemas.openxmlformats.org/drawingml/2006/main">
              <a:ext uri="{FF2B5EF4-FFF2-40B4-BE49-F238E27FC236}">
                <a16:creationId xmlns:a16="http://schemas.microsoft.com/office/drawing/2014/main" id="{F50B4969-0CA3-4486-92CC-A97FECCE24F6}"/>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A610458-3573-4BD3-BA63-7ADA2A14F457}"/>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23332941-EA23-4878-9BD2-B63D6E136D38}"/>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041366F4-BDB5-471E-AB12-DF8184B3A78B}"/>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02ABC613-D2F4-4921-9AD1-EFD52691BD22}"/>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6BF2E93-A93E-4BE4-8C39-7001BA3F7935}"/>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0652FDDA-F736-431E-A7CA-E752E1811A8E}"/>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2055663890"/>
      </p:ext>
    </p:extLst>
  </p:cSld>
</p:sld>
</file>

<file path=ppt/slides/slide14.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E1A9453-0F84-4F79-9DDE-9090160D7D6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F966D1B-61CF-400B-83E9-C3EB7F72F68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 · DEBRIEF</a:t>
            </a:r>
          </a:p>
        </p:txBody>
      </p:sp>
      <p:sp>
        <p:nvSpPr>
          <p:cNvPr id="3" name="">
            <a:extLst xmlns:a="http://schemas.openxmlformats.org/drawingml/2006/main">
              <a:ext uri="{FF2B5EF4-FFF2-40B4-BE49-F238E27FC236}">
                <a16:creationId xmlns:a16="http://schemas.microsoft.com/office/drawing/2014/main" id="{22034228-8385-4C25-A908-551D8F061B14}"/>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AB35039A-DCB8-4776-8EFF-FA2DF226A9CE}"/>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14</a:t>
            </a:r>
          </a:p>
        </p:txBody>
      </p:sp>
      <p:sp>
        <p:nvSpPr>
          <p:cNvPr id="5" name="">
            <a:extLst xmlns:a="http://schemas.openxmlformats.org/drawingml/2006/main">
              <a:ext uri="{FF2B5EF4-FFF2-40B4-BE49-F238E27FC236}">
                <a16:creationId xmlns:a16="http://schemas.microsoft.com/office/drawing/2014/main" id="{2EC5717B-0C42-4706-B8EE-DF1ACFC48A3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49A94345-E748-4266-B3B7-E555DAB5CCCE}"/>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ED1ABAE1-3C62-4EAF-895E-FE3248257841}"/>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BA1B157-BC33-48A6-9117-C1BBDAF4347A}"/>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Distribution and kernel can give different answers because they describe different layers. Next: paths tell us where objects live inside that environment.</a:t>
            </a:r>
          </a:p>
        </p:txBody>
      </p:sp>
      <p:sp>
        <p:nvSpPr>
          <p:cNvPr id="9" name="">
            <a:extLst xmlns:a="http://schemas.openxmlformats.org/drawingml/2006/main">
              <a:ext uri="{FF2B5EF4-FFF2-40B4-BE49-F238E27FC236}">
                <a16:creationId xmlns:a16="http://schemas.microsoft.com/office/drawing/2014/main" id="{8277D880-8D60-4D95-A0D9-0498B6DD12D0}"/>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17604968-FFBC-4536-A620-EBC126CE0F04}"/>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D31AF736-B39F-4F2D-B8CA-ECAEE2D243DA}"/>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5AC9087-9277-4163-A72A-C4302EAD9086}"/>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42D0D58D-2AD3-40E5-B6D3-4EC8AF896CA5}"/>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C9BEB13-B589-478F-963C-CE658D3E8E7C}"/>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1188271790"/>
      </p:ext>
    </p:extLst>
  </p:cSld>
</p:sld>
</file>

<file path=ppt/slides/slide15.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55E45F-0659-4D25-AA9F-C6050A71A6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744A57D-6812-4820-B2BE-4B616C85B15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2</a:t>
            </a:r>
          </a:p>
        </p:txBody>
      </p:sp>
      <p:sp>
        <p:nvSpPr>
          <p:cNvPr id="3" name="">
            <a:extLst xmlns:a="http://schemas.openxmlformats.org/drawingml/2006/main">
              <a:ext uri="{FF2B5EF4-FFF2-40B4-BE49-F238E27FC236}">
                <a16:creationId xmlns:a16="http://schemas.microsoft.com/office/drawing/2014/main" id="{41488DF6-4936-4D40-BD8E-33D5C3EFAAD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CF3B7368-576A-420D-997F-909FF075E5E5}"/>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15</a:t>
            </a:r>
          </a:p>
        </p:txBody>
      </p:sp>
      <p:sp>
        <p:nvSpPr>
          <p:cNvPr id="5" name="">
            <a:extLst xmlns:a="http://schemas.openxmlformats.org/drawingml/2006/main">
              <a:ext uri="{FF2B5EF4-FFF2-40B4-BE49-F238E27FC236}">
                <a16:creationId xmlns:a16="http://schemas.microsoft.com/office/drawing/2014/main" id="{59B92775-FA35-4B1D-9D4A-65ED35CEC488}"/>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02</a:t>
            </a:r>
          </a:p>
        </p:txBody>
      </p:sp>
      <p:sp>
        <p:nvSpPr>
          <p:cNvPr id="6" name="">
            <a:extLst xmlns:a="http://schemas.openxmlformats.org/drawingml/2006/main">
              <a:ext uri="{FF2B5EF4-FFF2-40B4-BE49-F238E27FC236}">
                <a16:creationId xmlns:a16="http://schemas.microsoft.com/office/drawing/2014/main" id="{7195935D-634B-48F5-8045-08D2B6A82972}"/>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Filesystem navigation, objects, and links</a:t>
            </a:r>
          </a:p>
        </p:txBody>
      </p:sp>
      <p:sp>
        <p:nvSpPr>
          <p:cNvPr id="7" name="">
            <a:extLst xmlns:a="http://schemas.openxmlformats.org/drawingml/2006/main">
              <a:ext uri="{FF2B5EF4-FFF2-40B4-BE49-F238E27FC236}">
                <a16:creationId xmlns:a16="http://schemas.microsoft.com/office/drawing/2014/main" id="{C90111B5-F4B6-481F-8924-FEBF8C9D3B89}"/>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How does Linux resolve a pathname into an object?</a:t>
            </a:r>
          </a:p>
        </p:txBody>
      </p:sp>
      <p:sp>
        <p:nvSpPr>
          <p:cNvPr id="8" name="">
            <a:extLst xmlns:a="http://schemas.openxmlformats.org/drawingml/2006/main">
              <a:ext uri="{FF2B5EF4-FFF2-40B4-BE49-F238E27FC236}">
                <a16:creationId xmlns:a16="http://schemas.microsoft.com/office/drawing/2014/main" id="{53B3C1BB-A3FD-4916-A07D-1873618BCF15}"/>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72EC9BA-C078-418B-BB20-9FBFA21512C0}"/>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General Linux · FHS + Linux VFS</a:t>
            </a:r>
          </a:p>
        </p:txBody>
      </p:sp>
    </p:spTree>
    <p:extLst>
      <p:ext uri="{BB962C8B-B14F-4D97-AF65-F5344CB8AC3E}">
        <p14:creationId xmlns:p14="http://schemas.microsoft.com/office/powerpoint/2010/main" val="564449837"/>
      </p:ext>
    </p:extLst>
  </p:cSld>
</p:sld>
</file>

<file path=ppt/slides/slide1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CA54F8-A3D8-444C-B857-ACDB8859A6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46E53DC-1237-4BB8-8A3E-59DF558CE34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2 · MODEL</a:t>
            </a:r>
          </a:p>
        </p:txBody>
      </p:sp>
      <p:sp>
        <p:nvSpPr>
          <p:cNvPr id="3" name="">
            <a:extLst xmlns:a="http://schemas.openxmlformats.org/drawingml/2006/main">
              <a:ext uri="{FF2B5EF4-FFF2-40B4-BE49-F238E27FC236}">
                <a16:creationId xmlns:a16="http://schemas.microsoft.com/office/drawing/2014/main" id="{B4737894-F2C9-405D-B1DA-4B79DC2DCD4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86AFACB6-50A1-46AE-B36D-CF540F129485}"/>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16</a:t>
            </a:r>
          </a:p>
        </p:txBody>
      </p:sp>
      <p:sp>
        <p:nvSpPr>
          <p:cNvPr id="5" name="">
            <a:extLst xmlns:a="http://schemas.openxmlformats.org/drawingml/2006/main">
              <a:ext uri="{FF2B5EF4-FFF2-40B4-BE49-F238E27FC236}">
                <a16:creationId xmlns:a16="http://schemas.microsoft.com/office/drawing/2014/main" id="{E6A49BEB-717E-4561-AC8F-780DB79497E9}"/>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Paths resolve from a starting point</a:t>
            </a:r>
          </a:p>
        </p:txBody>
      </p:sp>
      <p:sp>
        <p:nvSpPr>
          <p:cNvPr id="6" name="">
            <a:extLst xmlns:a="http://schemas.openxmlformats.org/drawingml/2006/main">
              <a:ext uri="{FF2B5EF4-FFF2-40B4-BE49-F238E27FC236}">
                <a16:creationId xmlns:a16="http://schemas.microsoft.com/office/drawing/2014/main" id="{57F46637-EADF-4D18-8F17-800AA9C7ADB2}"/>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A path is a route through one tree; the start point and every component matter.</a:t>
            </a:r>
          </a:p>
        </p:txBody>
      </p:sp>
      <p:sp>
        <p:nvSpPr>
          <p:cNvPr id="7" name="">
            <a:extLst xmlns:a="http://schemas.openxmlformats.org/drawingml/2006/main">
              <a:ext uri="{FF2B5EF4-FFF2-40B4-BE49-F238E27FC236}">
                <a16:creationId xmlns:a16="http://schemas.microsoft.com/office/drawing/2014/main" id="{9218793E-EC26-4D22-8733-235994D49857}"/>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DB5C676-90AF-4777-87B8-BC3FFF6430C7}"/>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Linux presents a single directory tree rooted at /; mounted filesystems join it at directories.</a:t>
            </a:r>
          </a:p>
        </p:txBody>
      </p:sp>
      <p:sp>
        <p:nvSpPr>
          <p:cNvPr id="9" name="">
            <a:extLst xmlns:a="http://schemas.openxmlformats.org/drawingml/2006/main">
              <a:ext uri="{FF2B5EF4-FFF2-40B4-BE49-F238E27FC236}">
                <a16:creationId xmlns:a16="http://schemas.microsoft.com/office/drawing/2014/main" id="{5991E3F4-4AF9-41A4-8CA5-7B1F202C780F}"/>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8770C2B-ABE9-460B-A592-FDF5EF7C3986}"/>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An absolute path starts at /; a relative path starts at the working directory. Every parent directory needs search (x) permission.</a:t>
            </a:r>
          </a:p>
        </p:txBody>
      </p:sp>
    </p:spTree>
    <p:extLst>
      <p:ext uri="{BB962C8B-B14F-4D97-AF65-F5344CB8AC3E}">
        <p14:creationId xmlns:p14="http://schemas.microsoft.com/office/powerpoint/2010/main" val="1276924502"/>
      </p:ext>
    </p:extLst>
  </p:cSld>
</p:sld>
</file>

<file path=ppt/slides/slide17.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8DEEFE-A890-4AB5-BDCE-2AB98C516C1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B5B3AE-79D7-4663-B22E-95FA898C5B4F}"/>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2 · BUILD THE MODEL</a:t>
            </a:r>
          </a:p>
        </p:txBody>
      </p:sp>
      <p:sp>
        <p:nvSpPr>
          <p:cNvPr id="3" name="">
            <a:extLst xmlns:a="http://schemas.openxmlformats.org/drawingml/2006/main">
              <a:ext uri="{FF2B5EF4-FFF2-40B4-BE49-F238E27FC236}">
                <a16:creationId xmlns:a16="http://schemas.microsoft.com/office/drawing/2014/main" id="{2347B095-9506-4072-AC46-388E1C3FAF66}"/>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04EE5DB0-57A6-47DB-B781-4391A16A6A4D}"/>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17</a:t>
            </a:r>
          </a:p>
        </p:txBody>
      </p:sp>
      <p:sp>
        <p:nvSpPr>
          <p:cNvPr id="5" name="">
            <a:extLst xmlns:a="http://schemas.openxmlformats.org/drawingml/2006/main">
              <a:ext uri="{FF2B5EF4-FFF2-40B4-BE49-F238E27FC236}">
                <a16:creationId xmlns:a16="http://schemas.microsoft.com/office/drawing/2014/main" id="{58865A13-4C5E-4F4E-935A-1A62FC4E8AE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Path resolution checks one component at a time</a:t>
            </a:r>
          </a:p>
        </p:txBody>
      </p:sp>
      <p:sp>
        <p:nvSpPr>
          <p:cNvPr id="6" name="">
            <a:extLst xmlns:a="http://schemas.openxmlformats.org/drawingml/2006/main">
              <a:ext uri="{FF2B5EF4-FFF2-40B4-BE49-F238E27FC236}">
                <a16:creationId xmlns:a16="http://schemas.microsoft.com/office/drawing/2014/main" id="{57E57745-74ED-4564-B821-9FF48585CF54}"/>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final pathname can fail even when the final file mode looks permissive.</a:t>
            </a:r>
          </a:p>
        </p:txBody>
      </p:sp>
      <p:sp>
        <p:nvSpPr>
          <p:cNvPr id="7" name="">
            <a:extLst xmlns:a="http://schemas.openxmlformats.org/drawingml/2006/main">
              <a:ext uri="{FF2B5EF4-FFF2-40B4-BE49-F238E27FC236}">
                <a16:creationId xmlns:a16="http://schemas.microsoft.com/office/drawing/2014/main" id="{50A9FB2F-8B93-437B-817D-EB59586B65C6}"/>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5B414D8-8BFC-4E12-80CC-B443A7974640}"/>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Choose / or the working directory as the starting point</a:t>
            </a:r>
          </a:p>
        </p:txBody>
      </p:sp>
      <p:sp>
        <p:nvSpPr>
          <p:cNvPr id="9" name="">
            <a:extLst xmlns:a="http://schemas.openxmlformats.org/drawingml/2006/main">
              <a:ext uri="{FF2B5EF4-FFF2-40B4-BE49-F238E27FC236}">
                <a16:creationId xmlns:a16="http://schemas.microsoft.com/office/drawing/2014/main" id="{A90AB4D4-9BB2-4E2C-9AF0-9DAFAFA6DFEB}"/>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9F2A970-87BE-4D0B-AB35-B675BACFA7E5}"/>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Read each directory entry from left to right</a:t>
            </a:r>
          </a:p>
        </p:txBody>
      </p:sp>
      <p:sp>
        <p:nvSpPr>
          <p:cNvPr id="11" name="">
            <a:extLst xmlns:a="http://schemas.openxmlformats.org/drawingml/2006/main">
              <a:ext uri="{FF2B5EF4-FFF2-40B4-BE49-F238E27FC236}">
                <a16:creationId xmlns:a16="http://schemas.microsoft.com/office/drawing/2014/main" id="{E34C6C0A-EF11-45AD-AB6F-4A7B262FACBD}"/>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7B8652B-8D31-41C1-AC1D-3C62F6DA77C7}"/>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Follow mounts and symbolic links when encountered</a:t>
            </a:r>
          </a:p>
        </p:txBody>
      </p:sp>
      <p:sp>
        <p:nvSpPr>
          <p:cNvPr id="13" name="">
            <a:extLst xmlns:a="http://schemas.openxmlformats.org/drawingml/2006/main">
              <a:ext uri="{FF2B5EF4-FFF2-40B4-BE49-F238E27FC236}">
                <a16:creationId xmlns:a16="http://schemas.microsoft.com/office/drawing/2014/main" id="{75F755CB-D272-4223-9137-59D548030CF9}"/>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8F0B3232-7E3C-4854-A9A8-9636BA7CC57A}"/>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Require search permission on every parent directory</a:t>
            </a:r>
          </a:p>
        </p:txBody>
      </p:sp>
    </p:spTree>
    <p:extLst>
      <p:ext uri="{BB962C8B-B14F-4D97-AF65-F5344CB8AC3E}">
        <p14:creationId xmlns:p14="http://schemas.microsoft.com/office/powerpoint/2010/main" val="337490489"/>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E2CA54F8-A3D8-444C-B857-ACDB8859A6AB}"/>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146E53DC-1237-4BB8-8A3E-59DF558CE344}"/>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2 · MODEL</a:t>
            </a:r>
          </a:p>
        </p:txBody>
      </p:sp>
      <p:sp>
        <p:nvSpPr>
          <p:cNvPr id="3" name="">
            <a:extLst>
              <a:ext uri="{FF2B5EF4-FFF2-40B4-BE49-F238E27FC236}">
                <a16:creationId xmlns:a16="http://schemas.microsoft.com/office/drawing/2014/main" id="{B4737894-F2C9-405D-B1DA-4B79DC2DCD43}"/>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86AFACB6-50A1-46AE-B36D-CF540F129485}"/>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18</a:t>
            </a:r>
          </a:p>
        </p:txBody>
      </p:sp>
      <p:sp>
        <p:nvSpPr>
          <p:cNvPr id="5" name="">
            <a:extLst>
              <a:ext uri="{FF2B5EF4-FFF2-40B4-BE49-F238E27FC236}">
                <a16:creationId xmlns:a16="http://schemas.microsoft.com/office/drawing/2014/main" id="{E6A49BEB-717E-4561-AC8F-780DB79497E9}"/>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Names, hard links, and symbolic links</a:t>
            </a:r>
          </a:p>
        </p:txBody>
      </p:sp>
      <p:sp>
        <p:nvSpPr>
          <p:cNvPr id="6" name="">
            <a:extLst>
              <a:ext uri="{FF2B5EF4-FFF2-40B4-BE49-F238E27FC236}">
                <a16:creationId xmlns:a16="http://schemas.microsoft.com/office/drawing/2014/main" id="{57F46637-EADF-4D18-8F17-800AA9C7ADB2}"/>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First, the object itself: the inode. Names are only labels pointing at it.</a:t>
            </a:r>
          </a:p>
        </p:txBody>
      </p:sp>
      <p:sp>
        <p:nvSpPr>
          <p:cNvPr id="7" name="">
            <a:extLst>
              <a:ext uri="{FF2B5EF4-FFF2-40B4-BE49-F238E27FC236}">
                <a16:creationId xmlns:a16="http://schemas.microsoft.com/office/drawing/2014/main" id="{9218793E-EC26-4D22-8733-235994D49857}"/>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0DB5C676-90AF-4777-87B8-BC3FFF6430C7}"/>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An inode is the filesystem's record for one file — owner, mode, size, timestamps, link count, and where the data lives. Everything except the name.</a:t>
            </a:r>
          </a:p>
        </p:txBody>
      </p:sp>
      <p:sp>
        <p:nvSpPr>
          <p:cNvPr id="9" name="">
            <a:extLst>
              <a:ext uri="{FF2B5EF4-FFF2-40B4-BE49-F238E27FC236}">
                <a16:creationId xmlns:a16="http://schemas.microsoft.com/office/drawing/2014/main" id="{5991E3F4-4AF9-41A4-8CA5-7B1F202C780F}"/>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98770C2B-ABE9-460B-A592-FDF5EF7C3986}"/>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A hard link is a second name for the same inode; a symbolic link stores only a path as text, re-resolved on every use.</a:t>
            </a:r>
          </a:p>
        </p:txBody>
      </p:sp>
      <p:sp>
        <p:nvSpPr>
          <p:cNvPr id="10" name="">
            <a:extLst>
              <a:ext uri="{FF2B5EF4-FFF2-40B4-BE49-F238E27FC236}">
                <a16:creationId xmlns:a16="http://schemas.microsoft.com/office/drawing/2014/main" id="{98770C2B-ABE9-460B-A592-FDF5EF7C3986}"/>
              </a:ext>
            </a:extLst>
          </p:cNvPr>
          <p:cNvSpPr>
            <a:spLocks noGrp="1"/>
          </p:cNvSpPr>
          <p:nvPr/>
        </p:nvSpPr>
        <p:spPr>
          <a:xfrm>
            <a:off x="1028700" y="4515612"/>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Consequence: removing one hard-linked name leaves the content reachable; renaming a symlink's target leaves the link dangling.</a:t>
            </a:r>
          </a:p>
        </p:txBody>
      </p:sp>
      <p:sp>
        <p:nvSpPr>
          <p:cNvPr id="7" name="">
            <a:extLst>
              <a:ext uri="{FF2B5EF4-FFF2-40B4-BE49-F238E27FC236}">
                <a16:creationId xmlns:a16="http://schemas.microsoft.com/office/drawing/2014/main" id="{9218793E-EC26-4D22-8733-235994D49857}"/>
              </a:ext>
            </a:extLst>
          </p:cNvPr>
          <p:cNvSpPr>
            <a:spLocks noGrp="1"/>
          </p:cNvSpPr>
          <p:nvPr/>
        </p:nvSpPr>
        <p:spPr>
          <a:xfrm>
            <a:off x="781050" y="4896612"/>
            <a:ext cx="95250" cy="95250"/>
          </a:xfrm>
          <a:prstGeom prst="roundRect">
            <a:avLst>
              <a:gd name="adj" fmla="val 50000"/>
            </a:avLst>
          </a:prstGeom>
          <a:solidFill>
            <a:srgbClr val="7650F8"/>
          </a:solidFill>
          <a:ln w="0">
            <a:noFill/>
            <a:prstDash val="solid"/>
          </a:ln>
        </p:spPr>
        <p:txBody>
          <a:body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3C44BBA4-1367-413C-AF34-9ACF2A6F16EC}"/>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E9198772-10F2-46F7-8225-B247A48D328B}"/>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2 · PICTURE THE LINKS</a:t>
            </a:r>
          </a:p>
        </p:txBody>
      </p:sp>
      <p:sp>
        <p:nvSpPr>
          <p:cNvPr id="3" name="">
            <a:extLst>
              <a:ext uri="{FF2B5EF4-FFF2-40B4-BE49-F238E27FC236}">
                <a16:creationId xmlns:a16="http://schemas.microsoft.com/office/drawing/2014/main" id="{206D8A59-5C9C-44A0-B470-14FA521491A0}"/>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C0DF8566-B2EC-4ED8-975D-20B3FDD3A622}"/>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19</a:t>
            </a:r>
          </a:p>
        </p:txBody>
      </p:sp>
      <p:sp>
        <p:nvSpPr>
          <p:cNvPr id="5" name="">
            <a:extLst>
              <a:ext uri="{FF2B5EF4-FFF2-40B4-BE49-F238E27FC236}">
                <a16:creationId xmlns:a16="http://schemas.microsoft.com/office/drawing/2014/main" id="{66176B65-8149-4CFF-8DA6-E35DC0B4E0C4}"/>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Hard link vs symbolic link</a:t>
            </a:r>
          </a:p>
        </p:txBody>
      </p:sp>
      <p:pic>
        <p:nvPicPr>
          <p:cNvPr id="15" name="Picture 14" descr="links.png"/>
          <p:cNvPicPr>
            <a:picLocks noChangeAspect="1"/>
          </p:cNvPicPr>
          <p:nvPr/>
        </p:nvPicPr>
        <p:blipFill>
          <a:blip r:embed="rId2"/>
          <a:stretch>
            <a:fillRect/>
          </a:stretch>
        </p:blipFill>
        <p:spPr>
          <a:xfrm>
            <a:off x="1825313" y="1481328"/>
            <a:ext cx="8541068" cy="4480560"/>
          </a:xfrm>
          <a:prstGeom prst="rect">
            <a:avLst/>
          </a:prstGeom>
        </p:spPr>
      </p:pic>
      <p:sp>
        <p:nvSpPr>
          <p:cNvPr id="16" name="TextBox 15"/>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A hard link is a second name for the inode; a symlink is a stored path, re-resolved on every use.</a:t>
            </a:r>
          </a:p>
        </p:txBody>
      </p:sp>
    </p:spTree>
  </p:cSld>
  <p:clrMapOvr>
    <a:masterClrMapping/>
  </p:clrMapOvr>
</p:sld>
</file>

<file path=ppt/slides/slide20.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C44BBA4-1367-413C-AF34-9ACF2A6F16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9198772-10F2-46F7-8225-B247A48D328B}"/>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2 · WORKED EXAMPLE</a:t>
            </a:r>
          </a:p>
        </p:txBody>
      </p:sp>
      <p:sp>
        <p:nvSpPr>
          <p:cNvPr id="3" name="">
            <a:extLst xmlns:a="http://schemas.openxmlformats.org/drawingml/2006/main">
              <a:ext uri="{FF2B5EF4-FFF2-40B4-BE49-F238E27FC236}">
                <a16:creationId xmlns:a16="http://schemas.microsoft.com/office/drawing/2014/main" id="{206D8A59-5C9C-44A0-B470-14FA521491A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C0DF8566-B2EC-4ED8-975D-20B3FDD3A622}"/>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20</a:t>
            </a:r>
          </a:p>
        </p:txBody>
      </p:sp>
      <p:sp>
        <p:nvSpPr>
          <p:cNvPr id="5" name="">
            <a:extLst xmlns:a="http://schemas.openxmlformats.org/drawingml/2006/main">
              <a:ext uri="{FF2B5EF4-FFF2-40B4-BE49-F238E27FC236}">
                <a16:creationId xmlns:a16="http://schemas.microsoft.com/office/drawing/2014/main" id="{66176B65-8149-4CFF-8DA6-E35DC0B4E0C4}"/>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Predict link behavior before changing names</a:t>
            </a:r>
          </a:p>
        </p:txBody>
      </p:sp>
      <p:sp>
        <p:nvSpPr>
          <p:cNvPr id="6" name="">
            <a:extLst xmlns:a="http://schemas.openxmlformats.org/drawingml/2006/main">
              <a:ext uri="{FF2B5EF4-FFF2-40B4-BE49-F238E27FC236}">
                <a16:creationId xmlns:a16="http://schemas.microsoft.com/office/drawing/2014/main" id="{9B469D05-C552-4DE2-B898-D1CA215E15D4}"/>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CC7F827-583B-4341-BBEE-39A520BD2995}"/>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ln notes/welcome.txt notes/welcome-hard.txt</a:t>
            </a:r>
          </a:p>
          <a:p xmlns:a="http://schemas.openxmlformats.org/drawingml/2006/main">
            <a:pPr algn="l">
              <a:buNone/>
              <a:defRPr sz="1575" b="0">
                <a:solidFill>
                  <a:srgbClr val="F7F1FA"/>
                </a:solidFill>
              </a:defRPr>
            </a:pPr>
            <a:r>
              <a:rPr sz="1575" b="0">
                <a:solidFill>
                  <a:srgbClr val="F7F1FA"/>
                </a:solidFill>
              </a:rPr>
              <a:t>ln -s ../notes/welcome.txt links/latest-note</a:t>
            </a:r>
          </a:p>
          <a:p xmlns:a="http://schemas.openxmlformats.org/drawingml/2006/main">
            <a:pPr algn="l">
              <a:buNone/>
              <a:defRPr sz="1575" b="0">
                <a:solidFill>
                  <a:srgbClr val="F7F1FA"/>
                </a:solidFill>
              </a:defRPr>
            </a:pPr>
            <a:r>
              <a:rPr sz="1575" b="0">
                <a:solidFill>
                  <a:srgbClr val="F7F1FA"/>
                </a:solidFill>
              </a:rPr>
              <a:t>ls -li notes; readlink links/latest-note</a:t>
            </a:r>
          </a:p>
        </p:txBody>
      </p:sp>
      <p:sp>
        <p:nvSpPr>
          <p:cNvPr id="8" name="">
            <a:extLst xmlns:a="http://schemas.openxmlformats.org/drawingml/2006/main">
              <a:ext uri="{FF2B5EF4-FFF2-40B4-BE49-F238E27FC236}">
                <a16:creationId xmlns:a16="http://schemas.microsoft.com/office/drawing/2014/main" id="{F437C155-508E-497C-A10E-4A954B36F269}"/>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9F903A2-941A-453D-B6F0-B8C053B1FC53}"/>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ls -li: equal inode numbers prove one object; the link count shows how many names it has.</a:t>
            </a:r>
          </a:p>
        </p:txBody>
      </p:sp>
      <p:sp>
        <p:nvSpPr>
          <p:cNvPr id="10" name="">
            <a:extLst xmlns:a="http://schemas.openxmlformats.org/drawingml/2006/main">
              <a:ext uri="{FF2B5EF4-FFF2-40B4-BE49-F238E27FC236}">
                <a16:creationId xmlns:a16="http://schemas.microsoft.com/office/drawing/2014/main" id="{AA576768-EDAD-43CB-B639-173CFEC8974C}"/>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0F27E42-C0D6-4177-B078-DECDE38DB0BE}"/>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readlink prints the stored path text — the only thing a symlink contains.</a:t>
            </a:r>
          </a:p>
        </p:txBody>
      </p:sp>
      <p:sp>
        <p:nvSpPr>
          <p:cNvPr id="12" name="">
            <a:extLst xmlns:a="http://schemas.openxmlformats.org/drawingml/2006/main">
              <a:ext uri="{FF2B5EF4-FFF2-40B4-BE49-F238E27FC236}">
                <a16:creationId xmlns:a16="http://schemas.microsoft.com/office/drawing/2014/main" id="{B6FF6E98-036E-4966-A6E5-6E29E4187B3E}"/>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237A0CB-8BE2-4846-BD2B-D6F127819E7E}"/>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Rename the target: the symlink dangles; the hard link is unaffected.</a:t>
            </a:r>
          </a:p>
        </p:txBody>
      </p:sp>
      <p:sp>
        <p:nvSpPr>
          <p:cNvPr id="13" name="">
            <a:extLst xmlns:a="http://schemas.openxmlformats.org/drawingml/2006/main">
              <a:ext uri="{FF2B5EF4-FFF2-40B4-BE49-F238E27FC236}">
                <a16:creationId xmlns:a16="http://schemas.microsoft.com/office/drawing/2014/main" id="{5237A0CB-8BE2-4846-BD2B-D6F127819E7E}"/>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A relative symlink (../notes/…) resolves from the link's own folder.</a:t>
            </a:r>
          </a:p>
        </p:txBody>
      </p:sp>
      <p:sp>
        <p:nvSpPr>
          <p:cNvPr id="12" name="">
            <a:extLst xmlns:a="http://schemas.openxmlformats.org/drawingml/2006/main">
              <a:ext uri="{FF2B5EF4-FFF2-40B4-BE49-F238E27FC236}">
                <a16:creationId xmlns:a16="http://schemas.microsoft.com/office/drawing/2014/main" id="{B6FF6E98-036E-4966-A6E5-6E29E4187B3E}"/>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654501102"/>
      </p:ext>
    </p:extLst>
  </p:cSld>
</p:sld>
</file>

<file path=ppt/slides/slide2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E61DA55-5771-43CE-84DE-88274D267E7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FAFB5E0-BD68-4FCC-B46D-AE734AC5432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2 · GUIDED COMMANDS</a:t>
            </a:r>
          </a:p>
        </p:txBody>
      </p:sp>
      <p:sp>
        <p:nvSpPr>
          <p:cNvPr id="3" name="">
            <a:extLst xmlns:a="http://schemas.openxmlformats.org/drawingml/2006/main">
              <a:ext uri="{FF2B5EF4-FFF2-40B4-BE49-F238E27FC236}">
                <a16:creationId xmlns:a16="http://schemas.microsoft.com/office/drawing/2014/main" id="{8393E17E-4EF3-4F12-B651-3DB2E6629795}"/>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01F14660-23EB-4562-88E4-1E679B2C11AA}"/>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21</a:t>
            </a:r>
          </a:p>
        </p:txBody>
      </p:sp>
      <p:sp>
        <p:nvSpPr>
          <p:cNvPr id="5" name="">
            <a:extLst xmlns:a="http://schemas.openxmlformats.org/drawingml/2006/main">
              <a:ext uri="{FF2B5EF4-FFF2-40B4-BE49-F238E27FC236}">
                <a16:creationId xmlns:a16="http://schemas.microsoft.com/office/drawing/2014/main" id="{08EBD93B-DB21-40F8-9D3F-19347118B23D}"/>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C2686387-EE4C-4189-ACC7-3E09D31B18B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3B14FE74-7D29-498D-9720-F6F62CC68549}"/>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pwd</a:t>
            </a:r>
          </a:p>
        </p:txBody>
      </p:sp>
      <p:sp>
        <p:nvSpPr>
          <p:cNvPr id="8" name="">
            <a:extLst xmlns:a="http://schemas.openxmlformats.org/drawingml/2006/main">
              <a:ext uri="{FF2B5EF4-FFF2-40B4-BE49-F238E27FC236}">
                <a16:creationId xmlns:a16="http://schemas.microsoft.com/office/drawing/2014/main" id="{E34FD9FA-C2D1-49F1-8A00-0E51A1D4CE6B}"/>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the current directory ( pwd -P resolves symlinks )</a:t>
            </a:r>
          </a:p>
        </p:txBody>
      </p:sp>
      <p:sp>
        <p:nvSpPr>
          <p:cNvPr id="9" name="">
            <a:extLst xmlns:a="http://schemas.openxmlformats.org/drawingml/2006/main">
              <a:ext uri="{FF2B5EF4-FFF2-40B4-BE49-F238E27FC236}">
                <a16:creationId xmlns:a16="http://schemas.microsoft.com/office/drawing/2014/main" id="{25F77108-BA86-461A-9C9E-5ED813140BB8}"/>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29F139-4766-4C0A-991F-B900492D4A30}"/>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file PATH</a:t>
            </a:r>
          </a:p>
        </p:txBody>
      </p:sp>
      <p:sp>
        <p:nvSpPr>
          <p:cNvPr id="11" name="">
            <a:extLst xmlns:a="http://schemas.openxmlformats.org/drawingml/2006/main">
              <a:ext uri="{FF2B5EF4-FFF2-40B4-BE49-F238E27FC236}">
                <a16:creationId xmlns:a16="http://schemas.microsoft.com/office/drawing/2014/main" id="{2EF2F31C-4F64-4027-A95A-B93D9F4118AE}"/>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guess content type from bytes — a hint, not proof</a:t>
            </a:r>
          </a:p>
        </p:txBody>
      </p:sp>
      <p:sp>
        <p:nvSpPr>
          <p:cNvPr id="12" name="">
            <a:extLst xmlns:a="http://schemas.openxmlformats.org/drawingml/2006/main">
              <a:ext uri="{FF2B5EF4-FFF2-40B4-BE49-F238E27FC236}">
                <a16:creationId xmlns:a16="http://schemas.microsoft.com/office/drawing/2014/main" id="{2FF3C6F9-06AC-4C1E-9145-C6E5DC18EC05}"/>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D7E4F186-CFB0-4EC2-97BD-934E8A007032}"/>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realpath PATH</a:t>
            </a:r>
          </a:p>
        </p:txBody>
      </p:sp>
      <p:sp>
        <p:nvSpPr>
          <p:cNvPr id="14" name="">
            <a:extLst xmlns:a="http://schemas.openxmlformats.org/drawingml/2006/main">
              <a:ext uri="{FF2B5EF4-FFF2-40B4-BE49-F238E27FC236}">
                <a16:creationId xmlns:a16="http://schemas.microsoft.com/office/drawing/2014/main" id="{EBF993C5-5C61-4DE8-9998-1FEDB254CE2F}"/>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the resolved absolute path, symlinks followed</a:t>
            </a:r>
          </a:p>
        </p:txBody>
      </p:sp>
      <p:sp>
        <p:nvSpPr>
          <p:cNvPr id="15" name="">
            <a:extLst xmlns:a="http://schemas.openxmlformats.org/drawingml/2006/main">
              <a:ext uri="{FF2B5EF4-FFF2-40B4-BE49-F238E27FC236}">
                <a16:creationId xmlns:a16="http://schemas.microsoft.com/office/drawing/2014/main" id="{9AC321F6-52E1-442C-9D1C-5EAB577ECCEF}"/>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3E273BE-0958-4DDB-BAE6-7F0B96F78C5C}"/>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stat PATH</a:t>
            </a:r>
          </a:p>
        </p:txBody>
      </p:sp>
      <p:sp>
        <p:nvSpPr>
          <p:cNvPr id="17" name="">
            <a:extLst xmlns:a="http://schemas.openxmlformats.org/drawingml/2006/main">
              <a:ext uri="{FF2B5EF4-FFF2-40B4-BE49-F238E27FC236}">
                <a16:creationId xmlns:a16="http://schemas.microsoft.com/office/drawing/2014/main" id="{A0DFBFD4-FE79-430D-A822-2F853CBCC514}"/>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authoritative metadata: inode, links, owner, mode</a:t>
            </a:r>
          </a:p>
        </p:txBody>
      </p:sp>
      <p:sp>
        <p:nvSpPr>
          <p:cNvPr id="18" name="">
            <a:extLst xmlns:a="http://schemas.openxmlformats.org/drawingml/2006/main">
              <a:ext uri="{FF2B5EF4-FFF2-40B4-BE49-F238E27FC236}">
                <a16:creationId xmlns:a16="http://schemas.microsoft.com/office/drawing/2014/main" id="{34DB7554-1120-4326-8B18-718A9F8F6C20}"/>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553CDC02-141F-4EAA-8846-DDAAC3FD780D}"/>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find … -printf</a:t>
            </a:r>
          </a:p>
        </p:txBody>
      </p:sp>
      <p:sp>
        <p:nvSpPr>
          <p:cNvPr id="20" name="">
            <a:extLst xmlns:a="http://schemas.openxmlformats.org/drawingml/2006/main">
              <a:ext uri="{FF2B5EF4-FFF2-40B4-BE49-F238E27FC236}">
                <a16:creationId xmlns:a16="http://schemas.microsoft.com/office/drawing/2014/main" id="{38BDAE65-A544-48F2-BBF8-3D4B5CD4C7D9}"/>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list names with fields, e.g. -printf '%p %i'</a:t>
            </a:r>
          </a:p>
        </p:txBody>
      </p:sp>
      <p:sp>
        <p:nvSpPr>
          <p:cNvPr id="19" name="">
            <a:extLst xmlns:a="http://schemas.openxmlformats.org/drawingml/2006/main">
              <a:ext uri="{FF2B5EF4-FFF2-40B4-BE49-F238E27FC236}">
                <a16:creationId xmlns:a16="http://schemas.microsoft.com/office/drawing/2014/main" id="{553CDC02-141F-4EAA-8846-DDAAC3FD780D}"/>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ls -li</a:t>
            </a:r>
          </a:p>
        </p:txBody>
      </p:sp>
      <p:sp>
        <p:nvSpPr>
          <p:cNvPr id="20" name="">
            <a:extLst xmlns:a="http://schemas.openxmlformats.org/drawingml/2006/main">
              <a:ext uri="{FF2B5EF4-FFF2-40B4-BE49-F238E27FC236}">
                <a16:creationId xmlns:a16="http://schemas.microsoft.com/office/drawing/2014/main" id="{38BDAE65-A544-48F2-BBF8-3D4B5CD4C7D9}"/>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long listing with the inode number in column one</a:t>
            </a:r>
          </a:p>
        </p:txBody>
      </p:sp>
      <p:sp>
        <p:nvSpPr>
          <p:cNvPr id="18" name="">
            <a:extLst xmlns:a="http://schemas.openxmlformats.org/drawingml/2006/main">
              <a:ext uri="{FF2B5EF4-FFF2-40B4-BE49-F238E27FC236}">
                <a16:creationId xmlns:a16="http://schemas.microsoft.com/office/drawing/2014/main" id="{34DB7554-1120-4326-8B18-718A9F8F6C20}"/>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34798710"/>
      </p:ext>
    </p:extLst>
  </p:cSld>
</p:sld>
</file>

<file path=ppt/slides/slide22.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DEF652D-7A29-42EF-8D9C-9A5C14118A1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F1E01F5-FEF8-4F2D-A66E-F77E380BB3CF}"/>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2 · LIVE DEMO</a:t>
            </a:r>
          </a:p>
        </p:txBody>
      </p:sp>
      <p:sp>
        <p:nvSpPr>
          <p:cNvPr id="3" name="">
            <a:extLst xmlns:a="http://schemas.openxmlformats.org/drawingml/2006/main">
              <a:ext uri="{FF2B5EF4-FFF2-40B4-BE49-F238E27FC236}">
                <a16:creationId xmlns:a16="http://schemas.microsoft.com/office/drawing/2014/main" id="{99DD3560-8998-49DF-94C1-B2D9341D39F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39F88043-3CEE-463E-A921-84E42DF00662}"/>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22</a:t>
            </a:r>
          </a:p>
        </p:txBody>
      </p:sp>
      <p:sp>
        <p:nvSpPr>
          <p:cNvPr id="5" name="">
            <a:extLst xmlns:a="http://schemas.openxmlformats.org/drawingml/2006/main">
              <a:ext uri="{FF2B5EF4-FFF2-40B4-BE49-F238E27FC236}">
                <a16:creationId xmlns:a16="http://schemas.microsoft.com/office/drawing/2014/main" id="{5CA7737A-B3A9-4A10-964A-CB55D8F6358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a 'missing' file that isn't</a:t>
            </a:r>
          </a:p>
        </p:txBody>
      </p:sp>
      <p:sp>
        <p:nvSpPr>
          <p:cNvPr id="6" name="">
            <a:extLst xmlns:a="http://schemas.openxmlformats.org/drawingml/2006/main">
              <a:ext uri="{FF2B5EF4-FFF2-40B4-BE49-F238E27FC236}">
                <a16:creationId xmlns:a16="http://schemas.microsoft.com/office/drawing/2014/main" id="{9CBC6FB4-B5F1-41A1-9689-DE99601390DF}"/>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A 'No such file' error frequently indicates a wrong working directory, not missing data.</a:t>
            </a:r>
          </a:p>
        </p:txBody>
      </p:sp>
      <p:sp>
        <p:nvSpPr>
          <p:cNvPr id="7" name="">
            <a:extLst xmlns:a="http://schemas.openxmlformats.org/drawingml/2006/main">
              <a:ext uri="{FF2B5EF4-FFF2-40B4-BE49-F238E27FC236}">
                <a16:creationId xmlns:a16="http://schemas.microsoft.com/office/drawing/2014/main" id="{765DC78E-61A0-4EE4-8B28-76B1E1D8A12C}"/>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8A6CA74-847F-4A47-9C53-7EDDF467EBDD}"/>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Start in the wrong directory, let cat fail, then use pwd, realpath, namei, and stat to correct the coordinate model.</a:t>
            </a:r>
          </a:p>
        </p:txBody>
      </p:sp>
      <p:sp>
        <p:nvSpPr>
          <p:cNvPr id="9" name="">
            <a:extLst xmlns:a="http://schemas.openxmlformats.org/drawingml/2006/main">
              <a:ext uri="{FF2B5EF4-FFF2-40B4-BE49-F238E27FC236}">
                <a16:creationId xmlns:a16="http://schemas.microsoft.com/office/drawing/2014/main" id="{2D4D77FA-E2C5-41B1-8FB3-ADB6FBE809CC}"/>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81E3A75-09AC-4881-8770-104BE9E14A1A}"/>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cat report.txt from the wrong directory — let it fail on screen</a:t>
            </a:r>
          </a:p>
        </p:txBody>
      </p:sp>
      <p:sp>
        <p:nvSpPr>
          <p:cNvPr id="11" name="">
            <a:extLst xmlns:a="http://schemas.openxmlformats.org/drawingml/2006/main">
              <a:ext uri="{FF2B5EF4-FFF2-40B4-BE49-F238E27FC236}">
                <a16:creationId xmlns:a16="http://schemas.microsoft.com/office/drawing/2014/main" id="{725663C4-37A5-405E-8064-335787767CAD}"/>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186DCCF-BC7B-4E00-8BED-2130FA102DBF}"/>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pwd, then realpath report.txt — where am I; what does that name mean here?</a:t>
            </a:r>
          </a:p>
        </p:txBody>
      </p:sp>
      <p:sp>
        <p:nvSpPr>
          <p:cNvPr id="13" name="">
            <a:extLst xmlns:a="http://schemas.openxmlformats.org/drawingml/2006/main">
              <a:ext uri="{FF2B5EF4-FFF2-40B4-BE49-F238E27FC236}">
                <a16:creationId xmlns:a16="http://schemas.microsoft.com/office/drawing/2014/main" id="{591AC93B-FBD0-42FA-97AF-C3F8D129B092}"/>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2AF63505-F6ED-4208-9B6A-84047EAE3001}"/>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namei -l /home/learner/notes/report.txt — walk every component</a:t>
            </a:r>
          </a:p>
        </p:txBody>
      </p:sp>
      <p:sp>
        <p:nvSpPr>
          <p:cNvPr id="15" name="">
            <a:extLst xmlns:a="http://schemas.openxmlformats.org/drawingml/2006/main">
              <a:ext uri="{FF2B5EF4-FFF2-40B4-BE49-F238E27FC236}">
                <a16:creationId xmlns:a16="http://schemas.microsoft.com/office/drawing/2014/main" id="{9F931923-5826-4AEB-9158-26EFC6464D31}"/>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4F3402A-78BF-45A9-8DF6-1BC750BFA205}"/>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cat with the correct absolute path — the file existed throughout</a:t>
            </a:r>
          </a:p>
        </p:txBody>
      </p:sp>
      <p:sp>
        <p:nvSpPr>
          <p:cNvPr id="17" name="">
            <a:extLst xmlns:a="http://schemas.openxmlformats.org/drawingml/2006/main">
              <a:ext uri="{FF2B5EF4-FFF2-40B4-BE49-F238E27FC236}">
                <a16:creationId xmlns:a16="http://schemas.microsoft.com/office/drawing/2014/main" id="{88EC7F9C-F9F0-46F2-9C23-2FDD8032F882}"/>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is the file missing, or am I in the wrong place — and which command settles it?</a:t>
            </a:r>
          </a:p>
        </p:txBody>
      </p:sp>
    </p:spTree>
    <p:extLst>
      <p:ext uri="{BB962C8B-B14F-4D97-AF65-F5344CB8AC3E}">
        <p14:creationId xmlns:p14="http://schemas.microsoft.com/office/powerpoint/2010/main" val="1125060567"/>
      </p:ext>
    </p:extLst>
  </p:cSld>
</p:sld>
</file>

<file path=ppt/slides/slide2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1E49F26-C942-43A5-ACD1-4D558CF162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D858713-57F1-45F5-AA80-91FBEE05F2F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2</a:t>
            </a:r>
          </a:p>
        </p:txBody>
      </p:sp>
      <p:sp>
        <p:nvSpPr>
          <p:cNvPr id="3" name="">
            <a:extLst xmlns:a="http://schemas.openxmlformats.org/drawingml/2006/main">
              <a:ext uri="{FF2B5EF4-FFF2-40B4-BE49-F238E27FC236}">
                <a16:creationId xmlns:a16="http://schemas.microsoft.com/office/drawing/2014/main" id="{15D6AC23-CA32-437C-8776-79D6D3DF1D0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C2F7E4A5-4061-46D2-9DB5-EF09CE2330FF}"/>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23</a:t>
            </a:r>
          </a:p>
        </p:txBody>
      </p:sp>
      <p:sp>
        <p:nvSpPr>
          <p:cNvPr id="5" name="">
            <a:extLst xmlns:a="http://schemas.openxmlformats.org/drawingml/2006/main">
              <a:ext uri="{FF2B5EF4-FFF2-40B4-BE49-F238E27FC236}">
                <a16:creationId xmlns:a16="http://schemas.microsoft.com/office/drawing/2014/main" id="{A3412510-53BF-4E78-B3FA-A41E9B64D965}"/>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Filesystem navigation, objects, and links</a:t>
            </a:r>
          </a:p>
        </p:txBody>
      </p:sp>
      <p:sp>
        <p:nvSpPr>
          <p:cNvPr id="6" name="">
            <a:extLst xmlns:a="http://schemas.openxmlformats.org/drawingml/2006/main">
              <a:ext uri="{FF2B5EF4-FFF2-40B4-BE49-F238E27FC236}">
                <a16:creationId xmlns:a16="http://schemas.microsoft.com/office/drawing/2014/main" id="{8554B0F4-3710-4249-ACDE-AB763AE6C2B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25 minutes: demonstrate the differing semantics of copy, hard link, and symlink.</a:t>
            </a:r>
          </a:p>
        </p:txBody>
      </p:sp>
      <p:sp>
        <p:nvSpPr>
          <p:cNvPr id="7" name="">
            <a:extLst xmlns:a="http://schemas.openxmlformats.org/drawingml/2006/main">
              <a:ext uri="{FF2B5EF4-FFF2-40B4-BE49-F238E27FC236}">
                <a16:creationId xmlns:a16="http://schemas.microsoft.com/office/drawing/2014/main" id="{C3103944-EB9E-4610-8A4A-A2C10E798949}"/>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7DC015E-1185-4907-B516-11E4080E39A8}"/>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Organize ~/inbox, then prove the different semantics of a copy, a hard link, and a relative symbolic link.</a:t>
            </a:r>
          </a:p>
        </p:txBody>
      </p:sp>
      <p:sp>
        <p:nvSpPr>
          <p:cNvPr id="9" name="">
            <a:extLst xmlns:a="http://schemas.openxmlformats.org/drawingml/2006/main">
              <a:ext uri="{FF2B5EF4-FFF2-40B4-BE49-F238E27FC236}">
                <a16:creationId xmlns:a16="http://schemas.microsoft.com/office/drawing/2014/main" id="{8731CAF6-F933-421E-9DA3-E6A3A81969CD}"/>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4FF387FB-B254-4A98-8C4A-B041A2F3B64F}"/>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25 minutes</a:t>
            </a:r>
          </a:p>
        </p:txBody>
      </p:sp>
      <p:sp>
        <p:nvSpPr>
          <p:cNvPr id="11" name="">
            <a:extLst xmlns:a="http://schemas.openxmlformats.org/drawingml/2006/main">
              <a:ext uri="{FF2B5EF4-FFF2-40B4-BE49-F238E27FC236}">
                <a16:creationId xmlns:a16="http://schemas.microsoft.com/office/drawing/2014/main" id="{6EECA4FE-AEDF-45FB-B448-EED480A2E1B8}"/>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EF575496-AE6F-4EC2-A4A6-CFA06AFCA9B8}"/>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FBFFAFA0-F5F9-4542-A282-69D7E4BA507A}"/>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BEAF5BBA-E00A-4FFA-B3F9-2D0992A4FB83}"/>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69BA0066-07C7-4636-9166-CE75F83C66D9}"/>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CEDF8DF-3AA3-410B-AD75-73E06F8D3305}"/>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7CCD9266-31B6-435A-A958-21B3D5CCC159}"/>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181212516"/>
      </p:ext>
    </p:extLst>
  </p:cSld>
</p:sld>
</file>

<file path=ppt/slides/slide24.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B97170-E3C1-4608-B601-6E605750F70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0FF77AE-169B-4B0C-B16C-EEEF61DA4FF5}"/>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2 · DEBRIEF</a:t>
            </a:r>
          </a:p>
        </p:txBody>
      </p:sp>
      <p:sp>
        <p:nvSpPr>
          <p:cNvPr id="3" name="">
            <a:extLst xmlns:a="http://schemas.openxmlformats.org/drawingml/2006/main">
              <a:ext uri="{FF2B5EF4-FFF2-40B4-BE49-F238E27FC236}">
                <a16:creationId xmlns:a16="http://schemas.microsoft.com/office/drawing/2014/main" id="{8FC0F2BD-683A-4D66-BE54-C3A4EA0D7C6A}"/>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1F7C2F5D-D9B2-47FB-949A-AF4B1C61AE79}"/>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24</a:t>
            </a:r>
          </a:p>
        </p:txBody>
      </p:sp>
      <p:sp>
        <p:nvSpPr>
          <p:cNvPr id="5" name="">
            <a:extLst xmlns:a="http://schemas.openxmlformats.org/drawingml/2006/main">
              <a:ext uri="{FF2B5EF4-FFF2-40B4-BE49-F238E27FC236}">
                <a16:creationId xmlns:a16="http://schemas.microsoft.com/office/drawing/2014/main" id="{5981D6FB-6CBA-4117-B03C-AECAC8A7BD09}"/>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AE611245-DB47-486E-8928-68712416116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558497A8-09C2-44BB-8519-7BA65C12059C}"/>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953262B-4F08-4EDF-80AE-7492B3C049B3}"/>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Errors such as 'No such file' often reveal a path assumption, not missing data. Next, the shell will turn file and log text into evidence.</a:t>
            </a:r>
          </a:p>
        </p:txBody>
      </p:sp>
      <p:sp>
        <p:nvSpPr>
          <p:cNvPr id="9" name="">
            <a:extLst xmlns:a="http://schemas.openxmlformats.org/drawingml/2006/main">
              <a:ext uri="{FF2B5EF4-FFF2-40B4-BE49-F238E27FC236}">
                <a16:creationId xmlns:a16="http://schemas.microsoft.com/office/drawing/2014/main" id="{37A8B689-D956-41CE-847D-419D250F6A51}"/>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6EA34F9-8A39-4E50-A7F4-5ECC604F8C60}"/>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9A0D16B9-D553-4808-A8B6-F9024E19F749}"/>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60E36B15-E5BE-43DB-A6AC-C1A442630991}"/>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67D55C98-2D23-4FC1-AD75-23E6A3E02EA7}"/>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C9B4A0F6-0382-4294-AB88-B2A3BA44FAB7}"/>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180461046"/>
      </p:ext>
    </p:extLst>
  </p:cSld>
</p:sld>
</file>

<file path=ppt/slides/slide25.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572808-713B-404C-BDA0-290B3F4CAA1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70E7812-180B-48BB-9ED5-A597CAE26D83}"/>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3</a:t>
            </a:r>
          </a:p>
        </p:txBody>
      </p:sp>
      <p:sp>
        <p:nvSpPr>
          <p:cNvPr id="3" name="">
            <a:extLst xmlns:a="http://schemas.openxmlformats.org/drawingml/2006/main">
              <a:ext uri="{FF2B5EF4-FFF2-40B4-BE49-F238E27FC236}">
                <a16:creationId xmlns:a16="http://schemas.microsoft.com/office/drawing/2014/main" id="{ADC9C68A-6089-4DF7-B714-71E1EF4481B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485E7B7D-D4FF-4B8F-A3AC-29A192E9F2BB}"/>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25</a:t>
            </a:r>
          </a:p>
        </p:txBody>
      </p:sp>
      <p:sp>
        <p:nvSpPr>
          <p:cNvPr id="5" name="">
            <a:extLst xmlns:a="http://schemas.openxmlformats.org/drawingml/2006/main">
              <a:ext uri="{FF2B5EF4-FFF2-40B4-BE49-F238E27FC236}">
                <a16:creationId xmlns:a16="http://schemas.microsoft.com/office/drawing/2014/main" id="{C3331358-0836-405A-92C8-043A2DA2F2A0}"/>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03</a:t>
            </a:r>
          </a:p>
        </p:txBody>
      </p:sp>
      <p:sp>
        <p:nvSpPr>
          <p:cNvPr id="6" name="">
            <a:extLst xmlns:a="http://schemas.openxmlformats.org/drawingml/2006/main">
              <a:ext uri="{FF2B5EF4-FFF2-40B4-BE49-F238E27FC236}">
                <a16:creationId xmlns:a16="http://schemas.microsoft.com/office/drawing/2014/main" id="{E5C6B733-C755-4680-909F-AACF675594A9}"/>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Shell execution, streams, editing, and text evidence</a:t>
            </a:r>
          </a:p>
        </p:txBody>
      </p:sp>
      <p:sp>
        <p:nvSpPr>
          <p:cNvPr id="7" name="">
            <a:extLst xmlns:a="http://schemas.openxmlformats.org/drawingml/2006/main">
              <a:ext uri="{FF2B5EF4-FFF2-40B4-BE49-F238E27FC236}">
                <a16:creationId xmlns:a16="http://schemas.microsoft.com/office/drawing/2014/main" id="{EA2D0C00-B2EE-4459-8089-61E4B4BBA88B}"/>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How can a pipeline turn records into a reviewable answer?</a:t>
            </a:r>
          </a:p>
        </p:txBody>
      </p:sp>
      <p:sp>
        <p:nvSpPr>
          <p:cNvPr id="8" name="">
            <a:extLst xmlns:a="http://schemas.openxmlformats.org/drawingml/2006/main">
              <a:ext uri="{FF2B5EF4-FFF2-40B4-BE49-F238E27FC236}">
                <a16:creationId xmlns:a16="http://schemas.microsoft.com/office/drawing/2014/main" id="{2DB785F0-AF4F-4DF8-B794-2635EA60D288}"/>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285B182-54E7-45F1-9F17-6A7B424548BD}"/>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Bash + GNU text tools · Ubuntu lab</a:t>
            </a:r>
          </a:p>
        </p:txBody>
      </p:sp>
    </p:spTree>
    <p:extLst>
      <p:ext uri="{BB962C8B-B14F-4D97-AF65-F5344CB8AC3E}">
        <p14:creationId xmlns:p14="http://schemas.microsoft.com/office/powerpoint/2010/main" val="281307169"/>
      </p:ext>
    </p:extLst>
  </p:cSld>
</p:sld>
</file>

<file path=ppt/slides/slide2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D239AC-558F-4E71-807F-E800300F0C5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23F059-46C4-4B44-9139-1CE106C87B45}"/>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3 · MODEL</a:t>
            </a:r>
          </a:p>
        </p:txBody>
      </p:sp>
      <p:sp>
        <p:nvSpPr>
          <p:cNvPr id="3" name="">
            <a:extLst xmlns:a="http://schemas.openxmlformats.org/drawingml/2006/main">
              <a:ext uri="{FF2B5EF4-FFF2-40B4-BE49-F238E27FC236}">
                <a16:creationId xmlns:a16="http://schemas.microsoft.com/office/drawing/2014/main" id="{219BA959-CE65-4A0D-A928-7B7D63B633F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3D3B58E8-A9FE-4B49-8090-0517590AC216}"/>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26</a:t>
            </a:r>
          </a:p>
        </p:txBody>
      </p:sp>
      <p:sp>
        <p:nvSpPr>
          <p:cNvPr id="5" name="">
            <a:extLst xmlns:a="http://schemas.openxmlformats.org/drawingml/2006/main">
              <a:ext uri="{FF2B5EF4-FFF2-40B4-BE49-F238E27FC236}">
                <a16:creationId xmlns:a16="http://schemas.microsoft.com/office/drawing/2014/main" id="{E6D77B4F-C9B1-4745-9629-AE35C193210D}"/>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Streams separate data from diagnostics</a:t>
            </a:r>
          </a:p>
        </p:txBody>
      </p:sp>
      <p:sp>
        <p:nvSpPr>
          <p:cNvPr id="6" name="">
            <a:extLst xmlns:a="http://schemas.openxmlformats.org/drawingml/2006/main">
              <a:ext uri="{FF2B5EF4-FFF2-40B4-BE49-F238E27FC236}">
                <a16:creationId xmlns:a16="http://schemas.microsoft.com/office/drawing/2014/main" id="{F68DF331-A4E7-4228-BF30-D74230CB58DB}"/>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Every process reads stdin and writes stdout; errors travel separately on stderr.</a:t>
            </a:r>
          </a:p>
        </p:txBody>
      </p:sp>
      <p:sp>
        <p:nvSpPr>
          <p:cNvPr id="7" name="">
            <a:extLst xmlns:a="http://schemas.openxmlformats.org/drawingml/2006/main">
              <a:ext uri="{FF2B5EF4-FFF2-40B4-BE49-F238E27FC236}">
                <a16:creationId xmlns:a16="http://schemas.microsoft.com/office/drawing/2014/main" id="{17674819-3E04-4A80-A49D-194F8B26897A}"/>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A59DAFB-D258-4B5E-A43F-1B9D50B3D1DF}"/>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Redirecting stdout into a file does not capture stderr — diagnostics remain on the terminal.</a:t>
            </a:r>
          </a:p>
        </p:txBody>
      </p:sp>
      <p:sp>
        <p:nvSpPr>
          <p:cNvPr id="9" name="">
            <a:extLst xmlns:a="http://schemas.openxmlformats.org/drawingml/2006/main">
              <a:ext uri="{FF2B5EF4-FFF2-40B4-BE49-F238E27FC236}">
                <a16:creationId xmlns:a16="http://schemas.microsoft.com/office/drawing/2014/main" id="{29A2862D-4D50-4A6D-8C7B-5475A46358EA}"/>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083C9C8-CAF5-41C2-B0D8-6D89105421D2}"/>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The exit status is a third, separate signal: 0 means success, anything else reports failure.</a:t>
            </a:r>
          </a:p>
        </p:txBody>
      </p:sp>
    </p:spTree>
    <p:extLst>
      <p:ext uri="{BB962C8B-B14F-4D97-AF65-F5344CB8AC3E}">
        <p14:creationId xmlns:p14="http://schemas.microsoft.com/office/powerpoint/2010/main" val="144948005"/>
      </p:ext>
    </p:extLst>
  </p:cSld>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E4AB4978-8438-4756-B32C-A91B7F57C1AB}"/>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8222E86C-2C15-42F3-A2F0-F03CE1881A87}"/>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3 · PICTURE THE STREAMS</a:t>
            </a:r>
          </a:p>
        </p:txBody>
      </p:sp>
      <p:sp>
        <p:nvSpPr>
          <p:cNvPr id="3" name="">
            <a:extLst>
              <a:ext uri="{FF2B5EF4-FFF2-40B4-BE49-F238E27FC236}">
                <a16:creationId xmlns:a16="http://schemas.microsoft.com/office/drawing/2014/main" id="{F19A04C6-053B-42DE-B809-50BCA4DD539E}"/>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49F0CD95-56DD-47E4-BA2C-AD2F4192BB74}"/>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27</a:t>
            </a:r>
          </a:p>
        </p:txBody>
      </p:sp>
      <p:sp>
        <p:nvSpPr>
          <p:cNvPr id="5" name="">
            <a:extLst>
              <a:ext uri="{FF2B5EF4-FFF2-40B4-BE49-F238E27FC236}">
                <a16:creationId xmlns:a16="http://schemas.microsoft.com/office/drawing/2014/main" id="{7DC9820B-469B-4D87-AF95-E5D874E9C7D4}"/>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Streams and pipelines</a:t>
            </a:r>
          </a:p>
        </p:txBody>
      </p:sp>
      <p:pic>
        <p:nvPicPr>
          <p:cNvPr id="15" name="Picture 14" descr="streams.png"/>
          <p:cNvPicPr>
            <a:picLocks noChangeAspect="1"/>
          </p:cNvPicPr>
          <p:nvPr/>
        </p:nvPicPr>
        <p:blipFill>
          <a:blip r:embed="rId2"/>
          <a:stretch>
            <a:fillRect/>
          </a:stretch>
        </p:blipFill>
        <p:spPr>
          <a:xfrm>
            <a:off x="1494129" y="1481328"/>
            <a:ext cx="9203436" cy="4526280"/>
          </a:xfrm>
          <a:prstGeom prst="rect">
            <a:avLst/>
          </a:prstGeom>
        </p:spPr>
      </p:pic>
      <p:sp>
        <p:nvSpPr>
          <p:cNvPr id="16" name="TextBox 15"/>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Three streams per process; a pipe joins stdout → stdin, and stderr stays separate.</a:t>
            </a:r>
          </a:p>
        </p:txBody>
      </p:sp>
    </p:spTree>
  </p:cSld>
  <p:clrMapOvr>
    <a:masterClrMapping/>
  </p:clrMapOvr>
</p:sld>
</file>

<file path=ppt/slides/slide28.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647AA6-2C66-4F41-A068-3E546E37A79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E766861-CF4E-4055-8038-1ACF3A1AEAED}"/>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3 · BUILD THE MODEL</a:t>
            </a:r>
          </a:p>
        </p:txBody>
      </p:sp>
      <p:sp>
        <p:nvSpPr>
          <p:cNvPr id="3" name="">
            <a:extLst xmlns:a="http://schemas.openxmlformats.org/drawingml/2006/main">
              <a:ext uri="{FF2B5EF4-FFF2-40B4-BE49-F238E27FC236}">
                <a16:creationId xmlns:a16="http://schemas.microsoft.com/office/drawing/2014/main" id="{F5C39E50-8781-44F4-8A9E-32F1380F2CA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12952285-64BA-44A0-A4EA-C7D844289200}"/>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28</a:t>
            </a:r>
          </a:p>
        </p:txBody>
      </p:sp>
      <p:sp>
        <p:nvSpPr>
          <p:cNvPr id="5" name="">
            <a:extLst xmlns:a="http://schemas.openxmlformats.org/drawingml/2006/main">
              <a:ext uri="{FF2B5EF4-FFF2-40B4-BE49-F238E27FC236}">
                <a16:creationId xmlns:a16="http://schemas.microsoft.com/office/drawing/2014/main" id="{7821AE05-9EB9-42B4-8031-64430BCD0D80}"/>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pipeline is several processes, not one command</a:t>
            </a:r>
          </a:p>
        </p:txBody>
      </p:sp>
      <p:sp>
        <p:nvSpPr>
          <p:cNvPr id="6" name="">
            <a:extLst xmlns:a="http://schemas.openxmlformats.org/drawingml/2006/main">
              <a:ext uri="{FF2B5EF4-FFF2-40B4-BE49-F238E27FC236}">
                <a16:creationId xmlns:a16="http://schemas.microsoft.com/office/drawing/2014/main" id="{D0FEF380-9D44-43E9-9ADD-D640A3678AA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Inspect intermediate output before adding the next stage.</a:t>
            </a:r>
          </a:p>
        </p:txBody>
      </p:sp>
      <p:sp>
        <p:nvSpPr>
          <p:cNvPr id="7" name="">
            <a:extLst xmlns:a="http://schemas.openxmlformats.org/drawingml/2006/main">
              <a:ext uri="{FF2B5EF4-FFF2-40B4-BE49-F238E27FC236}">
                <a16:creationId xmlns:a16="http://schemas.microsoft.com/office/drawing/2014/main" id="{D0E45600-902D-4BA5-9459-2C483BAF57F7}"/>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8C8C24E-EE63-441A-9BA9-BA30F4C7CC4B}"/>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shell creates pipes before starting the programs</a:t>
            </a:r>
          </a:p>
        </p:txBody>
      </p:sp>
      <p:sp>
        <p:nvSpPr>
          <p:cNvPr id="9" name="">
            <a:extLst xmlns:a="http://schemas.openxmlformats.org/drawingml/2006/main">
              <a:ext uri="{FF2B5EF4-FFF2-40B4-BE49-F238E27FC236}">
                <a16:creationId xmlns:a16="http://schemas.microsoft.com/office/drawing/2014/main" id="{C58C4E0F-65A7-43D6-B46F-5D9D29C399E9}"/>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DF45AADC-9909-44B7-952E-D7A580B43FD4}"/>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Each stage receives the previous stage’s standard output</a:t>
            </a:r>
          </a:p>
        </p:txBody>
      </p:sp>
      <p:sp>
        <p:nvSpPr>
          <p:cNvPr id="11" name="">
            <a:extLst xmlns:a="http://schemas.openxmlformats.org/drawingml/2006/main">
              <a:ext uri="{FF2B5EF4-FFF2-40B4-BE49-F238E27FC236}">
                <a16:creationId xmlns:a16="http://schemas.microsoft.com/office/drawing/2014/main" id="{41A2F8E8-AFB0-43DC-AAF5-DD9733E51028}"/>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0DCA9C9-1490-4BEC-AE28-BDE5DC0FD116}"/>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Standard error remains separate unless explicitly redirected</a:t>
            </a:r>
          </a:p>
        </p:txBody>
      </p:sp>
      <p:sp>
        <p:nvSpPr>
          <p:cNvPr id="13" name="">
            <a:extLst xmlns:a="http://schemas.openxmlformats.org/drawingml/2006/main">
              <a:ext uri="{FF2B5EF4-FFF2-40B4-BE49-F238E27FC236}">
                <a16:creationId xmlns:a16="http://schemas.microsoft.com/office/drawing/2014/main" id="{7C30EEB2-734D-4871-A595-5BAE91EB71BC}"/>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951EBEC0-F76A-4077-B0D8-61568385248E}"/>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pipeline status normally comes from its last command in Bash</a:t>
            </a:r>
          </a:p>
        </p:txBody>
      </p:sp>
    </p:spTree>
    <p:extLst>
      <p:ext uri="{BB962C8B-B14F-4D97-AF65-F5344CB8AC3E}">
        <p14:creationId xmlns:p14="http://schemas.microsoft.com/office/powerpoint/2010/main" val="937102362"/>
      </p:ext>
    </p:extLst>
  </p:cSld>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A4D239AC-558F-4E71-807F-E800300F0C57}"/>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B023F059-46C4-4B44-9139-1CE106C87B45}"/>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3 · MODEL</a:t>
            </a:r>
          </a:p>
        </p:txBody>
      </p:sp>
      <p:sp>
        <p:nvSpPr>
          <p:cNvPr id="3" name="">
            <a:extLst>
              <a:ext uri="{FF2B5EF4-FFF2-40B4-BE49-F238E27FC236}">
                <a16:creationId xmlns:a16="http://schemas.microsoft.com/office/drawing/2014/main" id="{219BA959-CE65-4A0D-A928-7B7D63B633FF}"/>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3D3B58E8-A9FE-4B49-8090-0517590AC216}"/>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29</a:t>
            </a:r>
          </a:p>
        </p:txBody>
      </p:sp>
      <p:sp>
        <p:nvSpPr>
          <p:cNvPr id="5" name="">
            <a:extLst>
              <a:ext uri="{FF2B5EF4-FFF2-40B4-BE49-F238E27FC236}">
                <a16:creationId xmlns:a16="http://schemas.microsoft.com/office/drawing/2014/main" id="{E6D77B4F-C9B1-4745-9629-AE35C193210D}"/>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A pipeline is a staged transformation</a:t>
            </a:r>
          </a:p>
        </p:txBody>
      </p:sp>
      <p:sp>
        <p:nvSpPr>
          <p:cNvPr id="6" name="">
            <a:extLst>
              <a:ext uri="{FF2B5EF4-FFF2-40B4-BE49-F238E27FC236}">
                <a16:creationId xmlns:a16="http://schemas.microsoft.com/office/drawing/2014/main" id="{F68DF331-A4E7-4228-BF30-D74230CB58DB}"/>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Each stage receives the previous stage's stdout; build one stage at a time and inspect between stages.</a:t>
            </a:r>
          </a:p>
        </p:txBody>
      </p:sp>
      <p:sp>
        <p:nvSpPr>
          <p:cNvPr id="7" name="">
            <a:extLst>
              <a:ext uri="{FF2B5EF4-FFF2-40B4-BE49-F238E27FC236}">
                <a16:creationId xmlns:a16="http://schemas.microsoft.com/office/drawing/2014/main" id="{17674819-3E04-4A80-A49D-194F8B26897A}"/>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4A59DAFB-D258-4B5E-A43F-1B9D50B3D1DF}"/>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Typical stages: inspect the record structure, select records, extract a field, group, then save.</a:t>
            </a:r>
          </a:p>
        </p:txBody>
      </p:sp>
      <p:sp>
        <p:nvSpPr>
          <p:cNvPr id="9" name="">
            <a:extLst>
              <a:ext uri="{FF2B5EF4-FFF2-40B4-BE49-F238E27FC236}">
                <a16:creationId xmlns:a16="http://schemas.microsoft.com/office/drawing/2014/main" id="{29A2862D-4D50-4A6D-8C7B-5475A46358EA}"/>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A083C9C8-CAF5-41C2-B0D8-6D89105421D2}"/>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Order matters: sort must precede uniq -c, because uniq only counts adjacent identical lines.</a:t>
            </a:r>
          </a:p>
        </p:txBody>
      </p:sp>
    </p:spTree>
  </p:cSld>
  <p:clrMapOvr>
    <a:masterClrMapping/>
  </p:clrMapOvr>
</p:sld>
</file>

<file path=ppt/slides/slide30.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4AB4978-8438-4756-B32C-A91B7F57C1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22E86C-2C15-42F3-A2F0-F03CE1881A8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3 · WORKED EXAMPLE</a:t>
            </a:r>
          </a:p>
        </p:txBody>
      </p:sp>
      <p:sp>
        <p:nvSpPr>
          <p:cNvPr id="3" name="">
            <a:extLst xmlns:a="http://schemas.openxmlformats.org/drawingml/2006/main">
              <a:ext uri="{FF2B5EF4-FFF2-40B4-BE49-F238E27FC236}">
                <a16:creationId xmlns:a16="http://schemas.microsoft.com/office/drawing/2014/main" id="{F19A04C6-053B-42DE-B809-50BCA4DD539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49F0CD95-56DD-47E4-BA2C-AD2F4192BB74}"/>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30</a:t>
            </a:r>
          </a:p>
        </p:txBody>
      </p:sp>
      <p:sp>
        <p:nvSpPr>
          <p:cNvPr id="5" name="">
            <a:extLst xmlns:a="http://schemas.openxmlformats.org/drawingml/2006/main">
              <a:ext uri="{FF2B5EF4-FFF2-40B4-BE49-F238E27FC236}">
                <a16:creationId xmlns:a16="http://schemas.microsoft.com/office/drawing/2014/main" id="{7DC9820B-469B-4D87-AF95-E5D874E9C7D4}"/>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Make every pipeline stage explainable</a:t>
            </a:r>
          </a:p>
        </p:txBody>
      </p:sp>
      <p:sp>
        <p:nvSpPr>
          <p:cNvPr id="6" name="">
            <a:extLst xmlns:a="http://schemas.openxmlformats.org/drawingml/2006/main">
              <a:ext uri="{FF2B5EF4-FFF2-40B4-BE49-F238E27FC236}">
                <a16:creationId xmlns:a16="http://schemas.microsoft.com/office/drawing/2014/main" id="{5105568B-A5AC-4DA9-83C9-5578269F4A75}"/>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4200EDB-1E17-4E7E-8833-060FB02A0980}"/>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awk '{print $4}' access.log \</a:t>
            </a:r>
          </a:p>
          <a:p xmlns:a="http://schemas.openxmlformats.org/drawingml/2006/main">
            <a:pPr algn="l">
              <a:buNone/>
              <a:defRPr sz="1575" b="0">
                <a:solidFill>
                  <a:srgbClr val="F7F1FA"/>
                </a:solidFill>
              </a:defRPr>
            </a:pPr>
            <a:r>
              <a:rPr sz="1575" b="0">
                <a:solidFill>
                  <a:srgbClr val="F7F1FA"/>
                </a:solidFill>
              </a:rPr>
              <a:t> | sort | uniq -c \</a:t>
            </a:r>
          </a:p>
          <a:p xmlns:a="http://schemas.openxmlformats.org/drawingml/2006/main">
            <a:pPr algn="l">
              <a:buNone/>
              <a:defRPr sz="1575" b="0">
                <a:solidFill>
                  <a:srgbClr val="F7F1FA"/>
                </a:solidFill>
              </a:defRPr>
            </a:pPr>
            <a:r>
              <a:rPr sz="1575" b="0">
                <a:solidFill>
                  <a:srgbClr val="F7F1FA"/>
                </a:solidFill>
              </a:rPr>
              <a:t> | awk '{print $2, $1}' &gt; status-counts.txt</a:t>
            </a:r>
          </a:p>
        </p:txBody>
      </p:sp>
      <p:sp>
        <p:nvSpPr>
          <p:cNvPr id="8" name="">
            <a:extLst xmlns:a="http://schemas.openxmlformats.org/drawingml/2006/main">
              <a:ext uri="{FF2B5EF4-FFF2-40B4-BE49-F238E27FC236}">
                <a16:creationId xmlns:a16="http://schemas.microsoft.com/office/drawing/2014/main" id="{75D5521E-6CCE-410C-8916-2C37CDA5619C}"/>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CAA9097-00B6-457F-BAAA-57F9CCBFC625}"/>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awk '{print $4}' pulls one field: the status code, one per line.</a:t>
            </a:r>
          </a:p>
        </p:txBody>
      </p:sp>
      <p:sp>
        <p:nvSpPr>
          <p:cNvPr id="10" name="">
            <a:extLst xmlns:a="http://schemas.openxmlformats.org/drawingml/2006/main">
              <a:ext uri="{FF2B5EF4-FFF2-40B4-BE49-F238E27FC236}">
                <a16:creationId xmlns:a16="http://schemas.microsoft.com/office/drawing/2014/main" id="{BB3795F8-CD86-441C-BEDD-5002435FF509}"/>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2062735-25E0-46D6-B145-A91BF6975A69}"/>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sort clusters equal codes so uniq -c can count each run.</a:t>
            </a:r>
          </a:p>
        </p:txBody>
      </p:sp>
      <p:sp>
        <p:nvSpPr>
          <p:cNvPr id="12" name="">
            <a:extLst xmlns:a="http://schemas.openxmlformats.org/drawingml/2006/main">
              <a:ext uri="{FF2B5EF4-FFF2-40B4-BE49-F238E27FC236}">
                <a16:creationId xmlns:a16="http://schemas.microsoft.com/office/drawing/2014/main" id="{6474A7B7-9A46-4821-8832-FA1997253748}"/>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A08B43F2-E2CD-4E2D-B220-52EEB021AB7A}"/>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uniq -c without sort miscounts; it compares adjacent lines only.</a:t>
            </a:r>
          </a:p>
        </p:txBody>
      </p:sp>
      <p:sp>
        <p:nvSpPr>
          <p:cNvPr id="13" name="">
            <a:extLst xmlns:a="http://schemas.openxmlformats.org/drawingml/2006/main">
              <a:ext uri="{FF2B5EF4-FFF2-40B4-BE49-F238E27FC236}">
                <a16:creationId xmlns:a16="http://schemas.microsoft.com/office/drawing/2014/main" id="{A08B43F2-E2CD-4E2D-B220-52EEB021AB7A}"/>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Redirect once at the very end; inspect each stage's output first.</a:t>
            </a:r>
          </a:p>
        </p:txBody>
      </p:sp>
      <p:sp>
        <p:nvSpPr>
          <p:cNvPr id="12" name="">
            <a:extLst xmlns:a="http://schemas.openxmlformats.org/drawingml/2006/main">
              <a:ext uri="{FF2B5EF4-FFF2-40B4-BE49-F238E27FC236}">
                <a16:creationId xmlns:a16="http://schemas.microsoft.com/office/drawing/2014/main" id="{6474A7B7-9A46-4821-8832-FA1997253748}"/>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596348085"/>
      </p:ext>
    </p:extLst>
  </p:cSld>
</p:sld>
</file>

<file path=ppt/slides/slide3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8BCACA-CEDD-4921-83D8-CAB7466E0F7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9E0F782-5EF5-4ABC-80BA-78FE10CAAE93}"/>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3 · GUIDED COMMANDS</a:t>
            </a:r>
          </a:p>
        </p:txBody>
      </p:sp>
      <p:sp>
        <p:nvSpPr>
          <p:cNvPr id="3" name="">
            <a:extLst xmlns:a="http://schemas.openxmlformats.org/drawingml/2006/main">
              <a:ext uri="{FF2B5EF4-FFF2-40B4-BE49-F238E27FC236}">
                <a16:creationId xmlns:a16="http://schemas.microsoft.com/office/drawing/2014/main" id="{99AC1CA3-B0D7-4C6E-866A-AD59287662B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62CF4BBD-279A-4AE1-ABC0-63301134D327}"/>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31</a:t>
            </a:r>
          </a:p>
        </p:txBody>
      </p:sp>
      <p:sp>
        <p:nvSpPr>
          <p:cNvPr id="5" name="">
            <a:extLst xmlns:a="http://schemas.openxmlformats.org/drawingml/2006/main">
              <a:ext uri="{FF2B5EF4-FFF2-40B4-BE49-F238E27FC236}">
                <a16:creationId xmlns:a16="http://schemas.microsoft.com/office/drawing/2014/main" id="{65400BE4-3B50-48C8-B124-9AA56FB7094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7F5CB476-0FF2-49D1-85C0-43CE20D83D3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851DA552-EF51-4090-A68C-8A1A825E5BEE}"/>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nano FILE</a:t>
            </a:r>
          </a:p>
        </p:txBody>
      </p:sp>
      <p:sp>
        <p:nvSpPr>
          <p:cNvPr id="8" name="">
            <a:extLst xmlns:a="http://schemas.openxmlformats.org/drawingml/2006/main">
              <a:ext uri="{FF2B5EF4-FFF2-40B4-BE49-F238E27FC236}">
                <a16:creationId xmlns:a16="http://schemas.microsoft.com/office/drawing/2014/main" id="{B4E55547-2B8F-449D-A52E-D476DE4DA811}"/>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edit in-terminal — Ctrl+O save, Ctrl+X exit</a:t>
            </a:r>
          </a:p>
        </p:txBody>
      </p:sp>
      <p:sp>
        <p:nvSpPr>
          <p:cNvPr id="9" name="">
            <a:extLst xmlns:a="http://schemas.openxmlformats.org/drawingml/2006/main">
              <a:ext uri="{FF2B5EF4-FFF2-40B4-BE49-F238E27FC236}">
                <a16:creationId xmlns:a16="http://schemas.microsoft.com/office/drawing/2014/main" id="{0E5182B4-B2BB-4992-9D1A-FE9C4DF37418}"/>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54FB68C3-D7F7-418B-8F21-9E6EA0F02383}"/>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grep PATTERN FILE</a:t>
            </a:r>
          </a:p>
        </p:txBody>
      </p:sp>
      <p:sp>
        <p:nvSpPr>
          <p:cNvPr id="11" name="">
            <a:extLst xmlns:a="http://schemas.openxmlformats.org/drawingml/2006/main">
              <a:ext uri="{FF2B5EF4-FFF2-40B4-BE49-F238E27FC236}">
                <a16:creationId xmlns:a16="http://schemas.microsoft.com/office/drawing/2014/main" id="{8888AB12-A73E-4224-BF34-3F20B591E77E}"/>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keep matching lines ( -v drops, -c counts )</a:t>
            </a:r>
          </a:p>
        </p:txBody>
      </p:sp>
      <p:sp>
        <p:nvSpPr>
          <p:cNvPr id="12" name="">
            <a:extLst xmlns:a="http://schemas.openxmlformats.org/drawingml/2006/main">
              <a:ext uri="{FF2B5EF4-FFF2-40B4-BE49-F238E27FC236}">
                <a16:creationId xmlns:a16="http://schemas.microsoft.com/office/drawing/2014/main" id="{F6286EEF-5063-48E8-8E22-93F94C3444CE}"/>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3DC4257-072C-4404-A5B7-27B01D9412F0}"/>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awk</a:t>
            </a:r>
          </a:p>
        </p:txBody>
      </p:sp>
      <p:sp>
        <p:nvSpPr>
          <p:cNvPr id="14" name="">
            <a:extLst xmlns:a="http://schemas.openxmlformats.org/drawingml/2006/main">
              <a:ext uri="{FF2B5EF4-FFF2-40B4-BE49-F238E27FC236}">
                <a16:creationId xmlns:a16="http://schemas.microsoft.com/office/drawing/2014/main" id="{1A496B4A-4B73-4B16-94AC-C0A126A0F5F8}"/>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extract / reshape fields: $1 first, $NF last</a:t>
            </a:r>
          </a:p>
        </p:txBody>
      </p:sp>
      <p:sp>
        <p:nvSpPr>
          <p:cNvPr id="15" name="">
            <a:extLst xmlns:a="http://schemas.openxmlformats.org/drawingml/2006/main">
              <a:ext uri="{FF2B5EF4-FFF2-40B4-BE49-F238E27FC236}">
                <a16:creationId xmlns:a16="http://schemas.microsoft.com/office/drawing/2014/main" id="{8FC9CB33-2029-4200-95DE-43FDCB54B4FB}"/>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57CA48F9-B36A-4A61-8159-276F391112E9}"/>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sort</a:t>
            </a:r>
          </a:p>
        </p:txBody>
      </p:sp>
      <p:sp>
        <p:nvSpPr>
          <p:cNvPr id="17" name="">
            <a:extLst xmlns:a="http://schemas.openxmlformats.org/drawingml/2006/main">
              <a:ext uri="{FF2B5EF4-FFF2-40B4-BE49-F238E27FC236}">
                <a16:creationId xmlns:a16="http://schemas.microsoft.com/office/drawing/2014/main" id="{D0DA86FB-C46D-4D44-A14D-3D916014C6C3}"/>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order lines ( -n numeric, -k by column )</a:t>
            </a:r>
          </a:p>
        </p:txBody>
      </p:sp>
      <p:sp>
        <p:nvSpPr>
          <p:cNvPr id="18" name="">
            <a:extLst xmlns:a="http://schemas.openxmlformats.org/drawingml/2006/main">
              <a:ext uri="{FF2B5EF4-FFF2-40B4-BE49-F238E27FC236}">
                <a16:creationId xmlns:a16="http://schemas.microsoft.com/office/drawing/2014/main" id="{C718F318-9149-467F-BDFA-E251927BB29B}"/>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307F59B2-F6C5-4309-A477-9574872B2422}"/>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uniq -c</a:t>
            </a:r>
          </a:p>
        </p:txBody>
      </p:sp>
      <p:sp>
        <p:nvSpPr>
          <p:cNvPr id="20" name="">
            <a:extLst xmlns:a="http://schemas.openxmlformats.org/drawingml/2006/main">
              <a:ext uri="{FF2B5EF4-FFF2-40B4-BE49-F238E27FC236}">
                <a16:creationId xmlns:a16="http://schemas.microsoft.com/office/drawing/2014/main" id="{59377540-D62E-4E36-9246-15DDFAE5468A}"/>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count adjacent duplicates; requires sorted input</a:t>
            </a:r>
          </a:p>
        </p:txBody>
      </p:sp>
      <p:sp>
        <p:nvSpPr>
          <p:cNvPr id="19" name="">
            <a:extLst xmlns:a="http://schemas.openxmlformats.org/drawingml/2006/main">
              <a:ext uri="{FF2B5EF4-FFF2-40B4-BE49-F238E27FC236}">
                <a16:creationId xmlns:a16="http://schemas.microsoft.com/office/drawing/2014/main" id="{307F59B2-F6C5-4309-A477-9574872B2422}"/>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wc -l</a:t>
            </a:r>
          </a:p>
        </p:txBody>
      </p:sp>
      <p:sp>
        <p:nvSpPr>
          <p:cNvPr id="20" name="">
            <a:extLst xmlns:a="http://schemas.openxmlformats.org/drawingml/2006/main">
              <a:ext uri="{FF2B5EF4-FFF2-40B4-BE49-F238E27FC236}">
                <a16:creationId xmlns:a16="http://schemas.microsoft.com/office/drawing/2014/main" id="{59377540-D62E-4E36-9246-15DDFAE5468A}"/>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count lines — a quick sanity check on output</a:t>
            </a:r>
          </a:p>
        </p:txBody>
      </p:sp>
      <p:sp>
        <p:nvSpPr>
          <p:cNvPr id="18" name="">
            <a:extLst xmlns:a="http://schemas.openxmlformats.org/drawingml/2006/main">
              <a:ext uri="{FF2B5EF4-FFF2-40B4-BE49-F238E27FC236}">
                <a16:creationId xmlns:a16="http://schemas.microsoft.com/office/drawing/2014/main" id="{C718F318-9149-467F-BDFA-E251927BB29B}"/>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955951007"/>
      </p:ext>
    </p:extLst>
  </p:cSld>
</p:sld>
</file>

<file path=ppt/slides/slide32.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2FA4C12-AA99-4848-9773-858B4AF2090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08D30F-B778-4DC3-8D52-FFF54F11EBAC}"/>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3 · LIVE DEMO</a:t>
            </a:r>
          </a:p>
        </p:txBody>
      </p:sp>
      <p:sp>
        <p:nvSpPr>
          <p:cNvPr id="3" name="">
            <a:extLst xmlns:a="http://schemas.openxmlformats.org/drawingml/2006/main">
              <a:ext uri="{FF2B5EF4-FFF2-40B4-BE49-F238E27FC236}">
                <a16:creationId xmlns:a16="http://schemas.microsoft.com/office/drawing/2014/main" id="{C981FE15-394D-4E81-9166-DAEFCCCCCE3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ABFC3C48-A3D2-4FE1-919C-DBFAAA0619BE}"/>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32</a:t>
            </a:r>
          </a:p>
        </p:txBody>
      </p:sp>
      <p:sp>
        <p:nvSpPr>
          <p:cNvPr id="5" name="">
            <a:extLst xmlns:a="http://schemas.openxmlformats.org/drawingml/2006/main">
              <a:ext uri="{FF2B5EF4-FFF2-40B4-BE49-F238E27FC236}">
                <a16:creationId xmlns:a16="http://schemas.microsoft.com/office/drawing/2014/main" id="{A5AD9DE1-4EE4-4B7D-A7BF-461331B94E3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a pipeline built one stage at a time</a:t>
            </a:r>
          </a:p>
        </p:txBody>
      </p:sp>
      <p:sp>
        <p:nvSpPr>
          <p:cNvPr id="6" name="">
            <a:extLst xmlns:a="http://schemas.openxmlformats.org/drawingml/2006/main">
              <a:ext uri="{FF2B5EF4-FFF2-40B4-BE49-F238E27FC236}">
                <a16:creationId xmlns:a16="http://schemas.microsoft.com/office/drawing/2014/main" id="{A16CB0A5-8D66-46F4-AC11-5C6BBC59811A}"/>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Build the pipeline incrementally: one stage, inspect, then the next.</a:t>
            </a:r>
          </a:p>
        </p:txBody>
      </p:sp>
      <p:sp>
        <p:nvSpPr>
          <p:cNvPr id="7" name="">
            <a:extLst xmlns:a="http://schemas.openxmlformats.org/drawingml/2006/main">
              <a:ext uri="{FF2B5EF4-FFF2-40B4-BE49-F238E27FC236}">
                <a16:creationId xmlns:a16="http://schemas.microsoft.com/office/drawing/2014/main" id="{E5DD1A55-4992-4900-B9CB-B6A902275DAD}"/>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1BA19B7-A15D-4815-8A7E-4BA334FB5C2D}"/>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Inspect a synthetic authentication log, predict the needed fields, build the pipeline one stage at a time, then save and count the evidence.</a:t>
            </a:r>
          </a:p>
        </p:txBody>
      </p:sp>
      <p:sp>
        <p:nvSpPr>
          <p:cNvPr id="9" name="">
            <a:extLst xmlns:a="http://schemas.openxmlformats.org/drawingml/2006/main">
              <a:ext uri="{FF2B5EF4-FFF2-40B4-BE49-F238E27FC236}">
                <a16:creationId xmlns:a16="http://schemas.microsoft.com/office/drawing/2014/main" id="{3BC715FA-2F3E-47B6-A92A-24E5E1C30EC2}"/>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DDFF8B4B-0550-497F-A7D3-64A019F49B30}"/>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head auth.log — inspect the record structure before touching it</a:t>
            </a:r>
          </a:p>
        </p:txBody>
      </p:sp>
      <p:sp>
        <p:nvSpPr>
          <p:cNvPr id="11" name="">
            <a:extLst xmlns:a="http://schemas.openxmlformats.org/drawingml/2006/main">
              <a:ext uri="{FF2B5EF4-FFF2-40B4-BE49-F238E27FC236}">
                <a16:creationId xmlns:a16="http://schemas.microsoft.com/office/drawing/2014/main" id="{102DFE69-A057-4668-9743-EAA523A8FCE5}"/>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DF2719BB-B98E-45A9-A443-6EF210B3930A}"/>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awk '{print $3}' auth.log | head — extract one field, inspect again</a:t>
            </a:r>
          </a:p>
        </p:txBody>
      </p:sp>
      <p:sp>
        <p:nvSpPr>
          <p:cNvPr id="13" name="">
            <a:extLst xmlns:a="http://schemas.openxmlformats.org/drawingml/2006/main">
              <a:ext uri="{FF2B5EF4-FFF2-40B4-BE49-F238E27FC236}">
                <a16:creationId xmlns:a16="http://schemas.microsoft.com/office/drawing/2014/main" id="{F9C67771-BBB0-4C10-B002-2F7D54427A8E}"/>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B41A477C-65C8-4213-818D-9D5BC9AD5AAA}"/>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 | sort | uniq -c — group first, then count adjacent duplicates</a:t>
            </a:r>
          </a:p>
        </p:txBody>
      </p:sp>
      <p:sp>
        <p:nvSpPr>
          <p:cNvPr id="15" name="">
            <a:extLst xmlns:a="http://schemas.openxmlformats.org/drawingml/2006/main">
              <a:ext uri="{FF2B5EF4-FFF2-40B4-BE49-F238E27FC236}">
                <a16:creationId xmlns:a16="http://schemas.microsoft.com/office/drawing/2014/main" id="{54EEC4A7-828A-49FC-8E84-0FDF02C17722}"/>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449C29B-71E8-4A04-AE68-151D4BFBAD6D}"/>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&gt; failure-counts.txt, then cat it — save, and verify what was saved</a:t>
            </a:r>
          </a:p>
        </p:txBody>
      </p:sp>
      <p:sp>
        <p:nvSpPr>
          <p:cNvPr id="17" name="">
            <a:extLst xmlns:a="http://schemas.openxmlformats.org/drawingml/2006/main">
              <a:ext uri="{FF2B5EF4-FFF2-40B4-BE49-F238E27FC236}">
                <a16:creationId xmlns:a16="http://schemas.microsoft.com/office/drawing/2014/main" id="{70DDEFE8-7C12-4DB3-85D8-CE358EC4F0E1}"/>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what would the counts look like if sort were skipped?</a:t>
            </a:r>
          </a:p>
        </p:txBody>
      </p:sp>
    </p:spTree>
    <p:extLst>
      <p:ext uri="{BB962C8B-B14F-4D97-AF65-F5344CB8AC3E}">
        <p14:creationId xmlns:p14="http://schemas.microsoft.com/office/powerpoint/2010/main" val="1823530005"/>
      </p:ext>
    </p:extLst>
  </p:cSld>
</p:sld>
</file>

<file path=ppt/slides/slide3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7160A88-20DA-42E4-B304-603BAE7C1F9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ADFD8A-5C3A-49F3-9859-7492314DB228}"/>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3</a:t>
            </a:r>
          </a:p>
        </p:txBody>
      </p:sp>
      <p:sp>
        <p:nvSpPr>
          <p:cNvPr id="3" name="">
            <a:extLst xmlns:a="http://schemas.openxmlformats.org/drawingml/2006/main">
              <a:ext uri="{FF2B5EF4-FFF2-40B4-BE49-F238E27FC236}">
                <a16:creationId xmlns:a16="http://schemas.microsoft.com/office/drawing/2014/main" id="{1A2781CF-37F1-4F3A-AE47-0F6FC5B9812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608571B3-028C-4BA3-9FF6-0409AD3C1806}"/>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33</a:t>
            </a:r>
          </a:p>
        </p:txBody>
      </p:sp>
      <p:sp>
        <p:nvSpPr>
          <p:cNvPr id="5" name="">
            <a:extLst xmlns:a="http://schemas.openxmlformats.org/drawingml/2006/main">
              <a:ext uri="{FF2B5EF4-FFF2-40B4-BE49-F238E27FC236}">
                <a16:creationId xmlns:a16="http://schemas.microsoft.com/office/drawing/2014/main" id="{3730FDED-C8BC-4CC3-ACBA-130E53068E2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Shell execution, streams, editing, and text evidence</a:t>
            </a:r>
          </a:p>
        </p:txBody>
      </p:sp>
      <p:sp>
        <p:nvSpPr>
          <p:cNvPr id="6" name="">
            <a:extLst xmlns:a="http://schemas.openxmlformats.org/drawingml/2006/main">
              <a:ext uri="{FF2B5EF4-FFF2-40B4-BE49-F238E27FC236}">
                <a16:creationId xmlns:a16="http://schemas.microsoft.com/office/drawing/2014/main" id="{7954BA61-CD20-44CE-A6DF-0BB01D4EEF22}"/>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20 minutes: reduce raw logs to evidence files a colleague can review.</a:t>
            </a:r>
          </a:p>
        </p:txBody>
      </p:sp>
      <p:sp>
        <p:nvSpPr>
          <p:cNvPr id="7" name="">
            <a:extLst xmlns:a="http://schemas.openxmlformats.org/drawingml/2006/main">
              <a:ext uri="{FF2B5EF4-FFF2-40B4-BE49-F238E27FC236}">
                <a16:creationId xmlns:a16="http://schemas.microsoft.com/office/drawing/2014/main" id="{A0314E16-B375-4039-A6B7-E120CBE7168B}"/>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C8A3244-7140-447D-815F-B99DE2F5DB5E}"/>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Edit app.conf and reduce application and access logs into small evidence files another operator can review.</a:t>
            </a:r>
          </a:p>
        </p:txBody>
      </p:sp>
      <p:sp>
        <p:nvSpPr>
          <p:cNvPr id="9" name="">
            <a:extLst xmlns:a="http://schemas.openxmlformats.org/drawingml/2006/main">
              <a:ext uri="{FF2B5EF4-FFF2-40B4-BE49-F238E27FC236}">
                <a16:creationId xmlns:a16="http://schemas.microsoft.com/office/drawing/2014/main" id="{2F70D2EE-0E06-4D2E-A8A4-355A89D4EAFE}"/>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D6F69DB-3003-4E68-AF92-0FD3C2D89262}"/>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20 minutes</a:t>
            </a:r>
          </a:p>
        </p:txBody>
      </p:sp>
      <p:sp>
        <p:nvSpPr>
          <p:cNvPr id="11" name="">
            <a:extLst xmlns:a="http://schemas.openxmlformats.org/drawingml/2006/main">
              <a:ext uri="{FF2B5EF4-FFF2-40B4-BE49-F238E27FC236}">
                <a16:creationId xmlns:a16="http://schemas.microsoft.com/office/drawing/2014/main" id="{06968EF8-0056-4852-9E10-E3A09D496D65}"/>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EC32FF1-AAC1-4E33-8964-F15B63878C09}"/>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CA70CB1F-56C8-425C-9343-7BADEBD0A168}"/>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9DE01BC3-D2BA-43D1-9F8D-68030E584CD3}"/>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20CFEBA3-B80E-4E6E-88D4-4570DD37BE6B}"/>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0646E845-2740-4610-A894-02C84AD7D939}"/>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783FCFC4-5302-4F7F-80C2-BA919E739988}"/>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885460643"/>
      </p:ext>
    </p:extLst>
  </p:cSld>
</p:sld>
</file>

<file path=ppt/slides/slide34.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363817-75A5-4799-B722-2B240F9D8D1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E09BA4A-1011-4A2B-B75C-94B6905FE028}"/>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3 · DEBRIEF</a:t>
            </a:r>
          </a:p>
        </p:txBody>
      </p:sp>
      <p:sp>
        <p:nvSpPr>
          <p:cNvPr id="3" name="">
            <a:extLst xmlns:a="http://schemas.openxmlformats.org/drawingml/2006/main">
              <a:ext uri="{FF2B5EF4-FFF2-40B4-BE49-F238E27FC236}">
                <a16:creationId xmlns:a16="http://schemas.microsoft.com/office/drawing/2014/main" id="{873CF556-55EA-420E-AD88-8D70A9F61B9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0829D52B-EDA4-459A-B9A7-BF407D85BB17}"/>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34</a:t>
            </a:r>
          </a:p>
        </p:txBody>
      </p:sp>
      <p:sp>
        <p:nvSpPr>
          <p:cNvPr id="5" name="">
            <a:extLst xmlns:a="http://schemas.openxmlformats.org/drawingml/2006/main">
              <a:ext uri="{FF2B5EF4-FFF2-40B4-BE49-F238E27FC236}">
                <a16:creationId xmlns:a16="http://schemas.microsoft.com/office/drawing/2014/main" id="{D33034BC-6186-406C-AA3C-15658B69DD94}"/>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9F60FF2B-ACBC-4CFA-98E6-0D2EE1BC6753}"/>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DBE53919-5AA7-4EA1-9547-8C2F58DDA910}"/>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36582EF-C116-4EFF-AB7C-DCE864B33072}"/>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A pipeline is trustworthy when each stage has a stated input and output. Next, package tools will provide several independent views of software state.</a:t>
            </a:r>
          </a:p>
        </p:txBody>
      </p:sp>
      <p:sp>
        <p:nvSpPr>
          <p:cNvPr id="9" name="">
            <a:extLst xmlns:a="http://schemas.openxmlformats.org/drawingml/2006/main">
              <a:ext uri="{FF2B5EF4-FFF2-40B4-BE49-F238E27FC236}">
                <a16:creationId xmlns:a16="http://schemas.microsoft.com/office/drawing/2014/main" id="{361A89E4-936F-4194-8015-63835BE6EB87}"/>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D59F7BB-806A-4B8F-91E1-86D1CBE19474}"/>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EACF5E7C-998E-4590-93FD-34C6B5879E72}"/>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24A6DA2-46FF-42EB-B709-EB2E6EAB240E}"/>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BF42FEBC-181C-43AF-A768-7D09B175D778}"/>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525A6BC5-116F-48A9-BBF9-02F72529F2E0}"/>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877623057"/>
      </p:ext>
    </p:extLst>
  </p:cSld>
</p:sld>
</file>

<file path=ppt/slides/slide35.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329A1A-5A49-4C62-BDFC-BA9BF7BE784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643D902-C87A-44A7-ADCC-41870C157AB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4</a:t>
            </a:r>
          </a:p>
        </p:txBody>
      </p:sp>
      <p:sp>
        <p:nvSpPr>
          <p:cNvPr id="3" name="">
            <a:extLst xmlns:a="http://schemas.openxmlformats.org/drawingml/2006/main">
              <a:ext uri="{FF2B5EF4-FFF2-40B4-BE49-F238E27FC236}">
                <a16:creationId xmlns:a16="http://schemas.microsoft.com/office/drawing/2014/main" id="{200BA46E-3E4B-4265-89B1-F60B8583074A}"/>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FD5E6C5A-2514-424D-8E01-102879872519}"/>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35</a:t>
            </a:r>
          </a:p>
        </p:txBody>
      </p:sp>
      <p:sp>
        <p:nvSpPr>
          <p:cNvPr id="5" name="">
            <a:extLst xmlns:a="http://schemas.openxmlformats.org/drawingml/2006/main">
              <a:ext uri="{FF2B5EF4-FFF2-40B4-BE49-F238E27FC236}">
                <a16:creationId xmlns:a16="http://schemas.microsoft.com/office/drawing/2014/main" id="{1433999A-E0B7-41BB-A53E-0A76E7D4764A}"/>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04</a:t>
            </a:r>
          </a:p>
        </p:txBody>
      </p:sp>
      <p:sp>
        <p:nvSpPr>
          <p:cNvPr id="6" name="">
            <a:extLst xmlns:a="http://schemas.openxmlformats.org/drawingml/2006/main">
              <a:ext uri="{FF2B5EF4-FFF2-40B4-BE49-F238E27FC236}">
                <a16:creationId xmlns:a16="http://schemas.microsoft.com/office/drawing/2014/main" id="{4521ADED-C389-4EF0-947A-AC5A13B37362}"/>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Packages and software provenance</a:t>
            </a:r>
          </a:p>
        </p:txBody>
      </p:sp>
      <p:sp>
        <p:nvSpPr>
          <p:cNvPr id="7" name="">
            <a:extLst xmlns:a="http://schemas.openxmlformats.org/drawingml/2006/main">
              <a:ext uri="{FF2B5EF4-FFF2-40B4-BE49-F238E27FC236}">
                <a16:creationId xmlns:a16="http://schemas.microsoft.com/office/drawing/2014/main" id="{3656C730-7719-4020-AC43-C8BB81CA2D8C}"/>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What proves that software came from the supported package system?</a:t>
            </a:r>
          </a:p>
        </p:txBody>
      </p:sp>
      <p:sp>
        <p:nvSpPr>
          <p:cNvPr id="8" name="">
            <a:extLst xmlns:a="http://schemas.openxmlformats.org/drawingml/2006/main">
              <a:ext uri="{FF2B5EF4-FFF2-40B4-BE49-F238E27FC236}">
                <a16:creationId xmlns:a16="http://schemas.microsoft.com/office/drawing/2014/main" id="{83DC441F-2773-4C9E-8BDF-8036AA4D6875}"/>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F634208-38A7-4CB1-A53C-6F88D4F15B8D}"/>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Ubuntu 24.04 · APT + dpkg</a:t>
            </a:r>
          </a:p>
        </p:txBody>
      </p:sp>
    </p:spTree>
    <p:extLst>
      <p:ext uri="{BB962C8B-B14F-4D97-AF65-F5344CB8AC3E}">
        <p14:creationId xmlns:p14="http://schemas.microsoft.com/office/powerpoint/2010/main" val="266112542"/>
      </p:ext>
    </p:extLst>
  </p:cSld>
</p:sld>
</file>

<file path=ppt/slides/slide3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05B220-4226-4FB9-B209-6E4493E5A2D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F95D07-08C9-4469-8E69-76C5632618B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4 · MODEL</a:t>
            </a:r>
          </a:p>
        </p:txBody>
      </p:sp>
      <p:sp>
        <p:nvSpPr>
          <p:cNvPr id="3" name="">
            <a:extLst xmlns:a="http://schemas.openxmlformats.org/drawingml/2006/main">
              <a:ext uri="{FF2B5EF4-FFF2-40B4-BE49-F238E27FC236}">
                <a16:creationId xmlns:a16="http://schemas.microsoft.com/office/drawing/2014/main" id="{E0810DA9-EA80-4A1D-8E34-4E65E5DBF39B}"/>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73287882-B424-48AD-97E5-51097D121DE7}"/>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36</a:t>
            </a:r>
          </a:p>
        </p:txBody>
      </p:sp>
      <p:sp>
        <p:nvSpPr>
          <p:cNvPr id="5" name="">
            <a:extLst xmlns:a="http://schemas.openxmlformats.org/drawingml/2006/main">
              <a:ext uri="{FF2B5EF4-FFF2-40B4-BE49-F238E27FC236}">
                <a16:creationId xmlns:a16="http://schemas.microsoft.com/office/drawing/2014/main" id="{4F19E5BD-3E85-45A4-B1BA-D658B22CEF93}"/>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Package tools expose different states</a:t>
            </a:r>
          </a:p>
        </p:txBody>
      </p:sp>
      <p:sp>
        <p:nvSpPr>
          <p:cNvPr id="6" name="">
            <a:extLst xmlns:a="http://schemas.openxmlformats.org/drawingml/2006/main">
              <a:ext uri="{FF2B5EF4-FFF2-40B4-BE49-F238E27FC236}">
                <a16:creationId xmlns:a16="http://schemas.microsoft.com/office/drawing/2014/main" id="{90B226CA-182D-4810-975B-15EC6C08245A}"/>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repository, the local index, and the installed database are three different things.</a:t>
            </a:r>
          </a:p>
        </p:txBody>
      </p:sp>
      <p:sp>
        <p:nvSpPr>
          <p:cNvPr id="7" name="">
            <a:extLst xmlns:a="http://schemas.openxmlformats.org/drawingml/2006/main">
              <a:ext uri="{FF2B5EF4-FFF2-40B4-BE49-F238E27FC236}">
                <a16:creationId xmlns:a16="http://schemas.microsoft.com/office/drawing/2014/main" id="{9BF4E808-B55B-40F2-9BD7-A31193A0664E}"/>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AA553E3-022D-4982-B355-6005D4C9AF19}"/>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repository publishes signed packages; 'apt update' refreshes only the local index and installs nothing.</a:t>
            </a:r>
          </a:p>
        </p:txBody>
      </p:sp>
      <p:sp>
        <p:nvSpPr>
          <p:cNvPr id="9" name="">
            <a:extLst xmlns:a="http://schemas.openxmlformats.org/drawingml/2006/main">
              <a:ext uri="{FF2B5EF4-FFF2-40B4-BE49-F238E27FC236}">
                <a16:creationId xmlns:a16="http://schemas.microsoft.com/office/drawing/2014/main" id="{74A880A3-DED5-42A1-82FE-22B4E34577B9}"/>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1A44940E-E26C-4CE6-BFE6-22A8F7575F55}"/>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APT resolves and fetches from repositories; dpkg records what is installed and which files each package owns.</a:t>
            </a:r>
          </a:p>
        </p:txBody>
      </p:sp>
    </p:spTree>
    <p:extLst>
      <p:ext uri="{BB962C8B-B14F-4D97-AF65-F5344CB8AC3E}">
        <p14:creationId xmlns:p14="http://schemas.microsoft.com/office/powerpoint/2010/main" val="1342090216"/>
      </p:ext>
    </p:extLst>
  </p:cSld>
</p:sld>
</file>

<file path=ppt/slides/slide37.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4458A9E-5729-4FE5-A336-99B891054A9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C83F131-6B62-4100-8629-19D85404BA2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4 · BUILD THE MODEL</a:t>
            </a:r>
          </a:p>
        </p:txBody>
      </p:sp>
      <p:sp>
        <p:nvSpPr>
          <p:cNvPr id="3" name="">
            <a:extLst xmlns:a="http://schemas.openxmlformats.org/drawingml/2006/main">
              <a:ext uri="{FF2B5EF4-FFF2-40B4-BE49-F238E27FC236}">
                <a16:creationId xmlns:a16="http://schemas.microsoft.com/office/drawing/2014/main" id="{4E0F83A5-4E15-423A-B453-93E6C1EDB82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EFD5F3B7-1FE1-4D80-BEC5-D0F1A06560DF}"/>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37</a:t>
            </a:r>
          </a:p>
        </p:txBody>
      </p:sp>
      <p:sp>
        <p:nvSpPr>
          <p:cNvPr id="5" name="">
            <a:extLst xmlns:a="http://schemas.openxmlformats.org/drawingml/2006/main">
              <a:ext uri="{FF2B5EF4-FFF2-40B4-BE49-F238E27FC236}">
                <a16:creationId xmlns:a16="http://schemas.microsoft.com/office/drawing/2014/main" id="{28803638-2995-4A3F-B4EF-79F46E674DB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Software state has several independent layers</a:t>
            </a:r>
          </a:p>
        </p:txBody>
      </p:sp>
      <p:sp>
        <p:nvSpPr>
          <p:cNvPr id="6" name="">
            <a:extLst xmlns:a="http://schemas.openxmlformats.org/drawingml/2006/main">
              <a:ext uri="{FF2B5EF4-FFF2-40B4-BE49-F238E27FC236}">
                <a16:creationId xmlns:a16="http://schemas.microsoft.com/office/drawing/2014/main" id="{EA617D65-D1CF-4D8F-8293-56D718CF9FBB}"/>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A command that runs is not automatically a supported package installation.</a:t>
            </a:r>
          </a:p>
        </p:txBody>
      </p:sp>
      <p:sp>
        <p:nvSpPr>
          <p:cNvPr id="7" name="">
            <a:extLst xmlns:a="http://schemas.openxmlformats.org/drawingml/2006/main">
              <a:ext uri="{FF2B5EF4-FFF2-40B4-BE49-F238E27FC236}">
                <a16:creationId xmlns:a16="http://schemas.microsoft.com/office/drawing/2014/main" id="{02DCF0DC-C1DA-4B4D-9ABE-FFF3F30C2672}"/>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7E5DA8A-CAD0-4C99-964C-CDCE535C45CC}"/>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Repository metadata says what is available</a:t>
            </a:r>
          </a:p>
        </p:txBody>
      </p:sp>
      <p:sp>
        <p:nvSpPr>
          <p:cNvPr id="9" name="">
            <a:extLst xmlns:a="http://schemas.openxmlformats.org/drawingml/2006/main">
              <a:ext uri="{FF2B5EF4-FFF2-40B4-BE49-F238E27FC236}">
                <a16:creationId xmlns:a16="http://schemas.microsoft.com/office/drawing/2014/main" id="{982B5A23-6E6D-4E8F-9417-8B50823B508B}"/>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548EB47-0092-4FC4-BFD3-C21E3C52E4D0}"/>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package database says what is registered as installed</a:t>
            </a:r>
          </a:p>
        </p:txBody>
      </p:sp>
      <p:sp>
        <p:nvSpPr>
          <p:cNvPr id="11" name="">
            <a:extLst xmlns:a="http://schemas.openxmlformats.org/drawingml/2006/main">
              <a:ext uri="{FF2B5EF4-FFF2-40B4-BE49-F238E27FC236}">
                <a16:creationId xmlns:a16="http://schemas.microsoft.com/office/drawing/2014/main" id="{1FB07D40-7352-4ADA-8CFD-EF679A85C46A}"/>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4C02145-A1B2-4721-BEBF-206B7D328021}"/>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shell decides which executable path it would run</a:t>
            </a:r>
          </a:p>
        </p:txBody>
      </p:sp>
      <p:sp>
        <p:nvSpPr>
          <p:cNvPr id="13" name="">
            <a:extLst xmlns:a="http://schemas.openxmlformats.org/drawingml/2006/main">
              <a:ext uri="{FF2B5EF4-FFF2-40B4-BE49-F238E27FC236}">
                <a16:creationId xmlns:a16="http://schemas.microsoft.com/office/drawing/2014/main" id="{AD26FA51-EF35-4DFC-9BD5-5DBF4D7FE136}"/>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69918DD0-7C1E-4FA6-9C5A-7F0FCF9217BC}"/>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executable’s behavior is a final, separate observation</a:t>
            </a:r>
          </a:p>
        </p:txBody>
      </p:sp>
    </p:spTree>
    <p:extLst>
      <p:ext uri="{BB962C8B-B14F-4D97-AF65-F5344CB8AC3E}">
        <p14:creationId xmlns:p14="http://schemas.microsoft.com/office/powerpoint/2010/main" val="1944069017"/>
      </p:ext>
    </p:extLst>
  </p:cSld>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4305B220-4226-4FB9-B209-6E4493E5A2D5}"/>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4BF95D07-08C9-4469-8E69-76C5632618B4}"/>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4 · MODEL</a:t>
            </a:r>
          </a:p>
        </p:txBody>
      </p:sp>
      <p:sp>
        <p:nvSpPr>
          <p:cNvPr id="3" name="">
            <a:extLst>
              <a:ext uri="{FF2B5EF4-FFF2-40B4-BE49-F238E27FC236}">
                <a16:creationId xmlns:a16="http://schemas.microsoft.com/office/drawing/2014/main" id="{E0810DA9-EA80-4A1D-8E34-4E65E5DBF39B}"/>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73287882-B424-48AD-97E5-51097D121DE7}"/>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38</a:t>
            </a:r>
          </a:p>
        </p:txBody>
      </p:sp>
      <p:sp>
        <p:nvSpPr>
          <p:cNvPr id="5" name="">
            <a:extLst>
              <a:ext uri="{FF2B5EF4-FFF2-40B4-BE49-F238E27FC236}">
                <a16:creationId xmlns:a16="http://schemas.microsoft.com/office/drawing/2014/main" id="{4F19E5BD-3E85-45A4-B1BA-D658B22CEF93}"/>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Provenance is a chain of five claims</a:t>
            </a:r>
          </a:p>
        </p:txBody>
      </p:sp>
      <p:sp>
        <p:nvSpPr>
          <p:cNvPr id="6" name="">
            <a:extLst>
              <a:ext uri="{FF2B5EF4-FFF2-40B4-BE49-F238E27FC236}">
                <a16:creationId xmlns:a16="http://schemas.microsoft.com/office/drawing/2014/main" id="{90B226CA-182D-4810-975B-15EC6C08245A}"/>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Each claim has its own command; none of them follows from the others.</a:t>
            </a:r>
          </a:p>
        </p:txBody>
      </p:sp>
      <p:sp>
        <p:nvSpPr>
          <p:cNvPr id="7" name="">
            <a:extLst>
              <a:ext uri="{FF2B5EF4-FFF2-40B4-BE49-F238E27FC236}">
                <a16:creationId xmlns:a16="http://schemas.microsoft.com/office/drawing/2014/main" id="{9BF4E808-B55B-40F2-9BD7-A31193A0664E}"/>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7AA553E3-022D-4982-B355-6005D4C9AF19}"/>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A candidate exists → the package is registered installed → an executable is on PATH → that file belongs to the package.</a:t>
            </a:r>
          </a:p>
        </p:txBody>
      </p:sp>
      <p:sp>
        <p:nvSpPr>
          <p:cNvPr id="9" name="">
            <a:extLst>
              <a:ext uri="{FF2B5EF4-FFF2-40B4-BE49-F238E27FC236}">
                <a16:creationId xmlns:a16="http://schemas.microsoft.com/office/drawing/2014/main" id="{74A880A3-DED5-42A1-82FE-22B4E34577B9}"/>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1A44940E-E26C-4CE6-BFE6-22A8F7575F55}"/>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The fifth claim — the program behaves correctly — is a separate observation, tested last.</a:t>
            </a:r>
          </a:p>
        </p:txBody>
      </p:sp>
    </p:spTree>
  </p:cSld>
  <p:clrMapOvr>
    <a:masterClrMapping/>
  </p:clrMapOvr>
</p:sld>
</file>

<file path=ppt/slides/slide39.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82C1D94-88FD-4871-869D-4D423E173EA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9F1E059-0683-44A3-A581-335186A8FC65}"/>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4 · WORKED EXAMPLE</a:t>
            </a:r>
          </a:p>
        </p:txBody>
      </p:sp>
      <p:sp>
        <p:nvSpPr>
          <p:cNvPr id="3" name="">
            <a:extLst xmlns:a="http://schemas.openxmlformats.org/drawingml/2006/main">
              <a:ext uri="{FF2B5EF4-FFF2-40B4-BE49-F238E27FC236}">
                <a16:creationId xmlns:a16="http://schemas.microsoft.com/office/drawing/2014/main" id="{79AE122B-DD23-43A5-B4ED-98245B16D23B}"/>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70982B5D-7361-40CF-8702-05920F9EA11C}"/>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39</a:t>
            </a:r>
          </a:p>
        </p:txBody>
      </p:sp>
      <p:sp>
        <p:nvSpPr>
          <p:cNvPr id="5" name="">
            <a:extLst xmlns:a="http://schemas.openxmlformats.org/drawingml/2006/main">
              <a:ext uri="{FF2B5EF4-FFF2-40B4-BE49-F238E27FC236}">
                <a16:creationId xmlns:a16="http://schemas.microsoft.com/office/drawing/2014/main" id="{678C943B-1DF6-4A85-BD26-00E306873EEC}"/>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Verify software through independent views</a:t>
            </a:r>
          </a:p>
        </p:txBody>
      </p:sp>
      <p:sp>
        <p:nvSpPr>
          <p:cNvPr id="6" name="">
            <a:extLst xmlns:a="http://schemas.openxmlformats.org/drawingml/2006/main">
              <a:ext uri="{FF2B5EF4-FFF2-40B4-BE49-F238E27FC236}">
                <a16:creationId xmlns:a16="http://schemas.microsoft.com/office/drawing/2014/main" id="{9B6444B6-18F0-45C2-9E4F-6DB828936D4B}"/>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D7B8411-8223-4297-9B8D-61C1F12C1423}"/>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apt-cache policy tree</a:t>
            </a:r>
          </a:p>
          <a:p xmlns:a="http://schemas.openxmlformats.org/drawingml/2006/main">
            <a:pPr algn="l">
              <a:buNone/>
              <a:defRPr sz="1575" b="0">
                <a:solidFill>
                  <a:srgbClr val="F7F1FA"/>
                </a:solidFill>
              </a:defRPr>
            </a:pPr>
            <a:r>
              <a:rPr sz="1575" b="0">
                <a:solidFill>
                  <a:srgbClr val="F7F1FA"/>
                </a:solidFill>
              </a:rPr>
              <a:t>sudo apt install tree</a:t>
            </a:r>
          </a:p>
          <a:p xmlns:a="http://schemas.openxmlformats.org/drawingml/2006/main">
            <a:pPr algn="l">
              <a:buNone/>
              <a:defRPr sz="1575" b="0">
                <a:solidFill>
                  <a:srgbClr val="F7F1FA"/>
                </a:solidFill>
              </a:defRPr>
            </a:pPr>
            <a:r>
              <a:rPr sz="1575" b="0">
                <a:solidFill>
                  <a:srgbClr val="F7F1FA"/>
                </a:solidFill>
              </a:rPr>
              <a:t>dpkg-query -W -f='${Status}\n' tree</a:t>
            </a:r>
          </a:p>
          <a:p xmlns:a="http://schemas.openxmlformats.org/drawingml/2006/main">
            <a:pPr algn="l">
              <a:buNone/>
              <a:defRPr sz="1575" b="0">
                <a:solidFill>
                  <a:srgbClr val="F7F1FA"/>
                </a:solidFill>
              </a:defRPr>
            </a:pPr>
            <a:r>
              <a:rPr sz="1575" b="0">
                <a:solidFill>
                  <a:srgbClr val="F7F1FA"/>
                </a:solidFill>
              </a:rPr>
              <a:t>command -v tree</a:t>
            </a:r>
          </a:p>
          <a:p xmlns:a="http://schemas.openxmlformats.org/drawingml/2006/main">
            <a:pPr algn="l">
              <a:buNone/>
              <a:defRPr sz="1575" b="0">
                <a:solidFill>
                  <a:srgbClr val="F7F1FA"/>
                </a:solidFill>
              </a:defRPr>
            </a:pPr>
            <a:r>
              <a:rPr sz="1575" b="0">
                <a:solidFill>
                  <a:srgbClr val="F7F1FA"/>
                </a:solidFill>
              </a:rPr>
              <a:t>dpkg-query -S "$(command -v tree)"</a:t>
            </a:r>
          </a:p>
        </p:txBody>
      </p:sp>
      <p:sp>
        <p:nvSpPr>
          <p:cNvPr id="8" name="">
            <a:extLst xmlns:a="http://schemas.openxmlformats.org/drawingml/2006/main">
              <a:ext uri="{FF2B5EF4-FFF2-40B4-BE49-F238E27FC236}">
                <a16:creationId xmlns:a16="http://schemas.microsoft.com/office/drawing/2014/main" id="{136653D5-5066-45EC-B21D-072EF0E67E72}"/>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4A58894-BCE1-46B5-9A12-5C7C425EC9C8}"/>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apt-cache policy: the candidate version, before you install.</a:t>
            </a:r>
          </a:p>
        </p:txBody>
      </p:sp>
      <p:sp>
        <p:nvSpPr>
          <p:cNvPr id="10" name="">
            <a:extLst xmlns:a="http://schemas.openxmlformats.org/drawingml/2006/main">
              <a:ext uri="{FF2B5EF4-FFF2-40B4-BE49-F238E27FC236}">
                <a16:creationId xmlns:a16="http://schemas.microsoft.com/office/drawing/2014/main" id="{974BE6E2-D6F9-4729-A9C2-3E008B7F12A6}"/>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F08FB378-6D4A-4BEF-885A-8331A6EBD27B}"/>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command -v finds it on PATH; that is discovery, not ownership.</a:t>
            </a:r>
          </a:p>
        </p:txBody>
      </p:sp>
      <p:sp>
        <p:nvSpPr>
          <p:cNvPr id="12" name="">
            <a:extLst xmlns:a="http://schemas.openxmlformats.org/drawingml/2006/main">
              <a:ext uri="{FF2B5EF4-FFF2-40B4-BE49-F238E27FC236}">
                <a16:creationId xmlns:a16="http://schemas.microsoft.com/office/drawing/2014/main" id="{D495F4B6-6E87-4699-8B2A-E30A377FDF52}"/>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73468520-95A1-4B03-B94D-AD5AEB764F75}"/>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dpkg-query -S names the package that owns that exact file.</a:t>
            </a:r>
          </a:p>
        </p:txBody>
      </p:sp>
      <p:sp>
        <p:nvSpPr>
          <p:cNvPr id="13" name="">
            <a:extLst xmlns:a="http://schemas.openxmlformats.org/drawingml/2006/main">
              <a:ext uri="{FF2B5EF4-FFF2-40B4-BE49-F238E27FC236}">
                <a16:creationId xmlns:a16="http://schemas.microsoft.com/office/drawing/2014/main" id="{73468520-95A1-4B03-B94D-AD5AEB764F75}"/>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Only after all four checks does running tree test real behaviour.</a:t>
            </a:r>
          </a:p>
        </p:txBody>
      </p:sp>
      <p:sp>
        <p:nvSpPr>
          <p:cNvPr id="12" name="">
            <a:extLst xmlns:a="http://schemas.openxmlformats.org/drawingml/2006/main">
              <a:ext uri="{FF2B5EF4-FFF2-40B4-BE49-F238E27FC236}">
                <a16:creationId xmlns:a16="http://schemas.microsoft.com/office/drawing/2014/main" id="{D495F4B6-6E87-4699-8B2A-E30A377FDF52}"/>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317621535"/>
      </p:ext>
    </p:extLst>
  </p:cSld>
</p:sld>
</file>

<file path=ppt/slides/slide40.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28C2310-A614-4613-85C0-EE68896EEF9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FC92FD-8822-4B06-8C63-C16DAE2A855D}"/>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4 · GUIDED COMMANDS</a:t>
            </a:r>
          </a:p>
        </p:txBody>
      </p:sp>
      <p:sp>
        <p:nvSpPr>
          <p:cNvPr id="3" name="">
            <a:extLst xmlns:a="http://schemas.openxmlformats.org/drawingml/2006/main">
              <a:ext uri="{FF2B5EF4-FFF2-40B4-BE49-F238E27FC236}">
                <a16:creationId xmlns:a16="http://schemas.microsoft.com/office/drawing/2014/main" id="{40812CD1-6066-444C-9B81-66A31AC2D25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A38FA81D-0950-44C6-BA04-2C40FAA12FA5}"/>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40</a:t>
            </a:r>
          </a:p>
        </p:txBody>
      </p:sp>
      <p:sp>
        <p:nvSpPr>
          <p:cNvPr id="5" name="">
            <a:extLst xmlns:a="http://schemas.openxmlformats.org/drawingml/2006/main">
              <a:ext uri="{FF2B5EF4-FFF2-40B4-BE49-F238E27FC236}">
                <a16:creationId xmlns:a16="http://schemas.microsoft.com/office/drawing/2014/main" id="{49224F17-8EE2-49E4-B4DA-E5394C8EB0B1}"/>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3E9AE7C3-E572-44F0-B1FA-E63522195D9D}"/>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53E22F39-F773-483E-A5DC-165EEE311C08}"/>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apt-cache policy NAME</a:t>
            </a:r>
          </a:p>
        </p:txBody>
      </p:sp>
      <p:sp>
        <p:nvSpPr>
          <p:cNvPr id="8" name="">
            <a:extLst xmlns:a="http://schemas.openxmlformats.org/drawingml/2006/main">
              <a:ext uri="{FF2B5EF4-FFF2-40B4-BE49-F238E27FC236}">
                <a16:creationId xmlns:a16="http://schemas.microsoft.com/office/drawing/2014/main" id="{AE7E509F-F059-4949-8A56-80F07E85FB8C}"/>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installed vs candidate version, and the repo</a:t>
            </a:r>
          </a:p>
        </p:txBody>
      </p:sp>
      <p:sp>
        <p:nvSpPr>
          <p:cNvPr id="9" name="">
            <a:extLst xmlns:a="http://schemas.openxmlformats.org/drawingml/2006/main">
              <a:ext uri="{FF2B5EF4-FFF2-40B4-BE49-F238E27FC236}">
                <a16:creationId xmlns:a16="http://schemas.microsoft.com/office/drawing/2014/main" id="{599EE9CC-456A-4FB9-9C7A-8BD70FFEDC6E}"/>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B2091C7-BE7A-4A42-BD26-6F85D8C6F027}"/>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sudo apt update</a:t>
            </a:r>
          </a:p>
        </p:txBody>
      </p:sp>
      <p:sp>
        <p:nvSpPr>
          <p:cNvPr id="11" name="">
            <a:extLst xmlns:a="http://schemas.openxmlformats.org/drawingml/2006/main">
              <a:ext uri="{FF2B5EF4-FFF2-40B4-BE49-F238E27FC236}">
                <a16:creationId xmlns:a16="http://schemas.microsoft.com/office/drawing/2014/main" id="{E31C7FCB-9865-4D9F-A865-CF06007A2A52}"/>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refresh the package index only — installs nothing</a:t>
            </a:r>
          </a:p>
        </p:txBody>
      </p:sp>
      <p:sp>
        <p:nvSpPr>
          <p:cNvPr id="12" name="">
            <a:extLst xmlns:a="http://schemas.openxmlformats.org/drawingml/2006/main">
              <a:ext uri="{FF2B5EF4-FFF2-40B4-BE49-F238E27FC236}">
                <a16:creationId xmlns:a16="http://schemas.microsoft.com/office/drawing/2014/main" id="{E538920C-6428-4442-B5C3-6099635F7441}"/>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FBCE9BE0-B2D6-4129-9C41-BB1C1CB7F7EC}"/>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sudo apt install NAME</a:t>
            </a:r>
          </a:p>
        </p:txBody>
      </p:sp>
      <p:sp>
        <p:nvSpPr>
          <p:cNvPr id="14" name="">
            <a:extLst xmlns:a="http://schemas.openxmlformats.org/drawingml/2006/main">
              <a:ext uri="{FF2B5EF4-FFF2-40B4-BE49-F238E27FC236}">
                <a16:creationId xmlns:a16="http://schemas.microsoft.com/office/drawing/2014/main" id="{12DEF405-6EEC-4B23-8EC3-8540B809842B}"/>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resolve dependencies and install from the repo</a:t>
            </a:r>
          </a:p>
        </p:txBody>
      </p:sp>
      <p:sp>
        <p:nvSpPr>
          <p:cNvPr id="15" name="">
            <a:extLst xmlns:a="http://schemas.openxmlformats.org/drawingml/2006/main">
              <a:ext uri="{FF2B5EF4-FFF2-40B4-BE49-F238E27FC236}">
                <a16:creationId xmlns:a16="http://schemas.microsoft.com/office/drawing/2014/main" id="{5D665BA8-0F13-4B6A-B707-CACABB5A52DC}"/>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BC0C797-DC12-4A89-B400-8023D104E57A}"/>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dpkg-query -W</a:t>
            </a:r>
          </a:p>
        </p:txBody>
      </p:sp>
      <p:sp>
        <p:nvSpPr>
          <p:cNvPr id="17" name="">
            <a:extLst xmlns:a="http://schemas.openxmlformats.org/drawingml/2006/main">
              <a:ext uri="{FF2B5EF4-FFF2-40B4-BE49-F238E27FC236}">
                <a16:creationId xmlns:a16="http://schemas.microsoft.com/office/drawing/2014/main" id="{17313C69-3F65-4A2C-9059-F8B7B56356FA}"/>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registered installed? prints name and version</a:t>
            </a:r>
          </a:p>
        </p:txBody>
      </p:sp>
      <p:sp>
        <p:nvSpPr>
          <p:cNvPr id="18" name="">
            <a:extLst xmlns:a="http://schemas.openxmlformats.org/drawingml/2006/main">
              <a:ext uri="{FF2B5EF4-FFF2-40B4-BE49-F238E27FC236}">
                <a16:creationId xmlns:a16="http://schemas.microsoft.com/office/drawing/2014/main" id="{CAA12DC6-0CE5-4102-BE03-1ACDB9A80C1B}"/>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2ED013FF-2C6E-4472-A171-AF60CD026BA8}"/>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dpkg-query -S PATH</a:t>
            </a:r>
          </a:p>
        </p:txBody>
      </p:sp>
      <p:sp>
        <p:nvSpPr>
          <p:cNvPr id="20" name="">
            <a:extLst xmlns:a="http://schemas.openxmlformats.org/drawingml/2006/main">
              <a:ext uri="{FF2B5EF4-FFF2-40B4-BE49-F238E27FC236}">
                <a16:creationId xmlns:a16="http://schemas.microsoft.com/office/drawing/2014/main" id="{0CB1C6D7-B884-4110-AA07-93489C346DF7}"/>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which installed package owns this exact file</a:t>
            </a:r>
          </a:p>
        </p:txBody>
      </p:sp>
      <p:sp>
        <p:nvSpPr>
          <p:cNvPr id="19" name="">
            <a:extLst xmlns:a="http://schemas.openxmlformats.org/drawingml/2006/main">
              <a:ext uri="{FF2B5EF4-FFF2-40B4-BE49-F238E27FC236}">
                <a16:creationId xmlns:a16="http://schemas.microsoft.com/office/drawing/2014/main" id="{2ED013FF-2C6E-4472-A171-AF60CD026BA8}"/>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apt-get -s install X</a:t>
            </a:r>
          </a:p>
        </p:txBody>
      </p:sp>
      <p:sp>
        <p:nvSpPr>
          <p:cNvPr id="20" name="">
            <a:extLst xmlns:a="http://schemas.openxmlformats.org/drawingml/2006/main">
              <a:ext uri="{FF2B5EF4-FFF2-40B4-BE49-F238E27FC236}">
                <a16:creationId xmlns:a16="http://schemas.microsoft.com/office/drawing/2014/main" id="{0CB1C6D7-B884-4110-AA07-93489C346DF7}"/>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simulate — show what would change, do nothing</a:t>
            </a:r>
          </a:p>
        </p:txBody>
      </p:sp>
      <p:sp>
        <p:nvSpPr>
          <p:cNvPr id="18" name="">
            <a:extLst xmlns:a="http://schemas.openxmlformats.org/drawingml/2006/main">
              <a:ext uri="{FF2B5EF4-FFF2-40B4-BE49-F238E27FC236}">
                <a16:creationId xmlns:a16="http://schemas.microsoft.com/office/drawing/2014/main" id="{CAA12DC6-0CE5-4102-BE03-1ACDB9A80C1B}"/>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986983981"/>
      </p:ext>
    </p:extLst>
  </p:cSld>
</p:sld>
</file>

<file path=ppt/slides/slide41.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86AF4F8-9931-4A8A-80C6-B825E69BD74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C89B7A7-BB78-4955-8213-BF8BFC42A29E}"/>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4 · LIVE DEMO</a:t>
            </a:r>
          </a:p>
        </p:txBody>
      </p:sp>
      <p:sp>
        <p:nvSpPr>
          <p:cNvPr id="3" name="">
            <a:extLst xmlns:a="http://schemas.openxmlformats.org/drawingml/2006/main">
              <a:ext uri="{FF2B5EF4-FFF2-40B4-BE49-F238E27FC236}">
                <a16:creationId xmlns:a16="http://schemas.microsoft.com/office/drawing/2014/main" id="{017D1E5C-4BEA-4EC9-95F7-24CB9B6526EA}"/>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0C32F6DA-057A-42AF-90B4-E9C425830405}"/>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41</a:t>
            </a:r>
          </a:p>
        </p:txBody>
      </p:sp>
      <p:sp>
        <p:nvSpPr>
          <p:cNvPr id="5" name="">
            <a:extLst xmlns:a="http://schemas.openxmlformats.org/drawingml/2006/main">
              <a:ext uri="{FF2B5EF4-FFF2-40B4-BE49-F238E27FC236}">
                <a16:creationId xmlns:a16="http://schemas.microsoft.com/office/drawing/2014/main" id="{6DD2CC0B-E203-4CCB-AF61-954DB0FEA48A}"/>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proving where jq comes from</a:t>
            </a:r>
          </a:p>
        </p:txBody>
      </p:sp>
      <p:sp>
        <p:nvSpPr>
          <p:cNvPr id="6" name="">
            <a:extLst xmlns:a="http://schemas.openxmlformats.org/drawingml/2006/main">
              <a:ext uri="{FF2B5EF4-FFF2-40B4-BE49-F238E27FC236}">
                <a16:creationId xmlns:a16="http://schemas.microsoft.com/office/drawing/2014/main" id="{5576246A-15D2-4B8D-8315-47AD328A78F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Trace one tool, jq, through the complete provenance chain.</a:t>
            </a:r>
          </a:p>
        </p:txBody>
      </p:sp>
      <p:sp>
        <p:nvSpPr>
          <p:cNvPr id="7" name="">
            <a:extLst xmlns:a="http://schemas.openxmlformats.org/drawingml/2006/main">
              <a:ext uri="{FF2B5EF4-FFF2-40B4-BE49-F238E27FC236}">
                <a16:creationId xmlns:a16="http://schemas.microsoft.com/office/drawing/2014/main" id="{384878E2-3F88-413A-BEAC-2FC49DA0E5F2}"/>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0A745C1-005A-4701-B63E-DD1CE46BAFEF}"/>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Trace jq from repository candidate to installed state, executable path, package ownership, and JSON behavior.</a:t>
            </a:r>
          </a:p>
        </p:txBody>
      </p:sp>
      <p:sp>
        <p:nvSpPr>
          <p:cNvPr id="9" name="">
            <a:extLst xmlns:a="http://schemas.openxmlformats.org/drawingml/2006/main">
              <a:ext uri="{FF2B5EF4-FFF2-40B4-BE49-F238E27FC236}">
                <a16:creationId xmlns:a16="http://schemas.microsoft.com/office/drawing/2014/main" id="{A16B8A3A-DF3C-4262-9158-BB4B634EFD5D}"/>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08F4B960-7823-43E2-BAC6-4D0A17F0158F}"/>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apt-cache policy jq — a candidate exists; note the repository</a:t>
            </a:r>
          </a:p>
        </p:txBody>
      </p:sp>
      <p:sp>
        <p:nvSpPr>
          <p:cNvPr id="11" name="">
            <a:extLst xmlns:a="http://schemas.openxmlformats.org/drawingml/2006/main">
              <a:ext uri="{FF2B5EF4-FFF2-40B4-BE49-F238E27FC236}">
                <a16:creationId xmlns:a16="http://schemas.microsoft.com/office/drawing/2014/main" id="{8723EE8B-07DF-4217-AB52-9018C3501D3A}"/>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A8997022-254A-4224-86F1-3CC9BC8359A0}"/>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sudo apt install jq, then dpkg-query -W jq — registered as installed</a:t>
            </a:r>
          </a:p>
        </p:txBody>
      </p:sp>
      <p:sp>
        <p:nvSpPr>
          <p:cNvPr id="13" name="">
            <a:extLst xmlns:a="http://schemas.openxmlformats.org/drawingml/2006/main">
              <a:ext uri="{FF2B5EF4-FFF2-40B4-BE49-F238E27FC236}">
                <a16:creationId xmlns:a16="http://schemas.microsoft.com/office/drawing/2014/main" id="{30CC8346-9847-4CAF-A1FD-CCFF3EF56865}"/>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582C4FAD-42B7-4CD0-9515-613768BF1646}"/>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command -v jq, then dpkg-query -S on that path — discovered and owned</a:t>
            </a:r>
          </a:p>
        </p:txBody>
      </p:sp>
      <p:sp>
        <p:nvSpPr>
          <p:cNvPr id="15" name="">
            <a:extLst xmlns:a="http://schemas.openxmlformats.org/drawingml/2006/main">
              <a:ext uri="{FF2B5EF4-FFF2-40B4-BE49-F238E27FC236}">
                <a16:creationId xmlns:a16="http://schemas.microsoft.com/office/drawing/2014/main" id="{405AB98F-AA20-46C2-93F5-772988D2F322}"/>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4E665B68-C791-4988-8378-6AC91395B407}"/>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echo '{}' | jq . — behaviour, tested last</a:t>
            </a:r>
          </a:p>
        </p:txBody>
      </p:sp>
      <p:sp>
        <p:nvSpPr>
          <p:cNvPr id="17" name="">
            <a:extLst xmlns:a="http://schemas.openxmlformats.org/drawingml/2006/main">
              <a:ext uri="{FF2B5EF4-FFF2-40B4-BE49-F238E27FC236}">
                <a16:creationId xmlns:a16="http://schemas.microsoft.com/office/drawing/2014/main" id="{329C3CD8-451F-44C0-A6D7-C20C6806D269}"/>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which of the five provenance claims does each command close?</a:t>
            </a:r>
          </a:p>
        </p:txBody>
      </p:sp>
    </p:spTree>
    <p:extLst>
      <p:ext uri="{BB962C8B-B14F-4D97-AF65-F5344CB8AC3E}">
        <p14:creationId xmlns:p14="http://schemas.microsoft.com/office/powerpoint/2010/main" val="1914869804"/>
      </p:ext>
    </p:extLst>
  </p:cSld>
</p:sld>
</file>

<file path=ppt/slides/slide42.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3BEFDEF-6FE1-4C18-8F95-9B97639C853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C60FD1-192F-4546-8B93-C0FFCCCAC885}"/>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4</a:t>
            </a:r>
          </a:p>
        </p:txBody>
      </p:sp>
      <p:sp>
        <p:nvSpPr>
          <p:cNvPr id="3" name="">
            <a:extLst xmlns:a="http://schemas.openxmlformats.org/drawingml/2006/main">
              <a:ext uri="{FF2B5EF4-FFF2-40B4-BE49-F238E27FC236}">
                <a16:creationId xmlns:a16="http://schemas.microsoft.com/office/drawing/2014/main" id="{DFF5BED2-B68D-4487-9854-182C0E1947F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5501CD64-BDE6-490E-9E9C-5FA200366E68}"/>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42</a:t>
            </a:r>
          </a:p>
        </p:txBody>
      </p:sp>
      <p:sp>
        <p:nvSpPr>
          <p:cNvPr id="5" name="">
            <a:extLst xmlns:a="http://schemas.openxmlformats.org/drawingml/2006/main">
              <a:ext uri="{FF2B5EF4-FFF2-40B4-BE49-F238E27FC236}">
                <a16:creationId xmlns:a16="http://schemas.microsoft.com/office/drawing/2014/main" id="{1F7D3E84-C9A8-46DD-BBFA-5B920C27018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Packages and software provenance</a:t>
            </a:r>
          </a:p>
        </p:txBody>
      </p:sp>
      <p:sp>
        <p:nvSpPr>
          <p:cNvPr id="6" name="">
            <a:extLst xmlns:a="http://schemas.openxmlformats.org/drawingml/2006/main">
              <a:ext uri="{FF2B5EF4-FFF2-40B4-BE49-F238E27FC236}">
                <a16:creationId xmlns:a16="http://schemas.microsoft.com/office/drawing/2014/main" id="{7C53668C-7029-4B7D-9623-1C8B09F87125}"/>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20 minutes: install tree and document every layer of its provenance.</a:t>
            </a:r>
          </a:p>
        </p:txBody>
      </p:sp>
      <p:sp>
        <p:nvSpPr>
          <p:cNvPr id="7" name="">
            <a:extLst xmlns:a="http://schemas.openxmlformats.org/drawingml/2006/main">
              <a:ext uri="{FF2B5EF4-FFF2-40B4-BE49-F238E27FC236}">
                <a16:creationId xmlns:a16="http://schemas.microsoft.com/office/drawing/2014/main" id="{D7833C0D-6F87-48DC-AAC2-B318A79E5B0D}"/>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6186236-41EE-4357-B6A5-4F2185DF5B20}"/>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Install tree from the configured Ubuntu repositories and create evidence for candidate, state, path, ownership, and behavior.</a:t>
            </a:r>
          </a:p>
        </p:txBody>
      </p:sp>
      <p:sp>
        <p:nvSpPr>
          <p:cNvPr id="9" name="">
            <a:extLst xmlns:a="http://schemas.openxmlformats.org/drawingml/2006/main">
              <a:ext uri="{FF2B5EF4-FFF2-40B4-BE49-F238E27FC236}">
                <a16:creationId xmlns:a16="http://schemas.microsoft.com/office/drawing/2014/main" id="{1B8B16D9-430B-4554-A5AB-588EA467FA24}"/>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B4F3D67-7B7D-4D8E-93AF-220AB683F3B4}"/>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20 minutes</a:t>
            </a:r>
          </a:p>
        </p:txBody>
      </p:sp>
      <p:sp>
        <p:nvSpPr>
          <p:cNvPr id="11" name="">
            <a:extLst xmlns:a="http://schemas.openxmlformats.org/drawingml/2006/main">
              <a:ext uri="{FF2B5EF4-FFF2-40B4-BE49-F238E27FC236}">
                <a16:creationId xmlns:a16="http://schemas.microsoft.com/office/drawing/2014/main" id="{327DD4BE-2405-4142-8FE4-E1058E212250}"/>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440291-DD72-4783-A85B-5960E7BB9EFB}"/>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5A085E0A-9226-4E39-A713-FDE64EF245C1}"/>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7C22885F-A15E-4AFC-8F35-A7935FB8E070}"/>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7408BA8C-C0B1-405F-85E6-1781604F53C5}"/>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CAF6CDBD-6559-454B-99D0-981CC8B90BE3}"/>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6206930F-4787-4034-A79A-4AAC4A9762C2}"/>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701887653"/>
      </p:ext>
    </p:extLst>
  </p:cSld>
</p:sld>
</file>

<file path=ppt/slides/slide4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13B0E8-D33D-47E6-8D1D-B02F5EBC764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779DCF4-298F-4BCC-917C-AEEAE2092A2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4 · DEBRIEF</a:t>
            </a:r>
          </a:p>
        </p:txBody>
      </p:sp>
      <p:sp>
        <p:nvSpPr>
          <p:cNvPr id="3" name="">
            <a:extLst xmlns:a="http://schemas.openxmlformats.org/drawingml/2006/main">
              <a:ext uri="{FF2B5EF4-FFF2-40B4-BE49-F238E27FC236}">
                <a16:creationId xmlns:a16="http://schemas.microsoft.com/office/drawing/2014/main" id="{68833EEB-6D48-4E53-8771-2726B1DBB3EC}"/>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9AD5994A-EC10-45A0-9708-671756F2D753}"/>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43</a:t>
            </a:r>
          </a:p>
        </p:txBody>
      </p:sp>
      <p:sp>
        <p:nvSpPr>
          <p:cNvPr id="5" name="">
            <a:extLst xmlns:a="http://schemas.openxmlformats.org/drawingml/2006/main">
              <a:ext uri="{FF2B5EF4-FFF2-40B4-BE49-F238E27FC236}">
                <a16:creationId xmlns:a16="http://schemas.microsoft.com/office/drawing/2014/main" id="{B07E3D94-8D7E-4D60-A65A-37C4E1ABAF8C}"/>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0BC2AC5F-95C0-45C3-9A7C-8FED28D36428}"/>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7F3EFC27-A277-4FD6-B4B5-CB7DD0536964}"/>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FCDBBFA1-D098-4D2F-9C04-CE2C2A7E5130}"/>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Package state is a chain of claims, not a single command result. Next, identity and permissions determine who may change those files and directories.</a:t>
            </a:r>
          </a:p>
        </p:txBody>
      </p:sp>
      <p:sp>
        <p:nvSpPr>
          <p:cNvPr id="9" name="">
            <a:extLst xmlns:a="http://schemas.openxmlformats.org/drawingml/2006/main">
              <a:ext uri="{FF2B5EF4-FFF2-40B4-BE49-F238E27FC236}">
                <a16:creationId xmlns:a16="http://schemas.microsoft.com/office/drawing/2014/main" id="{665F9393-5F70-454D-A38B-B1F7EAA23F7B}"/>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EAA1E5E2-E612-4C1E-A128-47A4FC2A0007}"/>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1E38D94D-A4FC-413D-99F2-E44044F4AE37}"/>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75B02AA-8036-421A-BEF6-A3A0009954C5}"/>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4C47B221-01ED-458E-B483-2EA5E581AD29}"/>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97BBCAB1-DB99-4228-B8A8-BD2C720A1AC6}"/>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1015011640"/>
      </p:ext>
    </p:extLst>
  </p:cSld>
</p:sld>
</file>

<file path=ppt/slides/slide44.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D1BAA3-0CD5-46B7-9D0D-B80BFEEBF3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CF4F4E5-62B0-4293-B320-B3A3E6672C79}"/>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5</a:t>
            </a:r>
          </a:p>
        </p:txBody>
      </p:sp>
      <p:sp>
        <p:nvSpPr>
          <p:cNvPr id="3" name="">
            <a:extLst xmlns:a="http://schemas.openxmlformats.org/drawingml/2006/main">
              <a:ext uri="{FF2B5EF4-FFF2-40B4-BE49-F238E27FC236}">
                <a16:creationId xmlns:a16="http://schemas.microsoft.com/office/drawing/2014/main" id="{7C4CD416-731D-4923-B8EC-97BD834B582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1513F6E4-BBFF-49AF-9E51-A4BFBB868820}"/>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44</a:t>
            </a:r>
          </a:p>
        </p:txBody>
      </p:sp>
      <p:sp>
        <p:nvSpPr>
          <p:cNvPr id="5" name="">
            <a:extLst xmlns:a="http://schemas.openxmlformats.org/drawingml/2006/main">
              <a:ext uri="{FF2B5EF4-FFF2-40B4-BE49-F238E27FC236}">
                <a16:creationId xmlns:a16="http://schemas.microsoft.com/office/drawing/2014/main" id="{EF940AD7-4627-475D-8184-D4061CB2E866}"/>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05</a:t>
            </a:r>
          </a:p>
        </p:txBody>
      </p:sp>
      <p:sp>
        <p:nvSpPr>
          <p:cNvPr id="6" name="">
            <a:extLst xmlns:a="http://schemas.openxmlformats.org/drawingml/2006/main">
              <a:ext uri="{FF2B5EF4-FFF2-40B4-BE49-F238E27FC236}">
                <a16:creationId xmlns:a16="http://schemas.microsoft.com/office/drawing/2014/main" id="{F74FB71D-E048-4ECE-9C91-BD9A6C714925}"/>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Users, groups, permissions, and shared directories</a:t>
            </a:r>
          </a:p>
        </p:txBody>
      </p:sp>
      <p:sp>
        <p:nvSpPr>
          <p:cNvPr id="7" name="">
            <a:extLst xmlns:a="http://schemas.openxmlformats.org/drawingml/2006/main">
              <a:ext uri="{FF2B5EF4-FFF2-40B4-BE49-F238E27FC236}">
                <a16:creationId xmlns:a16="http://schemas.microsoft.com/office/drawing/2014/main" id="{FB18700C-8543-483E-A9B0-A32E3CE133BA}"/>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Why does one identity gain access while another is denied?</a:t>
            </a:r>
          </a:p>
        </p:txBody>
      </p:sp>
      <p:sp>
        <p:nvSpPr>
          <p:cNvPr id="8" name="">
            <a:extLst xmlns:a="http://schemas.openxmlformats.org/drawingml/2006/main">
              <a:ext uri="{FF2B5EF4-FFF2-40B4-BE49-F238E27FC236}">
                <a16:creationId xmlns:a16="http://schemas.microsoft.com/office/drawing/2014/main" id="{1BE76E02-96FD-4248-8E49-A6E8B1D5296E}"/>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B1D5A1E-AD48-42F3-AF94-2D627A8D4B47}"/>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General Linux DAC · Ubuntu sudo</a:t>
            </a:r>
          </a:p>
        </p:txBody>
      </p:sp>
    </p:spTree>
    <p:extLst>
      <p:ext uri="{BB962C8B-B14F-4D97-AF65-F5344CB8AC3E}">
        <p14:creationId xmlns:p14="http://schemas.microsoft.com/office/powerpoint/2010/main" val="8044843"/>
      </p:ext>
    </p:extLst>
  </p:cSld>
</p:sld>
</file>

<file path=ppt/slides/slide45.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F7901C-A245-40EB-A598-2E62948BB17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62256AC-E3E7-4BFA-9DC1-93452FA8ADD5}"/>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5 · MODEL</a:t>
            </a:r>
          </a:p>
        </p:txBody>
      </p:sp>
      <p:sp>
        <p:nvSpPr>
          <p:cNvPr id="3" name="">
            <a:extLst xmlns:a="http://schemas.openxmlformats.org/drawingml/2006/main">
              <a:ext uri="{FF2B5EF4-FFF2-40B4-BE49-F238E27FC236}">
                <a16:creationId xmlns:a16="http://schemas.microsoft.com/office/drawing/2014/main" id="{5A97F52C-56A8-4ACA-BFD6-954D57218BDA}"/>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5D77D0F1-7E56-4090-A42B-627BEF3EC0DF}"/>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45</a:t>
            </a:r>
          </a:p>
        </p:txBody>
      </p:sp>
      <p:sp>
        <p:nvSpPr>
          <p:cNvPr id="5" name="">
            <a:extLst xmlns:a="http://schemas.openxmlformats.org/drawingml/2006/main">
              <a:ext uri="{FF2B5EF4-FFF2-40B4-BE49-F238E27FC236}">
                <a16:creationId xmlns:a16="http://schemas.microsoft.com/office/drawing/2014/main" id="{F8F2B4AF-90ED-4DF8-B3A9-348429C33B5B}"/>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Access checks begin with process identity</a:t>
            </a:r>
          </a:p>
        </p:txBody>
      </p:sp>
      <p:sp>
        <p:nvSpPr>
          <p:cNvPr id="6" name="">
            <a:extLst xmlns:a="http://schemas.openxmlformats.org/drawingml/2006/main">
              <a:ext uri="{FF2B5EF4-FFF2-40B4-BE49-F238E27FC236}">
                <a16:creationId xmlns:a16="http://schemas.microsoft.com/office/drawing/2014/main" id="{334FD222-FC94-427C-B2F1-580EC82C8408}"/>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kernel evaluates numeric identities against exactly one permission class.</a:t>
            </a:r>
          </a:p>
        </p:txBody>
      </p:sp>
      <p:sp>
        <p:nvSpPr>
          <p:cNvPr id="7" name="">
            <a:extLst xmlns:a="http://schemas.openxmlformats.org/drawingml/2006/main">
              <a:ext uri="{FF2B5EF4-FFF2-40B4-BE49-F238E27FC236}">
                <a16:creationId xmlns:a16="http://schemas.microsoft.com/office/drawing/2014/main" id="{939ABF0B-200B-4BDB-BB34-153DF279E762}"/>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6654BEC-B4BC-475F-B40A-466F3796941D}"/>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process carries an effective user and a group set, captured at login; the kernel checks these numbers, not names.</a:t>
            </a:r>
          </a:p>
        </p:txBody>
      </p:sp>
      <p:sp>
        <p:nvSpPr>
          <p:cNvPr id="9" name="">
            <a:extLst xmlns:a="http://schemas.openxmlformats.org/drawingml/2006/main">
              <a:ext uri="{FF2B5EF4-FFF2-40B4-BE49-F238E27FC236}">
                <a16:creationId xmlns:a16="http://schemas.microsoft.com/office/drawing/2014/main" id="{13F50BF7-26C3-4D44-99C3-8ABFF79026D6}"/>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BCFE601-845A-4471-B912-3426F44E13A2}"/>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For mode bits exactly one class applies — owner, else matching group, else other — never a combination.</a:t>
            </a:r>
          </a:p>
        </p:txBody>
      </p:sp>
    </p:spTree>
    <p:extLst>
      <p:ext uri="{BB962C8B-B14F-4D97-AF65-F5344CB8AC3E}">
        <p14:creationId xmlns:p14="http://schemas.microsoft.com/office/powerpoint/2010/main" val="1850984355"/>
      </p:ext>
    </p:extLst>
  </p:cSld>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8ABFB1C7-0B8D-4917-B760-6DDD2FBEE913}"/>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D7BA6CD1-0840-4D57-805F-9990AB9154B7}"/>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5 · READING ls -l</a:t>
            </a:r>
          </a:p>
        </p:txBody>
      </p:sp>
      <p:sp>
        <p:nvSpPr>
          <p:cNvPr id="3" name="">
            <a:extLst>
              <a:ext uri="{FF2B5EF4-FFF2-40B4-BE49-F238E27FC236}">
                <a16:creationId xmlns:a16="http://schemas.microsoft.com/office/drawing/2014/main" id="{A283BBA4-452B-4ACD-B5B6-6317547A9BDF}"/>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550DC211-245E-4A48-8DB2-E1FF7E23310C}"/>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46</a:t>
            </a:r>
          </a:p>
        </p:txBody>
      </p:sp>
      <p:sp>
        <p:nvSpPr>
          <p:cNvPr id="5" name="">
            <a:extLst>
              <a:ext uri="{FF2B5EF4-FFF2-40B4-BE49-F238E27FC236}">
                <a16:creationId xmlns:a16="http://schemas.microsoft.com/office/drawing/2014/main" id="{D7BF2D04-45F9-450B-A726-136205CAD855}"/>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Reading an ls -l line — the permission bits</a:t>
            </a:r>
          </a:p>
        </p:txBody>
      </p:sp>
      <p:pic>
        <p:nvPicPr>
          <p:cNvPr id="15" name="Picture 14" descr="lsl_perm.png"/>
          <p:cNvPicPr>
            <a:picLocks noChangeAspect="1"/>
          </p:cNvPicPr>
          <p:nvPr/>
        </p:nvPicPr>
        <p:blipFill>
          <a:blip r:embed="rId2"/>
          <a:stretch>
            <a:fillRect/>
          </a:stretch>
        </p:blipFill>
        <p:spPr>
          <a:xfrm>
            <a:off x="1086120" y="1554480"/>
            <a:ext cx="10019453" cy="4434840"/>
          </a:xfrm>
          <a:prstGeom prst="rect">
            <a:avLst/>
          </a:prstGeom>
        </p:spPr>
      </p:pic>
      <p:sp>
        <p:nvSpPr>
          <p:cNvPr id="16" name="TextBox 15"/>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First char is the type; then owner / group / others, each read-write-execute — then the octal.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8ABFB1C7-0B8D-4917-B760-6DDD2FBEE913}"/>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D7BA6CD1-0840-4D57-805F-9990AB9154B7}"/>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5 · READING ls -l</a:t>
            </a:r>
          </a:p>
        </p:txBody>
      </p:sp>
      <p:sp>
        <p:nvSpPr>
          <p:cNvPr id="3" name="">
            <a:extLst>
              <a:ext uri="{FF2B5EF4-FFF2-40B4-BE49-F238E27FC236}">
                <a16:creationId xmlns:a16="http://schemas.microsoft.com/office/drawing/2014/main" id="{A283BBA4-452B-4ACD-B5B6-6317547A9BDF}"/>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550DC211-245E-4A48-8DB2-E1FF7E23310C}"/>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47</a:t>
            </a:r>
          </a:p>
        </p:txBody>
      </p:sp>
      <p:sp>
        <p:nvSpPr>
          <p:cNvPr id="5" name="">
            <a:extLst>
              <a:ext uri="{FF2B5EF4-FFF2-40B4-BE49-F238E27FC236}">
                <a16:creationId xmlns:a16="http://schemas.microsoft.com/office/drawing/2014/main" id="{D7BF2D04-45F9-450B-A726-136205CAD855}"/>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Reading an ls -l line — the whole line</a:t>
            </a:r>
          </a:p>
        </p:txBody>
      </p:sp>
      <p:pic>
        <p:nvPicPr>
          <p:cNvPr id="15" name="Picture 14" descr="lsl_fields.png"/>
          <p:cNvPicPr>
            <a:picLocks noChangeAspect="1"/>
          </p:cNvPicPr>
          <p:nvPr/>
        </p:nvPicPr>
        <p:blipFill>
          <a:blip r:embed="rId2"/>
          <a:stretch>
            <a:fillRect/>
          </a:stretch>
        </p:blipFill>
        <p:spPr>
          <a:xfrm>
            <a:off x="981587" y="2011680"/>
            <a:ext cx="10228521" cy="3383280"/>
          </a:xfrm>
          <a:prstGeom prst="rect">
            <a:avLst/>
          </a:prstGeom>
        </p:spPr>
      </p:pic>
      <p:sp>
        <p:nvSpPr>
          <p:cNvPr id="16" name="TextBox 15"/>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The same line, field by field: permissions, links, owner, group, size, time, name.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8ABFB1C7-0B8D-4917-B760-6DDD2FBEE913}"/>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D7BA6CD1-0840-4D57-805F-9990AB9154B7}"/>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5 · USERS &amp; GROUPS</a:t>
            </a:r>
          </a:p>
        </p:txBody>
      </p:sp>
      <p:sp>
        <p:nvSpPr>
          <p:cNvPr id="3" name="">
            <a:extLst>
              <a:ext uri="{FF2B5EF4-FFF2-40B4-BE49-F238E27FC236}">
                <a16:creationId xmlns:a16="http://schemas.microsoft.com/office/drawing/2014/main" id="{A283BBA4-452B-4ACD-B5B6-6317547A9BDF}"/>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550DC211-245E-4A48-8DB2-E1FF7E23310C}"/>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48</a:t>
            </a:r>
          </a:p>
        </p:txBody>
      </p:sp>
      <p:sp>
        <p:nvSpPr>
          <p:cNvPr id="5" name="">
            <a:extLst>
              <a:ext uri="{FF2B5EF4-FFF2-40B4-BE49-F238E27FC236}">
                <a16:creationId xmlns:a16="http://schemas.microsoft.com/office/drawing/2014/main" id="{D7BF2D04-45F9-450B-A726-136205CAD855}"/>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Create users and groups</a:t>
            </a:r>
          </a:p>
        </p:txBody>
      </p:sp>
      <p:sp>
        <p:nvSpPr>
          <p:cNvPr id="6" name="">
            <a:extLst>
              <a:ext uri="{FF2B5EF4-FFF2-40B4-BE49-F238E27FC236}">
                <a16:creationId xmlns:a16="http://schemas.microsoft.com/office/drawing/2014/main" id="{BDFBABF0-B61A-40DE-8ACA-A52CE2A51B15}"/>
              </a:ext>
            </a:extLst>
          </p:cNvPr>
          <p:cNvSpPr>
            <a:spLocks noGrp="1"/>
          </p:cNvSpPr>
          <p:nvPr/>
        </p:nvSpPr>
        <p:spPr>
          <a:xfrm>
            <a:off x="514350" y="2400300"/>
            <a:ext cx="6191250" cy="2857500"/>
          </a:xfrm>
          <a:prstGeom prst="roundRect">
            <a:avLst>
              <a:gd name="adj" fmla="val 4000"/>
            </a:avLst>
          </a:prstGeom>
          <a:solidFill>
            <a:srgbClr val="180D25"/>
          </a:solidFill>
          <a:ln w="0">
            <a:noFill/>
            <a:prstDash val="solid"/>
          </a:ln>
        </p:spPr>
        <p:txBody>
          <a:bodyPr/>
          <a:p/>
        </p:txBody>
      </p:sp>
      <p:sp>
        <p:nvSpPr>
          <p:cNvPr id="7" name="">
            <a:extLst>
              <a:ext uri="{FF2B5EF4-FFF2-40B4-BE49-F238E27FC236}">
                <a16:creationId xmlns:a16="http://schemas.microsoft.com/office/drawing/2014/main" id="{4646616C-4533-46AE-AC14-61237B3D6C29}"/>
              </a:ext>
            </a:extLst>
          </p:cNvPr>
          <p:cNvSpPr>
            <a:spLocks noGrp="1"/>
          </p:cNvSpPr>
          <p:nvPr/>
        </p:nvSpPr>
        <p:spPr>
          <a:xfrm>
            <a:off x="781050" y="2647950"/>
            <a:ext cx="5667375" cy="2333625"/>
          </a:xfrm>
          <a:prstGeom prst="rect">
            <a:avLst/>
          </a:prstGeom>
          <a:noFill/>
          <a:ln w="0">
            <a:noFill/>
            <a:prstDash val="solid"/>
          </a:ln>
        </p:spPr>
        <p:txBody>
          <a:bodyPr anchor="ctr"/>
          <a:lstStyle/>
          <a:p>
            <a:pPr algn="l">
              <a:buNone/>
              <a:defRPr sz="1575" b="0">
                <a:solidFill>
                  <a:srgbClr val="F7F1FA"/>
                </a:solidFill>
              </a:defRPr>
            </a:pPr>
            <a:r>
              <a:rPr sz="1500" b="0">
                <a:solidFill>
                  <a:srgbClr val="F7F1FA"/>
                </a:solidFill>
              </a:rPr>
              <a:t>sudo groupadd developers</a:t>
            </a:r>
          </a:p>
          <a:p>
            <a:pPr algn="l">
              <a:buNone/>
              <a:defRPr sz="1575" b="0">
                <a:solidFill>
                  <a:srgbClr val="F7F1FA"/>
                </a:solidFill>
              </a:defRPr>
            </a:pPr>
            <a:r>
              <a:rPr sz="1500" b="0">
                <a:solidFill>
                  <a:srgbClr val="F7F1FA"/>
                </a:solidFill>
              </a:rPr>
              <a:t>sudo useradd -m -G developers alice</a:t>
            </a:r>
          </a:p>
          <a:p>
            <a:pPr algn="l">
              <a:buNone/>
              <a:defRPr sz="1575" b="0">
                <a:solidFill>
                  <a:srgbClr val="F7F1FA"/>
                </a:solidFill>
              </a:defRPr>
            </a:pPr>
            <a:r>
              <a:rPr sz="1500" b="0">
                <a:solidFill>
                  <a:srgbClr val="F7F1FA"/>
                </a:solidFill>
              </a:rPr>
              <a:t>sudo usermod -aG developers bob</a:t>
            </a:r>
          </a:p>
          <a:p>
            <a:pPr algn="l">
              <a:buNone/>
              <a:defRPr sz="1575" b="0">
                <a:solidFill>
                  <a:srgbClr val="F7F1FA"/>
                </a:solidFill>
              </a:defRPr>
            </a:pPr>
            <a:r>
              <a:rPr sz="1500" b="0">
                <a:solidFill>
                  <a:srgbClr val="F7F1FA"/>
                </a:solidFill>
              </a:rPr>
              <a:t>id alice</a:t>
            </a:r>
          </a:p>
        </p:txBody>
      </p:sp>
      <p:sp>
        <p:nvSpPr>
          <p:cNvPr id="8" name="">
            <a:extLst>
              <a:ext uri="{FF2B5EF4-FFF2-40B4-BE49-F238E27FC236}">
                <a16:creationId xmlns:a16="http://schemas.microsoft.com/office/drawing/2014/main" id="{7324641B-D131-4DE8-A579-3F2AA8C71294}"/>
              </a:ext>
            </a:extLst>
          </p:cNvPr>
          <p:cNvSpPr>
            <a:spLocks noGrp="1"/>
          </p:cNvSpPr>
          <p:nvPr/>
        </p:nvSpPr>
        <p:spPr>
          <a:xfrm>
            <a:off x="7143750" y="2733675"/>
            <a:ext cx="95250" cy="95250"/>
          </a:xfrm>
          <a:prstGeom prst="roundRect">
            <a:avLst>
              <a:gd name="adj" fmla="val 50000"/>
            </a:avLst>
          </a:prstGeom>
          <a:solidFill>
            <a:srgbClr val="7650F8"/>
          </a:solidFill>
          <a:ln w="0">
            <a:noFill/>
            <a:prstDash val="solid"/>
          </a:ln>
        </p:spPr>
        <p:txBody>
          <a:bodyPr/>
          <a:p/>
        </p:txBody>
      </p:sp>
      <p:sp>
        <p:nvSpPr>
          <p:cNvPr id="9" name="">
            <a:extLst>
              <a:ext uri="{FF2B5EF4-FFF2-40B4-BE49-F238E27FC236}">
                <a16:creationId xmlns:a16="http://schemas.microsoft.com/office/drawing/2014/main" id="{1F439E52-2F55-4791-8604-B4B99B4BAF28}"/>
              </a:ext>
            </a:extLst>
          </p:cNvPr>
          <p:cNvSpPr>
            <a:spLocks noGrp="1"/>
          </p:cNvSpPr>
          <p:nvPr/>
        </p:nvSpPr>
        <p:spPr>
          <a:xfrm>
            <a:off x="7391400" y="2428875"/>
            <a:ext cx="3848100" cy="704850"/>
          </a:xfrm>
          <a:prstGeom prst="rect">
            <a:avLst/>
          </a:prstGeom>
          <a:noFill/>
          <a:ln w="0">
            <a:noFill/>
            <a:prstDash val="solid"/>
          </a:ln>
        </p:spPr>
        <p:txBody>
          <a:bodyPr anchor="ctr"/>
          <a:lstStyle/>
          <a:p>
            <a:pPr algn="l">
              <a:buNone/>
              <a:defRPr sz="1500" b="0">
                <a:solidFill>
                  <a:srgbClr val="211729"/>
                </a:solidFill>
              </a:defRPr>
            </a:pPr>
            <a:r>
              <a:rPr sz="1500" b="0">
                <a:solidFill>
                  <a:srgbClr val="211729"/>
                </a:solidFill>
              </a:rPr>
              <a:t>groupadd: create the group first</a:t>
            </a:r>
          </a:p>
        </p:txBody>
      </p:sp>
      <p:sp>
        <p:nvSpPr>
          <p:cNvPr id="10" name="">
            <a:extLst>
              <a:ext uri="{FF2B5EF4-FFF2-40B4-BE49-F238E27FC236}">
                <a16:creationId xmlns:a16="http://schemas.microsoft.com/office/drawing/2014/main" id="{7906F431-8176-43D8-8BC5-D77B51A63001}"/>
              </a:ext>
            </a:extLst>
          </p:cNvPr>
          <p:cNvSpPr>
            <a:spLocks noGrp="1"/>
          </p:cNvSpPr>
          <p:nvPr/>
        </p:nvSpPr>
        <p:spPr>
          <a:xfrm>
            <a:off x="7143750" y="3476625"/>
            <a:ext cx="95250" cy="95250"/>
          </a:xfrm>
          <a:prstGeom prst="roundRect">
            <a:avLst>
              <a:gd name="adj" fmla="val 50000"/>
            </a:avLst>
          </a:prstGeom>
          <a:solidFill>
            <a:srgbClr val="FF6F61"/>
          </a:solidFill>
          <a:ln w="0">
            <a:noFill/>
            <a:prstDash val="solid"/>
          </a:ln>
        </p:spPr>
        <p:txBody>
          <a:bodyPr/>
          <a:p/>
        </p:txBody>
      </p:sp>
      <p:sp>
        <p:nvSpPr>
          <p:cNvPr id="11" name="">
            <a:extLst>
              <a:ext uri="{FF2B5EF4-FFF2-40B4-BE49-F238E27FC236}">
                <a16:creationId xmlns:a16="http://schemas.microsoft.com/office/drawing/2014/main" id="{4347C1D8-AA2D-47E0-8634-BC0A0E4DE185}"/>
              </a:ext>
            </a:extLst>
          </p:cNvPr>
          <p:cNvSpPr>
            <a:spLocks noGrp="1"/>
          </p:cNvSpPr>
          <p:nvPr/>
        </p:nvSpPr>
        <p:spPr>
          <a:xfrm>
            <a:off x="7391400" y="3171825"/>
            <a:ext cx="3848100" cy="704850"/>
          </a:xfrm>
          <a:prstGeom prst="rect">
            <a:avLst/>
          </a:prstGeom>
          <a:noFill/>
          <a:ln w="0">
            <a:noFill/>
            <a:prstDash val="solid"/>
          </a:ln>
        </p:spPr>
        <p:txBody>
          <a:bodyPr anchor="ctr"/>
          <a:lstStyle/>
          <a:p>
            <a:pPr algn="l">
              <a:buNone/>
              <a:defRPr sz="1500" b="0">
                <a:solidFill>
                  <a:srgbClr val="211729"/>
                </a:solidFill>
              </a:defRPr>
            </a:pPr>
            <a:r>
              <a:rPr sz="1500" b="0">
                <a:solidFill>
                  <a:srgbClr val="211729"/>
                </a:solidFill>
              </a:rPr>
              <a:t>useradd -m: new user + home dir; -G adds extra groups</a:t>
            </a:r>
          </a:p>
        </p:txBody>
      </p:sp>
      <p:sp>
        <p:nvSpPr>
          <p:cNvPr id="12" name="">
            <a:extLst>
              <a:ext uri="{FF2B5EF4-FFF2-40B4-BE49-F238E27FC236}">
                <a16:creationId xmlns:a16="http://schemas.microsoft.com/office/drawing/2014/main" id="{E9D35DAF-B78F-470B-80D4-F17BDA5478EC}"/>
              </a:ext>
            </a:extLst>
          </p:cNvPr>
          <p:cNvSpPr>
            <a:spLocks noGrp="1"/>
          </p:cNvSpPr>
          <p:nvPr/>
        </p:nvSpPr>
        <p:spPr>
          <a:xfrm>
            <a:off x="7143750" y="4219575"/>
            <a:ext cx="95250" cy="95250"/>
          </a:xfrm>
          <a:prstGeom prst="roundRect">
            <a:avLst>
              <a:gd name="adj" fmla="val 50000"/>
            </a:avLst>
          </a:prstGeom>
          <a:solidFill>
            <a:srgbClr val="7650F8"/>
          </a:solidFill>
          <a:ln w="0">
            <a:noFill/>
            <a:prstDash val="solid"/>
          </a:ln>
        </p:spPr>
        <p:txBody>
          <a:bodyPr/>
          <a:p/>
        </p:txBody>
      </p:sp>
      <p:sp>
        <p:nvSpPr>
          <p:cNvPr id="13" name="">
            <a:extLst>
              <a:ext uri="{FF2B5EF4-FFF2-40B4-BE49-F238E27FC236}">
                <a16:creationId xmlns:a16="http://schemas.microsoft.com/office/drawing/2014/main" id="{D2DB5205-A56F-4DBB-BA1B-BDAA5FCBD583}"/>
              </a:ext>
            </a:extLst>
          </p:cNvPr>
          <p:cNvSpPr>
            <a:spLocks noGrp="1"/>
          </p:cNvSpPr>
          <p:nvPr/>
        </p:nvSpPr>
        <p:spPr>
          <a:xfrm>
            <a:off x="7391400" y="3914775"/>
            <a:ext cx="3848100" cy="704850"/>
          </a:xfrm>
          <a:prstGeom prst="rect">
            <a:avLst/>
          </a:prstGeom>
          <a:noFill/>
          <a:ln w="0">
            <a:noFill/>
            <a:prstDash val="solid"/>
          </a:ln>
        </p:spPr>
        <p:txBody>
          <a:bodyPr anchor="ctr"/>
          <a:lstStyle/>
          <a:p>
            <a:pPr algn="l">
              <a:buNone/>
              <a:defRPr sz="1500" b="0">
                <a:solidFill>
                  <a:srgbClr val="211729"/>
                </a:solidFill>
              </a:defRPr>
            </a:pPr>
            <a:r>
              <a:rPr sz="1500" b="0">
                <a:solidFill>
                  <a:srgbClr val="211729"/>
                </a:solidFill>
              </a:rPr>
              <a:t>usermod -aG: append a group ( -a, or you replace them all )</a:t>
            </a:r>
          </a:p>
        </p:txBody>
      </p:sp>
      <p:sp>
        <p:nvSpPr>
          <p:cNvPr id="13" name="">
            <a:extLst>
              <a:ext uri="{FF2B5EF4-FFF2-40B4-BE49-F238E27FC236}">
                <a16:creationId xmlns:a16="http://schemas.microsoft.com/office/drawing/2014/main" id="{D2DB5205-A56F-4DBB-BA1B-BDAA5FCBD583}"/>
              </a:ext>
            </a:extLst>
          </p:cNvPr>
          <p:cNvSpPr>
            <a:spLocks noGrp="1"/>
          </p:cNvSpPr>
          <p:nvPr/>
        </p:nvSpPr>
        <p:spPr>
          <a:xfrm>
            <a:off x="7391400" y="4655439"/>
            <a:ext cx="3848100" cy="704850"/>
          </a:xfrm>
          <a:prstGeom prst="rect">
            <a:avLst/>
          </a:prstGeom>
          <a:noFill/>
          <a:ln w="0">
            <a:noFill/>
            <a:prstDash val="solid"/>
          </a:ln>
        </p:spPr>
        <p:txBody>
          <a:bodyPr anchor="ctr"/>
          <a:lstStyle/>
          <a:p>
            <a:pPr algn="l">
              <a:buNone/>
              <a:defRPr sz="1500" b="0">
                <a:solidFill>
                  <a:srgbClr val="211729"/>
                </a:solidFill>
              </a:defRPr>
            </a:pPr>
            <a:r>
              <a:rPr sz="1500" b="0">
                <a:solidFill>
                  <a:srgbClr val="211729"/>
                </a:solidFill>
              </a:rPr>
              <a:t>id alice: confirm uid, primary group, and membership</a:t>
            </a:r>
          </a:p>
        </p:txBody>
      </p:sp>
      <p:sp>
        <p:nvSpPr>
          <p:cNvPr id="12" name="">
            <a:extLst>
              <a:ext uri="{FF2B5EF4-FFF2-40B4-BE49-F238E27FC236}">
                <a16:creationId xmlns:a16="http://schemas.microsoft.com/office/drawing/2014/main" id="{E9D35DAF-B78F-470B-80D4-F17BDA5478EC}"/>
              </a:ext>
            </a:extLst>
          </p:cNvPr>
          <p:cNvSpPr>
            <a:spLocks noGrp="1"/>
          </p:cNvSpPr>
          <p:nvPr/>
        </p:nvSpPr>
        <p:spPr>
          <a:xfrm>
            <a:off x="7143750" y="4960239"/>
            <a:ext cx="95250" cy="95250"/>
          </a:xfrm>
          <a:prstGeom prst="roundRect">
            <a:avLst>
              <a:gd name="adj" fmla="val 50000"/>
            </a:avLst>
          </a:prstGeom>
          <a:solidFill>
            <a:srgbClr val="7650F8"/>
          </a:solidFill>
          <a:ln w="0">
            <a:noFill/>
            <a:prstDash val="solid"/>
          </a:ln>
        </p:spPr>
        <p:txBody>
          <a:body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8ABFB1C7-0B8D-4917-B760-6DDD2FBEE913}"/>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D7BA6CD1-0840-4D57-805F-9990AB9154B7}"/>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5 · SPECIAL BITS</a:t>
            </a:r>
          </a:p>
        </p:txBody>
      </p:sp>
      <p:sp>
        <p:nvSpPr>
          <p:cNvPr id="3" name="">
            <a:extLst>
              <a:ext uri="{FF2B5EF4-FFF2-40B4-BE49-F238E27FC236}">
                <a16:creationId xmlns:a16="http://schemas.microsoft.com/office/drawing/2014/main" id="{A283BBA4-452B-4ACD-B5B6-6317547A9BDF}"/>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550DC211-245E-4A48-8DB2-E1FF7E23310C}"/>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49</a:t>
            </a:r>
          </a:p>
        </p:txBody>
      </p:sp>
      <p:sp>
        <p:nvSpPr>
          <p:cNvPr id="5" name="">
            <a:extLst>
              <a:ext uri="{FF2B5EF4-FFF2-40B4-BE49-F238E27FC236}">
                <a16:creationId xmlns:a16="http://schemas.microsoft.com/office/drawing/2014/main" id="{D7BF2D04-45F9-450B-A726-136205CAD855}"/>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setuid, setgid, and the sticky bit</a:t>
            </a:r>
          </a:p>
        </p:txBody>
      </p:sp>
      <p:pic>
        <p:nvPicPr>
          <p:cNvPr id="15" name="Picture 14" descr="special_bits.png"/>
          <p:cNvPicPr>
            <a:picLocks noChangeAspect="1"/>
          </p:cNvPicPr>
          <p:nvPr/>
        </p:nvPicPr>
        <p:blipFill>
          <a:blip r:embed="rId2"/>
          <a:stretch>
            <a:fillRect/>
          </a:stretch>
        </p:blipFill>
        <p:spPr>
          <a:xfrm>
            <a:off x="1265039" y="1554480"/>
            <a:ext cx="9661616" cy="4434840"/>
          </a:xfrm>
          <a:prstGeom prst="rect">
            <a:avLst/>
          </a:prstGeom>
        </p:spPr>
      </p:pic>
      <p:sp>
        <p:nvSpPr>
          <p:cNvPr id="16" name="TextBox 15"/>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Three extra bits, each shown by one character in the ls -l string.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96F7901C-A245-40EB-A598-2E62948BB17E}"/>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D62256AC-E3E7-4BFA-9DC1-93452FA8ADD5}"/>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5 · MODEL</a:t>
            </a:r>
          </a:p>
        </p:txBody>
      </p:sp>
      <p:sp>
        <p:nvSpPr>
          <p:cNvPr id="3" name="">
            <a:extLst>
              <a:ext uri="{FF2B5EF4-FFF2-40B4-BE49-F238E27FC236}">
                <a16:creationId xmlns:a16="http://schemas.microsoft.com/office/drawing/2014/main" id="{5A97F52C-56A8-4ACA-BFD6-954D57218BDA}"/>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5D77D0F1-7E56-4090-A42B-627BEF3EC0DF}"/>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50</a:t>
            </a:r>
          </a:p>
        </p:txBody>
      </p:sp>
      <p:sp>
        <p:nvSpPr>
          <p:cNvPr id="5" name="">
            <a:extLst>
              <a:ext uri="{FF2B5EF4-FFF2-40B4-BE49-F238E27FC236}">
                <a16:creationId xmlns:a16="http://schemas.microsoft.com/office/drawing/2014/main" id="{F8F2B4AF-90ED-4DF8-B3A9-348429C33B5B}"/>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Directory permissions govern path operations</a:t>
            </a:r>
          </a:p>
        </p:txBody>
      </p:sp>
      <p:sp>
        <p:nvSpPr>
          <p:cNvPr id="6" name="">
            <a:extLst>
              <a:ext uri="{FF2B5EF4-FFF2-40B4-BE49-F238E27FC236}">
                <a16:creationId xmlns:a16="http://schemas.microsoft.com/office/drawing/2014/main" id="{334FD222-FC94-427C-B2F1-580EC82C8408}"/>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Reaching a file requires search permission on every directory along the path.</a:t>
            </a:r>
          </a:p>
        </p:txBody>
      </p:sp>
      <p:sp>
        <p:nvSpPr>
          <p:cNvPr id="7" name="">
            <a:extLst>
              <a:ext uri="{FF2B5EF4-FFF2-40B4-BE49-F238E27FC236}">
                <a16:creationId xmlns:a16="http://schemas.microsoft.com/office/drawing/2014/main" id="{939ABF0B-200B-4BDB-BB34-153DF279E762}"/>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86654BEC-B4BC-475F-B40A-466F3796941D}"/>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On a directory: r lists names, w creates or removes names, x traverses it.</a:t>
            </a:r>
          </a:p>
        </p:txBody>
      </p:sp>
      <p:sp>
        <p:nvSpPr>
          <p:cNvPr id="9" name="">
            <a:extLst>
              <a:ext uri="{FF2B5EF4-FFF2-40B4-BE49-F238E27FC236}">
                <a16:creationId xmlns:a16="http://schemas.microsoft.com/office/drawing/2014/main" id="{13F50BF7-26C3-4D44-99C3-8ABFF79026D6}"/>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8BCFE601-845A-4471-B912-3426F44E13A2}"/>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setgid makes new files inherit the directory's group; the sticky bit restricts deletion in shared directories.</a:t>
            </a:r>
          </a:p>
        </p:txBody>
      </p:sp>
    </p:spTree>
  </p:cSld>
  <p:clrMapOvr>
    <a:masterClrMapping/>
  </p:clrMapOvr>
</p:sld>
</file>

<file path=ppt/slides/slide5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086326C-8875-4989-92B5-BBD55156911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30450B1-14B7-4EE2-BAD6-427604316338}"/>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5 · BUILD THE MODEL</a:t>
            </a:r>
          </a:p>
        </p:txBody>
      </p:sp>
      <p:sp>
        <p:nvSpPr>
          <p:cNvPr id="3" name="">
            <a:extLst xmlns:a="http://schemas.openxmlformats.org/drawingml/2006/main">
              <a:ext uri="{FF2B5EF4-FFF2-40B4-BE49-F238E27FC236}">
                <a16:creationId xmlns:a16="http://schemas.microsoft.com/office/drawing/2014/main" id="{09201D5A-F6E5-41C4-BE3D-9E587E42C19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D79AADF8-A9F7-4341-BE2D-0ADA7363F966}"/>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51</a:t>
            </a:r>
          </a:p>
        </p:txBody>
      </p:sp>
      <p:sp>
        <p:nvSpPr>
          <p:cNvPr id="5" name="">
            <a:extLst xmlns:a="http://schemas.openxmlformats.org/drawingml/2006/main">
              <a:ext uri="{FF2B5EF4-FFF2-40B4-BE49-F238E27FC236}">
                <a16:creationId xmlns:a16="http://schemas.microsoft.com/office/drawing/2014/main" id="{5648DA64-683B-484C-9699-BA9C0317B1BA}"/>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Permission diagnosis follows a fixed decision order</a:t>
            </a:r>
          </a:p>
        </p:txBody>
      </p:sp>
      <p:sp>
        <p:nvSpPr>
          <p:cNvPr id="6" name="">
            <a:extLst xmlns:a="http://schemas.openxmlformats.org/drawingml/2006/main">
              <a:ext uri="{FF2B5EF4-FFF2-40B4-BE49-F238E27FC236}">
                <a16:creationId xmlns:a16="http://schemas.microsoft.com/office/drawing/2014/main" id="{C4938924-7B6B-4D1B-806D-75CA54EF0B0A}"/>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Identify which of the four checks failed before changing any mode.</a:t>
            </a:r>
          </a:p>
        </p:txBody>
      </p:sp>
      <p:sp>
        <p:nvSpPr>
          <p:cNvPr id="7" name="">
            <a:extLst xmlns:a="http://schemas.openxmlformats.org/drawingml/2006/main">
              <a:ext uri="{FF2B5EF4-FFF2-40B4-BE49-F238E27FC236}">
                <a16:creationId xmlns:a16="http://schemas.microsoft.com/office/drawing/2014/main" id="{0BF0F284-3463-4EF5-8E23-7E2C1D3EC999}"/>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3B7C359B-08CD-491F-8998-5C37611A3554}"/>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Identify the identity — id shows the uid, gid, and group set the kernel uses.</a:t>
            </a:r>
          </a:p>
        </p:txBody>
      </p:sp>
      <p:sp>
        <p:nvSpPr>
          <p:cNvPr id="9" name="">
            <a:extLst xmlns:a="http://schemas.openxmlformats.org/drawingml/2006/main">
              <a:ext uri="{FF2B5EF4-FFF2-40B4-BE49-F238E27FC236}">
                <a16:creationId xmlns:a16="http://schemas.microsoft.com/office/drawing/2014/main" id="{37AEFB89-3BBD-4A0F-877D-3CF90204A6BB}"/>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D428F405-5D00-488E-9ED6-389AF74F1D68}"/>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Check search (x) on every parent — namei -l walks the whole path.</a:t>
            </a:r>
          </a:p>
        </p:txBody>
      </p:sp>
      <p:sp>
        <p:nvSpPr>
          <p:cNvPr id="11" name="">
            <a:extLst xmlns:a="http://schemas.openxmlformats.org/drawingml/2006/main">
              <a:ext uri="{FF2B5EF4-FFF2-40B4-BE49-F238E27FC236}">
                <a16:creationId xmlns:a16="http://schemas.microsoft.com/office/drawing/2014/main" id="{D0993068-B41F-4E63-93CC-6CE54865E057}"/>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5E965D8-8715-4BBF-AD11-EB87B53BA45D}"/>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Pick the one class that applies — owner, else group, else other (never combined).</a:t>
            </a:r>
          </a:p>
        </p:txBody>
      </p:sp>
      <p:sp>
        <p:nvSpPr>
          <p:cNvPr id="13" name="">
            <a:extLst xmlns:a="http://schemas.openxmlformats.org/drawingml/2006/main">
              <a:ext uri="{FF2B5EF4-FFF2-40B4-BE49-F238E27FC236}">
                <a16:creationId xmlns:a16="http://schemas.microsoft.com/office/drawing/2014/main" id="{8AA20F9D-530F-48C5-86D8-3EBA6C4EDD0F}"/>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6E44BD44-E5D8-443A-9C86-1BF2A56232D3}"/>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Test the exact operation as that identity — sudo -u alice test -w DIR.</a:t>
            </a:r>
          </a:p>
        </p:txBody>
      </p:sp>
    </p:spTree>
    <p:extLst>
      <p:ext uri="{BB962C8B-B14F-4D97-AF65-F5344CB8AC3E}">
        <p14:creationId xmlns:p14="http://schemas.microsoft.com/office/powerpoint/2010/main" val="38168489"/>
      </p:ext>
    </p:extLst>
  </p:cSld>
</p:sld>
</file>

<file path=ppt/slides/slide52.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ABFB1C7-0B8D-4917-B760-6DDD2FBEE91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7BA6CD1-0840-4D57-805F-9990AB9154B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5 · WORKED EXAMPLE</a:t>
            </a:r>
          </a:p>
        </p:txBody>
      </p:sp>
      <p:sp>
        <p:nvSpPr>
          <p:cNvPr id="3" name="">
            <a:extLst xmlns:a="http://schemas.openxmlformats.org/drawingml/2006/main">
              <a:ext uri="{FF2B5EF4-FFF2-40B4-BE49-F238E27FC236}">
                <a16:creationId xmlns:a16="http://schemas.microsoft.com/office/drawing/2014/main" id="{A283BBA4-452B-4ACD-B5B6-6317547A9BD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550DC211-245E-4A48-8DB2-E1FF7E23310C}"/>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52</a:t>
            </a:r>
          </a:p>
        </p:txBody>
      </p:sp>
      <p:sp>
        <p:nvSpPr>
          <p:cNvPr id="5" name="">
            <a:extLst xmlns:a="http://schemas.openxmlformats.org/drawingml/2006/main">
              <a:ext uri="{FF2B5EF4-FFF2-40B4-BE49-F238E27FC236}">
                <a16:creationId xmlns:a16="http://schemas.microsoft.com/office/drawing/2014/main" id="{D7BF2D04-45F9-450B-A726-136205CAD855}"/>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Repair from identity outward</a:t>
            </a:r>
          </a:p>
        </p:txBody>
      </p:sp>
      <p:sp>
        <p:nvSpPr>
          <p:cNvPr id="6" name="">
            <a:extLst xmlns:a="http://schemas.openxmlformats.org/drawingml/2006/main">
              <a:ext uri="{FF2B5EF4-FFF2-40B4-BE49-F238E27FC236}">
                <a16:creationId xmlns:a16="http://schemas.microsoft.com/office/drawing/2014/main" id="{BDFBABF0-B61A-40DE-8ACA-A52CE2A51B15}"/>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646616C-4533-46AE-AC14-61237B3D6C29}"/>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id alice</a:t>
            </a:r>
          </a:p>
          <a:p xmlns:a="http://schemas.openxmlformats.org/drawingml/2006/main">
            <a:pPr algn="l">
              <a:buNone/>
              <a:defRPr sz="1575" b="0">
                <a:solidFill>
                  <a:srgbClr val="F7F1FA"/>
                </a:solidFill>
              </a:defRPr>
            </a:pPr>
            <a:r>
              <a:rPr sz="1575" b="0">
                <a:solidFill>
                  <a:srgbClr val="F7F1FA"/>
                </a:solidFill>
              </a:rPr>
              <a:t>namei -l /srv/team-share/report.txt</a:t>
            </a:r>
          </a:p>
          <a:p xmlns:a="http://schemas.openxmlformats.org/drawingml/2006/main">
            <a:pPr algn="l">
              <a:buNone/>
              <a:defRPr sz="1575" b="0">
                <a:solidFill>
                  <a:srgbClr val="F7F1FA"/>
                </a:solidFill>
              </a:defRPr>
            </a:pPr>
            <a:r>
              <a:rPr sz="1575" b="0">
                <a:solidFill>
                  <a:srgbClr val="F7F1FA"/>
                </a:solidFill>
              </a:rPr>
              <a:t>sudo chown root:webteam /srv/team-share</a:t>
            </a:r>
          </a:p>
          <a:p xmlns:a="http://schemas.openxmlformats.org/drawingml/2006/main">
            <a:pPr algn="l">
              <a:buNone/>
              <a:defRPr sz="1575" b="0">
                <a:solidFill>
                  <a:srgbClr val="F7F1FA"/>
                </a:solidFill>
              </a:defRPr>
            </a:pPr>
            <a:r>
              <a:rPr sz="1575" b="0">
                <a:solidFill>
                  <a:srgbClr val="F7F1FA"/>
                </a:solidFill>
              </a:rPr>
              <a:t>sudo chmod 2770 /srv/team-share</a:t>
            </a:r>
          </a:p>
          <a:p xmlns:a="http://schemas.openxmlformats.org/drawingml/2006/main">
            <a:pPr algn="l">
              <a:buNone/>
              <a:defRPr sz="1575" b="0">
                <a:solidFill>
                  <a:srgbClr val="F7F1FA"/>
                </a:solidFill>
              </a:defRPr>
            </a:pPr>
            <a:r>
              <a:rPr sz="1575" b="0">
                <a:solidFill>
                  <a:srgbClr val="F7F1FA"/>
                </a:solidFill>
              </a:rPr>
              <a:t>sudo -u alice test -w /srv/team-share</a:t>
            </a:r>
          </a:p>
        </p:txBody>
      </p:sp>
      <p:sp>
        <p:nvSpPr>
          <p:cNvPr id="8" name="">
            <a:extLst xmlns:a="http://schemas.openxmlformats.org/drawingml/2006/main">
              <a:ext uri="{FF2B5EF4-FFF2-40B4-BE49-F238E27FC236}">
                <a16:creationId xmlns:a16="http://schemas.microsoft.com/office/drawing/2014/main" id="{7324641B-D131-4DE8-A579-3F2AA8C71294}"/>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1F439E52-2F55-4791-8604-B4B99B4BAF28}"/>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id: the uid, gid, and groups the kernel checks — not the name.</a:t>
            </a:r>
          </a:p>
        </p:txBody>
      </p:sp>
      <p:sp>
        <p:nvSpPr>
          <p:cNvPr id="10" name="">
            <a:extLst xmlns:a="http://schemas.openxmlformats.org/drawingml/2006/main">
              <a:ext uri="{FF2B5EF4-FFF2-40B4-BE49-F238E27FC236}">
                <a16:creationId xmlns:a16="http://schemas.microsoft.com/office/drawing/2014/main" id="{7906F431-8176-43D8-8BC5-D77B51A63001}"/>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347C1D8-AA2D-47E0-8634-BC0A0E4DE185}"/>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namei -l walks each parent and shows where x is missing.</a:t>
            </a:r>
          </a:p>
        </p:txBody>
      </p:sp>
      <p:sp>
        <p:nvSpPr>
          <p:cNvPr id="12" name="">
            <a:extLst xmlns:a="http://schemas.openxmlformats.org/drawingml/2006/main">
              <a:ext uri="{FF2B5EF4-FFF2-40B4-BE49-F238E27FC236}">
                <a16:creationId xmlns:a16="http://schemas.microsoft.com/office/drawing/2014/main" id="{E9D35DAF-B78F-470B-80D4-F17BDA5478EC}"/>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D2DB5205-A56F-4DBB-BA1B-BDAA5FCBD583}"/>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sudo -u alice evaluates the policy as alice; testing as your own identity is not informative.</a:t>
            </a:r>
          </a:p>
        </p:txBody>
      </p:sp>
      <p:sp>
        <p:nvSpPr>
          <p:cNvPr id="13" name="">
            <a:extLst xmlns:a="http://schemas.openxmlformats.org/drawingml/2006/main">
              <a:ext uri="{FF2B5EF4-FFF2-40B4-BE49-F238E27FC236}">
                <a16:creationId xmlns:a16="http://schemas.microsoft.com/office/drawing/2014/main" id="{D2DB5205-A56F-4DBB-BA1B-BDAA5FCBD583}"/>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chmod 2770 = setgid + rwx owner + rwx group + --- other.</a:t>
            </a:r>
          </a:p>
        </p:txBody>
      </p:sp>
      <p:sp>
        <p:nvSpPr>
          <p:cNvPr id="12" name="">
            <a:extLst xmlns:a="http://schemas.openxmlformats.org/drawingml/2006/main">
              <a:ext uri="{FF2B5EF4-FFF2-40B4-BE49-F238E27FC236}">
                <a16:creationId xmlns:a16="http://schemas.microsoft.com/office/drawing/2014/main" id="{E9D35DAF-B78F-470B-80D4-F17BDA5478EC}"/>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D2DB5205-A56F-4DBB-BA1B-BDAA5FCBD583}"/>
              </a:ext>
            </a:extLst>
          </p:cNvPr>
          <p:cNvSpPr>
            <a:spLocks xmlns:a="http://schemas.openxmlformats.org/drawingml/2006/main" noGrp="1"/>
          </p:cNvSpPr>
          <p:nvPr/>
        </p:nvSpPr>
        <p:spPr>
          <a:xfrm xmlns:a="http://schemas.openxmlformats.org/drawingml/2006/main">
            <a:off x="7391400" y="5396103"/>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The leading 2 is setgid: new files inherit the directory's group.</a:t>
            </a:r>
          </a:p>
        </p:txBody>
      </p:sp>
      <p:sp>
        <p:nvSpPr>
          <p:cNvPr id="12" name="">
            <a:extLst xmlns:a="http://schemas.openxmlformats.org/drawingml/2006/main">
              <a:ext uri="{FF2B5EF4-FFF2-40B4-BE49-F238E27FC236}">
                <a16:creationId xmlns:a16="http://schemas.microsoft.com/office/drawing/2014/main" id="{E9D35DAF-B78F-470B-80D4-F17BDA5478EC}"/>
              </a:ext>
            </a:extLst>
          </p:cNvPr>
          <p:cNvSpPr>
            <a:spLocks xmlns:a="http://schemas.openxmlformats.org/drawingml/2006/main" noGrp="1"/>
          </p:cNvSpPr>
          <p:nvPr/>
        </p:nvSpPr>
        <p:spPr>
          <a:xfrm xmlns:a="http://schemas.openxmlformats.org/drawingml/2006/main">
            <a:off x="7143750" y="5700903"/>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2093873803"/>
      </p:ext>
    </p:extLst>
  </p:cSld>
</p:sld>
</file>

<file path=ppt/slides/slide5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BD77B08-1E1C-42ED-A868-D043EADDAB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976E9C0-4414-4753-B406-AF05CB250BAB}"/>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5 · GUIDED COMMANDS</a:t>
            </a:r>
          </a:p>
        </p:txBody>
      </p:sp>
      <p:sp>
        <p:nvSpPr>
          <p:cNvPr id="3" name="">
            <a:extLst xmlns:a="http://schemas.openxmlformats.org/drawingml/2006/main">
              <a:ext uri="{FF2B5EF4-FFF2-40B4-BE49-F238E27FC236}">
                <a16:creationId xmlns:a16="http://schemas.microsoft.com/office/drawing/2014/main" id="{832E2400-F0EA-4B28-B7E6-3CEF9FF38B36}"/>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2122F808-74E7-4A0E-A3F5-2CD896251374}"/>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53</a:t>
            </a:r>
          </a:p>
        </p:txBody>
      </p:sp>
      <p:sp>
        <p:nvSpPr>
          <p:cNvPr id="5" name="">
            <a:extLst xmlns:a="http://schemas.openxmlformats.org/drawingml/2006/main">
              <a:ext uri="{FF2B5EF4-FFF2-40B4-BE49-F238E27FC236}">
                <a16:creationId xmlns:a16="http://schemas.microsoft.com/office/drawing/2014/main" id="{1DF48F02-B600-4092-9F12-77645CDF2919}"/>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CBA103EF-D5B4-4E70-A3D9-C8CB98AAB46C}"/>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D62FEDA1-9607-49B7-BBD2-E935790663AD}"/>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id USER</a:t>
            </a:r>
          </a:p>
        </p:txBody>
      </p:sp>
      <p:sp>
        <p:nvSpPr>
          <p:cNvPr id="8" name="">
            <a:extLst xmlns:a="http://schemas.openxmlformats.org/drawingml/2006/main">
              <a:ext uri="{FF2B5EF4-FFF2-40B4-BE49-F238E27FC236}">
                <a16:creationId xmlns:a16="http://schemas.microsoft.com/office/drawing/2014/main" id="{6EA13404-A3F0-4604-B64E-99D70D84C419}"/>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uid, primary group, and supplementary groups</a:t>
            </a:r>
          </a:p>
        </p:txBody>
      </p:sp>
      <p:sp>
        <p:nvSpPr>
          <p:cNvPr id="9" name="">
            <a:extLst xmlns:a="http://schemas.openxmlformats.org/drawingml/2006/main">
              <a:ext uri="{FF2B5EF4-FFF2-40B4-BE49-F238E27FC236}">
                <a16:creationId xmlns:a16="http://schemas.microsoft.com/office/drawing/2014/main" id="{C1E2810A-C3D6-460B-9278-7DE04FFC028C}"/>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DB8EE034-F671-4D92-93D6-B25A9062D657}"/>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namei -l PATH</a:t>
            </a:r>
          </a:p>
        </p:txBody>
      </p:sp>
      <p:sp>
        <p:nvSpPr>
          <p:cNvPr id="11" name="">
            <a:extLst xmlns:a="http://schemas.openxmlformats.org/drawingml/2006/main">
              <a:ext uri="{FF2B5EF4-FFF2-40B4-BE49-F238E27FC236}">
                <a16:creationId xmlns:a16="http://schemas.microsoft.com/office/drawing/2014/main" id="{0082F638-5BF5-4F54-9EDD-40FCC11EBD2F}"/>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every path component with its mode and owner</a:t>
            </a:r>
          </a:p>
        </p:txBody>
      </p:sp>
      <p:sp>
        <p:nvSpPr>
          <p:cNvPr id="12" name="">
            <a:extLst xmlns:a="http://schemas.openxmlformats.org/drawingml/2006/main">
              <a:ext uri="{FF2B5EF4-FFF2-40B4-BE49-F238E27FC236}">
                <a16:creationId xmlns:a16="http://schemas.microsoft.com/office/drawing/2014/main" id="{B0F2DC57-0E90-4B97-8675-77F094980231}"/>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7AF23C46-DE20-47EB-9A5E-F79FFDA86AD4}"/>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stat -c … PATH</a:t>
            </a:r>
          </a:p>
        </p:txBody>
      </p:sp>
      <p:sp>
        <p:nvSpPr>
          <p:cNvPr id="14" name="">
            <a:extLst xmlns:a="http://schemas.openxmlformats.org/drawingml/2006/main">
              <a:ext uri="{FF2B5EF4-FFF2-40B4-BE49-F238E27FC236}">
                <a16:creationId xmlns:a16="http://schemas.microsoft.com/office/drawing/2014/main" id="{95DAE478-34A5-4457-9432-E4742174D9D9}"/>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owner, group, mode, e.g. stat -c '%U %G %a'</a:t>
            </a:r>
          </a:p>
        </p:txBody>
      </p:sp>
      <p:sp>
        <p:nvSpPr>
          <p:cNvPr id="15" name="">
            <a:extLst xmlns:a="http://schemas.openxmlformats.org/drawingml/2006/main">
              <a:ext uri="{FF2B5EF4-FFF2-40B4-BE49-F238E27FC236}">
                <a16:creationId xmlns:a16="http://schemas.microsoft.com/office/drawing/2014/main" id="{DC49A52E-6E44-4414-BA4C-C2F857F61A9A}"/>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473D38B-8859-4EF0-A3DB-14981729BC1C}"/>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sudo -u USER COMMAND</a:t>
            </a:r>
          </a:p>
        </p:txBody>
      </p:sp>
      <p:sp>
        <p:nvSpPr>
          <p:cNvPr id="17" name="">
            <a:extLst xmlns:a="http://schemas.openxmlformats.org/drawingml/2006/main">
              <a:ext uri="{FF2B5EF4-FFF2-40B4-BE49-F238E27FC236}">
                <a16:creationId xmlns:a16="http://schemas.microsoft.com/office/drawing/2014/main" id="{73A82B18-6008-49F8-BB3F-ED3E20F8E9D5}"/>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run a check as another identity — the decisive test</a:t>
            </a:r>
          </a:p>
        </p:txBody>
      </p:sp>
      <p:sp>
        <p:nvSpPr>
          <p:cNvPr id="18" name="">
            <a:extLst xmlns:a="http://schemas.openxmlformats.org/drawingml/2006/main">
              <a:ext uri="{FF2B5EF4-FFF2-40B4-BE49-F238E27FC236}">
                <a16:creationId xmlns:a16="http://schemas.microsoft.com/office/drawing/2014/main" id="{A0C25134-4BB0-4DC0-992C-8C534D1B2F82}"/>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1CCFAA18-B7B2-428E-9115-4CE81D5785E9}"/>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chmod 2770 DIR</a:t>
            </a:r>
          </a:p>
        </p:txBody>
      </p:sp>
      <p:sp>
        <p:nvSpPr>
          <p:cNvPr id="20" name="">
            <a:extLst xmlns:a="http://schemas.openxmlformats.org/drawingml/2006/main">
              <a:ext uri="{FF2B5EF4-FFF2-40B4-BE49-F238E27FC236}">
                <a16:creationId xmlns:a16="http://schemas.microsoft.com/office/drawing/2014/main" id="{407A3FF1-923F-4038-B0D9-CE39057EF471}"/>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setgid + rwx owner/group, nothing for others</a:t>
            </a:r>
          </a:p>
        </p:txBody>
      </p:sp>
      <p:sp>
        <p:nvSpPr>
          <p:cNvPr id="19" name="">
            <a:extLst xmlns:a="http://schemas.openxmlformats.org/drawingml/2006/main">
              <a:ext uri="{FF2B5EF4-FFF2-40B4-BE49-F238E27FC236}">
                <a16:creationId xmlns:a16="http://schemas.microsoft.com/office/drawing/2014/main" id="{1CCFAA18-B7B2-428E-9115-4CE81D5785E9}"/>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chown u:g PATH</a:t>
            </a:r>
          </a:p>
        </p:txBody>
      </p:sp>
      <p:sp>
        <p:nvSpPr>
          <p:cNvPr id="20" name="">
            <a:extLst xmlns:a="http://schemas.openxmlformats.org/drawingml/2006/main">
              <a:ext uri="{FF2B5EF4-FFF2-40B4-BE49-F238E27FC236}">
                <a16:creationId xmlns:a16="http://schemas.microsoft.com/office/drawing/2014/main" id="{407A3FF1-923F-4038-B0D9-CE39057EF471}"/>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set owner and group ( chgrp sets group only )</a:t>
            </a:r>
          </a:p>
        </p:txBody>
      </p:sp>
      <p:sp>
        <p:nvSpPr>
          <p:cNvPr id="18" name="">
            <a:extLst xmlns:a="http://schemas.openxmlformats.org/drawingml/2006/main">
              <a:ext uri="{FF2B5EF4-FFF2-40B4-BE49-F238E27FC236}">
                <a16:creationId xmlns:a16="http://schemas.microsoft.com/office/drawing/2014/main" id="{A0C25134-4BB0-4DC0-992C-8C534D1B2F82}"/>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67570165"/>
      </p:ext>
    </p:extLst>
  </p:cSld>
</p:sld>
</file>

<file path=ppt/slides/slide54.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FA6FBA4-7847-47BC-B945-47150D2F2BC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C689607-DC1B-4A51-BDE3-98195DAEF766}"/>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5 · LIVE DEMO</a:t>
            </a:r>
          </a:p>
        </p:txBody>
      </p:sp>
      <p:sp>
        <p:nvSpPr>
          <p:cNvPr id="3" name="">
            <a:extLst xmlns:a="http://schemas.openxmlformats.org/drawingml/2006/main">
              <a:ext uri="{FF2B5EF4-FFF2-40B4-BE49-F238E27FC236}">
                <a16:creationId xmlns:a16="http://schemas.microsoft.com/office/drawing/2014/main" id="{BB7DF343-9005-4EF9-BB25-933961C7D0C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7421AD37-93D1-481E-AD96-76B020115082}"/>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54</a:t>
            </a:r>
          </a:p>
        </p:txBody>
      </p:sp>
      <p:sp>
        <p:nvSpPr>
          <p:cNvPr id="5" name="">
            <a:extLst xmlns:a="http://schemas.openxmlformats.org/drawingml/2006/main">
              <a:ext uri="{FF2B5EF4-FFF2-40B4-BE49-F238E27FC236}">
                <a16:creationId xmlns:a16="http://schemas.microsoft.com/office/drawing/2014/main" id="{23B57173-5E48-4092-ACA9-1E97582F0FB4}"/>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diagnose before chmod</a:t>
            </a:r>
          </a:p>
        </p:txBody>
      </p:sp>
      <p:sp>
        <p:nvSpPr>
          <p:cNvPr id="6" name="">
            <a:extLst xmlns:a="http://schemas.openxmlformats.org/drawingml/2006/main">
              <a:ext uri="{FF2B5EF4-FFF2-40B4-BE49-F238E27FC236}">
                <a16:creationId xmlns:a16="http://schemas.microsoft.com/office/drawing/2014/main" id="{E8886500-09C7-4A1D-8A9B-9C477954487A}"/>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Diagnose before modifying: two identities, every path component, then the minimal change.</a:t>
            </a:r>
          </a:p>
        </p:txBody>
      </p:sp>
      <p:sp>
        <p:nvSpPr>
          <p:cNvPr id="7" name="">
            <a:extLst xmlns:a="http://schemas.openxmlformats.org/drawingml/2006/main">
              <a:ext uri="{FF2B5EF4-FFF2-40B4-BE49-F238E27FC236}">
                <a16:creationId xmlns:a16="http://schemas.microsoft.com/office/drawing/2014/main" id="{8502F99E-B172-42AD-AAB4-6A3CC54DD5A1}"/>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7C98EF2-FB27-48C8-B4C3-35D7D9BC23D0}"/>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Repair /srv/demo-share for demoops after inspecting two users, every path component, group ownership, and directory semantics.</a:t>
            </a:r>
          </a:p>
        </p:txBody>
      </p:sp>
      <p:sp>
        <p:nvSpPr>
          <p:cNvPr id="9" name="">
            <a:extLst xmlns:a="http://schemas.openxmlformats.org/drawingml/2006/main">
              <a:ext uri="{FF2B5EF4-FFF2-40B4-BE49-F238E27FC236}">
                <a16:creationId xmlns:a16="http://schemas.microsoft.com/office/drawing/2014/main" id="{45A8862D-E948-4886-8E29-019F04AB385C}"/>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0BE900A9-1EFF-4757-9648-768C57922884}"/>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id demoops; id outsider — the numeric identities the kernel will check</a:t>
            </a:r>
          </a:p>
        </p:txBody>
      </p:sp>
      <p:sp>
        <p:nvSpPr>
          <p:cNvPr id="11" name="">
            <a:extLst xmlns:a="http://schemas.openxmlformats.org/drawingml/2006/main">
              <a:ext uri="{FF2B5EF4-FFF2-40B4-BE49-F238E27FC236}">
                <a16:creationId xmlns:a16="http://schemas.microsoft.com/office/drawing/2014/main" id="{0CDB445C-0FA3-441A-A9C8-CDB3DFD91744}"/>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6DE4EAC-6F3C-46AA-8EF4-11078198A778}"/>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namei -l /srv/demo-share/report.txt — find the failing component</a:t>
            </a:r>
          </a:p>
        </p:txBody>
      </p:sp>
      <p:sp>
        <p:nvSpPr>
          <p:cNvPr id="13" name="">
            <a:extLst xmlns:a="http://schemas.openxmlformats.org/drawingml/2006/main">
              <a:ext uri="{FF2B5EF4-FFF2-40B4-BE49-F238E27FC236}">
                <a16:creationId xmlns:a16="http://schemas.microsoft.com/office/drawing/2014/main" id="{6830B6C3-9878-4F01-B1FD-7E68822D073A}"/>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0C60DDB5-A6FC-4264-85B7-DE1C2BC0D287}"/>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sudo chown root:demoops + chmod 2770 — one minimal, named change</a:t>
            </a:r>
          </a:p>
        </p:txBody>
      </p:sp>
      <p:sp>
        <p:nvSpPr>
          <p:cNvPr id="15" name="">
            <a:extLst xmlns:a="http://schemas.openxmlformats.org/drawingml/2006/main">
              <a:ext uri="{FF2B5EF4-FFF2-40B4-BE49-F238E27FC236}">
                <a16:creationId xmlns:a16="http://schemas.microsoft.com/office/drawing/2014/main" id="{4F0DE92D-5954-4DE5-88D1-CDFAE14FA038}"/>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0668D002-F26A-4A78-A7DB-AF4D656AF319}"/>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sudo -u demoops test -w …; sudo -u outsider test -r … — both verdicts</a:t>
            </a:r>
          </a:p>
        </p:txBody>
      </p:sp>
      <p:sp>
        <p:nvSpPr>
          <p:cNvPr id="17" name="">
            <a:extLst xmlns:a="http://schemas.openxmlformats.org/drawingml/2006/main">
              <a:ext uri="{FF2B5EF4-FFF2-40B4-BE49-F238E27FC236}">
                <a16:creationId xmlns:a16="http://schemas.microsoft.com/office/drawing/2014/main" id="{A525AAA3-67D4-4325-8905-B1A7B72C8F97}"/>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which check fails first — the class selection, or search permission on a parent?</a:t>
            </a:r>
          </a:p>
        </p:txBody>
      </p:sp>
    </p:spTree>
    <p:extLst>
      <p:ext uri="{BB962C8B-B14F-4D97-AF65-F5344CB8AC3E}">
        <p14:creationId xmlns:p14="http://schemas.microsoft.com/office/powerpoint/2010/main" val="1957620759"/>
      </p:ext>
    </p:extLst>
  </p:cSld>
</p:sld>
</file>

<file path=ppt/slides/slide55.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3B86461-998B-461B-BDC3-26E07D84308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97B1FBB-0A71-4DCE-B144-01F41E65451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5</a:t>
            </a:r>
          </a:p>
        </p:txBody>
      </p:sp>
      <p:sp>
        <p:nvSpPr>
          <p:cNvPr id="3" name="">
            <a:extLst xmlns:a="http://schemas.openxmlformats.org/drawingml/2006/main">
              <a:ext uri="{FF2B5EF4-FFF2-40B4-BE49-F238E27FC236}">
                <a16:creationId xmlns:a16="http://schemas.microsoft.com/office/drawing/2014/main" id="{C27A5378-027B-4EE3-B275-98D1EA05EAF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8F4DDA09-774D-473F-B22B-75B86E119D3E}"/>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55</a:t>
            </a:r>
          </a:p>
        </p:txBody>
      </p:sp>
      <p:sp>
        <p:nvSpPr>
          <p:cNvPr id="5" name="">
            <a:extLst xmlns:a="http://schemas.openxmlformats.org/drawingml/2006/main">
              <a:ext uri="{FF2B5EF4-FFF2-40B4-BE49-F238E27FC236}">
                <a16:creationId xmlns:a16="http://schemas.microsoft.com/office/drawing/2014/main" id="{BC166476-724A-49FC-BB05-4BD6F6BAD7F9}"/>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Users, groups, permissions, and shared directories</a:t>
            </a:r>
          </a:p>
        </p:txBody>
      </p:sp>
      <p:sp>
        <p:nvSpPr>
          <p:cNvPr id="6" name="">
            <a:extLst xmlns:a="http://schemas.openxmlformats.org/drawingml/2006/main">
              <a:ext uri="{FF2B5EF4-FFF2-40B4-BE49-F238E27FC236}">
                <a16:creationId xmlns:a16="http://schemas.microsoft.com/office/drawing/2014/main" id="{100B50E8-F3EF-421B-8A33-622B55ACF398}"/>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30 minutes: grant the team access, keep others denied, and verify both.</a:t>
            </a:r>
          </a:p>
        </p:txBody>
      </p:sp>
      <p:sp>
        <p:nvSpPr>
          <p:cNvPr id="7" name="">
            <a:extLst xmlns:a="http://schemas.openxmlformats.org/drawingml/2006/main">
              <a:ext uri="{FF2B5EF4-FFF2-40B4-BE49-F238E27FC236}">
                <a16:creationId xmlns:a16="http://schemas.microsoft.com/office/drawing/2014/main" id="{9FA5F3CC-895B-4FC3-BE64-23534011C2B7}"/>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0FAC038-A952-45DE-864C-D1E44951411F}"/>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Repair /srv/team-share for webteam so collaborators can create and update files while an outsider remains denied.</a:t>
            </a:r>
          </a:p>
        </p:txBody>
      </p:sp>
      <p:sp>
        <p:nvSpPr>
          <p:cNvPr id="9" name="">
            <a:extLst xmlns:a="http://schemas.openxmlformats.org/drawingml/2006/main">
              <a:ext uri="{FF2B5EF4-FFF2-40B4-BE49-F238E27FC236}">
                <a16:creationId xmlns:a16="http://schemas.microsoft.com/office/drawing/2014/main" id="{8E1A1F98-48C9-4F02-B1F1-15A757E8CCC4}"/>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E5221D71-40D5-461A-80EE-1DFC4395B4FA}"/>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30 minutes</a:t>
            </a:r>
          </a:p>
        </p:txBody>
      </p:sp>
      <p:sp>
        <p:nvSpPr>
          <p:cNvPr id="11" name="">
            <a:extLst xmlns:a="http://schemas.openxmlformats.org/drawingml/2006/main">
              <a:ext uri="{FF2B5EF4-FFF2-40B4-BE49-F238E27FC236}">
                <a16:creationId xmlns:a16="http://schemas.microsoft.com/office/drawing/2014/main" id="{B230C393-14F9-4979-ABDC-0501B25113AA}"/>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DABC37D-20E0-4B8F-B9A5-BABD4425E5D3}"/>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8518C511-437C-4ACC-9369-5B1D63CF0047}"/>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0200DEA5-81FC-4962-B526-CA419A72D18C}"/>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FECB6DFA-CECB-4EE9-8513-DC3B93B0B555}"/>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48E8A58C-E2B0-4272-912A-CAAE926E02F8}"/>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66B7F16D-2887-4E07-B813-818715AD6ED5}"/>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1749588597"/>
      </p:ext>
    </p:extLst>
  </p:cSld>
</p:sld>
</file>

<file path=ppt/slides/slide5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79F05F-B602-406C-B64C-96C34BCB4E6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13D11BE-DBF5-4F69-BA5B-A5CF7DFA13C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5 · DEBRIEF</a:t>
            </a:r>
          </a:p>
        </p:txBody>
      </p:sp>
      <p:sp>
        <p:nvSpPr>
          <p:cNvPr id="3" name="">
            <a:extLst xmlns:a="http://schemas.openxmlformats.org/drawingml/2006/main">
              <a:ext uri="{FF2B5EF4-FFF2-40B4-BE49-F238E27FC236}">
                <a16:creationId xmlns:a16="http://schemas.microsoft.com/office/drawing/2014/main" id="{E2BBED25-FAB5-482A-B669-5796E38BB20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896D8F5A-A237-4EA8-ADE2-5B1F8321B411}"/>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56</a:t>
            </a:r>
          </a:p>
        </p:txBody>
      </p:sp>
      <p:sp>
        <p:nvSpPr>
          <p:cNvPr id="5" name="">
            <a:extLst xmlns:a="http://schemas.openxmlformats.org/drawingml/2006/main">
              <a:ext uri="{FF2B5EF4-FFF2-40B4-BE49-F238E27FC236}">
                <a16:creationId xmlns:a16="http://schemas.microsoft.com/office/drawing/2014/main" id="{0DFA4146-5B34-4192-8482-35034102DF15}"/>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711CB747-3255-4B25-A366-419CA25A9D53}"/>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A3A36FC1-7869-439E-8D55-90AF498778EE}"/>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92142E9-2E61-4A23-A5C6-894B5203B1EF}"/>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Least privilege comes from matching identity, path traversal, and the intended operation. Next, SSH will authenticate both ends of a remote session.</a:t>
            </a:r>
          </a:p>
        </p:txBody>
      </p:sp>
      <p:sp>
        <p:nvSpPr>
          <p:cNvPr id="9" name="">
            <a:extLst xmlns:a="http://schemas.openxmlformats.org/drawingml/2006/main">
              <a:ext uri="{FF2B5EF4-FFF2-40B4-BE49-F238E27FC236}">
                <a16:creationId xmlns:a16="http://schemas.microsoft.com/office/drawing/2014/main" id="{09E3660A-8B1D-4EE4-8BFF-3B491DE0BD81}"/>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2F918D35-BBE6-4CE7-B981-C3C8550E3238}"/>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EBB98C86-E92B-4FFE-ADA4-A37E383A92B2}"/>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3B34DD0-096E-4A52-A5D6-E1FE0949113C}"/>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58C2286E-7420-4D40-AB92-D306180E075D}"/>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6B80BA2-2385-4D7B-B83E-098A468C838C}"/>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938375155"/>
      </p:ext>
    </p:extLst>
  </p:cSld>
</p:sld>
</file>

<file path=ppt/slides/slide57.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5E3032-89A9-4DA4-BDE1-37476C6254B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31FA185-33A1-4C20-8B72-26D79D33AA5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6</a:t>
            </a:r>
          </a:p>
        </p:txBody>
      </p:sp>
      <p:sp>
        <p:nvSpPr>
          <p:cNvPr id="3" name="">
            <a:extLst xmlns:a="http://schemas.openxmlformats.org/drawingml/2006/main">
              <a:ext uri="{FF2B5EF4-FFF2-40B4-BE49-F238E27FC236}">
                <a16:creationId xmlns:a16="http://schemas.microsoft.com/office/drawing/2014/main" id="{CECDA998-E922-4725-8300-2F5719044BB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83469A08-AA2D-43C3-95A8-92BD5AEB0C73}"/>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57</a:t>
            </a:r>
          </a:p>
        </p:txBody>
      </p:sp>
      <p:sp>
        <p:nvSpPr>
          <p:cNvPr id="5" name="">
            <a:extLst xmlns:a="http://schemas.openxmlformats.org/drawingml/2006/main">
              <a:ext uri="{FF2B5EF4-FFF2-40B4-BE49-F238E27FC236}">
                <a16:creationId xmlns:a16="http://schemas.microsoft.com/office/drawing/2014/main" id="{98DCE0F5-B326-4706-BDB2-1C4FFA6AC05A}"/>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06</a:t>
            </a:r>
          </a:p>
        </p:txBody>
      </p:sp>
      <p:sp>
        <p:nvSpPr>
          <p:cNvPr id="6" name="">
            <a:extLst xmlns:a="http://schemas.openxmlformats.org/drawingml/2006/main">
              <a:ext uri="{FF2B5EF4-FFF2-40B4-BE49-F238E27FC236}">
                <a16:creationId xmlns:a16="http://schemas.microsoft.com/office/drawing/2014/main" id="{48AD0180-A690-4F26-8C80-CCF4D56C37F2}"/>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SSH transport, host trust, and user authentication</a:t>
            </a:r>
          </a:p>
        </p:txBody>
      </p:sp>
      <p:sp>
        <p:nvSpPr>
          <p:cNvPr id="7" name="">
            <a:extLst xmlns:a="http://schemas.openxmlformats.org/drawingml/2006/main">
              <a:ext uri="{FF2B5EF4-FFF2-40B4-BE49-F238E27FC236}">
                <a16:creationId xmlns:a16="http://schemas.microsoft.com/office/drawing/2014/main" id="{0E81BCDF-6C6F-4661-B019-AB5CE91DFF84}"/>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How does an SSH client know the server—and how does the server know the user?</a:t>
            </a:r>
          </a:p>
        </p:txBody>
      </p:sp>
      <p:sp>
        <p:nvSpPr>
          <p:cNvPr id="8" name="">
            <a:extLst xmlns:a="http://schemas.openxmlformats.org/drawingml/2006/main">
              <a:ext uri="{FF2B5EF4-FFF2-40B4-BE49-F238E27FC236}">
                <a16:creationId xmlns:a16="http://schemas.microsoft.com/office/drawing/2014/main" id="{AD15A923-EF6F-4FAD-9BF4-D9B78F3E5FBE}"/>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D2F4F25-E789-42DC-99B3-12667DFB6B97}"/>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OpenSSH · Ubuntu lab endpoint</a:t>
            </a:r>
          </a:p>
        </p:txBody>
      </p:sp>
    </p:spTree>
    <p:extLst>
      <p:ext uri="{BB962C8B-B14F-4D97-AF65-F5344CB8AC3E}">
        <p14:creationId xmlns:p14="http://schemas.microsoft.com/office/powerpoint/2010/main" val="1247981354"/>
      </p:ext>
    </p:extLst>
  </p:cSld>
</p:sld>
</file>

<file path=ppt/slides/slide58.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31A9B4-58C2-440C-A8FA-1270D3D144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C27540C-B139-4E95-AA39-551A829B26B3}"/>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6 · MODEL</a:t>
            </a:r>
          </a:p>
        </p:txBody>
      </p:sp>
      <p:sp>
        <p:nvSpPr>
          <p:cNvPr id="3" name="">
            <a:extLst xmlns:a="http://schemas.openxmlformats.org/drawingml/2006/main">
              <a:ext uri="{FF2B5EF4-FFF2-40B4-BE49-F238E27FC236}">
                <a16:creationId xmlns:a16="http://schemas.microsoft.com/office/drawing/2014/main" id="{ED094AA2-346D-44F9-B636-F581549326F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DF5346D6-B7B6-4CA0-B843-531C56CA8758}"/>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58</a:t>
            </a:r>
          </a:p>
        </p:txBody>
      </p:sp>
      <p:sp>
        <p:nvSpPr>
          <p:cNvPr id="5" name="">
            <a:extLst xmlns:a="http://schemas.openxmlformats.org/drawingml/2006/main">
              <a:ext uri="{FF2B5EF4-FFF2-40B4-BE49-F238E27FC236}">
                <a16:creationId xmlns:a16="http://schemas.microsoft.com/office/drawing/2014/main" id="{AF9AE014-BF82-4169-A0B0-9CC9E3D5E0C5}"/>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SSH authenticates both ends</a:t>
            </a:r>
          </a:p>
        </p:txBody>
      </p:sp>
      <p:sp>
        <p:nvSpPr>
          <p:cNvPr id="6" name="">
            <a:extLst xmlns:a="http://schemas.openxmlformats.org/drawingml/2006/main">
              <a:ext uri="{FF2B5EF4-FFF2-40B4-BE49-F238E27FC236}">
                <a16:creationId xmlns:a16="http://schemas.microsoft.com/office/drawing/2014/main" id="{9CD40B8D-8A0E-4C99-BEB1-946F98D05871}"/>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Encryption alone establishes no identity; each end must prove who it is.</a:t>
            </a:r>
          </a:p>
        </p:txBody>
      </p:sp>
      <p:sp>
        <p:nvSpPr>
          <p:cNvPr id="7" name="">
            <a:extLst xmlns:a="http://schemas.openxmlformats.org/drawingml/2006/main">
              <a:ext uri="{FF2B5EF4-FFF2-40B4-BE49-F238E27FC236}">
                <a16:creationId xmlns:a16="http://schemas.microsoft.com/office/drawing/2014/main" id="{F406CCAF-2164-4105-9F21-75450197BEEF}"/>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1F32C1F0-12A5-40FD-8B1C-B27903BA7AAF}"/>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The server proves itself with its host key; the client compares its fingerprint against known_hosts.</a:t>
            </a:r>
          </a:p>
        </p:txBody>
      </p:sp>
      <p:sp>
        <p:nvSpPr>
          <p:cNvPr id="9" name="">
            <a:extLst xmlns:a="http://schemas.openxmlformats.org/drawingml/2006/main">
              <a:ext uri="{FF2B5EF4-FFF2-40B4-BE49-F238E27FC236}">
                <a16:creationId xmlns:a16="http://schemas.microsoft.com/office/drawing/2014/main" id="{C28EEB75-D4FC-45BA-8B59-95164709F1BE}"/>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1299B8F-4CD9-475C-AB1A-41511B34C10C}"/>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first-time fingerprint must be compared through an independent, trusted channel before it is accepted.</a:t>
            </a:r>
          </a:p>
        </p:txBody>
      </p:sp>
    </p:spTree>
    <p:extLst>
      <p:ext uri="{BB962C8B-B14F-4D97-AF65-F5344CB8AC3E}">
        <p14:creationId xmlns:p14="http://schemas.microsoft.com/office/powerpoint/2010/main" val="1073346180"/>
      </p:ext>
    </p:extLst>
  </p:cSld>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6C46B1BF-A3A5-4F23-96CA-C811AC260084}"/>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380B79F8-E259-4E3C-A884-5B13381FC7D9}"/>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6 · PICTURE THE TRUST</a:t>
            </a:r>
          </a:p>
        </p:txBody>
      </p:sp>
      <p:sp>
        <p:nvSpPr>
          <p:cNvPr id="3" name="">
            <a:extLst>
              <a:ext uri="{FF2B5EF4-FFF2-40B4-BE49-F238E27FC236}">
                <a16:creationId xmlns:a16="http://schemas.microsoft.com/office/drawing/2014/main" id="{0E1C6F7E-5E37-4B5B-B417-A12ABC53CBB9}"/>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0000540A-6F0D-451B-A87D-C5ABE16390B3}"/>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59</a:t>
            </a:r>
          </a:p>
        </p:txBody>
      </p:sp>
      <p:sp>
        <p:nvSpPr>
          <p:cNvPr id="5" name="">
            <a:extLst>
              <a:ext uri="{FF2B5EF4-FFF2-40B4-BE49-F238E27FC236}">
                <a16:creationId xmlns:a16="http://schemas.microsoft.com/office/drawing/2014/main" id="{9431ED34-FF20-46B1-A071-451B6A2D606A}"/>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SSH proves two identities</a:t>
            </a:r>
          </a:p>
        </p:txBody>
      </p:sp>
      <p:pic>
        <p:nvPicPr>
          <p:cNvPr id="15" name="Picture 14" descr="ssh_trust.png"/>
          <p:cNvPicPr>
            <a:picLocks noChangeAspect="1"/>
          </p:cNvPicPr>
          <p:nvPr/>
        </p:nvPicPr>
        <p:blipFill>
          <a:blip r:embed="rId2"/>
          <a:stretch>
            <a:fillRect/>
          </a:stretch>
        </p:blipFill>
        <p:spPr>
          <a:xfrm>
            <a:off x="1523847" y="1463040"/>
            <a:ext cx="9144000" cy="4572000"/>
          </a:xfrm>
          <a:prstGeom prst="rect">
            <a:avLst/>
          </a:prstGeom>
        </p:spPr>
      </p:pic>
      <p:sp>
        <p:nvSpPr>
          <p:cNvPr id="16" name="TextBox 15"/>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Transport encryption alone is insufficient; these two verifications establish identity.</a:t>
            </a:r>
          </a:p>
        </p:txBody>
      </p:sp>
    </p:spTree>
  </p:cSld>
  <p:clrMapOvr>
    <a:masterClrMapping/>
  </p:clrMapOvr>
</p:sld>
</file>

<file path=ppt/slides/slide60.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44A7EE-F9DB-4FC0-BA40-11B2052A2C0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E163963-4CEC-4C10-811E-414B33920D6E}"/>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6 · BUILD THE MODEL</a:t>
            </a:r>
          </a:p>
        </p:txBody>
      </p:sp>
      <p:sp>
        <p:nvSpPr>
          <p:cNvPr id="3" name="">
            <a:extLst xmlns:a="http://schemas.openxmlformats.org/drawingml/2006/main">
              <a:ext uri="{FF2B5EF4-FFF2-40B4-BE49-F238E27FC236}">
                <a16:creationId xmlns:a16="http://schemas.microsoft.com/office/drawing/2014/main" id="{EEE400B1-0FBB-49BA-9752-F418CCAB727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ED5A69F9-B11D-4338-969F-46EF2B14E63B}"/>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60</a:t>
            </a:r>
          </a:p>
        </p:txBody>
      </p:sp>
      <p:sp>
        <p:nvSpPr>
          <p:cNvPr id="5" name="">
            <a:extLst xmlns:a="http://schemas.openxmlformats.org/drawingml/2006/main">
              <a:ext uri="{FF2B5EF4-FFF2-40B4-BE49-F238E27FC236}">
                <a16:creationId xmlns:a16="http://schemas.microsoft.com/office/drawing/2014/main" id="{1378F70E-0A32-4703-8C70-4821E8CFD9C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An SSH connection establishes trust in stages</a:t>
            </a:r>
          </a:p>
        </p:txBody>
      </p:sp>
      <p:sp>
        <p:nvSpPr>
          <p:cNvPr id="6" name="">
            <a:extLst xmlns:a="http://schemas.openxmlformats.org/drawingml/2006/main">
              <a:ext uri="{FF2B5EF4-FFF2-40B4-BE49-F238E27FC236}">
                <a16:creationId xmlns:a16="http://schemas.microsoft.com/office/drawing/2014/main" id="{209AEB07-76C6-41FF-9BA1-048BB2789C98}"/>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A failure at one stage should not be “fixed” by weakening another.</a:t>
            </a:r>
          </a:p>
        </p:txBody>
      </p:sp>
      <p:sp>
        <p:nvSpPr>
          <p:cNvPr id="7" name="">
            <a:extLst xmlns:a="http://schemas.openxmlformats.org/drawingml/2006/main">
              <a:ext uri="{FF2B5EF4-FFF2-40B4-BE49-F238E27FC236}">
                <a16:creationId xmlns:a16="http://schemas.microsoft.com/office/drawing/2014/main" id="{069D52BA-D15F-43DA-BE30-7E62968D38EB}"/>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38E9CD02-C4AB-42DB-AA7B-5075499F8EB5}"/>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Reach the correct host and TCP port</a:t>
            </a:r>
          </a:p>
        </p:txBody>
      </p:sp>
      <p:sp>
        <p:nvSpPr>
          <p:cNvPr id="9" name="">
            <a:extLst xmlns:a="http://schemas.openxmlformats.org/drawingml/2006/main">
              <a:ext uri="{FF2B5EF4-FFF2-40B4-BE49-F238E27FC236}">
                <a16:creationId xmlns:a16="http://schemas.microsoft.com/office/drawing/2014/main" id="{0C3D66F1-C817-470F-B5BC-730C4FECDA7D}"/>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696122BD-FDDF-4985-95B3-368F28AB186C}"/>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Verify the server host-key fingerprint independently</a:t>
            </a:r>
          </a:p>
        </p:txBody>
      </p:sp>
      <p:sp>
        <p:nvSpPr>
          <p:cNvPr id="11" name="">
            <a:extLst xmlns:a="http://schemas.openxmlformats.org/drawingml/2006/main">
              <a:ext uri="{FF2B5EF4-FFF2-40B4-BE49-F238E27FC236}">
                <a16:creationId xmlns:a16="http://schemas.microsoft.com/office/drawing/2014/main" id="{646DE5EF-8501-4613-84E9-D23AF4F3BBF4}"/>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46F8CCB-2DDC-4A4E-A443-AADF4732A721}"/>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Offer proof from the client private key</a:t>
            </a:r>
          </a:p>
        </p:txBody>
      </p:sp>
      <p:sp>
        <p:nvSpPr>
          <p:cNvPr id="13" name="">
            <a:extLst xmlns:a="http://schemas.openxmlformats.org/drawingml/2006/main">
              <a:ext uri="{FF2B5EF4-FFF2-40B4-BE49-F238E27FC236}">
                <a16:creationId xmlns:a16="http://schemas.microsoft.com/office/drawing/2014/main" id="{DDB4D6D9-EBCD-4377-98D1-C82B114A5EFA}"/>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A8E04FDB-E199-45FD-B30C-BE4982EF9D58}"/>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Let the server match the authorized public key and account policy</a:t>
            </a:r>
          </a:p>
        </p:txBody>
      </p:sp>
    </p:spTree>
    <p:extLst>
      <p:ext uri="{BB962C8B-B14F-4D97-AF65-F5344CB8AC3E}">
        <p14:creationId xmlns:p14="http://schemas.microsoft.com/office/powerpoint/2010/main" val="360446131"/>
      </p:ext>
    </p:extLst>
  </p:cSld>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6131A9B4-58C2-440C-A8FA-1270D3D144EC}"/>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1C27540C-B139-4E95-AA39-551A829B26B3}"/>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6 · MODEL</a:t>
            </a:r>
          </a:p>
        </p:txBody>
      </p:sp>
      <p:sp>
        <p:nvSpPr>
          <p:cNvPr id="3" name="">
            <a:extLst>
              <a:ext uri="{FF2B5EF4-FFF2-40B4-BE49-F238E27FC236}">
                <a16:creationId xmlns:a16="http://schemas.microsoft.com/office/drawing/2014/main" id="{ED094AA2-346D-44F9-B636-F581549326F3}"/>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DF5346D6-B7B6-4CA0-B843-531C56CA8758}"/>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61</a:t>
            </a:r>
          </a:p>
        </p:txBody>
      </p:sp>
      <p:sp>
        <p:nvSpPr>
          <p:cNvPr id="5" name="">
            <a:extLst>
              <a:ext uri="{FF2B5EF4-FFF2-40B4-BE49-F238E27FC236}">
                <a16:creationId xmlns:a16="http://schemas.microsoft.com/office/drawing/2014/main" id="{AF9AE014-BF82-4169-A0B0-9CC9E3D5E0C5}"/>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User authentication is a separate key pair</a:t>
            </a:r>
          </a:p>
        </p:txBody>
      </p:sp>
      <p:sp>
        <p:nvSpPr>
          <p:cNvPr id="6" name="">
            <a:extLst>
              <a:ext uri="{FF2B5EF4-FFF2-40B4-BE49-F238E27FC236}">
                <a16:creationId xmlns:a16="http://schemas.microsoft.com/office/drawing/2014/main" id="{9CD40B8D-8A0E-4C99-BEB1-946F98D05871}"/>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The private key proves possession; the server authorises its public counterpart.</a:t>
            </a:r>
          </a:p>
        </p:txBody>
      </p:sp>
      <p:sp>
        <p:nvSpPr>
          <p:cNvPr id="7" name="">
            <a:extLst>
              <a:ext uri="{FF2B5EF4-FFF2-40B4-BE49-F238E27FC236}">
                <a16:creationId xmlns:a16="http://schemas.microsoft.com/office/drawing/2014/main" id="{F406CCAF-2164-4105-9F21-75450197BEEF}"/>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1F32C1F0-12A5-40FD-8B1C-B27903BA7AAF}"/>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The private key remains on the client; the matching public key is listed in the server's authorized_keys.</a:t>
            </a:r>
          </a:p>
        </p:txBody>
      </p:sp>
      <p:sp>
        <p:nvSpPr>
          <p:cNvPr id="9" name="">
            <a:extLst>
              <a:ext uri="{FF2B5EF4-FFF2-40B4-BE49-F238E27FC236}">
                <a16:creationId xmlns:a16="http://schemas.microsoft.com/office/drawing/2014/main" id="{C28EEB75-D4FC-45BA-8B59-95164709F1BE}"/>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81299B8F-4CD9-475C-AB1A-41511B34C10C}"/>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OpenSSH verifies ownership and permissions on these files — an over-permissive private key is refused.</a:t>
            </a:r>
          </a:p>
        </p:txBody>
      </p:sp>
    </p:spTree>
  </p:cSld>
  <p:clrMapOvr>
    <a:masterClrMapping/>
  </p:clrMapOvr>
</p:sld>
</file>

<file path=ppt/slides/slide62.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46B1BF-A3A5-4F23-96CA-C811AC2600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0B79F8-E259-4E3C-A884-5B13381FC7D9}"/>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6 · WORKED EXAMPLE</a:t>
            </a:r>
          </a:p>
        </p:txBody>
      </p:sp>
      <p:sp>
        <p:nvSpPr>
          <p:cNvPr id="3" name="">
            <a:extLst xmlns:a="http://schemas.openxmlformats.org/drawingml/2006/main">
              <a:ext uri="{FF2B5EF4-FFF2-40B4-BE49-F238E27FC236}">
                <a16:creationId xmlns:a16="http://schemas.microsoft.com/office/drawing/2014/main" id="{0E1C6F7E-5E37-4B5B-B417-A12ABC53CBB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0000540A-6F0D-451B-A87D-C5ABE16390B3}"/>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62</a:t>
            </a:r>
          </a:p>
        </p:txBody>
      </p:sp>
      <p:sp>
        <p:nvSpPr>
          <p:cNvPr id="5" name="">
            <a:extLst xmlns:a="http://schemas.openxmlformats.org/drawingml/2006/main">
              <a:ext uri="{FF2B5EF4-FFF2-40B4-BE49-F238E27FC236}">
                <a16:creationId xmlns:a16="http://schemas.microsoft.com/office/drawing/2014/main" id="{9431ED34-FF20-46B1-A071-451B6A2D606A}"/>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Verify host trust before user trust</a:t>
            </a:r>
          </a:p>
        </p:txBody>
      </p:sp>
      <p:sp>
        <p:nvSpPr>
          <p:cNvPr id="6" name="">
            <a:extLst xmlns:a="http://schemas.openxmlformats.org/drawingml/2006/main">
              <a:ext uri="{FF2B5EF4-FFF2-40B4-BE49-F238E27FC236}">
                <a16:creationId xmlns:a16="http://schemas.microsoft.com/office/drawing/2014/main" id="{1B2D04F1-8E42-40F5-B6A6-2675E372221C}"/>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37143F6-7641-4A6D-B9C1-2569ACBA4A09}"/>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ssh-keyscan -p 2222 training-server &gt; host.scan</a:t>
            </a:r>
          </a:p>
          <a:p xmlns:a="http://schemas.openxmlformats.org/drawingml/2006/main">
            <a:pPr algn="l">
              <a:buNone/>
              <a:defRPr sz="1575" b="0">
                <a:solidFill>
                  <a:srgbClr val="F7F1FA"/>
                </a:solidFill>
              </a:defRPr>
            </a:pPr>
            <a:r>
              <a:rPr sz="1575" b="0">
                <a:solidFill>
                  <a:srgbClr val="F7F1FA"/>
                </a:solidFill>
              </a:rPr>
              <a:t>ssh-keygen -lf host.scan -E sha256</a:t>
            </a:r>
          </a:p>
          <a:p xmlns:a="http://schemas.openxmlformats.org/drawingml/2006/main">
            <a:pPr algn="l">
              <a:buNone/>
              <a:defRPr sz="1575" b="0">
                <a:solidFill>
                  <a:srgbClr val="F7F1FA"/>
                </a:solidFill>
              </a:defRPr>
            </a:pPr>
            <a:r>
              <a:rPr sz="1575" b="0">
                <a:solidFill>
                  <a:srgbClr val="F7F1FA"/>
                </a:solidFill>
              </a:rPr>
              <a:t>ssh -o BatchMode=yes training-server</a:t>
            </a:r>
          </a:p>
        </p:txBody>
      </p:sp>
      <p:sp>
        <p:nvSpPr>
          <p:cNvPr id="8" name="">
            <a:extLst xmlns:a="http://schemas.openxmlformats.org/drawingml/2006/main">
              <a:ext uri="{FF2B5EF4-FFF2-40B4-BE49-F238E27FC236}">
                <a16:creationId xmlns:a16="http://schemas.microsoft.com/office/drawing/2014/main" id="{37565A7F-6F39-4D5F-963B-BB54C48F1640}"/>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836D680-CCDA-4557-A49C-6403C1C5130D}"/>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ssh-keyscan grabs the host key — collecting is not trusting.</a:t>
            </a:r>
          </a:p>
        </p:txBody>
      </p:sp>
      <p:sp>
        <p:nvSpPr>
          <p:cNvPr id="10" name="">
            <a:extLst xmlns:a="http://schemas.openxmlformats.org/drawingml/2006/main">
              <a:ext uri="{FF2B5EF4-FFF2-40B4-BE49-F238E27FC236}">
                <a16:creationId xmlns:a16="http://schemas.microsoft.com/office/drawing/2014/main" id="{A3BC3C04-A2DB-43A3-92D8-58B7DB3052B0}"/>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65345044-BB0A-4916-9B16-5556A461F754}"/>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ssh-keygen -lf prints the SHA256 fingerprint to compare out-of-band.</a:t>
            </a:r>
          </a:p>
        </p:txBody>
      </p:sp>
      <p:sp>
        <p:nvSpPr>
          <p:cNvPr id="12" name="">
            <a:extLst xmlns:a="http://schemas.openxmlformats.org/drawingml/2006/main">
              <a:ext uri="{FF2B5EF4-FFF2-40B4-BE49-F238E27FC236}">
                <a16:creationId xmlns:a16="http://schemas.microsoft.com/office/drawing/2014/main" id="{75A73474-8D5F-4FB6-8DBF-F1A0E7F4BE0C}"/>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CE3C9605-C664-4E72-8310-B6CFD6D38DDE}"/>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BatchMode=yes fails loudly instead of dropping to a password.</a:t>
            </a:r>
          </a:p>
        </p:txBody>
      </p:sp>
      <p:sp>
        <p:nvSpPr>
          <p:cNvPr id="13" name="">
            <a:extLst xmlns:a="http://schemas.openxmlformats.org/drawingml/2006/main">
              <a:ext uri="{FF2B5EF4-FFF2-40B4-BE49-F238E27FC236}">
                <a16:creationId xmlns:a16="http://schemas.microsoft.com/office/drawing/2014/main" id="{CE3C9605-C664-4E72-8310-B6CFD6D38DDE}"/>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Match the fingerprint before it is written to known_hosts.</a:t>
            </a:r>
          </a:p>
        </p:txBody>
      </p:sp>
      <p:sp>
        <p:nvSpPr>
          <p:cNvPr id="12" name="">
            <a:extLst xmlns:a="http://schemas.openxmlformats.org/drawingml/2006/main">
              <a:ext uri="{FF2B5EF4-FFF2-40B4-BE49-F238E27FC236}">
                <a16:creationId xmlns:a16="http://schemas.microsoft.com/office/drawing/2014/main" id="{75A73474-8D5F-4FB6-8DBF-F1A0E7F4BE0C}"/>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939331491"/>
      </p:ext>
    </p:extLst>
  </p:cSld>
</p:sld>
</file>

<file path=ppt/slides/slide6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D86652F-3878-4EF4-86BC-5E9BB0E726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EACFC7F-4447-46F6-903F-0F572F13D63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6 · GUIDED COMMANDS</a:t>
            </a:r>
          </a:p>
        </p:txBody>
      </p:sp>
      <p:sp>
        <p:nvSpPr>
          <p:cNvPr id="3" name="">
            <a:extLst xmlns:a="http://schemas.openxmlformats.org/drawingml/2006/main">
              <a:ext uri="{FF2B5EF4-FFF2-40B4-BE49-F238E27FC236}">
                <a16:creationId xmlns:a16="http://schemas.microsoft.com/office/drawing/2014/main" id="{968DA51D-1F70-436E-998A-F5822A6296B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CA730DA9-28C6-42F4-8905-EA46CEF98E3F}"/>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63</a:t>
            </a:r>
          </a:p>
        </p:txBody>
      </p:sp>
      <p:sp>
        <p:nvSpPr>
          <p:cNvPr id="5" name="">
            <a:extLst xmlns:a="http://schemas.openxmlformats.org/drawingml/2006/main">
              <a:ext uri="{FF2B5EF4-FFF2-40B4-BE49-F238E27FC236}">
                <a16:creationId xmlns:a16="http://schemas.microsoft.com/office/drawing/2014/main" id="{BE9F5371-6AF3-4F05-B940-F36012D711A7}"/>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BE33F568-3CF7-4437-B0BC-7EE9DCBE12AA}"/>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8792A3BE-CC46-4555-94D9-AF07A635C2BE}"/>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ssh-keygen -t ed25519</a:t>
            </a:r>
          </a:p>
        </p:txBody>
      </p:sp>
      <p:sp>
        <p:nvSpPr>
          <p:cNvPr id="8" name="">
            <a:extLst xmlns:a="http://schemas.openxmlformats.org/drawingml/2006/main">
              <a:ext uri="{FF2B5EF4-FFF2-40B4-BE49-F238E27FC236}">
                <a16:creationId xmlns:a16="http://schemas.microsoft.com/office/drawing/2014/main" id="{C8F1697A-5FDE-4EC0-B9D7-18DA7ED85ACE}"/>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make a modern key pair — private key stays put</a:t>
            </a:r>
          </a:p>
        </p:txBody>
      </p:sp>
      <p:sp>
        <p:nvSpPr>
          <p:cNvPr id="9" name="">
            <a:extLst xmlns:a="http://schemas.openxmlformats.org/drawingml/2006/main">
              <a:ext uri="{FF2B5EF4-FFF2-40B4-BE49-F238E27FC236}">
                <a16:creationId xmlns:a16="http://schemas.microsoft.com/office/drawing/2014/main" id="{8D48F208-0196-4EA7-994E-B9DDCABD5778}"/>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D4D03C3-F2E2-4FB6-A8DD-7F9EC5BA79B9}"/>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ssh-keyscan</a:t>
            </a:r>
          </a:p>
        </p:txBody>
      </p:sp>
      <p:sp>
        <p:nvSpPr>
          <p:cNvPr id="11" name="">
            <a:extLst xmlns:a="http://schemas.openxmlformats.org/drawingml/2006/main">
              <a:ext uri="{FF2B5EF4-FFF2-40B4-BE49-F238E27FC236}">
                <a16:creationId xmlns:a16="http://schemas.microsoft.com/office/drawing/2014/main" id="{9C6D964B-DAFC-40F8-8AB3-0791EEC4BBB6}"/>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fetch a server's host key over the network</a:t>
            </a:r>
          </a:p>
        </p:txBody>
      </p:sp>
      <p:sp>
        <p:nvSpPr>
          <p:cNvPr id="12" name="">
            <a:extLst xmlns:a="http://schemas.openxmlformats.org/drawingml/2006/main">
              <a:ext uri="{FF2B5EF4-FFF2-40B4-BE49-F238E27FC236}">
                <a16:creationId xmlns:a16="http://schemas.microsoft.com/office/drawing/2014/main" id="{42C244C8-6AD3-4052-8FBB-7D522338A8F1}"/>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390AAC81-F3A9-48D7-83BA-B415F606EBC7}"/>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ssh-keygen -lf</a:t>
            </a:r>
          </a:p>
        </p:txBody>
      </p:sp>
      <p:sp>
        <p:nvSpPr>
          <p:cNvPr id="14" name="">
            <a:extLst xmlns:a="http://schemas.openxmlformats.org/drawingml/2006/main">
              <a:ext uri="{FF2B5EF4-FFF2-40B4-BE49-F238E27FC236}">
                <a16:creationId xmlns:a16="http://schemas.microsoft.com/office/drawing/2014/main" id="{D973375A-08DD-4F17-9CFB-8496B3D65BE4}"/>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show a key's SHA256 fingerprint</a:t>
            </a:r>
          </a:p>
        </p:txBody>
      </p:sp>
      <p:sp>
        <p:nvSpPr>
          <p:cNvPr id="15" name="">
            <a:extLst xmlns:a="http://schemas.openxmlformats.org/drawingml/2006/main">
              <a:ext uri="{FF2B5EF4-FFF2-40B4-BE49-F238E27FC236}">
                <a16:creationId xmlns:a16="http://schemas.microsoft.com/office/drawing/2014/main" id="{59B33BA7-9563-4E9F-9B75-DE0CD858F85F}"/>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3743136-D909-4FC4-B5B7-6CA36F979DD8}"/>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ssh -G HOST</a:t>
            </a:r>
          </a:p>
        </p:txBody>
      </p:sp>
      <p:sp>
        <p:nvSpPr>
          <p:cNvPr id="17" name="">
            <a:extLst xmlns:a="http://schemas.openxmlformats.org/drawingml/2006/main">
              <a:ext uri="{FF2B5EF4-FFF2-40B4-BE49-F238E27FC236}">
                <a16:creationId xmlns:a16="http://schemas.microsoft.com/office/drawing/2014/main" id="{D43C75E1-A67F-427F-9325-E4D974ADCD7A}"/>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effective client config: which key, port, user</a:t>
            </a:r>
          </a:p>
        </p:txBody>
      </p:sp>
      <p:sp>
        <p:nvSpPr>
          <p:cNvPr id="18" name="">
            <a:extLst xmlns:a="http://schemas.openxmlformats.org/drawingml/2006/main">
              <a:ext uri="{FF2B5EF4-FFF2-40B4-BE49-F238E27FC236}">
                <a16:creationId xmlns:a16="http://schemas.microsoft.com/office/drawing/2014/main" id="{C289749F-35C0-459C-B92B-D13DA41CBCB1}"/>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F0272CE0-3A85-4935-9A6B-EFBBF20E37CE}"/>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BatchMode=yes</a:t>
            </a:r>
          </a:p>
        </p:txBody>
      </p:sp>
      <p:sp>
        <p:nvSpPr>
          <p:cNvPr id="20" name="">
            <a:extLst xmlns:a="http://schemas.openxmlformats.org/drawingml/2006/main">
              <a:ext uri="{FF2B5EF4-FFF2-40B4-BE49-F238E27FC236}">
                <a16:creationId xmlns:a16="http://schemas.microsoft.com/office/drawing/2014/main" id="{97BEE614-295E-4D37-8DBD-8FDFF8278A84}"/>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no prompts — fail instead of asking for a password</a:t>
            </a:r>
          </a:p>
        </p:txBody>
      </p:sp>
      <p:sp>
        <p:nvSpPr>
          <p:cNvPr id="19" name="">
            <a:extLst xmlns:a="http://schemas.openxmlformats.org/drawingml/2006/main">
              <a:ext uri="{FF2B5EF4-FFF2-40B4-BE49-F238E27FC236}">
                <a16:creationId xmlns:a16="http://schemas.microsoft.com/office/drawing/2014/main" id="{F0272CE0-3A85-4935-9A6B-EFBBF20E37CE}"/>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chmod 600 ~/.ssh/id_ed25519</a:t>
            </a:r>
          </a:p>
        </p:txBody>
      </p:sp>
      <p:sp>
        <p:nvSpPr>
          <p:cNvPr id="20" name="">
            <a:extLst xmlns:a="http://schemas.openxmlformats.org/drawingml/2006/main">
              <a:ext uri="{FF2B5EF4-FFF2-40B4-BE49-F238E27FC236}">
                <a16:creationId xmlns:a16="http://schemas.microsoft.com/office/drawing/2014/main" id="{97BEE614-295E-4D37-8DBD-8FDFF8278A84}"/>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a group/world-readable key is refused</a:t>
            </a:r>
          </a:p>
        </p:txBody>
      </p:sp>
      <p:sp>
        <p:nvSpPr>
          <p:cNvPr id="18" name="">
            <a:extLst xmlns:a="http://schemas.openxmlformats.org/drawingml/2006/main">
              <a:ext uri="{FF2B5EF4-FFF2-40B4-BE49-F238E27FC236}">
                <a16:creationId xmlns:a16="http://schemas.microsoft.com/office/drawing/2014/main" id="{C289749F-35C0-459C-B92B-D13DA41CBCB1}"/>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414014580"/>
      </p:ext>
    </p:extLst>
  </p:cSld>
</p:sld>
</file>

<file path=ppt/slides/slide64.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C2569A-662F-41AE-AC77-48CCDEEC07D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1BE2716-418A-4542-8227-2D2CC191A6B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6 · LIVE DEMO</a:t>
            </a:r>
          </a:p>
        </p:txBody>
      </p:sp>
      <p:sp>
        <p:nvSpPr>
          <p:cNvPr id="3" name="">
            <a:extLst xmlns:a="http://schemas.openxmlformats.org/drawingml/2006/main">
              <a:ext uri="{FF2B5EF4-FFF2-40B4-BE49-F238E27FC236}">
                <a16:creationId xmlns:a16="http://schemas.microsoft.com/office/drawing/2014/main" id="{BF3A804A-94DD-42E5-BD7E-33A81DE7B2BD}"/>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254C4436-69F6-4E5D-84F6-A8A64E8924CE}"/>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64</a:t>
            </a:r>
          </a:p>
        </p:txBody>
      </p:sp>
      <p:sp>
        <p:nvSpPr>
          <p:cNvPr id="5" name="">
            <a:extLst xmlns:a="http://schemas.openxmlformats.org/drawingml/2006/main">
              <a:ext uri="{FF2B5EF4-FFF2-40B4-BE49-F238E27FC236}">
                <a16:creationId xmlns:a16="http://schemas.microsoft.com/office/drawing/2014/main" id="{3DC04F5D-0661-4FC7-B0E6-442F5AD40BAC}"/>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trusting a host, then proving a user</a:t>
            </a:r>
          </a:p>
        </p:txBody>
      </p:sp>
      <p:sp>
        <p:nvSpPr>
          <p:cNvPr id="6" name="">
            <a:extLst xmlns:a="http://schemas.openxmlformats.org/drawingml/2006/main">
              <a:ext uri="{FF2B5EF4-FFF2-40B4-BE49-F238E27FC236}">
                <a16:creationId xmlns:a16="http://schemas.microsoft.com/office/drawing/2014/main" id="{87C88C44-6347-4CD9-915D-BC6A1B4F52E1}"/>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Verify the host first: compare the fingerprint out-of-band, then record it and authenticate by key.</a:t>
            </a:r>
          </a:p>
        </p:txBody>
      </p:sp>
      <p:sp>
        <p:nvSpPr>
          <p:cNvPr id="7" name="">
            <a:extLst xmlns:a="http://schemas.openxmlformats.org/drawingml/2006/main">
              <a:ext uri="{FF2B5EF4-FFF2-40B4-BE49-F238E27FC236}">
                <a16:creationId xmlns:a16="http://schemas.microsoft.com/office/drawing/2014/main" id="{5E963E0E-AE53-4D42-8399-8D98357A62C0}"/>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87CB636-0BB1-49EE-A485-29E5CD062788}"/>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Compare the demo endpoint fingerprint through an independent source, pin it, and prove key authentication on port 2207.</a:t>
            </a:r>
          </a:p>
        </p:txBody>
      </p:sp>
      <p:sp>
        <p:nvSpPr>
          <p:cNvPr id="9" name="">
            <a:extLst xmlns:a="http://schemas.openxmlformats.org/drawingml/2006/main">
              <a:ext uri="{FF2B5EF4-FFF2-40B4-BE49-F238E27FC236}">
                <a16:creationId xmlns:a16="http://schemas.microsoft.com/office/drawing/2014/main" id="{F59C620C-C677-4DFF-BA85-D231DA8903EA}"/>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E5814F78-A988-4924-B6AB-E4D3854C241C}"/>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ssh-keyscan -p 2207 demo-host &gt; scan — collect the key; no trust yet</a:t>
            </a:r>
          </a:p>
        </p:txBody>
      </p:sp>
      <p:sp>
        <p:nvSpPr>
          <p:cNvPr id="11" name="">
            <a:extLst xmlns:a="http://schemas.openxmlformats.org/drawingml/2006/main">
              <a:ext uri="{FF2B5EF4-FFF2-40B4-BE49-F238E27FC236}">
                <a16:creationId xmlns:a16="http://schemas.microsoft.com/office/drawing/2014/main" id="{56EFCFCB-9C35-4CFA-8490-BCC61196819C}"/>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63D10A25-A24F-4510-A726-08B2C9D41CAE}"/>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ssh-keygen -lf scan — the fingerprint, compared against the posted value</a:t>
            </a:r>
          </a:p>
        </p:txBody>
      </p:sp>
      <p:sp>
        <p:nvSpPr>
          <p:cNvPr id="13" name="">
            <a:extLst xmlns:a="http://schemas.openxmlformats.org/drawingml/2006/main">
              <a:ext uri="{FF2B5EF4-FFF2-40B4-BE49-F238E27FC236}">
                <a16:creationId xmlns:a16="http://schemas.microsoft.com/office/drawing/2014/main" id="{CF6FB540-340D-43ED-A5D5-7F18591107F5}"/>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9844139F-0070-44BE-A60B-568DA296F90F}"/>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ssh -o BatchMode=yes -p 2207 demo-host — key login, no password fallback</a:t>
            </a:r>
          </a:p>
        </p:txBody>
      </p:sp>
      <p:sp>
        <p:nvSpPr>
          <p:cNvPr id="15" name="">
            <a:extLst xmlns:a="http://schemas.openxmlformats.org/drawingml/2006/main">
              <a:ext uri="{FF2B5EF4-FFF2-40B4-BE49-F238E27FC236}">
                <a16:creationId xmlns:a16="http://schemas.microsoft.com/office/drawing/2014/main" id="{C684223C-64E2-45A0-9D1F-4BEFD4E03661}"/>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EE5D220-13AB-4073-9E2B-D4AD0A07576A}"/>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On a mismatch: stop. known_hosts is never deleted to make progress</a:t>
            </a:r>
          </a:p>
        </p:txBody>
      </p:sp>
      <p:sp>
        <p:nvSpPr>
          <p:cNvPr id="17" name="">
            <a:extLst xmlns:a="http://schemas.openxmlformats.org/drawingml/2006/main">
              <a:ext uri="{FF2B5EF4-FFF2-40B4-BE49-F238E27FC236}">
                <a16:creationId xmlns:a16="http://schemas.microsoft.com/office/drawing/2014/main" id="{51E53152-DDC2-4EDF-9D84-958BA32AAA27}"/>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what does a matching fingerprint prove — identity, or only consistency?</a:t>
            </a:r>
          </a:p>
        </p:txBody>
      </p:sp>
    </p:spTree>
    <p:extLst>
      <p:ext uri="{BB962C8B-B14F-4D97-AF65-F5344CB8AC3E}">
        <p14:creationId xmlns:p14="http://schemas.microsoft.com/office/powerpoint/2010/main" val="2036692139"/>
      </p:ext>
    </p:extLst>
  </p:cSld>
</p:sld>
</file>

<file path=ppt/slides/slide65.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755135F-B7FC-4ECB-B3D3-655721B05BA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26DE4D6-230E-47B0-9EE9-AEAB8E94CD11}"/>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6</a:t>
            </a:r>
          </a:p>
        </p:txBody>
      </p:sp>
      <p:sp>
        <p:nvSpPr>
          <p:cNvPr id="3" name="">
            <a:extLst xmlns:a="http://schemas.openxmlformats.org/drawingml/2006/main">
              <a:ext uri="{FF2B5EF4-FFF2-40B4-BE49-F238E27FC236}">
                <a16:creationId xmlns:a16="http://schemas.microsoft.com/office/drawing/2014/main" id="{79231125-DB74-417C-8E8D-512ED9492A8C}"/>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C629DB96-BE81-49CE-A73E-B60E1F14F6D7}"/>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65</a:t>
            </a:r>
          </a:p>
        </p:txBody>
      </p:sp>
      <p:sp>
        <p:nvSpPr>
          <p:cNvPr id="5" name="">
            <a:extLst xmlns:a="http://schemas.openxmlformats.org/drawingml/2006/main">
              <a:ext uri="{FF2B5EF4-FFF2-40B4-BE49-F238E27FC236}">
                <a16:creationId xmlns:a16="http://schemas.microsoft.com/office/drawing/2014/main" id="{10FCB625-17A4-4E7C-93AE-22AF93DAAF8F}"/>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SSH transport, host trust, and user authentication</a:t>
            </a:r>
          </a:p>
        </p:txBody>
      </p:sp>
      <p:sp>
        <p:nvSpPr>
          <p:cNvPr id="6" name="">
            <a:extLst xmlns:a="http://schemas.openxmlformats.org/drawingml/2006/main">
              <a:ext uri="{FF2B5EF4-FFF2-40B4-BE49-F238E27FC236}">
                <a16:creationId xmlns:a16="http://schemas.microsoft.com/office/drawing/2014/main" id="{42B86E9A-D73D-4935-ADD1-54D0F50595C1}"/>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25 minutes: build a strict SSH profile and verify key-only login.</a:t>
            </a:r>
          </a:p>
        </p:txBody>
      </p:sp>
      <p:sp>
        <p:nvSpPr>
          <p:cNvPr id="7" name="">
            <a:extLst xmlns:a="http://schemas.openxmlformats.org/drawingml/2006/main">
              <a:ext uri="{FF2B5EF4-FFF2-40B4-BE49-F238E27FC236}">
                <a16:creationId xmlns:a16="http://schemas.microsoft.com/office/drawing/2014/main" id="{AB36DCC3-11EA-4918-AED7-97BC0849C7A5}"/>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AE3A8A7-C033-42EE-A8B0-BF03B91EFFB1}"/>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Create a strict client profile for training-server on port 2222, verify its host key, authorize a dedicated user key, and prove BatchMode login.</a:t>
            </a:r>
          </a:p>
        </p:txBody>
      </p:sp>
      <p:sp>
        <p:nvSpPr>
          <p:cNvPr id="9" name="">
            <a:extLst xmlns:a="http://schemas.openxmlformats.org/drawingml/2006/main">
              <a:ext uri="{FF2B5EF4-FFF2-40B4-BE49-F238E27FC236}">
                <a16:creationId xmlns:a16="http://schemas.microsoft.com/office/drawing/2014/main" id="{DE22A499-B8D4-4651-BBFA-72B9227A40D5}"/>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BC439C7-75C8-4923-88E7-816E24C182F1}"/>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25 minutes</a:t>
            </a:r>
          </a:p>
        </p:txBody>
      </p:sp>
      <p:sp>
        <p:nvSpPr>
          <p:cNvPr id="11" name="">
            <a:extLst xmlns:a="http://schemas.openxmlformats.org/drawingml/2006/main">
              <a:ext uri="{FF2B5EF4-FFF2-40B4-BE49-F238E27FC236}">
                <a16:creationId xmlns:a16="http://schemas.microsoft.com/office/drawing/2014/main" id="{6B170F8C-9940-46F2-8B98-E78A0AED65E2}"/>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47B2CA1-97A7-4FC1-B8B5-8A480E5C5A43}"/>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90755D4D-FAEA-486E-A33B-ECD6098D71E2}"/>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A586DB64-2A37-4662-872D-E5CD0B1850ED}"/>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E1DE8CDE-3553-4E66-A89A-890C568D8FE3}"/>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43ECCED4-338C-4448-A5D6-9C5F81BF5F49}"/>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4D452694-D115-4CE5-84A1-2AC999EBAD91}"/>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824142721"/>
      </p:ext>
    </p:extLst>
  </p:cSld>
</p:sld>
</file>

<file path=ppt/slides/slide6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77BA52E-352D-48F3-95CD-76009F7822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6C8613B-BC4F-4015-9485-D2A4EE697F49}"/>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6 · DEBRIEF</a:t>
            </a:r>
          </a:p>
        </p:txBody>
      </p:sp>
      <p:sp>
        <p:nvSpPr>
          <p:cNvPr id="3" name="">
            <a:extLst xmlns:a="http://schemas.openxmlformats.org/drawingml/2006/main">
              <a:ext uri="{FF2B5EF4-FFF2-40B4-BE49-F238E27FC236}">
                <a16:creationId xmlns:a16="http://schemas.microsoft.com/office/drawing/2014/main" id="{5274AB7A-4348-46B6-9354-E407BDF4617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F69DD0B8-79C1-4257-98D5-BF2E2D0972C9}"/>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66</a:t>
            </a:r>
          </a:p>
        </p:txBody>
      </p:sp>
      <p:sp>
        <p:nvSpPr>
          <p:cNvPr id="5" name="">
            <a:extLst xmlns:a="http://schemas.openxmlformats.org/drawingml/2006/main">
              <a:ext uri="{FF2B5EF4-FFF2-40B4-BE49-F238E27FC236}">
                <a16:creationId xmlns:a16="http://schemas.microsoft.com/office/drawing/2014/main" id="{A2BAD6DB-7E35-4374-A2FB-C1A7F67E5E47}"/>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1DEDA6F5-5FF5-4959-93C5-EFFC67F005D2}"/>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DC79B444-807D-4009-9AB4-4FAFD4730D42}"/>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6E8C27C-AC6B-4461-A557-FDA6771AE3D5}"/>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A successful SSH session rests on two explicit trust decisions. Next, logs will help reconstruct what happened when a service or login fails.</a:t>
            </a:r>
          </a:p>
        </p:txBody>
      </p:sp>
      <p:sp>
        <p:nvSpPr>
          <p:cNvPr id="9" name="">
            <a:extLst xmlns:a="http://schemas.openxmlformats.org/drawingml/2006/main">
              <a:ext uri="{FF2B5EF4-FFF2-40B4-BE49-F238E27FC236}">
                <a16:creationId xmlns:a16="http://schemas.microsoft.com/office/drawing/2014/main" id="{1BE75C54-7DA8-459A-957F-D0889FFC3534}"/>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7277C6C-ACCA-43C9-86C9-60E93DD652FE}"/>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5B66419F-32DA-4EBD-A1E6-BD4CA246F80E}"/>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1B23AB9-C4D9-4131-A5D2-BB3D56A32051}"/>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646736B8-683E-41D5-BE35-A4ECEB769E19}"/>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DD27798-57CE-4943-8B19-B6585AF0C1E9}"/>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842610455"/>
      </p:ext>
    </p:extLst>
  </p:cSld>
</p:sld>
</file>

<file path=ppt/slides/slide67.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3EF1F3-AB10-45C9-AAB5-C0C9AF01CC4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6560CD3-226D-4847-AC66-76EABF7C29A5}"/>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7</a:t>
            </a:r>
          </a:p>
        </p:txBody>
      </p:sp>
      <p:sp>
        <p:nvSpPr>
          <p:cNvPr id="3" name="">
            <a:extLst xmlns:a="http://schemas.openxmlformats.org/drawingml/2006/main">
              <a:ext uri="{FF2B5EF4-FFF2-40B4-BE49-F238E27FC236}">
                <a16:creationId xmlns:a16="http://schemas.microsoft.com/office/drawing/2014/main" id="{357B87B7-468C-4F8A-A219-EA0DDBDE69CB}"/>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CEEF87FF-D0A4-436B-8078-CE60C8E3F318}"/>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67</a:t>
            </a:r>
          </a:p>
        </p:txBody>
      </p:sp>
      <p:sp>
        <p:nvSpPr>
          <p:cNvPr id="5" name="">
            <a:extLst xmlns:a="http://schemas.openxmlformats.org/drawingml/2006/main">
              <a:ext uri="{FF2B5EF4-FFF2-40B4-BE49-F238E27FC236}">
                <a16:creationId xmlns:a16="http://schemas.microsoft.com/office/drawing/2014/main" id="{6D325BDC-D23B-4D62-9BDD-055DC3B29B64}"/>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07</a:t>
            </a:r>
          </a:p>
        </p:txBody>
      </p:sp>
      <p:sp>
        <p:nvSpPr>
          <p:cNvPr id="6" name="">
            <a:extLst xmlns:a="http://schemas.openxmlformats.org/drawingml/2006/main">
              <a:ext uri="{FF2B5EF4-FFF2-40B4-BE49-F238E27FC236}">
                <a16:creationId xmlns:a16="http://schemas.microsoft.com/office/drawing/2014/main" id="{74CAD159-497A-4E01-A888-8E9AFB8A5FF5}"/>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Logs, journal scope, and causal events</a:t>
            </a:r>
          </a:p>
        </p:txBody>
      </p:sp>
      <p:sp>
        <p:nvSpPr>
          <p:cNvPr id="7" name="">
            <a:extLst xmlns:a="http://schemas.openxmlformats.org/drawingml/2006/main">
              <a:ext uri="{FF2B5EF4-FFF2-40B4-BE49-F238E27FC236}">
                <a16:creationId xmlns:a16="http://schemas.microsoft.com/office/drawing/2014/main" id="{9953E0D2-266E-47C4-8D3E-DFE9242791E8}"/>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Which event explains the failure rather than merely reporting its consequence?</a:t>
            </a:r>
          </a:p>
        </p:txBody>
      </p:sp>
      <p:sp>
        <p:nvSpPr>
          <p:cNvPr id="8" name="">
            <a:extLst xmlns:a="http://schemas.openxmlformats.org/drawingml/2006/main">
              <a:ext uri="{FF2B5EF4-FFF2-40B4-BE49-F238E27FC236}">
                <a16:creationId xmlns:a16="http://schemas.microsoft.com/office/drawing/2014/main" id="{56F1472A-6F73-4ED6-B4F5-86911C66B9E0}"/>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EDD60A5-D06C-45E0-84C9-70983C8B67C2}"/>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systemd journal · Ubuntu 24.04</a:t>
            </a:r>
          </a:p>
        </p:txBody>
      </p:sp>
    </p:spTree>
    <p:extLst>
      <p:ext uri="{BB962C8B-B14F-4D97-AF65-F5344CB8AC3E}">
        <p14:creationId xmlns:p14="http://schemas.microsoft.com/office/powerpoint/2010/main" val="299990565"/>
      </p:ext>
    </p:extLst>
  </p:cSld>
</p:sld>
</file>

<file path=ppt/slides/slide68.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8FFC8F-B13B-4E93-ADB4-3C12706852A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3639B38-01AD-4F5A-BBEC-76E2D09679F2}"/>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7 · MODEL</a:t>
            </a:r>
          </a:p>
        </p:txBody>
      </p:sp>
      <p:sp>
        <p:nvSpPr>
          <p:cNvPr id="3" name="">
            <a:extLst xmlns:a="http://schemas.openxmlformats.org/drawingml/2006/main">
              <a:ext uri="{FF2B5EF4-FFF2-40B4-BE49-F238E27FC236}">
                <a16:creationId xmlns:a16="http://schemas.microsoft.com/office/drawing/2014/main" id="{7A772991-7A9B-451F-813C-B89DF5833AEE}"/>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D49CDB31-239D-477A-A4FC-33F454EA2E36}"/>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68</a:t>
            </a:r>
          </a:p>
        </p:txBody>
      </p:sp>
      <p:sp>
        <p:nvSpPr>
          <p:cNvPr id="5" name="">
            <a:extLst xmlns:a="http://schemas.openxmlformats.org/drawingml/2006/main">
              <a:ext uri="{FF2B5EF4-FFF2-40B4-BE49-F238E27FC236}">
                <a16:creationId xmlns:a16="http://schemas.microsoft.com/office/drawing/2014/main" id="{8BFBEC87-33C9-4E48-B478-FC772C0CC407}"/>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Logs are bounded event evidence</a:t>
            </a:r>
          </a:p>
        </p:txBody>
      </p:sp>
      <p:sp>
        <p:nvSpPr>
          <p:cNvPr id="6" name="">
            <a:extLst xmlns:a="http://schemas.openxmlformats.org/drawingml/2006/main">
              <a:ext uri="{FF2B5EF4-FFF2-40B4-BE49-F238E27FC236}">
                <a16:creationId xmlns:a16="http://schemas.microsoft.com/office/drawing/2014/main" id="{2AB6DE7B-FCB5-4867-BB1C-2EFB330535FF}"/>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Scope the window first — unit, boot, time — then read chronology before filtering.</a:t>
            </a:r>
          </a:p>
        </p:txBody>
      </p:sp>
      <p:sp>
        <p:nvSpPr>
          <p:cNvPr id="7" name="">
            <a:extLst xmlns:a="http://schemas.openxmlformats.org/drawingml/2006/main">
              <a:ext uri="{FF2B5EF4-FFF2-40B4-BE49-F238E27FC236}">
                <a16:creationId xmlns:a16="http://schemas.microsoft.com/office/drawing/2014/main" id="{35957A35-9177-490D-989D-15AA2259A390}"/>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19575171-EC86-47AC-A65C-EC67F4CADD6A}"/>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The journal stores structured fields: time, unit, priority, message.</a:t>
            </a:r>
          </a:p>
        </p:txBody>
      </p:sp>
      <p:sp>
        <p:nvSpPr>
          <p:cNvPr id="9" name="">
            <a:extLst xmlns:a="http://schemas.openxmlformats.org/drawingml/2006/main">
              <a:ext uri="{FF2B5EF4-FFF2-40B4-BE49-F238E27FC236}">
                <a16:creationId xmlns:a16="http://schemas.microsoft.com/office/drawing/2014/main" id="{B4E1E1C1-5829-423D-B666-47027ABC85D6}"/>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4FF3037-C752-422E-A049-F58E704C100A}"/>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premature keyword search discards the chronology that explains the failure.</a:t>
            </a:r>
          </a:p>
        </p:txBody>
      </p:sp>
    </p:spTree>
    <p:extLst>
      <p:ext uri="{BB962C8B-B14F-4D97-AF65-F5344CB8AC3E}">
        <p14:creationId xmlns:p14="http://schemas.microsoft.com/office/powerpoint/2010/main" val="733230608"/>
      </p:ext>
    </p:extLst>
  </p:cSld>
</p:sld>
</file>

<file path=ppt/slides/slide69.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ED5C34-EE11-4761-9D5D-1891A34442E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6B14D14-84B0-43B5-9A21-0B2233E5C7B3}"/>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7 · BUILD THE MODEL</a:t>
            </a:r>
          </a:p>
        </p:txBody>
      </p:sp>
      <p:sp>
        <p:nvSpPr>
          <p:cNvPr id="3" name="">
            <a:extLst xmlns:a="http://schemas.openxmlformats.org/drawingml/2006/main">
              <a:ext uri="{FF2B5EF4-FFF2-40B4-BE49-F238E27FC236}">
                <a16:creationId xmlns:a16="http://schemas.microsoft.com/office/drawing/2014/main" id="{117D927D-A5FA-4669-A9C1-348F8035DC2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3A154AA3-8738-436F-88CB-7CF63A42E6A4}"/>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69</a:t>
            </a:r>
          </a:p>
        </p:txBody>
      </p:sp>
      <p:sp>
        <p:nvSpPr>
          <p:cNvPr id="5" name="">
            <a:extLst xmlns:a="http://schemas.openxmlformats.org/drawingml/2006/main">
              <a:ext uri="{FF2B5EF4-FFF2-40B4-BE49-F238E27FC236}">
                <a16:creationId xmlns:a16="http://schemas.microsoft.com/office/drawing/2014/main" id="{40E77FCE-4EAF-4CD8-91E0-1ED1FC4532F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useful incident window preserves causality</a:t>
            </a:r>
          </a:p>
        </p:txBody>
      </p:sp>
      <p:sp>
        <p:nvSpPr>
          <p:cNvPr id="6" name="">
            <a:extLst xmlns:a="http://schemas.openxmlformats.org/drawingml/2006/main">
              <a:ext uri="{FF2B5EF4-FFF2-40B4-BE49-F238E27FC236}">
                <a16:creationId xmlns:a16="http://schemas.microsoft.com/office/drawing/2014/main" id="{41B5825F-6E00-40CD-996E-D1A2DAE8442C}"/>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Narrow scope reduces noise without destroying chronology.</a:t>
            </a:r>
          </a:p>
        </p:txBody>
      </p:sp>
      <p:sp>
        <p:nvSpPr>
          <p:cNvPr id="7" name="">
            <a:extLst xmlns:a="http://schemas.openxmlformats.org/drawingml/2006/main">
              <a:ext uri="{FF2B5EF4-FFF2-40B4-BE49-F238E27FC236}">
                <a16:creationId xmlns:a16="http://schemas.microsoft.com/office/drawing/2014/main" id="{5030E689-8D57-410F-8C32-0A5C04F60647}"/>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5F70C20-20B8-46D5-91B5-86000DD804B6}"/>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Select the affected unit and boot</a:t>
            </a:r>
          </a:p>
        </p:txBody>
      </p:sp>
      <p:sp>
        <p:nvSpPr>
          <p:cNvPr id="9" name="">
            <a:extLst xmlns:a="http://schemas.openxmlformats.org/drawingml/2006/main">
              <a:ext uri="{FF2B5EF4-FFF2-40B4-BE49-F238E27FC236}">
                <a16:creationId xmlns:a16="http://schemas.microsoft.com/office/drawing/2014/main" id="{287E8547-7FB6-42C7-B321-E3BA6152CC67}"/>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47DC5BE-B08D-4C87-B500-B19F3904EDD4}"/>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Bound the time around the reported symptom</a:t>
            </a:r>
          </a:p>
        </p:txBody>
      </p:sp>
      <p:sp>
        <p:nvSpPr>
          <p:cNvPr id="11" name="">
            <a:extLst xmlns:a="http://schemas.openxmlformats.org/drawingml/2006/main">
              <a:ext uri="{FF2B5EF4-FFF2-40B4-BE49-F238E27FC236}">
                <a16:creationId xmlns:a16="http://schemas.microsoft.com/office/drawing/2014/main" id="{C25B15BD-82D9-4DA1-86A2-C44C37719843}"/>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46D79C6-23C4-411D-9CC3-ADEE341E74D4}"/>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Read the sequence before filtering for keywords</a:t>
            </a:r>
          </a:p>
        </p:txBody>
      </p:sp>
      <p:sp>
        <p:nvSpPr>
          <p:cNvPr id="13" name="">
            <a:extLst xmlns:a="http://schemas.openxmlformats.org/drawingml/2006/main">
              <a:ext uri="{FF2B5EF4-FFF2-40B4-BE49-F238E27FC236}">
                <a16:creationId xmlns:a16="http://schemas.microsoft.com/office/drawing/2014/main" id="{4D8F0516-B773-4896-B278-42A0F3C91950}"/>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C9BDA7B0-6CFA-4BFD-B371-86EC6D1E781B}"/>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Separate the first cause from later failure summaries</a:t>
            </a:r>
          </a:p>
        </p:txBody>
      </p:sp>
    </p:spTree>
    <p:extLst>
      <p:ext uri="{BB962C8B-B14F-4D97-AF65-F5344CB8AC3E}">
        <p14:creationId xmlns:p14="http://schemas.microsoft.com/office/powerpoint/2010/main" val="924833079"/>
      </p:ext>
    </p:extLst>
  </p:cSld>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4C8FFC8F-B13B-4E93-ADB4-3C12706852A0}"/>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A3639B38-01AD-4F5A-BBEC-76E2D09679F2}"/>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7 · MODEL</a:t>
            </a:r>
          </a:p>
        </p:txBody>
      </p:sp>
      <p:sp>
        <p:nvSpPr>
          <p:cNvPr id="3" name="">
            <a:extLst>
              <a:ext uri="{FF2B5EF4-FFF2-40B4-BE49-F238E27FC236}">
                <a16:creationId xmlns:a16="http://schemas.microsoft.com/office/drawing/2014/main" id="{7A772991-7A9B-451F-813C-B89DF5833AEE}"/>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D49CDB31-239D-477A-A4FC-33F454EA2E36}"/>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70</a:t>
            </a:r>
          </a:p>
        </p:txBody>
      </p:sp>
      <p:sp>
        <p:nvSpPr>
          <p:cNvPr id="5" name="">
            <a:extLst>
              <a:ext uri="{FF2B5EF4-FFF2-40B4-BE49-F238E27FC236}">
                <a16:creationId xmlns:a16="http://schemas.microsoft.com/office/drawing/2014/main" id="{8BFBEC87-33C9-4E48-B478-FC772C0CC407}"/>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State summaries and causal events differ</a:t>
            </a:r>
          </a:p>
        </p:txBody>
      </p:sp>
      <p:sp>
        <p:nvSpPr>
          <p:cNvPr id="6" name="">
            <a:extLst>
              <a:ext uri="{FF2B5EF4-FFF2-40B4-BE49-F238E27FC236}">
                <a16:creationId xmlns:a16="http://schemas.microsoft.com/office/drawing/2014/main" id="{2AB6DE7B-FCB5-4867-BB1C-2EFB330535FF}"/>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systemctl show reports where the unit ended up; journalctl shows how it got there.</a:t>
            </a:r>
          </a:p>
        </p:txBody>
      </p:sp>
      <p:sp>
        <p:nvSpPr>
          <p:cNvPr id="7" name="">
            <a:extLst>
              <a:ext uri="{FF2B5EF4-FFF2-40B4-BE49-F238E27FC236}">
                <a16:creationId xmlns:a16="http://schemas.microsoft.com/office/drawing/2014/main" id="{35957A35-9177-490D-989D-15AA2259A390}"/>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19575171-EC86-47AC-A65C-EC67F4CADD6A}"/>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ActiveState, Result, and ExecMainStatus summarise the outcome — they do not explain it.</a:t>
            </a:r>
          </a:p>
        </p:txBody>
      </p:sp>
      <p:sp>
        <p:nvSpPr>
          <p:cNvPr id="9" name="">
            <a:extLst>
              <a:ext uri="{FF2B5EF4-FFF2-40B4-BE49-F238E27FC236}">
                <a16:creationId xmlns:a16="http://schemas.microsoft.com/office/drawing/2014/main" id="{B4E1E1C1-5829-423D-B666-47027ABC85D6}"/>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B4FF3037-C752-422E-A049-F58E704C100A}"/>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The final 'failed' entry is usually a consequence; the cause is the earliest relevant record in the window.</a:t>
            </a:r>
          </a:p>
        </p:txBody>
      </p:sp>
    </p:spTree>
  </p:cSld>
  <p:clrMapOvr>
    <a:masterClrMapping/>
  </p:clrMapOvr>
</p:sld>
</file>

<file path=ppt/slides/slide7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DFD5110-C862-48A7-B265-A2C0EAEC31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9E8FEB5-17E6-4D82-9944-416ADB27F20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7 · WORKED EXAMPLE</a:t>
            </a:r>
          </a:p>
        </p:txBody>
      </p:sp>
      <p:sp>
        <p:nvSpPr>
          <p:cNvPr id="3" name="">
            <a:extLst xmlns:a="http://schemas.openxmlformats.org/drawingml/2006/main">
              <a:ext uri="{FF2B5EF4-FFF2-40B4-BE49-F238E27FC236}">
                <a16:creationId xmlns:a16="http://schemas.microsoft.com/office/drawing/2014/main" id="{2B37246A-5E81-4F13-B42C-C3A4DB36EA46}"/>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FF1E9EA6-82B3-4ADC-8476-DEB136642181}"/>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71</a:t>
            </a:r>
          </a:p>
        </p:txBody>
      </p:sp>
      <p:sp>
        <p:nvSpPr>
          <p:cNvPr id="5" name="">
            <a:extLst xmlns:a="http://schemas.openxmlformats.org/drawingml/2006/main">
              <a:ext uri="{FF2B5EF4-FFF2-40B4-BE49-F238E27FC236}">
                <a16:creationId xmlns:a16="http://schemas.microsoft.com/office/drawing/2014/main" id="{DBADB3FF-1E7B-4FFA-A3CF-4CD349CE7263}"/>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Narrow evidence without losing chronology</a:t>
            </a:r>
          </a:p>
        </p:txBody>
      </p:sp>
      <p:sp>
        <p:nvSpPr>
          <p:cNvPr id="6" name="">
            <a:extLst xmlns:a="http://schemas.openxmlformats.org/drawingml/2006/main">
              <a:ext uri="{FF2B5EF4-FFF2-40B4-BE49-F238E27FC236}">
                <a16:creationId xmlns:a16="http://schemas.microsoft.com/office/drawing/2014/main" id="{3E39EBFB-BC58-4993-94C8-DF7FF2336E09}"/>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25194DCE-AABA-49F3-82E0-4D6F176E69D7}"/>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systemctl show noisy.service \</a:t>
            </a:r>
          </a:p>
          <a:p xmlns:a="http://schemas.openxmlformats.org/drawingml/2006/main">
            <a:pPr algn="l">
              <a:buNone/>
              <a:defRPr sz="1575" b="0">
                <a:solidFill>
                  <a:srgbClr val="F7F1FA"/>
                </a:solidFill>
              </a:defRPr>
            </a:pPr>
            <a:r>
              <a:rPr sz="1575" b="0">
                <a:solidFill>
                  <a:srgbClr val="F7F1FA"/>
                </a:solidFill>
              </a:rPr>
              <a:t> -p ActiveState -p Result -p ExecMainStatus</a:t>
            </a:r>
          </a:p>
          <a:p xmlns:a="http://schemas.openxmlformats.org/drawingml/2006/main">
            <a:pPr algn="l">
              <a:buNone/>
              <a:defRPr sz="1575" b="0">
                <a:solidFill>
                  <a:srgbClr val="F7F1FA"/>
                </a:solidFill>
              </a:defRPr>
            </a:pPr>
            <a:r>
              <a:rPr sz="1575" b="0">
                <a:solidFill>
                  <a:srgbClr val="F7F1FA"/>
                </a:solidFill>
              </a:rPr>
              <a:t>journalctl -u noisy.service -b \</a:t>
            </a:r>
          </a:p>
          <a:p xmlns:a="http://schemas.openxmlformats.org/drawingml/2006/main">
            <a:pPr algn="l">
              <a:buNone/>
              <a:defRPr sz="1575" b="0">
                <a:solidFill>
                  <a:srgbClr val="F7F1FA"/>
                </a:solidFill>
              </a:defRPr>
            </a:pPr>
            <a:r>
              <a:rPr sz="1575" b="0">
                <a:solidFill>
                  <a:srgbClr val="F7F1FA"/>
                </a:solidFill>
              </a:rPr>
              <a:t> --since "-10 min" -o short-iso --no-pager</a:t>
            </a:r>
          </a:p>
        </p:txBody>
      </p:sp>
      <p:sp>
        <p:nvSpPr>
          <p:cNvPr id="8" name="">
            <a:extLst xmlns:a="http://schemas.openxmlformats.org/drawingml/2006/main">
              <a:ext uri="{FF2B5EF4-FFF2-40B4-BE49-F238E27FC236}">
                <a16:creationId xmlns:a16="http://schemas.microsoft.com/office/drawing/2014/main" id="{C88E7703-02F6-4B77-A72F-3024CEB7516D}"/>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BDB3E30-45DA-44E4-A39C-F597952CC69F}"/>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show -p gives ActiveState / Result / ExecMainStatus — the symptom.</a:t>
            </a:r>
          </a:p>
        </p:txBody>
      </p:sp>
      <p:sp>
        <p:nvSpPr>
          <p:cNvPr id="10" name="">
            <a:extLst xmlns:a="http://schemas.openxmlformats.org/drawingml/2006/main">
              <a:ext uri="{FF2B5EF4-FFF2-40B4-BE49-F238E27FC236}">
                <a16:creationId xmlns:a16="http://schemas.microsoft.com/office/drawing/2014/main" id="{803199EC-11B5-4BB4-B284-B702E34EF216}"/>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EB7A863-0FE1-46F8-971F-146F4E7D8EF7}"/>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-u UNIT and -b scope to one service on this boot before you read.</a:t>
            </a:r>
          </a:p>
        </p:txBody>
      </p:sp>
      <p:sp>
        <p:nvSpPr>
          <p:cNvPr id="12" name="">
            <a:extLst xmlns:a="http://schemas.openxmlformats.org/drawingml/2006/main">
              <a:ext uri="{FF2B5EF4-FFF2-40B4-BE49-F238E27FC236}">
                <a16:creationId xmlns:a16="http://schemas.microsoft.com/office/drawing/2014/main" id="{E205B01C-FD24-4E44-995A-E94EBD367B10}"/>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DA6D73D2-6BB7-4466-96E8-79EA83621846}"/>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--since '-10 min' bounds time so anyone can repeat the query.</a:t>
            </a:r>
          </a:p>
        </p:txBody>
      </p:sp>
      <p:sp>
        <p:nvSpPr>
          <p:cNvPr id="13" name="">
            <a:extLst xmlns:a="http://schemas.openxmlformats.org/drawingml/2006/main">
              <a:ext uri="{FF2B5EF4-FFF2-40B4-BE49-F238E27FC236}">
                <a16:creationId xmlns:a16="http://schemas.microsoft.com/office/drawing/2014/main" id="{DA6D73D2-6BB7-4466-96E8-79EA83621846}"/>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Read top to bottom: the first error usually causes the later 'failed'.</a:t>
            </a:r>
          </a:p>
        </p:txBody>
      </p:sp>
      <p:sp>
        <p:nvSpPr>
          <p:cNvPr id="12" name="">
            <a:extLst xmlns:a="http://schemas.openxmlformats.org/drawingml/2006/main">
              <a:ext uri="{FF2B5EF4-FFF2-40B4-BE49-F238E27FC236}">
                <a16:creationId xmlns:a16="http://schemas.microsoft.com/office/drawing/2014/main" id="{E205B01C-FD24-4E44-995A-E94EBD367B10}"/>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647144618"/>
      </p:ext>
    </p:extLst>
  </p:cSld>
</p:sld>
</file>

<file path=ppt/slides/slide72.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ACD83C-4C05-4184-B00A-5AB64EA5752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12CABEE-0C8C-47D3-9A83-11F0B4E24798}"/>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7 · GUIDED COMMANDS</a:t>
            </a:r>
          </a:p>
        </p:txBody>
      </p:sp>
      <p:sp>
        <p:nvSpPr>
          <p:cNvPr id="3" name="">
            <a:extLst xmlns:a="http://schemas.openxmlformats.org/drawingml/2006/main">
              <a:ext uri="{FF2B5EF4-FFF2-40B4-BE49-F238E27FC236}">
                <a16:creationId xmlns:a16="http://schemas.microsoft.com/office/drawing/2014/main" id="{3A90DEDA-291A-4CCD-9749-4AAE40056CB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DBFD2457-0384-4235-B7AB-B129605F467E}"/>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72</a:t>
            </a:r>
          </a:p>
        </p:txBody>
      </p:sp>
      <p:sp>
        <p:nvSpPr>
          <p:cNvPr id="5" name="">
            <a:extLst xmlns:a="http://schemas.openxmlformats.org/drawingml/2006/main">
              <a:ext uri="{FF2B5EF4-FFF2-40B4-BE49-F238E27FC236}">
                <a16:creationId xmlns:a16="http://schemas.microsoft.com/office/drawing/2014/main" id="{9A277CD0-2FE0-439A-8D83-D87A9A7E6AB2}"/>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BA7C9593-B4B7-4D60-9E83-55F67D6238A2}"/>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0466969E-1FCC-4E1D-89F8-76C38A597BDD}"/>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journalctl -u UNIT</a:t>
            </a:r>
          </a:p>
        </p:txBody>
      </p:sp>
      <p:sp>
        <p:nvSpPr>
          <p:cNvPr id="8" name="">
            <a:extLst xmlns:a="http://schemas.openxmlformats.org/drawingml/2006/main">
              <a:ext uri="{FF2B5EF4-FFF2-40B4-BE49-F238E27FC236}">
                <a16:creationId xmlns:a16="http://schemas.microsoft.com/office/drawing/2014/main" id="{829B8524-B680-416A-B6E1-CDB621AF4C51}"/>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one service's log, e.g. journalctl -u ssh</a:t>
            </a:r>
          </a:p>
        </p:txBody>
      </p:sp>
      <p:sp>
        <p:nvSpPr>
          <p:cNvPr id="9" name="">
            <a:extLst xmlns:a="http://schemas.openxmlformats.org/drawingml/2006/main">
              <a:ext uri="{FF2B5EF4-FFF2-40B4-BE49-F238E27FC236}">
                <a16:creationId xmlns:a16="http://schemas.microsoft.com/office/drawing/2014/main" id="{85D779EB-013F-463C-8533-3484B9E78336}"/>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D89F58A-0E2E-4C03-8EFE-5CFB1CB6DA71}"/>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-b</a:t>
            </a:r>
          </a:p>
        </p:txBody>
      </p:sp>
      <p:sp>
        <p:nvSpPr>
          <p:cNvPr id="11" name="">
            <a:extLst xmlns:a="http://schemas.openxmlformats.org/drawingml/2006/main">
              <a:ext uri="{FF2B5EF4-FFF2-40B4-BE49-F238E27FC236}">
                <a16:creationId xmlns:a16="http://schemas.microsoft.com/office/drawing/2014/main" id="{ACAC1718-842B-4A30-8297-49865BE98711}"/>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this boot only ( -b -1 = previous boot )</a:t>
            </a:r>
          </a:p>
        </p:txBody>
      </p:sp>
      <p:sp>
        <p:nvSpPr>
          <p:cNvPr id="12" name="">
            <a:extLst xmlns:a="http://schemas.openxmlformats.org/drawingml/2006/main">
              <a:ext uri="{FF2B5EF4-FFF2-40B4-BE49-F238E27FC236}">
                <a16:creationId xmlns:a16="http://schemas.microsoft.com/office/drawing/2014/main" id="{62CBDE0C-6B5B-48A3-B6E4-CB6A838B7A84}"/>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2DD2B9F3-3B60-4358-B45E-A57346147478}"/>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--since/--until</a:t>
            </a:r>
          </a:p>
        </p:txBody>
      </p:sp>
      <p:sp>
        <p:nvSpPr>
          <p:cNvPr id="14" name="">
            <a:extLst xmlns:a="http://schemas.openxmlformats.org/drawingml/2006/main">
              <a:ext uri="{FF2B5EF4-FFF2-40B4-BE49-F238E27FC236}">
                <a16:creationId xmlns:a16="http://schemas.microsoft.com/office/drawing/2014/main" id="{98F52211-449F-49B2-AC6A-B2D656156630}"/>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bound time: --since '09:00' --until '09:10'</a:t>
            </a:r>
          </a:p>
        </p:txBody>
      </p:sp>
      <p:sp>
        <p:nvSpPr>
          <p:cNvPr id="15" name="">
            <a:extLst xmlns:a="http://schemas.openxmlformats.org/drawingml/2006/main">
              <a:ext uri="{FF2B5EF4-FFF2-40B4-BE49-F238E27FC236}">
                <a16:creationId xmlns:a16="http://schemas.microsoft.com/office/drawing/2014/main" id="{13F4437F-F50A-4DD9-883C-DAA064F7136C}"/>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6E764C3-4DE9-48C6-9EBE-038D8AB2F153}"/>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-p PRIORITY</a:t>
            </a:r>
          </a:p>
        </p:txBody>
      </p:sp>
      <p:sp>
        <p:nvSpPr>
          <p:cNvPr id="17" name="">
            <a:extLst xmlns:a="http://schemas.openxmlformats.org/drawingml/2006/main">
              <a:ext uri="{FF2B5EF4-FFF2-40B4-BE49-F238E27FC236}">
                <a16:creationId xmlns:a16="http://schemas.microsoft.com/office/drawing/2014/main" id="{040208D9-C1D2-454D-B94E-0E38FC91DC72}"/>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severity: err, warning, info — after scoping</a:t>
            </a:r>
          </a:p>
        </p:txBody>
      </p:sp>
      <p:sp>
        <p:nvSpPr>
          <p:cNvPr id="18" name="">
            <a:extLst xmlns:a="http://schemas.openxmlformats.org/drawingml/2006/main">
              <a:ext uri="{FF2B5EF4-FFF2-40B4-BE49-F238E27FC236}">
                <a16:creationId xmlns:a16="http://schemas.microsoft.com/office/drawing/2014/main" id="{E9BEDF7A-DF66-47D9-8932-D4019E2EEED1}"/>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A24E1C76-23A6-42B3-8989-C429E1969F38}"/>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--no-pager</a:t>
            </a:r>
          </a:p>
        </p:txBody>
      </p:sp>
      <p:sp>
        <p:nvSpPr>
          <p:cNvPr id="20" name="">
            <a:extLst xmlns:a="http://schemas.openxmlformats.org/drawingml/2006/main">
              <a:ext uri="{FF2B5EF4-FFF2-40B4-BE49-F238E27FC236}">
                <a16:creationId xmlns:a16="http://schemas.microsoft.com/office/drawing/2014/main" id="{9600099E-34E4-4F23-970F-C67B7DF6DB6C}"/>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plain output, good for scripts and copy-paste</a:t>
            </a:r>
          </a:p>
        </p:txBody>
      </p:sp>
      <p:sp>
        <p:nvSpPr>
          <p:cNvPr id="19" name="">
            <a:extLst xmlns:a="http://schemas.openxmlformats.org/drawingml/2006/main">
              <a:ext uri="{FF2B5EF4-FFF2-40B4-BE49-F238E27FC236}">
                <a16:creationId xmlns:a16="http://schemas.microsoft.com/office/drawing/2014/main" id="{A24E1C76-23A6-42B3-8989-C429E1969F38}"/>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journalctl -xe</a:t>
            </a:r>
          </a:p>
        </p:txBody>
      </p:sp>
      <p:sp>
        <p:nvSpPr>
          <p:cNvPr id="20" name="">
            <a:extLst xmlns:a="http://schemas.openxmlformats.org/drawingml/2006/main">
              <a:ext uri="{FF2B5EF4-FFF2-40B4-BE49-F238E27FC236}">
                <a16:creationId xmlns:a16="http://schemas.microsoft.com/office/drawing/2014/main" id="{9600099E-34E4-4F23-970F-C67B7DF6DB6C}"/>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recent entries with hints — a fast first look</a:t>
            </a:r>
          </a:p>
        </p:txBody>
      </p:sp>
      <p:sp>
        <p:nvSpPr>
          <p:cNvPr id="18" name="">
            <a:extLst xmlns:a="http://schemas.openxmlformats.org/drawingml/2006/main">
              <a:ext uri="{FF2B5EF4-FFF2-40B4-BE49-F238E27FC236}">
                <a16:creationId xmlns:a16="http://schemas.microsoft.com/office/drawing/2014/main" id="{E9BEDF7A-DF66-47D9-8932-D4019E2EEED1}"/>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420179608"/>
      </p:ext>
    </p:extLst>
  </p:cSld>
</p:sld>
</file>

<file path=ppt/slides/slide73.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E0F294D-6106-48F6-BCAB-DA99A23B76D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6444030-C94F-471B-BCA4-86B10BD1E369}"/>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7 · LIVE DEMO</a:t>
            </a:r>
          </a:p>
        </p:txBody>
      </p:sp>
      <p:sp>
        <p:nvSpPr>
          <p:cNvPr id="3" name="">
            <a:extLst xmlns:a="http://schemas.openxmlformats.org/drawingml/2006/main">
              <a:ext uri="{FF2B5EF4-FFF2-40B4-BE49-F238E27FC236}">
                <a16:creationId xmlns:a16="http://schemas.microsoft.com/office/drawing/2014/main" id="{E142ADA7-DB5F-4621-9C90-65150710654C}"/>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401B474A-51C2-41B0-A2DF-F50FC4BED548}"/>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73</a:t>
            </a:r>
          </a:p>
        </p:txBody>
      </p:sp>
      <p:sp>
        <p:nvSpPr>
          <p:cNvPr id="5" name="">
            <a:extLst xmlns:a="http://schemas.openxmlformats.org/drawingml/2006/main">
              <a:ext uri="{FF2B5EF4-FFF2-40B4-BE49-F238E27FC236}">
                <a16:creationId xmlns:a16="http://schemas.microsoft.com/office/drawing/2014/main" id="{B4424ED8-ABA5-4873-A404-158D2DC4FB41}"/>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the line that says 'failed' is not the cause</a:t>
            </a:r>
          </a:p>
        </p:txBody>
      </p:sp>
      <p:sp>
        <p:nvSpPr>
          <p:cNvPr id="6" name="">
            <a:extLst xmlns:a="http://schemas.openxmlformats.org/drawingml/2006/main">
              <a:ext uri="{FF2B5EF4-FFF2-40B4-BE49-F238E27FC236}">
                <a16:creationId xmlns:a16="http://schemas.microsoft.com/office/drawing/2014/main" id="{AC72A887-8D83-4A7F-9B90-3E827EA411FF}"/>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A service exits 17: we find the line that caused it, not the 'failed' line after it.</a:t>
            </a:r>
          </a:p>
        </p:txBody>
      </p:sp>
      <p:sp>
        <p:nvSpPr>
          <p:cNvPr id="7" name="">
            <a:extLst xmlns:a="http://schemas.openxmlformats.org/drawingml/2006/main">
              <a:ext uri="{FF2B5EF4-FFF2-40B4-BE49-F238E27FC236}">
                <a16:creationId xmlns:a16="http://schemas.microsoft.com/office/drawing/2014/main" id="{AC74DEEB-A292-4F87-86BA-D462237C5090}"/>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8E32525-1754-4BB0-B002-B367218DCCD3}"/>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Start a service that records STALE_CACHE and exits 17; identify the causal record before the later failed-state messages.</a:t>
            </a:r>
          </a:p>
        </p:txBody>
      </p:sp>
      <p:sp>
        <p:nvSpPr>
          <p:cNvPr id="9" name="">
            <a:extLst xmlns:a="http://schemas.openxmlformats.org/drawingml/2006/main">
              <a:ext uri="{FF2B5EF4-FFF2-40B4-BE49-F238E27FC236}">
                <a16:creationId xmlns:a16="http://schemas.microsoft.com/office/drawing/2014/main" id="{24C659CA-06C1-403A-8ABE-27C8B3BB9C19}"/>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77CEAFCA-F3EB-4474-966E-57C649825ACB}"/>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start noisy-cache; systemctl status — the symptom summary</a:t>
            </a:r>
          </a:p>
        </p:txBody>
      </p:sp>
      <p:sp>
        <p:nvSpPr>
          <p:cNvPr id="11" name="">
            <a:extLst xmlns:a="http://schemas.openxmlformats.org/drawingml/2006/main">
              <a:ext uri="{FF2B5EF4-FFF2-40B4-BE49-F238E27FC236}">
                <a16:creationId xmlns:a16="http://schemas.microsoft.com/office/drawing/2014/main" id="{68A7F836-56C2-4420-9D10-6A284E17D57E}"/>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EBD03C2-0821-4EB0-A19E-6221555508C9}"/>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show -p Result -p ExecMainStatus — exit code 17, recorded</a:t>
            </a:r>
          </a:p>
        </p:txBody>
      </p:sp>
      <p:sp>
        <p:nvSpPr>
          <p:cNvPr id="13" name="">
            <a:extLst xmlns:a="http://schemas.openxmlformats.org/drawingml/2006/main">
              <a:ext uri="{FF2B5EF4-FFF2-40B4-BE49-F238E27FC236}">
                <a16:creationId xmlns:a16="http://schemas.microsoft.com/office/drawing/2014/main" id="{7B36F95E-531A-420F-819F-1075A45397BE}"/>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696FD71D-2536-4B23-ADE2-9FD6C3AA1B4F}"/>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journalctl -u noisy-cache -b --since '-5 min' — read the window in order</a:t>
            </a:r>
          </a:p>
        </p:txBody>
      </p:sp>
      <p:sp>
        <p:nvSpPr>
          <p:cNvPr id="15" name="">
            <a:extLst xmlns:a="http://schemas.openxmlformats.org/drawingml/2006/main">
              <a:ext uri="{FF2B5EF4-FFF2-40B4-BE49-F238E27FC236}">
                <a16:creationId xmlns:a16="http://schemas.microsoft.com/office/drawing/2014/main" id="{69575DFE-5647-40EB-8758-E4403DDE9B47}"/>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A9B26C94-328E-4C52-A881-844308EBEDA0}"/>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The earliest causal record: STALE_CACHE — above the later 'failed' lines</a:t>
            </a:r>
          </a:p>
        </p:txBody>
      </p:sp>
      <p:sp>
        <p:nvSpPr>
          <p:cNvPr id="17" name="">
            <a:extLst xmlns:a="http://schemas.openxmlformats.org/drawingml/2006/main">
              <a:ext uri="{FF2B5EF4-FFF2-40B4-BE49-F238E27FC236}">
                <a16:creationId xmlns:a16="http://schemas.microsoft.com/office/drawing/2014/main" id="{BB257062-F48B-4C86-90E3-434A291B2F86}"/>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will the cause sit near the top of the window, or the bottom?</a:t>
            </a:r>
          </a:p>
        </p:txBody>
      </p:sp>
    </p:spTree>
    <p:extLst>
      <p:ext uri="{BB962C8B-B14F-4D97-AF65-F5344CB8AC3E}">
        <p14:creationId xmlns:p14="http://schemas.microsoft.com/office/powerpoint/2010/main" val="1607449929"/>
      </p:ext>
    </p:extLst>
  </p:cSld>
</p:sld>
</file>

<file path=ppt/slides/slide74.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E48B1C-DB99-47C1-A761-F1C2B961503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4C8D79D-8699-486F-8E87-26323E4EE50D}"/>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7</a:t>
            </a:r>
          </a:p>
        </p:txBody>
      </p:sp>
      <p:sp>
        <p:nvSpPr>
          <p:cNvPr id="3" name="">
            <a:extLst xmlns:a="http://schemas.openxmlformats.org/drawingml/2006/main">
              <a:ext uri="{FF2B5EF4-FFF2-40B4-BE49-F238E27FC236}">
                <a16:creationId xmlns:a16="http://schemas.microsoft.com/office/drawing/2014/main" id="{80F65B72-7CB1-430E-8733-7EB3503085B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B673B66A-91EF-4A6F-B43E-F2E52A9BDE4F}"/>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74</a:t>
            </a:r>
          </a:p>
        </p:txBody>
      </p:sp>
      <p:sp>
        <p:nvSpPr>
          <p:cNvPr id="5" name="">
            <a:extLst xmlns:a="http://schemas.openxmlformats.org/drawingml/2006/main">
              <a:ext uri="{FF2B5EF4-FFF2-40B4-BE49-F238E27FC236}">
                <a16:creationId xmlns:a16="http://schemas.microsoft.com/office/drawing/2014/main" id="{667BE31E-CE06-47C0-9976-B49AE1D0747B}"/>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Logs, journal scope, and causal events</a:t>
            </a:r>
          </a:p>
        </p:txBody>
      </p:sp>
      <p:sp>
        <p:nvSpPr>
          <p:cNvPr id="6" name="">
            <a:extLst xmlns:a="http://schemas.openxmlformats.org/drawingml/2006/main">
              <a:ext uri="{FF2B5EF4-FFF2-40B4-BE49-F238E27FC236}">
                <a16:creationId xmlns:a16="http://schemas.microsoft.com/office/drawing/2014/main" id="{EBA1AE38-9CDD-4D1D-8559-F9A6852C56E3}"/>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20 minutes: preserve the evidence and explain exit code 42.</a:t>
            </a:r>
          </a:p>
        </p:txBody>
      </p:sp>
      <p:sp>
        <p:nvSpPr>
          <p:cNvPr id="7" name="">
            <a:extLst xmlns:a="http://schemas.openxmlformats.org/drawingml/2006/main">
              <a:ext uri="{FF2B5EF4-FFF2-40B4-BE49-F238E27FC236}">
                <a16:creationId xmlns:a16="http://schemas.microsoft.com/office/drawing/2014/main" id="{A5459259-DBDC-4D9B-83BD-3F60505F9BE9}"/>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0480D88-E1D2-498F-B8EE-5D16D1A9D764}"/>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Investigate a disk-threshold incident, preserve unit-scoped journal evidence, and explain why exit code 42 occurred.</a:t>
            </a:r>
          </a:p>
        </p:txBody>
      </p:sp>
      <p:sp>
        <p:nvSpPr>
          <p:cNvPr id="9" name="">
            <a:extLst xmlns:a="http://schemas.openxmlformats.org/drawingml/2006/main">
              <a:ext uri="{FF2B5EF4-FFF2-40B4-BE49-F238E27FC236}">
                <a16:creationId xmlns:a16="http://schemas.microsoft.com/office/drawing/2014/main" id="{1FE93BB3-DE2A-48A6-AABF-2CC65A6C292F}"/>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816B905-ECFB-4C28-A0BB-6A7F6448D336}"/>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20 minutes</a:t>
            </a:r>
          </a:p>
        </p:txBody>
      </p:sp>
      <p:sp>
        <p:nvSpPr>
          <p:cNvPr id="11" name="">
            <a:extLst xmlns:a="http://schemas.openxmlformats.org/drawingml/2006/main">
              <a:ext uri="{FF2B5EF4-FFF2-40B4-BE49-F238E27FC236}">
                <a16:creationId xmlns:a16="http://schemas.microsoft.com/office/drawing/2014/main" id="{538A37DA-92FE-4487-BF62-360F9BD8FF9F}"/>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21408B4-6976-4A1A-A9BC-A589C7C289BE}"/>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176DE2FD-E87E-458B-81EA-A39C2791AB42}"/>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989CB14-C4D2-4656-AD69-F844054EB5DC}"/>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FEE40FE8-65D7-4D16-8504-7721336EBE3D}"/>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948C8A9-1A71-4F04-BF94-495784173F68}"/>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F4D6D58D-3FFB-48EE-AAA0-F1435D4C0427}"/>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2139143086"/>
      </p:ext>
    </p:extLst>
  </p:cSld>
</p:sld>
</file>

<file path=ppt/slides/slide75.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28E28B-038E-4D11-BC39-CBD423EA58F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579B96D-2B0D-4741-8087-B548FF6ADA62}"/>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7 · DEBRIEF</a:t>
            </a:r>
          </a:p>
        </p:txBody>
      </p:sp>
      <p:sp>
        <p:nvSpPr>
          <p:cNvPr id="3" name="">
            <a:extLst xmlns:a="http://schemas.openxmlformats.org/drawingml/2006/main">
              <a:ext uri="{FF2B5EF4-FFF2-40B4-BE49-F238E27FC236}">
                <a16:creationId xmlns:a16="http://schemas.microsoft.com/office/drawing/2014/main" id="{70EEC99F-E945-4A63-BC56-2508F6DAB157}"/>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13FE856F-0691-4B34-A320-59182682D62C}"/>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75</a:t>
            </a:r>
          </a:p>
        </p:txBody>
      </p:sp>
      <p:sp>
        <p:nvSpPr>
          <p:cNvPr id="5" name="">
            <a:extLst xmlns:a="http://schemas.openxmlformats.org/drawingml/2006/main">
              <a:ext uri="{FF2B5EF4-FFF2-40B4-BE49-F238E27FC236}">
                <a16:creationId xmlns:a16="http://schemas.microsoft.com/office/drawing/2014/main" id="{11B8A261-61C7-4C11-BD75-C4B62636EF3D}"/>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82C4F096-934E-41A8-9EC3-D2179661D30C}"/>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A7F4D90F-DEA9-4BD0-BBAE-A9993DE78454}"/>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44667C8-EE00-49E2-A71C-051F24D96253}"/>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The journal connects state to a causal sequence. Next, systemd declarations and relationships explain what the manager attempted to do.</a:t>
            </a:r>
          </a:p>
        </p:txBody>
      </p:sp>
      <p:sp>
        <p:nvSpPr>
          <p:cNvPr id="9" name="">
            <a:extLst xmlns:a="http://schemas.openxmlformats.org/drawingml/2006/main">
              <a:ext uri="{FF2B5EF4-FFF2-40B4-BE49-F238E27FC236}">
                <a16:creationId xmlns:a16="http://schemas.microsoft.com/office/drawing/2014/main" id="{63FDEA9A-F136-4653-B0CF-843953D32466}"/>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E3247F1A-EE5F-433D-83F0-648C9CA49111}"/>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AAA22C2E-5354-4AF4-9294-90367225E3B8}"/>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501BCB3-EB69-4D97-8A11-1ED5E19FBFAE}"/>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5122DE64-3BE5-4E2D-A31F-37AE80E9F42E}"/>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765F915F-1FDA-4F0E-A36B-A63AF0E40CB7}"/>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1133865878"/>
      </p:ext>
    </p:extLst>
  </p:cSld>
</p:sld>
</file>

<file path=ppt/slides/slide76.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92C065-1AF0-408B-9A99-16C92C8A8BA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5CE862A-1E7E-4A6E-84C4-70E161CD3B19}"/>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8</a:t>
            </a:r>
          </a:p>
        </p:txBody>
      </p:sp>
      <p:sp>
        <p:nvSpPr>
          <p:cNvPr id="3" name="">
            <a:extLst xmlns:a="http://schemas.openxmlformats.org/drawingml/2006/main">
              <a:ext uri="{FF2B5EF4-FFF2-40B4-BE49-F238E27FC236}">
                <a16:creationId xmlns:a16="http://schemas.microsoft.com/office/drawing/2014/main" id="{DD23F5B5-5685-49F5-BB06-0381986B1CAC}"/>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0FB0EBC9-6794-48F6-8E9B-96311C0F3D5A}"/>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76</a:t>
            </a:r>
          </a:p>
        </p:txBody>
      </p:sp>
      <p:sp>
        <p:nvSpPr>
          <p:cNvPr id="5" name="">
            <a:extLst xmlns:a="http://schemas.openxmlformats.org/drawingml/2006/main">
              <a:ext uri="{FF2B5EF4-FFF2-40B4-BE49-F238E27FC236}">
                <a16:creationId xmlns:a16="http://schemas.microsoft.com/office/drawing/2014/main" id="{CE886B44-0FCB-4D2A-BDA0-9C5D16FEC863}"/>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08</a:t>
            </a:r>
          </a:p>
        </p:txBody>
      </p:sp>
      <p:sp>
        <p:nvSpPr>
          <p:cNvPr id="6" name="">
            <a:extLst xmlns:a="http://schemas.openxmlformats.org/drawingml/2006/main">
              <a:ext uri="{FF2B5EF4-FFF2-40B4-BE49-F238E27FC236}">
                <a16:creationId xmlns:a16="http://schemas.microsoft.com/office/drawing/2014/main" id="{7CEA7454-D09C-4B69-95B5-D9912A2E3A35}"/>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systemd declarations, dependencies, ordering, and diagnosis</a:t>
            </a:r>
          </a:p>
        </p:txBody>
      </p:sp>
      <p:sp>
        <p:nvSpPr>
          <p:cNvPr id="7" name="">
            <a:extLst xmlns:a="http://schemas.openxmlformats.org/drawingml/2006/main">
              <a:ext uri="{FF2B5EF4-FFF2-40B4-BE49-F238E27FC236}">
                <a16:creationId xmlns:a16="http://schemas.microsoft.com/office/drawing/2014/main" id="{B4902DF2-CF1B-4533-9164-C5BF91136453}"/>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How does systemd turn a unit declaration into runtime behavior?</a:t>
            </a:r>
          </a:p>
        </p:txBody>
      </p:sp>
      <p:sp>
        <p:nvSpPr>
          <p:cNvPr id="8" name="">
            <a:extLst xmlns:a="http://schemas.openxmlformats.org/drawingml/2006/main">
              <a:ext uri="{FF2B5EF4-FFF2-40B4-BE49-F238E27FC236}">
                <a16:creationId xmlns:a16="http://schemas.microsoft.com/office/drawing/2014/main" id="{97A40D4E-B688-4966-BCF9-DCA95BECC621}"/>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4251D86-4BAD-475F-A1FF-39B85401ABCA}"/>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systemd · Ubuntu 24.04</a:t>
            </a:r>
          </a:p>
        </p:txBody>
      </p:sp>
    </p:spTree>
    <p:extLst>
      <p:ext uri="{BB962C8B-B14F-4D97-AF65-F5344CB8AC3E}">
        <p14:creationId xmlns:p14="http://schemas.microsoft.com/office/powerpoint/2010/main" val="1062907142"/>
      </p:ext>
    </p:extLst>
  </p:cSld>
</p:sld>
</file>

<file path=ppt/slides/slide77.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A195EF-07A2-4371-8F4C-35D270C4EAB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E8B94E3-7768-4217-BFAF-EBC815ACDABE}"/>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8 · MODEL</a:t>
            </a:r>
          </a:p>
        </p:txBody>
      </p:sp>
      <p:sp>
        <p:nvSpPr>
          <p:cNvPr id="3" name="">
            <a:extLst xmlns:a="http://schemas.openxmlformats.org/drawingml/2006/main">
              <a:ext uri="{FF2B5EF4-FFF2-40B4-BE49-F238E27FC236}">
                <a16:creationId xmlns:a16="http://schemas.microsoft.com/office/drawing/2014/main" id="{4F6A5D6B-0119-44B0-9533-4DE2AD6D83E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9714CE73-920E-415F-8B42-3D06B144645B}"/>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77</a:t>
            </a:r>
          </a:p>
        </p:txBody>
      </p:sp>
      <p:sp>
        <p:nvSpPr>
          <p:cNvPr id="5" name="">
            <a:extLst xmlns:a="http://schemas.openxmlformats.org/drawingml/2006/main">
              <a:ext uri="{FF2B5EF4-FFF2-40B4-BE49-F238E27FC236}">
                <a16:creationId xmlns:a16="http://schemas.microsoft.com/office/drawing/2014/main" id="{074D1FB3-85D1-42A3-8699-60FF7B8D1162}"/>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unit declaration is not runtime state</a:t>
            </a:r>
          </a:p>
        </p:txBody>
      </p:sp>
      <p:sp>
        <p:nvSpPr>
          <p:cNvPr id="6" name="">
            <a:extLst xmlns:a="http://schemas.openxmlformats.org/drawingml/2006/main">
              <a:ext uri="{FF2B5EF4-FFF2-40B4-BE49-F238E27FC236}">
                <a16:creationId xmlns:a16="http://schemas.microsoft.com/office/drawing/2014/main" id="{8ABA3042-D7BB-4E9C-91B1-6402D668D30A}"/>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manager tries to reach the declared state and records every transition.</a:t>
            </a:r>
          </a:p>
        </p:txBody>
      </p:sp>
      <p:sp>
        <p:nvSpPr>
          <p:cNvPr id="7" name="">
            <a:extLst xmlns:a="http://schemas.openxmlformats.org/drawingml/2006/main">
              <a:ext uri="{FF2B5EF4-FFF2-40B4-BE49-F238E27FC236}">
                <a16:creationId xmlns:a16="http://schemas.microsoft.com/office/drawing/2014/main" id="{527F61FE-C3BC-4A0A-ABB4-F8EA7DA5404D}"/>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C2409F2-C8A4-4B21-9AC6-98DAB5060AEB}"/>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unit file declares command, identity, working directory, dependencies, and restart policy.</a:t>
            </a:r>
          </a:p>
        </p:txBody>
      </p:sp>
      <p:sp>
        <p:nvSpPr>
          <p:cNvPr id="9" name="">
            <a:extLst xmlns:a="http://schemas.openxmlformats.org/drawingml/2006/main">
              <a:ext uri="{FF2B5EF4-FFF2-40B4-BE49-F238E27FC236}">
                <a16:creationId xmlns:a16="http://schemas.microsoft.com/office/drawing/2014/main" id="{057DFDF2-2CEB-46A8-BAA2-5115149A1285}"/>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69B8B669-23CA-41A7-A410-0E6F2886B10E}"/>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Loaded, enabled, active, and successful are four independent facts; 'status' summarises symptoms only.</a:t>
            </a:r>
          </a:p>
        </p:txBody>
      </p:sp>
    </p:spTree>
    <p:extLst>
      <p:ext uri="{BB962C8B-B14F-4D97-AF65-F5344CB8AC3E}">
        <p14:creationId xmlns:p14="http://schemas.microsoft.com/office/powerpoint/2010/main" val="1397470558"/>
      </p:ext>
    </p:extLst>
  </p:cSld>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FFEE9BE1-4D50-4CAB-982A-F55878378BF6}"/>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CA1BBF85-D004-45BB-9613-9E2C9897DF93}"/>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8 · PICTURE THE STATES</a:t>
            </a:r>
          </a:p>
        </p:txBody>
      </p:sp>
      <p:sp>
        <p:nvSpPr>
          <p:cNvPr id="3" name="">
            <a:extLst>
              <a:ext uri="{FF2B5EF4-FFF2-40B4-BE49-F238E27FC236}">
                <a16:creationId xmlns:a16="http://schemas.microsoft.com/office/drawing/2014/main" id="{5F662202-9FA9-4AB0-AED2-A0D65A10469A}"/>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4CC7DD16-74AC-43DE-8878-FD397FA49563}"/>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78</a:t>
            </a:r>
          </a:p>
        </p:txBody>
      </p:sp>
      <p:sp>
        <p:nvSpPr>
          <p:cNvPr id="5" name="">
            <a:extLst>
              <a:ext uri="{FF2B5EF4-FFF2-40B4-BE49-F238E27FC236}">
                <a16:creationId xmlns:a16="http://schemas.microsoft.com/office/drawing/2014/main" id="{D816E424-DB18-483E-862C-4DFDC9891F14}"/>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Four states, and needs vs order</a:t>
            </a:r>
          </a:p>
        </p:txBody>
      </p:sp>
      <p:pic>
        <p:nvPicPr>
          <p:cNvPr id="15" name="Picture 14" descr="systemd_states.png"/>
          <p:cNvPicPr>
            <a:picLocks noChangeAspect="1"/>
          </p:cNvPicPr>
          <p:nvPr/>
        </p:nvPicPr>
        <p:blipFill>
          <a:blip r:embed="rId2"/>
          <a:stretch>
            <a:fillRect/>
          </a:stretch>
        </p:blipFill>
        <p:spPr>
          <a:xfrm>
            <a:off x="1597589" y="1444752"/>
            <a:ext cx="8996516" cy="4572000"/>
          </a:xfrm>
          <a:prstGeom prst="rect">
            <a:avLst/>
          </a:prstGeom>
        </p:spPr>
      </p:pic>
      <p:sp>
        <p:nvSpPr>
          <p:cNvPr id="16" name="TextBox 15"/>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Loaded, enabled, active, successful are independent — and Requires is not After.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E1A195EF-07A2-4371-8F4C-35D270C4EAB6}"/>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BE8B94E3-7768-4217-BFAF-EBC815ACDABE}"/>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8 · MODEL</a:t>
            </a:r>
          </a:p>
        </p:txBody>
      </p:sp>
      <p:sp>
        <p:nvSpPr>
          <p:cNvPr id="3" name="">
            <a:extLst>
              <a:ext uri="{FF2B5EF4-FFF2-40B4-BE49-F238E27FC236}">
                <a16:creationId xmlns:a16="http://schemas.microsoft.com/office/drawing/2014/main" id="{4F6A5D6B-0119-44B0-9533-4DE2AD6D83E9}"/>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9714CE73-920E-415F-8B42-3D06B144645B}"/>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79</a:t>
            </a:r>
          </a:p>
        </p:txBody>
      </p:sp>
      <p:sp>
        <p:nvSpPr>
          <p:cNvPr id="5" name="">
            <a:extLst>
              <a:ext uri="{FF2B5EF4-FFF2-40B4-BE49-F238E27FC236}">
                <a16:creationId xmlns:a16="http://schemas.microsoft.com/office/drawing/2014/main" id="{074D1FB3-85D1-42A3-8699-60FF7B8D1162}"/>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Requirement and ordering are separate relations</a:t>
            </a:r>
          </a:p>
        </p:txBody>
      </p:sp>
      <p:sp>
        <p:nvSpPr>
          <p:cNvPr id="6" name="">
            <a:extLst>
              <a:ext uri="{FF2B5EF4-FFF2-40B4-BE49-F238E27FC236}">
                <a16:creationId xmlns:a16="http://schemas.microsoft.com/office/drawing/2014/main" id="{8ABA3042-D7BB-4E9C-91B1-6402D668D30A}"/>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Requires= and Wants= select units; After= and Before= only sequence them.</a:t>
            </a:r>
          </a:p>
        </p:txBody>
      </p:sp>
      <p:sp>
        <p:nvSpPr>
          <p:cNvPr id="7" name="">
            <a:extLst>
              <a:ext uri="{FF2B5EF4-FFF2-40B4-BE49-F238E27FC236}">
                <a16:creationId xmlns:a16="http://schemas.microsoft.com/office/drawing/2014/main" id="{527F61FE-C3BC-4A0A-ABB4-F8EA7DA5404D}"/>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CC2409F2-C8A4-4B21-9AC6-98DAB5060AEB}"/>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Ordering never pulls a missing unit into the transaction.</a:t>
            </a:r>
          </a:p>
        </p:txBody>
      </p:sp>
      <p:sp>
        <p:nvSpPr>
          <p:cNvPr id="9" name="">
            <a:extLst>
              <a:ext uri="{FF2B5EF4-FFF2-40B4-BE49-F238E27FC236}">
                <a16:creationId xmlns:a16="http://schemas.microsoft.com/office/drawing/2014/main" id="{057DFDF2-2CEB-46A8-BAA2-5115149A1285}"/>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69B8B669-23CA-41A7-A410-0E6F2886B10E}"/>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After=network.target sequences startup; it does not make the network application-ready.</a:t>
            </a:r>
          </a:p>
        </p:txBody>
      </p:sp>
    </p:spTree>
  </p:cSld>
  <p:clrMapOvr>
    <a:masterClrMapping/>
  </p:clrMapOvr>
</p:sld>
</file>

<file path=ppt/slides/slide80.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B99706-F4AB-47B7-B2A9-E8EB5A1B526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2FCE8AB-16F0-4897-9F5B-9E4C257E523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8 · BUILD THE MODEL</a:t>
            </a:r>
          </a:p>
        </p:txBody>
      </p:sp>
      <p:sp>
        <p:nvSpPr>
          <p:cNvPr id="3" name="">
            <a:extLst xmlns:a="http://schemas.openxmlformats.org/drawingml/2006/main">
              <a:ext uri="{FF2B5EF4-FFF2-40B4-BE49-F238E27FC236}">
                <a16:creationId xmlns:a16="http://schemas.microsoft.com/office/drawing/2014/main" id="{D7D0E0E6-D02A-4DA6-B618-E165A1C05A84}"/>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16672937-BC4C-467C-9B12-915A432AA7C7}"/>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80</a:t>
            </a:r>
          </a:p>
        </p:txBody>
      </p:sp>
      <p:sp>
        <p:nvSpPr>
          <p:cNvPr id="5" name="">
            <a:extLst xmlns:a="http://schemas.openxmlformats.org/drawingml/2006/main">
              <a:ext uri="{FF2B5EF4-FFF2-40B4-BE49-F238E27FC236}">
                <a16:creationId xmlns:a16="http://schemas.microsoft.com/office/drawing/2014/main" id="{43FAB1DF-4B66-4B4A-93DF-6DC3A5BEAFA2}"/>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systemd builds a transaction before starting processes</a:t>
            </a:r>
          </a:p>
        </p:txBody>
      </p:sp>
      <p:sp>
        <p:nvSpPr>
          <p:cNvPr id="6" name="">
            <a:extLst xmlns:a="http://schemas.openxmlformats.org/drawingml/2006/main">
              <a:ext uri="{FF2B5EF4-FFF2-40B4-BE49-F238E27FC236}">
                <a16:creationId xmlns:a16="http://schemas.microsoft.com/office/drawing/2014/main" id="{4DF3420A-8442-439E-B9AD-F6EC1A35C11B}"/>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Requires= does not mean “run first”; After= does not mean “start it”.</a:t>
            </a:r>
          </a:p>
        </p:txBody>
      </p:sp>
      <p:sp>
        <p:nvSpPr>
          <p:cNvPr id="7" name="">
            <a:extLst xmlns:a="http://schemas.openxmlformats.org/drawingml/2006/main">
              <a:ext uri="{FF2B5EF4-FFF2-40B4-BE49-F238E27FC236}">
                <a16:creationId xmlns:a16="http://schemas.microsoft.com/office/drawing/2014/main" id="{DE2BFDEB-5CAF-4D71-9F46-2B906848928F}"/>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49158EC-B8DF-4F66-B865-C99903AF2DED}"/>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Activation relationships decide which units join the transaction</a:t>
            </a:r>
          </a:p>
        </p:txBody>
      </p:sp>
      <p:sp>
        <p:nvSpPr>
          <p:cNvPr id="9" name="">
            <a:extLst xmlns:a="http://schemas.openxmlformats.org/drawingml/2006/main">
              <a:ext uri="{FF2B5EF4-FFF2-40B4-BE49-F238E27FC236}">
                <a16:creationId xmlns:a16="http://schemas.microsoft.com/office/drawing/2014/main" id="{7BC54945-893B-496E-892D-3909AD8A68D8}"/>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F7F76B5D-0495-4DE3-B880-0E02030C38A6}"/>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Ordering relationships decide which job runs before another</a:t>
            </a:r>
          </a:p>
        </p:txBody>
      </p:sp>
      <p:sp>
        <p:nvSpPr>
          <p:cNvPr id="11" name="">
            <a:extLst xmlns:a="http://schemas.openxmlformats.org/drawingml/2006/main">
              <a:ext uri="{FF2B5EF4-FFF2-40B4-BE49-F238E27FC236}">
                <a16:creationId xmlns:a16="http://schemas.microsoft.com/office/drawing/2014/main" id="{EBABE690-363D-406B-B476-510233B96F19}"/>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65E6D4D5-7F67-4DF8-BCF1-6A96D27A05D2}"/>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Conditions and prerequisites can stop execution before ExecStart</a:t>
            </a:r>
          </a:p>
        </p:txBody>
      </p:sp>
      <p:sp>
        <p:nvSpPr>
          <p:cNvPr id="13" name="">
            <a:extLst xmlns:a="http://schemas.openxmlformats.org/drawingml/2006/main">
              <a:ext uri="{FF2B5EF4-FFF2-40B4-BE49-F238E27FC236}">
                <a16:creationId xmlns:a16="http://schemas.microsoft.com/office/drawing/2014/main" id="{90A02905-43A6-4652-8005-CBDE8DFDE7D1}"/>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7145BC3B-1A0F-4BB8-A83F-03069460E2AB}"/>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Every transition leaves manager and application evidence</a:t>
            </a:r>
          </a:p>
        </p:txBody>
      </p:sp>
    </p:spTree>
    <p:extLst>
      <p:ext uri="{BB962C8B-B14F-4D97-AF65-F5344CB8AC3E}">
        <p14:creationId xmlns:p14="http://schemas.microsoft.com/office/powerpoint/2010/main" val="1426036261"/>
      </p:ext>
    </p:extLst>
  </p:cSld>
</p:sld>
</file>

<file path=ppt/slides/slide8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FEE9BE1-4D50-4CAB-982A-F55878378BF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A1BBF85-D004-45BB-9613-9E2C9897DF93}"/>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8 · WORKED EXAMPLE</a:t>
            </a:r>
          </a:p>
        </p:txBody>
      </p:sp>
      <p:sp>
        <p:nvSpPr>
          <p:cNvPr id="3" name="">
            <a:extLst xmlns:a="http://schemas.openxmlformats.org/drawingml/2006/main">
              <a:ext uri="{FF2B5EF4-FFF2-40B4-BE49-F238E27FC236}">
                <a16:creationId xmlns:a16="http://schemas.microsoft.com/office/drawing/2014/main" id="{5F662202-9FA9-4AB0-AED2-A0D65A10469A}"/>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4CC7DD16-74AC-43DE-8878-FD397FA49563}"/>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81</a:t>
            </a:r>
          </a:p>
        </p:txBody>
      </p:sp>
      <p:sp>
        <p:nvSpPr>
          <p:cNvPr id="5" name="">
            <a:extLst xmlns:a="http://schemas.openxmlformats.org/drawingml/2006/main">
              <a:ext uri="{FF2B5EF4-FFF2-40B4-BE49-F238E27FC236}">
                <a16:creationId xmlns:a16="http://schemas.microsoft.com/office/drawing/2014/main" id="{D816E424-DB18-483E-862C-4DFDC9891F14}"/>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Read diagnosis from declaration to behavior</a:t>
            </a:r>
          </a:p>
        </p:txBody>
      </p:sp>
      <p:sp>
        <p:nvSpPr>
          <p:cNvPr id="6" name="">
            <a:extLst xmlns:a="http://schemas.openxmlformats.org/drawingml/2006/main">
              <a:ext uri="{FF2B5EF4-FFF2-40B4-BE49-F238E27FC236}">
                <a16:creationId xmlns:a16="http://schemas.microsoft.com/office/drawing/2014/main" id="{4DB3AC08-FBDC-4EED-9CDF-CE7986986358}"/>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4015769-795A-461C-9771-82CEDE43350E}"/>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systemctl status demo-api --no-pager</a:t>
            </a:r>
          </a:p>
          <a:p xmlns:a="http://schemas.openxmlformats.org/drawingml/2006/main">
            <a:pPr algn="l">
              <a:buNone/>
              <a:defRPr sz="1575" b="0">
                <a:solidFill>
                  <a:srgbClr val="F7F1FA"/>
                </a:solidFill>
              </a:defRPr>
            </a:pPr>
            <a:r>
              <a:rPr sz="1575" b="0">
                <a:solidFill>
                  <a:srgbClr val="F7F1FA"/>
                </a:solidFill>
              </a:rPr>
              <a:t>journalctl -u demo-api -b --no-pager</a:t>
            </a:r>
          </a:p>
          <a:p xmlns:a="http://schemas.openxmlformats.org/drawingml/2006/main">
            <a:pPr algn="l">
              <a:buNone/>
              <a:defRPr sz="1575" b="0">
                <a:solidFill>
                  <a:srgbClr val="F7F1FA"/>
                </a:solidFill>
              </a:defRPr>
            </a:pPr>
            <a:r>
              <a:rPr sz="1575" b="0">
                <a:solidFill>
                  <a:srgbClr val="F7F1FA"/>
                </a:solidFill>
              </a:rPr>
              <a:t>systemctl cat demo-api</a:t>
            </a:r>
          </a:p>
          <a:p xmlns:a="http://schemas.openxmlformats.org/drawingml/2006/main">
            <a:pPr algn="l">
              <a:buNone/>
              <a:defRPr sz="1575" b="0">
                <a:solidFill>
                  <a:srgbClr val="F7F1FA"/>
                </a:solidFill>
              </a:defRPr>
            </a:pPr>
            <a:r>
              <a:rPr sz="1575" b="0">
                <a:solidFill>
                  <a:srgbClr val="F7F1FA"/>
                </a:solidFill>
              </a:rPr>
              <a:t>systemctl show demo-api -p Wants -p Requires -p After</a:t>
            </a:r>
          </a:p>
        </p:txBody>
      </p:sp>
      <p:sp>
        <p:nvSpPr>
          <p:cNvPr id="8" name="">
            <a:extLst xmlns:a="http://schemas.openxmlformats.org/drawingml/2006/main">
              <a:ext uri="{FF2B5EF4-FFF2-40B4-BE49-F238E27FC236}">
                <a16:creationId xmlns:a16="http://schemas.microsoft.com/office/drawing/2014/main" id="{29CB96AA-172F-4654-8F2B-F0344ED40B87}"/>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FAABFDE7-FCB6-4B1A-AF13-A68C918CA272}"/>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status: the symptom line plus a few recent log entries.</a:t>
            </a:r>
          </a:p>
        </p:txBody>
      </p:sp>
      <p:sp>
        <p:nvSpPr>
          <p:cNvPr id="10" name="">
            <a:extLst xmlns:a="http://schemas.openxmlformats.org/drawingml/2006/main">
              <a:ext uri="{FF2B5EF4-FFF2-40B4-BE49-F238E27FC236}">
                <a16:creationId xmlns:a16="http://schemas.microsoft.com/office/drawing/2014/main" id="{36F418A3-BDFE-4EB0-A453-872A1A611481}"/>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CB596BF-A525-4C1A-B2CD-453E976D54D5}"/>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journalctl -u: the transitions and the real failure message.</a:t>
            </a:r>
          </a:p>
        </p:txBody>
      </p:sp>
      <p:sp>
        <p:nvSpPr>
          <p:cNvPr id="12" name="">
            <a:extLst xmlns:a="http://schemas.openxmlformats.org/drawingml/2006/main">
              <a:ext uri="{FF2B5EF4-FFF2-40B4-BE49-F238E27FC236}">
                <a16:creationId xmlns:a16="http://schemas.microsoft.com/office/drawing/2014/main" id="{80851119-2908-400C-AF20-B568657ED3DB}"/>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826BD2B2-49E2-4FC2-8F69-DAC0A93A9765}"/>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systemctl cat: the effective unit, drop-ins included.</a:t>
            </a:r>
          </a:p>
        </p:txBody>
      </p:sp>
      <p:sp>
        <p:nvSpPr>
          <p:cNvPr id="13" name="">
            <a:extLst xmlns:a="http://schemas.openxmlformats.org/drawingml/2006/main">
              <a:ext uri="{FF2B5EF4-FFF2-40B4-BE49-F238E27FC236}">
                <a16:creationId xmlns:a16="http://schemas.microsoft.com/office/drawing/2014/main" id="{826BD2B2-49E2-4FC2-8F69-DAC0A93A9765}"/>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show -p Requires -p After: the real dependency graph, normalised.</a:t>
            </a:r>
          </a:p>
        </p:txBody>
      </p:sp>
      <p:sp>
        <p:nvSpPr>
          <p:cNvPr id="12" name="">
            <a:extLst xmlns:a="http://schemas.openxmlformats.org/drawingml/2006/main">
              <a:ext uri="{FF2B5EF4-FFF2-40B4-BE49-F238E27FC236}">
                <a16:creationId xmlns:a16="http://schemas.microsoft.com/office/drawing/2014/main" id="{80851119-2908-400C-AF20-B568657ED3DB}"/>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202686907"/>
      </p:ext>
    </p:extLst>
  </p:cSld>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
            <a:extLst>
              <a:ext uri="{FF2B5EF4-FFF2-40B4-BE49-F238E27FC236}">
                <a16:creationId xmlns:a16="http://schemas.microsoft.com/office/drawing/2014/main" id="{FFEE9BE1-4D50-4CAB-982A-F55878378BF6}"/>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CA1BBF85-D004-45BB-9613-9E2C9897DF93}"/>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8 · CREATE A SERVICE</a:t>
            </a:r>
          </a:p>
        </p:txBody>
      </p:sp>
      <p:sp>
        <p:nvSpPr>
          <p:cNvPr id="3" name="">
            <a:extLst>
              <a:ext uri="{FF2B5EF4-FFF2-40B4-BE49-F238E27FC236}">
                <a16:creationId xmlns:a16="http://schemas.microsoft.com/office/drawing/2014/main" id="{5F662202-9FA9-4AB0-AED2-A0D65A10469A}"/>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4CC7DD16-74AC-43DE-8878-FD397FA49563}"/>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82</a:t>
            </a:r>
          </a:p>
        </p:txBody>
      </p:sp>
      <p:sp>
        <p:nvSpPr>
          <p:cNvPr id="5" name="">
            <a:extLst>
              <a:ext uri="{FF2B5EF4-FFF2-40B4-BE49-F238E27FC236}">
                <a16:creationId xmlns:a16="http://schemas.microsoft.com/office/drawing/2014/main" id="{D816E424-DB18-483E-862C-4DFDC9891F14}"/>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Create a minimal service of your own</a:t>
            </a:r>
          </a:p>
        </p:txBody>
      </p:sp>
      <p:sp>
        <p:nvSpPr>
          <p:cNvPr id="6" name="">
            <a:extLst>
              <a:ext uri="{FF2B5EF4-FFF2-40B4-BE49-F238E27FC236}">
                <a16:creationId xmlns:a16="http://schemas.microsoft.com/office/drawing/2014/main" id="{4DB3AC08-FBDC-4EED-9CDF-CE7986986358}"/>
              </a:ext>
            </a:extLst>
          </p:cNvPr>
          <p:cNvSpPr>
            <a:spLocks noGrp="1"/>
          </p:cNvSpPr>
          <p:nvPr/>
        </p:nvSpPr>
        <p:spPr>
          <a:xfrm>
            <a:off x="514350" y="2400300"/>
            <a:ext cx="6191250" cy="2857500"/>
          </a:xfrm>
          <a:prstGeom prst="roundRect">
            <a:avLst>
              <a:gd name="adj" fmla="val 4000"/>
            </a:avLst>
          </a:prstGeom>
          <a:solidFill>
            <a:srgbClr val="180D25"/>
          </a:solidFill>
          <a:ln w="0">
            <a:noFill/>
            <a:prstDash val="solid"/>
          </a:ln>
        </p:spPr>
        <p:txBody>
          <a:bodyPr/>
          <a:p/>
        </p:txBody>
      </p:sp>
      <p:sp>
        <p:nvSpPr>
          <p:cNvPr id="7" name="">
            <a:extLst>
              <a:ext uri="{FF2B5EF4-FFF2-40B4-BE49-F238E27FC236}">
                <a16:creationId xmlns:a16="http://schemas.microsoft.com/office/drawing/2014/main" id="{C4015769-795A-461C-9771-82CEDE43350E}"/>
              </a:ext>
            </a:extLst>
          </p:cNvPr>
          <p:cNvSpPr>
            <a:spLocks noGrp="1"/>
          </p:cNvSpPr>
          <p:nvPr/>
        </p:nvSpPr>
        <p:spPr>
          <a:xfrm>
            <a:off x="781050" y="2647950"/>
            <a:ext cx="5667375" cy="2333625"/>
          </a:xfrm>
          <a:prstGeom prst="rect">
            <a:avLst/>
          </a:prstGeom>
          <a:noFill/>
          <a:ln w="0">
            <a:noFill/>
            <a:prstDash val="solid"/>
          </a:ln>
        </p:spPr>
        <p:txBody>
          <a:bodyPr anchor="ctr"/>
          <a:lstStyle/>
          <a:p>
            <a:pPr algn="l">
              <a:buNone/>
              <a:defRPr sz="1575" b="0">
                <a:solidFill>
                  <a:srgbClr val="F7F1FA"/>
                </a:solidFill>
              </a:defRPr>
            </a:pPr>
            <a:r>
              <a:rPr sz="1250" b="0">
                <a:solidFill>
                  <a:srgbClr val="F7F1FA"/>
                </a:solidFill>
              </a:rPr>
              <a:t># /etc/systemd/system/hello.service</a:t>
            </a:r>
          </a:p>
          <a:p>
            <a:pPr algn="l">
              <a:buNone/>
              <a:defRPr sz="1575" b="0">
                <a:solidFill>
                  <a:srgbClr val="F7F1FA"/>
                </a:solidFill>
              </a:defRPr>
            </a:pPr>
            <a:r>
              <a:rPr sz="1250" b="0">
                <a:solidFill>
                  <a:srgbClr val="F7F1FA"/>
                </a:solidFill>
              </a:rPr>
              <a:t>[Unit]</a:t>
            </a:r>
          </a:p>
          <a:p>
            <a:pPr algn="l">
              <a:buNone/>
              <a:defRPr sz="1575" b="0">
                <a:solidFill>
                  <a:srgbClr val="F7F1FA"/>
                </a:solidFill>
              </a:defRPr>
            </a:pPr>
            <a:r>
              <a:rPr sz="1250" b="0">
                <a:solidFill>
                  <a:srgbClr val="F7F1FA"/>
                </a:solidFill>
              </a:rPr>
              <a:t>Description=Hello web service</a:t>
            </a:r>
          </a:p>
          <a:p>
            <a:pPr algn="l">
              <a:buNone/>
              <a:defRPr sz="1575" b="0">
                <a:solidFill>
                  <a:srgbClr val="F7F1FA"/>
                </a:solidFill>
              </a:defRPr>
            </a:pPr>
            <a:r>
              <a:rPr sz="1250" b="0">
                <a:solidFill>
                  <a:srgbClr val="F7F1FA"/>
                </a:solidFill>
              </a:rPr>
              <a:t>After=network.target</a:t>
            </a:r>
          </a:p>
          <a:p>
            <a:pPr algn="l">
              <a:buNone/>
              <a:defRPr sz="1575" b="0">
                <a:solidFill>
                  <a:srgbClr val="F7F1FA"/>
                </a:solidFill>
              </a:defRPr>
            </a:pPr>
            <a:r>
              <a:rPr sz="1250" b="0">
                <a:solidFill>
                  <a:srgbClr val="F7F1FA"/>
                </a:solidFill>
              </a:rPr>
              <a:t/>
            </a:r>
          </a:p>
          <a:p>
            <a:pPr algn="l">
              <a:buNone/>
              <a:defRPr sz="1575" b="0">
                <a:solidFill>
                  <a:srgbClr val="F7F1FA"/>
                </a:solidFill>
              </a:defRPr>
            </a:pPr>
            <a:r>
              <a:rPr sz="1250" b="0">
                <a:solidFill>
                  <a:srgbClr val="F7F1FA"/>
                </a:solidFill>
              </a:rPr>
              <a:t>[Service]</a:t>
            </a:r>
          </a:p>
          <a:p>
            <a:pPr algn="l">
              <a:buNone/>
              <a:defRPr sz="1575" b="0">
                <a:solidFill>
                  <a:srgbClr val="F7F1FA"/>
                </a:solidFill>
              </a:defRPr>
            </a:pPr>
            <a:r>
              <a:rPr sz="1250" b="0">
                <a:solidFill>
                  <a:srgbClr val="F7F1FA"/>
                </a:solidFill>
              </a:rPr>
              <a:t>ExecStart=/usr/bin/python3 -m http.server 8080</a:t>
            </a:r>
          </a:p>
          <a:p>
            <a:pPr algn="l">
              <a:buNone/>
              <a:defRPr sz="1575" b="0">
                <a:solidFill>
                  <a:srgbClr val="F7F1FA"/>
                </a:solidFill>
              </a:defRPr>
            </a:pPr>
            <a:r>
              <a:rPr sz="1250" b="0">
                <a:solidFill>
                  <a:srgbClr val="F7F1FA"/>
                </a:solidFill>
              </a:rPr>
              <a:t>WorkingDirectory=/srv/hello</a:t>
            </a:r>
          </a:p>
          <a:p>
            <a:pPr algn="l">
              <a:buNone/>
              <a:defRPr sz="1575" b="0">
                <a:solidFill>
                  <a:srgbClr val="F7F1FA"/>
                </a:solidFill>
              </a:defRPr>
            </a:pPr>
            <a:r>
              <a:rPr sz="1250" b="0">
                <a:solidFill>
                  <a:srgbClr val="F7F1FA"/>
                </a:solidFill>
              </a:rPr>
              <a:t>Restart=on-failure</a:t>
            </a:r>
          </a:p>
          <a:p>
            <a:pPr algn="l">
              <a:buNone/>
              <a:defRPr sz="1575" b="0">
                <a:solidFill>
                  <a:srgbClr val="F7F1FA"/>
                </a:solidFill>
              </a:defRPr>
            </a:pPr>
            <a:r>
              <a:rPr sz="1250" b="0">
                <a:solidFill>
                  <a:srgbClr val="F7F1FA"/>
                </a:solidFill>
              </a:rPr>
              <a:t/>
            </a:r>
          </a:p>
          <a:p>
            <a:pPr algn="l">
              <a:buNone/>
              <a:defRPr sz="1575" b="0">
                <a:solidFill>
                  <a:srgbClr val="F7F1FA"/>
                </a:solidFill>
              </a:defRPr>
            </a:pPr>
            <a:r>
              <a:rPr sz="1250" b="0">
                <a:solidFill>
                  <a:srgbClr val="F7F1FA"/>
                </a:solidFill>
              </a:rPr>
              <a:t>[Install]</a:t>
            </a:r>
          </a:p>
          <a:p>
            <a:pPr algn="l">
              <a:buNone/>
              <a:defRPr sz="1575" b="0">
                <a:solidFill>
                  <a:srgbClr val="F7F1FA"/>
                </a:solidFill>
              </a:defRPr>
            </a:pPr>
            <a:r>
              <a:rPr sz="1250" b="0">
                <a:solidFill>
                  <a:srgbClr val="F7F1FA"/>
                </a:solidFill>
              </a:rPr>
              <a:t>WantedBy=multi-user.target</a:t>
            </a:r>
          </a:p>
        </p:txBody>
      </p:sp>
      <p:sp>
        <p:nvSpPr>
          <p:cNvPr id="8" name="">
            <a:extLst>
              <a:ext uri="{FF2B5EF4-FFF2-40B4-BE49-F238E27FC236}">
                <a16:creationId xmlns:a16="http://schemas.microsoft.com/office/drawing/2014/main" id="{29CB96AA-172F-4654-8F2B-F0344ED40B87}"/>
              </a:ext>
            </a:extLst>
          </p:cNvPr>
          <p:cNvSpPr>
            <a:spLocks noGrp="1"/>
          </p:cNvSpPr>
          <p:nvPr/>
        </p:nvSpPr>
        <p:spPr>
          <a:xfrm>
            <a:off x="7143750" y="2733675"/>
            <a:ext cx="95250" cy="95250"/>
          </a:xfrm>
          <a:prstGeom prst="roundRect">
            <a:avLst>
              <a:gd name="adj" fmla="val 50000"/>
            </a:avLst>
          </a:prstGeom>
          <a:solidFill>
            <a:srgbClr val="7650F8"/>
          </a:solidFill>
          <a:ln w="0">
            <a:noFill/>
            <a:prstDash val="solid"/>
          </a:ln>
        </p:spPr>
        <p:txBody>
          <a:bodyPr/>
          <a:p/>
        </p:txBody>
      </p:sp>
      <p:sp>
        <p:nvSpPr>
          <p:cNvPr id="9" name="">
            <a:extLst>
              <a:ext uri="{FF2B5EF4-FFF2-40B4-BE49-F238E27FC236}">
                <a16:creationId xmlns:a16="http://schemas.microsoft.com/office/drawing/2014/main" id="{FAABFDE7-FCB6-4B1A-AF13-A68C918CA272}"/>
              </a:ext>
            </a:extLst>
          </p:cNvPr>
          <p:cNvSpPr>
            <a:spLocks noGrp="1"/>
          </p:cNvSpPr>
          <p:nvPr/>
        </p:nvSpPr>
        <p:spPr>
          <a:xfrm>
            <a:off x="7391400" y="2428875"/>
            <a:ext cx="3848100" cy="704850"/>
          </a:xfrm>
          <a:prstGeom prst="rect">
            <a:avLst/>
          </a:prstGeom>
          <a:noFill/>
          <a:ln w="0">
            <a:noFill/>
            <a:prstDash val="solid"/>
          </a:ln>
        </p:spPr>
        <p:txBody>
          <a:bodyPr anchor="ctr"/>
          <a:lstStyle/>
          <a:p>
            <a:pPr algn="l">
              <a:buNone/>
              <a:defRPr sz="1500" b="0">
                <a:solidFill>
                  <a:srgbClr val="211729"/>
                </a:solidFill>
              </a:defRPr>
            </a:pPr>
            <a:r>
              <a:rPr sz="1500" b="0">
                <a:solidFill>
                  <a:srgbClr val="211729"/>
                </a:solidFill>
              </a:rPr>
              <a:t>① sudo systemctl daemon-reload</a:t>
            </a:r>
          </a:p>
        </p:txBody>
      </p:sp>
      <p:sp>
        <p:nvSpPr>
          <p:cNvPr id="10" name="">
            <a:extLst>
              <a:ext uri="{FF2B5EF4-FFF2-40B4-BE49-F238E27FC236}">
                <a16:creationId xmlns:a16="http://schemas.microsoft.com/office/drawing/2014/main" id="{36F418A3-BDFE-4EB0-A453-872A1A611481}"/>
              </a:ext>
            </a:extLst>
          </p:cNvPr>
          <p:cNvSpPr>
            <a:spLocks noGrp="1"/>
          </p:cNvSpPr>
          <p:nvPr/>
        </p:nvSpPr>
        <p:spPr>
          <a:xfrm>
            <a:off x="7143750" y="3476625"/>
            <a:ext cx="95250" cy="95250"/>
          </a:xfrm>
          <a:prstGeom prst="roundRect">
            <a:avLst>
              <a:gd name="adj" fmla="val 50000"/>
            </a:avLst>
          </a:prstGeom>
          <a:solidFill>
            <a:srgbClr val="FF6F61"/>
          </a:solidFill>
          <a:ln w="0">
            <a:noFill/>
            <a:prstDash val="solid"/>
          </a:ln>
        </p:spPr>
        <p:txBody>
          <a:bodyPr/>
          <a:p/>
        </p:txBody>
      </p:sp>
      <p:sp>
        <p:nvSpPr>
          <p:cNvPr id="11" name="">
            <a:extLst>
              <a:ext uri="{FF2B5EF4-FFF2-40B4-BE49-F238E27FC236}">
                <a16:creationId xmlns:a16="http://schemas.microsoft.com/office/drawing/2014/main" id="{CCB596BF-A525-4C1A-B2CD-453E976D54D5}"/>
              </a:ext>
            </a:extLst>
          </p:cNvPr>
          <p:cNvSpPr>
            <a:spLocks noGrp="1"/>
          </p:cNvSpPr>
          <p:nvPr/>
        </p:nvSpPr>
        <p:spPr>
          <a:xfrm>
            <a:off x="7391400" y="3171825"/>
            <a:ext cx="3848100" cy="704850"/>
          </a:xfrm>
          <a:prstGeom prst="rect">
            <a:avLst/>
          </a:prstGeom>
          <a:noFill/>
          <a:ln w="0">
            <a:noFill/>
            <a:prstDash val="solid"/>
          </a:ln>
        </p:spPr>
        <p:txBody>
          <a:bodyPr anchor="ctr"/>
          <a:lstStyle/>
          <a:p>
            <a:pPr algn="l">
              <a:buNone/>
              <a:defRPr sz="1500" b="0">
                <a:solidFill>
                  <a:srgbClr val="211729"/>
                </a:solidFill>
              </a:defRPr>
            </a:pPr>
            <a:r>
              <a:rPr sz="1500" b="0">
                <a:solidFill>
                  <a:srgbClr val="211729"/>
                </a:solidFill>
              </a:rPr>
              <a:t>② sudo systemctl enable --now hello</a:t>
            </a:r>
          </a:p>
        </p:txBody>
      </p:sp>
      <p:sp>
        <p:nvSpPr>
          <p:cNvPr id="12" name="">
            <a:extLst>
              <a:ext uri="{FF2B5EF4-FFF2-40B4-BE49-F238E27FC236}">
                <a16:creationId xmlns:a16="http://schemas.microsoft.com/office/drawing/2014/main" id="{80851119-2908-400C-AF20-B568657ED3DB}"/>
              </a:ext>
            </a:extLst>
          </p:cNvPr>
          <p:cNvSpPr>
            <a:spLocks noGrp="1"/>
          </p:cNvSpPr>
          <p:nvPr/>
        </p:nvSpPr>
        <p:spPr>
          <a:xfrm>
            <a:off x="7143750" y="4219575"/>
            <a:ext cx="95250" cy="95250"/>
          </a:xfrm>
          <a:prstGeom prst="roundRect">
            <a:avLst>
              <a:gd name="adj" fmla="val 50000"/>
            </a:avLst>
          </a:prstGeom>
          <a:solidFill>
            <a:srgbClr val="7650F8"/>
          </a:solidFill>
          <a:ln w="0">
            <a:noFill/>
            <a:prstDash val="solid"/>
          </a:ln>
        </p:spPr>
        <p:txBody>
          <a:bodyPr/>
          <a:p/>
        </p:txBody>
      </p:sp>
      <p:sp>
        <p:nvSpPr>
          <p:cNvPr id="13" name="">
            <a:extLst>
              <a:ext uri="{FF2B5EF4-FFF2-40B4-BE49-F238E27FC236}">
                <a16:creationId xmlns:a16="http://schemas.microsoft.com/office/drawing/2014/main" id="{826BD2B2-49E2-4FC2-8F69-DAC0A93A9765}"/>
              </a:ext>
            </a:extLst>
          </p:cNvPr>
          <p:cNvSpPr>
            <a:spLocks noGrp="1"/>
          </p:cNvSpPr>
          <p:nvPr/>
        </p:nvSpPr>
        <p:spPr>
          <a:xfrm>
            <a:off x="7391400" y="3914775"/>
            <a:ext cx="3848100" cy="704850"/>
          </a:xfrm>
          <a:prstGeom prst="rect">
            <a:avLst/>
          </a:prstGeom>
          <a:noFill/>
          <a:ln w="0">
            <a:noFill/>
            <a:prstDash val="solid"/>
          </a:ln>
        </p:spPr>
        <p:txBody>
          <a:bodyPr anchor="ctr"/>
          <a:lstStyle/>
          <a:p>
            <a:pPr algn="l">
              <a:buNone/>
              <a:defRPr sz="1500" b="0">
                <a:solidFill>
                  <a:srgbClr val="211729"/>
                </a:solidFill>
              </a:defRPr>
            </a:pPr>
            <a:r>
              <a:rPr sz="1500" b="0">
                <a:solidFill>
                  <a:srgbClr val="211729"/>
                </a:solidFill>
              </a:rPr>
              <a:t>③ systemctl status hello · curl :8080</a:t>
            </a:r>
          </a:p>
        </p:txBody>
      </p:sp>
    </p:spTree>
  </p:cSld>
  <p:clrMapOvr>
    <a:masterClrMapping/>
  </p:clrMapOvr>
</p:sld>
</file>

<file path=ppt/slides/slide8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FD2E904-DF0F-489E-AFC0-3872F724376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C066DF7-2285-49A7-8D8E-D5B044E8006F}"/>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8 · GUIDED COMMANDS</a:t>
            </a:r>
          </a:p>
        </p:txBody>
      </p:sp>
      <p:sp>
        <p:nvSpPr>
          <p:cNvPr id="3" name="">
            <a:extLst xmlns:a="http://schemas.openxmlformats.org/drawingml/2006/main">
              <a:ext uri="{FF2B5EF4-FFF2-40B4-BE49-F238E27FC236}">
                <a16:creationId xmlns:a16="http://schemas.microsoft.com/office/drawing/2014/main" id="{D07547F8-1B56-4AFB-A353-9F5FDE921334}"/>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50A2840C-899A-4246-BFDE-5636DFBA520D}"/>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83</a:t>
            </a:r>
          </a:p>
        </p:txBody>
      </p:sp>
      <p:sp>
        <p:nvSpPr>
          <p:cNvPr id="5" name="">
            <a:extLst xmlns:a="http://schemas.openxmlformats.org/drawingml/2006/main">
              <a:ext uri="{FF2B5EF4-FFF2-40B4-BE49-F238E27FC236}">
                <a16:creationId xmlns:a16="http://schemas.microsoft.com/office/drawing/2014/main" id="{9C943982-5CB8-4850-8200-605B8B3F7016}"/>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22F7F022-A190-4672-9ACB-2F6C7CFBEA4C}"/>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003D7DD5-393C-4C9E-85E3-3A352A698A6D}"/>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status/is-active</a:t>
            </a:r>
          </a:p>
        </p:txBody>
      </p:sp>
      <p:sp>
        <p:nvSpPr>
          <p:cNvPr id="8" name="">
            <a:extLst xmlns:a="http://schemas.openxmlformats.org/drawingml/2006/main">
              <a:ext uri="{FF2B5EF4-FFF2-40B4-BE49-F238E27FC236}">
                <a16:creationId xmlns:a16="http://schemas.microsoft.com/office/drawing/2014/main" id="{55D72038-109B-4B8A-BFCA-BE958689B0AA}"/>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runtime state now: active / failed / inactive</a:t>
            </a:r>
          </a:p>
        </p:txBody>
      </p:sp>
      <p:sp>
        <p:nvSpPr>
          <p:cNvPr id="9" name="">
            <a:extLst xmlns:a="http://schemas.openxmlformats.org/drawingml/2006/main">
              <a:ext uri="{FF2B5EF4-FFF2-40B4-BE49-F238E27FC236}">
                <a16:creationId xmlns:a16="http://schemas.microsoft.com/office/drawing/2014/main" id="{14496D71-BB83-4F4B-B2F8-B1A071D2D059}"/>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FB2FF08B-0FD1-4F40-B29C-7233D50AD164}"/>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is-enabled</a:t>
            </a:r>
          </a:p>
        </p:txBody>
      </p:sp>
      <p:sp>
        <p:nvSpPr>
          <p:cNvPr id="11" name="">
            <a:extLst xmlns:a="http://schemas.openxmlformats.org/drawingml/2006/main">
              <a:ext uri="{FF2B5EF4-FFF2-40B4-BE49-F238E27FC236}">
                <a16:creationId xmlns:a16="http://schemas.microsoft.com/office/drawing/2014/main" id="{A4207AF8-8944-4116-980C-A6BEDD10C81B}"/>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boot policy: enabled / disabled / static</a:t>
            </a:r>
          </a:p>
        </p:txBody>
      </p:sp>
      <p:sp>
        <p:nvSpPr>
          <p:cNvPr id="12" name="">
            <a:extLst xmlns:a="http://schemas.openxmlformats.org/drawingml/2006/main">
              <a:ext uri="{FF2B5EF4-FFF2-40B4-BE49-F238E27FC236}">
                <a16:creationId xmlns:a16="http://schemas.microsoft.com/office/drawing/2014/main" id="{10B251F9-36CA-4019-AF76-50A28912DD36}"/>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9A213421-6F71-46EE-BF4A-B7D53CEED6B8}"/>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cat/show</a:t>
            </a:r>
          </a:p>
        </p:txBody>
      </p:sp>
      <p:sp>
        <p:nvSpPr>
          <p:cNvPr id="14" name="">
            <a:extLst xmlns:a="http://schemas.openxmlformats.org/drawingml/2006/main">
              <a:ext uri="{FF2B5EF4-FFF2-40B4-BE49-F238E27FC236}">
                <a16:creationId xmlns:a16="http://schemas.microsoft.com/office/drawing/2014/main" id="{1B612868-BDB2-4A9B-87D4-9236A41C7478}"/>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effective unit text; show = normalised key=value</a:t>
            </a:r>
          </a:p>
        </p:txBody>
      </p:sp>
      <p:sp>
        <p:nvSpPr>
          <p:cNvPr id="15" name="">
            <a:extLst xmlns:a="http://schemas.openxmlformats.org/drawingml/2006/main">
              <a:ext uri="{FF2B5EF4-FFF2-40B4-BE49-F238E27FC236}">
                <a16:creationId xmlns:a16="http://schemas.microsoft.com/office/drawing/2014/main" id="{EFEB5305-987F-4912-AE01-B4AA27E27150}"/>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78CB7285-8F18-4E0D-AB94-81F6B99F49A1}"/>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daemon-reload</a:t>
            </a:r>
          </a:p>
        </p:txBody>
      </p:sp>
      <p:sp>
        <p:nvSpPr>
          <p:cNvPr id="17" name="">
            <a:extLst xmlns:a="http://schemas.openxmlformats.org/drawingml/2006/main">
              <a:ext uri="{FF2B5EF4-FFF2-40B4-BE49-F238E27FC236}">
                <a16:creationId xmlns:a16="http://schemas.microsoft.com/office/drawing/2014/main" id="{13AB8289-AA5D-4A38-9D84-EC1E114ADE94}"/>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re-read unit files after you change them</a:t>
            </a:r>
          </a:p>
        </p:txBody>
      </p:sp>
      <p:sp>
        <p:nvSpPr>
          <p:cNvPr id="18" name="">
            <a:extLst xmlns:a="http://schemas.openxmlformats.org/drawingml/2006/main">
              <a:ext uri="{FF2B5EF4-FFF2-40B4-BE49-F238E27FC236}">
                <a16:creationId xmlns:a16="http://schemas.microsoft.com/office/drawing/2014/main" id="{AB6CB1DE-D2EF-4A3E-B370-C289F58DD307}"/>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F9AF4D04-BE30-4709-A45A-D2C7747335A2}"/>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restart</a:t>
            </a:r>
          </a:p>
        </p:txBody>
      </p:sp>
      <p:sp>
        <p:nvSpPr>
          <p:cNvPr id="20" name="">
            <a:extLst xmlns:a="http://schemas.openxmlformats.org/drawingml/2006/main">
              <a:ext uri="{FF2B5EF4-FFF2-40B4-BE49-F238E27FC236}">
                <a16:creationId xmlns:a16="http://schemas.microsoft.com/office/drawing/2014/main" id="{43DC8EF1-FC67-4938-A464-D2814057DA0A}"/>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new process from the effective definition</a:t>
            </a:r>
          </a:p>
        </p:txBody>
      </p:sp>
      <p:sp>
        <p:nvSpPr>
          <p:cNvPr id="19" name="">
            <a:extLst xmlns:a="http://schemas.openxmlformats.org/drawingml/2006/main">
              <a:ext uri="{FF2B5EF4-FFF2-40B4-BE49-F238E27FC236}">
                <a16:creationId xmlns:a16="http://schemas.microsoft.com/office/drawing/2014/main" id="{F9AF4D04-BE30-4709-A45A-D2C7747335A2}"/>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systemctl list-dependencies U</a:t>
            </a:r>
          </a:p>
        </p:txBody>
      </p:sp>
      <p:sp>
        <p:nvSpPr>
          <p:cNvPr id="20" name="">
            <a:extLst xmlns:a="http://schemas.openxmlformats.org/drawingml/2006/main">
              <a:ext uri="{FF2B5EF4-FFF2-40B4-BE49-F238E27FC236}">
                <a16:creationId xmlns:a16="http://schemas.microsoft.com/office/drawing/2014/main" id="{43DC8EF1-FC67-4938-A464-D2814057DA0A}"/>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what this unit pulls in, as a tree</a:t>
            </a:r>
          </a:p>
        </p:txBody>
      </p:sp>
      <p:sp>
        <p:nvSpPr>
          <p:cNvPr id="18" name="">
            <a:extLst xmlns:a="http://schemas.openxmlformats.org/drawingml/2006/main">
              <a:ext uri="{FF2B5EF4-FFF2-40B4-BE49-F238E27FC236}">
                <a16:creationId xmlns:a16="http://schemas.microsoft.com/office/drawing/2014/main" id="{AB6CB1DE-D2EF-4A3E-B370-C289F58DD307}"/>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207807037"/>
      </p:ext>
    </p:extLst>
  </p:cSld>
</p:sld>
</file>

<file path=ppt/slides/slide84.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B8EF06-5A04-4132-B23A-483BC59FA2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CE94DE1-8943-442E-8D76-8747AA59431D}"/>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8 · LIVE DEMO</a:t>
            </a:r>
          </a:p>
        </p:txBody>
      </p:sp>
      <p:sp>
        <p:nvSpPr>
          <p:cNvPr id="3" name="">
            <a:extLst xmlns:a="http://schemas.openxmlformats.org/drawingml/2006/main">
              <a:ext uri="{FF2B5EF4-FFF2-40B4-BE49-F238E27FC236}">
                <a16:creationId xmlns:a16="http://schemas.microsoft.com/office/drawing/2014/main" id="{4763A16E-3799-4E6D-B770-2F297EBC0E02}"/>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C672234D-4B8F-410D-8E78-FF6A37BE35C7}"/>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84</a:t>
            </a:r>
          </a:p>
        </p:txBody>
      </p:sp>
      <p:sp>
        <p:nvSpPr>
          <p:cNvPr id="5" name="">
            <a:extLst xmlns:a="http://schemas.openxmlformats.org/drawingml/2006/main">
              <a:ext uri="{FF2B5EF4-FFF2-40B4-BE49-F238E27FC236}">
                <a16:creationId xmlns:a16="http://schemas.microsoft.com/office/drawing/2014/main" id="{50BF5608-9664-4DA4-8429-16CF271D5A2B}"/>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the unit is fine; its world is not</a:t>
            </a:r>
          </a:p>
        </p:txBody>
      </p:sp>
      <p:sp>
        <p:nvSpPr>
          <p:cNvPr id="6" name="">
            <a:extLst xmlns:a="http://schemas.openxmlformats.org/drawingml/2006/main">
              <a:ext uri="{FF2B5EF4-FFF2-40B4-BE49-F238E27FC236}">
                <a16:creationId xmlns:a16="http://schemas.microsoft.com/office/drawing/2014/main" id="{277D1D98-0A1C-4F2D-8AC6-D61C00CA721D}"/>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The unit is fine, its prerequisite is missing. We add only that, then re-verify.</a:t>
            </a:r>
          </a:p>
        </p:txBody>
      </p:sp>
      <p:sp>
        <p:nvSpPr>
          <p:cNvPr id="7" name="">
            <a:extLst xmlns:a="http://schemas.openxmlformats.org/drawingml/2006/main">
              <a:ext uri="{FF2B5EF4-FFF2-40B4-BE49-F238E27FC236}">
                <a16:creationId xmlns:a16="http://schemas.microsoft.com/office/drawing/2014/main" id="{FB8546A1-E95B-44E6-95A8-496B44CEB2C8}"/>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FCA3AF7-E6A1-4EA2-9816-D711DF724F7A}"/>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Diagnose demo-api.service whose required EnvironmentFile is missing; create only the missing prerequisite, restart, then verify its endpoint.</a:t>
            </a:r>
          </a:p>
        </p:txBody>
      </p:sp>
      <p:sp>
        <p:nvSpPr>
          <p:cNvPr id="9" name="">
            <a:extLst xmlns:a="http://schemas.openxmlformats.org/drawingml/2006/main">
              <a:ext uri="{FF2B5EF4-FFF2-40B4-BE49-F238E27FC236}">
                <a16:creationId xmlns:a16="http://schemas.microsoft.com/office/drawing/2014/main" id="{20CD95A5-303D-4E08-B3EF-D624B837B803}"/>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EE2D0CC5-E4D8-478F-98C5-90CC9568FD2F}"/>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status demo-api — failed; read the hint in the summary</a:t>
            </a:r>
          </a:p>
        </p:txBody>
      </p:sp>
      <p:sp>
        <p:nvSpPr>
          <p:cNvPr id="11" name="">
            <a:extLst xmlns:a="http://schemas.openxmlformats.org/drawingml/2006/main">
              <a:ext uri="{FF2B5EF4-FFF2-40B4-BE49-F238E27FC236}">
                <a16:creationId xmlns:a16="http://schemas.microsoft.com/office/drawing/2014/main" id="{5F88B8CA-8FD7-4D6D-8065-6B465EB847CC}"/>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E963989-B763-4027-80EE-52364CD48FCF}"/>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journalctl -u demo-api -b — the actual error: EnvironmentFile missing</a:t>
            </a:r>
          </a:p>
        </p:txBody>
      </p:sp>
      <p:sp>
        <p:nvSpPr>
          <p:cNvPr id="13" name="">
            <a:extLst xmlns:a="http://schemas.openxmlformats.org/drawingml/2006/main">
              <a:ext uri="{FF2B5EF4-FFF2-40B4-BE49-F238E27FC236}">
                <a16:creationId xmlns:a16="http://schemas.microsoft.com/office/drawing/2014/main" id="{0B174156-1009-481F-AFD2-FC6FF44250F7}"/>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5E959622-987E-46C5-B991-9D214321572F}"/>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cat demo-api — the declaration names the missing file</a:t>
            </a:r>
          </a:p>
        </p:txBody>
      </p:sp>
      <p:sp>
        <p:nvSpPr>
          <p:cNvPr id="15" name="">
            <a:extLst xmlns:a="http://schemas.openxmlformats.org/drawingml/2006/main">
              <a:ext uri="{FF2B5EF4-FFF2-40B4-BE49-F238E27FC236}">
                <a16:creationId xmlns:a16="http://schemas.microsoft.com/office/drawing/2014/main" id="{FDB99496-A2C0-4FA9-9170-45084441AA59}"/>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0A1ACCB2-6EB2-45C6-B43C-A57C1FB22BEB}"/>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Create the file → restart → curl the endpoint. The unit was never edited</a:t>
            </a:r>
          </a:p>
        </p:txBody>
      </p:sp>
      <p:sp>
        <p:nvSpPr>
          <p:cNvPr id="17" name="">
            <a:extLst xmlns:a="http://schemas.openxmlformats.org/drawingml/2006/main">
              <a:ext uri="{FF2B5EF4-FFF2-40B4-BE49-F238E27FC236}">
                <a16:creationId xmlns:a16="http://schemas.microsoft.com/office/drawing/2014/main" id="{D133DEE6-51A1-4E13-B315-4953923DE9DD}"/>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edit the unit, or satisfy its declaration — which is safer, and why?</a:t>
            </a:r>
          </a:p>
        </p:txBody>
      </p:sp>
    </p:spTree>
    <p:extLst>
      <p:ext uri="{BB962C8B-B14F-4D97-AF65-F5344CB8AC3E}">
        <p14:creationId xmlns:p14="http://schemas.microsoft.com/office/powerpoint/2010/main" val="1392555825"/>
      </p:ext>
    </p:extLst>
  </p:cSld>
</p:sld>
</file>

<file path=ppt/slides/slide85.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A0EACAA-8F9A-4FD1-8AE3-1BBE049370A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96D6BE8-6BAF-4EA1-881B-78D63E926E4F}"/>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8</a:t>
            </a:r>
          </a:p>
        </p:txBody>
      </p:sp>
      <p:sp>
        <p:nvSpPr>
          <p:cNvPr id="3" name="">
            <a:extLst xmlns:a="http://schemas.openxmlformats.org/drawingml/2006/main">
              <a:ext uri="{FF2B5EF4-FFF2-40B4-BE49-F238E27FC236}">
                <a16:creationId xmlns:a16="http://schemas.microsoft.com/office/drawing/2014/main" id="{1C166AF3-9F27-4942-92B3-FFDC236DF37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5BD9D9D9-546E-4EEB-B0D1-FAA20B609761}"/>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85</a:t>
            </a:r>
          </a:p>
        </p:txBody>
      </p:sp>
      <p:sp>
        <p:nvSpPr>
          <p:cNvPr id="5" name="">
            <a:extLst xmlns:a="http://schemas.openxmlformats.org/drawingml/2006/main">
              <a:ext uri="{FF2B5EF4-FFF2-40B4-BE49-F238E27FC236}">
                <a16:creationId xmlns:a16="http://schemas.microsoft.com/office/drawing/2014/main" id="{1DCFC5FD-3A95-4107-8DE9-5444AB37DFE2}"/>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systemd declarations, dependencies, ordering, and diagnosis</a:t>
            </a:r>
          </a:p>
        </p:txBody>
      </p:sp>
      <p:sp>
        <p:nvSpPr>
          <p:cNvPr id="6" name="">
            <a:extLst xmlns:a="http://schemas.openxmlformats.org/drawingml/2006/main">
              <a:ext uri="{FF2B5EF4-FFF2-40B4-BE49-F238E27FC236}">
                <a16:creationId xmlns:a16="http://schemas.microsoft.com/office/drawing/2014/main" id="{7580AA9A-6141-475A-AAAD-9D7651F8B8DB}"/>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25 minutes: repair the service without editing its unit; verify all four layers.</a:t>
            </a:r>
          </a:p>
        </p:txBody>
      </p:sp>
      <p:sp>
        <p:nvSpPr>
          <p:cNvPr id="7" name="">
            <a:extLst xmlns:a="http://schemas.openxmlformats.org/drawingml/2006/main">
              <a:ext uri="{FF2B5EF4-FFF2-40B4-BE49-F238E27FC236}">
                <a16:creationId xmlns:a16="http://schemas.microsoft.com/office/drawing/2014/main" id="{FA5A7B1F-C2D2-461C-8CEA-0626770E6E5E}"/>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FA1141DE-BB72-43E7-95FF-D107ACDF2789}"/>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Repair course-web.service from its CHDIR failure without editing the supplied unit, then prove state, enablement, socket, and HTTP behavior.</a:t>
            </a:r>
          </a:p>
        </p:txBody>
      </p:sp>
      <p:sp>
        <p:nvSpPr>
          <p:cNvPr id="9" name="">
            <a:extLst xmlns:a="http://schemas.openxmlformats.org/drawingml/2006/main">
              <a:ext uri="{FF2B5EF4-FFF2-40B4-BE49-F238E27FC236}">
                <a16:creationId xmlns:a16="http://schemas.microsoft.com/office/drawing/2014/main" id="{AE50A4E9-F1CE-4282-A4F0-7109E36A39F6}"/>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095D80D7-D0FA-4699-899D-12A059EA8B47}"/>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25 minutes</a:t>
            </a:r>
          </a:p>
        </p:txBody>
      </p:sp>
      <p:sp>
        <p:nvSpPr>
          <p:cNvPr id="11" name="">
            <a:extLst xmlns:a="http://schemas.openxmlformats.org/drawingml/2006/main">
              <a:ext uri="{FF2B5EF4-FFF2-40B4-BE49-F238E27FC236}">
                <a16:creationId xmlns:a16="http://schemas.microsoft.com/office/drawing/2014/main" id="{6A4061BD-1FD0-4842-9337-6D86603CDE81}"/>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7AC12AF-FD81-4DA0-8BCC-2B53D08CF408}"/>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4218B67A-A724-4762-B556-9C7856B1DE73}"/>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40E7512-69DA-4B83-8D6F-375A25095884}"/>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1B05916A-B4A2-45D2-9993-5DDE8F7056D1}"/>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6193FA7-402A-48ED-9047-1EF4DC169373}"/>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E89E28B8-3DDF-4263-9CCB-12327E855372}"/>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1348947524"/>
      </p:ext>
    </p:extLst>
  </p:cSld>
</p:sld>
</file>

<file path=ppt/slides/slide8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E064562-DE02-4770-9504-FF30A2F252F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8976CA2-F887-40F6-9A01-31F29819061D}"/>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8 · DEBRIEF</a:t>
            </a:r>
          </a:p>
        </p:txBody>
      </p:sp>
      <p:sp>
        <p:nvSpPr>
          <p:cNvPr id="3" name="">
            <a:extLst xmlns:a="http://schemas.openxmlformats.org/drawingml/2006/main">
              <a:ext uri="{FF2B5EF4-FFF2-40B4-BE49-F238E27FC236}">
                <a16:creationId xmlns:a16="http://schemas.microsoft.com/office/drawing/2014/main" id="{9434CD99-6D6B-4885-950A-B1B20589056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CB2E5DBC-1A41-4023-9865-984E8C69FAA4}"/>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86</a:t>
            </a:r>
          </a:p>
        </p:txBody>
      </p:sp>
      <p:sp>
        <p:nvSpPr>
          <p:cNvPr id="5" name="">
            <a:extLst xmlns:a="http://schemas.openxmlformats.org/drawingml/2006/main">
              <a:ext uri="{FF2B5EF4-FFF2-40B4-BE49-F238E27FC236}">
                <a16:creationId xmlns:a16="http://schemas.microsoft.com/office/drawing/2014/main" id="{388DAC12-7F9E-4EFC-8735-D011E945E30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39FBE25A-3EA7-475A-A293-5401F2F5C8A5}"/>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1990F66D-05D3-4654-A152-4C35D575C4B1}"/>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0F8053E-5A42-40BA-9CA6-965AC404FA40}"/>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The safest repair satisfies the declaration's missing prerequisite rather than forking it. Next, processes and sockets expose the running implementation.</a:t>
            </a:r>
          </a:p>
        </p:txBody>
      </p:sp>
      <p:sp>
        <p:nvSpPr>
          <p:cNvPr id="9" name="">
            <a:extLst xmlns:a="http://schemas.openxmlformats.org/drawingml/2006/main">
              <a:ext uri="{FF2B5EF4-FFF2-40B4-BE49-F238E27FC236}">
                <a16:creationId xmlns:a16="http://schemas.microsoft.com/office/drawing/2014/main" id="{CA7DC745-7B7E-4D31-B22E-F04ECB60744E}"/>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57790C74-EF16-4139-98BB-3DC96F2563C5}"/>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D60FCBC4-F733-4EA3-90DF-57ACE4AC63A9}"/>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476052E-5F23-459F-868A-71E9F0860D05}"/>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1E2C2DCD-1E35-44E9-BBC4-C1E7D8BC2EE7}"/>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4AFC1D8-E7DF-4E1F-845B-F2EE2305D0DF}"/>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1320575613"/>
      </p:ext>
    </p:extLst>
  </p:cSld>
</p:sld>
</file>

<file path=ppt/slides/slide87.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212AD8-3FCD-47D1-AB20-947ABE3C72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910E6D0-53B7-4892-9AFC-BED9F0B3DAC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9</a:t>
            </a:r>
          </a:p>
        </p:txBody>
      </p:sp>
      <p:sp>
        <p:nvSpPr>
          <p:cNvPr id="3" name="">
            <a:extLst xmlns:a="http://schemas.openxmlformats.org/drawingml/2006/main">
              <a:ext uri="{FF2B5EF4-FFF2-40B4-BE49-F238E27FC236}">
                <a16:creationId xmlns:a16="http://schemas.microsoft.com/office/drawing/2014/main" id="{B2BDB767-CC9D-4A1E-A58F-F3350EAA1EB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D2E73712-C527-471A-AAA3-6A7A7E75B095}"/>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87</a:t>
            </a:r>
          </a:p>
        </p:txBody>
      </p:sp>
      <p:sp>
        <p:nvSpPr>
          <p:cNvPr id="5" name="">
            <a:extLst xmlns:a="http://schemas.openxmlformats.org/drawingml/2006/main">
              <a:ext uri="{FF2B5EF4-FFF2-40B4-BE49-F238E27FC236}">
                <a16:creationId xmlns:a16="http://schemas.microsoft.com/office/drawing/2014/main" id="{D39469CD-3BFD-4AD7-AFD3-CC947693772E}"/>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09</a:t>
            </a:r>
          </a:p>
        </p:txBody>
      </p:sp>
      <p:sp>
        <p:nvSpPr>
          <p:cNvPr id="6" name="">
            <a:extLst xmlns:a="http://schemas.openxmlformats.org/drawingml/2006/main">
              <a:ext uri="{FF2B5EF4-FFF2-40B4-BE49-F238E27FC236}">
                <a16:creationId xmlns:a16="http://schemas.microsoft.com/office/drawing/2014/main" id="{8ECF1250-CDE5-4229-99DB-F3F24D6D9DDF}"/>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Processes, sockets, and client-visible behavior</a:t>
            </a:r>
          </a:p>
        </p:txBody>
      </p:sp>
      <p:sp>
        <p:nvSpPr>
          <p:cNvPr id="7" name="">
            <a:extLst xmlns:a="http://schemas.openxmlformats.org/drawingml/2006/main">
              <a:ext uri="{FF2B5EF4-FFF2-40B4-BE49-F238E27FC236}">
                <a16:creationId xmlns:a16="http://schemas.microsoft.com/office/drawing/2014/main" id="{4156A404-6209-4C0C-B836-71EBDD88F57C}"/>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How do unit state, process state, socket state, and useful behavior connect?</a:t>
            </a:r>
          </a:p>
        </p:txBody>
      </p:sp>
      <p:sp>
        <p:nvSpPr>
          <p:cNvPr id="8" name="">
            <a:extLst xmlns:a="http://schemas.openxmlformats.org/drawingml/2006/main">
              <a:ext uri="{FF2B5EF4-FFF2-40B4-BE49-F238E27FC236}">
                <a16:creationId xmlns:a16="http://schemas.microsoft.com/office/drawing/2014/main" id="{10DAB9D2-D9C3-444E-87FB-4D874C5CC46B}"/>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FF4EA8E-60BE-456F-AA93-5D018F31CF7F}"/>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General Linux processes + iproute2 + systemd</a:t>
            </a:r>
          </a:p>
        </p:txBody>
      </p:sp>
    </p:spTree>
    <p:extLst>
      <p:ext uri="{BB962C8B-B14F-4D97-AF65-F5344CB8AC3E}">
        <p14:creationId xmlns:p14="http://schemas.microsoft.com/office/powerpoint/2010/main" val="1662766074"/>
      </p:ext>
    </p:extLst>
  </p:cSld>
</p:sld>
</file>

<file path=ppt/slides/slide88.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644FDC-4C2F-46C5-8044-D7891D8A36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B1D240F-04CE-4A61-89DF-54AF1B249D9E}"/>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9 · MODEL</a:t>
            </a:r>
          </a:p>
        </p:txBody>
      </p:sp>
      <p:sp>
        <p:nvSpPr>
          <p:cNvPr id="3" name="">
            <a:extLst xmlns:a="http://schemas.openxmlformats.org/drawingml/2006/main">
              <a:ext uri="{FF2B5EF4-FFF2-40B4-BE49-F238E27FC236}">
                <a16:creationId xmlns:a16="http://schemas.microsoft.com/office/drawing/2014/main" id="{26D9BF3C-98FA-4E67-9A63-BAFD9692D688}"/>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7D46A529-E50C-4405-85C6-A3AEF42F6911}"/>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88</a:t>
            </a:r>
          </a:p>
        </p:txBody>
      </p:sp>
      <p:sp>
        <p:nvSpPr>
          <p:cNvPr id="5" name="">
            <a:extLst xmlns:a="http://schemas.openxmlformats.org/drawingml/2006/main">
              <a:ext uri="{FF2B5EF4-FFF2-40B4-BE49-F238E27FC236}">
                <a16:creationId xmlns:a16="http://schemas.microsoft.com/office/drawing/2014/main" id="{C2B493E2-C991-4405-9DDB-6D644E936D49}"/>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process is a running program with context</a:t>
            </a:r>
          </a:p>
        </p:txBody>
      </p:sp>
      <p:sp>
        <p:nvSpPr>
          <p:cNvPr id="6" name="">
            <a:extLst xmlns:a="http://schemas.openxmlformats.org/drawingml/2006/main">
              <a:ext uri="{FF2B5EF4-FFF2-40B4-BE49-F238E27FC236}">
                <a16:creationId xmlns:a16="http://schemas.microsoft.com/office/drawing/2014/main" id="{4D5DFB6C-95B1-468F-B02E-D58A560281BF}"/>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executable on disk is only a template; the process is its live instantiation.</a:t>
            </a:r>
          </a:p>
        </p:txBody>
      </p:sp>
      <p:sp>
        <p:nvSpPr>
          <p:cNvPr id="7" name="">
            <a:extLst xmlns:a="http://schemas.openxmlformats.org/drawingml/2006/main">
              <a:ext uri="{FF2B5EF4-FFF2-40B4-BE49-F238E27FC236}">
                <a16:creationId xmlns:a16="http://schemas.microsoft.com/office/drawing/2014/main" id="{455EAD67-0AA7-48CE-BD80-6374E5300B5E}"/>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7CF640C-90D1-4FDC-9DA2-E1D4354D2F1F}"/>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process has a PID, a parent, an identity, memory, and open file descriptors.</a:t>
            </a:r>
          </a:p>
        </p:txBody>
      </p:sp>
      <p:sp>
        <p:nvSpPr>
          <p:cNvPr id="9" name="">
            <a:extLst xmlns:a="http://schemas.openxmlformats.org/drawingml/2006/main">
              <a:ext uri="{FF2B5EF4-FFF2-40B4-BE49-F238E27FC236}">
                <a16:creationId xmlns:a16="http://schemas.microsoft.com/office/drawing/2014/main" id="{56B171BB-3EAA-45AF-A074-243D08FC1E5E}"/>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DE668778-2D6A-4A16-85B0-9619E4195A19}"/>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systemd's MainPID ties a service to one process; ps and /proc/PID expose its context.</a:t>
            </a:r>
          </a:p>
        </p:txBody>
      </p:sp>
    </p:spTree>
    <p:extLst>
      <p:ext uri="{BB962C8B-B14F-4D97-AF65-F5344CB8AC3E}">
        <p14:creationId xmlns:p14="http://schemas.microsoft.com/office/powerpoint/2010/main" val="1420754673"/>
      </p:ext>
    </p:extLst>
  </p:cSld>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
            <a:extLst>
              <a:ext uri="{FF2B5EF4-FFF2-40B4-BE49-F238E27FC236}">
                <a16:creationId xmlns:a16="http://schemas.microsoft.com/office/drawing/2014/main" id="{AAEC1DB9-5C2C-4889-8696-71ED13A58B11}"/>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F4CE8B52-1BC2-458D-8B66-1AE55C6FF569}"/>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9 · PICTURE A PROCESS</a:t>
            </a:r>
          </a:p>
        </p:txBody>
      </p:sp>
      <p:sp>
        <p:nvSpPr>
          <p:cNvPr id="3" name="">
            <a:extLst>
              <a:ext uri="{FF2B5EF4-FFF2-40B4-BE49-F238E27FC236}">
                <a16:creationId xmlns:a16="http://schemas.microsoft.com/office/drawing/2014/main" id="{0C8ECD6D-C617-4C11-86FD-766E56E6AA53}"/>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ACD62257-470C-4D7C-BB2C-4DEEC2DFF096}"/>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89</a:t>
            </a:r>
          </a:p>
        </p:txBody>
      </p:sp>
      <p:sp>
        <p:nvSpPr>
          <p:cNvPr id="5" name="">
            <a:extLst>
              <a:ext uri="{FF2B5EF4-FFF2-40B4-BE49-F238E27FC236}">
                <a16:creationId xmlns:a16="http://schemas.microsoft.com/office/drawing/2014/main" id="{5A553437-B1D4-409C-AF7A-23157F2B1B6C}"/>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What htop shows you about a process</a:t>
            </a:r>
          </a:p>
        </p:txBody>
      </p:sp>
      <p:pic>
        <p:nvPicPr>
          <p:cNvPr id="16" name="Picture 15" descr="htop_processes.png"/>
          <p:cNvPicPr>
            <a:picLocks noChangeAspect="1"/>
          </p:cNvPicPr>
          <p:nvPr/>
        </p:nvPicPr>
        <p:blipFill>
          <a:blip r:embed="rId2"/>
          <a:stretch>
            <a:fillRect/>
          </a:stretch>
        </p:blipFill>
        <p:spPr>
          <a:xfrm>
            <a:off x="886968" y="1572768"/>
            <a:ext cx="10424160" cy="4443085"/>
          </a:xfrm>
          <a:prstGeom prst="rect">
            <a:avLst/>
          </a:prstGeom>
        </p:spPr>
      </p:pic>
      <p:sp>
        <p:nvSpPr>
          <p:cNvPr id="17" name="TextBox 16"/>
          <p:cNvSpPr txBox="1"/>
          <p:nvPr/>
        </p:nvSpPr>
        <p:spPr>
          <a:xfrm>
            <a:off x="822960" y="6035040"/>
            <a:ext cx="10515600" cy="384048"/>
          </a:xfrm>
          <a:prstGeom prst="rect">
            <a:avLst/>
          </a:prstGeom>
          <a:noFill/>
        </p:spPr>
        <p:txBody>
          <a:bodyPr wrap="square">
            <a:spAutoFit/>
          </a:bodyPr>
          <a:lstStyle/>
          <a:p>
            <a:pPr algn="ctr"/>
            <a:r>
              <a:rPr sz="1300" i="1">
                <a:solidFill>
                  <a:srgbClr val="685D70"/>
                </a:solidFill>
              </a:rPr>
              <a:t>Each row is an identity, a state, and allocated resources; run htop to observe this live.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00644FDC-4C2F-46C5-8044-D7891D8A3663}"/>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8B1D240F-04CE-4A61-89DF-54AF1B249D9E}"/>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9 · MODEL</a:t>
            </a:r>
          </a:p>
        </p:txBody>
      </p:sp>
      <p:sp>
        <p:nvSpPr>
          <p:cNvPr id="3" name="">
            <a:extLst>
              <a:ext uri="{FF2B5EF4-FFF2-40B4-BE49-F238E27FC236}">
                <a16:creationId xmlns:a16="http://schemas.microsoft.com/office/drawing/2014/main" id="{26D9BF3C-98FA-4E67-9A63-BAFD9692D688}"/>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7D46A529-E50C-4405-85C6-A3AEF42F6911}"/>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90</a:t>
            </a:r>
          </a:p>
        </p:txBody>
      </p:sp>
      <p:sp>
        <p:nvSpPr>
          <p:cNvPr id="5" name="">
            <a:extLst>
              <a:ext uri="{FF2B5EF4-FFF2-40B4-BE49-F238E27FC236}">
                <a16:creationId xmlns:a16="http://schemas.microsoft.com/office/drawing/2014/main" id="{C2B493E2-C991-4405-9DDB-6D644E936D49}"/>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A listener is not correct behaviour</a:t>
            </a:r>
          </a:p>
        </p:txBody>
      </p:sp>
      <p:sp>
        <p:nvSpPr>
          <p:cNvPr id="6" name="">
            <a:extLst>
              <a:ext uri="{FF2B5EF4-FFF2-40B4-BE49-F238E27FC236}">
                <a16:creationId xmlns:a16="http://schemas.microsoft.com/office/drawing/2014/main" id="{4D5DFB6C-95B1-468F-B02E-D58A560281BF}"/>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Accepting connections and answering correctly are different claims.</a:t>
            </a:r>
          </a:p>
        </p:txBody>
      </p:sp>
      <p:sp>
        <p:nvSpPr>
          <p:cNvPr id="7" name="">
            <a:extLst>
              <a:ext uri="{FF2B5EF4-FFF2-40B4-BE49-F238E27FC236}">
                <a16:creationId xmlns:a16="http://schemas.microsoft.com/office/drawing/2014/main" id="{455EAD67-0AA7-48CE-BD80-6374E5300B5E}"/>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97CF640C-90D1-4FDC-9DA2-E1D4354D2F1F}"/>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ss shows that a process listens at a port; only a real client such as curl verifies the answer.</a:t>
            </a:r>
          </a:p>
        </p:txBody>
      </p:sp>
      <p:sp>
        <p:nvSpPr>
          <p:cNvPr id="9" name="">
            <a:extLst>
              <a:ext uri="{FF2B5EF4-FFF2-40B4-BE49-F238E27FC236}">
                <a16:creationId xmlns:a16="http://schemas.microsoft.com/office/drawing/2014/main" id="{56B171BB-3EAA-45AF-A074-243D08FC1E5E}"/>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DE668778-2D6A-4A16-85B0-9619E4195A19}"/>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Stop managed processes through systemd, so the manager's state remains accurate.</a:t>
            </a:r>
          </a:p>
        </p:txBody>
      </p:sp>
    </p:spTree>
  </p:cSld>
  <p:clrMapOvr>
    <a:masterClrMapping/>
  </p:clrMapOvr>
</p:sld>
</file>

<file path=ppt/slides/slide9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AEC1DB9-5C2C-4889-8696-71ED13A58B1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4CE8B52-1BC2-458D-8B66-1AE55C6FF569}"/>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9 · BUILD THE MODEL</a:t>
            </a:r>
          </a:p>
        </p:txBody>
      </p:sp>
      <p:sp>
        <p:nvSpPr>
          <p:cNvPr id="3" name="">
            <a:extLst xmlns:a="http://schemas.openxmlformats.org/drawingml/2006/main">
              <a:ext uri="{FF2B5EF4-FFF2-40B4-BE49-F238E27FC236}">
                <a16:creationId xmlns:a16="http://schemas.microsoft.com/office/drawing/2014/main" id="{0C8ECD6D-C617-4C11-86FD-766E56E6AA5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ACD62257-470C-4D7C-BB2C-4DEEC2DFF096}"/>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91</a:t>
            </a:r>
          </a:p>
        </p:txBody>
      </p:sp>
      <p:sp>
        <p:nvSpPr>
          <p:cNvPr id="5" name="">
            <a:extLst xmlns:a="http://schemas.openxmlformats.org/drawingml/2006/main">
              <a:ext uri="{FF2B5EF4-FFF2-40B4-BE49-F238E27FC236}">
                <a16:creationId xmlns:a16="http://schemas.microsoft.com/office/drawing/2014/main" id="{5A553437-B1D4-409C-AF7A-23157F2B1B6C}"/>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service claim crosses four observable layers</a:t>
            </a:r>
          </a:p>
        </p:txBody>
      </p:sp>
      <p:sp>
        <p:nvSpPr>
          <p:cNvPr id="6" name="">
            <a:extLst xmlns:a="http://schemas.openxmlformats.org/drawingml/2006/main">
              <a:ext uri="{FF2B5EF4-FFF2-40B4-BE49-F238E27FC236}">
                <a16:creationId xmlns:a16="http://schemas.microsoft.com/office/drawing/2014/main" id="{729525CB-8D94-4DF6-B858-A8D42D8B91F7}"/>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Each layer can succeed while the next one still fails.</a:t>
            </a:r>
          </a:p>
        </p:txBody>
      </p:sp>
      <p:sp>
        <p:nvSpPr>
          <p:cNvPr id="7" name="">
            <a:extLst xmlns:a="http://schemas.openxmlformats.org/drawingml/2006/main">
              <a:ext uri="{FF2B5EF4-FFF2-40B4-BE49-F238E27FC236}">
                <a16:creationId xmlns:a16="http://schemas.microsoft.com/office/drawing/2014/main" id="{10FA94EE-CF84-435D-8B03-8B588F5B0672}"/>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49A56B7-E675-463D-A79D-280F6DC1C056}"/>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Manager state connects the unit to MainPID</a:t>
            </a:r>
          </a:p>
        </p:txBody>
      </p:sp>
      <p:sp>
        <p:nvSpPr>
          <p:cNvPr id="9" name="">
            <a:extLst xmlns:a="http://schemas.openxmlformats.org/drawingml/2006/main">
              <a:ext uri="{FF2B5EF4-FFF2-40B4-BE49-F238E27FC236}">
                <a16:creationId xmlns:a16="http://schemas.microsoft.com/office/drawing/2014/main" id="{3EA5E262-0D6E-4F67-9109-D089EF64AB4B}"/>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2F2EC2FE-6D11-4F02-A3D6-28E6FCA43B43}"/>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Process evidence shows identity and command context</a:t>
            </a:r>
          </a:p>
        </p:txBody>
      </p:sp>
      <p:sp>
        <p:nvSpPr>
          <p:cNvPr id="11" name="">
            <a:extLst xmlns:a="http://schemas.openxmlformats.org/drawingml/2006/main">
              <a:ext uri="{FF2B5EF4-FFF2-40B4-BE49-F238E27FC236}">
                <a16:creationId xmlns:a16="http://schemas.microsoft.com/office/drawing/2014/main" id="{565F8917-90D2-481D-A470-DE940CD197F7}"/>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014445E-89B2-42C8-B698-A96886666446}"/>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Socket evidence shows whether a transport endpoint is listening</a:t>
            </a:r>
          </a:p>
        </p:txBody>
      </p:sp>
      <p:sp>
        <p:nvSpPr>
          <p:cNvPr id="13" name="">
            <a:extLst xmlns:a="http://schemas.openxmlformats.org/drawingml/2006/main">
              <a:ext uri="{FF2B5EF4-FFF2-40B4-BE49-F238E27FC236}">
                <a16:creationId xmlns:a16="http://schemas.microsoft.com/office/drawing/2014/main" id="{4A114E63-7F64-4E9E-82EC-D1151B8512F9}"/>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C7E7F01-CED6-45B9-B53E-B4FE85F3BE74}"/>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A real client proves application-visible behavior</a:t>
            </a:r>
          </a:p>
        </p:txBody>
      </p:sp>
    </p:spTree>
    <p:extLst>
      <p:ext uri="{BB962C8B-B14F-4D97-AF65-F5344CB8AC3E}">
        <p14:creationId xmlns:p14="http://schemas.microsoft.com/office/powerpoint/2010/main" val="1073703719"/>
      </p:ext>
    </p:extLst>
  </p:cSld>
</p:sld>
</file>

<file path=ppt/slides/slide92.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4D0031E-5018-44CC-9C24-29D19A7939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A5E7AD4-5039-422F-B5E3-4B27C54EC77A}"/>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9 · WORKED EXAMPLE</a:t>
            </a:r>
          </a:p>
        </p:txBody>
      </p:sp>
      <p:sp>
        <p:nvSpPr>
          <p:cNvPr id="3" name="">
            <a:extLst xmlns:a="http://schemas.openxmlformats.org/drawingml/2006/main">
              <a:ext uri="{FF2B5EF4-FFF2-40B4-BE49-F238E27FC236}">
                <a16:creationId xmlns:a16="http://schemas.microsoft.com/office/drawing/2014/main" id="{2DBB4D24-3C3A-4D9A-80C1-D7FEEE187660}"/>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7AD79A33-CF88-4E37-9E14-968F597BEC7F}"/>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92</a:t>
            </a:r>
          </a:p>
        </p:txBody>
      </p:sp>
      <p:sp>
        <p:nvSpPr>
          <p:cNvPr id="5" name="">
            <a:extLst xmlns:a="http://schemas.openxmlformats.org/drawingml/2006/main">
              <a:ext uri="{FF2B5EF4-FFF2-40B4-BE49-F238E27FC236}">
                <a16:creationId xmlns:a16="http://schemas.microsoft.com/office/drawing/2014/main" id="{D4B69D7B-95F6-4248-AA64-A72587EC178F}"/>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Trace one service through four layers</a:t>
            </a:r>
          </a:p>
        </p:txBody>
      </p:sp>
      <p:sp>
        <p:nvSpPr>
          <p:cNvPr id="6" name="">
            <a:extLst xmlns:a="http://schemas.openxmlformats.org/drawingml/2006/main">
              <a:ext uri="{FF2B5EF4-FFF2-40B4-BE49-F238E27FC236}">
                <a16:creationId xmlns:a16="http://schemas.microsoft.com/office/drawing/2014/main" id="{CCE84CB7-FDAC-443E-BF79-7872A793259F}"/>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5A00FD5-23D4-4BBF-BCDF-A5ECD9574BF0}"/>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pid=$(systemctl show course-probe -p MainPID --value)</a:t>
            </a:r>
          </a:p>
          <a:p xmlns:a="http://schemas.openxmlformats.org/drawingml/2006/main">
            <a:pPr algn="l">
              <a:buNone/>
              <a:defRPr sz="1575" b="0">
                <a:solidFill>
                  <a:srgbClr val="F7F1FA"/>
                </a:solidFill>
              </a:defRPr>
            </a:pPr>
            <a:r>
              <a:rPr sz="1575" b="0">
                <a:solidFill>
                  <a:srgbClr val="F7F1FA"/>
                </a:solidFill>
              </a:rPr>
              <a:t>ps -o pid,ppid,user,stat,cmd -p "$pid"</a:t>
            </a:r>
          </a:p>
          <a:p xmlns:a="http://schemas.openxmlformats.org/drawingml/2006/main">
            <a:pPr algn="l">
              <a:buNone/>
              <a:defRPr sz="1575" b="0">
                <a:solidFill>
                  <a:srgbClr val="F7F1FA"/>
                </a:solidFill>
              </a:defRPr>
            </a:pPr>
            <a:r>
              <a:rPr sz="1575" b="0">
                <a:solidFill>
                  <a:srgbClr val="F7F1FA"/>
                </a:solidFill>
              </a:rPr>
              <a:t>sudo ss -ltnp 'sport = :9099'</a:t>
            </a:r>
          </a:p>
          <a:p xmlns:a="http://schemas.openxmlformats.org/drawingml/2006/main">
            <a:pPr algn="l">
              <a:buNone/>
              <a:defRPr sz="1575" b="0">
                <a:solidFill>
                  <a:srgbClr val="F7F1FA"/>
                </a:solidFill>
              </a:defRPr>
            </a:pPr>
            <a:r>
              <a:rPr sz="1575" b="0">
                <a:solidFill>
                  <a:srgbClr val="F7F1FA"/>
                </a:solidFill>
              </a:rPr>
              <a:t>curl --fail http://127.0.0.1:9099/</a:t>
            </a:r>
          </a:p>
        </p:txBody>
      </p:sp>
      <p:sp>
        <p:nvSpPr>
          <p:cNvPr id="8" name="">
            <a:extLst xmlns:a="http://schemas.openxmlformats.org/drawingml/2006/main">
              <a:ext uri="{FF2B5EF4-FFF2-40B4-BE49-F238E27FC236}">
                <a16:creationId xmlns:a16="http://schemas.microsoft.com/office/drawing/2014/main" id="{91F1D73D-6B19-4265-AB84-1739EEC606EE}"/>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3C0F7E1-D206-4EDA-A489-7FE2FBB368E0}"/>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MainPID is the one process systemd owns for this service.</a:t>
            </a:r>
          </a:p>
        </p:txBody>
      </p:sp>
      <p:sp>
        <p:nvSpPr>
          <p:cNvPr id="10" name="">
            <a:extLst xmlns:a="http://schemas.openxmlformats.org/drawingml/2006/main">
              <a:ext uri="{FF2B5EF4-FFF2-40B4-BE49-F238E27FC236}">
                <a16:creationId xmlns:a16="http://schemas.microsoft.com/office/drawing/2014/main" id="{A3856B13-BC1A-4EE7-A790-BE8E82A2D2B4}"/>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FFBA4380-0A4E-477B-9145-573AD1AB8C0B}"/>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ss -ltnp maps the port to a listening process (sudo for the name).</a:t>
            </a:r>
          </a:p>
        </p:txBody>
      </p:sp>
      <p:sp>
        <p:nvSpPr>
          <p:cNvPr id="12" name="">
            <a:extLst xmlns:a="http://schemas.openxmlformats.org/drawingml/2006/main">
              <a:ext uri="{FF2B5EF4-FFF2-40B4-BE49-F238E27FC236}">
                <a16:creationId xmlns:a16="http://schemas.microsoft.com/office/drawing/2014/main" id="{D028093C-2BE4-403A-960C-14AE7CB0163F}"/>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3B897D33-60DB-4F07-8994-1814C9082178}"/>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curl --fail is the only line that speaks for a real client.</a:t>
            </a:r>
          </a:p>
        </p:txBody>
      </p:sp>
      <p:sp>
        <p:nvSpPr>
          <p:cNvPr id="13" name="">
            <a:extLst xmlns:a="http://schemas.openxmlformats.org/drawingml/2006/main">
              <a:ext uri="{FF2B5EF4-FFF2-40B4-BE49-F238E27FC236}">
                <a16:creationId xmlns:a16="http://schemas.microsoft.com/office/drawing/2014/main" id="{3B897D33-60DB-4F07-8994-1814C9082178}"/>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curl --fail: an HTTP error becomes a non-zero exit, not a nice page.</a:t>
            </a:r>
          </a:p>
        </p:txBody>
      </p:sp>
      <p:sp>
        <p:nvSpPr>
          <p:cNvPr id="12" name="">
            <a:extLst xmlns:a="http://schemas.openxmlformats.org/drawingml/2006/main">
              <a:ext uri="{FF2B5EF4-FFF2-40B4-BE49-F238E27FC236}">
                <a16:creationId xmlns:a16="http://schemas.microsoft.com/office/drawing/2014/main" id="{D028093C-2BE4-403A-960C-14AE7CB0163F}"/>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408779697"/>
      </p:ext>
    </p:extLst>
  </p:cSld>
</p:sld>
</file>

<file path=ppt/slides/slide93.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DAE3858-3F20-4883-905D-49EF14C222F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DE71187-F119-4D23-869B-50BC59271776}"/>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9 · GUIDED COMMANDS</a:t>
            </a:r>
          </a:p>
        </p:txBody>
      </p:sp>
      <p:sp>
        <p:nvSpPr>
          <p:cNvPr id="3" name="">
            <a:extLst xmlns:a="http://schemas.openxmlformats.org/drawingml/2006/main">
              <a:ext uri="{FF2B5EF4-FFF2-40B4-BE49-F238E27FC236}">
                <a16:creationId xmlns:a16="http://schemas.microsoft.com/office/drawing/2014/main" id="{8A92790D-E988-46B0-915A-F41170BE208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880F54F8-B303-4E60-BCB1-B767F9D71C8D}"/>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93</a:t>
            </a:r>
          </a:p>
        </p:txBody>
      </p:sp>
      <p:sp>
        <p:nvSpPr>
          <p:cNvPr id="5" name="">
            <a:extLst xmlns:a="http://schemas.openxmlformats.org/drawingml/2006/main">
              <a:ext uri="{FF2B5EF4-FFF2-40B4-BE49-F238E27FC236}">
                <a16:creationId xmlns:a16="http://schemas.microsoft.com/office/drawing/2014/main" id="{5BDE0D04-8C41-4505-A3EB-B7651BD410D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6DBC315E-E26B-4875-98FF-309091826D7F}"/>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9165DD28-DDBF-4041-9E0E-F09789550C12}"/>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systemctl show -p MainPID</a:t>
            </a:r>
          </a:p>
        </p:txBody>
      </p:sp>
      <p:sp>
        <p:nvSpPr>
          <p:cNvPr id="8" name="">
            <a:extLst xmlns:a="http://schemas.openxmlformats.org/drawingml/2006/main">
              <a:ext uri="{FF2B5EF4-FFF2-40B4-BE49-F238E27FC236}">
                <a16:creationId xmlns:a16="http://schemas.microsoft.com/office/drawing/2014/main" id="{B12AF2DA-3ECD-4804-9DEC-76E2595DAC25}"/>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the service's main process id</a:t>
            </a:r>
          </a:p>
        </p:txBody>
      </p:sp>
      <p:sp>
        <p:nvSpPr>
          <p:cNvPr id="9" name="">
            <a:extLst xmlns:a="http://schemas.openxmlformats.org/drawingml/2006/main">
              <a:ext uri="{FF2B5EF4-FFF2-40B4-BE49-F238E27FC236}">
                <a16:creationId xmlns:a16="http://schemas.microsoft.com/office/drawing/2014/main" id="{FF32F8FC-C937-4F48-A8EF-EC96F6CE690E}"/>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667DD0C5-716C-4525-8D3D-986E1A04F982}"/>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ps -p PID</a:t>
            </a:r>
          </a:p>
        </p:txBody>
      </p:sp>
      <p:sp>
        <p:nvSpPr>
          <p:cNvPr id="11" name="">
            <a:extLst xmlns:a="http://schemas.openxmlformats.org/drawingml/2006/main">
              <a:ext uri="{FF2B5EF4-FFF2-40B4-BE49-F238E27FC236}">
                <a16:creationId xmlns:a16="http://schemas.microsoft.com/office/drawing/2014/main" id="{36AB2FDC-684F-4BF3-8D10-859DC7039C79}"/>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one process: user, state, command ( -o picks columns )</a:t>
            </a:r>
          </a:p>
        </p:txBody>
      </p:sp>
      <p:sp>
        <p:nvSpPr>
          <p:cNvPr id="12" name="">
            <a:extLst xmlns:a="http://schemas.openxmlformats.org/drawingml/2006/main">
              <a:ext uri="{FF2B5EF4-FFF2-40B4-BE49-F238E27FC236}">
                <a16:creationId xmlns:a16="http://schemas.microsoft.com/office/drawing/2014/main" id="{D9E2130D-D744-4365-899C-BE660FB2130E}"/>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A37C9685-4EDD-441E-9831-44918ED9E21D}"/>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/proc/PID/cmdline</a:t>
            </a:r>
          </a:p>
        </p:txBody>
      </p:sp>
      <p:sp>
        <p:nvSpPr>
          <p:cNvPr id="14" name="">
            <a:extLst xmlns:a="http://schemas.openxmlformats.org/drawingml/2006/main">
              <a:ext uri="{FF2B5EF4-FFF2-40B4-BE49-F238E27FC236}">
                <a16:creationId xmlns:a16="http://schemas.microsoft.com/office/drawing/2014/main" id="{FBF8B59F-C1CD-4DCC-879F-6902C265FDEF}"/>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exact argv, NUL-separated — supporting evidence</a:t>
            </a:r>
          </a:p>
        </p:txBody>
      </p:sp>
      <p:sp>
        <p:nvSpPr>
          <p:cNvPr id="15" name="">
            <a:extLst xmlns:a="http://schemas.openxmlformats.org/drawingml/2006/main">
              <a:ext uri="{FF2B5EF4-FFF2-40B4-BE49-F238E27FC236}">
                <a16:creationId xmlns:a16="http://schemas.microsoft.com/office/drawing/2014/main" id="{E009C153-D5C8-4597-BE15-6C0288A13EBA}"/>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842E1A-34A2-4F0E-A849-933A35F7E88E}"/>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ss -ltnp</a:t>
            </a:r>
          </a:p>
        </p:txBody>
      </p:sp>
      <p:sp>
        <p:nvSpPr>
          <p:cNvPr id="17" name="">
            <a:extLst xmlns:a="http://schemas.openxmlformats.org/drawingml/2006/main">
              <a:ext uri="{FF2B5EF4-FFF2-40B4-BE49-F238E27FC236}">
                <a16:creationId xmlns:a16="http://schemas.microsoft.com/office/drawing/2014/main" id="{D9092B67-F5E0-4DB9-A57A-4D7193DB79BB}"/>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listening TCP sockets + owning process ( l t n p )</a:t>
            </a:r>
          </a:p>
        </p:txBody>
      </p:sp>
      <p:sp>
        <p:nvSpPr>
          <p:cNvPr id="18" name="">
            <a:extLst xmlns:a="http://schemas.openxmlformats.org/drawingml/2006/main">
              <a:ext uri="{FF2B5EF4-FFF2-40B4-BE49-F238E27FC236}">
                <a16:creationId xmlns:a16="http://schemas.microsoft.com/office/drawing/2014/main" id="{945E2B72-0F7C-4084-BA54-2F9C75DEBFE7}"/>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CE319FEF-379A-41FF-931C-7D2561E2C2A0}"/>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curl --fail URL</a:t>
            </a:r>
          </a:p>
        </p:txBody>
      </p:sp>
      <p:sp>
        <p:nvSpPr>
          <p:cNvPr id="20" name="">
            <a:extLst xmlns:a="http://schemas.openxmlformats.org/drawingml/2006/main">
              <a:ext uri="{FF2B5EF4-FFF2-40B4-BE49-F238E27FC236}">
                <a16:creationId xmlns:a16="http://schemas.microsoft.com/office/drawing/2014/main" id="{99047A63-D30F-4EE5-9F9D-6EB50E71C6C5}"/>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client test; --fail makes an HTTP error a non-zero exit</a:t>
            </a:r>
          </a:p>
        </p:txBody>
      </p:sp>
      <p:sp>
        <p:nvSpPr>
          <p:cNvPr id="19" name="">
            <a:extLst xmlns:a="http://schemas.openxmlformats.org/drawingml/2006/main">
              <a:ext uri="{FF2B5EF4-FFF2-40B4-BE49-F238E27FC236}">
                <a16:creationId xmlns:a16="http://schemas.microsoft.com/office/drawing/2014/main" id="{CE319FEF-379A-41FF-931C-7D2561E2C2A0}"/>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htop</a:t>
            </a:r>
          </a:p>
        </p:txBody>
      </p:sp>
      <p:sp>
        <p:nvSpPr>
          <p:cNvPr id="20" name="">
            <a:extLst xmlns:a="http://schemas.openxmlformats.org/drawingml/2006/main">
              <a:ext uri="{FF2B5EF4-FFF2-40B4-BE49-F238E27FC236}">
                <a16:creationId xmlns:a16="http://schemas.microsoft.com/office/drawing/2014/main" id="{99047A63-D30F-4EE5-9F9D-6EB50E71C6C5}"/>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live processes, CPU/mem, tree, search — F9 to signal</a:t>
            </a:r>
          </a:p>
        </p:txBody>
      </p:sp>
      <p:sp>
        <p:nvSpPr>
          <p:cNvPr id="18" name="">
            <a:extLst xmlns:a="http://schemas.openxmlformats.org/drawingml/2006/main">
              <a:ext uri="{FF2B5EF4-FFF2-40B4-BE49-F238E27FC236}">
                <a16:creationId xmlns:a16="http://schemas.microsoft.com/office/drawing/2014/main" id="{945E2B72-0F7C-4084-BA54-2F9C75DEBFE7}"/>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409890687"/>
      </p:ext>
    </p:extLst>
  </p:cSld>
</p:sld>
</file>

<file path=ppt/slides/slide94.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970757D-C934-4302-98C0-BA64D744AA6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83DB8F-B158-4F3C-9998-7CB9389D2BC2}"/>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9 · LIVE DEMO</a:t>
            </a:r>
          </a:p>
        </p:txBody>
      </p:sp>
      <p:sp>
        <p:nvSpPr>
          <p:cNvPr id="3" name="">
            <a:extLst xmlns:a="http://schemas.openxmlformats.org/drawingml/2006/main">
              <a:ext uri="{FF2B5EF4-FFF2-40B4-BE49-F238E27FC236}">
                <a16:creationId xmlns:a16="http://schemas.microsoft.com/office/drawing/2014/main" id="{FE5828E6-55CC-4A74-85B6-5E80248E727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391FB8A5-B9E7-4DF0-A1D2-B4551295B76B}"/>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94</a:t>
            </a:r>
          </a:p>
        </p:txBody>
      </p:sp>
      <p:sp>
        <p:nvSpPr>
          <p:cNvPr id="5" name="">
            <a:extLst xmlns:a="http://schemas.openxmlformats.org/drawingml/2006/main">
              <a:ext uri="{FF2B5EF4-FFF2-40B4-BE49-F238E27FC236}">
                <a16:creationId xmlns:a16="http://schemas.microsoft.com/office/drawing/2014/main" id="{12F9AA0E-7902-4F4C-AF07-8D2C28168FF1}"/>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four layers, one service</a:t>
            </a:r>
          </a:p>
        </p:txBody>
      </p:sp>
      <p:sp>
        <p:nvSpPr>
          <p:cNvPr id="6" name="">
            <a:extLst xmlns:a="http://schemas.openxmlformats.org/drawingml/2006/main">
              <a:ext uri="{FF2B5EF4-FFF2-40B4-BE49-F238E27FC236}">
                <a16:creationId xmlns:a16="http://schemas.microsoft.com/office/drawing/2014/main" id="{98F334E0-6A9A-40FA-A1EB-4CCB24B3205B}"/>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Trace one service through all four layers, then stop it and confirm the socket is released.</a:t>
            </a:r>
          </a:p>
        </p:txBody>
      </p:sp>
      <p:sp>
        <p:nvSpPr>
          <p:cNvPr id="7" name="">
            <a:extLst xmlns:a="http://schemas.openxmlformats.org/drawingml/2006/main">
              <a:ext uri="{FF2B5EF4-FFF2-40B4-BE49-F238E27FC236}">
                <a16:creationId xmlns:a16="http://schemas.microsoft.com/office/drawing/2014/main" id="{4DEA1655-28E6-4EE0-BBC1-7C3131B452A5}"/>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3F5526D-C917-41DB-B8B8-245A83E69037}"/>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Trace demo-echo.service through MainPID, ps, command line, port 9191, and HTTP; stop it through systemd and prove the socket disappears.</a:t>
            </a:r>
          </a:p>
        </p:txBody>
      </p:sp>
      <p:sp>
        <p:nvSpPr>
          <p:cNvPr id="9" name="">
            <a:extLst xmlns:a="http://schemas.openxmlformats.org/drawingml/2006/main">
              <a:ext uri="{FF2B5EF4-FFF2-40B4-BE49-F238E27FC236}">
                <a16:creationId xmlns:a16="http://schemas.microsoft.com/office/drawing/2014/main" id="{A413B190-07B2-4882-97DA-97E6BE98998B}"/>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94CF863-C796-4987-9A96-CEE7EE7EF209}"/>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show demo-echo -p MainPID → ps -p that PID — manager to process</a:t>
            </a:r>
          </a:p>
        </p:txBody>
      </p:sp>
      <p:sp>
        <p:nvSpPr>
          <p:cNvPr id="11" name="">
            <a:extLst xmlns:a="http://schemas.openxmlformats.org/drawingml/2006/main">
              <a:ext uri="{FF2B5EF4-FFF2-40B4-BE49-F238E27FC236}">
                <a16:creationId xmlns:a16="http://schemas.microsoft.com/office/drawing/2014/main" id="{39503324-81EF-4911-8661-FE2E011E506A}"/>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88645AC-DCF9-499D-8DD2-6104EC410C9F}"/>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sudo ss -ltnp 'sport = :9191' — the listener, owned by that process</a:t>
            </a:r>
          </a:p>
        </p:txBody>
      </p:sp>
      <p:sp>
        <p:nvSpPr>
          <p:cNvPr id="13" name="">
            <a:extLst xmlns:a="http://schemas.openxmlformats.org/drawingml/2006/main">
              <a:ext uri="{FF2B5EF4-FFF2-40B4-BE49-F238E27FC236}">
                <a16:creationId xmlns:a16="http://schemas.microsoft.com/office/drawing/2014/main" id="{44C620A9-7908-467E-BA65-F750793CC32D}"/>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5BC8A68F-C6B9-4322-892C-F17B80952860}"/>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curl --fail localhost:9191 — the client's verdict on behaviour</a:t>
            </a:r>
          </a:p>
        </p:txBody>
      </p:sp>
      <p:sp>
        <p:nvSpPr>
          <p:cNvPr id="15" name="">
            <a:extLst xmlns:a="http://schemas.openxmlformats.org/drawingml/2006/main">
              <a:ext uri="{FF2B5EF4-FFF2-40B4-BE49-F238E27FC236}">
                <a16:creationId xmlns:a16="http://schemas.microsoft.com/office/drawing/2014/main" id="{E0D977F3-0501-4036-ACEE-11495C6BCFFB}"/>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5F696977-80EB-4456-ABBC-41D954C0C70E}"/>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stop demo-echo → ss again — the socket is gone</a:t>
            </a:r>
          </a:p>
        </p:txBody>
      </p:sp>
      <p:sp>
        <p:nvSpPr>
          <p:cNvPr id="17" name="">
            <a:extLst xmlns:a="http://schemas.openxmlformats.org/drawingml/2006/main">
              <a:ext uri="{FF2B5EF4-FFF2-40B4-BE49-F238E27FC236}">
                <a16:creationId xmlns:a16="http://schemas.microsoft.com/office/drawing/2014/main" id="{1A197D07-9754-4A70-A296-D7F81087D60F}"/>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after the stop, what does each of the four layers report?</a:t>
            </a:r>
          </a:p>
        </p:txBody>
      </p:sp>
    </p:spTree>
    <p:extLst>
      <p:ext uri="{BB962C8B-B14F-4D97-AF65-F5344CB8AC3E}">
        <p14:creationId xmlns:p14="http://schemas.microsoft.com/office/powerpoint/2010/main" val="303724580"/>
      </p:ext>
    </p:extLst>
  </p:cSld>
</p:sld>
</file>

<file path=ppt/slides/slide95.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5F9E745-D567-4751-9539-8478773C4F5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2F0601D-DFE2-4270-AA77-1C39C58F72F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9</a:t>
            </a:r>
          </a:p>
        </p:txBody>
      </p:sp>
      <p:sp>
        <p:nvSpPr>
          <p:cNvPr id="3" name="">
            <a:extLst xmlns:a="http://schemas.openxmlformats.org/drawingml/2006/main">
              <a:ext uri="{FF2B5EF4-FFF2-40B4-BE49-F238E27FC236}">
                <a16:creationId xmlns:a16="http://schemas.microsoft.com/office/drawing/2014/main" id="{E96E4C83-560D-4F6D-9F79-3C2065B0665B}"/>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6B73EB08-84BA-4AC3-8A77-AFB4671535C1}"/>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95</a:t>
            </a:r>
          </a:p>
        </p:txBody>
      </p:sp>
      <p:sp>
        <p:nvSpPr>
          <p:cNvPr id="5" name="">
            <a:extLst xmlns:a="http://schemas.openxmlformats.org/drawingml/2006/main">
              <a:ext uri="{FF2B5EF4-FFF2-40B4-BE49-F238E27FC236}">
                <a16:creationId xmlns:a16="http://schemas.microsoft.com/office/drawing/2014/main" id="{986A1F20-E62F-4B32-A199-AD76DAE80706}"/>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Processes, sockets, and client-visible behavior</a:t>
            </a:r>
          </a:p>
        </p:txBody>
      </p:sp>
      <p:sp>
        <p:nvSpPr>
          <p:cNvPr id="6" name="">
            <a:extLst xmlns:a="http://schemas.openxmlformats.org/drawingml/2006/main">
              <a:ext uri="{FF2B5EF4-FFF2-40B4-BE49-F238E27FC236}">
                <a16:creationId xmlns:a16="http://schemas.microsoft.com/office/drawing/2014/main" id="{BE430B58-4A05-45A9-BAAE-AF171969C356}"/>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15 minutes: trace a service end to end, then verify its removal.</a:t>
            </a:r>
          </a:p>
        </p:txBody>
      </p:sp>
      <p:sp>
        <p:nvSpPr>
          <p:cNvPr id="7" name="">
            <a:extLst xmlns:a="http://schemas.openxmlformats.org/drawingml/2006/main">
              <a:ext uri="{FF2B5EF4-FFF2-40B4-BE49-F238E27FC236}">
                <a16:creationId xmlns:a16="http://schemas.microsoft.com/office/drawing/2014/main" id="{7B0148A5-D8F7-44EA-BDC4-D3D5D76A954D}"/>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0D1AD6B-6810-4DE9-8CF9-50DF8CB3C153}"/>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Trace course-probe.service through unit, PID, user, command line, port 9099, and HTTP, then stop it and prove the listener is gone.</a:t>
            </a:r>
          </a:p>
        </p:txBody>
      </p:sp>
      <p:sp>
        <p:nvSpPr>
          <p:cNvPr id="9" name="">
            <a:extLst xmlns:a="http://schemas.openxmlformats.org/drawingml/2006/main">
              <a:ext uri="{FF2B5EF4-FFF2-40B4-BE49-F238E27FC236}">
                <a16:creationId xmlns:a16="http://schemas.microsoft.com/office/drawing/2014/main" id="{ABB864BF-749F-48D0-9322-097631594F6D}"/>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427045B-8E24-44D3-99EB-1420A967FC79}"/>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15 minutes</a:t>
            </a:r>
          </a:p>
        </p:txBody>
      </p:sp>
      <p:sp>
        <p:nvSpPr>
          <p:cNvPr id="11" name="">
            <a:extLst xmlns:a="http://schemas.openxmlformats.org/drawingml/2006/main">
              <a:ext uri="{FF2B5EF4-FFF2-40B4-BE49-F238E27FC236}">
                <a16:creationId xmlns:a16="http://schemas.microsoft.com/office/drawing/2014/main" id="{3D470EFA-7650-439F-B950-C775FC3E911A}"/>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4D388DAB-08A5-4CF6-9227-5C5FE5307D7E}"/>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393F6FEF-CE63-4909-BB37-D52704BBBF6B}"/>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1804713-D138-4C49-AA5C-5C2873AAD960}"/>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7883D0B7-F7B8-475F-A83C-F5027EC8F3FE}"/>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4164DC7E-88FF-4E0B-9CCD-B9F45DEF4E18}"/>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0F9B7503-F831-40D4-85B0-53B2B7146AD8}"/>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1251771473"/>
      </p:ext>
    </p:extLst>
  </p:cSld>
</p:sld>
</file>

<file path=ppt/slides/slide9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1194263-0E34-4A61-B83F-62E501294BB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07E9386-E333-422D-B804-987934157FF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9 · DEBRIEF</a:t>
            </a:r>
          </a:p>
        </p:txBody>
      </p:sp>
      <p:sp>
        <p:nvSpPr>
          <p:cNvPr id="3" name="">
            <a:extLst xmlns:a="http://schemas.openxmlformats.org/drawingml/2006/main">
              <a:ext uri="{FF2B5EF4-FFF2-40B4-BE49-F238E27FC236}">
                <a16:creationId xmlns:a16="http://schemas.microsoft.com/office/drawing/2014/main" id="{B64DC267-3966-44F0-ADA7-849BF369127A}"/>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E77BE851-53EC-4351-8363-C821231677E2}"/>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96</a:t>
            </a:r>
          </a:p>
        </p:txBody>
      </p:sp>
      <p:sp>
        <p:nvSpPr>
          <p:cNvPr id="5" name="">
            <a:extLst xmlns:a="http://schemas.openxmlformats.org/drawingml/2006/main">
              <a:ext uri="{FF2B5EF4-FFF2-40B4-BE49-F238E27FC236}">
                <a16:creationId xmlns:a16="http://schemas.microsoft.com/office/drawing/2014/main" id="{777F3FF8-8CED-40CF-89B7-79FFF1D18A03}"/>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A7110D86-8C74-4E0E-AAAC-FE382A98E1C6}"/>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1F3215DF-9F0E-4E6D-95C6-E292CE1E72B3}"/>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7754D9B-001E-4A8B-BBF8-AE4CB8C1F906}"/>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No single interface proves the whole service. Next, unit layering will make a configuration change without editing the supplied fragment.</a:t>
            </a:r>
          </a:p>
        </p:txBody>
      </p:sp>
      <p:sp>
        <p:nvSpPr>
          <p:cNvPr id="9" name="">
            <a:extLst xmlns:a="http://schemas.openxmlformats.org/drawingml/2006/main">
              <a:ext uri="{FF2B5EF4-FFF2-40B4-BE49-F238E27FC236}">
                <a16:creationId xmlns:a16="http://schemas.microsoft.com/office/drawing/2014/main" id="{B3E49E4E-0920-4A21-8E8D-26D127023620}"/>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749767B6-D8BD-4B17-8F32-08F70106B691}"/>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E24128D3-2725-40C8-A47E-3EB4B5FFDBD3}"/>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A642A48-EB83-4A85-895E-2C9B44CFA376}"/>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614B86B9-49BE-4518-AAC8-2BA0F85AF1C0}"/>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DBB19A7-FBF9-4FDF-B22A-817A7B9AB762}"/>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639289145"/>
      </p:ext>
    </p:extLst>
  </p:cSld>
</p:sld>
</file>

<file path=ppt/slides/slide97.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95BAB7-07B5-44F9-BAF4-6A1ABB3DA88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2032E93-14DA-4D78-826C-C15C3CF47BC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10</a:t>
            </a:r>
          </a:p>
        </p:txBody>
      </p:sp>
      <p:sp>
        <p:nvSpPr>
          <p:cNvPr id="3" name="">
            <a:extLst xmlns:a="http://schemas.openxmlformats.org/drawingml/2006/main">
              <a:ext uri="{FF2B5EF4-FFF2-40B4-BE49-F238E27FC236}">
                <a16:creationId xmlns:a16="http://schemas.microsoft.com/office/drawing/2014/main" id="{847152CD-FEEB-463A-9961-197594C69AAC}"/>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1D6AE864-FB8D-47F1-8020-5863CB40F9F1}"/>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97</a:t>
            </a:r>
          </a:p>
        </p:txBody>
      </p:sp>
      <p:sp>
        <p:nvSpPr>
          <p:cNvPr id="5" name="">
            <a:extLst xmlns:a="http://schemas.openxmlformats.org/drawingml/2006/main">
              <a:ext uri="{FF2B5EF4-FFF2-40B4-BE49-F238E27FC236}">
                <a16:creationId xmlns:a16="http://schemas.microsoft.com/office/drawing/2014/main" id="{8B99CF1C-1829-4046-B926-835491804A5A}"/>
              </a:ext>
            </a:extLst>
          </p:cNvPr>
          <p:cNvSpPr>
            <a:spLocks xmlns:a="http://schemas.openxmlformats.org/drawingml/2006/main" noGrp="1"/>
          </p:cNvSpPr>
          <p:nvPr/>
        </p:nvSpPr>
        <p:spPr>
          <a:xfrm xmlns:a="http://schemas.openxmlformats.org/drawingml/2006/main">
            <a:off x="666750" y="11239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5400" b="1">
                <a:solidFill>
                  <a:srgbClr val="FF6F61"/>
                </a:solidFill>
              </a:defRPr>
            </a:pPr>
            <a:r>
              <a:rPr sz="5400" b="1">
                <a:solidFill>
                  <a:srgbClr val="FF6F61"/>
                </a:solidFill>
              </a:rPr>
              <a:t>10</a:t>
            </a:r>
          </a:p>
        </p:txBody>
      </p:sp>
      <p:sp>
        <p:nvSpPr>
          <p:cNvPr id="6" name="">
            <a:extLst xmlns:a="http://schemas.openxmlformats.org/drawingml/2006/main">
              <a:ext uri="{FF2B5EF4-FFF2-40B4-BE49-F238E27FC236}">
                <a16:creationId xmlns:a16="http://schemas.microsoft.com/office/drawing/2014/main" id="{31D6EE88-8278-4310-8E90-BCFB726C42BB}"/>
              </a:ext>
            </a:extLst>
          </p:cNvPr>
          <p:cNvSpPr>
            <a:spLocks xmlns:a="http://schemas.openxmlformats.org/drawingml/2006/main" noGrp="1"/>
          </p:cNvSpPr>
          <p:nvPr/>
        </p:nvSpPr>
        <p:spPr>
          <a:xfrm xmlns:a="http://schemas.openxmlformats.org/drawingml/2006/main">
            <a:off x="2381250" y="112395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a:solidFill>
                  <a:srgbClr val="FFFFFF"/>
                </a:solidFill>
              </a:defRPr>
            </a:pPr>
            <a:r>
              <a:rPr sz="3150" b="1">
                <a:solidFill>
                  <a:srgbClr val="FFFFFF"/>
                </a:solidFill>
              </a:rPr>
              <a:t>Unit layering, drop-ins, reloads, and durable changes</a:t>
            </a:r>
          </a:p>
        </p:txBody>
      </p:sp>
      <p:sp>
        <p:nvSpPr>
          <p:cNvPr id="7" name="">
            <a:extLst xmlns:a="http://schemas.openxmlformats.org/drawingml/2006/main">
              <a:ext uri="{FF2B5EF4-FFF2-40B4-BE49-F238E27FC236}">
                <a16:creationId xmlns:a16="http://schemas.microsoft.com/office/drawing/2014/main" id="{807D47FA-B2CB-4E1C-B7C9-00C6AB4A5B0A}"/>
              </a:ext>
            </a:extLst>
          </p:cNvPr>
          <p:cNvSpPr>
            <a:spLocks xmlns:a="http://schemas.openxmlformats.org/drawingml/2006/main" noGrp="1"/>
          </p:cNvSpPr>
          <p:nvPr/>
        </p:nvSpPr>
        <p:spPr>
          <a:xfrm xmlns:a="http://schemas.openxmlformats.org/drawingml/2006/main">
            <a:off x="2381250" y="2400300"/>
            <a:ext cx="781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0">
                <a:solidFill>
                  <a:srgbClr val="E9DFED"/>
                </a:solidFill>
              </a:defRPr>
            </a:pPr>
            <a:r>
              <a:rPr sz="1950" b="0">
                <a:solidFill>
                  <a:srgbClr val="E9DFED"/>
                </a:solidFill>
              </a:rPr>
              <a:t>How can an administrator override a unit without forking the vendor file?</a:t>
            </a:r>
          </a:p>
        </p:txBody>
      </p:sp>
      <p:sp>
        <p:nvSpPr>
          <p:cNvPr id="8" name="">
            <a:extLst xmlns:a="http://schemas.openxmlformats.org/drawingml/2006/main">
              <a:ext uri="{FF2B5EF4-FFF2-40B4-BE49-F238E27FC236}">
                <a16:creationId xmlns:a16="http://schemas.microsoft.com/office/drawing/2014/main" id="{7235022F-C229-4E35-AE76-C70DBB44FDAC}"/>
              </a:ext>
            </a:extLst>
          </p:cNvPr>
          <p:cNvSpPr>
            <a:spLocks xmlns:a="http://schemas.openxmlformats.org/drawingml/2006/main" noGrp="1"/>
          </p:cNvSpPr>
          <p:nvPr/>
        </p:nvSpPr>
        <p:spPr>
          <a:xfrm xmlns:a="http://schemas.openxmlformats.org/drawingml/2006/main">
            <a:off x="2381250" y="3790950"/>
            <a:ext cx="68580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60F2153F-95F0-4B3B-A0A1-5258A3A22785}"/>
              </a:ext>
            </a:extLst>
          </p:cNvPr>
          <p:cNvSpPr>
            <a:spLocks xmlns:a="http://schemas.openxmlformats.org/drawingml/2006/main" noGrp="1"/>
          </p:cNvSpPr>
          <p:nvPr/>
        </p:nvSpPr>
        <p:spPr>
          <a:xfrm xmlns:a="http://schemas.openxmlformats.org/drawingml/2006/main">
            <a:off x="2381250" y="4000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BFB1C7"/>
                </a:solidFill>
              </a:defRPr>
            </a:pPr>
            <a:r>
              <a:rPr sz="1275" b="0">
                <a:solidFill>
                  <a:srgbClr val="BFB1C7"/>
                </a:solidFill>
              </a:rPr>
              <a:t>systemd unit layering · Ubuntu 24.04</a:t>
            </a:r>
          </a:p>
        </p:txBody>
      </p:sp>
    </p:spTree>
    <p:extLst>
      <p:ext uri="{BB962C8B-B14F-4D97-AF65-F5344CB8AC3E}">
        <p14:creationId xmlns:p14="http://schemas.microsoft.com/office/powerpoint/2010/main" val="1912084026"/>
      </p:ext>
    </p:extLst>
  </p:cSld>
</p:sld>
</file>

<file path=ppt/slides/slide98.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7D6067-2604-44E3-B39C-4237B47980F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B0F89BB-ADCA-4D80-9589-19964AA65FC6}"/>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10 · MODEL</a:t>
            </a:r>
          </a:p>
        </p:txBody>
      </p:sp>
      <p:sp>
        <p:nvSpPr>
          <p:cNvPr id="3" name="">
            <a:extLst xmlns:a="http://schemas.openxmlformats.org/drawingml/2006/main">
              <a:ext uri="{FF2B5EF4-FFF2-40B4-BE49-F238E27FC236}">
                <a16:creationId xmlns:a16="http://schemas.microsoft.com/office/drawing/2014/main" id="{2070D7DD-260F-4790-9876-B9967FB4AE47}"/>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C915983B-66E3-44FE-B0B6-7D9AEF1139E5}"/>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98</a:t>
            </a:r>
          </a:p>
        </p:txBody>
      </p:sp>
      <p:sp>
        <p:nvSpPr>
          <p:cNvPr id="5" name="">
            <a:extLst xmlns:a="http://schemas.openxmlformats.org/drawingml/2006/main">
              <a:ext uri="{FF2B5EF4-FFF2-40B4-BE49-F238E27FC236}">
                <a16:creationId xmlns:a16="http://schemas.microsoft.com/office/drawing/2014/main" id="{89BE9BEC-1938-4DD1-9836-410A91AD6BF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Effective configuration is assembled from layers</a:t>
            </a:r>
          </a:p>
        </p:txBody>
      </p:sp>
      <p:sp>
        <p:nvSpPr>
          <p:cNvPr id="6" name="">
            <a:extLst xmlns:a="http://schemas.openxmlformats.org/drawingml/2006/main">
              <a:ext uri="{FF2B5EF4-FFF2-40B4-BE49-F238E27FC236}">
                <a16:creationId xmlns:a16="http://schemas.microsoft.com/office/drawing/2014/main" id="{7824DE90-E620-4DB8-AA46-83BBCC023583}"/>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Vendor fragments, administrator units, and drop-ins combine by load-path precedence.</a:t>
            </a:r>
          </a:p>
        </p:txBody>
      </p:sp>
      <p:sp>
        <p:nvSpPr>
          <p:cNvPr id="7" name="">
            <a:extLst xmlns:a="http://schemas.openxmlformats.org/drawingml/2006/main">
              <a:ext uri="{FF2B5EF4-FFF2-40B4-BE49-F238E27FC236}">
                <a16:creationId xmlns:a16="http://schemas.microsoft.com/office/drawing/2014/main" id="{0CB19B82-C014-4205-917B-AFA1A6CBE7FB}"/>
              </a:ext>
            </a:extLst>
          </p:cNvPr>
          <p:cNvSpPr>
            <a:spLocks xmlns:a="http://schemas.openxmlformats.org/drawingml/2006/main" noGrp="1"/>
          </p:cNvSpPr>
          <p:nvPr/>
        </p:nvSpPr>
        <p:spPr>
          <a:xfrm xmlns:a="http://schemas.openxmlformats.org/drawingml/2006/main">
            <a:off x="781050" y="31051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D0C6B16-9886-476A-8DF1-E82CCF1CAC0B}"/>
              </a:ext>
            </a:extLst>
          </p:cNvPr>
          <p:cNvSpPr>
            <a:spLocks xmlns:a="http://schemas.openxmlformats.org/drawingml/2006/main" noGrp="1"/>
          </p:cNvSpPr>
          <p:nvPr/>
        </p:nvSpPr>
        <p:spPr>
          <a:xfrm xmlns:a="http://schemas.openxmlformats.org/drawingml/2006/main">
            <a:off x="1028700" y="272415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A drop-in records a narrow override while the shipped fragment stays intact for updates and comparison.</a:t>
            </a:r>
          </a:p>
        </p:txBody>
      </p:sp>
      <p:sp>
        <p:nvSpPr>
          <p:cNvPr id="9" name="">
            <a:extLst xmlns:a="http://schemas.openxmlformats.org/drawingml/2006/main">
              <a:ext uri="{FF2B5EF4-FFF2-40B4-BE49-F238E27FC236}">
                <a16:creationId xmlns:a16="http://schemas.microsoft.com/office/drawing/2014/main" id="{819BAD83-6D17-4491-9CC6-7248FA06B822}"/>
              </a:ext>
            </a:extLst>
          </p:cNvPr>
          <p:cNvSpPr>
            <a:spLocks xmlns:a="http://schemas.openxmlformats.org/drawingml/2006/main" noGrp="1"/>
          </p:cNvSpPr>
          <p:nvPr/>
        </p:nvSpPr>
        <p:spPr>
          <a:xfrm xmlns:a="http://schemas.openxmlformats.org/drawingml/2006/main">
            <a:off x="781050" y="40005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1C5B8232-D1D6-4811-B061-802E7D2B1572}"/>
              </a:ext>
            </a:extLst>
          </p:cNvPr>
          <p:cNvSpPr>
            <a:spLocks xmlns:a="http://schemas.openxmlformats.org/drawingml/2006/main" noGrp="1"/>
          </p:cNvSpPr>
          <p:nvPr/>
        </p:nvSpPr>
        <p:spPr>
          <a:xfrm xmlns:a="http://schemas.openxmlformats.org/drawingml/2006/main">
            <a:off x="1028700" y="3619500"/>
            <a:ext cx="9563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211729"/>
                </a:solidFill>
              </a:defRPr>
            </a:pPr>
            <a:r>
              <a:rPr sz="1725" b="0">
                <a:solidFill>
                  <a:srgbClr val="211729"/>
                </a:solidFill>
              </a:rPr>
              <a:t>Some list-valued directives require an explicit reset before new entries are added.</a:t>
            </a:r>
          </a:p>
        </p:txBody>
      </p:sp>
    </p:spTree>
    <p:extLst>
      <p:ext uri="{BB962C8B-B14F-4D97-AF65-F5344CB8AC3E}">
        <p14:creationId xmlns:p14="http://schemas.microsoft.com/office/powerpoint/2010/main" val="1903434316"/>
      </p:ext>
    </p:extLst>
  </p:cSld>
</p:sld>
</file>

<file path=ppt/slides/slide99.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1958A06-66D4-4965-BB36-8601862346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44E452C-E1A7-4085-8CC4-AF863BDD2AD1}"/>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10 · BUILD THE MODEL</a:t>
            </a:r>
          </a:p>
        </p:txBody>
      </p:sp>
      <p:sp>
        <p:nvSpPr>
          <p:cNvPr id="3" name="">
            <a:extLst xmlns:a="http://schemas.openxmlformats.org/drawingml/2006/main">
              <a:ext uri="{FF2B5EF4-FFF2-40B4-BE49-F238E27FC236}">
                <a16:creationId xmlns:a16="http://schemas.microsoft.com/office/drawing/2014/main" id="{DC642B41-E119-41E1-9FC1-4914E6E71D4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43034530-2C40-4919-BE41-74F64B7F9AE9}"/>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99</a:t>
            </a:r>
          </a:p>
        </p:txBody>
      </p:sp>
      <p:sp>
        <p:nvSpPr>
          <p:cNvPr id="5" name="">
            <a:extLst xmlns:a="http://schemas.openxmlformats.org/drawingml/2006/main">
              <a:ext uri="{FF2B5EF4-FFF2-40B4-BE49-F238E27FC236}">
                <a16:creationId xmlns:a16="http://schemas.microsoft.com/office/drawing/2014/main" id="{1DDB6F2E-0D2A-46F0-8055-A05C01DEAA4F}"/>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drop-in changes one layer of effective configuration</a:t>
            </a:r>
          </a:p>
        </p:txBody>
      </p:sp>
      <p:sp>
        <p:nvSpPr>
          <p:cNvPr id="6" name="">
            <a:extLst xmlns:a="http://schemas.openxmlformats.org/drawingml/2006/main">
              <a:ext uri="{FF2B5EF4-FFF2-40B4-BE49-F238E27FC236}">
                <a16:creationId xmlns:a16="http://schemas.microsoft.com/office/drawing/2014/main" id="{8D6768BB-196D-4D0C-82CB-3888E2D44E15}"/>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Plan removal of the drop-in as the rollback path.</a:t>
            </a:r>
          </a:p>
        </p:txBody>
      </p:sp>
      <p:sp>
        <p:nvSpPr>
          <p:cNvPr id="7" name="">
            <a:extLst xmlns:a="http://schemas.openxmlformats.org/drawingml/2006/main">
              <a:ext uri="{FF2B5EF4-FFF2-40B4-BE49-F238E27FC236}">
                <a16:creationId xmlns:a16="http://schemas.microsoft.com/office/drawing/2014/main" id="{BBA8FB8F-B2A8-4ED8-8219-59F783617187}"/>
              </a:ext>
            </a:extLst>
          </p:cNvPr>
          <p:cNvSpPr>
            <a:spLocks xmlns:a="http://schemas.openxmlformats.org/drawingml/2006/main" noGrp="1"/>
          </p:cNvSpPr>
          <p:nvPr/>
        </p:nvSpPr>
        <p:spPr>
          <a:xfrm xmlns:a="http://schemas.openxmlformats.org/drawingml/2006/main">
            <a:off x="781050" y="2962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F06ACE3-9D65-408C-92D0-655706DD6654}"/>
              </a:ext>
            </a:extLst>
          </p:cNvPr>
          <p:cNvSpPr>
            <a:spLocks xmlns:a="http://schemas.openxmlformats.org/drawingml/2006/main" noGrp="1"/>
          </p:cNvSpPr>
          <p:nvPr/>
        </p:nvSpPr>
        <p:spPr>
          <a:xfrm xmlns:a="http://schemas.openxmlformats.org/drawingml/2006/main">
            <a:off x="1028700" y="27241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The supplied fragment remains intact</a:t>
            </a:r>
          </a:p>
        </p:txBody>
      </p:sp>
      <p:sp>
        <p:nvSpPr>
          <p:cNvPr id="9" name="">
            <a:extLst xmlns:a="http://schemas.openxmlformats.org/drawingml/2006/main">
              <a:ext uri="{FF2B5EF4-FFF2-40B4-BE49-F238E27FC236}">
                <a16:creationId xmlns:a16="http://schemas.microsoft.com/office/drawing/2014/main" id="{DDCB5E47-082C-4053-8F38-E094F265D2DD}"/>
              </a:ext>
            </a:extLst>
          </p:cNvPr>
          <p:cNvSpPr>
            <a:spLocks xmlns:a="http://schemas.openxmlformats.org/drawingml/2006/main" noGrp="1"/>
          </p:cNvSpPr>
          <p:nvPr/>
        </p:nvSpPr>
        <p:spPr>
          <a:xfrm xmlns:a="http://schemas.openxmlformats.org/drawingml/2006/main">
            <a:off x="781050" y="35718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9402F030-1392-479E-8A05-26A65B078F9A}"/>
              </a:ext>
            </a:extLst>
          </p:cNvPr>
          <p:cNvSpPr>
            <a:spLocks xmlns:a="http://schemas.openxmlformats.org/drawingml/2006/main" noGrp="1"/>
          </p:cNvSpPr>
          <p:nvPr/>
        </p:nvSpPr>
        <p:spPr>
          <a:xfrm xmlns:a="http://schemas.openxmlformats.org/drawingml/2006/main">
            <a:off x="1028700" y="33337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Administrator drop-ins load with higher precedence</a:t>
            </a:r>
          </a:p>
        </p:txBody>
      </p:sp>
      <p:sp>
        <p:nvSpPr>
          <p:cNvPr id="11" name="">
            <a:extLst xmlns:a="http://schemas.openxmlformats.org/drawingml/2006/main">
              <a:ext uri="{FF2B5EF4-FFF2-40B4-BE49-F238E27FC236}">
                <a16:creationId xmlns:a16="http://schemas.microsoft.com/office/drawing/2014/main" id="{32CC194D-B1A1-4491-9368-303D6011E7FD}"/>
              </a:ext>
            </a:extLst>
          </p:cNvPr>
          <p:cNvSpPr>
            <a:spLocks xmlns:a="http://schemas.openxmlformats.org/drawingml/2006/main" noGrp="1"/>
          </p:cNvSpPr>
          <p:nvPr/>
        </p:nvSpPr>
        <p:spPr>
          <a:xfrm xmlns:a="http://schemas.openxmlformats.org/drawingml/2006/main">
            <a:off x="781050" y="41814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6AE5FCE-F2DF-42F4-9256-3E0EA690600A}"/>
              </a:ext>
            </a:extLst>
          </p:cNvPr>
          <p:cNvSpPr>
            <a:spLocks xmlns:a="http://schemas.openxmlformats.org/drawingml/2006/main" noGrp="1"/>
          </p:cNvSpPr>
          <p:nvPr/>
        </p:nvSpPr>
        <p:spPr>
          <a:xfrm xmlns:a="http://schemas.openxmlformats.org/drawingml/2006/main">
            <a:off x="1028700" y="39433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daemon-reload updates the manager’s definition</a:t>
            </a:r>
          </a:p>
        </p:txBody>
      </p:sp>
      <p:sp>
        <p:nvSpPr>
          <p:cNvPr id="13" name="">
            <a:extLst xmlns:a="http://schemas.openxmlformats.org/drawingml/2006/main">
              <a:ext uri="{FF2B5EF4-FFF2-40B4-BE49-F238E27FC236}">
                <a16:creationId xmlns:a16="http://schemas.microsoft.com/office/drawing/2014/main" id="{5400D592-0F21-40AB-839B-DFF6591D6637}"/>
              </a:ext>
            </a:extLst>
          </p:cNvPr>
          <p:cNvSpPr>
            <a:spLocks xmlns:a="http://schemas.openxmlformats.org/drawingml/2006/main" noGrp="1"/>
          </p:cNvSpPr>
          <p:nvPr/>
        </p:nvSpPr>
        <p:spPr>
          <a:xfrm xmlns:a="http://schemas.openxmlformats.org/drawingml/2006/main">
            <a:off x="781050" y="4791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14A8B92D-049C-4702-8B23-04E812EBC5FD}"/>
              </a:ext>
            </a:extLst>
          </p:cNvPr>
          <p:cNvSpPr>
            <a:spLocks xmlns:a="http://schemas.openxmlformats.org/drawingml/2006/main" noGrp="1"/>
          </p:cNvSpPr>
          <p:nvPr/>
        </p:nvSpPr>
        <p:spPr>
          <a:xfrm xmlns:a="http://schemas.openxmlformats.org/drawingml/2006/main">
            <a:off x="1028700" y="4552950"/>
            <a:ext cx="956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restart creates a new process; behavior verifies the result</a:t>
            </a:r>
          </a:p>
        </p:txBody>
      </p:sp>
    </p:spTree>
    <p:extLst>
      <p:ext uri="{BB962C8B-B14F-4D97-AF65-F5344CB8AC3E}">
        <p14:creationId xmlns:p14="http://schemas.microsoft.com/office/powerpoint/2010/main" val="967271212"/>
      </p:ext>
    </p:extLst>
  </p:cSld>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
            <a:extLst>
              <a:ext uri="{FF2B5EF4-FFF2-40B4-BE49-F238E27FC236}">
                <a16:creationId xmlns:a16="http://schemas.microsoft.com/office/drawing/2014/main" id="{E67D6067-2604-44E3-B39C-4237B47980F6}"/>
              </a:ext>
            </a:extLst>
          </p:cNvPr>
          <p:cNvSpPr>
            <a:spLocks noGrp="1"/>
          </p:cNvSpPr>
          <p:nvPr/>
        </p:nvSpPr>
        <p:spPr>
          <a:xfrm>
            <a:off x="0" y="0"/>
            <a:ext cx="171450" cy="6858000"/>
          </a:xfrm>
          <a:prstGeom prst="rect">
            <a:avLst/>
          </a:prstGeom>
          <a:solidFill>
            <a:srgbClr val="7650F8"/>
          </a:solidFill>
          <a:ln w="0">
            <a:noFill/>
            <a:prstDash val="solid"/>
          </a:ln>
        </p:spPr>
        <p:txBody>
          <a:bodyPr/>
          <a:p/>
        </p:txBody>
      </p:sp>
      <p:sp>
        <p:nvSpPr>
          <p:cNvPr id="2" name="">
            <a:extLst>
              <a:ext uri="{FF2B5EF4-FFF2-40B4-BE49-F238E27FC236}">
                <a16:creationId xmlns:a16="http://schemas.microsoft.com/office/drawing/2014/main" id="{2B0F89BB-ADCA-4D80-9589-19964AA65FC6}"/>
              </a:ext>
            </a:extLst>
          </p:cNvPr>
          <p:cNvSpPr>
            <a:spLocks noGrp="1"/>
          </p:cNvSpPr>
          <p:nvPr/>
        </p:nvSpPr>
        <p:spPr>
          <a:xfrm>
            <a:off x="514350" y="266700"/>
            <a:ext cx="6667500" cy="228600"/>
          </a:xfrm>
          <a:prstGeom prst="rect">
            <a:avLst/>
          </a:prstGeom>
          <a:noFill/>
          <a:ln w="0">
            <a:noFill/>
            <a:prstDash val="solid"/>
          </a:ln>
        </p:spPr>
        <p:txBody>
          <a:bodyPr anchor="ctr"/>
          <a:lstStyle/>
          <a:p>
            <a:pPr algn="l">
              <a:buNone/>
              <a:defRPr sz="900" b="1">
                <a:solidFill>
                  <a:srgbClr val="7650F8"/>
                </a:solidFill>
              </a:defRPr>
            </a:pPr>
            <a:r>
              <a:rPr sz="900" b="1">
                <a:solidFill>
                  <a:srgbClr val="7650F8"/>
                </a:solidFill>
              </a:rPr>
              <a:t>MODULE 10 · MODEL</a:t>
            </a:r>
          </a:p>
        </p:txBody>
      </p:sp>
      <p:sp>
        <p:nvSpPr>
          <p:cNvPr id="3" name="">
            <a:extLst>
              <a:ext uri="{FF2B5EF4-FFF2-40B4-BE49-F238E27FC236}">
                <a16:creationId xmlns:a16="http://schemas.microsoft.com/office/drawing/2014/main" id="{2070D7DD-260F-4790-9876-B9967FB4AE47}"/>
              </a:ext>
            </a:extLst>
          </p:cNvPr>
          <p:cNvSpPr>
            <a:spLocks noGrp="1"/>
          </p:cNvSpPr>
          <p:nvPr/>
        </p:nvSpPr>
        <p:spPr>
          <a:xfrm>
            <a:off x="9715500" y="266700"/>
            <a:ext cx="1714500" cy="228600"/>
          </a:xfrm>
          <a:prstGeom prst="rect">
            <a:avLst/>
          </a:prstGeom>
          <a:noFill/>
          <a:ln w="0">
            <a:noFill/>
            <a:prstDash val="solid"/>
          </a:ln>
        </p:spPr>
        <p:txBody>
          <a:bodyPr anchor="ctr"/>
          <a:lstStyle/>
          <a:p>
            <a:pPr algn="r">
              <a:buNone/>
              <a:defRPr sz="825" b="1">
                <a:solidFill>
                  <a:srgbClr val="685D70"/>
                </a:solidFill>
              </a:defRPr>
            </a:pPr>
            <a:r>
              <a:rPr sz="825" b="1">
                <a:solidFill>
                  <a:srgbClr val="685D70"/>
                </a:solidFill>
              </a:rPr>
              <a:t>LINUX FOUNDATIONS</a:t>
            </a:r>
          </a:p>
        </p:txBody>
      </p:sp>
      <p:sp>
        <p:nvSpPr>
          <p:cNvPr id="4" name="">
            <a:extLst>
              <a:ext uri="{FF2B5EF4-FFF2-40B4-BE49-F238E27FC236}">
                <a16:creationId xmlns:a16="http://schemas.microsoft.com/office/drawing/2014/main" id="{C915983B-66E3-44FE-B0B6-7D9AEF1139E5}"/>
              </a:ext>
            </a:extLst>
          </p:cNvPr>
          <p:cNvSpPr>
            <a:spLocks noGrp="1"/>
          </p:cNvSpPr>
          <p:nvPr/>
        </p:nvSpPr>
        <p:spPr>
          <a:xfrm>
            <a:off x="10953750" y="6381750"/>
            <a:ext cx="476250" cy="190500"/>
          </a:xfrm>
          <a:prstGeom prst="rect">
            <a:avLst/>
          </a:prstGeom>
          <a:noFill/>
          <a:ln w="0">
            <a:noFill/>
            <a:prstDash val="solid"/>
          </a:ln>
        </p:spPr>
        <p:txBody>
          <a:bodyPr anchor="ctr"/>
          <a:lstStyle/>
          <a:p>
            <a:pPr algn="r">
              <a:buNone/>
              <a:defRPr sz="825" b="0">
                <a:solidFill>
                  <a:srgbClr val="685D70"/>
                </a:solidFill>
              </a:defRPr>
            </a:pPr>
            <a:r>
              <a:rPr sz="825" b="0">
                <a:solidFill>
                  <a:srgbClr val="685D70"/>
                </a:solidFill>
              </a:rPr>
              <a:t>100</a:t>
            </a:r>
          </a:p>
        </p:txBody>
      </p:sp>
      <p:sp>
        <p:nvSpPr>
          <p:cNvPr id="5" name="">
            <a:extLst>
              <a:ext uri="{FF2B5EF4-FFF2-40B4-BE49-F238E27FC236}">
                <a16:creationId xmlns:a16="http://schemas.microsoft.com/office/drawing/2014/main" id="{89BE9BEC-1938-4DD1-9836-410A91AD6BFE}"/>
              </a:ext>
            </a:extLst>
          </p:cNvPr>
          <p:cNvSpPr>
            <a:spLocks noGrp="1"/>
          </p:cNvSpPr>
          <p:nvPr/>
        </p:nvSpPr>
        <p:spPr>
          <a:xfrm>
            <a:off x="514350" y="666750"/>
            <a:ext cx="10668000" cy="781050"/>
          </a:xfrm>
          <a:prstGeom prst="rect">
            <a:avLst/>
          </a:prstGeom>
          <a:noFill/>
          <a:ln w="0">
            <a:noFill/>
            <a:prstDash val="solid"/>
          </a:ln>
        </p:spPr>
        <p:txBody>
          <a:bodyPr anchor="ctr"/>
          <a:lstStyle/>
          <a:p>
            <a:pPr algn="l">
              <a:buNone/>
              <a:defRPr sz="2700" b="1">
                <a:solidFill>
                  <a:srgbClr val="211729"/>
                </a:solidFill>
              </a:defRPr>
            </a:pPr>
            <a:r>
              <a:rPr sz="2700" b="1">
                <a:solidFill>
                  <a:srgbClr val="211729"/>
                </a:solidFill>
              </a:rPr>
              <a:t>Reloading definitions is not restarting</a:t>
            </a:r>
          </a:p>
        </p:txBody>
      </p:sp>
      <p:sp>
        <p:nvSpPr>
          <p:cNvPr id="6" name="">
            <a:extLst>
              <a:ext uri="{FF2B5EF4-FFF2-40B4-BE49-F238E27FC236}">
                <a16:creationId xmlns:a16="http://schemas.microsoft.com/office/drawing/2014/main" id="{7824DE90-E620-4DB8-AA46-83BBCC023583}"/>
              </a:ext>
            </a:extLst>
          </p:cNvPr>
          <p:cNvSpPr>
            <a:spLocks noGrp="1"/>
          </p:cNvSpPr>
          <p:nvPr/>
        </p:nvSpPr>
        <p:spPr>
          <a:xfrm>
            <a:off x="514350" y="1504950"/>
            <a:ext cx="10668000" cy="781050"/>
          </a:xfrm>
          <a:prstGeom prst="rect">
            <a:avLst/>
          </a:prstGeom>
          <a:noFill/>
          <a:ln w="0">
            <a:noFill/>
            <a:prstDash val="solid"/>
          </a:ln>
        </p:spPr>
        <p:txBody>
          <a:bodyPr anchor="ctr"/>
          <a:lstStyle/>
          <a:p>
            <a:pPr algn="l">
              <a:buNone/>
              <a:defRPr sz="1650" b="0">
                <a:solidFill>
                  <a:srgbClr val="685D70"/>
                </a:solidFill>
              </a:defRPr>
            </a:pPr>
            <a:r>
              <a:rPr sz="1650" b="0">
                <a:solidFill>
                  <a:srgbClr val="685D70"/>
                </a:solidFill>
              </a:rPr>
              <a:t>daemon-reload re-reads unit files; only restart applies them to a process.</a:t>
            </a:r>
          </a:p>
        </p:txBody>
      </p:sp>
      <p:sp>
        <p:nvSpPr>
          <p:cNvPr id="7" name="">
            <a:extLst>
              <a:ext uri="{FF2B5EF4-FFF2-40B4-BE49-F238E27FC236}">
                <a16:creationId xmlns:a16="http://schemas.microsoft.com/office/drawing/2014/main" id="{0CB19B82-C014-4205-917B-AFA1A6CBE7FB}"/>
              </a:ext>
            </a:extLst>
          </p:cNvPr>
          <p:cNvSpPr>
            <a:spLocks noGrp="1"/>
          </p:cNvSpPr>
          <p:nvPr/>
        </p:nvSpPr>
        <p:spPr>
          <a:xfrm>
            <a:off x="781050" y="3105150"/>
            <a:ext cx="95250" cy="95250"/>
          </a:xfrm>
          <a:prstGeom prst="roundRect">
            <a:avLst>
              <a:gd name="adj" fmla="val 50000"/>
            </a:avLst>
          </a:prstGeom>
          <a:solidFill>
            <a:srgbClr val="7650F8"/>
          </a:solidFill>
          <a:ln w="0">
            <a:noFill/>
            <a:prstDash val="solid"/>
          </a:ln>
        </p:spPr>
        <p:txBody>
          <a:bodyPr/>
          <a:p/>
        </p:txBody>
      </p:sp>
      <p:sp>
        <p:nvSpPr>
          <p:cNvPr id="8" name="">
            <a:extLst>
              <a:ext uri="{FF2B5EF4-FFF2-40B4-BE49-F238E27FC236}">
                <a16:creationId xmlns:a16="http://schemas.microsoft.com/office/drawing/2014/main" id="{DD0C6B16-9886-476A-8DF1-E82CCF1CAC0B}"/>
              </a:ext>
            </a:extLst>
          </p:cNvPr>
          <p:cNvSpPr>
            <a:spLocks noGrp="1"/>
          </p:cNvSpPr>
          <p:nvPr/>
        </p:nvSpPr>
        <p:spPr>
          <a:xfrm>
            <a:off x="1028700" y="272415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After daemon-reload the running process is unchanged; restart creates a new execution.</a:t>
            </a:r>
          </a:p>
        </p:txBody>
      </p:sp>
      <p:sp>
        <p:nvSpPr>
          <p:cNvPr id="9" name="">
            <a:extLst>
              <a:ext uri="{FF2B5EF4-FFF2-40B4-BE49-F238E27FC236}">
                <a16:creationId xmlns:a16="http://schemas.microsoft.com/office/drawing/2014/main" id="{819BAD83-6D17-4491-9CC6-7248FA06B822}"/>
              </a:ext>
            </a:extLst>
          </p:cNvPr>
          <p:cNvSpPr>
            <a:spLocks noGrp="1"/>
          </p:cNvSpPr>
          <p:nvPr/>
        </p:nvSpPr>
        <p:spPr>
          <a:xfrm>
            <a:off x="781050" y="4000500"/>
            <a:ext cx="95250" cy="95250"/>
          </a:xfrm>
          <a:prstGeom prst="roundRect">
            <a:avLst>
              <a:gd name="adj" fmla="val 50000"/>
            </a:avLst>
          </a:prstGeom>
          <a:solidFill>
            <a:srgbClr val="FF6F61"/>
          </a:solidFill>
          <a:ln w="0">
            <a:noFill/>
            <a:prstDash val="solid"/>
          </a:ln>
        </p:spPr>
        <p:txBody>
          <a:bodyPr/>
          <a:p/>
        </p:txBody>
      </p:sp>
      <p:sp>
        <p:nvSpPr>
          <p:cNvPr id="10" name="">
            <a:extLst>
              <a:ext uri="{FF2B5EF4-FFF2-40B4-BE49-F238E27FC236}">
                <a16:creationId xmlns:a16="http://schemas.microsoft.com/office/drawing/2014/main" id="{1C5B8232-D1D6-4811-B061-802E7D2B1572}"/>
              </a:ext>
            </a:extLst>
          </p:cNvPr>
          <p:cNvSpPr>
            <a:spLocks noGrp="1"/>
          </p:cNvSpPr>
          <p:nvPr/>
        </p:nvSpPr>
        <p:spPr>
          <a:xfrm>
            <a:off x="1028700" y="3619500"/>
            <a:ext cx="9563100" cy="857250"/>
          </a:xfrm>
          <a:prstGeom prst="rect">
            <a:avLst/>
          </a:prstGeom>
          <a:noFill/>
          <a:ln w="0">
            <a:noFill/>
            <a:prstDash val="solid"/>
          </a:ln>
        </p:spPr>
        <p:txBody>
          <a:bodyPr anchor="ctr"/>
          <a:lstStyle/>
          <a:p>
            <a:pPr algn="l">
              <a:buNone/>
              <a:defRPr sz="1725" b="0">
                <a:solidFill>
                  <a:srgbClr val="211729"/>
                </a:solidFill>
              </a:defRPr>
            </a:pPr>
            <a:r>
              <a:rPr sz="1725" b="0">
                <a:solidFill>
                  <a:srgbClr val="211729"/>
                </a:solidFill>
              </a:rPr>
              <a:t>Enabled, active, reloaded, restarted, and observed behaviour are verified separately.</a:t>
            </a:r>
          </a:p>
        </p:txBody>
      </p:sp>
    </p:spTree>
  </p:cSld>
  <p:clrMapOvr>
    <a:masterClrMapping/>
  </p:clrMapOvr>
</p:sld>
</file>

<file path=ppt/slides/slide101.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2A9289E-1A5E-4BE3-9BD1-7D524D66A66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946D6E-99F8-442F-946B-15B05EF6DC3D}"/>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10 · WORKED EXAMPLE</a:t>
            </a:r>
          </a:p>
        </p:txBody>
      </p:sp>
      <p:sp>
        <p:nvSpPr>
          <p:cNvPr id="3" name="">
            <a:extLst xmlns:a="http://schemas.openxmlformats.org/drawingml/2006/main">
              <a:ext uri="{FF2B5EF4-FFF2-40B4-BE49-F238E27FC236}">
                <a16:creationId xmlns:a16="http://schemas.microsoft.com/office/drawing/2014/main" id="{F19F2C87-A708-499D-A64E-4CC86185688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851D4272-0918-4687-954B-51BE16AEF5E3}"/>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101</a:t>
            </a:r>
          </a:p>
        </p:txBody>
      </p:sp>
      <p:sp>
        <p:nvSpPr>
          <p:cNvPr id="5" name="">
            <a:extLst xmlns:a="http://schemas.openxmlformats.org/drawingml/2006/main">
              <a:ext uri="{FF2B5EF4-FFF2-40B4-BE49-F238E27FC236}">
                <a16:creationId xmlns:a16="http://schemas.microsoft.com/office/drawing/2014/main" id="{F66767B5-D2B7-4453-8A38-5856C584FC51}"/>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Close the loop from layer to behavior</a:t>
            </a:r>
          </a:p>
        </p:txBody>
      </p:sp>
      <p:sp>
        <p:nvSpPr>
          <p:cNvPr id="6" name="">
            <a:extLst xmlns:a="http://schemas.openxmlformats.org/drawingml/2006/main">
              <a:ext uri="{FF2B5EF4-FFF2-40B4-BE49-F238E27FC236}">
                <a16:creationId xmlns:a16="http://schemas.microsoft.com/office/drawing/2014/main" id="{36D2713B-082A-4FBF-B7F9-FBEA0998755D}"/>
              </a:ext>
            </a:extLst>
          </p:cNvPr>
          <p:cNvSpPr>
            <a:spLocks xmlns:a="http://schemas.openxmlformats.org/drawingml/2006/main" noGrp="1"/>
          </p:cNvSpPr>
          <p:nvPr/>
        </p:nvSpPr>
        <p:spPr>
          <a:xfrm xmlns:a="http://schemas.openxmlformats.org/drawingml/2006/main">
            <a:off x="514350" y="2400300"/>
            <a:ext cx="6191250" cy="2857500"/>
          </a:xfrm>
          <a:prstGeom xmlns:a="http://schemas.openxmlformats.org/drawingml/2006/main" prst="roundRect">
            <a:avLst>
              <a:gd name="adj" fmla="val 4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D16EF645-8D05-481F-A1B8-23AD429B6E02}"/>
              </a:ext>
            </a:extLst>
          </p:cNvPr>
          <p:cNvSpPr>
            <a:spLocks xmlns:a="http://schemas.openxmlformats.org/drawingml/2006/main" noGrp="1"/>
          </p:cNvSpPr>
          <p:nvPr/>
        </p:nvSpPr>
        <p:spPr>
          <a:xfrm xmlns:a="http://schemas.openxmlformats.org/drawingml/2006/main">
            <a:off x="781050" y="2647950"/>
            <a:ext cx="566737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1FA"/>
                </a:solidFill>
              </a:defRPr>
            </a:pPr>
            <a:r>
              <a:rPr sz="1575" b="0">
                <a:solidFill>
                  <a:srgbClr val="F7F1FA"/>
                </a:solidFill>
              </a:rPr>
              <a:t>systemctl show course-banner \</a:t>
            </a:r>
          </a:p>
          <a:p xmlns:a="http://schemas.openxmlformats.org/drawingml/2006/main">
            <a:pPr algn="l">
              <a:buNone/>
              <a:defRPr sz="1575" b="0">
                <a:solidFill>
                  <a:srgbClr val="F7F1FA"/>
                </a:solidFill>
              </a:defRPr>
            </a:pPr>
            <a:r>
              <a:rPr sz="1575" b="0">
                <a:solidFill>
                  <a:srgbClr val="F7F1FA"/>
                </a:solidFill>
              </a:rPr>
              <a:t> -p FragmentPath -p DropInPaths -p Environment</a:t>
            </a:r>
          </a:p>
          <a:p xmlns:a="http://schemas.openxmlformats.org/drawingml/2006/main">
            <a:pPr algn="l">
              <a:buNone/>
              <a:defRPr sz="1575" b="0">
                <a:solidFill>
                  <a:srgbClr val="F7F1FA"/>
                </a:solidFill>
              </a:defRPr>
            </a:pPr>
            <a:r>
              <a:rPr sz="1575" b="0">
                <a:solidFill>
                  <a:srgbClr val="F7F1FA"/>
                </a:solidFill>
              </a:rPr>
              <a:t>sudo systemctl daemon-reload</a:t>
            </a:r>
          </a:p>
          <a:p xmlns:a="http://schemas.openxmlformats.org/drawingml/2006/main">
            <a:pPr algn="l">
              <a:buNone/>
              <a:defRPr sz="1575" b="0">
                <a:solidFill>
                  <a:srgbClr val="F7F1FA"/>
                </a:solidFill>
              </a:defRPr>
            </a:pPr>
            <a:r>
              <a:rPr sz="1575" b="0">
                <a:solidFill>
                  <a:srgbClr val="F7F1FA"/>
                </a:solidFill>
              </a:rPr>
              <a:t>sudo systemctl restart course-banner</a:t>
            </a:r>
          </a:p>
          <a:p xmlns:a="http://schemas.openxmlformats.org/drawingml/2006/main">
            <a:pPr algn="l">
              <a:buNone/>
              <a:defRPr sz="1575" b="0">
                <a:solidFill>
                  <a:srgbClr val="F7F1FA"/>
                </a:solidFill>
              </a:defRPr>
            </a:pPr>
            <a:r>
              <a:rPr sz="1575" b="0">
                <a:solidFill>
                  <a:srgbClr val="F7F1FA"/>
                </a:solidFill>
              </a:rPr>
              <a:t>cat /run/course-banner.txt</a:t>
            </a:r>
          </a:p>
        </p:txBody>
      </p:sp>
      <p:sp>
        <p:nvSpPr>
          <p:cNvPr id="8" name="">
            <a:extLst xmlns:a="http://schemas.openxmlformats.org/drawingml/2006/main">
              <a:ext uri="{FF2B5EF4-FFF2-40B4-BE49-F238E27FC236}">
                <a16:creationId xmlns:a16="http://schemas.microsoft.com/office/drawing/2014/main" id="{B7951B12-1024-490B-AF56-429AEB1083B6}"/>
              </a:ext>
            </a:extLst>
          </p:cNvPr>
          <p:cNvSpPr>
            <a:spLocks xmlns:a="http://schemas.openxmlformats.org/drawingml/2006/main" noGrp="1"/>
          </p:cNvSpPr>
          <p:nvPr/>
        </p:nvSpPr>
        <p:spPr>
          <a:xfrm xmlns:a="http://schemas.openxmlformats.org/drawingml/2006/main">
            <a:off x="7143750" y="27336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4B858A8-1D73-4057-8DA3-594B8579B3BE}"/>
              </a:ext>
            </a:extLst>
          </p:cNvPr>
          <p:cNvSpPr>
            <a:spLocks xmlns:a="http://schemas.openxmlformats.org/drawingml/2006/main" noGrp="1"/>
          </p:cNvSpPr>
          <p:nvPr/>
        </p:nvSpPr>
        <p:spPr>
          <a:xfrm xmlns:a="http://schemas.openxmlformats.org/drawingml/2006/main">
            <a:off x="7391400" y="24288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FragmentPath = shipped file; DropInPaths = your overrides, in order.</a:t>
            </a:r>
          </a:p>
        </p:txBody>
      </p:sp>
      <p:sp>
        <p:nvSpPr>
          <p:cNvPr id="10" name="">
            <a:extLst xmlns:a="http://schemas.openxmlformats.org/drawingml/2006/main">
              <a:ext uri="{FF2B5EF4-FFF2-40B4-BE49-F238E27FC236}">
                <a16:creationId xmlns:a16="http://schemas.microsoft.com/office/drawing/2014/main" id="{A32E0F5A-C8CE-49D3-B1E3-FDA2805B5241}"/>
              </a:ext>
            </a:extLst>
          </p:cNvPr>
          <p:cNvSpPr>
            <a:spLocks xmlns:a="http://schemas.openxmlformats.org/drawingml/2006/main" noGrp="1"/>
          </p:cNvSpPr>
          <p:nvPr/>
        </p:nvSpPr>
        <p:spPr>
          <a:xfrm xmlns:a="http://schemas.openxmlformats.org/drawingml/2006/main">
            <a:off x="7143750" y="3476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54127D5-483C-498B-9314-90BE7699A4D6}"/>
              </a:ext>
            </a:extLst>
          </p:cNvPr>
          <p:cNvSpPr>
            <a:spLocks xmlns:a="http://schemas.openxmlformats.org/drawingml/2006/main" noGrp="1"/>
          </p:cNvSpPr>
          <p:nvPr/>
        </p:nvSpPr>
        <p:spPr>
          <a:xfrm xmlns:a="http://schemas.openxmlformats.org/drawingml/2006/main">
            <a:off x="7391400" y="317182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daemon-reload updates systemd's view — the process is still old.</a:t>
            </a:r>
          </a:p>
        </p:txBody>
      </p:sp>
      <p:sp>
        <p:nvSpPr>
          <p:cNvPr id="12" name="">
            <a:extLst xmlns:a="http://schemas.openxmlformats.org/drawingml/2006/main">
              <a:ext uri="{FF2B5EF4-FFF2-40B4-BE49-F238E27FC236}">
                <a16:creationId xmlns:a16="http://schemas.microsoft.com/office/drawing/2014/main" id="{D57F7048-9FD5-441C-88F4-FCFBB554805C}"/>
              </a:ext>
            </a:extLst>
          </p:cNvPr>
          <p:cNvSpPr>
            <a:spLocks xmlns:a="http://schemas.openxmlformats.org/drawingml/2006/main" noGrp="1"/>
          </p:cNvSpPr>
          <p:nvPr/>
        </p:nvSpPr>
        <p:spPr>
          <a:xfrm xmlns:a="http://schemas.openxmlformats.org/drawingml/2006/main">
            <a:off x="7143750" y="4219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79A7FB88-FA98-47D5-97DD-47F7D9471F4B}"/>
              </a:ext>
            </a:extLst>
          </p:cNvPr>
          <p:cNvSpPr>
            <a:spLocks xmlns:a="http://schemas.openxmlformats.org/drawingml/2006/main" noGrp="1"/>
          </p:cNvSpPr>
          <p:nvPr/>
        </p:nvSpPr>
        <p:spPr>
          <a:xfrm xmlns:a="http://schemas.openxmlformats.org/drawingml/2006/main">
            <a:off x="7391400" y="3914775"/>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restart makes the new process; then check what it produced.</a:t>
            </a:r>
          </a:p>
        </p:txBody>
      </p:sp>
      <p:sp>
        <p:nvSpPr>
          <p:cNvPr id="13" name="">
            <a:extLst xmlns:a="http://schemas.openxmlformats.org/drawingml/2006/main">
              <a:ext uri="{FF2B5EF4-FFF2-40B4-BE49-F238E27FC236}">
                <a16:creationId xmlns:a16="http://schemas.microsoft.com/office/drawing/2014/main" id="{79A7FB88-FA98-47D5-97DD-47F7D9471F4B}"/>
              </a:ext>
            </a:extLst>
          </p:cNvPr>
          <p:cNvSpPr>
            <a:spLocks xmlns:a="http://schemas.openxmlformats.org/drawingml/2006/main" noGrp="1"/>
          </p:cNvSpPr>
          <p:nvPr/>
        </p:nvSpPr>
        <p:spPr>
          <a:xfrm xmlns:a="http://schemas.openxmlformats.org/drawingml/2006/main">
            <a:off x="7391400" y="4655439"/>
            <a:ext cx="384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The regenerated /run file is the proof — not the edit itself.</a:t>
            </a:r>
          </a:p>
        </p:txBody>
      </p:sp>
      <p:sp>
        <p:nvSpPr>
          <p:cNvPr id="12" name="">
            <a:extLst xmlns:a="http://schemas.openxmlformats.org/drawingml/2006/main">
              <a:ext uri="{FF2B5EF4-FFF2-40B4-BE49-F238E27FC236}">
                <a16:creationId xmlns:a16="http://schemas.microsoft.com/office/drawing/2014/main" id="{D57F7048-9FD5-441C-88F4-FCFBB554805C}"/>
              </a:ext>
            </a:extLst>
          </p:cNvPr>
          <p:cNvSpPr>
            <a:spLocks xmlns:a="http://schemas.openxmlformats.org/drawingml/2006/main" noGrp="1"/>
          </p:cNvSpPr>
          <p:nvPr/>
        </p:nvSpPr>
        <p:spPr>
          <a:xfrm xmlns:a="http://schemas.openxmlformats.org/drawingml/2006/main">
            <a:off x="7143750" y="4960239"/>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108632395"/>
      </p:ext>
    </p:extLst>
  </p:cSld>
</p:sld>
</file>

<file path=ppt/slides/slide102.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AB4DD0-F6CF-4D9B-86B0-DEA623C7C5D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03B08E-C397-4483-90EF-ACB41DE3503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10 · GUIDED COMMANDS</a:t>
            </a:r>
          </a:p>
        </p:txBody>
      </p:sp>
      <p:sp>
        <p:nvSpPr>
          <p:cNvPr id="3" name="">
            <a:extLst xmlns:a="http://schemas.openxmlformats.org/drawingml/2006/main">
              <a:ext uri="{FF2B5EF4-FFF2-40B4-BE49-F238E27FC236}">
                <a16:creationId xmlns:a16="http://schemas.microsoft.com/office/drawing/2014/main" id="{757F8A58-7A5B-4F47-8F0E-BED39131A044}"/>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E651E77D-DAD3-4137-9D8A-190C218B3913}"/>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102</a:t>
            </a:r>
          </a:p>
        </p:txBody>
      </p:sp>
      <p:sp>
        <p:nvSpPr>
          <p:cNvPr id="5" name="">
            <a:extLst xmlns:a="http://schemas.openxmlformats.org/drawingml/2006/main">
              <a:ext uri="{FF2B5EF4-FFF2-40B4-BE49-F238E27FC236}">
                <a16:creationId xmlns:a16="http://schemas.microsoft.com/office/drawing/2014/main" id="{949A08BF-7068-49B6-A0E4-00F2E78358BE}"/>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These commands are tools for specific questions</a:t>
            </a:r>
          </a:p>
        </p:txBody>
      </p:sp>
      <p:sp>
        <p:nvSpPr>
          <p:cNvPr id="6" name="">
            <a:extLst xmlns:a="http://schemas.openxmlformats.org/drawingml/2006/main">
              <a:ext uri="{FF2B5EF4-FFF2-40B4-BE49-F238E27FC236}">
                <a16:creationId xmlns:a16="http://schemas.microsoft.com/office/drawing/2014/main" id="{B696E746-CA8C-4A32-8DA3-1AA6856797C4}"/>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lab guide repeats syntax and expected evidence; memorization is not required.</a:t>
            </a:r>
          </a:p>
        </p:txBody>
      </p:sp>
      <p:sp>
        <p:nvSpPr>
          <p:cNvPr id="7" name="">
            <a:extLst xmlns:a="http://schemas.openxmlformats.org/drawingml/2006/main">
              <a:ext uri="{FF2B5EF4-FFF2-40B4-BE49-F238E27FC236}">
                <a16:creationId xmlns:a16="http://schemas.microsoft.com/office/drawing/2014/main" id="{F07F1EC9-3072-4A27-AFDE-65FCE0057226}"/>
              </a:ext>
            </a:extLst>
          </p:cNvPr>
          <p:cNvSpPr>
            <a:spLocks xmlns:a="http://schemas.openxmlformats.org/drawingml/2006/main" noGrp="1"/>
          </p:cNvSpPr>
          <p:nvPr/>
        </p:nvSpPr>
        <p:spPr>
          <a:xfrm xmlns:a="http://schemas.openxmlformats.org/drawingml/2006/main">
            <a:off x="685800" y="24003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systemctl cat UNIT</a:t>
            </a:r>
          </a:p>
        </p:txBody>
      </p:sp>
      <p:sp>
        <p:nvSpPr>
          <p:cNvPr id="8" name="">
            <a:extLst xmlns:a="http://schemas.openxmlformats.org/drawingml/2006/main">
              <a:ext uri="{FF2B5EF4-FFF2-40B4-BE49-F238E27FC236}">
                <a16:creationId xmlns:a16="http://schemas.microsoft.com/office/drawing/2014/main" id="{0EEEE65F-2F9D-4B00-85DB-069A43E815A2}"/>
              </a:ext>
            </a:extLst>
          </p:cNvPr>
          <p:cNvSpPr>
            <a:spLocks xmlns:a="http://schemas.openxmlformats.org/drawingml/2006/main" noGrp="1"/>
          </p:cNvSpPr>
          <p:nvPr/>
        </p:nvSpPr>
        <p:spPr>
          <a:xfrm xmlns:a="http://schemas.openxmlformats.org/drawingml/2006/main">
            <a:off x="3810000" y="24003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shipped unit plus every drop-in, in load order</a:t>
            </a:r>
          </a:p>
        </p:txBody>
      </p:sp>
      <p:sp>
        <p:nvSpPr>
          <p:cNvPr id="9" name="">
            <a:extLst xmlns:a="http://schemas.openxmlformats.org/drawingml/2006/main">
              <a:ext uri="{FF2B5EF4-FFF2-40B4-BE49-F238E27FC236}">
                <a16:creationId xmlns:a16="http://schemas.microsoft.com/office/drawing/2014/main" id="{84B068BF-D7E3-45D7-8B1E-A010019CB110}"/>
              </a:ext>
            </a:extLst>
          </p:cNvPr>
          <p:cNvSpPr>
            <a:spLocks xmlns:a="http://schemas.openxmlformats.org/drawingml/2006/main" noGrp="1"/>
          </p:cNvSpPr>
          <p:nvPr/>
        </p:nvSpPr>
        <p:spPr>
          <a:xfrm xmlns:a="http://schemas.openxmlformats.org/drawingml/2006/main">
            <a:off x="685800" y="29527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23DF6C93-E36B-48D6-AADF-03C16C79EDA0}"/>
              </a:ext>
            </a:extLst>
          </p:cNvPr>
          <p:cNvSpPr>
            <a:spLocks xmlns:a="http://schemas.openxmlformats.org/drawingml/2006/main" noGrp="1"/>
          </p:cNvSpPr>
          <p:nvPr/>
        </p:nvSpPr>
        <p:spPr>
          <a:xfrm xmlns:a="http://schemas.openxmlformats.org/drawingml/2006/main">
            <a:off x="6858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systemctl edit UNIT</a:t>
            </a:r>
          </a:p>
        </p:txBody>
      </p:sp>
      <p:sp>
        <p:nvSpPr>
          <p:cNvPr id="11" name="">
            <a:extLst xmlns:a="http://schemas.openxmlformats.org/drawingml/2006/main">
              <a:ext uri="{FF2B5EF4-FFF2-40B4-BE49-F238E27FC236}">
                <a16:creationId xmlns:a16="http://schemas.microsoft.com/office/drawing/2014/main" id="{ACEB30E9-E901-4C93-AD50-775DFBD46240}"/>
              </a:ext>
            </a:extLst>
          </p:cNvPr>
          <p:cNvSpPr>
            <a:spLocks xmlns:a="http://schemas.openxmlformats.org/drawingml/2006/main" noGrp="1"/>
          </p:cNvSpPr>
          <p:nvPr/>
        </p:nvSpPr>
        <p:spPr>
          <a:xfrm xmlns:a="http://schemas.openxmlformats.org/drawingml/2006/main">
            <a:off x="3810000" y="3048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create an override drop-in the safe way</a:t>
            </a:r>
          </a:p>
        </p:txBody>
      </p:sp>
      <p:sp>
        <p:nvSpPr>
          <p:cNvPr id="12" name="">
            <a:extLst xmlns:a="http://schemas.openxmlformats.org/drawingml/2006/main">
              <a:ext uri="{FF2B5EF4-FFF2-40B4-BE49-F238E27FC236}">
                <a16:creationId xmlns:a16="http://schemas.microsoft.com/office/drawing/2014/main" id="{71B4E060-EBD9-419B-AA90-265D42600B7D}"/>
              </a:ext>
            </a:extLst>
          </p:cNvPr>
          <p:cNvSpPr>
            <a:spLocks xmlns:a="http://schemas.openxmlformats.org/drawingml/2006/main" noGrp="1"/>
          </p:cNvSpPr>
          <p:nvPr/>
        </p:nvSpPr>
        <p:spPr>
          <a:xfrm xmlns:a="http://schemas.openxmlformats.org/drawingml/2006/main">
            <a:off x="685800" y="36004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C89C005E-4601-464D-BDB1-0099A3484E20}"/>
              </a:ext>
            </a:extLst>
          </p:cNvPr>
          <p:cNvSpPr>
            <a:spLocks xmlns:a="http://schemas.openxmlformats.org/drawingml/2006/main" noGrp="1"/>
          </p:cNvSpPr>
          <p:nvPr/>
        </p:nvSpPr>
        <p:spPr>
          <a:xfrm xmlns:a="http://schemas.openxmlformats.org/drawingml/2006/main">
            <a:off x="685800" y="36957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FragmentPath/DropInPaths</a:t>
            </a:r>
          </a:p>
        </p:txBody>
      </p:sp>
      <p:sp>
        <p:nvSpPr>
          <p:cNvPr id="14" name="">
            <a:extLst xmlns:a="http://schemas.openxmlformats.org/drawingml/2006/main">
              <a:ext uri="{FF2B5EF4-FFF2-40B4-BE49-F238E27FC236}">
                <a16:creationId xmlns:a16="http://schemas.microsoft.com/office/drawing/2014/main" id="{E6CCE893-1D11-40D9-9353-C1DC647C517D}"/>
              </a:ext>
            </a:extLst>
          </p:cNvPr>
          <p:cNvSpPr>
            <a:spLocks xmlns:a="http://schemas.openxmlformats.org/drawingml/2006/main" noGrp="1"/>
          </p:cNvSpPr>
          <p:nvPr/>
        </p:nvSpPr>
        <p:spPr>
          <a:xfrm xmlns:a="http://schemas.openxmlformats.org/drawingml/2006/main">
            <a:off x="3810000" y="3695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where each setting comes from (provenance)</a:t>
            </a:r>
          </a:p>
        </p:txBody>
      </p:sp>
      <p:sp>
        <p:nvSpPr>
          <p:cNvPr id="15" name="">
            <a:extLst xmlns:a="http://schemas.openxmlformats.org/drawingml/2006/main">
              <a:ext uri="{FF2B5EF4-FFF2-40B4-BE49-F238E27FC236}">
                <a16:creationId xmlns:a16="http://schemas.microsoft.com/office/drawing/2014/main" id="{6B54DE3C-98FD-4244-8869-D7E91FF29E5D}"/>
              </a:ext>
            </a:extLst>
          </p:cNvPr>
          <p:cNvSpPr>
            <a:spLocks xmlns:a="http://schemas.openxmlformats.org/drawingml/2006/main" noGrp="1"/>
          </p:cNvSpPr>
          <p:nvPr/>
        </p:nvSpPr>
        <p:spPr>
          <a:xfrm xmlns:a="http://schemas.openxmlformats.org/drawingml/2006/main">
            <a:off x="685800" y="42481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AC5704F0-DA0A-4A8A-AA2E-0E37F751F7F0}"/>
              </a:ext>
            </a:extLst>
          </p:cNvPr>
          <p:cNvSpPr>
            <a:spLocks xmlns:a="http://schemas.openxmlformats.org/drawingml/2006/main" noGrp="1"/>
          </p:cNvSpPr>
          <p:nvPr/>
        </p:nvSpPr>
        <p:spPr>
          <a:xfrm xmlns:a="http://schemas.openxmlformats.org/drawingml/2006/main">
            <a:off x="685800" y="43434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daemon-reload</a:t>
            </a:r>
          </a:p>
        </p:txBody>
      </p:sp>
      <p:sp>
        <p:nvSpPr>
          <p:cNvPr id="17" name="">
            <a:extLst xmlns:a="http://schemas.openxmlformats.org/drawingml/2006/main">
              <a:ext uri="{FF2B5EF4-FFF2-40B4-BE49-F238E27FC236}">
                <a16:creationId xmlns:a16="http://schemas.microsoft.com/office/drawing/2014/main" id="{D6D092BE-7023-4F6B-8C66-8E711CE0AD92}"/>
              </a:ext>
            </a:extLst>
          </p:cNvPr>
          <p:cNvSpPr>
            <a:spLocks xmlns:a="http://schemas.openxmlformats.org/drawingml/2006/main" noGrp="1"/>
          </p:cNvSpPr>
          <p:nvPr/>
        </p:nvSpPr>
        <p:spPr>
          <a:xfrm xmlns:a="http://schemas.openxmlformats.org/drawingml/2006/main">
            <a:off x="3810000" y="4343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re-read definitions after editing</a:t>
            </a:r>
          </a:p>
        </p:txBody>
      </p:sp>
      <p:sp>
        <p:nvSpPr>
          <p:cNvPr id="18" name="">
            <a:extLst xmlns:a="http://schemas.openxmlformats.org/drawingml/2006/main">
              <a:ext uri="{FF2B5EF4-FFF2-40B4-BE49-F238E27FC236}">
                <a16:creationId xmlns:a16="http://schemas.microsoft.com/office/drawing/2014/main" id="{D68ACAF0-DF7A-4765-93AE-C3705DD74CC4}"/>
              </a:ext>
            </a:extLst>
          </p:cNvPr>
          <p:cNvSpPr>
            <a:spLocks xmlns:a="http://schemas.openxmlformats.org/drawingml/2006/main" noGrp="1"/>
          </p:cNvSpPr>
          <p:nvPr/>
        </p:nvSpPr>
        <p:spPr>
          <a:xfrm xmlns:a="http://schemas.openxmlformats.org/drawingml/2006/main">
            <a:off x="685800" y="4895850"/>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56D3400E-1BEB-491F-AA71-B1BABE7F65B4}"/>
              </a:ext>
            </a:extLst>
          </p:cNvPr>
          <p:cNvSpPr>
            <a:spLocks xmlns:a="http://schemas.openxmlformats.org/drawingml/2006/main" noGrp="1"/>
          </p:cNvSpPr>
          <p:nvPr/>
        </p:nvSpPr>
        <p:spPr>
          <a:xfrm xmlns:a="http://schemas.openxmlformats.org/drawingml/2006/main">
            <a:off x="685800" y="49911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restart + behavior check</a:t>
            </a:r>
          </a:p>
        </p:txBody>
      </p:sp>
      <p:sp>
        <p:nvSpPr>
          <p:cNvPr id="20" name="">
            <a:extLst xmlns:a="http://schemas.openxmlformats.org/drawingml/2006/main">
              <a:ext uri="{FF2B5EF4-FFF2-40B4-BE49-F238E27FC236}">
                <a16:creationId xmlns:a16="http://schemas.microsoft.com/office/drawing/2014/main" id="{C1454EA1-2850-42C0-A19C-927282363E68}"/>
              </a:ext>
            </a:extLst>
          </p:cNvPr>
          <p:cNvSpPr>
            <a:spLocks xmlns:a="http://schemas.openxmlformats.org/drawingml/2006/main" noGrp="1"/>
          </p:cNvSpPr>
          <p:nvPr/>
        </p:nvSpPr>
        <p:spPr>
          <a:xfrm xmlns:a="http://schemas.openxmlformats.org/drawingml/2006/main">
            <a:off x="3810000" y="49911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apply, then verify the output actually changed</a:t>
            </a:r>
          </a:p>
        </p:txBody>
      </p:sp>
      <p:sp>
        <p:nvSpPr>
          <p:cNvPr id="19" name="">
            <a:extLst xmlns:a="http://schemas.openxmlformats.org/drawingml/2006/main">
              <a:ext uri="{FF2B5EF4-FFF2-40B4-BE49-F238E27FC236}">
                <a16:creationId xmlns:a16="http://schemas.microsoft.com/office/drawing/2014/main" id="{56D3400E-1BEB-491F-AA71-B1BABE7F65B4}"/>
              </a:ext>
            </a:extLst>
          </p:cNvPr>
          <p:cNvSpPr>
            <a:spLocks xmlns:a="http://schemas.openxmlformats.org/drawingml/2006/main" noGrp="1"/>
          </p:cNvSpPr>
          <p:nvPr/>
        </p:nvSpPr>
        <p:spPr>
          <a:xfrm xmlns:a="http://schemas.openxmlformats.org/drawingml/2006/main">
            <a:off x="685800" y="5640324"/>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7650F8"/>
                </a:solidFill>
              </a:defRPr>
            </a:pPr>
            <a:r>
              <a:rPr sz="1500" b="1">
                <a:solidFill>
                  <a:srgbClr val="7650F8"/>
                </a:solidFill>
              </a:rPr>
              <a:t>systemctl revert U</a:t>
            </a:r>
          </a:p>
        </p:txBody>
      </p:sp>
      <p:sp>
        <p:nvSpPr>
          <p:cNvPr id="20" name="">
            <a:extLst xmlns:a="http://schemas.openxmlformats.org/drawingml/2006/main">
              <a:ext uri="{FF2B5EF4-FFF2-40B4-BE49-F238E27FC236}">
                <a16:creationId xmlns:a16="http://schemas.microsoft.com/office/drawing/2014/main" id="{C1454EA1-2850-42C0-A19C-927282363E68}"/>
              </a:ext>
            </a:extLst>
          </p:cNvPr>
          <p:cNvSpPr>
            <a:spLocks xmlns:a="http://schemas.openxmlformats.org/drawingml/2006/main" noGrp="1"/>
          </p:cNvSpPr>
          <p:nvPr/>
        </p:nvSpPr>
        <p:spPr>
          <a:xfrm xmlns:a="http://schemas.openxmlformats.org/drawingml/2006/main">
            <a:off x="3810000" y="5640324"/>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211729"/>
                </a:solidFill>
              </a:defRPr>
            </a:pPr>
            <a:r>
              <a:rPr sz="1500" b="0">
                <a:solidFill>
                  <a:srgbClr val="211729"/>
                </a:solidFill>
              </a:rPr>
              <a:t>drop all overrides, back to the shipped unit</a:t>
            </a:r>
          </a:p>
        </p:txBody>
      </p:sp>
      <p:sp>
        <p:nvSpPr>
          <p:cNvPr id="18" name="">
            <a:extLst xmlns:a="http://schemas.openxmlformats.org/drawingml/2006/main">
              <a:ext uri="{FF2B5EF4-FFF2-40B4-BE49-F238E27FC236}">
                <a16:creationId xmlns:a16="http://schemas.microsoft.com/office/drawing/2014/main" id="{D68ACAF0-DF7A-4765-93AE-C3705DD74CC4}"/>
              </a:ext>
            </a:extLst>
          </p:cNvPr>
          <p:cNvSpPr>
            <a:spLocks xmlns:a="http://schemas.openxmlformats.org/drawingml/2006/main" noGrp="1"/>
          </p:cNvSpPr>
          <p:nvPr/>
        </p:nvSpPr>
        <p:spPr>
          <a:xfrm xmlns:a="http://schemas.openxmlformats.org/drawingml/2006/main">
            <a:off x="685800" y="5545074"/>
            <a:ext cx="9982200" cy="9525"/>
          </a:xfrm>
          <a:prstGeom xmlns:a="http://schemas.openxmlformats.org/drawingml/2006/main" prst="rect">
            <a:avLst/>
          </a:prstGeom>
          <a:solidFill xmlns:a="http://schemas.openxmlformats.org/drawingml/2006/main">
            <a:srgbClr val="E7DBE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489946438"/>
      </p:ext>
    </p:extLst>
  </p:cSld>
</p:sld>
</file>

<file path=ppt/slides/slide103.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60945B-45C0-4E97-A2C7-7B2CCBC61A3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F67998F-8A99-4DAD-8D55-AA8B392093FA}"/>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MODULE 10 · LIVE DEMO</a:t>
            </a:r>
          </a:p>
        </p:txBody>
      </p:sp>
      <p:sp>
        <p:nvSpPr>
          <p:cNvPr id="3" name="">
            <a:extLst xmlns:a="http://schemas.openxmlformats.org/drawingml/2006/main">
              <a:ext uri="{FF2B5EF4-FFF2-40B4-BE49-F238E27FC236}">
                <a16:creationId xmlns:a16="http://schemas.microsoft.com/office/drawing/2014/main" id="{33867BA8-B5A8-4F4B-A2FD-92E12192161D}"/>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A3821263-2DA2-4811-B868-214A03590B5C}"/>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103</a:t>
            </a:r>
          </a:p>
        </p:txBody>
      </p:sp>
      <p:sp>
        <p:nvSpPr>
          <p:cNvPr id="5" name="">
            <a:extLst xmlns:a="http://schemas.openxmlformats.org/drawingml/2006/main">
              <a:ext uri="{FF2B5EF4-FFF2-40B4-BE49-F238E27FC236}">
                <a16:creationId xmlns:a16="http://schemas.microsoft.com/office/drawing/2014/main" id="{7A887706-3D8F-418B-B5FD-AF96212A5AE8}"/>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FFFFF"/>
                </a:solidFill>
              </a:defRPr>
            </a:pPr>
            <a:r>
              <a:rPr sz="2850" b="1">
                <a:solidFill>
                  <a:srgbClr val="FFFFFF"/>
                </a:solidFill>
              </a:rPr>
              <a:t>Demo: a drop-in, a reload, a restart</a:t>
            </a:r>
          </a:p>
        </p:txBody>
      </p:sp>
      <p:sp>
        <p:nvSpPr>
          <p:cNvPr id="6" name="">
            <a:extLst xmlns:a="http://schemas.openxmlformats.org/drawingml/2006/main">
              <a:ext uri="{FF2B5EF4-FFF2-40B4-BE49-F238E27FC236}">
                <a16:creationId xmlns:a16="http://schemas.microsoft.com/office/drawing/2014/main" id="{590BF078-AFCD-47B7-84BA-BF7B25046A88}"/>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E6DDEB"/>
                </a:solidFill>
              </a:defRPr>
            </a:pPr>
            <a:r>
              <a:rPr sz="1650" b="0">
                <a:solidFill>
                  <a:srgbClr val="E6DDEB"/>
                </a:solidFill>
              </a:rPr>
              <a:t>Change one value with a drop-in, then verify the running process observed it.</a:t>
            </a:r>
          </a:p>
        </p:txBody>
      </p:sp>
      <p:sp>
        <p:nvSpPr>
          <p:cNvPr id="7" name="">
            <a:extLst xmlns:a="http://schemas.openxmlformats.org/drawingml/2006/main">
              <a:ext uri="{FF2B5EF4-FFF2-40B4-BE49-F238E27FC236}">
                <a16:creationId xmlns:a16="http://schemas.microsoft.com/office/drawing/2014/main" id="{F2037A12-07B3-4806-99C1-29EEA40C18A3}"/>
              </a:ext>
            </a:extLst>
          </p:cNvPr>
          <p:cNvSpPr>
            <a:spLocks xmlns:a="http://schemas.openxmlformats.org/drawingml/2006/main" noGrp="1"/>
          </p:cNvSpPr>
          <p:nvPr/>
        </p:nvSpPr>
        <p:spPr>
          <a:xfrm xmlns:a="http://schemas.openxmlformats.org/drawingml/2006/main">
            <a:off x="666750" y="2476500"/>
            <a:ext cx="10096500" cy="781050"/>
          </a:xfrm>
          <a:prstGeom xmlns:a="http://schemas.openxmlformats.org/drawingml/2006/main" prst="roundRect">
            <a:avLst>
              <a:gd name="adj" fmla="val 14634"/>
            </a:avLst>
          </a:prstGeom>
          <a:solidFill xmlns:a="http://schemas.openxmlformats.org/drawingml/2006/main">
            <a:srgbClr val="2C173E"/>
          </a:solidFill>
          <a:ln xmlns:a="http://schemas.openxmlformats.org/drawingml/2006/main" w="9525">
            <a:solidFill>
              <a:srgbClr val="7650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1AEF975-0AF7-49D9-BE96-C4351AAF7834}"/>
              </a:ext>
            </a:extLst>
          </p:cNvPr>
          <p:cNvSpPr>
            <a:spLocks xmlns:a="http://schemas.openxmlformats.org/drawingml/2006/main" noGrp="1"/>
          </p:cNvSpPr>
          <p:nvPr/>
        </p:nvSpPr>
        <p:spPr>
          <a:xfrm xmlns:a="http://schemas.openxmlformats.org/drawingml/2006/main">
            <a:off x="895350" y="259080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FFFFF"/>
                </a:solidFill>
              </a:defRPr>
            </a:pPr>
            <a:r>
              <a:rPr sz="1575" b="0">
                <a:solidFill>
                  <a:srgbClr val="FFFFFF"/>
                </a:solidFill>
              </a:rPr>
              <a:t>Override DEMO_LOG_LEVEL for demo-banner.service, compare effective configuration, reload, restart, and verify generated output.</a:t>
            </a:r>
          </a:p>
        </p:txBody>
      </p:sp>
      <p:sp>
        <p:nvSpPr>
          <p:cNvPr id="9" name="">
            <a:extLst xmlns:a="http://schemas.openxmlformats.org/drawingml/2006/main">
              <a:ext uri="{FF2B5EF4-FFF2-40B4-BE49-F238E27FC236}">
                <a16:creationId xmlns:a16="http://schemas.microsoft.com/office/drawing/2014/main" id="{4171179F-49FE-477B-93F4-1EF676C60875}"/>
              </a:ext>
            </a:extLst>
          </p:cNvPr>
          <p:cNvSpPr>
            <a:spLocks xmlns:a="http://schemas.openxmlformats.org/drawingml/2006/main" noGrp="1"/>
          </p:cNvSpPr>
          <p:nvPr/>
        </p:nvSpPr>
        <p:spPr>
          <a:xfrm xmlns:a="http://schemas.openxmlformats.org/drawingml/2006/main">
            <a:off x="904875" y="3819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08796976-6CC8-4B13-9D2B-EA141242984F}"/>
              </a:ext>
            </a:extLst>
          </p:cNvPr>
          <p:cNvSpPr>
            <a:spLocks xmlns:a="http://schemas.openxmlformats.org/drawingml/2006/main" noGrp="1"/>
          </p:cNvSpPr>
          <p:nvPr/>
        </p:nvSpPr>
        <p:spPr>
          <a:xfrm xmlns:a="http://schemas.openxmlformats.org/drawingml/2006/main">
            <a:off x="1152525" y="361950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show demo-banner -p Environment — the value before</a:t>
            </a:r>
          </a:p>
        </p:txBody>
      </p:sp>
      <p:sp>
        <p:nvSpPr>
          <p:cNvPr id="11" name="">
            <a:extLst xmlns:a="http://schemas.openxmlformats.org/drawingml/2006/main">
              <a:ext uri="{FF2B5EF4-FFF2-40B4-BE49-F238E27FC236}">
                <a16:creationId xmlns:a16="http://schemas.microsoft.com/office/drawing/2014/main" id="{65C3D125-4B06-409F-9878-1645931FB88F}"/>
              </a:ext>
            </a:extLst>
          </p:cNvPr>
          <p:cNvSpPr>
            <a:spLocks xmlns:a="http://schemas.openxmlformats.org/drawingml/2006/main" noGrp="1"/>
          </p:cNvSpPr>
          <p:nvPr/>
        </p:nvSpPr>
        <p:spPr>
          <a:xfrm xmlns:a="http://schemas.openxmlformats.org/drawingml/2006/main">
            <a:off x="904875" y="43434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42B04B98-6424-4A62-9BBA-1E5C27D4FA01}"/>
              </a:ext>
            </a:extLst>
          </p:cNvPr>
          <p:cNvSpPr>
            <a:spLocks xmlns:a="http://schemas.openxmlformats.org/drawingml/2006/main" noGrp="1"/>
          </p:cNvSpPr>
          <p:nvPr/>
        </p:nvSpPr>
        <p:spPr>
          <a:xfrm xmlns:a="http://schemas.openxmlformats.org/drawingml/2006/main">
            <a:off x="1152525" y="414337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systemctl edit demo-banner — write the DEMO_LOG_LEVEL override</a:t>
            </a:r>
          </a:p>
        </p:txBody>
      </p:sp>
      <p:sp>
        <p:nvSpPr>
          <p:cNvPr id="13" name="">
            <a:extLst xmlns:a="http://schemas.openxmlformats.org/drawingml/2006/main">
              <a:ext uri="{FF2B5EF4-FFF2-40B4-BE49-F238E27FC236}">
                <a16:creationId xmlns:a16="http://schemas.microsoft.com/office/drawing/2014/main" id="{85C5DC3B-9B6D-418E-A6F4-A09BAA38119B}"/>
              </a:ext>
            </a:extLst>
          </p:cNvPr>
          <p:cNvSpPr>
            <a:spLocks xmlns:a="http://schemas.openxmlformats.org/drawingml/2006/main" noGrp="1"/>
          </p:cNvSpPr>
          <p:nvPr/>
        </p:nvSpPr>
        <p:spPr>
          <a:xfrm xmlns:a="http://schemas.openxmlformats.org/drawingml/2006/main">
            <a:off x="904875" y="48672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1310846E-8E72-49D0-84F3-B757A8D5AA8D}"/>
              </a:ext>
            </a:extLst>
          </p:cNvPr>
          <p:cNvSpPr>
            <a:spLocks xmlns:a="http://schemas.openxmlformats.org/drawingml/2006/main" noGrp="1"/>
          </p:cNvSpPr>
          <p:nvPr/>
        </p:nvSpPr>
        <p:spPr>
          <a:xfrm xmlns:a="http://schemas.openxmlformats.org/drawingml/2006/main">
            <a:off x="1152525" y="4667250"/>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daemon-reload → show again: the manager knows; the output file is unchanged</a:t>
            </a:r>
          </a:p>
        </p:txBody>
      </p:sp>
      <p:sp>
        <p:nvSpPr>
          <p:cNvPr id="15" name="">
            <a:extLst xmlns:a="http://schemas.openxmlformats.org/drawingml/2006/main">
              <a:ext uri="{FF2B5EF4-FFF2-40B4-BE49-F238E27FC236}">
                <a16:creationId xmlns:a16="http://schemas.microsoft.com/office/drawing/2014/main" id="{BBB4D483-6447-45CE-8CB1-D697D4FD0A8B}"/>
              </a:ext>
            </a:extLst>
          </p:cNvPr>
          <p:cNvSpPr>
            <a:spLocks xmlns:a="http://schemas.openxmlformats.org/drawingml/2006/main" noGrp="1"/>
          </p:cNvSpPr>
          <p:nvPr/>
        </p:nvSpPr>
        <p:spPr>
          <a:xfrm xmlns:a="http://schemas.openxmlformats.org/drawingml/2006/main">
            <a:off x="904875" y="539115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89FE7BBB-6562-4CDD-8D55-016E504226C5}"/>
              </a:ext>
            </a:extLst>
          </p:cNvPr>
          <p:cNvSpPr>
            <a:spLocks xmlns:a="http://schemas.openxmlformats.org/drawingml/2006/main" noGrp="1"/>
          </p:cNvSpPr>
          <p:nvPr/>
        </p:nvSpPr>
        <p:spPr>
          <a:xfrm xmlns:a="http://schemas.openxmlformats.org/drawingml/2006/main">
            <a:off x="1152525" y="51911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EADFF0"/>
                </a:solidFill>
              </a:defRPr>
            </a:pPr>
            <a:r>
              <a:rPr sz="1500" b="0">
                <a:solidFill>
                  <a:srgbClr val="EADFF0"/>
                </a:solidFill>
              </a:rPr>
              <a:t>restart → the regenerated file finally reflects the new value</a:t>
            </a:r>
          </a:p>
        </p:txBody>
      </p:sp>
      <p:sp>
        <p:nvSpPr>
          <p:cNvPr id="17" name="">
            <a:extLst xmlns:a="http://schemas.openxmlformats.org/drawingml/2006/main">
              <a:ext uri="{FF2B5EF4-FFF2-40B4-BE49-F238E27FC236}">
                <a16:creationId xmlns:a16="http://schemas.microsoft.com/office/drawing/2014/main" id="{69624EC0-2BB5-40D4-B378-ABE8E79B7234}"/>
              </a:ext>
            </a:extLst>
          </p:cNvPr>
          <p:cNvSpPr>
            <a:spLocks xmlns:a="http://schemas.openxmlformats.org/drawingml/2006/main" noGrp="1"/>
          </p:cNvSpPr>
          <p:nvPr/>
        </p:nvSpPr>
        <p:spPr>
          <a:xfrm xmlns:a="http://schemas.openxmlformats.org/drawingml/2006/main">
            <a:off x="904875" y="58864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71D6B3"/>
                </a:solidFill>
              </a:defRPr>
            </a:pPr>
            <a:r>
              <a:rPr sz="1200" b="1">
                <a:solidFill>
                  <a:srgbClr val="71D6B3"/>
                </a:solidFill>
              </a:rPr>
              <a:t>Predict: what changes after the reload but before the restart?</a:t>
            </a:r>
          </a:p>
        </p:txBody>
      </p:sp>
    </p:spTree>
    <p:extLst>
      <p:ext uri="{BB962C8B-B14F-4D97-AF65-F5344CB8AC3E}">
        <p14:creationId xmlns:p14="http://schemas.microsoft.com/office/powerpoint/2010/main" val="2097644238"/>
      </p:ext>
    </p:extLst>
  </p:cSld>
</p:sld>
</file>

<file path=ppt/slides/slide104.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A6B6863-06B5-42FE-AEF6-E9AB3AA707F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7AB39A-7ABD-4E93-865E-147B1B4D557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HANDS-ON · LAB 10</a:t>
            </a:r>
          </a:p>
        </p:txBody>
      </p:sp>
      <p:sp>
        <p:nvSpPr>
          <p:cNvPr id="3" name="">
            <a:extLst xmlns:a="http://schemas.openxmlformats.org/drawingml/2006/main">
              <a:ext uri="{FF2B5EF4-FFF2-40B4-BE49-F238E27FC236}">
                <a16:creationId xmlns:a16="http://schemas.microsoft.com/office/drawing/2014/main" id="{B8C0395F-CADA-4FAD-8AD1-B8C361834D55}"/>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DCBE56F3-8DAD-4002-BFEE-90721674F6BF}"/>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104</a:t>
            </a:r>
          </a:p>
        </p:txBody>
      </p:sp>
      <p:sp>
        <p:nvSpPr>
          <p:cNvPr id="5" name="">
            <a:extLst xmlns:a="http://schemas.openxmlformats.org/drawingml/2006/main">
              <a:ext uri="{FF2B5EF4-FFF2-40B4-BE49-F238E27FC236}">
                <a16:creationId xmlns:a16="http://schemas.microsoft.com/office/drawing/2014/main" id="{06D6BC72-5929-4426-8B24-DE89E7B9EA2D}"/>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Unit layering, drop-ins, reloads, and durable changes</a:t>
            </a:r>
          </a:p>
        </p:txBody>
      </p:sp>
      <p:sp>
        <p:nvSpPr>
          <p:cNvPr id="6" name="">
            <a:extLst xmlns:a="http://schemas.openxmlformats.org/drawingml/2006/main">
              <a:ext uri="{FF2B5EF4-FFF2-40B4-BE49-F238E27FC236}">
                <a16:creationId xmlns:a16="http://schemas.microsoft.com/office/drawing/2014/main" id="{192B5AAB-4F71-4EB8-8750-36C1D17C2902}"/>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Lab exercise, 15 minutes: make a durable change via drop-in, with a rollback path.</a:t>
            </a:r>
          </a:p>
        </p:txBody>
      </p:sp>
      <p:sp>
        <p:nvSpPr>
          <p:cNvPr id="7" name="">
            <a:extLst xmlns:a="http://schemas.openxmlformats.org/drawingml/2006/main">
              <a:ext uri="{FF2B5EF4-FFF2-40B4-BE49-F238E27FC236}">
                <a16:creationId xmlns:a16="http://schemas.microsoft.com/office/drawing/2014/main" id="{AEAF8983-DFE0-4527-ADC5-77BC85BA0C74}"/>
              </a:ext>
            </a:extLst>
          </p:cNvPr>
          <p:cNvSpPr>
            <a:spLocks xmlns:a="http://schemas.openxmlformats.org/drawingml/2006/main" noGrp="1"/>
          </p:cNvSpPr>
          <p:nvPr/>
        </p:nvSpPr>
        <p:spPr>
          <a:xfrm xmlns:a="http://schemas.openxmlformats.org/drawingml/2006/main">
            <a:off x="514350" y="2457450"/>
            <a:ext cx="6762750" cy="2286000"/>
          </a:xfrm>
          <a:prstGeom xmlns:a="http://schemas.openxmlformats.org/drawingml/2006/main" prst="roundRect">
            <a:avLst>
              <a:gd name="adj" fmla="val 5000"/>
            </a:avLst>
          </a:prstGeom>
          <a:solidFill xmlns:a="http://schemas.openxmlformats.org/drawingml/2006/main">
            <a:srgbClr val="180D25"/>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05C0DEF-3EFE-4AE4-97CE-3F4C7F2BDA34}"/>
              </a:ext>
            </a:extLst>
          </p:cNvPr>
          <p:cNvSpPr>
            <a:spLocks xmlns:a="http://schemas.openxmlformats.org/drawingml/2006/main" noGrp="1"/>
          </p:cNvSpPr>
          <p:nvPr/>
        </p:nvSpPr>
        <p:spPr>
          <a:xfrm xmlns:a="http://schemas.openxmlformats.org/drawingml/2006/main">
            <a:off x="781050" y="2647950"/>
            <a:ext cx="6238875"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FFFFF"/>
                </a:solidFill>
              </a:defRPr>
            </a:pPr>
            <a:r>
              <a:rPr sz="1650" b="0">
                <a:solidFill>
                  <a:srgbClr val="FFFFFF"/>
                </a:solidFill>
              </a:rPr>
              <a:t>Set COURSE_MODE=production with a drop-in, reload definitions, restart the service, and prove effective configuration and regenerated behavior.</a:t>
            </a:r>
          </a:p>
        </p:txBody>
      </p:sp>
      <p:sp>
        <p:nvSpPr>
          <p:cNvPr id="9" name="">
            <a:extLst xmlns:a="http://schemas.openxmlformats.org/drawingml/2006/main">
              <a:ext uri="{FF2B5EF4-FFF2-40B4-BE49-F238E27FC236}">
                <a16:creationId xmlns:a16="http://schemas.microsoft.com/office/drawing/2014/main" id="{E554A992-8601-4C52-AE98-01DA0BCE478A}"/>
              </a:ext>
            </a:extLst>
          </p:cNvPr>
          <p:cNvSpPr>
            <a:spLocks xmlns:a="http://schemas.openxmlformats.org/drawingml/2006/main" noGrp="1"/>
          </p:cNvSpPr>
          <p:nvPr/>
        </p:nvSpPr>
        <p:spPr>
          <a:xfrm xmlns:a="http://schemas.openxmlformats.org/drawingml/2006/main">
            <a:off x="7762875" y="2695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2E36CE4-B32B-4FEF-B4A1-58EBA2B7349D}"/>
              </a:ext>
            </a:extLst>
          </p:cNvPr>
          <p:cNvSpPr>
            <a:spLocks xmlns:a="http://schemas.openxmlformats.org/drawingml/2006/main" noGrp="1"/>
          </p:cNvSpPr>
          <p:nvPr/>
        </p:nvSpPr>
        <p:spPr>
          <a:xfrm xmlns:a="http://schemas.openxmlformats.org/drawingml/2006/main">
            <a:off x="8010525" y="2476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15 minutes</a:t>
            </a:r>
          </a:p>
        </p:txBody>
      </p:sp>
      <p:sp>
        <p:nvSpPr>
          <p:cNvPr id="11" name="">
            <a:extLst xmlns:a="http://schemas.openxmlformats.org/drawingml/2006/main">
              <a:ext uri="{FF2B5EF4-FFF2-40B4-BE49-F238E27FC236}">
                <a16:creationId xmlns:a16="http://schemas.microsoft.com/office/drawing/2014/main" id="{CA6BD0FE-5821-49F1-B299-9046ED003755}"/>
              </a:ext>
            </a:extLst>
          </p:cNvPr>
          <p:cNvSpPr>
            <a:spLocks xmlns:a="http://schemas.openxmlformats.org/drawingml/2006/main" noGrp="1"/>
          </p:cNvSpPr>
          <p:nvPr/>
        </p:nvSpPr>
        <p:spPr>
          <a:xfrm xmlns:a="http://schemas.openxmlformats.org/drawingml/2006/main">
            <a:off x="7762875" y="3267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CD5A9B0-3E34-407C-956A-36BA928F748E}"/>
              </a:ext>
            </a:extLst>
          </p:cNvPr>
          <p:cNvSpPr>
            <a:spLocks xmlns:a="http://schemas.openxmlformats.org/drawingml/2006/main" noGrp="1"/>
          </p:cNvSpPr>
          <p:nvPr/>
        </p:nvSpPr>
        <p:spPr>
          <a:xfrm xmlns:a="http://schemas.openxmlformats.org/drawingml/2006/main">
            <a:off x="8010525" y="3048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Prepare/reset only this lab</a:t>
            </a:r>
          </a:p>
        </p:txBody>
      </p:sp>
      <p:sp>
        <p:nvSpPr>
          <p:cNvPr id="13" name="">
            <a:extLst xmlns:a="http://schemas.openxmlformats.org/drawingml/2006/main">
              <a:ext uri="{FF2B5EF4-FFF2-40B4-BE49-F238E27FC236}">
                <a16:creationId xmlns:a16="http://schemas.microsoft.com/office/drawing/2014/main" id="{CF39A512-2BF1-4F37-A344-AA8CB6B5C3E2}"/>
              </a:ext>
            </a:extLst>
          </p:cNvPr>
          <p:cNvSpPr>
            <a:spLocks xmlns:a="http://schemas.openxmlformats.org/drawingml/2006/main" noGrp="1"/>
          </p:cNvSpPr>
          <p:nvPr/>
        </p:nvSpPr>
        <p:spPr>
          <a:xfrm xmlns:a="http://schemas.openxmlformats.org/drawingml/2006/main">
            <a:off x="7762875" y="383857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813C1862-07F7-4A48-AFB4-C34947C21C5B}"/>
              </a:ext>
            </a:extLst>
          </p:cNvPr>
          <p:cNvSpPr>
            <a:spLocks xmlns:a="http://schemas.openxmlformats.org/drawingml/2006/main" noGrp="1"/>
          </p:cNvSpPr>
          <p:nvPr/>
        </p:nvSpPr>
        <p:spPr>
          <a:xfrm xmlns:a="http://schemas.openxmlformats.org/drawingml/2006/main">
            <a:off x="8010525" y="36195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Check observable state</a:t>
            </a:r>
          </a:p>
        </p:txBody>
      </p:sp>
      <p:sp>
        <p:nvSpPr>
          <p:cNvPr id="15" name="">
            <a:extLst xmlns:a="http://schemas.openxmlformats.org/drawingml/2006/main">
              <a:ext uri="{FF2B5EF4-FFF2-40B4-BE49-F238E27FC236}">
                <a16:creationId xmlns:a16="http://schemas.microsoft.com/office/drawing/2014/main" id="{EF8CBCB0-E491-4B12-BAAD-62256E871FFE}"/>
              </a:ext>
            </a:extLst>
          </p:cNvPr>
          <p:cNvSpPr>
            <a:spLocks xmlns:a="http://schemas.openxmlformats.org/drawingml/2006/main" noGrp="1"/>
          </p:cNvSpPr>
          <p:nvPr/>
        </p:nvSpPr>
        <p:spPr>
          <a:xfrm xmlns:a="http://schemas.openxmlformats.org/drawingml/2006/main">
            <a:off x="7762875" y="441007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4C5F4AE2-9B4F-41CA-A0F6-E0F224DB2F4F}"/>
              </a:ext>
            </a:extLst>
          </p:cNvPr>
          <p:cNvSpPr>
            <a:spLocks xmlns:a="http://schemas.openxmlformats.org/drawingml/2006/main" noGrp="1"/>
          </p:cNvSpPr>
          <p:nvPr/>
        </p:nvSpPr>
        <p:spPr>
          <a:xfrm xmlns:a="http://schemas.openxmlformats.org/drawingml/2006/main">
            <a:off x="8010525" y="4191000"/>
            <a:ext cx="308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211729"/>
                </a:solidFill>
              </a:defRPr>
            </a:pPr>
            <a:r>
              <a:rPr sz="1425" b="0">
                <a:solidFill>
                  <a:srgbClr val="211729"/>
                </a:solidFill>
              </a:rPr>
              <a:t>Explain why the result follows</a:t>
            </a:r>
          </a:p>
        </p:txBody>
      </p:sp>
      <p:sp>
        <p:nvSpPr>
          <p:cNvPr id="17" name="">
            <a:extLst xmlns:a="http://schemas.openxmlformats.org/drawingml/2006/main">
              <a:ext uri="{FF2B5EF4-FFF2-40B4-BE49-F238E27FC236}">
                <a16:creationId xmlns:a16="http://schemas.microsoft.com/office/drawing/2014/main" id="{000D03CC-1863-41CC-9C73-6C7B21EC9908}"/>
              </a:ext>
            </a:extLst>
          </p:cNvPr>
          <p:cNvSpPr>
            <a:spLocks xmlns:a="http://schemas.openxmlformats.org/drawingml/2006/main" noGrp="1"/>
          </p:cNvSpPr>
          <p:nvPr/>
        </p:nvSpPr>
        <p:spPr>
          <a:xfrm xmlns:a="http://schemas.openxmlformats.org/drawingml/2006/main">
            <a:off x="514350" y="5391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650F8"/>
                </a:solidFill>
              </a:defRPr>
            </a:pPr>
            <a:r>
              <a:rPr sz="1350" b="1">
                <a:solidFill>
                  <a:srgbClr val="7650F8"/>
                </a:solidFill>
              </a:rPr>
              <a:t>Open the lab guide for exact tasks, hints, recovery, and checker criteria.</a:t>
            </a:r>
          </a:p>
        </p:txBody>
      </p:sp>
    </p:spTree>
    <p:extLst>
      <p:ext uri="{BB962C8B-B14F-4D97-AF65-F5344CB8AC3E}">
        <p14:creationId xmlns:p14="http://schemas.microsoft.com/office/powerpoint/2010/main" val="712072243"/>
      </p:ext>
    </p:extLst>
  </p:cSld>
</p:sld>
</file>

<file path=ppt/slides/slide105.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D0CD24-89F7-4D86-B7DE-C9DA944F8D9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E927DF5-8B1D-4590-806D-E0A4E820F03F}"/>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MODULE 10 · DEBRIEF</a:t>
            </a:r>
          </a:p>
        </p:txBody>
      </p:sp>
      <p:sp>
        <p:nvSpPr>
          <p:cNvPr id="3" name="">
            <a:extLst xmlns:a="http://schemas.openxmlformats.org/drawingml/2006/main">
              <a:ext uri="{FF2B5EF4-FFF2-40B4-BE49-F238E27FC236}">
                <a16:creationId xmlns:a16="http://schemas.microsoft.com/office/drawing/2014/main" id="{5B0BFF90-E8D9-453E-BD53-EA42EECEAD91}"/>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460B940A-30DC-431C-9ACC-14BB0204FB20}"/>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105</a:t>
            </a:r>
          </a:p>
        </p:txBody>
      </p:sp>
      <p:sp>
        <p:nvSpPr>
          <p:cNvPr id="5" name="">
            <a:extLst xmlns:a="http://schemas.openxmlformats.org/drawingml/2006/main">
              <a:ext uri="{FF2B5EF4-FFF2-40B4-BE49-F238E27FC236}">
                <a16:creationId xmlns:a16="http://schemas.microsoft.com/office/drawing/2014/main" id="{8248AB55-A802-4C05-B792-1A76524222F5}"/>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Connect the result to the model</a:t>
            </a:r>
          </a:p>
        </p:txBody>
      </p:sp>
      <p:sp>
        <p:nvSpPr>
          <p:cNvPr id="6" name="">
            <a:extLst xmlns:a="http://schemas.openxmlformats.org/drawingml/2006/main">
              <a:ext uri="{FF2B5EF4-FFF2-40B4-BE49-F238E27FC236}">
                <a16:creationId xmlns:a16="http://schemas.microsoft.com/office/drawing/2014/main" id="{2AA7CB84-30D8-4FDA-B5FA-1540BCE3BDF8}"/>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What the lab established.</a:t>
            </a:r>
          </a:p>
        </p:txBody>
      </p:sp>
      <p:sp>
        <p:nvSpPr>
          <p:cNvPr id="7" name="">
            <a:extLst xmlns:a="http://schemas.openxmlformats.org/drawingml/2006/main">
              <a:ext uri="{FF2B5EF4-FFF2-40B4-BE49-F238E27FC236}">
                <a16:creationId xmlns:a16="http://schemas.microsoft.com/office/drawing/2014/main" id="{CD260BC8-3CF5-480B-8E39-430EAD9D5CBB}"/>
              </a:ext>
            </a:extLst>
          </p:cNvPr>
          <p:cNvSpPr>
            <a:spLocks xmlns:a="http://schemas.openxmlformats.org/drawingml/2006/main" noGrp="1"/>
          </p:cNvSpPr>
          <p:nvPr/>
        </p:nvSpPr>
        <p:spPr>
          <a:xfrm xmlns:a="http://schemas.openxmlformats.org/drawingml/2006/main">
            <a:off x="514350" y="2524125"/>
            <a:ext cx="10668000" cy="1219200"/>
          </a:xfrm>
          <a:prstGeom xmlns:a="http://schemas.openxmlformats.org/drawingml/2006/main" prst="roundRect">
            <a:avLst>
              <a:gd name="adj" fmla="val 9375"/>
            </a:avLst>
          </a:prstGeom>
          <a:solidFill xmlns:a="http://schemas.openxmlformats.org/drawingml/2006/main">
            <a:srgbClr val="F0E7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8D2CE6F-99D8-4D40-8870-DEC4F7DE7EBA}"/>
              </a:ext>
            </a:extLst>
          </p:cNvPr>
          <p:cNvSpPr>
            <a:spLocks xmlns:a="http://schemas.openxmlformats.org/drawingml/2006/main" noGrp="1"/>
          </p:cNvSpPr>
          <p:nvPr/>
        </p:nvSpPr>
        <p:spPr>
          <a:xfrm xmlns:a="http://schemas.openxmlformats.org/drawingml/2006/main">
            <a:off x="762000" y="2686050"/>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211729"/>
                </a:solidFill>
              </a:defRPr>
            </a:pPr>
            <a:r>
              <a:rPr sz="1725" b="1">
                <a:solidFill>
                  <a:srgbClr val="211729"/>
                </a:solidFill>
              </a:rPr>
              <a:t>A durable change is complete only when provenance, runtime state, and behavior agree, and rollback is understood.</a:t>
            </a:r>
          </a:p>
        </p:txBody>
      </p:sp>
      <p:sp>
        <p:nvSpPr>
          <p:cNvPr id="9" name="">
            <a:extLst xmlns:a="http://schemas.openxmlformats.org/drawingml/2006/main">
              <a:ext uri="{FF2B5EF4-FFF2-40B4-BE49-F238E27FC236}">
                <a16:creationId xmlns:a16="http://schemas.microsoft.com/office/drawing/2014/main" id="{C238DEFA-2FF2-43DC-A500-F5DE99C821E0}"/>
              </a:ext>
            </a:extLst>
          </p:cNvPr>
          <p:cNvSpPr>
            <a:spLocks xmlns:a="http://schemas.openxmlformats.org/drawingml/2006/main" noGrp="1"/>
          </p:cNvSpPr>
          <p:nvPr/>
        </p:nvSpPr>
        <p:spPr>
          <a:xfrm xmlns:a="http://schemas.openxmlformats.org/drawingml/2006/main">
            <a:off x="762000" y="43243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7AE761BF-9BEE-4AAD-8BB0-B8CA62524C84}"/>
              </a:ext>
            </a:extLst>
          </p:cNvPr>
          <p:cNvSpPr>
            <a:spLocks xmlns:a="http://schemas.openxmlformats.org/drawingml/2006/main" noGrp="1"/>
          </p:cNvSpPr>
          <p:nvPr/>
        </p:nvSpPr>
        <p:spPr>
          <a:xfrm xmlns:a="http://schemas.openxmlformats.org/drawingml/2006/main">
            <a:off x="1009650" y="40957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was declared or expected?</a:t>
            </a:r>
          </a:p>
        </p:txBody>
      </p:sp>
      <p:sp>
        <p:nvSpPr>
          <p:cNvPr id="11" name="">
            <a:extLst xmlns:a="http://schemas.openxmlformats.org/drawingml/2006/main">
              <a:ext uri="{FF2B5EF4-FFF2-40B4-BE49-F238E27FC236}">
                <a16:creationId xmlns:a16="http://schemas.microsoft.com/office/drawing/2014/main" id="{C4AC2F90-97DE-47B9-9DB2-6D72428D8319}"/>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486EDDAD-BD49-4CCD-92E1-2467308FA4F4}"/>
              </a:ext>
            </a:extLst>
          </p:cNvPr>
          <p:cNvSpPr>
            <a:spLocks xmlns:a="http://schemas.openxmlformats.org/drawingml/2006/main" noGrp="1"/>
          </p:cNvSpPr>
          <p:nvPr/>
        </p:nvSpPr>
        <p:spPr>
          <a:xfrm xmlns:a="http://schemas.openxmlformats.org/drawingml/2006/main">
            <a:off x="1009650" y="468630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What runtime state did you observe?</a:t>
            </a:r>
          </a:p>
        </p:txBody>
      </p:sp>
      <p:sp>
        <p:nvSpPr>
          <p:cNvPr id="13" name="">
            <a:extLst xmlns:a="http://schemas.openxmlformats.org/drawingml/2006/main">
              <a:ext uri="{FF2B5EF4-FFF2-40B4-BE49-F238E27FC236}">
                <a16:creationId xmlns:a16="http://schemas.microsoft.com/office/drawing/2014/main" id="{9100D4CA-629B-421D-970E-92D09FA6FB9F}"/>
              </a:ext>
            </a:extLst>
          </p:cNvPr>
          <p:cNvSpPr>
            <a:spLocks xmlns:a="http://schemas.openxmlformats.org/drawingml/2006/main" noGrp="1"/>
          </p:cNvSpPr>
          <p:nvPr/>
        </p:nvSpPr>
        <p:spPr>
          <a:xfrm xmlns:a="http://schemas.openxmlformats.org/drawingml/2006/main">
            <a:off x="762000" y="5505450"/>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AC70F628-399E-4F38-83F8-804B4AFC99AC}"/>
              </a:ext>
            </a:extLst>
          </p:cNvPr>
          <p:cNvSpPr>
            <a:spLocks xmlns:a="http://schemas.openxmlformats.org/drawingml/2006/main" noGrp="1"/>
          </p:cNvSpPr>
          <p:nvPr/>
        </p:nvSpPr>
        <p:spPr>
          <a:xfrm xmlns:a="http://schemas.openxmlformats.org/drawingml/2006/main">
            <a:off x="1009650" y="5276850"/>
            <a:ext cx="965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211729"/>
                </a:solidFill>
              </a:defRPr>
            </a:pPr>
            <a:r>
              <a:rPr sz="1575" b="0">
                <a:solidFill>
                  <a:srgbClr val="211729"/>
                </a:solidFill>
              </a:rPr>
              <a:t>Which independent evidence closed the claim?</a:t>
            </a:r>
          </a:p>
        </p:txBody>
      </p:sp>
    </p:spTree>
    <p:extLst>
      <p:ext uri="{BB962C8B-B14F-4D97-AF65-F5344CB8AC3E}">
        <p14:creationId xmlns:p14="http://schemas.microsoft.com/office/powerpoint/2010/main" val="1125484103"/>
      </p:ext>
    </p:extLst>
  </p:cSld>
</p:sld>
</file>

<file path=ppt/slides/slide106.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95FFB77-87FB-4C84-8E1C-E8EFF049307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E65A50-7CA8-40DB-B4EA-D213799AD576}"/>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SYNTHESIS</a:t>
            </a:r>
          </a:p>
        </p:txBody>
      </p:sp>
      <p:sp>
        <p:nvSpPr>
          <p:cNvPr id="3" name="">
            <a:extLst xmlns:a="http://schemas.openxmlformats.org/drawingml/2006/main">
              <a:ext uri="{FF2B5EF4-FFF2-40B4-BE49-F238E27FC236}">
                <a16:creationId xmlns:a16="http://schemas.microsoft.com/office/drawing/2014/main" id="{A3DC0BAE-0566-4745-B275-E8670025E93C}"/>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AFBA1DAE-1A16-4DF0-88B3-92E5B5C8AB42}"/>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106</a:t>
            </a:r>
          </a:p>
        </p:txBody>
      </p:sp>
      <p:sp>
        <p:nvSpPr>
          <p:cNvPr id="5" name="">
            <a:extLst xmlns:a="http://schemas.openxmlformats.org/drawingml/2006/main">
              <a:ext uri="{FF2B5EF4-FFF2-40B4-BE49-F238E27FC236}">
                <a16:creationId xmlns:a16="http://schemas.microsoft.com/office/drawing/2014/main" id="{B24CE7DE-5515-489F-8F5E-D9BA40FE9FB6}"/>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A safe operator closes every change with evidence</a:t>
            </a:r>
          </a:p>
        </p:txBody>
      </p:sp>
      <p:sp>
        <p:nvSpPr>
          <p:cNvPr id="6" name="">
            <a:extLst xmlns:a="http://schemas.openxmlformats.org/drawingml/2006/main">
              <a:ext uri="{FF2B5EF4-FFF2-40B4-BE49-F238E27FC236}">
                <a16:creationId xmlns:a16="http://schemas.microsoft.com/office/drawing/2014/main" id="{63A5B846-903B-4CC9-96B8-34351C480B08}"/>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Locate context → predict state → act narrowly → observe output and events → verify behavior independently.</a:t>
            </a:r>
          </a:p>
        </p:txBody>
      </p:sp>
      <p:sp>
        <p:nvSpPr>
          <p:cNvPr id="7" name="">
            <a:extLst xmlns:a="http://schemas.openxmlformats.org/drawingml/2006/main">
              <a:ext uri="{FF2B5EF4-FFF2-40B4-BE49-F238E27FC236}">
                <a16:creationId xmlns:a16="http://schemas.microsoft.com/office/drawing/2014/main" id="{BA71AEF2-EFEE-4CC6-9D87-0E06DB55200D}"/>
              </a:ext>
            </a:extLst>
          </p:cNvPr>
          <p:cNvSpPr>
            <a:spLocks xmlns:a="http://schemas.openxmlformats.org/drawingml/2006/main" noGrp="1"/>
          </p:cNvSpPr>
          <p:nvPr/>
        </p:nvSpPr>
        <p:spPr>
          <a:xfrm xmlns:a="http://schemas.openxmlformats.org/drawingml/2006/main">
            <a:off x="781050" y="29051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277B221-BF76-4AA9-93AB-57C94D857334}"/>
              </a:ext>
            </a:extLst>
          </p:cNvPr>
          <p:cNvSpPr>
            <a:spLocks xmlns:a="http://schemas.openxmlformats.org/drawingml/2006/main" noGrp="1"/>
          </p:cNvSpPr>
          <p:nvPr/>
        </p:nvSpPr>
        <p:spPr>
          <a:xfrm xmlns:a="http://schemas.openxmlformats.org/drawingml/2006/main">
            <a:off x="1028700" y="26479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Declaration is not runtime state</a:t>
            </a:r>
          </a:p>
        </p:txBody>
      </p:sp>
      <p:sp>
        <p:nvSpPr>
          <p:cNvPr id="9" name="">
            <a:extLst xmlns:a="http://schemas.openxmlformats.org/drawingml/2006/main">
              <a:ext uri="{FF2B5EF4-FFF2-40B4-BE49-F238E27FC236}">
                <a16:creationId xmlns:a16="http://schemas.microsoft.com/office/drawing/2014/main" id="{3F46FFAB-EBF2-438C-B5FC-B7DEF7645462}"/>
              </a:ext>
            </a:extLst>
          </p:cNvPr>
          <p:cNvSpPr>
            <a:spLocks xmlns:a="http://schemas.openxmlformats.org/drawingml/2006/main" noGrp="1"/>
          </p:cNvSpPr>
          <p:nvPr/>
        </p:nvSpPr>
        <p:spPr>
          <a:xfrm xmlns:a="http://schemas.openxmlformats.org/drawingml/2006/main">
            <a:off x="781050" y="35528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98473F6-BA0B-4694-8466-83B4B0D5C063}"/>
              </a:ext>
            </a:extLst>
          </p:cNvPr>
          <p:cNvSpPr>
            <a:spLocks xmlns:a="http://schemas.openxmlformats.org/drawingml/2006/main" noGrp="1"/>
          </p:cNvSpPr>
          <p:nvPr/>
        </p:nvSpPr>
        <p:spPr>
          <a:xfrm xmlns:a="http://schemas.openxmlformats.org/drawingml/2006/main">
            <a:off x="1028700" y="32956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Runtime state is not useful behavior</a:t>
            </a:r>
          </a:p>
        </p:txBody>
      </p:sp>
      <p:sp>
        <p:nvSpPr>
          <p:cNvPr id="11" name="">
            <a:extLst xmlns:a="http://schemas.openxmlformats.org/drawingml/2006/main">
              <a:ext uri="{FF2B5EF4-FFF2-40B4-BE49-F238E27FC236}">
                <a16:creationId xmlns:a16="http://schemas.microsoft.com/office/drawing/2014/main" id="{4F9D37A9-8D71-4B03-96E2-056D5D695F86}"/>
              </a:ext>
            </a:extLst>
          </p:cNvPr>
          <p:cNvSpPr>
            <a:spLocks xmlns:a="http://schemas.openxmlformats.org/drawingml/2006/main" noGrp="1"/>
          </p:cNvSpPr>
          <p:nvPr/>
        </p:nvSpPr>
        <p:spPr>
          <a:xfrm xmlns:a="http://schemas.openxmlformats.org/drawingml/2006/main">
            <a:off x="781050" y="4200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2B90638-4805-47E8-92F9-9F8F90E13D50}"/>
              </a:ext>
            </a:extLst>
          </p:cNvPr>
          <p:cNvSpPr>
            <a:spLocks xmlns:a="http://schemas.openxmlformats.org/drawingml/2006/main" noGrp="1"/>
          </p:cNvSpPr>
          <p:nvPr/>
        </p:nvSpPr>
        <p:spPr>
          <a:xfrm xmlns:a="http://schemas.openxmlformats.org/drawingml/2006/main">
            <a:off x="1028700" y="39433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One successful command is not the whole claim</a:t>
            </a:r>
          </a:p>
        </p:txBody>
      </p:sp>
    </p:spTree>
    <p:extLst>
      <p:ext uri="{BB962C8B-B14F-4D97-AF65-F5344CB8AC3E}">
        <p14:creationId xmlns:p14="http://schemas.microsoft.com/office/powerpoint/2010/main" val="585451158"/>
      </p:ext>
    </p:extLst>
  </p:cSld>
</p:sld>
</file>

<file path=ppt/slides/slide107.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D083223-63CD-44FF-B0F4-EEA24B21E3B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4795D6C-FC9F-4C3D-90F3-FC873972ED1A}"/>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ASSESSMENT</a:t>
            </a:r>
          </a:p>
        </p:txBody>
      </p:sp>
      <p:sp>
        <p:nvSpPr>
          <p:cNvPr id="3" name="">
            <a:extLst xmlns:a="http://schemas.openxmlformats.org/drawingml/2006/main">
              <a:ext uri="{FF2B5EF4-FFF2-40B4-BE49-F238E27FC236}">
                <a16:creationId xmlns:a16="http://schemas.microsoft.com/office/drawing/2014/main" id="{478946D0-94C0-4611-A4E3-526220F9EC89}"/>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F3F5B5B5-E528-4E24-8C89-7896564B991A}"/>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107</a:t>
            </a:r>
          </a:p>
        </p:txBody>
      </p:sp>
      <p:sp>
        <p:nvSpPr>
          <p:cNvPr id="5" name="">
            <a:extLst xmlns:a="http://schemas.openxmlformats.org/drawingml/2006/main">
              <a:ext uri="{FF2B5EF4-FFF2-40B4-BE49-F238E27FC236}">
                <a16:creationId xmlns:a16="http://schemas.microsoft.com/office/drawing/2014/main" id="{6FDAD2B8-9432-471E-9B2F-1C14C73E2F11}"/>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Explain the chain when you are blocked</a:t>
            </a:r>
          </a:p>
        </p:txBody>
      </p:sp>
      <p:sp>
        <p:nvSpPr>
          <p:cNvPr id="6" name="">
            <a:extLst xmlns:a="http://schemas.openxmlformats.org/drawingml/2006/main">
              <a:ext uri="{FF2B5EF4-FFF2-40B4-BE49-F238E27FC236}">
                <a16:creationId xmlns:a16="http://schemas.microsoft.com/office/drawing/2014/main" id="{F574B786-3621-4305-9185-3AABD18869A3}"/>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A useful help request contains enough unchanged evidence for someone else to reason with you.</a:t>
            </a:r>
          </a:p>
        </p:txBody>
      </p:sp>
      <p:sp>
        <p:nvSpPr>
          <p:cNvPr id="7" name="">
            <a:extLst xmlns:a="http://schemas.openxmlformats.org/drawingml/2006/main">
              <a:ext uri="{FF2B5EF4-FFF2-40B4-BE49-F238E27FC236}">
                <a16:creationId xmlns:a16="http://schemas.microsoft.com/office/drawing/2014/main" id="{575EF999-1526-4D73-8049-DAFF2773B87D}"/>
              </a:ext>
            </a:extLst>
          </p:cNvPr>
          <p:cNvSpPr>
            <a:spLocks xmlns:a="http://schemas.openxmlformats.org/drawingml/2006/main" noGrp="1"/>
          </p:cNvSpPr>
          <p:nvPr/>
        </p:nvSpPr>
        <p:spPr>
          <a:xfrm xmlns:a="http://schemas.openxmlformats.org/drawingml/2006/main">
            <a:off x="781050" y="29051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5FADBD9-9329-4882-B78E-72C6A5D058C7}"/>
              </a:ext>
            </a:extLst>
          </p:cNvPr>
          <p:cNvSpPr>
            <a:spLocks xmlns:a="http://schemas.openxmlformats.org/drawingml/2006/main" noGrp="1"/>
          </p:cNvSpPr>
          <p:nvPr/>
        </p:nvSpPr>
        <p:spPr>
          <a:xfrm xmlns:a="http://schemas.openxmlformats.org/drawingml/2006/main">
            <a:off x="1028700" y="26479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Which user, host, and working directory?</a:t>
            </a:r>
          </a:p>
        </p:txBody>
      </p:sp>
      <p:sp>
        <p:nvSpPr>
          <p:cNvPr id="9" name="">
            <a:extLst xmlns:a="http://schemas.openxmlformats.org/drawingml/2006/main">
              <a:ext uri="{FF2B5EF4-FFF2-40B4-BE49-F238E27FC236}">
                <a16:creationId xmlns:a16="http://schemas.microsoft.com/office/drawing/2014/main" id="{FDEBCECE-F3B1-4FB1-B759-9475AC1B9275}"/>
              </a:ext>
            </a:extLst>
          </p:cNvPr>
          <p:cNvSpPr>
            <a:spLocks xmlns:a="http://schemas.openxmlformats.org/drawingml/2006/main" noGrp="1"/>
          </p:cNvSpPr>
          <p:nvPr/>
        </p:nvSpPr>
        <p:spPr>
          <a:xfrm xmlns:a="http://schemas.openxmlformats.org/drawingml/2006/main">
            <a:off x="781050" y="35528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AE9B93D-3799-4312-BF04-2A5596B69071}"/>
              </a:ext>
            </a:extLst>
          </p:cNvPr>
          <p:cNvSpPr>
            <a:spLocks xmlns:a="http://schemas.openxmlformats.org/drawingml/2006/main" noGrp="1"/>
          </p:cNvSpPr>
          <p:nvPr/>
        </p:nvSpPr>
        <p:spPr>
          <a:xfrm xmlns:a="http://schemas.openxmlformats.org/drawingml/2006/main">
            <a:off x="1028700" y="32956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What exact target state did you inspect?</a:t>
            </a:r>
          </a:p>
        </p:txBody>
      </p:sp>
      <p:sp>
        <p:nvSpPr>
          <p:cNvPr id="11" name="">
            <a:extLst xmlns:a="http://schemas.openxmlformats.org/drawingml/2006/main">
              <a:ext uri="{FF2B5EF4-FFF2-40B4-BE49-F238E27FC236}">
                <a16:creationId xmlns:a16="http://schemas.microsoft.com/office/drawing/2014/main" id="{BE885FA6-1997-4CB9-B431-72467EEF5882}"/>
              </a:ext>
            </a:extLst>
          </p:cNvPr>
          <p:cNvSpPr>
            <a:spLocks xmlns:a="http://schemas.openxmlformats.org/drawingml/2006/main" noGrp="1"/>
          </p:cNvSpPr>
          <p:nvPr/>
        </p:nvSpPr>
        <p:spPr>
          <a:xfrm xmlns:a="http://schemas.openxmlformats.org/drawingml/2006/main">
            <a:off x="781050" y="4200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0063BA46-1BD5-4692-A7A7-6EEC17014EBF}"/>
              </a:ext>
            </a:extLst>
          </p:cNvPr>
          <p:cNvSpPr>
            <a:spLocks xmlns:a="http://schemas.openxmlformats.org/drawingml/2006/main" noGrp="1"/>
          </p:cNvSpPr>
          <p:nvPr/>
        </p:nvSpPr>
        <p:spPr>
          <a:xfrm xmlns:a="http://schemas.openxmlformats.org/drawingml/2006/main">
            <a:off x="1028700" y="39433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What command and unchanged output can be repeated?</a:t>
            </a:r>
          </a:p>
        </p:txBody>
      </p:sp>
      <p:sp>
        <p:nvSpPr>
          <p:cNvPr id="13" name="">
            <a:extLst xmlns:a="http://schemas.openxmlformats.org/drawingml/2006/main">
              <a:ext uri="{FF2B5EF4-FFF2-40B4-BE49-F238E27FC236}">
                <a16:creationId xmlns:a16="http://schemas.microsoft.com/office/drawing/2014/main" id="{6F7F65C4-FBBA-4198-99C4-631C46863FD3}"/>
              </a:ext>
            </a:extLst>
          </p:cNvPr>
          <p:cNvSpPr>
            <a:spLocks xmlns:a="http://schemas.openxmlformats.org/drawingml/2006/main" noGrp="1"/>
          </p:cNvSpPr>
          <p:nvPr/>
        </p:nvSpPr>
        <p:spPr>
          <a:xfrm xmlns:a="http://schemas.openxmlformats.org/drawingml/2006/main">
            <a:off x="781050" y="48482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EA4752FF-4FC4-40EB-9D2E-74FAC9B61927}"/>
              </a:ext>
            </a:extLst>
          </p:cNvPr>
          <p:cNvSpPr>
            <a:spLocks xmlns:a="http://schemas.openxmlformats.org/drawingml/2006/main" noGrp="1"/>
          </p:cNvSpPr>
          <p:nvPr/>
        </p:nvSpPr>
        <p:spPr>
          <a:xfrm xmlns:a="http://schemas.openxmlformats.org/drawingml/2006/main">
            <a:off x="1028700" y="45910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What changed, and what independent check followed?</a:t>
            </a:r>
          </a:p>
        </p:txBody>
      </p:sp>
    </p:spTree>
    <p:extLst>
      <p:ext uri="{BB962C8B-B14F-4D97-AF65-F5344CB8AC3E}">
        <p14:creationId xmlns:p14="http://schemas.microsoft.com/office/powerpoint/2010/main" val="1434040424"/>
      </p:ext>
    </p:extLst>
  </p:cSld>
</p:sld>
</file>

<file path=ppt/slides/slide108.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EFAA17-A547-4E4F-86AB-609BA4542B3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51E8FEA-7B00-4C00-B670-C371E2533F07}"/>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DELIVERY</a:t>
            </a:r>
          </a:p>
        </p:txBody>
      </p:sp>
      <p:sp>
        <p:nvSpPr>
          <p:cNvPr id="3" name="">
            <a:extLst xmlns:a="http://schemas.openxmlformats.org/drawingml/2006/main">
              <a:ext uri="{FF2B5EF4-FFF2-40B4-BE49-F238E27FC236}">
                <a16:creationId xmlns:a16="http://schemas.microsoft.com/office/drawing/2014/main" id="{642A0638-0DCD-47CA-8F9E-B753C745BDF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0A75D18E-1FA7-4B35-91EE-2DC0024FE054}"/>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108</a:t>
            </a:r>
          </a:p>
        </p:txBody>
      </p:sp>
      <p:sp>
        <p:nvSpPr>
          <p:cNvPr id="5" name="">
            <a:extLst xmlns:a="http://schemas.openxmlformats.org/drawingml/2006/main">
              <a:ext uri="{FF2B5EF4-FFF2-40B4-BE49-F238E27FC236}">
                <a16:creationId xmlns:a16="http://schemas.microsoft.com/office/drawing/2014/main" id="{EBDC78BD-2B48-4A39-8414-B1491C15329D}"/>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Protect the 50/50 balance when adapting delivery</a:t>
            </a:r>
          </a:p>
        </p:txBody>
      </p:sp>
      <p:sp>
        <p:nvSpPr>
          <p:cNvPr id="6" name="">
            <a:extLst xmlns:a="http://schemas.openxmlformats.org/drawingml/2006/main">
              <a:ext uri="{FF2B5EF4-FFF2-40B4-BE49-F238E27FC236}">
                <a16:creationId xmlns:a16="http://schemas.microsoft.com/office/drawing/2014/main" id="{408B16BD-D405-4C45-9EE0-999886C6DAA2}"/>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If the room schedule changes, shorten examples and discussion evenly; keep all ten labs, verification steps, and debriefs.</a:t>
            </a:r>
          </a:p>
        </p:txBody>
      </p:sp>
      <p:sp>
        <p:nvSpPr>
          <p:cNvPr id="7" name="">
            <a:extLst xmlns:a="http://schemas.openxmlformats.org/drawingml/2006/main">
              <a:ext uri="{FF2B5EF4-FFF2-40B4-BE49-F238E27FC236}">
                <a16:creationId xmlns:a16="http://schemas.microsoft.com/office/drawing/2014/main" id="{014A0208-B6BC-4307-B3B5-B49C4E127FA9}"/>
              </a:ext>
            </a:extLst>
          </p:cNvPr>
          <p:cNvSpPr>
            <a:spLocks xmlns:a="http://schemas.openxmlformats.org/drawingml/2006/main" noGrp="1"/>
          </p:cNvSpPr>
          <p:nvPr/>
        </p:nvSpPr>
        <p:spPr>
          <a:xfrm xmlns:a="http://schemas.openxmlformats.org/drawingml/2006/main">
            <a:off x="781050" y="29051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1163A4F-C3E9-4FDB-B351-71FB3A5B7198}"/>
              </a:ext>
            </a:extLst>
          </p:cNvPr>
          <p:cNvSpPr>
            <a:spLocks xmlns:a="http://schemas.openxmlformats.org/drawingml/2006/main" noGrp="1"/>
          </p:cNvSpPr>
          <p:nvPr/>
        </p:nvSpPr>
        <p:spPr>
          <a:xfrm xmlns:a="http://schemas.openxmlformats.org/drawingml/2006/main">
            <a:off x="1028700" y="26479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50% guided teaching</a:t>
            </a:r>
          </a:p>
        </p:txBody>
      </p:sp>
      <p:sp>
        <p:nvSpPr>
          <p:cNvPr id="9" name="">
            <a:extLst xmlns:a="http://schemas.openxmlformats.org/drawingml/2006/main">
              <a:ext uri="{FF2B5EF4-FFF2-40B4-BE49-F238E27FC236}">
                <a16:creationId xmlns:a16="http://schemas.microsoft.com/office/drawing/2014/main" id="{3516325E-A645-48C2-9784-9E2DE74D12E4}"/>
              </a:ext>
            </a:extLst>
          </p:cNvPr>
          <p:cNvSpPr>
            <a:spLocks xmlns:a="http://schemas.openxmlformats.org/drawingml/2006/main" noGrp="1"/>
          </p:cNvSpPr>
          <p:nvPr/>
        </p:nvSpPr>
        <p:spPr>
          <a:xfrm xmlns:a="http://schemas.openxmlformats.org/drawingml/2006/main">
            <a:off x="781050" y="35528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D4C2257F-8C1D-47AA-A8A1-359018BCDEDA}"/>
              </a:ext>
            </a:extLst>
          </p:cNvPr>
          <p:cNvSpPr>
            <a:spLocks xmlns:a="http://schemas.openxmlformats.org/drawingml/2006/main" noGrp="1"/>
          </p:cNvSpPr>
          <p:nvPr/>
        </p:nvSpPr>
        <p:spPr>
          <a:xfrm xmlns:a="http://schemas.openxmlformats.org/drawingml/2006/main">
            <a:off x="1028700" y="32956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50% hands-on practice</a:t>
            </a:r>
          </a:p>
        </p:txBody>
      </p:sp>
      <p:sp>
        <p:nvSpPr>
          <p:cNvPr id="11" name="">
            <a:extLst xmlns:a="http://schemas.openxmlformats.org/drawingml/2006/main">
              <a:ext uri="{FF2B5EF4-FFF2-40B4-BE49-F238E27FC236}">
                <a16:creationId xmlns:a16="http://schemas.microsoft.com/office/drawing/2014/main" id="{3B6A82C8-B34E-4E1E-9912-14B1CA351EE0}"/>
              </a:ext>
            </a:extLst>
          </p:cNvPr>
          <p:cNvSpPr>
            <a:spLocks xmlns:a="http://schemas.openxmlformats.org/drawingml/2006/main" noGrp="1"/>
          </p:cNvSpPr>
          <p:nvPr/>
        </p:nvSpPr>
        <p:spPr>
          <a:xfrm xmlns:a="http://schemas.openxmlformats.org/drawingml/2006/main">
            <a:off x="781050" y="4200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7AE0BED-5ACD-4AF6-B1BC-7C08D74EB01C}"/>
              </a:ext>
            </a:extLst>
          </p:cNvPr>
          <p:cNvSpPr>
            <a:spLocks xmlns:a="http://schemas.openxmlformats.org/drawingml/2006/main" noGrp="1"/>
          </p:cNvSpPr>
          <p:nvPr/>
        </p:nvSpPr>
        <p:spPr>
          <a:xfrm xmlns:a="http://schemas.openxmlformats.org/drawingml/2006/main">
            <a:off x="1028700" y="39433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Do not trade learner verification for lecture time</a:t>
            </a:r>
          </a:p>
        </p:txBody>
      </p:sp>
    </p:spTree>
    <p:extLst>
      <p:ext uri="{BB962C8B-B14F-4D97-AF65-F5344CB8AC3E}">
        <p14:creationId xmlns:p14="http://schemas.microsoft.com/office/powerpoint/2010/main" val="1100774251"/>
      </p:ext>
    </p:extLst>
  </p:cSld>
</p:sld>
</file>

<file path=ppt/slides/slide109.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762022-DAD0-4FA8-9249-7166F592F7A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78131FF-EF1A-4F21-A703-D85066B41134}"/>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NEXT STEPS</a:t>
            </a:r>
          </a:p>
        </p:txBody>
      </p:sp>
      <p:sp>
        <p:nvSpPr>
          <p:cNvPr id="3" name="">
            <a:extLst xmlns:a="http://schemas.openxmlformats.org/drawingml/2006/main">
              <a:ext uri="{FF2B5EF4-FFF2-40B4-BE49-F238E27FC236}">
                <a16:creationId xmlns:a16="http://schemas.microsoft.com/office/drawing/2014/main" id="{0D072F31-965A-45E8-9190-538625BAD5FF}"/>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4C3E1B80-6873-49DC-8C8A-B9E218EE9490}"/>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109</a:t>
            </a:r>
          </a:p>
        </p:txBody>
      </p:sp>
      <p:sp>
        <p:nvSpPr>
          <p:cNvPr id="5" name="">
            <a:extLst xmlns:a="http://schemas.openxmlformats.org/drawingml/2006/main">
              <a:ext uri="{FF2B5EF4-FFF2-40B4-BE49-F238E27FC236}">
                <a16:creationId xmlns:a16="http://schemas.microsoft.com/office/drawing/2014/main" id="{531168FD-49A6-4F09-B01D-C654663DCF2B}"/>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Practise the loop on a reset incident</a:t>
            </a:r>
          </a:p>
        </p:txBody>
      </p:sp>
      <p:sp>
        <p:nvSpPr>
          <p:cNvPr id="6" name="">
            <a:extLst xmlns:a="http://schemas.openxmlformats.org/drawingml/2006/main">
              <a:ext uri="{FF2B5EF4-FFF2-40B4-BE49-F238E27FC236}">
                <a16:creationId xmlns:a16="http://schemas.microsoft.com/office/drawing/2014/main" id="{943E100F-BB7C-4CE1-AE87-2090AF75E10C}"/>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Reset one lab, solve it without copying the prior command sequence, and explain the evidence aloud.</a:t>
            </a:r>
          </a:p>
        </p:txBody>
      </p:sp>
      <p:sp>
        <p:nvSpPr>
          <p:cNvPr id="7" name="">
            <a:extLst xmlns:a="http://schemas.openxmlformats.org/drawingml/2006/main">
              <a:ext uri="{FF2B5EF4-FFF2-40B4-BE49-F238E27FC236}">
                <a16:creationId xmlns:a16="http://schemas.microsoft.com/office/drawing/2014/main" id="{6F45DB9A-C53C-417B-AE88-AA8098876F4B}"/>
              </a:ext>
            </a:extLst>
          </p:cNvPr>
          <p:cNvSpPr>
            <a:spLocks xmlns:a="http://schemas.openxmlformats.org/drawingml/2006/main" noGrp="1"/>
          </p:cNvSpPr>
          <p:nvPr/>
        </p:nvSpPr>
        <p:spPr>
          <a:xfrm xmlns:a="http://schemas.openxmlformats.org/drawingml/2006/main">
            <a:off x="781050" y="29051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B00A091-A6C2-41B2-8930-6807EA7B291F}"/>
              </a:ext>
            </a:extLst>
          </p:cNvPr>
          <p:cNvSpPr>
            <a:spLocks xmlns:a="http://schemas.openxmlformats.org/drawingml/2006/main" noGrp="1"/>
          </p:cNvSpPr>
          <p:nvPr/>
        </p:nvSpPr>
        <p:spPr>
          <a:xfrm xmlns:a="http://schemas.openxmlformats.org/drawingml/2006/main">
            <a:off x="1028700" y="26479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Rebuild the SSH profile from the trust model</a:t>
            </a:r>
          </a:p>
        </p:txBody>
      </p:sp>
      <p:sp>
        <p:nvSpPr>
          <p:cNvPr id="9" name="">
            <a:extLst xmlns:a="http://schemas.openxmlformats.org/drawingml/2006/main">
              <a:ext uri="{FF2B5EF4-FFF2-40B4-BE49-F238E27FC236}">
                <a16:creationId xmlns:a16="http://schemas.microsoft.com/office/drawing/2014/main" id="{7C32AD2B-16A7-4DC9-B918-A15D04812F50}"/>
              </a:ext>
            </a:extLst>
          </p:cNvPr>
          <p:cNvSpPr>
            <a:spLocks xmlns:a="http://schemas.openxmlformats.org/drawingml/2006/main" noGrp="1"/>
          </p:cNvSpPr>
          <p:nvPr/>
        </p:nvSpPr>
        <p:spPr>
          <a:xfrm xmlns:a="http://schemas.openxmlformats.org/drawingml/2006/main">
            <a:off x="781050" y="35528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EAF9BFEF-152A-48C4-ACA7-DF00CE16F59C}"/>
              </a:ext>
            </a:extLst>
          </p:cNvPr>
          <p:cNvSpPr>
            <a:spLocks xmlns:a="http://schemas.openxmlformats.org/drawingml/2006/main" noGrp="1"/>
          </p:cNvSpPr>
          <p:nvPr/>
        </p:nvSpPr>
        <p:spPr>
          <a:xfrm xmlns:a="http://schemas.openxmlformats.org/drawingml/2006/main">
            <a:off x="1028700" y="32956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Explain 640 and 2770 without a lookup</a:t>
            </a:r>
          </a:p>
        </p:txBody>
      </p:sp>
      <p:sp>
        <p:nvSpPr>
          <p:cNvPr id="11" name="">
            <a:extLst xmlns:a="http://schemas.openxmlformats.org/drawingml/2006/main">
              <a:ext uri="{FF2B5EF4-FFF2-40B4-BE49-F238E27FC236}">
                <a16:creationId xmlns:a16="http://schemas.microsoft.com/office/drawing/2014/main" id="{F11B9715-658A-49F5-AD58-C488A80E815F}"/>
              </a:ext>
            </a:extLst>
          </p:cNvPr>
          <p:cNvSpPr>
            <a:spLocks xmlns:a="http://schemas.openxmlformats.org/drawingml/2006/main" noGrp="1"/>
          </p:cNvSpPr>
          <p:nvPr/>
        </p:nvSpPr>
        <p:spPr>
          <a:xfrm xmlns:a="http://schemas.openxmlformats.org/drawingml/2006/main">
            <a:off x="781050" y="4200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09790134-8FE3-49C4-91F6-AFDA7C662D7A}"/>
              </a:ext>
            </a:extLst>
          </p:cNvPr>
          <p:cNvSpPr>
            <a:spLocks xmlns:a="http://schemas.openxmlformats.org/drawingml/2006/main" noGrp="1"/>
          </p:cNvSpPr>
          <p:nvPr/>
        </p:nvSpPr>
        <p:spPr>
          <a:xfrm xmlns:a="http://schemas.openxmlformats.org/drawingml/2006/main">
            <a:off x="1028700" y="39433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Trace a service from unit to client behavior</a:t>
            </a:r>
          </a:p>
        </p:txBody>
      </p:sp>
    </p:spTree>
    <p:extLst>
      <p:ext uri="{BB962C8B-B14F-4D97-AF65-F5344CB8AC3E}">
        <p14:creationId xmlns:p14="http://schemas.microsoft.com/office/powerpoint/2010/main" val="1679419873"/>
      </p:ext>
    </p:extLst>
  </p:cSld>
</p:sld>
</file>

<file path=ppt/slides/slide110.xml><?xml version="1.0" encoding="utf-8"?>
<p:sld xmlns:p="http://schemas.openxmlformats.org/presentationml/2006/main">
  <p:cSld>
    <p:bg>
      <p:bgPr>
        <a:solidFill xmlns:a="http://schemas.openxmlformats.org/drawingml/2006/main">
          <a:srgbClr val="FFF9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4AD2DF5-C242-4E3E-A1A1-8EDD533392F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0525CE2-D4AD-4F77-BDE3-2D1DAB763383}"/>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7650F8"/>
                </a:solidFill>
              </a:defRPr>
            </a:pPr>
            <a:r>
              <a:rPr sz="900" b="1">
                <a:solidFill>
                  <a:srgbClr val="7650F8"/>
                </a:solidFill>
              </a:rPr>
              <a:t>SOURCES</a:t>
            </a:r>
          </a:p>
        </p:txBody>
      </p:sp>
      <p:sp>
        <p:nvSpPr>
          <p:cNvPr id="3" name="">
            <a:extLst xmlns:a="http://schemas.openxmlformats.org/drawingml/2006/main">
              <a:ext uri="{FF2B5EF4-FFF2-40B4-BE49-F238E27FC236}">
                <a16:creationId xmlns:a16="http://schemas.microsoft.com/office/drawing/2014/main" id="{3F8DA566-0B90-49BB-9E21-A59CB20D3DA3}"/>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685D70"/>
                </a:solidFill>
              </a:defRPr>
            </a:pPr>
            <a:r>
              <a:rPr sz="825" b="1">
                <a:solidFill>
                  <a:srgbClr val="685D70"/>
                </a:solidFill>
              </a:rPr>
              <a:t>LINUX FOUNDATIONS</a:t>
            </a:r>
          </a:p>
        </p:txBody>
      </p:sp>
      <p:sp>
        <p:nvSpPr>
          <p:cNvPr id="4" name="">
            <a:extLst xmlns:a="http://schemas.openxmlformats.org/drawingml/2006/main">
              <a:ext uri="{FF2B5EF4-FFF2-40B4-BE49-F238E27FC236}">
                <a16:creationId xmlns:a16="http://schemas.microsoft.com/office/drawing/2014/main" id="{053826AA-2CF2-4F30-A68B-748153C50EAC}"/>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685D70"/>
                </a:solidFill>
              </a:defRPr>
            </a:pPr>
            <a:r>
              <a:rPr sz="825" b="0">
                <a:solidFill>
                  <a:srgbClr val="685D70"/>
                </a:solidFill>
              </a:rPr>
              <a:t>110</a:t>
            </a:r>
          </a:p>
        </p:txBody>
      </p:sp>
      <p:sp>
        <p:nvSpPr>
          <p:cNvPr id="5" name="">
            <a:extLst xmlns:a="http://schemas.openxmlformats.org/drawingml/2006/main">
              <a:ext uri="{FF2B5EF4-FFF2-40B4-BE49-F238E27FC236}">
                <a16:creationId xmlns:a16="http://schemas.microsoft.com/office/drawing/2014/main" id="{EC59F34F-BC65-49E4-9E48-401FBD956A8B}"/>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Primary manuals define the claims</a:t>
            </a:r>
          </a:p>
        </p:txBody>
      </p:sp>
      <p:sp>
        <p:nvSpPr>
          <p:cNvPr id="6" name="">
            <a:extLst xmlns:a="http://schemas.openxmlformats.org/drawingml/2006/main">
              <a:ext uri="{FF2B5EF4-FFF2-40B4-BE49-F238E27FC236}">
                <a16:creationId xmlns:a16="http://schemas.microsoft.com/office/drawing/2014/main" id="{B2CCB324-21A0-417E-ACA5-80FA85A1FA93}"/>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The course claim ledger maps every module and lab to authoritative documentation.</a:t>
            </a:r>
          </a:p>
        </p:txBody>
      </p:sp>
      <p:sp>
        <p:nvSpPr>
          <p:cNvPr id="7" name="">
            <a:extLst xmlns:a="http://schemas.openxmlformats.org/drawingml/2006/main">
              <a:ext uri="{FF2B5EF4-FFF2-40B4-BE49-F238E27FC236}">
                <a16:creationId xmlns:a16="http://schemas.microsoft.com/office/drawing/2014/main" id="{CCFF0842-4949-46A0-9D5D-49EC99DDD9CC}"/>
              </a:ext>
            </a:extLst>
          </p:cNvPr>
          <p:cNvSpPr>
            <a:spLocks xmlns:a="http://schemas.openxmlformats.org/drawingml/2006/main" noGrp="1"/>
          </p:cNvSpPr>
          <p:nvPr/>
        </p:nvSpPr>
        <p:spPr>
          <a:xfrm xmlns:a="http://schemas.openxmlformats.org/drawingml/2006/main">
            <a:off x="781050" y="29051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3DB0E4DA-67C6-45D7-85FF-1DD80744CEF5}"/>
              </a:ext>
            </a:extLst>
          </p:cNvPr>
          <p:cNvSpPr>
            <a:spLocks xmlns:a="http://schemas.openxmlformats.org/drawingml/2006/main" noGrp="1"/>
          </p:cNvSpPr>
          <p:nvPr/>
        </p:nvSpPr>
        <p:spPr>
          <a:xfrm xmlns:a="http://schemas.openxmlformats.org/drawingml/2006/main">
            <a:off x="1028700" y="26479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GNU Bash Reference Manual</a:t>
            </a:r>
          </a:p>
        </p:txBody>
      </p:sp>
      <p:sp>
        <p:nvSpPr>
          <p:cNvPr id="9" name="">
            <a:extLst xmlns:a="http://schemas.openxmlformats.org/drawingml/2006/main">
              <a:ext uri="{FF2B5EF4-FFF2-40B4-BE49-F238E27FC236}">
                <a16:creationId xmlns:a16="http://schemas.microsoft.com/office/drawing/2014/main" id="{FDA75DE8-FA47-4A8F-9791-42F08212F2EA}"/>
              </a:ext>
            </a:extLst>
          </p:cNvPr>
          <p:cNvSpPr>
            <a:spLocks xmlns:a="http://schemas.openxmlformats.org/drawingml/2006/main" noGrp="1"/>
          </p:cNvSpPr>
          <p:nvPr/>
        </p:nvSpPr>
        <p:spPr>
          <a:xfrm xmlns:a="http://schemas.openxmlformats.org/drawingml/2006/main">
            <a:off x="781050" y="35528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EF01D95-CA74-4F8C-A153-B3CF0496B92B}"/>
              </a:ext>
            </a:extLst>
          </p:cNvPr>
          <p:cNvSpPr>
            <a:spLocks xmlns:a="http://schemas.openxmlformats.org/drawingml/2006/main" noGrp="1"/>
          </p:cNvSpPr>
          <p:nvPr/>
        </p:nvSpPr>
        <p:spPr>
          <a:xfrm xmlns:a="http://schemas.openxmlformats.org/drawingml/2006/main">
            <a:off x="1028700" y="32956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Ubuntu Server documentation</a:t>
            </a:r>
          </a:p>
        </p:txBody>
      </p:sp>
      <p:sp>
        <p:nvSpPr>
          <p:cNvPr id="11" name="">
            <a:extLst xmlns:a="http://schemas.openxmlformats.org/drawingml/2006/main">
              <a:ext uri="{FF2B5EF4-FFF2-40B4-BE49-F238E27FC236}">
                <a16:creationId xmlns:a16="http://schemas.microsoft.com/office/drawing/2014/main" id="{026B1B84-72D4-49D6-8656-EBA19C41651B}"/>
              </a:ext>
            </a:extLst>
          </p:cNvPr>
          <p:cNvSpPr>
            <a:spLocks xmlns:a="http://schemas.openxmlformats.org/drawingml/2006/main" noGrp="1"/>
          </p:cNvSpPr>
          <p:nvPr/>
        </p:nvSpPr>
        <p:spPr>
          <a:xfrm xmlns:a="http://schemas.openxmlformats.org/drawingml/2006/main">
            <a:off x="781050" y="42005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0F3CAA3-6632-430C-A6C3-1FEF3D9CEFE9}"/>
              </a:ext>
            </a:extLst>
          </p:cNvPr>
          <p:cNvSpPr>
            <a:spLocks xmlns:a="http://schemas.openxmlformats.org/drawingml/2006/main" noGrp="1"/>
          </p:cNvSpPr>
          <p:nvPr/>
        </p:nvSpPr>
        <p:spPr>
          <a:xfrm xmlns:a="http://schemas.openxmlformats.org/drawingml/2006/main">
            <a:off x="1028700" y="39433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systemd manuals</a:t>
            </a:r>
          </a:p>
        </p:txBody>
      </p:sp>
      <p:sp>
        <p:nvSpPr>
          <p:cNvPr id="13" name="">
            <a:extLst xmlns:a="http://schemas.openxmlformats.org/drawingml/2006/main">
              <a:ext uri="{FF2B5EF4-FFF2-40B4-BE49-F238E27FC236}">
                <a16:creationId xmlns:a16="http://schemas.microsoft.com/office/drawing/2014/main" id="{638EDA38-911B-49A2-90E7-F05DCDD7B79B}"/>
              </a:ext>
            </a:extLst>
          </p:cNvPr>
          <p:cNvSpPr>
            <a:spLocks xmlns:a="http://schemas.openxmlformats.org/drawingml/2006/main" noGrp="1"/>
          </p:cNvSpPr>
          <p:nvPr/>
        </p:nvSpPr>
        <p:spPr>
          <a:xfrm xmlns:a="http://schemas.openxmlformats.org/drawingml/2006/main">
            <a:off x="781050" y="48482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7BE4B5B8-C90F-45A9-B38A-443E29DA230B}"/>
              </a:ext>
            </a:extLst>
          </p:cNvPr>
          <p:cNvSpPr>
            <a:spLocks xmlns:a="http://schemas.openxmlformats.org/drawingml/2006/main" noGrp="1"/>
          </p:cNvSpPr>
          <p:nvPr/>
        </p:nvSpPr>
        <p:spPr>
          <a:xfrm xmlns:a="http://schemas.openxmlformats.org/drawingml/2006/main">
            <a:off x="1028700" y="45910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OpenSSH manuals</a:t>
            </a:r>
          </a:p>
        </p:txBody>
      </p:sp>
      <p:sp>
        <p:nvSpPr>
          <p:cNvPr id="15" name="">
            <a:extLst xmlns:a="http://schemas.openxmlformats.org/drawingml/2006/main">
              <a:ext uri="{FF2B5EF4-FFF2-40B4-BE49-F238E27FC236}">
                <a16:creationId xmlns:a16="http://schemas.microsoft.com/office/drawing/2014/main" id="{7D3705FA-E289-480D-9D21-C83CAB3C79E2}"/>
              </a:ext>
            </a:extLst>
          </p:cNvPr>
          <p:cNvSpPr>
            <a:spLocks xmlns:a="http://schemas.openxmlformats.org/drawingml/2006/main" noGrp="1"/>
          </p:cNvSpPr>
          <p:nvPr/>
        </p:nvSpPr>
        <p:spPr>
          <a:xfrm xmlns:a="http://schemas.openxmlformats.org/drawingml/2006/main">
            <a:off x="781050" y="5495925"/>
            <a:ext cx="95250" cy="95250"/>
          </a:xfrm>
          <a:prstGeom xmlns:a="http://schemas.openxmlformats.org/drawingml/2006/main" prst="roundRect">
            <a:avLst>
              <a:gd name="adj" fmla="val 50000"/>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A167A381-E37D-4E2D-922C-420C65E6CEC9}"/>
              </a:ext>
            </a:extLst>
          </p:cNvPr>
          <p:cNvSpPr>
            <a:spLocks xmlns:a="http://schemas.openxmlformats.org/drawingml/2006/main" noGrp="1"/>
          </p:cNvSpPr>
          <p:nvPr/>
        </p:nvSpPr>
        <p:spPr>
          <a:xfrm xmlns:a="http://schemas.openxmlformats.org/drawingml/2006/main">
            <a:off x="1028700" y="52387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Linux man-pages and FHS</a:t>
            </a:r>
          </a:p>
        </p:txBody>
      </p:sp>
      <p:sp>
        <p:nvSpPr>
          <p:cNvPr id="17" name="">
            <a:extLst xmlns:a="http://schemas.openxmlformats.org/drawingml/2006/main">
              <a:ext uri="{FF2B5EF4-FFF2-40B4-BE49-F238E27FC236}">
                <a16:creationId xmlns:a16="http://schemas.microsoft.com/office/drawing/2014/main" id="{D9ED14FE-4507-4E35-9F71-3559F9DE173F}"/>
              </a:ext>
            </a:extLst>
          </p:cNvPr>
          <p:cNvSpPr>
            <a:spLocks xmlns:a="http://schemas.openxmlformats.org/drawingml/2006/main" noGrp="1"/>
          </p:cNvSpPr>
          <p:nvPr/>
        </p:nvSpPr>
        <p:spPr>
          <a:xfrm xmlns:a="http://schemas.openxmlformats.org/drawingml/2006/main">
            <a:off x="781050" y="6143625"/>
            <a:ext cx="95250" cy="952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E6EA180-B979-40D2-B3D1-29C92631E9BE}"/>
              </a:ext>
            </a:extLst>
          </p:cNvPr>
          <p:cNvSpPr>
            <a:spLocks xmlns:a="http://schemas.openxmlformats.org/drawingml/2006/main" noGrp="1"/>
          </p:cNvSpPr>
          <p:nvPr/>
        </p:nvSpPr>
        <p:spPr>
          <a:xfrm xmlns:a="http://schemas.openxmlformats.org/drawingml/2006/main">
            <a:off x="1028700" y="5886450"/>
            <a:ext cx="956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211729"/>
                </a:solidFill>
              </a:defRPr>
            </a:pPr>
            <a:r>
              <a:rPr sz="1650" b="0">
                <a:solidFill>
                  <a:srgbClr val="211729"/>
                </a:solidFill>
              </a:rPr>
              <a:t>Incus instance documentation</a:t>
            </a:r>
          </a:p>
        </p:txBody>
      </p:sp>
    </p:spTree>
    <p:extLst>
      <p:ext uri="{BB962C8B-B14F-4D97-AF65-F5344CB8AC3E}">
        <p14:creationId xmlns:p14="http://schemas.microsoft.com/office/powerpoint/2010/main" val="818550314"/>
      </p:ext>
    </p:extLst>
  </p:cSld>
</p:sld>
</file>

<file path=ppt/slides/slide111.xml><?xml version="1.0" encoding="utf-8"?>
<p:sld xmlns:p="http://schemas.openxmlformats.org/presentationml/2006/main">
  <p:cSld>
    <p:bg>
      <p:bgPr>
        <a:solidFill xmlns:a="http://schemas.openxmlformats.org/drawingml/2006/main">
          <a:srgbClr val="180D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A00316-47B5-4CBD-AF99-0323A041EA2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F61"/>
          </a:solidFill>
          <a:ln xmlns:a="http://schemas.openxmlformats.org/drawingml/2006/main" w="0">
            <a:no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D7C4146-7811-46CA-A05A-6069AA929160}"/>
              </a:ext>
            </a:extLst>
          </p:cNvPr>
          <p:cNvSpPr>
            <a:spLocks xmlns:a="http://schemas.openxmlformats.org/drawingml/2006/main" noGrp="1"/>
          </p:cNvSpPr>
          <p:nvPr/>
        </p:nvSpPr>
        <p:spPr>
          <a:xfrm xmlns:a="http://schemas.openxmlformats.org/drawingml/2006/main">
            <a:off x="514350" y="2667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FF6F61"/>
                </a:solidFill>
              </a:defRPr>
            </a:pPr>
            <a:r>
              <a:rPr sz="900" b="1">
                <a:solidFill>
                  <a:srgbClr val="FF6F61"/>
                </a:solidFill>
              </a:rPr>
              <a:t>LINUX FOUNDATIONS</a:t>
            </a:r>
          </a:p>
        </p:txBody>
      </p:sp>
      <p:sp>
        <p:nvSpPr>
          <p:cNvPr id="3" name="">
            <a:extLst xmlns:a="http://schemas.openxmlformats.org/drawingml/2006/main">
              <a:ext uri="{FF2B5EF4-FFF2-40B4-BE49-F238E27FC236}">
                <a16:creationId xmlns:a16="http://schemas.microsoft.com/office/drawing/2014/main" id="{AAEBEF0A-B870-4651-B37D-DA382FBA4A94}"/>
              </a:ext>
            </a:extLst>
          </p:cNvPr>
          <p:cNvSpPr>
            <a:spLocks xmlns:a="http://schemas.openxmlformats.org/drawingml/2006/main" noGrp="1"/>
          </p:cNvSpPr>
          <p:nvPr/>
        </p:nvSpPr>
        <p:spPr>
          <a:xfrm xmlns:a="http://schemas.openxmlformats.org/drawingml/2006/main">
            <a:off x="9715500" y="266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1">
                <a:solidFill>
                  <a:srgbClr val="CFC5D5"/>
                </a:solidFill>
              </a:defRPr>
            </a:pPr>
            <a:r>
              <a:rPr sz="825" b="1">
                <a:solidFill>
                  <a:srgbClr val="CFC5D5"/>
                </a:solidFill>
              </a:rPr>
              <a:t>LINUX FOUNDATIONS</a:t>
            </a:r>
          </a:p>
        </p:txBody>
      </p:sp>
      <p:sp>
        <p:nvSpPr>
          <p:cNvPr id="4" name="">
            <a:extLst xmlns:a="http://schemas.openxmlformats.org/drawingml/2006/main">
              <a:ext uri="{FF2B5EF4-FFF2-40B4-BE49-F238E27FC236}">
                <a16:creationId xmlns:a16="http://schemas.microsoft.com/office/drawing/2014/main" id="{0616C9E2-B985-42CD-9DF9-3A919A71C032}"/>
              </a:ext>
            </a:extLst>
          </p:cNvPr>
          <p:cNvSpPr>
            <a:spLocks xmlns:a="http://schemas.openxmlformats.org/drawingml/2006/main" noGrp="1"/>
          </p:cNvSpPr>
          <p:nvPr/>
        </p:nvSpPr>
        <p:spPr>
          <a:xfrm xmlns:a="http://schemas.openxmlformats.org/drawingml/2006/main">
            <a:off x="109537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825" b="0">
                <a:solidFill>
                  <a:srgbClr val="AFA2B8"/>
                </a:solidFill>
              </a:defRPr>
            </a:pPr>
            <a:r>
              <a:rPr sz="825" b="0">
                <a:solidFill>
                  <a:srgbClr val="AFA2B8"/>
                </a:solidFill>
              </a:rPr>
              <a:t>111</a:t>
            </a:r>
          </a:p>
        </p:txBody>
      </p:sp>
      <p:sp>
        <p:nvSpPr>
          <p:cNvPr id="5" name="">
            <a:extLst xmlns:a="http://schemas.openxmlformats.org/drawingml/2006/main">
              <a:ext uri="{FF2B5EF4-FFF2-40B4-BE49-F238E27FC236}">
                <a16:creationId xmlns:a16="http://schemas.microsoft.com/office/drawing/2014/main" id="{84F581F1-BFF7-485C-9009-DC152A817EE0}"/>
              </a:ext>
            </a:extLst>
          </p:cNvPr>
          <p:cNvSpPr>
            <a:spLocks xmlns:a="http://schemas.openxmlformats.org/drawingml/2006/main" noGrp="1"/>
          </p:cNvSpPr>
          <p:nvPr/>
        </p:nvSpPr>
        <p:spPr>
          <a:xfrm xmlns:a="http://schemas.openxmlformats.org/drawingml/2006/main">
            <a:off x="514350" y="6667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211729"/>
                </a:solidFill>
              </a:defRPr>
            </a:pPr>
            <a:r>
              <a:rPr sz="2700" b="1">
                <a:solidFill>
                  <a:srgbClr val="211729"/>
                </a:solidFill>
              </a:rPr>
              <a:t>Operate the system. Trust the evidence.</a:t>
            </a:r>
          </a:p>
        </p:txBody>
      </p:sp>
      <p:sp>
        <p:nvSpPr>
          <p:cNvPr id="6" name="">
            <a:extLst xmlns:a="http://schemas.openxmlformats.org/drawingml/2006/main">
              <a:ext uri="{FF2B5EF4-FFF2-40B4-BE49-F238E27FC236}">
                <a16:creationId xmlns:a16="http://schemas.microsoft.com/office/drawing/2014/main" id="{50DF7B23-CD78-47C4-9A08-7D5D2C2F1014}"/>
              </a:ext>
            </a:extLst>
          </p:cNvPr>
          <p:cNvSpPr>
            <a:spLocks xmlns:a="http://schemas.openxmlformats.org/drawingml/2006/main" noGrp="1"/>
          </p:cNvSpPr>
          <p:nvPr/>
        </p:nvSpPr>
        <p:spPr>
          <a:xfrm xmlns:a="http://schemas.openxmlformats.org/drawingml/2006/main">
            <a:off x="514350" y="15049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85D70"/>
                </a:solidFill>
              </a:defRPr>
            </a:pPr>
            <a:r>
              <a:rPr sz="1650" b="0">
                <a:solidFill>
                  <a:srgbClr val="685D70"/>
                </a:solidFill>
              </a:rPr>
              <a:t>You do not need to remember every command. You need to know what question to ask, what changed, and what would prove it.</a:t>
            </a:r>
          </a:p>
        </p:txBody>
      </p:sp>
      <p:sp>
        <p:nvSpPr>
          <p:cNvPr id="7" name="">
            <a:extLst xmlns:a="http://schemas.openxmlformats.org/drawingml/2006/main">
              <a:ext uri="{FF2B5EF4-FFF2-40B4-BE49-F238E27FC236}">
                <a16:creationId xmlns:a16="http://schemas.microsoft.com/office/drawing/2014/main" id="{6F6CB4A1-CC3C-4AEC-883B-FA42F728D698}"/>
              </a:ext>
            </a:extLst>
          </p:cNvPr>
          <p:cNvSpPr>
            <a:spLocks xmlns:a="http://schemas.openxmlformats.org/drawingml/2006/main" noGrp="1"/>
          </p:cNvSpPr>
          <p:nvPr/>
        </p:nvSpPr>
        <p:spPr>
          <a:xfrm xmlns:a="http://schemas.openxmlformats.org/drawingml/2006/main">
            <a:off x="666750" y="2667000"/>
            <a:ext cx="10096500" cy="38100"/>
          </a:xfrm>
          <a:prstGeom xmlns:a="http://schemas.openxmlformats.org/drawingml/2006/main" prst="rect">
            <a:avLst/>
          </a:prstGeom>
          <a:solidFill xmlns:a="http://schemas.openxmlformats.org/drawingml/2006/main">
            <a:srgbClr val="7650F8"/>
          </a:solidFill>
          <a:ln xmlns:a="http://schemas.openxmlformats.org/drawingml/2006/main" w="0">
            <a:noFill/>
            <a:prstDash val="solid"/>
          </a:ln>
        </p:spPr>
        <p:txBody xmlns:a="http://schemas.openxmlformats.org/drawingml/2006/main">
          <a:bodyPr/>
          <a:p/>
        </p:txBody>
      </p:sp>
    </p:spTree>
    <p:extLst>
      <p:ext uri="{BB962C8B-B14F-4D97-AF65-F5344CB8AC3E}">
        <p14:creationId xmlns:p14="http://schemas.microsoft.com/office/powerpoint/2010/main" val="1269197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2026-07-21T09:47:24.9920000Z</dcterms:created>
  <dcterms:modified xsi:type="dcterms:W3CDTF">2026-07-21T09:47:24.9920000Z</dcterms:modified>
</coreProperties>
</file>