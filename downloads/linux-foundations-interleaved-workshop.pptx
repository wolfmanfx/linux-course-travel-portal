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50d53353cec4a55" /><Relationship Type="http://schemas.openxmlformats.org/officeDocument/2006/relationships/extended-properties" Target="/docProps/app.xml" Id="R66a0612024234710" /><Relationship Type="http://schemas.openxmlformats.org/officeDocument/2006/relationships/officeDocument" Target="/ppt/presentation.xml" Id="Rf547a8c2407347b1" /></Relationships>
</file>

<file path=ppt/presentation.xml><?xml version="1.0" encoding="utf-8"?>
<p:presentation xmlns:p="http://schemas.openxmlformats.org/presentationml/2006/main">
  <p:sldMasterIdLst>
    <p:sldMasterId xmlns:r="http://schemas.openxmlformats.org/officeDocument/2006/relationships" id="2147483648" r:id="Rc5713a4c553a4260"/>
  </p:sldMasterIdLst>
  <p:notesMasterIdLst>
    <p:notesMasterId xmlns:r="http://schemas.openxmlformats.org/officeDocument/2006/relationships" r:id="R5acf69b6c5eb4b05"/>
  </p:notesMasterIdLst>
  <p:sldIdLst>
    <p:sldId xmlns:r="http://schemas.openxmlformats.org/officeDocument/2006/relationships" id="256" r:id="R7e9768963e6b47d0"/>
    <p:sldId xmlns:r="http://schemas.openxmlformats.org/officeDocument/2006/relationships" id="257" r:id="R24f066ebbef548a0"/>
    <p:sldId xmlns:r="http://schemas.openxmlformats.org/officeDocument/2006/relationships" id="258" r:id="R08d0a3a9e2824498"/>
    <p:sldId xmlns:r="http://schemas.openxmlformats.org/officeDocument/2006/relationships" id="259" r:id="Rb92c8970309d42be"/>
    <p:sldId xmlns:r="http://schemas.openxmlformats.org/officeDocument/2006/relationships" id="260" r:id="R1652a0a0376a4890"/>
    <p:sldId xmlns:r="http://schemas.openxmlformats.org/officeDocument/2006/relationships" id="261" r:id="R0dfd26b317414b12"/>
    <p:sldId xmlns:r="http://schemas.openxmlformats.org/officeDocument/2006/relationships" id="262" r:id="R5e596575f1dc48a3"/>
    <p:sldId xmlns:r="http://schemas.openxmlformats.org/officeDocument/2006/relationships" id="263" r:id="Ra44ff381e0514077"/>
    <p:sldId xmlns:r="http://schemas.openxmlformats.org/officeDocument/2006/relationships" id="264" r:id="Rea5ec1f6006148bd"/>
    <p:sldId xmlns:r="http://schemas.openxmlformats.org/officeDocument/2006/relationships" id="265" r:id="R5604b50b3f2e4871"/>
    <p:sldId xmlns:r="http://schemas.openxmlformats.org/officeDocument/2006/relationships" id="266" r:id="Rad39b4cfa2b541ef"/>
    <p:sldId xmlns:r="http://schemas.openxmlformats.org/officeDocument/2006/relationships" id="267" r:id="R00cb8650e5594a44"/>
    <p:sldId xmlns:r="http://schemas.openxmlformats.org/officeDocument/2006/relationships" id="268" r:id="Rbb5478c51b3f4f46"/>
    <p:sldId xmlns:r="http://schemas.openxmlformats.org/officeDocument/2006/relationships" id="269" r:id="Rfbd5edc2619944f3"/>
    <p:sldId xmlns:r="http://schemas.openxmlformats.org/officeDocument/2006/relationships" id="270" r:id="R602d1dc12995406f"/>
    <p:sldId xmlns:r="http://schemas.openxmlformats.org/officeDocument/2006/relationships" id="271" r:id="R498acd2809334a92"/>
    <p:sldId xmlns:r="http://schemas.openxmlformats.org/officeDocument/2006/relationships" id="272" r:id="R7b13614596cf46dd"/>
    <p:sldId xmlns:r="http://schemas.openxmlformats.org/officeDocument/2006/relationships" id="273" r:id="Rbeec9f18e74f461f"/>
    <p:sldId xmlns:r="http://schemas.openxmlformats.org/officeDocument/2006/relationships" id="274" r:id="Ra284c1b9b34648fe"/>
    <p:sldId xmlns:r="http://schemas.openxmlformats.org/officeDocument/2006/relationships" id="275" r:id="Rf2935f5b30494b3d"/>
    <p:sldId xmlns:r="http://schemas.openxmlformats.org/officeDocument/2006/relationships" id="276" r:id="R10eec4fa0b7b4806"/>
    <p:sldId xmlns:r="http://schemas.openxmlformats.org/officeDocument/2006/relationships" id="277" r:id="R5ea33104ccd54dee"/>
    <p:sldId xmlns:r="http://schemas.openxmlformats.org/officeDocument/2006/relationships" id="278" r:id="R6d3498808cd348e9"/>
    <p:sldId xmlns:r="http://schemas.openxmlformats.org/officeDocument/2006/relationships" id="279" r:id="R1f8bbfcdfe5b4b1a"/>
    <p:sldId xmlns:r="http://schemas.openxmlformats.org/officeDocument/2006/relationships" id="280" r:id="Ra690d17fe8414c40"/>
    <p:sldId xmlns:r="http://schemas.openxmlformats.org/officeDocument/2006/relationships" id="281" r:id="R7bbf45e88ae64cb9"/>
    <p:sldId xmlns:r="http://schemas.openxmlformats.org/officeDocument/2006/relationships" id="282" r:id="R88f54188ea4149d0"/>
    <p:sldId xmlns:r="http://schemas.openxmlformats.org/officeDocument/2006/relationships" id="283" r:id="Rf86ab0f9b3cc4b65"/>
    <p:sldId xmlns:r="http://schemas.openxmlformats.org/officeDocument/2006/relationships" id="284" r:id="R1a3974f0ae5f464b"/>
    <p:sldId xmlns:r="http://schemas.openxmlformats.org/officeDocument/2006/relationships" id="285" r:id="R2ad14f36f84d4a47"/>
    <p:sldId xmlns:r="http://schemas.openxmlformats.org/officeDocument/2006/relationships" id="286" r:id="R62bf55855e1e4c3a"/>
    <p:sldId xmlns:r="http://schemas.openxmlformats.org/officeDocument/2006/relationships" id="287" r:id="R947ef45825d04fdb"/>
    <p:sldId xmlns:r="http://schemas.openxmlformats.org/officeDocument/2006/relationships" id="288" r:id="R8fed7aa26b0f4356"/>
    <p:sldId xmlns:r="http://schemas.openxmlformats.org/officeDocument/2006/relationships" id="289" r:id="R767d15778b7e4ff1"/>
    <p:sldId xmlns:r="http://schemas.openxmlformats.org/officeDocument/2006/relationships" id="290" r:id="R073d581fdcee4610"/>
    <p:sldId xmlns:r="http://schemas.openxmlformats.org/officeDocument/2006/relationships" id="291" r:id="Rcfaf2ae9e2874112"/>
    <p:sldId xmlns:r="http://schemas.openxmlformats.org/officeDocument/2006/relationships" id="292" r:id="R3d0bd55f2aac4f52"/>
    <p:sldId xmlns:r="http://schemas.openxmlformats.org/officeDocument/2006/relationships" id="293" r:id="R4ae4e17bf38844a0"/>
    <p:sldId xmlns:r="http://schemas.openxmlformats.org/officeDocument/2006/relationships" id="294" r:id="R3515392c45cc44d5"/>
    <p:sldId xmlns:r="http://schemas.openxmlformats.org/officeDocument/2006/relationships" id="295" r:id="Re5c382b7737f4910"/>
    <p:sldId xmlns:r="http://schemas.openxmlformats.org/officeDocument/2006/relationships" id="296" r:id="R5b8f4abea8634db8"/>
    <p:sldId xmlns:r="http://schemas.openxmlformats.org/officeDocument/2006/relationships" id="297" r:id="R4b11184059d64a97"/>
    <p:sldId xmlns:r="http://schemas.openxmlformats.org/officeDocument/2006/relationships" id="298" r:id="Rb11e9a1eaff640cb"/>
    <p:sldId xmlns:r="http://schemas.openxmlformats.org/officeDocument/2006/relationships" id="299" r:id="R1f671cdac22b42a5"/>
    <p:sldId xmlns:r="http://schemas.openxmlformats.org/officeDocument/2006/relationships" id="300" r:id="R66909f440ee04b18"/>
    <p:sldId xmlns:r="http://schemas.openxmlformats.org/officeDocument/2006/relationships" id="301" r:id="Rd789a450c96248ae"/>
    <p:sldId xmlns:r="http://schemas.openxmlformats.org/officeDocument/2006/relationships" id="302" r:id="Ra05d5f650c6941dd"/>
    <p:sldId xmlns:r="http://schemas.openxmlformats.org/officeDocument/2006/relationships" id="303" r:id="Rdf5563eb30e9452e"/>
    <p:sldId xmlns:r="http://schemas.openxmlformats.org/officeDocument/2006/relationships" id="304" r:id="R1ecc4b61320e489d"/>
    <p:sldId xmlns:r="http://schemas.openxmlformats.org/officeDocument/2006/relationships" id="305" r:id="Rcd1d7700e09d4b04"/>
    <p:sldId xmlns:r="http://schemas.openxmlformats.org/officeDocument/2006/relationships" id="306" r:id="R436cf4eff10146f2"/>
    <p:sldId xmlns:r="http://schemas.openxmlformats.org/officeDocument/2006/relationships" id="307" r:id="R6b05dddf4aae4276"/>
    <p:sldId xmlns:r="http://schemas.openxmlformats.org/officeDocument/2006/relationships" id="308" r:id="Rbb01fd12c92c4b70"/>
    <p:sldId xmlns:r="http://schemas.openxmlformats.org/officeDocument/2006/relationships" id="309" r:id="Rc8862fb828614da9"/>
    <p:sldId xmlns:r="http://schemas.openxmlformats.org/officeDocument/2006/relationships" id="310" r:id="R6795d2c768254d70"/>
    <p:sldId xmlns:r="http://schemas.openxmlformats.org/officeDocument/2006/relationships" id="311" r:id="R49a2b914e1734895"/>
    <p:sldId xmlns:r="http://schemas.openxmlformats.org/officeDocument/2006/relationships" id="312" r:id="R93a9bc9356f94d38"/>
    <p:sldId xmlns:r="http://schemas.openxmlformats.org/officeDocument/2006/relationships" id="313" r:id="R614d3a8b0bf04ffe"/>
    <p:sldId xmlns:r="http://schemas.openxmlformats.org/officeDocument/2006/relationships" id="314" r:id="Rd7f7e0d3421e45a5"/>
    <p:sldId xmlns:r="http://schemas.openxmlformats.org/officeDocument/2006/relationships" id="315" r:id="Rde4f6fcb968d4b95"/>
    <p:sldId xmlns:r="http://schemas.openxmlformats.org/officeDocument/2006/relationships" id="316" r:id="R37327b8ee4a446ff"/>
    <p:sldId xmlns:r="http://schemas.openxmlformats.org/officeDocument/2006/relationships" id="317" r:id="Rbaad928bf8854f47"/>
    <p:sldId xmlns:r="http://schemas.openxmlformats.org/officeDocument/2006/relationships" id="318" r:id="R04244212863e406d"/>
    <p:sldId xmlns:r="http://schemas.openxmlformats.org/officeDocument/2006/relationships" id="319" r:id="Rdd68f4c7d8574b91"/>
    <p:sldId xmlns:r="http://schemas.openxmlformats.org/officeDocument/2006/relationships" id="320" r:id="Rf07d34444bf64dd3"/>
    <p:sldId xmlns:r="http://schemas.openxmlformats.org/officeDocument/2006/relationships" id="321" r:id="Reb48ff1f3d284ced"/>
    <p:sldId xmlns:r="http://schemas.openxmlformats.org/officeDocument/2006/relationships" id="322" r:id="R6b7c5c9bd80a43b9"/>
    <p:sldId xmlns:r="http://schemas.openxmlformats.org/officeDocument/2006/relationships" id="323" r:id="R112f3c2043694cf1"/>
    <p:sldId xmlns:r="http://schemas.openxmlformats.org/officeDocument/2006/relationships" id="324" r:id="R02e6803420804c7c"/>
    <p:sldId xmlns:r="http://schemas.openxmlformats.org/officeDocument/2006/relationships" id="325" r:id="Rb5fcc35e07ac4166"/>
    <p:sldId xmlns:r="http://schemas.openxmlformats.org/officeDocument/2006/relationships" id="326" r:id="R0232434f49db4bd8"/>
    <p:sldId xmlns:r="http://schemas.openxmlformats.org/officeDocument/2006/relationships" id="327" r:id="Reb78452bfbb34464"/>
    <p:sldId xmlns:r="http://schemas.openxmlformats.org/officeDocument/2006/relationships" id="328" r:id="R10671c87a03f43d8"/>
    <p:sldId xmlns:r="http://schemas.openxmlformats.org/officeDocument/2006/relationships" id="329" r:id="Ra6430dc0ce2d4031"/>
    <p:sldId xmlns:r="http://schemas.openxmlformats.org/officeDocument/2006/relationships" id="330" r:id="R11362e2574b647d4"/>
    <p:sldId xmlns:r="http://schemas.openxmlformats.org/officeDocument/2006/relationships" id="331" r:id="Rae9791fa5cc54026"/>
    <p:sldId xmlns:r="http://schemas.openxmlformats.org/officeDocument/2006/relationships" id="332" r:id="R7d55ca97267b4554"/>
    <p:sldId xmlns:r="http://schemas.openxmlformats.org/officeDocument/2006/relationships" id="333" r:id="R3ef33a60cb5a4e2c"/>
    <p:sldId xmlns:r="http://schemas.openxmlformats.org/officeDocument/2006/relationships" id="334" r:id="Rf2b954267737460f"/>
    <p:sldId xmlns:r="http://schemas.openxmlformats.org/officeDocument/2006/relationships" id="335" r:id="Rb40c38ef16f743f1"/>
    <p:sldId xmlns:r="http://schemas.openxmlformats.org/officeDocument/2006/relationships" id="336" r:id="Rc3201bb9ccf64986"/>
    <p:sldId xmlns:r="http://schemas.openxmlformats.org/officeDocument/2006/relationships" id="337" r:id="R1e77c0ca4490450e"/>
    <p:sldId xmlns:r="http://schemas.openxmlformats.org/officeDocument/2006/relationships" id="338" r:id="Rdfb2674e56bf41ee"/>
    <p:sldId xmlns:r="http://schemas.openxmlformats.org/officeDocument/2006/relationships" id="339" r:id="Rb4b40b8b1f5c4586"/>
    <p:sldId xmlns:r="http://schemas.openxmlformats.org/officeDocument/2006/relationships" id="340" r:id="Rba5822f36b55481e"/>
    <p:sldId xmlns:r="http://schemas.openxmlformats.org/officeDocument/2006/relationships" id="341" r:id="R3e320ce19d114ebb"/>
    <p:sldId xmlns:r="http://schemas.openxmlformats.org/officeDocument/2006/relationships" id="342" r:id="R77cf5a0267034253"/>
    <p:sldId xmlns:r="http://schemas.openxmlformats.org/officeDocument/2006/relationships" id="343" r:id="R236c7aac06234d9e"/>
    <p:sldId xmlns:r="http://schemas.openxmlformats.org/officeDocument/2006/relationships" id="344" r:id="R82e9a5d1087547ce"/>
    <p:sldId xmlns:r="http://schemas.openxmlformats.org/officeDocument/2006/relationships" id="345" r:id="R2f890571f2564ef9"/>
    <p:sldId xmlns:r="http://schemas.openxmlformats.org/officeDocument/2006/relationships" id="346" r:id="R0de2c57c543e4c85"/>
    <p:sldId xmlns:r="http://schemas.openxmlformats.org/officeDocument/2006/relationships" id="347" r:id="Rcf663b91684c4100"/>
    <p:sldId xmlns:r="http://schemas.openxmlformats.org/officeDocument/2006/relationships" id="348" r:id="R9cca151cc59b4275"/>
    <p:sldId xmlns:r="http://schemas.openxmlformats.org/officeDocument/2006/relationships" id="349" r:id="Rc1bc6bfa2aa04132"/>
    <p:sldId xmlns:r="http://schemas.openxmlformats.org/officeDocument/2006/relationships" id="350" r:id="Rd31e060e16804235"/>
    <p:sldId xmlns:r="http://schemas.openxmlformats.org/officeDocument/2006/relationships" id="351" r:id="Rc4b3802f8af64283"/>
    <p:sldId xmlns:r="http://schemas.openxmlformats.org/officeDocument/2006/relationships" id="352" r:id="Rdd354704fe854ff5"/>
    <p:sldId xmlns:r="http://schemas.openxmlformats.org/officeDocument/2006/relationships" id="353" r:id="R7c8ba50a7cf6430c"/>
    <p:sldId xmlns:r="http://schemas.openxmlformats.org/officeDocument/2006/relationships" id="354" r:id="Rd602533a2e2d4531"/>
    <p:sldId xmlns:r="http://schemas.openxmlformats.org/officeDocument/2006/relationships" id="355" r:id="R7090485c07c64650"/>
    <p:sldId xmlns:r="http://schemas.openxmlformats.org/officeDocument/2006/relationships" id="356" r:id="Rc300e6cc07834dfe"/>
    <p:sldId xmlns:r="http://schemas.openxmlformats.org/officeDocument/2006/relationships" id="357" r:id="Rf1f8a36821014eec"/>
    <p:sldId xmlns:r="http://schemas.openxmlformats.org/officeDocument/2006/relationships" id="358" r:id="R9806b8c85f064797"/>
    <p:sldId xmlns:r="http://schemas.openxmlformats.org/officeDocument/2006/relationships" id="359" r:id="R65281f1bb9fb47fd"/>
    <p:sldId xmlns:r="http://schemas.openxmlformats.org/officeDocument/2006/relationships" id="360" r:id="R3de0cf70b089485b"/>
    <p:sldId xmlns:r="http://schemas.openxmlformats.org/officeDocument/2006/relationships" id="361" r:id="R63169f82eedd44b7"/>
    <p:sldId xmlns:r="http://schemas.openxmlformats.org/officeDocument/2006/relationships" id="362" r:id="Rbaf43bbf67444a89"/>
    <p:sldId xmlns:r="http://schemas.openxmlformats.org/officeDocument/2006/relationships" id="363" r:id="Rdfa7349cae654bb7"/>
    <p:sldId xmlns:r="http://schemas.openxmlformats.org/officeDocument/2006/relationships" id="364" r:id="R0a8eac7cd9514214"/>
    <p:sldId xmlns:r="http://schemas.openxmlformats.org/officeDocument/2006/relationships" id="365" r:id="Rd4a795c3734743a4"/>
    <p:sldId xmlns:r="http://schemas.openxmlformats.org/officeDocument/2006/relationships" id="366" r:id="R5d312fe6c7564fae"/>
    <p:sldId xmlns:r="http://schemas.openxmlformats.org/officeDocument/2006/relationships" id="367" r:id="Rc5dae57efbbc4818"/>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aec901dcdec496d" /><Relationship Type="http://schemas.openxmlformats.org/officeDocument/2006/relationships/slideMaster" Target="/ppt/slideMasters/slideMaster1.xml" Id="Rc5713a4c553a4260" /><Relationship Type="http://schemas.openxmlformats.org/officeDocument/2006/relationships/notesMaster" Target="/ppt/notesMasters/notesMaster1.xml" Id="R5acf69b6c5eb4b05" /><Relationship Type="http://schemas.openxmlformats.org/officeDocument/2006/relationships/presProps" Target="/ppt/presProps.xml" Id="Ra9c766a7060d4404" /><Relationship Type="http://schemas.openxmlformats.org/officeDocument/2006/relationships/tableStyles" Target="/ppt/tableStyles.xml" Id="R35d32a532468432a" /><Relationship Type="http://schemas.openxmlformats.org/officeDocument/2006/relationships/slide" Target="/ppt/slides/slide1.xml" Id="R7e9768963e6b47d0" /><Relationship Type="http://schemas.openxmlformats.org/officeDocument/2006/relationships/slide" Target="/ppt/slides/slide2.xml" Id="R24f066ebbef548a0" /><Relationship Type="http://schemas.openxmlformats.org/officeDocument/2006/relationships/slide" Target="/ppt/slides/slide3.xml" Id="R08d0a3a9e2824498" /><Relationship Type="http://schemas.openxmlformats.org/officeDocument/2006/relationships/slide" Target="/ppt/slides/slide4.xml" Id="Rb92c8970309d42be" /><Relationship Type="http://schemas.openxmlformats.org/officeDocument/2006/relationships/slide" Target="/ppt/slides/slide5.xml" Id="R1652a0a0376a4890" /><Relationship Type="http://schemas.openxmlformats.org/officeDocument/2006/relationships/slide" Target="/ppt/slides/slide6.xml" Id="R0dfd26b317414b12" /><Relationship Type="http://schemas.openxmlformats.org/officeDocument/2006/relationships/slide" Target="/ppt/slides/slide7.xml" Id="R5e596575f1dc48a3" /><Relationship Type="http://schemas.openxmlformats.org/officeDocument/2006/relationships/slide" Target="/ppt/slides/slide8.xml" Id="Ra44ff381e0514077" /><Relationship Type="http://schemas.openxmlformats.org/officeDocument/2006/relationships/slide" Target="/ppt/slides/slide9.xml" Id="Rea5ec1f6006148bd" /><Relationship Type="http://schemas.openxmlformats.org/officeDocument/2006/relationships/slide" Target="/ppt/slides/slide10.xml" Id="R5604b50b3f2e4871" /><Relationship Type="http://schemas.openxmlformats.org/officeDocument/2006/relationships/slide" Target="/ppt/slides/slide11.xml" Id="Rad39b4cfa2b541ef" /><Relationship Type="http://schemas.openxmlformats.org/officeDocument/2006/relationships/slide" Target="/ppt/slides/slide12.xml" Id="R00cb8650e5594a44" /><Relationship Type="http://schemas.openxmlformats.org/officeDocument/2006/relationships/slide" Target="/ppt/slides/slide13.xml" Id="Rbb5478c51b3f4f46" /><Relationship Type="http://schemas.openxmlformats.org/officeDocument/2006/relationships/slide" Target="/ppt/slides/slide14.xml" Id="Rfbd5edc2619944f3" /><Relationship Type="http://schemas.openxmlformats.org/officeDocument/2006/relationships/slide" Target="/ppt/slides/slide15.xml" Id="R602d1dc12995406f" /><Relationship Type="http://schemas.openxmlformats.org/officeDocument/2006/relationships/slide" Target="/ppt/slides/slide16.xml" Id="R498acd2809334a92" /><Relationship Type="http://schemas.openxmlformats.org/officeDocument/2006/relationships/slide" Target="/ppt/slides/slide17.xml" Id="R7b13614596cf46dd" /><Relationship Type="http://schemas.openxmlformats.org/officeDocument/2006/relationships/slide" Target="/ppt/slides/slide18.xml" Id="Rbeec9f18e74f461f" /><Relationship Type="http://schemas.openxmlformats.org/officeDocument/2006/relationships/slide" Target="/ppt/slides/slide19.xml" Id="Ra284c1b9b34648fe" /><Relationship Type="http://schemas.openxmlformats.org/officeDocument/2006/relationships/slide" Target="/ppt/slides/slide20.xml" Id="Rf2935f5b30494b3d" /><Relationship Type="http://schemas.openxmlformats.org/officeDocument/2006/relationships/slide" Target="/ppt/slides/slide21.xml" Id="R10eec4fa0b7b4806" /><Relationship Type="http://schemas.openxmlformats.org/officeDocument/2006/relationships/slide" Target="/ppt/slides/slide22.xml" Id="R5ea33104ccd54dee" /><Relationship Type="http://schemas.openxmlformats.org/officeDocument/2006/relationships/slide" Target="/ppt/slides/slide23.xml" Id="R6d3498808cd348e9" /><Relationship Type="http://schemas.openxmlformats.org/officeDocument/2006/relationships/slide" Target="/ppt/slides/slide24.xml" Id="R1f8bbfcdfe5b4b1a" /><Relationship Type="http://schemas.openxmlformats.org/officeDocument/2006/relationships/slide" Target="/ppt/slides/slide25.xml" Id="Ra690d17fe8414c40" /><Relationship Type="http://schemas.openxmlformats.org/officeDocument/2006/relationships/slide" Target="/ppt/slides/slide26.xml" Id="R7bbf45e88ae64cb9" /><Relationship Type="http://schemas.openxmlformats.org/officeDocument/2006/relationships/slide" Target="/ppt/slides/slide27.xml" Id="R88f54188ea4149d0" /><Relationship Type="http://schemas.openxmlformats.org/officeDocument/2006/relationships/slide" Target="/ppt/slides/slide28.xml" Id="Rf86ab0f9b3cc4b65" /><Relationship Type="http://schemas.openxmlformats.org/officeDocument/2006/relationships/slide" Target="/ppt/slides/slide29.xml" Id="R1a3974f0ae5f464b" /><Relationship Type="http://schemas.openxmlformats.org/officeDocument/2006/relationships/slide" Target="/ppt/slides/slide30.xml" Id="R2ad14f36f84d4a47" /><Relationship Type="http://schemas.openxmlformats.org/officeDocument/2006/relationships/slide" Target="/ppt/slides/slide31.xml" Id="R62bf55855e1e4c3a" /><Relationship Type="http://schemas.openxmlformats.org/officeDocument/2006/relationships/slide" Target="/ppt/slides/slide32.xml" Id="R947ef45825d04fdb" /><Relationship Type="http://schemas.openxmlformats.org/officeDocument/2006/relationships/slide" Target="/ppt/slides/slide33.xml" Id="R8fed7aa26b0f4356" /><Relationship Type="http://schemas.openxmlformats.org/officeDocument/2006/relationships/slide" Target="/ppt/slides/slide34.xml" Id="R767d15778b7e4ff1" /><Relationship Type="http://schemas.openxmlformats.org/officeDocument/2006/relationships/slide" Target="/ppt/slides/slide35.xml" Id="R073d581fdcee4610" /><Relationship Type="http://schemas.openxmlformats.org/officeDocument/2006/relationships/slide" Target="/ppt/slides/slide36.xml" Id="Rcfaf2ae9e2874112" /><Relationship Type="http://schemas.openxmlformats.org/officeDocument/2006/relationships/slide" Target="/ppt/slides/slide37.xml" Id="R3d0bd55f2aac4f52" /><Relationship Type="http://schemas.openxmlformats.org/officeDocument/2006/relationships/slide" Target="/ppt/slides/slide38.xml" Id="R4ae4e17bf38844a0" /><Relationship Type="http://schemas.openxmlformats.org/officeDocument/2006/relationships/slide" Target="/ppt/slides/slide39.xml" Id="R3515392c45cc44d5" /><Relationship Type="http://schemas.openxmlformats.org/officeDocument/2006/relationships/slide" Target="/ppt/slides/slide40.xml" Id="Re5c382b7737f4910" /><Relationship Type="http://schemas.openxmlformats.org/officeDocument/2006/relationships/slide" Target="/ppt/slides/slide41.xml" Id="R5b8f4abea8634db8" /><Relationship Type="http://schemas.openxmlformats.org/officeDocument/2006/relationships/slide" Target="/ppt/slides/slide42.xml" Id="R4b11184059d64a97" /><Relationship Type="http://schemas.openxmlformats.org/officeDocument/2006/relationships/slide" Target="/ppt/slides/slide43.xml" Id="Rb11e9a1eaff640cb" /><Relationship Type="http://schemas.openxmlformats.org/officeDocument/2006/relationships/slide" Target="/ppt/slides/slide44.xml" Id="R1f671cdac22b42a5" /><Relationship Type="http://schemas.openxmlformats.org/officeDocument/2006/relationships/slide" Target="/ppt/slides/slide45.xml" Id="R66909f440ee04b18" /><Relationship Type="http://schemas.openxmlformats.org/officeDocument/2006/relationships/slide" Target="/ppt/slides/slide46.xml" Id="Rd789a450c96248ae" /><Relationship Type="http://schemas.openxmlformats.org/officeDocument/2006/relationships/slide" Target="/ppt/slides/slide47.xml" Id="Ra05d5f650c6941dd" /><Relationship Type="http://schemas.openxmlformats.org/officeDocument/2006/relationships/slide" Target="/ppt/slides/slide48.xml" Id="Rdf5563eb30e9452e" /><Relationship Type="http://schemas.openxmlformats.org/officeDocument/2006/relationships/slide" Target="/ppt/slides/slide49.xml" Id="R1ecc4b61320e489d" /><Relationship Type="http://schemas.openxmlformats.org/officeDocument/2006/relationships/slide" Target="/ppt/slides/slide50.xml" Id="Rcd1d7700e09d4b04" /><Relationship Type="http://schemas.openxmlformats.org/officeDocument/2006/relationships/slide" Target="/ppt/slides/slide51.xml" Id="R436cf4eff10146f2" /><Relationship Type="http://schemas.openxmlformats.org/officeDocument/2006/relationships/slide" Target="/ppt/slides/slide52.xml" Id="R6b05dddf4aae4276" /><Relationship Type="http://schemas.openxmlformats.org/officeDocument/2006/relationships/slide" Target="/ppt/slides/slide53.xml" Id="Rbb01fd12c92c4b70" /><Relationship Type="http://schemas.openxmlformats.org/officeDocument/2006/relationships/slide" Target="/ppt/slides/slide54.xml" Id="Rc8862fb828614da9" /><Relationship Type="http://schemas.openxmlformats.org/officeDocument/2006/relationships/slide" Target="/ppt/slides/slide55.xml" Id="R6795d2c768254d70" /><Relationship Type="http://schemas.openxmlformats.org/officeDocument/2006/relationships/slide" Target="/ppt/slides/slide56.xml" Id="R49a2b914e1734895" /><Relationship Type="http://schemas.openxmlformats.org/officeDocument/2006/relationships/slide" Target="/ppt/slides/slide57.xml" Id="R93a9bc9356f94d38" /><Relationship Type="http://schemas.openxmlformats.org/officeDocument/2006/relationships/slide" Target="/ppt/slides/slide58.xml" Id="R614d3a8b0bf04ffe" /><Relationship Type="http://schemas.openxmlformats.org/officeDocument/2006/relationships/slide" Target="/ppt/slides/slide59.xml" Id="Rd7f7e0d3421e45a5" /><Relationship Type="http://schemas.openxmlformats.org/officeDocument/2006/relationships/slide" Target="/ppt/slides/slide60.xml" Id="Rde4f6fcb968d4b95" /><Relationship Type="http://schemas.openxmlformats.org/officeDocument/2006/relationships/slide" Target="/ppt/slides/slide61.xml" Id="R37327b8ee4a446ff" /><Relationship Type="http://schemas.openxmlformats.org/officeDocument/2006/relationships/slide" Target="/ppt/slides/slide62.xml" Id="Rbaad928bf8854f47" /><Relationship Type="http://schemas.openxmlformats.org/officeDocument/2006/relationships/slide" Target="/ppt/slides/slide63.xml" Id="R04244212863e406d" /><Relationship Type="http://schemas.openxmlformats.org/officeDocument/2006/relationships/slide" Target="/ppt/slides/slide64.xml" Id="Rdd68f4c7d8574b91" /><Relationship Type="http://schemas.openxmlformats.org/officeDocument/2006/relationships/slide" Target="/ppt/slides/slide65.xml" Id="Rf07d34444bf64dd3" /><Relationship Type="http://schemas.openxmlformats.org/officeDocument/2006/relationships/slide" Target="/ppt/slides/slide66.xml" Id="Reb48ff1f3d284ced" /><Relationship Type="http://schemas.openxmlformats.org/officeDocument/2006/relationships/slide" Target="/ppt/slides/slide67.xml" Id="R6b7c5c9bd80a43b9" /><Relationship Type="http://schemas.openxmlformats.org/officeDocument/2006/relationships/slide" Target="/ppt/slides/slide68.xml" Id="R112f3c2043694cf1" /><Relationship Type="http://schemas.openxmlformats.org/officeDocument/2006/relationships/slide" Target="/ppt/slides/slide69.xml" Id="R02e6803420804c7c" /><Relationship Type="http://schemas.openxmlformats.org/officeDocument/2006/relationships/slide" Target="/ppt/slides/slide70.xml" Id="Rb5fcc35e07ac4166" /><Relationship Type="http://schemas.openxmlformats.org/officeDocument/2006/relationships/slide" Target="/ppt/slides/slide71.xml" Id="R0232434f49db4bd8" /><Relationship Type="http://schemas.openxmlformats.org/officeDocument/2006/relationships/slide" Target="/ppt/slides/slide72.xml" Id="Reb78452bfbb34464" /><Relationship Type="http://schemas.openxmlformats.org/officeDocument/2006/relationships/slide" Target="/ppt/slides/slide73.xml" Id="R10671c87a03f43d8" /><Relationship Type="http://schemas.openxmlformats.org/officeDocument/2006/relationships/slide" Target="/ppt/slides/slide74.xml" Id="Ra6430dc0ce2d4031" /><Relationship Type="http://schemas.openxmlformats.org/officeDocument/2006/relationships/slide" Target="/ppt/slides/slide75.xml" Id="R11362e2574b647d4" /><Relationship Type="http://schemas.openxmlformats.org/officeDocument/2006/relationships/slide" Target="/ppt/slides/slide76.xml" Id="Rae9791fa5cc54026" /><Relationship Type="http://schemas.openxmlformats.org/officeDocument/2006/relationships/slide" Target="/ppt/slides/slide77.xml" Id="R7d55ca97267b4554" /><Relationship Type="http://schemas.openxmlformats.org/officeDocument/2006/relationships/slide" Target="/ppt/slides/slide78.xml" Id="R3ef33a60cb5a4e2c" /><Relationship Type="http://schemas.openxmlformats.org/officeDocument/2006/relationships/slide" Target="/ppt/slides/slide79.xml" Id="Rf2b954267737460f" /><Relationship Type="http://schemas.openxmlformats.org/officeDocument/2006/relationships/slide" Target="/ppt/slides/slide80.xml" Id="Rb40c38ef16f743f1" /><Relationship Type="http://schemas.openxmlformats.org/officeDocument/2006/relationships/slide" Target="/ppt/slides/slide81.xml" Id="Rc3201bb9ccf64986" /><Relationship Type="http://schemas.openxmlformats.org/officeDocument/2006/relationships/slide" Target="/ppt/slides/slide82.xml" Id="R1e77c0ca4490450e" /><Relationship Type="http://schemas.openxmlformats.org/officeDocument/2006/relationships/slide" Target="/ppt/slides/slide83.xml" Id="Rdfb2674e56bf41ee" /><Relationship Type="http://schemas.openxmlformats.org/officeDocument/2006/relationships/slide" Target="/ppt/slides/slide84.xml" Id="Rb4b40b8b1f5c4586" /><Relationship Type="http://schemas.openxmlformats.org/officeDocument/2006/relationships/slide" Target="/ppt/slides/slide85.xml" Id="Rba5822f36b55481e" /><Relationship Type="http://schemas.openxmlformats.org/officeDocument/2006/relationships/slide" Target="/ppt/slides/slide86.xml" Id="R3e320ce19d114ebb" /><Relationship Type="http://schemas.openxmlformats.org/officeDocument/2006/relationships/slide" Target="/ppt/slides/slide87.xml" Id="R77cf5a0267034253" /><Relationship Type="http://schemas.openxmlformats.org/officeDocument/2006/relationships/slide" Target="/ppt/slides/slide88.xml" Id="R236c7aac06234d9e" /><Relationship Type="http://schemas.openxmlformats.org/officeDocument/2006/relationships/slide" Target="/ppt/slides/slide89.xml" Id="R82e9a5d1087547ce" /><Relationship Type="http://schemas.openxmlformats.org/officeDocument/2006/relationships/slide" Target="/ppt/slides/slide90.xml" Id="R2f890571f2564ef9" /><Relationship Type="http://schemas.openxmlformats.org/officeDocument/2006/relationships/slide" Target="/ppt/slides/slide91.xml" Id="R0de2c57c543e4c85" /><Relationship Type="http://schemas.openxmlformats.org/officeDocument/2006/relationships/slide" Target="/ppt/slides/slide92.xml" Id="Rcf663b91684c4100" /><Relationship Type="http://schemas.openxmlformats.org/officeDocument/2006/relationships/slide" Target="/ppt/slides/slide93.xml" Id="R9cca151cc59b4275" /><Relationship Type="http://schemas.openxmlformats.org/officeDocument/2006/relationships/slide" Target="/ppt/slides/slide94.xml" Id="Rc1bc6bfa2aa04132" /><Relationship Type="http://schemas.openxmlformats.org/officeDocument/2006/relationships/slide" Target="/ppt/slides/slide95.xml" Id="Rd31e060e16804235" /><Relationship Type="http://schemas.openxmlformats.org/officeDocument/2006/relationships/slide" Target="/ppt/slides/slide96.xml" Id="Rc4b3802f8af64283" /><Relationship Type="http://schemas.openxmlformats.org/officeDocument/2006/relationships/slide" Target="/ppt/slides/slide97.xml" Id="Rdd354704fe854ff5" /><Relationship Type="http://schemas.openxmlformats.org/officeDocument/2006/relationships/slide" Target="/ppt/slides/slide98.xml" Id="R7c8ba50a7cf6430c" /><Relationship Type="http://schemas.openxmlformats.org/officeDocument/2006/relationships/slide" Target="/ppt/slides/slide99.xml" Id="Rd602533a2e2d4531" /><Relationship Type="http://schemas.openxmlformats.org/officeDocument/2006/relationships/slide" Target="/ppt/slides/slide100.xml" Id="R7090485c07c64650" /><Relationship Type="http://schemas.openxmlformats.org/officeDocument/2006/relationships/slide" Target="/ppt/slides/slide101.xml" Id="Rc300e6cc07834dfe" /><Relationship Type="http://schemas.openxmlformats.org/officeDocument/2006/relationships/slide" Target="/ppt/slides/slide102.xml" Id="Rf1f8a36821014eec" /><Relationship Type="http://schemas.openxmlformats.org/officeDocument/2006/relationships/slide" Target="/ppt/slides/slide103.xml" Id="R9806b8c85f064797" /><Relationship Type="http://schemas.openxmlformats.org/officeDocument/2006/relationships/slide" Target="/ppt/slides/slide104.xml" Id="R65281f1bb9fb47fd" /><Relationship Type="http://schemas.openxmlformats.org/officeDocument/2006/relationships/slide" Target="/ppt/slides/slide105.xml" Id="R3de0cf70b089485b" /><Relationship Type="http://schemas.openxmlformats.org/officeDocument/2006/relationships/slide" Target="/ppt/slides/slide106.xml" Id="R63169f82eedd44b7" /><Relationship Type="http://schemas.openxmlformats.org/officeDocument/2006/relationships/slide" Target="/ppt/slides/slide107.xml" Id="Rbaf43bbf67444a89" /><Relationship Type="http://schemas.openxmlformats.org/officeDocument/2006/relationships/slide" Target="/ppt/slides/slide108.xml" Id="Rdfa7349cae654bb7" /><Relationship Type="http://schemas.openxmlformats.org/officeDocument/2006/relationships/slide" Target="/ppt/slides/slide109.xml" Id="R0a8eac7cd9514214" /><Relationship Type="http://schemas.openxmlformats.org/officeDocument/2006/relationships/slide" Target="/ppt/slides/slide110.xml" Id="Rd4a795c3734743a4" /><Relationship Type="http://schemas.openxmlformats.org/officeDocument/2006/relationships/slide" Target="/ppt/slides/slide111.xml" Id="R5d312fe6c7564fae" /><Relationship Type="http://schemas.openxmlformats.org/officeDocument/2006/relationships/slide" Target="/ppt/slides/slide112.xml" Id="Rc5dae57efbbc481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f173d71b4eb4c9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1fcf4d877fe428c" /><Relationship Type="http://schemas.openxmlformats.org/officeDocument/2006/relationships/notesMaster" Target="/ppt/notesMasters/notesMaster1.xml" Id="Rd86a6433e38d42d2" /></Relationships>
</file>

<file path=ppt/notesSlides/_rels/notesSlide2.xml.rels>&#65279;<?xml version="1.0" encoding="utf-8"?><Relationships xmlns="http://schemas.openxmlformats.org/package/2006/relationships"><Relationship Type="http://schemas.openxmlformats.org/officeDocument/2006/relationships/slide" Target="/ppt/slides/slide2.xml" Id="R67f89b6ba7094d6c" /><Relationship Type="http://schemas.openxmlformats.org/officeDocument/2006/relationships/notesMaster" Target="/ppt/notesMasters/notesMaster1.xml" Id="R3be3c57549f84e05" /></Relationships>
</file>

<file path=ppt/notesSlides/_rels/notesSlide3.xml.rels>&#65279;<?xml version="1.0" encoding="utf-8"?><Relationships xmlns="http://schemas.openxmlformats.org/package/2006/relationships"><Relationship Type="http://schemas.openxmlformats.org/officeDocument/2006/relationships/slide" Target="/ppt/slides/slide3.xml" Id="R85798688fbf74bda" /><Relationship Type="http://schemas.openxmlformats.org/officeDocument/2006/relationships/notesMaster" Target="/ppt/notesMasters/notesMaster1.xml" Id="R56901b319e1641d7" /></Relationships>
</file>

<file path=ppt/notesSlides/_rels/notesSlide4.xml.rels>&#65279;<?xml version="1.0" encoding="utf-8"?><Relationships xmlns="http://schemas.openxmlformats.org/package/2006/relationships"><Relationship Type="http://schemas.openxmlformats.org/officeDocument/2006/relationships/slide" Target="/ppt/slides/slide4.xml" Id="Rfa0f4fac458b493f" /><Relationship Type="http://schemas.openxmlformats.org/officeDocument/2006/relationships/notesMaster" Target="/ppt/notesMasters/notesMaster1.xml" Id="Ra5a16494e2e24026" /></Relationships>
</file>

<file path=ppt/notesSlides/_rels/notesSlide5.xml.rels>&#65279;<?xml version="1.0" encoding="utf-8"?><Relationships xmlns="http://schemas.openxmlformats.org/package/2006/relationships"><Relationship Type="http://schemas.openxmlformats.org/officeDocument/2006/relationships/slide" Target="/ppt/slides/slide5.xml" Id="Rd9799a45c2c24f49" /><Relationship Type="http://schemas.openxmlformats.org/officeDocument/2006/relationships/notesMaster" Target="/ppt/notesMasters/notesMaster1.xml" Id="R230fd25aa10f4fac" /></Relationships>
</file>

<file path=ppt/notesSlides/_rels/notesSlide6.xml.rels>&#65279;<?xml version="1.0" encoding="utf-8"?><Relationships xmlns="http://schemas.openxmlformats.org/package/2006/relationships"><Relationship Type="http://schemas.openxmlformats.org/officeDocument/2006/relationships/slide" Target="/ppt/slides/slide6.xml" Id="Rc026e8b59e6c47bf" /><Relationship Type="http://schemas.openxmlformats.org/officeDocument/2006/relationships/notesMaster" Target="/ppt/notesMasters/notesMaster1.xml" Id="R04cab2a1c2cb4846" /></Relationships>
</file>

<file path=ppt/notesSlides/_rels/notesSlide7.xml.rels>&#65279;<?xml version="1.0" encoding="utf-8"?><Relationships xmlns="http://schemas.openxmlformats.org/package/2006/relationships"><Relationship Type="http://schemas.openxmlformats.org/officeDocument/2006/relationships/slide" Target="/ppt/slides/slide7.xml" Id="R6ba6fd15db4a4371" /><Relationship Type="http://schemas.openxmlformats.org/officeDocument/2006/relationships/notesMaster" Target="/ppt/notesMasters/notesMaster1.xml" Id="R21b8310fff7e4746" /></Relationships>
</file>

<file path=ppt/notesSlides/_rels/notesSlide8.xml.rels>&#65279;<?xml version="1.0" encoding="utf-8"?><Relationships xmlns="http://schemas.openxmlformats.org/package/2006/relationships"><Relationship Type="http://schemas.openxmlformats.org/officeDocument/2006/relationships/slide" Target="/ppt/slides/slide8.xml" Id="R1d77800bfd6a4a49" /><Relationship Type="http://schemas.openxmlformats.org/officeDocument/2006/relationships/notesMaster" Target="/ppt/notesMasters/notesMaster1.xml" Id="R5348eda9d4594a6f" /></Relationships>
</file>

<file path=ppt/notesSlides/_rels/notesSlide9.xml.rels>&#65279;<?xml version="1.0" encoding="utf-8"?><Relationships xmlns="http://schemas.openxmlformats.org/package/2006/relationships"><Relationship Type="http://schemas.openxmlformats.org/officeDocument/2006/relationships/slide" Target="/ppt/slides/slide9.xml" Id="R0e7a0bda4420450d" /><Relationship Type="http://schemas.openxmlformats.org/officeDocument/2006/relationships/notesMaster" Target="/ppt/notesMasters/notesMaster1.xml" Id="Rb4ccbe8c472e46d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2385f19e7c04797" /><Relationship Type="http://schemas.openxmlformats.org/officeDocument/2006/relationships/notesMaster" Target="/ppt/notesMasters/notesMaster1.xml" Id="R069f174d2622432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0a1485093ba4864" /><Relationship Type="http://schemas.openxmlformats.org/officeDocument/2006/relationships/notesMaster" Target="/ppt/notesMasters/notesMaster1.xml" Id="Ra4877c40e48047a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ee5d01b6d6f4507" /><Relationship Type="http://schemas.openxmlformats.org/officeDocument/2006/relationships/notesMaster" Target="/ppt/notesMasters/notesMaster1.xml" Id="R6c425af761bb49c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e3eee9d4d254dc1" /><Relationship Type="http://schemas.openxmlformats.org/officeDocument/2006/relationships/notesMaster" Target="/ppt/notesMasters/notesMaster1.xml" Id="Rfdae4d50397a42c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a1f3c8d48c34c5e" /><Relationship Type="http://schemas.openxmlformats.org/officeDocument/2006/relationships/notesMaster" Target="/ppt/notesMasters/notesMaster1.xml" Id="Rc5585d62a7a5415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f7fdae562134656" /><Relationship Type="http://schemas.openxmlformats.org/officeDocument/2006/relationships/notesMaster" Target="/ppt/notesMasters/notesMaster1.xml" Id="Rfdb9b1ec3934446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49a7cd56f444345" /><Relationship Type="http://schemas.openxmlformats.org/officeDocument/2006/relationships/notesMaster" Target="/ppt/notesMasters/notesMaster1.xml" Id="Rdbbd89e6fba74ee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8a75b8bdfd6461b" /><Relationship Type="http://schemas.openxmlformats.org/officeDocument/2006/relationships/notesMaster" Target="/ppt/notesMasters/notesMaster1.xml" Id="R57ccb00f7aa243a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3e72511e3cd46b1" /><Relationship Type="http://schemas.openxmlformats.org/officeDocument/2006/relationships/notesMaster" Target="/ppt/notesMasters/notesMaster1.xml" Id="Rd27f9bd9358d412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dedcbcc187a4bdc" /><Relationship Type="http://schemas.openxmlformats.org/officeDocument/2006/relationships/notesMaster" Target="/ppt/notesMasters/notesMaster1.xml" Id="Re0ece77207a84a6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ca21a0a5854481e" /><Relationship Type="http://schemas.openxmlformats.org/officeDocument/2006/relationships/notesMaster" Target="/ppt/notesMasters/notesMaster1.xml" Id="R42e2d0876297466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222c3f1d9a948d6" /><Relationship Type="http://schemas.openxmlformats.org/officeDocument/2006/relationships/notesMaster" Target="/ppt/notesMasters/notesMaster1.xml" Id="Re235e1b8305149e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252445fee41449d" /><Relationship Type="http://schemas.openxmlformats.org/officeDocument/2006/relationships/notesMaster" Target="/ppt/notesMasters/notesMaster1.xml" Id="R9d5ec888b48a45c9"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9887683515e4720" /><Relationship Type="http://schemas.openxmlformats.org/officeDocument/2006/relationships/notesMaster" Target="/ppt/notesMasters/notesMaster1.xml" Id="Re761ff56abe74b1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ca4815cc33940f2" /><Relationship Type="http://schemas.openxmlformats.org/officeDocument/2006/relationships/notesMaster" Target="/ppt/notesMasters/notesMaster1.xml" Id="R0284e25bad484ce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308a68d163b4705" /><Relationship Type="http://schemas.openxmlformats.org/officeDocument/2006/relationships/notesMaster" Target="/ppt/notesMasters/notesMaster1.xml" Id="R6a3333bf5b1642e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0d1994a0fce4d21" /><Relationship Type="http://schemas.openxmlformats.org/officeDocument/2006/relationships/notesMaster" Target="/ppt/notesMasters/notesMaster1.xml" Id="R8593df16bbb34443"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7e779800e204911" /><Relationship Type="http://schemas.openxmlformats.org/officeDocument/2006/relationships/notesMaster" Target="/ppt/notesMasters/notesMaster1.xml" Id="R1f1ac2316cf54aa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71a2bd4d9b664e9a" /><Relationship Type="http://schemas.openxmlformats.org/officeDocument/2006/relationships/notesMaster" Target="/ppt/notesMasters/notesMaster1.xml" Id="R26ce1626d7204e2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624a1ad4c79a4cd7" /><Relationship Type="http://schemas.openxmlformats.org/officeDocument/2006/relationships/notesMaster" Target="/ppt/notesMasters/notesMaster1.xml" Id="Rc46eac3eb9fa401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17d8116a64054dc2" /><Relationship Type="http://schemas.openxmlformats.org/officeDocument/2006/relationships/notesMaster" Target="/ppt/notesMasters/notesMaster1.xml" Id="R28ade0bddb404f1e"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b882f02e8d841ec" /><Relationship Type="http://schemas.openxmlformats.org/officeDocument/2006/relationships/notesMaster" Target="/ppt/notesMasters/notesMaster1.xml" Id="R7d8ba77c5d3949ec"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45ccb9986b614b4a" /><Relationship Type="http://schemas.openxmlformats.org/officeDocument/2006/relationships/notesMaster" Target="/ppt/notesMasters/notesMaster1.xml" Id="Race1d19429dd425f"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5b16aaec9e124b97" /><Relationship Type="http://schemas.openxmlformats.org/officeDocument/2006/relationships/notesMaster" Target="/ppt/notesMasters/notesMaster1.xml" Id="R62ecc481cc6d4559"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82eecb45c4424a17" /><Relationship Type="http://schemas.openxmlformats.org/officeDocument/2006/relationships/notesMaster" Target="/ppt/notesMasters/notesMaster1.xml" Id="R8a2a633540b84781"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babf777ed1104c50" /><Relationship Type="http://schemas.openxmlformats.org/officeDocument/2006/relationships/notesMaster" Target="/ppt/notesMasters/notesMaster1.xml" Id="R500f79732f7f482d"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25fc6cc7d6b64bb6" /><Relationship Type="http://schemas.openxmlformats.org/officeDocument/2006/relationships/notesMaster" Target="/ppt/notesMasters/notesMaster1.xml" Id="R0341b2575a024b78"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b9288fbcc08d4dbf" /><Relationship Type="http://schemas.openxmlformats.org/officeDocument/2006/relationships/notesMaster" Target="/ppt/notesMasters/notesMaster1.xml" Id="R02a79cfca67e47dd"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6ed4fd72bcb842cc" /><Relationship Type="http://schemas.openxmlformats.org/officeDocument/2006/relationships/notesMaster" Target="/ppt/notesMasters/notesMaster1.xml" Id="R7bb9fdfd9f9541a6"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e7aba29897804e36" /><Relationship Type="http://schemas.openxmlformats.org/officeDocument/2006/relationships/notesMaster" Target="/ppt/notesMasters/notesMaster1.xml" Id="R0d68d100d7e54e10"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effe2c68ea304327" /><Relationship Type="http://schemas.openxmlformats.org/officeDocument/2006/relationships/notesMaster" Target="/ppt/notesMasters/notesMaster1.xml" Id="R7ee1cc6071dd47ca"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6e49e131dcee40e3" /><Relationship Type="http://schemas.openxmlformats.org/officeDocument/2006/relationships/notesMaster" Target="/ppt/notesMasters/notesMaster1.xml" Id="R5f3b653319c44d82"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959e62d8558d4017" /><Relationship Type="http://schemas.openxmlformats.org/officeDocument/2006/relationships/notesMaster" Target="/ppt/notesMasters/notesMaster1.xml" Id="R6cc536d7c4704e96"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2b17df44f65c48a1" /><Relationship Type="http://schemas.openxmlformats.org/officeDocument/2006/relationships/notesMaster" Target="/ppt/notesMasters/notesMaster1.xml" Id="Reee4e00ad0ca4b2a"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6fd4bc32cf9144ea" /><Relationship Type="http://schemas.openxmlformats.org/officeDocument/2006/relationships/notesMaster" Target="/ppt/notesMasters/notesMaster1.xml" Id="R841552e32b664074"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e39ac2bd5ed74439" /><Relationship Type="http://schemas.openxmlformats.org/officeDocument/2006/relationships/notesMaster" Target="/ppt/notesMasters/notesMaster1.xml" Id="R2dd511a2b53b461a"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b8c4a66d02474d45" /><Relationship Type="http://schemas.openxmlformats.org/officeDocument/2006/relationships/notesMaster" Target="/ppt/notesMasters/notesMaster1.xml" Id="R44592576383648a5"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f9fa5096639b4aa2" /><Relationship Type="http://schemas.openxmlformats.org/officeDocument/2006/relationships/notesMaster" Target="/ppt/notesMasters/notesMaster1.xml" Id="R7867908e47fa4e13"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b33854e90ffd4143" /><Relationship Type="http://schemas.openxmlformats.org/officeDocument/2006/relationships/notesMaster" Target="/ppt/notesMasters/notesMaster1.xml" Id="R1384c90eeef54f8b"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524d3b55136c4e36" /><Relationship Type="http://schemas.openxmlformats.org/officeDocument/2006/relationships/notesMaster" Target="/ppt/notesMasters/notesMaster1.xml" Id="R9af7e02c06b241be"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b177c6ec062647d9" /><Relationship Type="http://schemas.openxmlformats.org/officeDocument/2006/relationships/notesMaster" Target="/ppt/notesMasters/notesMaster1.xml" Id="Rcba6c1adc4e943d3"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6be9169474ca4e5d" /><Relationship Type="http://schemas.openxmlformats.org/officeDocument/2006/relationships/notesMaster" Target="/ppt/notesMasters/notesMaster1.xml" Id="R35dcec28e0724f77"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3246364f1e7d4857" /><Relationship Type="http://schemas.openxmlformats.org/officeDocument/2006/relationships/notesMaster" Target="/ppt/notesMasters/notesMaster1.xml" Id="R3fd22449160a4f50"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b534354e0bde4796" /><Relationship Type="http://schemas.openxmlformats.org/officeDocument/2006/relationships/notesMaster" Target="/ppt/notesMasters/notesMaster1.xml" Id="R33ea6d127e46444e"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dbb13272c1ac4451" /><Relationship Type="http://schemas.openxmlformats.org/officeDocument/2006/relationships/notesMaster" Target="/ppt/notesMasters/notesMaster1.xml" Id="Rc1bf6059ea344a7f"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3d3e6327768c4d42" /><Relationship Type="http://schemas.openxmlformats.org/officeDocument/2006/relationships/notesMaster" Target="/ppt/notesMasters/notesMaster1.xml" Id="Re70fdfc98dea430a"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95e7e87ead384816" /><Relationship Type="http://schemas.openxmlformats.org/officeDocument/2006/relationships/notesMaster" Target="/ppt/notesMasters/notesMaster1.xml" Id="R32390f2f1b9f40cd"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27beeaf05d5e451c" /><Relationship Type="http://schemas.openxmlformats.org/officeDocument/2006/relationships/notesMaster" Target="/ppt/notesMasters/notesMaster1.xml" Id="R4cfe99bfefde4388"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0a363635e5004e8d" /><Relationship Type="http://schemas.openxmlformats.org/officeDocument/2006/relationships/notesMaster" Target="/ppt/notesMasters/notesMaster1.xml" Id="R8072c51e0d6c4693"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8e89bf6cf4d94864" /><Relationship Type="http://schemas.openxmlformats.org/officeDocument/2006/relationships/notesMaster" Target="/ppt/notesMasters/notesMaster1.xml" Id="R26ba29d850f94d30"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ac77f5e0b7d64f0b" /><Relationship Type="http://schemas.openxmlformats.org/officeDocument/2006/relationships/notesMaster" Target="/ppt/notesMasters/notesMaster1.xml" Id="R8a2b49d33ac346f7"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fb8b3e86a844465c" /><Relationship Type="http://schemas.openxmlformats.org/officeDocument/2006/relationships/notesMaster" Target="/ppt/notesMasters/notesMaster1.xml" Id="R950ea6819d20415c"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dcbaa8da435049ff" /><Relationship Type="http://schemas.openxmlformats.org/officeDocument/2006/relationships/notesMaster" Target="/ppt/notesMasters/notesMaster1.xml" Id="Rc1e077d729474b6e"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254e8aa285fa48ca" /><Relationship Type="http://schemas.openxmlformats.org/officeDocument/2006/relationships/notesMaster" Target="/ppt/notesMasters/notesMaster1.xml" Id="R00a9ccbf0d34400d"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6a7a15d74a5d4cb3" /><Relationship Type="http://schemas.openxmlformats.org/officeDocument/2006/relationships/notesMaster" Target="/ppt/notesMasters/notesMaster1.xml" Id="Rdcdc7ecf66bb4c97"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b9f3ff87f5ff490c" /><Relationship Type="http://schemas.openxmlformats.org/officeDocument/2006/relationships/notesMaster" Target="/ppt/notesMasters/notesMaster1.xml" Id="R756bec07ba4b4c53"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ec0999a64f0742ad" /><Relationship Type="http://schemas.openxmlformats.org/officeDocument/2006/relationships/notesMaster" Target="/ppt/notesMasters/notesMaster1.xml" Id="Reeea5c74cecb46a3"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31ea36edcde540e7" /><Relationship Type="http://schemas.openxmlformats.org/officeDocument/2006/relationships/notesMaster" Target="/ppt/notesMasters/notesMaster1.xml" Id="Rd87cab7015f74178"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65ecb2a0dcac434a" /><Relationship Type="http://schemas.openxmlformats.org/officeDocument/2006/relationships/notesMaster" Target="/ppt/notesMasters/notesMaster1.xml" Id="R9e0a7ba24c404c2b"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8129db5530b949a8" /><Relationship Type="http://schemas.openxmlformats.org/officeDocument/2006/relationships/notesMaster" Target="/ppt/notesMasters/notesMaster1.xml" Id="R6d1f67fdbc424922"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a36917fd3af1437a" /><Relationship Type="http://schemas.openxmlformats.org/officeDocument/2006/relationships/notesMaster" Target="/ppt/notesMasters/notesMaster1.xml" Id="R0efd1297043f4ff4"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ff095d04de5047e6" /><Relationship Type="http://schemas.openxmlformats.org/officeDocument/2006/relationships/notesMaster" Target="/ppt/notesMasters/notesMaster1.xml" Id="R528b00afc29049e7"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558ff6f2d97640f6" /><Relationship Type="http://schemas.openxmlformats.org/officeDocument/2006/relationships/notesMaster" Target="/ppt/notesMasters/notesMaster1.xml" Id="R2d2f98784db24b4f"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56e219d79569408e" /><Relationship Type="http://schemas.openxmlformats.org/officeDocument/2006/relationships/notesMaster" Target="/ppt/notesMasters/notesMaster1.xml" Id="R5cd1e07dfb984b66"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0abddfea200b4603" /><Relationship Type="http://schemas.openxmlformats.org/officeDocument/2006/relationships/notesMaster" Target="/ppt/notesMasters/notesMaster1.xml" Id="Rc22a1ddaabdf4062"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3d3b7feaebfb44c9" /><Relationship Type="http://schemas.openxmlformats.org/officeDocument/2006/relationships/notesMaster" Target="/ppt/notesMasters/notesMaster1.xml" Id="R6db01b4b97ac4bab"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549edf79f9eb49bb" /><Relationship Type="http://schemas.openxmlformats.org/officeDocument/2006/relationships/notesMaster" Target="/ppt/notesMasters/notesMaster1.xml" Id="R9cffd69125884e53"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b0d88a8058904561" /><Relationship Type="http://schemas.openxmlformats.org/officeDocument/2006/relationships/notesMaster" Target="/ppt/notesMasters/notesMaster1.xml" Id="Rc5f20ac5a545480c"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09543e1f8d084e3e" /><Relationship Type="http://schemas.openxmlformats.org/officeDocument/2006/relationships/notesMaster" Target="/ppt/notesMasters/notesMaster1.xml" Id="Rc5860101327a4de3"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a77d672e279c40be" /><Relationship Type="http://schemas.openxmlformats.org/officeDocument/2006/relationships/notesMaster" Target="/ppt/notesMasters/notesMaster1.xml" Id="R5b46be9377ff459c"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f814d204b8d54a34" /><Relationship Type="http://schemas.openxmlformats.org/officeDocument/2006/relationships/notesMaster" Target="/ppt/notesMasters/notesMaster1.xml" Id="R9075f9fe9d6c428f"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24f40398758941ff" /><Relationship Type="http://schemas.openxmlformats.org/officeDocument/2006/relationships/notesMaster" Target="/ppt/notesMasters/notesMaster1.xml" Id="R7b4eb63d0c8d45b6"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db0304d8b8fd4f16" /><Relationship Type="http://schemas.openxmlformats.org/officeDocument/2006/relationships/notesMaster" Target="/ppt/notesMasters/notesMaster1.xml" Id="Ra33b275488684848"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ce8637cf54604f69" /><Relationship Type="http://schemas.openxmlformats.org/officeDocument/2006/relationships/notesMaster" Target="/ppt/notesMasters/notesMaster1.xml" Id="Rd298d992c673432c"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577c26c670334b53" /><Relationship Type="http://schemas.openxmlformats.org/officeDocument/2006/relationships/notesMaster" Target="/ppt/notesMasters/notesMaster1.xml" Id="R850d867852e141d0"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1a6e50ed5de04463" /><Relationship Type="http://schemas.openxmlformats.org/officeDocument/2006/relationships/notesMaster" Target="/ppt/notesMasters/notesMaster1.xml" Id="Ref0e96e9694e4568"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1554e042fc64464a" /><Relationship Type="http://schemas.openxmlformats.org/officeDocument/2006/relationships/notesMaster" Target="/ppt/notesMasters/notesMaster1.xml" Id="Rb7df11851eb046cc"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7faad99757c34905" /><Relationship Type="http://schemas.openxmlformats.org/officeDocument/2006/relationships/notesMaster" Target="/ppt/notesMasters/notesMaster1.xml" Id="Rb0549a6f1e544f72"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3cbbb2558e33416a" /><Relationship Type="http://schemas.openxmlformats.org/officeDocument/2006/relationships/notesMaster" Target="/ppt/notesMasters/notesMaster1.xml" Id="R889693c5a3364809"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07e76b1c2b4d4f32" /><Relationship Type="http://schemas.openxmlformats.org/officeDocument/2006/relationships/notesMaster" Target="/ppt/notesMasters/notesMaster1.xml" Id="R704c2b40fef4483c"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857ce9d983474233" /><Relationship Type="http://schemas.openxmlformats.org/officeDocument/2006/relationships/notesMaster" Target="/ppt/notesMasters/notesMaster1.xml" Id="R7997e8700da84005"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f01847ecbfcf4a5a" /><Relationship Type="http://schemas.openxmlformats.org/officeDocument/2006/relationships/notesMaster" Target="/ppt/notesMasters/notesMaster1.xml" Id="R98401912351d452b"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23d6c99512ab45f3" /><Relationship Type="http://schemas.openxmlformats.org/officeDocument/2006/relationships/notesMaster" Target="/ppt/notesMasters/notesMaster1.xml" Id="Ra4be0252dcc746c8"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2b9dbaa0319e40d3" /><Relationship Type="http://schemas.openxmlformats.org/officeDocument/2006/relationships/notesMaster" Target="/ppt/notesMasters/notesMaster1.xml" Id="Rb00b0d667db543e9"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893e009fbed247f3" /><Relationship Type="http://schemas.openxmlformats.org/officeDocument/2006/relationships/notesMaster" Target="/ppt/notesMasters/notesMaster1.xml" Id="R881d6535346d4de8"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a78b287501254347" /><Relationship Type="http://schemas.openxmlformats.org/officeDocument/2006/relationships/notesMaster" Target="/ppt/notesMasters/notesMaster1.xml" Id="R7464be9651044a49"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4eacec9be09a45e1" /><Relationship Type="http://schemas.openxmlformats.org/officeDocument/2006/relationships/notesMaster" Target="/ppt/notesMasters/notesMaster1.xml" Id="R171473af61504279"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a2548cde191642e8" /><Relationship Type="http://schemas.openxmlformats.org/officeDocument/2006/relationships/notesMaster" Target="/ppt/notesMasters/notesMaster1.xml" Id="Rf4b603cf36294da3"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3c0653040d5e4cfc" /><Relationship Type="http://schemas.openxmlformats.org/officeDocument/2006/relationships/notesMaster" Target="/ppt/notesMasters/notesMaster1.xml" Id="R19af84ba10894d54"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c938de2c03794767" /><Relationship Type="http://schemas.openxmlformats.org/officeDocument/2006/relationships/notesMaster" Target="/ppt/notesMasters/notesMaster1.xml" Id="R1cad84025c0544f5"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e50352b17f354b25" /><Relationship Type="http://schemas.openxmlformats.org/officeDocument/2006/relationships/notesMaster" Target="/ppt/notesMasters/notesMaster1.xml" Id="R84ed548c42184463"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ffed9631141a43b5" /><Relationship Type="http://schemas.openxmlformats.org/officeDocument/2006/relationships/notesMaster" Target="/ppt/notesMasters/notesMaster1.xml" Id="R85343b9f34294668"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ff49fabb311944b1" /><Relationship Type="http://schemas.openxmlformats.org/officeDocument/2006/relationships/notesMaster" Target="/ppt/notesMasters/notesMaster1.xml" Id="R59a0733056b147f1" /></Relationships>
</file>

<file path=ppt/notesSlides/_rels/notesSlide103.xml.rels>&#65279;<?xml version="1.0" encoding="utf-8"?><Relationships xmlns="http://schemas.openxmlformats.org/package/2006/relationships"><Relationship Type="http://schemas.openxmlformats.org/officeDocument/2006/relationships/slide" Target="/ppt/slides/slide103.xml" Id="R203fdcb73ef5457f" /><Relationship Type="http://schemas.openxmlformats.org/officeDocument/2006/relationships/notesMaster" Target="/ppt/notesMasters/notesMaster1.xml" Id="R790cfa5055094639" /></Relationships>
</file>

<file path=ppt/notesSlides/_rels/notesSlide104.xml.rels>&#65279;<?xml version="1.0" encoding="utf-8"?><Relationships xmlns="http://schemas.openxmlformats.org/package/2006/relationships"><Relationship Type="http://schemas.openxmlformats.org/officeDocument/2006/relationships/slide" Target="/ppt/slides/slide104.xml" Id="R3f0c15888d5242f8" /><Relationship Type="http://schemas.openxmlformats.org/officeDocument/2006/relationships/notesMaster" Target="/ppt/notesMasters/notesMaster1.xml" Id="Rebe8b22729194ec9" /></Relationships>
</file>

<file path=ppt/notesSlides/_rels/notesSlide105.xml.rels>&#65279;<?xml version="1.0" encoding="utf-8"?><Relationships xmlns="http://schemas.openxmlformats.org/package/2006/relationships"><Relationship Type="http://schemas.openxmlformats.org/officeDocument/2006/relationships/slide" Target="/ppt/slides/slide105.xml" Id="R89f42396eb334ce1" /><Relationship Type="http://schemas.openxmlformats.org/officeDocument/2006/relationships/notesMaster" Target="/ppt/notesMasters/notesMaster1.xml" Id="R882ee4e61c94449e" /></Relationships>
</file>

<file path=ppt/notesSlides/_rels/notesSlide106.xml.rels>&#65279;<?xml version="1.0" encoding="utf-8"?><Relationships xmlns="http://schemas.openxmlformats.org/package/2006/relationships"><Relationship Type="http://schemas.openxmlformats.org/officeDocument/2006/relationships/slide" Target="/ppt/slides/slide106.xml" Id="Rc6d4df1e313a4609" /><Relationship Type="http://schemas.openxmlformats.org/officeDocument/2006/relationships/notesMaster" Target="/ppt/notesMasters/notesMaster1.xml" Id="R410f30664ac244d4" /></Relationships>
</file>

<file path=ppt/notesSlides/_rels/notesSlide107.xml.rels>&#65279;<?xml version="1.0" encoding="utf-8"?><Relationships xmlns="http://schemas.openxmlformats.org/package/2006/relationships"><Relationship Type="http://schemas.openxmlformats.org/officeDocument/2006/relationships/slide" Target="/ppt/slides/slide107.xml" Id="R31892d1a78504840" /><Relationship Type="http://schemas.openxmlformats.org/officeDocument/2006/relationships/notesMaster" Target="/ppt/notesMasters/notesMaster1.xml" Id="R7be16aad3377462c" /></Relationships>
</file>

<file path=ppt/notesSlides/_rels/notesSlide108.xml.rels>&#65279;<?xml version="1.0" encoding="utf-8"?><Relationships xmlns="http://schemas.openxmlformats.org/package/2006/relationships"><Relationship Type="http://schemas.openxmlformats.org/officeDocument/2006/relationships/slide" Target="/ppt/slides/slide108.xml" Id="R71c05ca69ab344c2" /><Relationship Type="http://schemas.openxmlformats.org/officeDocument/2006/relationships/notesMaster" Target="/ppt/notesMasters/notesMaster1.xml" Id="Rc529bb95ae6545ee" /></Relationships>
</file>

<file path=ppt/notesSlides/_rels/notesSlide109.xml.rels>&#65279;<?xml version="1.0" encoding="utf-8"?><Relationships xmlns="http://schemas.openxmlformats.org/package/2006/relationships"><Relationship Type="http://schemas.openxmlformats.org/officeDocument/2006/relationships/slide" Target="/ppt/slides/slide109.xml" Id="Rf4ed8a301b134ba9" /><Relationship Type="http://schemas.openxmlformats.org/officeDocument/2006/relationships/notesMaster" Target="/ppt/notesMasters/notesMaster1.xml" Id="R71280eed3124442b" /></Relationships>
</file>

<file path=ppt/notesSlides/_rels/notesSlide110.xml.rels>&#65279;<?xml version="1.0" encoding="utf-8"?><Relationships xmlns="http://schemas.openxmlformats.org/package/2006/relationships"><Relationship Type="http://schemas.openxmlformats.org/officeDocument/2006/relationships/slide" Target="/ppt/slides/slide110.xml" Id="R9cf7acad9c4345aa" /><Relationship Type="http://schemas.openxmlformats.org/officeDocument/2006/relationships/notesMaster" Target="/ppt/notesMasters/notesMaster1.xml" Id="R38071ae2f0a44555" /></Relationships>
</file>

<file path=ppt/notesSlides/_rels/notesSlide111.xml.rels>&#65279;<?xml version="1.0" encoding="utf-8"?><Relationships xmlns="http://schemas.openxmlformats.org/package/2006/relationships"><Relationship Type="http://schemas.openxmlformats.org/officeDocument/2006/relationships/slide" Target="/ppt/slides/slide111.xml" Id="R7ebbc09b17b64f54" /><Relationship Type="http://schemas.openxmlformats.org/officeDocument/2006/relationships/notesMaster" Target="/ppt/notesMasters/notesMaster1.xml" Id="R92ffc42a8e7a4594" /></Relationships>
</file>

<file path=ppt/notesSlides/_rels/notesSlide112.xml.rels>&#65279;<?xml version="1.0" encoding="utf-8"?><Relationships xmlns="http://schemas.openxmlformats.org/package/2006/relationships"><Relationship Type="http://schemas.openxmlformats.org/officeDocument/2006/relationships/slide" Target="/ppt/slides/slide112.xml" Id="R0bdfefa24ef04a18" /><Relationship Type="http://schemas.openxmlformats.org/officeDocument/2006/relationships/notesMaster" Target="/ppt/notesMasters/notesMaster1.xml" Id="Rcde818f8865e482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learners and establish the course promise: commands are replaceable, but evidence-based reasoning transfers. Explain the 50/50 balance: half the course builds and demonstrates the model; half puts learners at the keyboard. Ask learners to keep the browser lab and slides visible side by side. Timing: 2 minutes. Sources: course scope and C01.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 frame outcomes as operational explanations, not memorized commands. Misconception to surface: successful output from one command is not always sufficient proof. Timing: 3 minutes. Sources: course communication job.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through the repeated cycle once. Explain that the course is balanced 50/50 between guided teaching and hands-on practice, and that labs arrive immediately after prerequisite theory. Learners will never be assessed on an unexplained core concept. Timing: 2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Set classroom norms. Use one quick example: a missing path is not repaired by broader permissions. Point out the reset behavior before any learner state exists. Timing: 3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 open Module 1 with its operating question and scope. Invite one prediction, but do not evaluate prior knowledge publicly. Transition into the minimum model needed for Lab 1. Timing: 1 minute. Sources: C01, C02, C04, C05, C19.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establish the first half of the Module 1 model. Explain the distinction in plain language, then use one concrete system example. Likely misconception: learners may treat related observations as interchangeable. Check: ask them to name which command or interface would answer each question. Timing: 2 minutes. Sources: C01, C02, C04, C05, C19.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complete the conceptual model before commands appear. Use the second sentence to explain why the distinction matters operationally. Check for understanding with a prediction tied to the upcoming worked example. Timing: 2 minutes. Sources: C01, C02, C04, C05, C19.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Build-up 1 for Module 1. Reveal the bullets progressively and connect each step to the prior slide. Use one short concrete example, then ask learners to predict the next step in the chain. Timing: 2 minutes. Sources: C01, C02, C04, C05, C19.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Build-up 2 for Module 1. Reveal the bullets progressively and connect each step to the prior slide. Use one short concrete example, then ask learners to predict the next step in the chain. Timing: 2 minutes. Sources: C01, C02, C04, C05, C19.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Build-up 3 for Module 1. Reveal the bullets progressively and connect each step to the prior slide. Use one short concrete example, then ask learners to predict the next step in the chain. Timing: 2 minutes. Sources: C01, C02, C04, C05, C19.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example as data flow rather than keystrokes. Pause after each line and ask what evidence it produces. If learners cannot explain an operator or helper command, return to the labelled guided-command slide before continuing. Timing: 3 minutes. Sources: C01, C02, C04, C05, C19.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only the question answered by each command. Demonstrate help for one command with --help or man. Clarify that commands labelled here are guided tools, not assumed prior knowledge. Timing: 2 minutes. Sources: C01, C02, C04, C05, C19.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 1: use the dedicated instructor seat and the exact setup/cleanup in resources/LIVE_DEMOS.md. Keep the learner incident untouched. If setup evidence differs, stop and reset the demo seat rather than improvising against learner state. End by naming the reasoning pattern that transfers to Lab 1. Timing: 4 minutes. Sources: C01, C02, C04, C05, C19.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a genuine readiness check, not a recap. Ask pairs to explain one item to each other. Resolve conceptual gaps now; do not reveal the incident’s solution sequence. Timing: 1 minute. Sources: C01, C02, C04, C05, C19.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facilitation: 15 minutes. Read the mission and acceptance evidence, then ask learners for the first inspection step. Advanced helper commands are explained in the lab’s Guided commands box. Support requests must include identity, host, directory, exact command, and unchanged output. Full task: labs/LAB_GUIDE.md.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Debrief Lab 1 without replaying commands. Ask one learner to explain the causal chain and another to identify the independent verification. Use the final sentence as the transition to Module 2. Timing: 1 minute. Sources: C01, C02, C04, C05, C19.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 open Module 2 with its operating question and scope. Invite one prediction, but do not evaluate prior knowledge publicly. Transition into the minimum model needed for Lab 2. Timing: 1 minute. Sources: C02, C03.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establish the first half of the Module 2 model. Explain the distinction in plain language, then use one concrete system example. Likely misconception: learners may treat related observations as interchangeable. Check: ask them to name which command or interface would answer each question. Timing: 2 minutes. Sources: C02, C03.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complete the conceptual model before commands appear. Use the second sentence to explain why the distinction matters operationally. Check for understanding with a prediction tied to the upcoming worked example. Timing: 2 minutes. Sources: C02, C03.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Build-up 1 for Module 2. Reveal the bullets progressively and connect each step to the prior slide. Use one short concrete example, then ask learners to predict the next step in the chain. Timing: 2 minutes. Sources: C02, C03.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example as data flow rather than keystrokes. Pause after each line and ask what evidence it produces. If learners cannot explain an operator or helper command, return to the labelled guided-command slide before continuing. Timing: 3 minutes. Sources: C02, C03.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only the question answered by each command. Demonstrate help for one command with --help or man. Clarify that commands labelled here are guided tools, not assumed prior knowledge. Timing: 2 minutes. Sources: C02, C03.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 2: use the dedicated instructor seat and the exact setup/cleanup in resources/LIVE_DEMOS.md. Keep the learner incident untouched. If setup evidence differs, stop and reset the demo seat rather than improvising against learner state. End by naming the reasoning pattern that transfers to Lab 2. Timing: 4 minutes. Sources: C02, C03.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a genuine readiness check, not a recap. Ask pairs to explain one item to each other. Resolve conceptual gaps now; do not reveal the incident’s solution sequence. Timing: 1 minute. Sources: C02, C03.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facilitation: 25 minutes. Read the mission and acceptance evidence, then ask learners for the first inspection step. Advanced helper commands are explained in the lab’s Guided commands box. Support requests must include identity, host, directory, exact command, and unchanged output. Full task: labs/LAB_GUIDE.md.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Debrief Lab 2 without replaying commands. Ask one learner to explain the causal chain and another to identify the independent verification. Use the final sentence as the transition to Module 3. Timing: 1 minute. Sources: C02, C03.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 open Module 3 with its operating question and scope. Invite one prediction, but do not evaluate prior knowledge publicly. Transition into the minimum model needed for Lab 3. Timing: 1 minute. Sources: C04, C05.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establish the first half of the Module 3 model. Explain the distinction in plain language, then use one concrete system example. Likely misconception: learners may treat related observations as interchangeable. Check: ask them to name which command or interface would answer each question. Timing: 2 minutes. Sources: C04, C05.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complete the conceptual model before commands appear. Use the second sentence to explain why the distinction matters operationally. Check for understanding with a prediction tied to the upcoming worked example. Timing: 2 minutes. Sources: C04, C05.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Build-up 1 for Module 3. Reveal the bullets progressively and connect each step to the prior slide. Use one short concrete example, then ask learners to predict the next step in the chain. Timing: 2 minutes. Sources: C04, C05.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example as data flow rather than keystrokes. Pause after each line and ask what evidence it produces. If learners cannot explain an operator or helper command, return to the labelled guided-command slide before continuing. Timing: 3 minutes. Sources: C04, C05.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only the question answered by each command. Demonstrate help for one command with --help or man. Clarify that commands labelled here are guided tools, not assumed prior knowledge. Timing: 2 minutes. Sources: C04, C05.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 3: use the dedicated instructor seat and the exact setup/cleanup in resources/LIVE_DEMOS.md. Keep the learner incident untouched. If setup evidence differs, stop and reset the demo seat rather than improvising against learner state. End by naming the reasoning pattern that transfers to Lab 3. Timing: 4 minutes. Sources: C04, C05.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a genuine readiness check, not a recap. Ask pairs to explain one item to each other. Resolve conceptual gaps now; do not reveal the incident’s solution sequence. Timing: 1 minute. Sources: C04, C05.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facilitation: 20 minutes. Read the mission and acceptance evidence, then ask learners for the first inspection step. Advanced helper commands are explained in the lab’s Guided commands box. Support requests must include identity, host, directory, exact command, and unchanged output. Full task: labs/LAB_GUIDE.md.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Debrief Lab 3 without replaying commands. Ask one learner to explain the causal chain and another to identify the independent verification. Use the final sentence as the transition to Module 4. Timing: 1 minute. Sources: C04, C05.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 open Module 4 with its operating question and scope. Invite one prediction, but do not evaluate prior knowledge publicly. Transition into the minimum model needed for Lab 4. Timing: 1 minute. Sources: C06.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establish the first half of the Module 4 model. Explain the distinction in plain language, then use one concrete system example. Likely misconception: learners may treat related observations as interchangeable. Check: ask them to name which command or interface would answer each question. Timing: 2 minutes. Sources: C06.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complete the conceptual model before commands appear. Use the second sentence to explain why the distinction matters operationally. Check for understanding with a prediction tied to the upcoming worked example. Timing: 2 minutes. Sources: C06.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Build-up 1 for Module 4. Reveal the bullets progressively and connect each step to the prior slide. Use one short concrete example, then ask learners to predict the next step in the chain. Timing: 2 minutes. Sources: C06.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example as data flow rather than keystrokes. Pause after each line and ask what evidence it produces. If learners cannot explain an operator or helper command, return to the labelled guided-command slide before continuing. Timing: 3 minutes. Sources: C06.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only the question answered by each command. Demonstrate help for one command with --help or man. Clarify that commands labelled here are guided tools, not assumed prior knowledge. Timing: 2 minutes. Sources: C06.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 4: use the dedicated instructor seat and the exact setup/cleanup in resources/LIVE_DEMOS.md. Keep the learner incident untouched. If setup evidence differs, stop and reset the demo seat rather than improvising against learner state. End by naming the reasoning pattern that transfers to Lab 4. Timing: 4 minutes. Sources: C06.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a genuine readiness check, not a recap. Ask pairs to explain one item to each other. Resolve conceptual gaps now; do not reveal the incident’s solution sequence. Timing: 1 minute. Sources: C06.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facilitation: 20 minutes. Read the mission and acceptance evidence, then ask learners for the first inspection step. Advanced helper commands are explained in the lab’s Guided commands box. Support requests must include identity, host, directory, exact command, and unchanged output. Full task: labs/LAB_GUIDE.md.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Debrief Lab 4 without replaying commands. Ask one learner to explain the causal chain and another to identify the independent verification. Use the final sentence as the transition to Module 5. Timing: 1 minute. Sources: C06.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 open Module 5 with its operating question and scope. Invite one prediction, but do not evaluate prior knowledge publicly. Transition into the minimum model needed for Lab 5. Timing: 1 minute. Sources: C07, C08.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establish the first half of the Module 5 model. Explain the distinction in plain language, then use one concrete system example. Likely misconception: learners may treat related observations as interchangeable. Check: ask them to name which command or interface would answer each question. Timing: 2 minutes. Sources: C07, C08.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complete the conceptual model before commands appear. Use the second sentence to explain why the distinction matters operationally. Check for understanding with a prediction tied to the upcoming worked example. Timing: 2 minutes. Sources: C07, C08.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Build-up 1 for Module 5. Reveal the bullets progressively and connect each step to the prior slide. Use one short concrete example, then ask learners to predict the next step in the chain. Timing: 2 minutes. Sources: C07, C08.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example as data flow rather than keystrokes. Pause after each line and ask what evidence it produces. If learners cannot explain an operator or helper command, return to the labelled guided-command slide before continuing. Timing: 3 minutes. Sources: C07, C08.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only the question answered by each command. Demonstrate help for one command with --help or man. Clarify that commands labelled here are guided tools, not assumed prior knowledge. Timing: 2 minutes. Sources: C07, C08.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 5: use the dedicated instructor seat and the exact setup/cleanup in resources/LIVE_DEMOS.md. Keep the learner incident untouched. If setup evidence differs, stop and reset the demo seat rather than improvising against learner state. End by naming the reasoning pattern that transfers to Lab 5. Timing: 4 minutes. Sources: C07, C08.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a genuine readiness check, not a recap. Ask pairs to explain one item to each other. Resolve conceptual gaps now; do not reveal the incident’s solution sequence. Timing: 1 minute. Sources: C07, C08.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facilitation: 30 minutes. Read the mission and acceptance evidence, then ask learners for the first inspection step. Advanced helper commands are explained in the lab’s Guided commands box. Support requests must include identity, host, directory, exact command, and unchanged output. Full task: labs/LAB_GUIDE.md.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Debrief Lab 5 without replaying commands. Ask one learner to explain the causal chain and another to identify the independent verification. Use the final sentence as the transition to Module 6. Timing: 1 minute. Sources: C07, C08.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 open Module 6 with its operating question and scope. Invite one prediction, but do not evaluate prior knowledge publicly. Transition into the minimum model needed for Lab 6. Timing: 1 minute. Sources: C09, C10.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establish the first half of the Module 6 model. Explain the distinction in plain language, then use one concrete system example. Likely misconception: learners may treat related observations as interchangeable. Check: ask them to name which command or interface would answer each question. Timing: 2 minutes. Sources: C09, C10.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complete the conceptual model before commands appear. Use the second sentence to explain why the distinction matters operationally. Check for understanding with a prediction tied to the upcoming worked example. Timing: 2 minutes. Sources: C09, C10.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Build-up 1 for Module 6. Reveal the bullets progressively and connect each step to the prior slide. Use one short concrete example, then ask learners to predict the next step in the chain. Timing: 2 minutes. Sources: C09, C10.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example as data flow rather than keystrokes. Pause after each line and ask what evidence it produces. If learners cannot explain an operator or helper command, return to the labelled guided-command slide before continuing. Timing: 3 minutes. Sources: C09, C10.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only the question answered by each command. Demonstrate help for one command with --help or man. Clarify that commands labelled here are guided tools, not assumed prior knowledge. Timing: 2 minutes. Sources: C09, C10.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 6: use the dedicated instructor seat and the exact setup/cleanup in resources/LIVE_DEMOS.md. Keep the learner incident untouched. If setup evidence differs, stop and reset the demo seat rather than improvising against learner state. End by naming the reasoning pattern that transfers to Lab 6. Timing: 4 minutes. Sources: C09, C10.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a genuine readiness check, not a recap. Ask pairs to explain one item to each other. Resolve conceptual gaps now; do not reveal the incident’s solution sequence. Timing: 1 minute. Sources: C09, C10.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facilitation: 25 minutes. Read the mission and acceptance evidence, then ask learners for the first inspection step. Advanced helper commands are explained in the lab’s Guided commands box. Support requests must include identity, host, directory, exact command, and unchanged output. Full task: labs/LAB_GUIDE.md.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Debrief Lab 6 without replaying commands. Ask one learner to explain the causal chain and another to identify the independent verification. Use the final sentence as the transition to Module 7. Timing: 1 minute. Sources: C09, C10.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 open Module 7 with its operating question and scope. Invite one prediction, but do not evaluate prior knowledge publicly. Transition into the minimum model needed for Lab 7. Timing: 1 minute. Sources: C11, C12.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establish the first half of the Module 7 model. Explain the distinction in plain language, then use one concrete system example. Likely misconception: learners may treat related observations as interchangeable. Check: ask them to name which command or interface would answer each question. Timing: 2 minutes. Sources: C11, C12.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complete the conceptual model before commands appear. Use the second sentence to explain why the distinction matters operationally. Check for understanding with a prediction tied to the upcoming worked example. Timing: 2 minutes. Sources: C11, C12.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Build-up 1 for Module 7. Reveal the bullets progressively and connect each step to the prior slide. Use one short concrete example, then ask learners to predict the next step in the chain. Timing: 2 minutes. Sources: C11, C12.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example as data flow rather than keystrokes. Pause after each line and ask what evidence it produces. If learners cannot explain an operator or helper command, return to the labelled guided-command slide before continuing. Timing: 3 minutes. Sources: C11, C12.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only the question answered by each command. Demonstrate help for one command with --help or man. Clarify that commands labelled here are guided tools, not assumed prior knowledge. Timing: 2 minutes. Sources: C11, C12.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 7: use the dedicated instructor seat and the exact setup/cleanup in resources/LIVE_DEMOS.md. Keep the learner incident untouched. If setup evidence differs, stop and reset the demo seat rather than improvising against learner state. End by naming the reasoning pattern that transfers to Lab 7. Timing: 4 minutes. Sources: C11, C12.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a genuine readiness check, not a recap. Ask pairs to explain one item to each other. Resolve conceptual gaps now; do not reveal the incident’s solution sequence. Timing: 1 minute. Sources: C11, C12.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facilitation: 20 minutes. Read the mission and acceptance evidence, then ask learners for the first inspection step. Advanced helper commands are explained in the lab’s Guided commands box. Support requests must include identity, host, directory, exact command, and unchanged output. Full task: labs/LAB_GUIDE.md.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Debrief Lab 7 without replaying commands. Ask one learner to explain the causal chain and another to identify the independent verification. Use the final sentence as the transition to Module 8. Timing: 1 minute. Sources: C11, C12.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 open Module 8 with its operating question and scope. Invite one prediction, but do not evaluate prior knowledge publicly. Transition into the minimum model needed for Lab 8. Timing: 1 minute. Sources: C12, C13.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establish the first half of the Module 8 model. Explain the distinction in plain language, then use one concrete system example. Likely misconception: learners may treat related observations as interchangeable. Check: ask them to name which command or interface would answer each question. Timing: 2 minutes. Sources: C12, C13.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complete the conceptual model before commands appear. Use the second sentence to explain why the distinction matters operationally. Check for understanding with a prediction tied to the upcoming worked example. Timing: 2 minutes. Sources: C12, C13.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Build-up 1 for Module 8. Reveal the bullets progressively and connect each step to the prior slide. Use one short concrete example, then ask learners to predict the next step in the chain. Timing: 2 minutes. Sources: C12, C13.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example as data flow rather than keystrokes. Pause after each line and ask what evidence it produces. If learners cannot explain an operator or helper command, return to the labelled guided-command slide before continuing. Timing: 3 minutes. Sources: C12, C13.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only the question answered by each command. Demonstrate help for one command with --help or man. Clarify that commands labelled here are guided tools, not assumed prior knowledge. Timing: 2 minutes. Sources: C12, C13.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 8: use the dedicated instructor seat and the exact setup/cleanup in resources/LIVE_DEMOS.md. Keep the learner incident untouched. If setup evidence differs, stop and reset the demo seat rather than improvising against learner state. End by naming the reasoning pattern that transfers to Lab 8. Timing: 4 minutes. Sources: C12, C13.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a genuine readiness check, not a recap. Ask pairs to explain one item to each other. Resolve conceptual gaps now; do not reveal the incident’s solution sequence. Timing: 1 minute. Sources: C12, C13.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facilitation: 25 minutes. Read the mission and acceptance evidence, then ask learners for the first inspection step. Advanced helper commands are explained in the lab’s Guided commands box. Support requests must include identity, host, directory, exact command, and unchanged output. Full task: labs/LAB_GUIDE.md.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Debrief Lab 8 without replaying commands. Ask one learner to explain the causal chain and another to identify the independent verification. Use the final sentence as the transition to Module 9. Timing: 1 minute. Sources: C12, C13.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 open Module 9 with its operating question and scope. Invite one prediction, but do not evaluate prior knowledge publicly. Transition into the minimum model needed for Lab 9. Timing: 1 minute. Sources: C12, C14, C15, C16.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establish the first half of the Module 9 model. Explain the distinction in plain language, then use one concrete system example. Likely misconception: learners may treat related observations as interchangeable. Check: ask them to name which command or interface would answer each question. Timing: 2 minutes. Sources: C12, C14, C15, C16.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complete the conceptual model before commands appear. Use the second sentence to explain why the distinction matters operationally. Check for understanding with a prediction tied to the upcoming worked example. Timing: 2 minutes. Sources: C12, C14, C15, C16.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Build-up 1 for Module 9. Reveal the bullets progressively and connect each step to the prior slide. Use one short concrete example, then ask learners to predict the next step in the chain. Timing: 2 minutes. Sources: C12, C14, C15, C16.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example as data flow rather than keystrokes. Pause after each line and ask what evidence it produces. If learners cannot explain an operator or helper command, return to the labelled guided-command slide before continuing. Timing: 3 minutes. Sources: C12, C14, C15, C16.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only the question answered by each command. Demonstrate help for one command with --help or man. Clarify that commands labelled here are guided tools, not assumed prior knowledge. Timing: 2 minutes. Sources: C12, C14, C15, C16.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 9: use the dedicated instructor seat and the exact setup/cleanup in resources/LIVE_DEMOS.md. Keep the learner incident untouched. If setup evidence differs, stop and reset the demo seat rather than improvising against learner state. End by naming the reasoning pattern that transfers to Lab 9. Timing: 4 minutes. Sources: C12, C14, C15, C16.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a genuine readiness check, not a recap. Ask pairs to explain one item to each other. Resolve conceptual gaps now; do not reveal the incident’s solution sequence. Timing: 1 minute. Sources: C12, C14, C15, C16.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facilitation: 15 minutes. Read the mission and acceptance evidence, then ask learners for the first inspection step. Advanced helper commands are explained in the lab’s Guided commands box. Support requests must include identity, host, directory, exact command, and unchanged output. Full task: labs/LAB_GUIDE.md.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Debrief Lab 9 without replaying commands. Ask one learner to explain the causal chain and another to identify the independent verification. Use the final sentence as the transition to Module 10. Timing: 1 minute. Sources: C12, C14, C15, C16.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 open Module 10 with its operating question and scope. Invite one prediction, but do not evaluate prior knowledge publicly. Transition into the minimum model needed for Lab 10. Timing: 1 minute. Sources: C13, C17, C18.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establish the first half of the Module 10 model. Explain the distinction in plain language, then use one concrete system example. Likely misconception: learners may treat related observations as interchangeable. Check: ask them to name which command or interface would answer each question. Timing: 2 minutes. Sources: C13, C17, C18.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complete the conceptual model before commands appear. Use the second sentence to explain why the distinction matters operationally. Check for understanding with a prediction tied to the upcoming worked example. Timing: 2 minutes. Sources: C13, C17, C18.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Build-up 1 for Module 10. Reveal the bullets progressively and connect each step to the prior slide. Use one short concrete example, then ask learners to predict the next step in the chain. Timing: 2 minutes. Sources: C13, C17, C18.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example as data flow rather than keystrokes. Pause after each line and ask what evidence it produces. If learners cannot explain an operator or helper command, return to the labelled guided-command slide before continuing. Timing: 3 minutes. Sources: C13, C17, C18.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only the question answered by each command. Demonstrate help for one command with --help or man. Clarify that commands labelled here are guided tools, not assumed prior knowledge. Timing: 2 minutes. Sources: C13, C17, C18.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 10: use the dedicated instructor seat and the exact setup/cleanup in resources/LIVE_DEMOS.md. Keep the learner incident untouched. If setup evidence differs, stop and reset the demo seat rather than improvising against learner state. End by naming the reasoning pattern that transfers to Lab 10. Timing: 4 minutes. Sources: C13, C17, C18.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a genuine readiness check, not a recap. Ask pairs to explain one item to each other. Resolve conceptual gaps now; do not reveal the incident’s solution sequence. Timing: 1 minute. Sources: C13, C17, C18.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 facilitation: 15 minutes. Read the mission and acceptance evidence, then ask learners for the first inspection step. Advanced helper commands are explained in the lab’s Guided commands box. Support requests must include identity, host, directory, exact command, and unchanged output. Full task: labs/LAB_GUIDE.md.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Debrief Lab 10 without replaying commands. Ask one learner to explain the causal chain and another to identify the independent verification. Use the final sentence as the transition to Module synthesis. Timing: 1 minute. Sources: C13, C17, C18.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Give pairs a fresh service scenario and 60 seconds to name the five evidence steps. Listen for identity, host, target, prediction, bounded change, event evidence, and client behavior. Timing: 4 minutes. Sources: C12–C18.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peer-check structure for the end-of-course assessment. Do not reward command volume; reward a coherent evidence chain and safe recovery choice. Timing: 3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delivery rule for schedule changes. Preserve the 50/50 teaching-to-practice balance instead of presenting detailed minute arithmetic. Never remove lab verification or teach a required concept for the first time inside the lab. Timing: 1 minute.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transfer rather than a generic thank-you. Invite learners to choose one practice task and state when they will do it. Timing: 2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Point learners to resources/CLAIM_LEDGER.md and the theory reader. Explain that manuals are authoritative while community courses provide inspiration and extra practice. Timing: 0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Resolve the opening promise. Invite final questions framed as evidence chains. Timing: 0 minutes.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19c929c7ae84dc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559143d5842470c" /><Relationship Type="http://schemas.openxmlformats.org/officeDocument/2006/relationships/slideLayout" Target="/ppt/slideLayouts/slideLayout1.xml" Id="R56355b858dd24d7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6355b858dd24d7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a041e52d6ca49a1" /><Relationship Type="http://schemas.openxmlformats.org/officeDocument/2006/relationships/image" Target="/ppt/media/image.png" Id="R44b749c5ce88461f" /><Relationship Type="http://schemas.openxmlformats.org/officeDocument/2006/relationships/notesSlide" Target="/ppt/notesSlides/notesSlide1.xml" Id="R44018059cda24c8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cf3aeaaf73c4b0b" /><Relationship Type="http://schemas.openxmlformats.org/officeDocument/2006/relationships/notesSlide" Target="/ppt/notesSlides/notesSlide2.xml" Id="R71241d1593624ab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3921317ebc1450b" /><Relationship Type="http://schemas.openxmlformats.org/officeDocument/2006/relationships/notesSlide" Target="/ppt/notesSlides/notesSlide3.xml" Id="R31876e5b5b94439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a84de3b445b4574" /><Relationship Type="http://schemas.openxmlformats.org/officeDocument/2006/relationships/notesSlide" Target="/ppt/notesSlides/notesSlide4.xml" Id="R6da7ddd5b23f44e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cb619c706274b62" /><Relationship Type="http://schemas.openxmlformats.org/officeDocument/2006/relationships/notesSlide" Target="/ppt/notesSlides/notesSlide5.xml" Id="Rfa9b2aa489884a5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abad69050ae4396" /><Relationship Type="http://schemas.openxmlformats.org/officeDocument/2006/relationships/notesSlide" Target="/ppt/notesSlides/notesSlide6.xml" Id="R46fca9ca6cbf45a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95434e1bc204b48" /><Relationship Type="http://schemas.openxmlformats.org/officeDocument/2006/relationships/notesSlide" Target="/ppt/notesSlides/notesSlide7.xml" Id="Rf4624d53f3a248f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71314e11b4f4fcc" /><Relationship Type="http://schemas.openxmlformats.org/officeDocument/2006/relationships/notesSlide" Target="/ppt/notesSlides/notesSlide8.xml" Id="R62d48ef7c2bc477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0e8769f1f4a4c18" /><Relationship Type="http://schemas.openxmlformats.org/officeDocument/2006/relationships/notesSlide" Target="/ppt/notesSlides/notesSlide9.xml" Id="Rf40ffcf210fe446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b0b6a87cd5e4672" /><Relationship Type="http://schemas.openxmlformats.org/officeDocument/2006/relationships/notesSlide" Target="/ppt/notesSlides/notesSlide10.xml" Id="R7e9bdfd64318442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ffd59d302c14466" /><Relationship Type="http://schemas.openxmlformats.org/officeDocument/2006/relationships/notesSlide" Target="/ppt/notesSlides/notesSlide11.xml" Id="Rf2c2e333f18d484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c5eceb7a7f44900" /><Relationship Type="http://schemas.openxmlformats.org/officeDocument/2006/relationships/notesSlide" Target="/ppt/notesSlides/notesSlide12.xml" Id="Racea501346a9416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2bfa332b6f6427c" /><Relationship Type="http://schemas.openxmlformats.org/officeDocument/2006/relationships/notesSlide" Target="/ppt/notesSlides/notesSlide13.xml" Id="R6c3d5198970341a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c52bcff28a145ad" /><Relationship Type="http://schemas.openxmlformats.org/officeDocument/2006/relationships/notesSlide" Target="/ppt/notesSlides/notesSlide14.xml" Id="Rf279d4d0565242a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c189b8d2d014e74" /><Relationship Type="http://schemas.openxmlformats.org/officeDocument/2006/relationships/notesSlide" Target="/ppt/notesSlides/notesSlide15.xml" Id="R948f861bc0c2421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8f325d496c5461c" /><Relationship Type="http://schemas.openxmlformats.org/officeDocument/2006/relationships/notesSlide" Target="/ppt/notesSlides/notesSlide16.xml" Id="R7686b5aaae3e455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c412ccaf20d54cfa" /><Relationship Type="http://schemas.openxmlformats.org/officeDocument/2006/relationships/notesSlide" Target="/ppt/notesSlides/notesSlide17.xml" Id="R85818d895261422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ee8d5584a71a4c17" /><Relationship Type="http://schemas.openxmlformats.org/officeDocument/2006/relationships/notesSlide" Target="/ppt/notesSlides/notesSlide18.xml" Id="Ra8d546e02486494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e26a4679ea6d4635" /><Relationship Type="http://schemas.openxmlformats.org/officeDocument/2006/relationships/notesSlide" Target="/ppt/notesSlides/notesSlide19.xml" Id="R38c81ba8699942b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2e828c8bbd8e41b9" /><Relationship Type="http://schemas.openxmlformats.org/officeDocument/2006/relationships/notesSlide" Target="/ppt/notesSlides/notesSlide20.xml" Id="R0b228c1a6f3749e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d3e87a4fc33d4de4" /><Relationship Type="http://schemas.openxmlformats.org/officeDocument/2006/relationships/notesSlide" Target="/ppt/notesSlides/notesSlide21.xml" Id="Reb138d8074954ee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6897992b7df04f19" /><Relationship Type="http://schemas.openxmlformats.org/officeDocument/2006/relationships/notesSlide" Target="/ppt/notesSlides/notesSlide22.xml" Id="Rbf171b56815149d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1b79ec6a88724c24" /><Relationship Type="http://schemas.openxmlformats.org/officeDocument/2006/relationships/notesSlide" Target="/ppt/notesSlides/notesSlide23.xml" Id="Rc9a4077ff46f4f2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141b9d26c78f4380" /><Relationship Type="http://schemas.openxmlformats.org/officeDocument/2006/relationships/notesSlide" Target="/ppt/notesSlides/notesSlide24.xml" Id="R3ef56ccfc99b4f3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84047544e73a44d7" /><Relationship Type="http://schemas.openxmlformats.org/officeDocument/2006/relationships/notesSlide" Target="/ppt/notesSlides/notesSlide25.xml" Id="R86655fb27fd74b3a"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5e839998271f4144" /><Relationship Type="http://schemas.openxmlformats.org/officeDocument/2006/relationships/notesSlide" Target="/ppt/notesSlides/notesSlide26.xml" Id="R7d88c3aa7f9446a3"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6f24efe929894a51" /><Relationship Type="http://schemas.openxmlformats.org/officeDocument/2006/relationships/notesSlide" Target="/ppt/notesSlides/notesSlide27.xml" Id="R99bc687600b0478f"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088e45d1e4f84a45" /><Relationship Type="http://schemas.openxmlformats.org/officeDocument/2006/relationships/notesSlide" Target="/ppt/notesSlides/notesSlide28.xml" Id="Re24f0545eef845d7"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34f79271595c420b" /><Relationship Type="http://schemas.openxmlformats.org/officeDocument/2006/relationships/notesSlide" Target="/ppt/notesSlides/notesSlide29.xml" Id="Re1aa9fdc92ce4c1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aab144403a1b40ec" /><Relationship Type="http://schemas.openxmlformats.org/officeDocument/2006/relationships/notesSlide" Target="/ppt/notesSlides/notesSlide30.xml" Id="R6f9bac7c345442bb"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db6d2d64c7074094" /><Relationship Type="http://schemas.openxmlformats.org/officeDocument/2006/relationships/notesSlide" Target="/ppt/notesSlides/notesSlide31.xml" Id="R9ee810ff07b04f12"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dc69bea9751f466a" /><Relationship Type="http://schemas.openxmlformats.org/officeDocument/2006/relationships/notesSlide" Target="/ppt/notesSlides/notesSlide32.xml" Id="R32cd6d9a09514d88"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d72c8f2211344c52" /><Relationship Type="http://schemas.openxmlformats.org/officeDocument/2006/relationships/notesSlide" Target="/ppt/notesSlides/notesSlide33.xml" Id="R2495656c6f054c08"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4e7e6f70dce7419b" /><Relationship Type="http://schemas.openxmlformats.org/officeDocument/2006/relationships/notesSlide" Target="/ppt/notesSlides/notesSlide34.xml" Id="R871e68c77fa54ee0"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7316ea436cd3439b" /><Relationship Type="http://schemas.openxmlformats.org/officeDocument/2006/relationships/notesSlide" Target="/ppt/notesSlides/notesSlide35.xml" Id="Rf5e4a2b5d8b546f7"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4701dfaf4a074d1d" /><Relationship Type="http://schemas.openxmlformats.org/officeDocument/2006/relationships/notesSlide" Target="/ppt/notesSlides/notesSlide36.xml" Id="R8702732214c747b4"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4618ae9332764da7" /><Relationship Type="http://schemas.openxmlformats.org/officeDocument/2006/relationships/notesSlide" Target="/ppt/notesSlides/notesSlide37.xml" Id="Rdff80d990d8c4cd9"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bc7b3d8979fb4967" /><Relationship Type="http://schemas.openxmlformats.org/officeDocument/2006/relationships/notesSlide" Target="/ppt/notesSlides/notesSlide38.xml" Id="R73bd3cf5cf434096"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9e1f944d54c64dc1" /><Relationship Type="http://schemas.openxmlformats.org/officeDocument/2006/relationships/notesSlide" Target="/ppt/notesSlides/notesSlide39.xml" Id="R6ed2f1a6afe74017"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21352a3162c14599" /><Relationship Type="http://schemas.openxmlformats.org/officeDocument/2006/relationships/notesSlide" Target="/ppt/notesSlides/notesSlide40.xml" Id="R15a7ca6fc5d54948"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b17adf3a7d7941d9" /><Relationship Type="http://schemas.openxmlformats.org/officeDocument/2006/relationships/notesSlide" Target="/ppt/notesSlides/notesSlide41.xml" Id="R3cb7af9a24f641b7"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12412e1a3c154f99" /><Relationship Type="http://schemas.openxmlformats.org/officeDocument/2006/relationships/notesSlide" Target="/ppt/notesSlides/notesSlide42.xml" Id="R1a2a827cced5469e"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8130cefa96664b26" /><Relationship Type="http://schemas.openxmlformats.org/officeDocument/2006/relationships/notesSlide" Target="/ppt/notesSlides/notesSlide43.xml" Id="Recb184839b6a4f6b"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333bfd3bd880477d" /><Relationship Type="http://schemas.openxmlformats.org/officeDocument/2006/relationships/notesSlide" Target="/ppt/notesSlides/notesSlide44.xml" Id="Rd9fd74408242453d"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0e50f795e7af4e4c" /><Relationship Type="http://schemas.openxmlformats.org/officeDocument/2006/relationships/notesSlide" Target="/ppt/notesSlides/notesSlide45.xml" Id="R02bec479806b47b3"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d58247dce1ec4a6f" /><Relationship Type="http://schemas.openxmlformats.org/officeDocument/2006/relationships/notesSlide" Target="/ppt/notesSlides/notesSlide46.xml" Id="R5a77ea1f5937445e"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f3d402a8569e4f75" /><Relationship Type="http://schemas.openxmlformats.org/officeDocument/2006/relationships/notesSlide" Target="/ppt/notesSlides/notesSlide47.xml" Id="R08d6dfdfc5d6440e"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273fef180c6d418b" /><Relationship Type="http://schemas.openxmlformats.org/officeDocument/2006/relationships/notesSlide" Target="/ppt/notesSlides/notesSlide48.xml" Id="R7e367fc90d774fe8"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07911ce0dd2c4269" /><Relationship Type="http://schemas.openxmlformats.org/officeDocument/2006/relationships/notesSlide" Target="/ppt/notesSlides/notesSlide49.xml" Id="R28a4095058574d8b"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d424529487dd484d" /><Relationship Type="http://schemas.openxmlformats.org/officeDocument/2006/relationships/notesSlide" Target="/ppt/notesSlides/notesSlide50.xml" Id="Raf0cbe7637f84fbf"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101c6b223e08490e" /><Relationship Type="http://schemas.openxmlformats.org/officeDocument/2006/relationships/notesSlide" Target="/ppt/notesSlides/notesSlide51.xml" Id="R469670271c674b7c"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8ee5ac1789d845c2" /><Relationship Type="http://schemas.openxmlformats.org/officeDocument/2006/relationships/notesSlide" Target="/ppt/notesSlides/notesSlide52.xml" Id="Rc6e8c209f0274dd2"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a8ec4de2f9124688" /><Relationship Type="http://schemas.openxmlformats.org/officeDocument/2006/relationships/notesSlide" Target="/ppt/notesSlides/notesSlide53.xml" Id="Rb5345c56f7bd4349"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7bc06e324f614af2" /><Relationship Type="http://schemas.openxmlformats.org/officeDocument/2006/relationships/notesSlide" Target="/ppt/notesSlides/notesSlide54.xml" Id="Rd8fa87360b9a4289"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ef820376d766415d" /><Relationship Type="http://schemas.openxmlformats.org/officeDocument/2006/relationships/notesSlide" Target="/ppt/notesSlides/notesSlide55.xml" Id="Ra022113cd2a44ca4"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bf1e78ecc6a44a83" /><Relationship Type="http://schemas.openxmlformats.org/officeDocument/2006/relationships/notesSlide" Target="/ppt/notesSlides/notesSlide56.xml" Id="R05a181cd6a4c40d2"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1abd0e8cc1534fc2" /><Relationship Type="http://schemas.openxmlformats.org/officeDocument/2006/relationships/notesSlide" Target="/ppt/notesSlides/notesSlide57.xml" Id="R53e6a0c2ff874917"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f1a49e4c8f5c4b7e" /><Relationship Type="http://schemas.openxmlformats.org/officeDocument/2006/relationships/notesSlide" Target="/ppt/notesSlides/notesSlide58.xml" Id="Re2f679918b554161"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3bdfef1fe3af4229" /><Relationship Type="http://schemas.openxmlformats.org/officeDocument/2006/relationships/notesSlide" Target="/ppt/notesSlides/notesSlide59.xml" Id="R95b3f2262da141fc"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5832cb4b6d9f4799" /><Relationship Type="http://schemas.openxmlformats.org/officeDocument/2006/relationships/notesSlide" Target="/ppt/notesSlides/notesSlide60.xml" Id="R8d69f9249e87424c"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8ac64c40c83a4fdc" /><Relationship Type="http://schemas.openxmlformats.org/officeDocument/2006/relationships/notesSlide" Target="/ppt/notesSlides/notesSlide61.xml" Id="R4efdd690a78a4781"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c1abff7b7ec8458b" /><Relationship Type="http://schemas.openxmlformats.org/officeDocument/2006/relationships/notesSlide" Target="/ppt/notesSlides/notesSlide62.xml" Id="R248a02efcb674f58"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3dee97e448194533" /><Relationship Type="http://schemas.openxmlformats.org/officeDocument/2006/relationships/notesSlide" Target="/ppt/notesSlides/notesSlide63.xml" Id="R50d09daccbfa4299"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35bf25bab166441b" /><Relationship Type="http://schemas.openxmlformats.org/officeDocument/2006/relationships/notesSlide" Target="/ppt/notesSlides/notesSlide64.xml" Id="R5bf620a8e0554776"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ee3a07be94754f49" /><Relationship Type="http://schemas.openxmlformats.org/officeDocument/2006/relationships/notesSlide" Target="/ppt/notesSlides/notesSlide65.xml" Id="R75eb43eb93034ac4"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43b9545357f44392" /><Relationship Type="http://schemas.openxmlformats.org/officeDocument/2006/relationships/notesSlide" Target="/ppt/notesSlides/notesSlide66.xml" Id="R888369255980446c"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fe8149abb4da451b" /><Relationship Type="http://schemas.openxmlformats.org/officeDocument/2006/relationships/notesSlide" Target="/ppt/notesSlides/notesSlide67.xml" Id="Rb78ecc62c94f4150"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bd90199c81a24515" /><Relationship Type="http://schemas.openxmlformats.org/officeDocument/2006/relationships/notesSlide" Target="/ppt/notesSlides/notesSlide68.xml" Id="R4d02e85933ca40e9"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4231776fd8a04463" /><Relationship Type="http://schemas.openxmlformats.org/officeDocument/2006/relationships/notesSlide" Target="/ppt/notesSlides/notesSlide69.xml" Id="Radcb2fb7de8d455c"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8690a5a1f7884a72" /><Relationship Type="http://schemas.openxmlformats.org/officeDocument/2006/relationships/notesSlide" Target="/ppt/notesSlides/notesSlide70.xml" Id="R5e6245858eb0456c"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2e8266206143483f" /><Relationship Type="http://schemas.openxmlformats.org/officeDocument/2006/relationships/notesSlide" Target="/ppt/notesSlides/notesSlide71.xml" Id="R36471d8998c74061"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28aeeabc94284159" /><Relationship Type="http://schemas.openxmlformats.org/officeDocument/2006/relationships/notesSlide" Target="/ppt/notesSlides/notesSlide72.xml" Id="R050b81e2e5e94d32"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2fd4e9033f864e47" /><Relationship Type="http://schemas.openxmlformats.org/officeDocument/2006/relationships/notesSlide" Target="/ppt/notesSlides/notesSlide73.xml" Id="R0613403645c44b9e"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d9eb0ec59f2842c2" /><Relationship Type="http://schemas.openxmlformats.org/officeDocument/2006/relationships/notesSlide" Target="/ppt/notesSlides/notesSlide74.xml" Id="R8d14d26876a149a6"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d7deae12afab4fed" /><Relationship Type="http://schemas.openxmlformats.org/officeDocument/2006/relationships/notesSlide" Target="/ppt/notesSlides/notesSlide75.xml" Id="R64a6826d4a9e49e4"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cec545fbf3354484" /><Relationship Type="http://schemas.openxmlformats.org/officeDocument/2006/relationships/notesSlide" Target="/ppt/notesSlides/notesSlide76.xml" Id="R0ba37920c4eb4fde"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0eab924908af48db" /><Relationship Type="http://schemas.openxmlformats.org/officeDocument/2006/relationships/notesSlide" Target="/ppt/notesSlides/notesSlide77.xml" Id="R3d076299e0cc4466"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bddd51d01b5c4201" /><Relationship Type="http://schemas.openxmlformats.org/officeDocument/2006/relationships/notesSlide" Target="/ppt/notesSlides/notesSlide78.xml" Id="Rc07c36de71d34a2e"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4586eb6663834f69" /><Relationship Type="http://schemas.openxmlformats.org/officeDocument/2006/relationships/notesSlide" Target="/ppt/notesSlides/notesSlide79.xml" Id="R24e200314a704fa1"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71d8fc013d194763" /><Relationship Type="http://schemas.openxmlformats.org/officeDocument/2006/relationships/notesSlide" Target="/ppt/notesSlides/notesSlide80.xml" Id="R01fd0b1a08c94be4"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3e58755b0d5d44ab" /><Relationship Type="http://schemas.openxmlformats.org/officeDocument/2006/relationships/notesSlide" Target="/ppt/notesSlides/notesSlide81.xml" Id="R181fd4c14b1e4371"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9eb490766dca4950" /><Relationship Type="http://schemas.openxmlformats.org/officeDocument/2006/relationships/notesSlide" Target="/ppt/notesSlides/notesSlide82.xml" Id="R5d701aa2152a4374"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6a652c6aa0ce48fb" /><Relationship Type="http://schemas.openxmlformats.org/officeDocument/2006/relationships/notesSlide" Target="/ppt/notesSlides/notesSlide83.xml" Id="R7591c6e529f74ea7"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d0fee55d3b6e42a6" /><Relationship Type="http://schemas.openxmlformats.org/officeDocument/2006/relationships/notesSlide" Target="/ppt/notesSlides/notesSlide84.xml" Id="Reaf19e92ec8942a3"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2566a86c11004bbd" /><Relationship Type="http://schemas.openxmlformats.org/officeDocument/2006/relationships/notesSlide" Target="/ppt/notesSlides/notesSlide85.xml" Id="Rc2eb0179b65e420e"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ac312e716a504045" /><Relationship Type="http://schemas.openxmlformats.org/officeDocument/2006/relationships/notesSlide" Target="/ppt/notesSlides/notesSlide86.xml" Id="R031fb43752564a6f"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a9de6164f25c4792" /><Relationship Type="http://schemas.openxmlformats.org/officeDocument/2006/relationships/notesSlide" Target="/ppt/notesSlides/notesSlide87.xml" Id="R4b93b5d9f4b9492d"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ae3757ca8dc346ad" /><Relationship Type="http://schemas.openxmlformats.org/officeDocument/2006/relationships/notesSlide" Target="/ppt/notesSlides/notesSlide88.xml" Id="Rbd3e3f85ed524371"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b784058780124dcb" /><Relationship Type="http://schemas.openxmlformats.org/officeDocument/2006/relationships/notesSlide" Target="/ppt/notesSlides/notesSlide89.xml" Id="Rcc72f285a19c45d7"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15fda8cea7264b9f" /><Relationship Type="http://schemas.openxmlformats.org/officeDocument/2006/relationships/notesSlide" Target="/ppt/notesSlides/notesSlide90.xml" Id="R630b2d1f5c824544"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b93e281ba49a4be5" /><Relationship Type="http://schemas.openxmlformats.org/officeDocument/2006/relationships/notesSlide" Target="/ppt/notesSlides/notesSlide91.xml" Id="R0fc1126ed21b4415"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ee8e13c1fc8d4bc1" /><Relationship Type="http://schemas.openxmlformats.org/officeDocument/2006/relationships/notesSlide" Target="/ppt/notesSlides/notesSlide92.xml" Id="R1de54cff561c4b9c"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ce735c5e9fdc458d" /><Relationship Type="http://schemas.openxmlformats.org/officeDocument/2006/relationships/notesSlide" Target="/ppt/notesSlides/notesSlide93.xml" Id="R36e0cbc5a2eb4c01"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c4fda8dd440a437a" /><Relationship Type="http://schemas.openxmlformats.org/officeDocument/2006/relationships/notesSlide" Target="/ppt/notesSlides/notesSlide94.xml" Id="R0fbe14f1c25c4fc0"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8e76474939eb411f" /><Relationship Type="http://schemas.openxmlformats.org/officeDocument/2006/relationships/notesSlide" Target="/ppt/notesSlides/notesSlide95.xml" Id="Reb7578f3a3a84435"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6d7ffa1c43d2480a" /><Relationship Type="http://schemas.openxmlformats.org/officeDocument/2006/relationships/notesSlide" Target="/ppt/notesSlides/notesSlide96.xml" Id="R332cf00368e34dea"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c6033d7f029246b9" /><Relationship Type="http://schemas.openxmlformats.org/officeDocument/2006/relationships/notesSlide" Target="/ppt/notesSlides/notesSlide97.xml" Id="R160c56fae619424f"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bfde0ff55f1e4715" /><Relationship Type="http://schemas.openxmlformats.org/officeDocument/2006/relationships/notesSlide" Target="/ppt/notesSlides/notesSlide98.xml" Id="R96dcff3c426744a4"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f485f6d934514017" /><Relationship Type="http://schemas.openxmlformats.org/officeDocument/2006/relationships/notesSlide" Target="/ppt/notesSlides/notesSlide99.xml" Id="R1caa13396faf4a8d"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49799d984a0645e1" /><Relationship Type="http://schemas.openxmlformats.org/officeDocument/2006/relationships/notesSlide" Target="/ppt/notesSlides/notesSlide100.xml" Id="R1b70b66e93794b34"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782522fef42942b5" /><Relationship Type="http://schemas.openxmlformats.org/officeDocument/2006/relationships/notesSlide" Target="/ppt/notesSlides/notesSlide101.xml" Id="Re32ed29880294189"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1.xml" Id="Rbb042a6068824052" /><Relationship Type="http://schemas.openxmlformats.org/officeDocument/2006/relationships/notesSlide" Target="/ppt/notesSlides/notesSlide102.xml" Id="Rb9a3eaf34bd745e3" /></Relationships>
</file>

<file path=ppt/slides/_rels/slide103.xml.rels>&#65279;<?xml version="1.0" encoding="utf-8"?><Relationships xmlns="http://schemas.openxmlformats.org/package/2006/relationships"><Relationship Type="http://schemas.openxmlformats.org/officeDocument/2006/relationships/slideLayout" Target="/ppt/slideLayouts/slideLayout1.xml" Id="Re79e96b673e44279" /><Relationship Type="http://schemas.openxmlformats.org/officeDocument/2006/relationships/notesSlide" Target="/ppt/notesSlides/notesSlide103.xml" Id="R6569d514233642de" /></Relationships>
</file>

<file path=ppt/slides/_rels/slide104.xml.rels>&#65279;<?xml version="1.0" encoding="utf-8"?><Relationships xmlns="http://schemas.openxmlformats.org/package/2006/relationships"><Relationship Type="http://schemas.openxmlformats.org/officeDocument/2006/relationships/slideLayout" Target="/ppt/slideLayouts/slideLayout1.xml" Id="R5f143d52a98d426a" /><Relationship Type="http://schemas.openxmlformats.org/officeDocument/2006/relationships/notesSlide" Target="/ppt/notesSlides/notesSlide104.xml" Id="R0ddc0d3905f940e5" /></Relationships>
</file>

<file path=ppt/slides/_rels/slide105.xml.rels>&#65279;<?xml version="1.0" encoding="utf-8"?><Relationships xmlns="http://schemas.openxmlformats.org/package/2006/relationships"><Relationship Type="http://schemas.openxmlformats.org/officeDocument/2006/relationships/slideLayout" Target="/ppt/slideLayouts/slideLayout1.xml" Id="R861d6b742e374a26" /><Relationship Type="http://schemas.openxmlformats.org/officeDocument/2006/relationships/notesSlide" Target="/ppt/notesSlides/notesSlide105.xml" Id="R773565f38925436a" /></Relationships>
</file>

<file path=ppt/slides/_rels/slide106.xml.rels>&#65279;<?xml version="1.0" encoding="utf-8"?><Relationships xmlns="http://schemas.openxmlformats.org/package/2006/relationships"><Relationship Type="http://schemas.openxmlformats.org/officeDocument/2006/relationships/slideLayout" Target="/ppt/slideLayouts/slideLayout1.xml" Id="Rf942f85019ef413b" /><Relationship Type="http://schemas.openxmlformats.org/officeDocument/2006/relationships/notesSlide" Target="/ppt/notesSlides/notesSlide106.xml" Id="R2031c44ee1fc4d0e" /></Relationships>
</file>

<file path=ppt/slides/_rels/slide107.xml.rels>&#65279;<?xml version="1.0" encoding="utf-8"?><Relationships xmlns="http://schemas.openxmlformats.org/package/2006/relationships"><Relationship Type="http://schemas.openxmlformats.org/officeDocument/2006/relationships/slideLayout" Target="/ppt/slideLayouts/slideLayout1.xml" Id="Rffd9afbeb4f4475d" /><Relationship Type="http://schemas.openxmlformats.org/officeDocument/2006/relationships/notesSlide" Target="/ppt/notesSlides/notesSlide107.xml" Id="R522a01f33a184358" /></Relationships>
</file>

<file path=ppt/slides/_rels/slide108.xml.rels>&#65279;<?xml version="1.0" encoding="utf-8"?><Relationships xmlns="http://schemas.openxmlformats.org/package/2006/relationships"><Relationship Type="http://schemas.openxmlformats.org/officeDocument/2006/relationships/slideLayout" Target="/ppt/slideLayouts/slideLayout1.xml" Id="Ra2bda7cf72d4422f" /><Relationship Type="http://schemas.openxmlformats.org/officeDocument/2006/relationships/notesSlide" Target="/ppt/notesSlides/notesSlide108.xml" Id="R090d18f4f9cc4a3d" /></Relationships>
</file>

<file path=ppt/slides/_rels/slide109.xml.rels>&#65279;<?xml version="1.0" encoding="utf-8"?><Relationships xmlns="http://schemas.openxmlformats.org/package/2006/relationships"><Relationship Type="http://schemas.openxmlformats.org/officeDocument/2006/relationships/slideLayout" Target="/ppt/slideLayouts/slideLayout1.xml" Id="R660b5d1908b24426" /><Relationship Type="http://schemas.openxmlformats.org/officeDocument/2006/relationships/notesSlide" Target="/ppt/notesSlides/notesSlide109.xml" Id="Rb7cb4b9e73b54c49" /></Relationships>
</file>

<file path=ppt/slides/_rels/slide110.xml.rels>&#65279;<?xml version="1.0" encoding="utf-8"?><Relationships xmlns="http://schemas.openxmlformats.org/package/2006/relationships"><Relationship Type="http://schemas.openxmlformats.org/officeDocument/2006/relationships/slideLayout" Target="/ppt/slideLayouts/slideLayout1.xml" Id="Rc2a5d67308364d09" /><Relationship Type="http://schemas.openxmlformats.org/officeDocument/2006/relationships/notesSlide" Target="/ppt/notesSlides/notesSlide110.xml" Id="R7fb65b4fa1084959" /></Relationships>
</file>

<file path=ppt/slides/_rels/slide111.xml.rels>&#65279;<?xml version="1.0" encoding="utf-8"?><Relationships xmlns="http://schemas.openxmlformats.org/package/2006/relationships"><Relationship Type="http://schemas.openxmlformats.org/officeDocument/2006/relationships/slideLayout" Target="/ppt/slideLayouts/slideLayout1.xml" Id="R9da3cad1e8c24621" /><Relationship Type="http://schemas.openxmlformats.org/officeDocument/2006/relationships/notesSlide" Target="/ppt/notesSlides/notesSlide111.xml" Id="Rc605dd0ae3d44cd4" /></Relationships>
</file>

<file path=ppt/slides/_rels/slide112.xml.rels>&#65279;<?xml version="1.0" encoding="utf-8"?><Relationships xmlns="http://schemas.openxmlformats.org/package/2006/relationships"><Relationship Type="http://schemas.openxmlformats.org/officeDocument/2006/relationships/slideLayout" Target="/ppt/slideLayouts/slideLayout1.xml" Id="R18e8b818cc134e36" /><Relationship Type="http://schemas.openxmlformats.org/officeDocument/2006/relationships/notesSlide" Target="/ppt/notesSlides/notesSlide112.xml" Id="R6242ffc06acc4568" /></Relationships>
</file>

<file path=ppt/slides/slide1.xml><?xml version="1.0" encoding="utf-8"?>
<p:sld xmlns:p="http://schemas.openxmlformats.org/presentationml/2006/main">
  <p:cSld>
    <p:bg>
      <p:bgPr>
        <a:solidFill xmlns:a="http://schemas.openxmlformats.org/drawingml/2006/main">
          <a:srgbClr val="180D2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C7C9AF9-4BD5-4F47-9EB4-797C0635FFC5}"/>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FF6F6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ECDC6A9-ADA2-40C9-8480-BAAA03C3BFFA}"/>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FF6F61"/>
                </a:solidFill>
              </a:defRPr>
            </a:pPr>
            <a:r>
              <a:rPr sz="900" b="1">
                <a:solidFill>
                  <a:srgbClr val="FF6F61"/>
                </a:solidFill>
              </a:rPr>
              <a:t>LINUX FOUNDATIONS</a:t>
            </a:r>
          </a:p>
        </p:txBody>
      </p:sp>
      <p:sp>
        <p:nvSpPr>
          <p:cNvPr id="3" name="">
            <a:extLst xmlns:a="http://schemas.openxmlformats.org/drawingml/2006/main">
              <a:ext uri="{FF2B5EF4-FFF2-40B4-BE49-F238E27FC236}">
                <a16:creationId xmlns:a16="http://schemas.microsoft.com/office/drawing/2014/main" id="{FA952FA8-C4C3-432C-8DDD-EA8A171A75DD}"/>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CFC5D5"/>
                </a:solidFill>
              </a:defRPr>
            </a:pPr>
            <a:r>
              <a:rPr sz="825" b="1">
                <a:solidFill>
                  <a:srgbClr val="CFC5D5"/>
                </a:solidFill>
              </a:rPr>
              <a:t>LINUX FOUNDATIONS</a:t>
            </a:r>
          </a:p>
        </p:txBody>
      </p:sp>
      <p:sp>
        <p:nvSpPr>
          <p:cNvPr id="4" name="">
            <a:extLst xmlns:a="http://schemas.openxmlformats.org/drawingml/2006/main">
              <a:ext uri="{FF2B5EF4-FFF2-40B4-BE49-F238E27FC236}">
                <a16:creationId xmlns:a16="http://schemas.microsoft.com/office/drawing/2014/main" id="{DEE6255C-B148-467B-869D-52FD35216271}"/>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AFA2B8"/>
                </a:solidFill>
              </a:defRPr>
            </a:pPr>
            <a:r>
              <a:rPr sz="825" b="0">
                <a:solidFill>
                  <a:srgbClr val="AFA2B8"/>
                </a:solidFill>
              </a:rPr>
              <a:t>01</a:t>
            </a:r>
          </a:p>
        </p:txBody>
      </p:sp>
      <p:sp>
        <p:nvSpPr>
          <p:cNvPr id="5" name="">
            <a:extLst xmlns:a="http://schemas.openxmlformats.org/drawingml/2006/main">
              <a:ext uri="{FF2B5EF4-FFF2-40B4-BE49-F238E27FC236}">
                <a16:creationId xmlns:a16="http://schemas.microsoft.com/office/drawing/2014/main" id="{61450DB8-36B4-4E6A-B00E-0B7254ED2461}"/>
              </a:ext>
            </a:extLst>
          </p:cNvPr>
          <p:cNvSpPr>
            <a:spLocks xmlns:a="http://schemas.openxmlformats.org/drawingml/2006/main" noGrp="1"/>
          </p:cNvSpPr>
          <p:nvPr/>
        </p:nvSpPr>
        <p:spPr>
          <a:xfrm xmlns:a="http://schemas.openxmlformats.org/drawingml/2006/main">
            <a:off x="666750" y="1352550"/>
            <a:ext cx="6858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4050" b="1">
                <a:solidFill>
                  <a:srgbClr val="FFFFFF"/>
                </a:solidFill>
              </a:defRPr>
            </a:pPr>
            <a:r>
              <a:rPr sz="4050" b="1">
                <a:solidFill>
                  <a:srgbClr val="FFFFFF"/>
                </a:solidFill>
              </a:rPr>
              <a:t>Linux Foundations</a:t>
            </a:r>
          </a:p>
        </p:txBody>
      </p:sp>
      <p:sp>
        <p:nvSpPr>
          <p:cNvPr id="6" name="">
            <a:extLst xmlns:a="http://schemas.openxmlformats.org/drawingml/2006/main">
              <a:ext uri="{FF2B5EF4-FFF2-40B4-BE49-F238E27FC236}">
                <a16:creationId xmlns:a16="http://schemas.microsoft.com/office/drawing/2014/main" id="{CBB27878-DBD8-4D9D-B441-A18CB11ED647}"/>
              </a:ext>
            </a:extLst>
          </p:cNvPr>
          <p:cNvSpPr>
            <a:spLocks xmlns:a="http://schemas.openxmlformats.org/drawingml/2006/main" noGrp="1"/>
          </p:cNvSpPr>
          <p:nvPr/>
        </p:nvSpPr>
        <p:spPr>
          <a:xfrm xmlns:a="http://schemas.openxmlformats.org/drawingml/2006/main">
            <a:off x="666750" y="2333625"/>
            <a:ext cx="7239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100" b="0">
                <a:solidFill>
                  <a:srgbClr val="F3EAF5"/>
                </a:solidFill>
              </a:defRPr>
            </a:pPr>
            <a:r>
              <a:rPr sz="2100" b="0">
                <a:solidFill>
                  <a:srgbClr val="F3EAF5"/>
                </a:solidFill>
              </a:rPr>
              <a:t>Operate the system. Trust the evidence.</a:t>
            </a:r>
          </a:p>
        </p:txBody>
      </p:sp>
      <p:sp>
        <p:nvSpPr>
          <p:cNvPr id="7" name="">
            <a:extLst xmlns:a="http://schemas.openxmlformats.org/drawingml/2006/main">
              <a:ext uri="{FF2B5EF4-FFF2-40B4-BE49-F238E27FC236}">
                <a16:creationId xmlns:a16="http://schemas.microsoft.com/office/drawing/2014/main" id="{A1A4361C-DBEA-471D-801A-33FDF007E85E}"/>
              </a:ext>
            </a:extLst>
          </p:cNvPr>
          <p:cNvSpPr>
            <a:spLocks xmlns:a="http://schemas.openxmlformats.org/drawingml/2006/main" noGrp="1"/>
          </p:cNvSpPr>
          <p:nvPr/>
        </p:nvSpPr>
        <p:spPr>
          <a:xfrm xmlns:a="http://schemas.openxmlformats.org/drawingml/2006/main">
            <a:off x="666750" y="3238500"/>
            <a:ext cx="7810500" cy="38100"/>
          </a:xfrm>
          <a:prstGeom xmlns:a="http://schemas.openxmlformats.org/drawingml/2006/main" prst="rect">
            <a:avLst/>
          </a:prstGeom>
          <a:solidFill xmlns:a="http://schemas.openxmlformats.org/drawingml/2006/main">
            <a:srgbClr val="FF6F61"/>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78468CB-8C3F-42A4-83D8-6264FC7925E8}"/>
              </a:ext>
            </a:extLst>
          </p:cNvPr>
          <p:cNvSpPr>
            <a:spLocks xmlns:a="http://schemas.openxmlformats.org/drawingml/2006/main" noGrp="1"/>
          </p:cNvSpPr>
          <p:nvPr/>
        </p:nvSpPr>
        <p:spPr>
          <a:xfrm xmlns:a="http://schemas.openxmlformats.org/drawingml/2006/main">
            <a:off x="666750" y="3524250"/>
            <a:ext cx="8096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D4C6DA"/>
                </a:solidFill>
              </a:defRPr>
            </a:pPr>
            <a:r>
              <a:rPr sz="1575" b="0">
                <a:solidFill>
                  <a:srgbClr val="D4C6DA"/>
                </a:solidFill>
              </a:rPr>
              <a:t>Ten concept → demo → lab cycles · 50% guided teaching · 50% hands-on practice</a:t>
            </a:r>
          </a:p>
        </p:txBody>
      </p:sp>
      <p:sp>
        <p:nvSpPr>
          <p:cNvPr id="9" name="">
            <a:extLst xmlns:a="http://schemas.openxmlformats.org/drawingml/2006/main">
              <a:ext uri="{FF2B5EF4-FFF2-40B4-BE49-F238E27FC236}">
                <a16:creationId xmlns:a16="http://schemas.microsoft.com/office/drawing/2014/main" id="{0458D372-3764-4D9B-B0C5-05CC03D72457}"/>
              </a:ext>
            </a:extLst>
          </p:cNvPr>
          <p:cNvSpPr>
            <a:spLocks xmlns:a="http://schemas.openxmlformats.org/drawingml/2006/main" noGrp="1"/>
          </p:cNvSpPr>
          <p:nvPr/>
        </p:nvSpPr>
        <p:spPr>
          <a:xfrm xmlns:a="http://schemas.openxmlformats.org/drawingml/2006/main">
            <a:off x="9096375" y="1381125"/>
            <a:ext cx="1714500" cy="3429000"/>
          </a:xfrm>
          <a:prstGeom xmlns:a="http://schemas.openxmlformats.org/drawingml/2006/main" prst="roundRect">
            <a:avLst>
              <a:gd name="adj" fmla="val 6667"/>
            </a:avLst>
          </a:prstGeom>
          <a:solidFill xmlns:a="http://schemas.openxmlformats.org/drawingml/2006/main">
            <a:srgbClr val="7650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F612B30-4CE9-49FE-A5A7-072390234826}"/>
              </a:ext>
            </a:extLst>
          </p:cNvPr>
          <p:cNvSpPr>
            <a:spLocks xmlns:a="http://schemas.openxmlformats.org/drawingml/2006/main" noGrp="1"/>
          </p:cNvSpPr>
          <p:nvPr/>
        </p:nvSpPr>
        <p:spPr>
          <a:xfrm xmlns:a="http://schemas.openxmlformats.org/drawingml/2006/main">
            <a:off x="9429750" y="1809750"/>
            <a:ext cx="1047750" cy="2619375"/>
          </a:xfrm>
          <a:prstGeom xmlns:a="http://schemas.openxmlformats.org/drawingml/2006/main" prst="roundRect">
            <a:avLst>
              <a:gd name="adj" fmla="val 10909"/>
            </a:avLst>
          </a:prstGeom>
          <a:solidFill xmlns:a="http://schemas.openxmlformats.org/drawingml/2006/main">
            <a:srgbClr val="FF6F61"/>
          </a:solidFill>
          <a:ln xmlns:a="http://schemas.openxmlformats.org/drawingml/2006/main" w="0">
            <a:no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44b749c5ce88461f"/>
          <a:srcRect xmlns:a="http://schemas.openxmlformats.org/drawingml/2006/main" l="30084" t="0" r="30084" b="0"/>
          <a:stretch xmlns:a="http://schemas.openxmlformats.org/drawingml/2006/main">
            <a:fillRect l="0" t="0" r="0" b="0"/>
          </a:stretch>
        </p:blipFill>
        <p:spPr>
          <a:xfrm xmlns:a="http://schemas.openxmlformats.org/drawingml/2006/main">
            <a:off x="8572500" y="1123950"/>
            <a:ext cx="2952750" cy="4171950"/>
          </a:xfrm>
          <a:prstGeom xmlns:a="http://schemas.openxmlformats.org/drawingml/2006/main" prst="roundRect">
            <a:avLst>
              <a:gd name="adj" fmla="val 3871"/>
            </a:avLst>
          </a:prstGeom>
        </p:spPr>
      </p:pic>
    </p:spTree>
    <p:extLst>
      <p:ext uri="{BB962C8B-B14F-4D97-AF65-F5344CB8AC3E}">
        <p14:creationId xmlns:p14="http://schemas.microsoft.com/office/powerpoint/2010/main" val="76582918"/>
      </p:ext>
    </p:extLst>
  </p:cSld>
</p:sld>
</file>

<file path=ppt/slides/slide2.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FFAD903-9F0F-4CEC-B898-DCED446E8383}"/>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4BE32DD-996F-4669-9869-06A329415AD6}"/>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OUTCOMES</a:t>
            </a:r>
          </a:p>
        </p:txBody>
      </p:sp>
      <p:sp>
        <p:nvSpPr>
          <p:cNvPr id="3" name="">
            <a:extLst xmlns:a="http://schemas.openxmlformats.org/drawingml/2006/main">
              <a:ext uri="{FF2B5EF4-FFF2-40B4-BE49-F238E27FC236}">
                <a16:creationId xmlns:a16="http://schemas.microsoft.com/office/drawing/2014/main" id="{65595749-74F7-4D1E-9BCA-0B34D4BBD39A}"/>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DD4E9757-230E-4867-990A-209E1B9401DA}"/>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02</a:t>
            </a:r>
          </a:p>
        </p:txBody>
      </p:sp>
      <p:sp>
        <p:nvSpPr>
          <p:cNvPr id="5" name="">
            <a:extLst xmlns:a="http://schemas.openxmlformats.org/drawingml/2006/main">
              <a:ext uri="{FF2B5EF4-FFF2-40B4-BE49-F238E27FC236}">
                <a16:creationId xmlns:a16="http://schemas.microsoft.com/office/drawing/2014/main" id="{C03B5A35-C33F-45AA-8C38-CB44F43C06A5}"/>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By the end, you can explain state before changing it</a:t>
            </a:r>
          </a:p>
        </p:txBody>
      </p:sp>
      <p:sp>
        <p:nvSpPr>
          <p:cNvPr id="6" name="">
            <a:extLst xmlns:a="http://schemas.openxmlformats.org/drawingml/2006/main">
              <a:ext uri="{FF2B5EF4-FFF2-40B4-BE49-F238E27FC236}">
                <a16:creationId xmlns:a16="http://schemas.microsoft.com/office/drawing/2014/main" id="{09FBF61A-0A07-41BE-A5E9-99F34DBEBBF9}"/>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You will locate context, predict a result, make one bounded change, and verify it through an independent view.</a:t>
            </a:r>
          </a:p>
        </p:txBody>
      </p:sp>
      <p:sp>
        <p:nvSpPr>
          <p:cNvPr id="7" name="">
            <a:extLst xmlns:a="http://schemas.openxmlformats.org/drawingml/2006/main">
              <a:ext uri="{FF2B5EF4-FFF2-40B4-BE49-F238E27FC236}">
                <a16:creationId xmlns:a16="http://schemas.microsoft.com/office/drawing/2014/main" id="{C110BBCC-F2AD-4732-965C-A2B853BC9CB0}"/>
              </a:ext>
            </a:extLst>
          </p:cNvPr>
          <p:cNvSpPr>
            <a:spLocks xmlns:a="http://schemas.openxmlformats.org/drawingml/2006/main" noGrp="1"/>
          </p:cNvSpPr>
          <p:nvPr/>
        </p:nvSpPr>
        <p:spPr>
          <a:xfrm xmlns:a="http://schemas.openxmlformats.org/drawingml/2006/main">
            <a:off x="781050" y="29051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629D8E5-2D76-49FB-81F7-434B81800137}"/>
              </a:ext>
            </a:extLst>
          </p:cNvPr>
          <p:cNvSpPr>
            <a:spLocks xmlns:a="http://schemas.openxmlformats.org/drawingml/2006/main" noGrp="1"/>
          </p:cNvSpPr>
          <p:nvPr/>
        </p:nvSpPr>
        <p:spPr>
          <a:xfrm xmlns:a="http://schemas.openxmlformats.org/drawingml/2006/main">
            <a:off x="1028700" y="26479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Navigate files and shell input</a:t>
            </a:r>
          </a:p>
        </p:txBody>
      </p:sp>
      <p:sp>
        <p:nvSpPr>
          <p:cNvPr id="9" name="">
            <a:extLst xmlns:a="http://schemas.openxmlformats.org/drawingml/2006/main">
              <a:ext uri="{FF2B5EF4-FFF2-40B4-BE49-F238E27FC236}">
                <a16:creationId xmlns:a16="http://schemas.microsoft.com/office/drawing/2014/main" id="{86F8A136-83B4-4361-A261-A41E82AF9E4F}"/>
              </a:ext>
            </a:extLst>
          </p:cNvPr>
          <p:cNvSpPr>
            <a:spLocks xmlns:a="http://schemas.openxmlformats.org/drawingml/2006/main" noGrp="1"/>
          </p:cNvSpPr>
          <p:nvPr/>
        </p:nvSpPr>
        <p:spPr>
          <a:xfrm xmlns:a="http://schemas.openxmlformats.org/drawingml/2006/main">
            <a:off x="781050" y="355282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6F59F9C-FFAC-4E5D-ACCB-747ED7DA4619}"/>
              </a:ext>
            </a:extLst>
          </p:cNvPr>
          <p:cNvSpPr>
            <a:spLocks xmlns:a="http://schemas.openxmlformats.org/drawingml/2006/main" noGrp="1"/>
          </p:cNvSpPr>
          <p:nvPr/>
        </p:nvSpPr>
        <p:spPr>
          <a:xfrm xmlns:a="http://schemas.openxmlformats.org/drawingml/2006/main">
            <a:off x="1028700" y="32956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Control software and access safely</a:t>
            </a:r>
          </a:p>
        </p:txBody>
      </p:sp>
      <p:sp>
        <p:nvSpPr>
          <p:cNvPr id="11" name="">
            <a:extLst xmlns:a="http://schemas.openxmlformats.org/drawingml/2006/main">
              <a:ext uri="{FF2B5EF4-FFF2-40B4-BE49-F238E27FC236}">
                <a16:creationId xmlns:a16="http://schemas.microsoft.com/office/drawing/2014/main" id="{CEF61879-B3E5-45BF-BE71-73435E40723E}"/>
              </a:ext>
            </a:extLst>
          </p:cNvPr>
          <p:cNvSpPr>
            <a:spLocks xmlns:a="http://schemas.openxmlformats.org/drawingml/2006/main" noGrp="1"/>
          </p:cNvSpPr>
          <p:nvPr/>
        </p:nvSpPr>
        <p:spPr>
          <a:xfrm xmlns:a="http://schemas.openxmlformats.org/drawingml/2006/main">
            <a:off x="781050" y="42005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9D5D5ED-645C-48D3-9B2E-283C6CAF5776}"/>
              </a:ext>
            </a:extLst>
          </p:cNvPr>
          <p:cNvSpPr>
            <a:spLocks xmlns:a="http://schemas.openxmlformats.org/drawingml/2006/main" noGrp="1"/>
          </p:cNvSpPr>
          <p:nvPr/>
        </p:nvSpPr>
        <p:spPr>
          <a:xfrm xmlns:a="http://schemas.openxmlformats.org/drawingml/2006/main">
            <a:off x="1028700" y="39433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Diagnose services from evidence</a:t>
            </a:r>
          </a:p>
        </p:txBody>
      </p:sp>
    </p:spTree>
    <p:extLst>
      <p:ext uri="{BB962C8B-B14F-4D97-AF65-F5344CB8AC3E}">
        <p14:creationId xmlns:p14="http://schemas.microsoft.com/office/powerpoint/2010/main" val="609499073"/>
      </p:ext>
    </p:extLst>
  </p:cSld>
</p:sld>
</file>

<file path=ppt/slides/slide3.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97ECAEF-5946-44DF-AA59-B0274A00C618}"/>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57CF52A-AA20-4451-943A-DC556D7C7025}"/>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COURSE MAP</a:t>
            </a:r>
          </a:p>
        </p:txBody>
      </p:sp>
      <p:sp>
        <p:nvSpPr>
          <p:cNvPr id="3" name="">
            <a:extLst xmlns:a="http://schemas.openxmlformats.org/drawingml/2006/main">
              <a:ext uri="{FF2B5EF4-FFF2-40B4-BE49-F238E27FC236}">
                <a16:creationId xmlns:a16="http://schemas.microsoft.com/office/drawing/2014/main" id="{5D630340-25CF-436D-B1DD-54D10FFB65B3}"/>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763AB22B-9490-407D-A28F-525C74D9A8B8}"/>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03</a:t>
            </a:r>
          </a:p>
        </p:txBody>
      </p:sp>
      <p:sp>
        <p:nvSpPr>
          <p:cNvPr id="5" name="">
            <a:extLst xmlns:a="http://schemas.openxmlformats.org/drawingml/2006/main">
              <a:ext uri="{FF2B5EF4-FFF2-40B4-BE49-F238E27FC236}">
                <a16:creationId xmlns:a16="http://schemas.microsoft.com/office/drawing/2014/main" id="{A102C059-6000-4F96-9604-CD40A4B082C3}"/>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Every module closes the same reasoning loop</a:t>
            </a:r>
          </a:p>
        </p:txBody>
      </p:sp>
      <p:sp>
        <p:nvSpPr>
          <p:cNvPr id="6" name="">
            <a:extLst xmlns:a="http://schemas.openxmlformats.org/drawingml/2006/main">
              <a:ext uri="{FF2B5EF4-FFF2-40B4-BE49-F238E27FC236}">
                <a16:creationId xmlns:a16="http://schemas.microsoft.com/office/drawing/2014/main" id="{0E493B47-DD2A-47A1-B136-380BA3416390}"/>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Context → concept model → worked example → live demo → learner lab → debrief</a:t>
            </a:r>
          </a:p>
        </p:txBody>
      </p:sp>
      <p:sp>
        <p:nvSpPr>
          <p:cNvPr id="7" name="">
            <a:extLst xmlns:a="http://schemas.openxmlformats.org/drawingml/2006/main">
              <a:ext uri="{FF2B5EF4-FFF2-40B4-BE49-F238E27FC236}">
                <a16:creationId xmlns:a16="http://schemas.microsoft.com/office/drawing/2014/main" id="{B24CD605-CCE8-45B9-B7E8-590BD96DDE84}"/>
              </a:ext>
            </a:extLst>
          </p:cNvPr>
          <p:cNvSpPr>
            <a:spLocks xmlns:a="http://schemas.openxmlformats.org/drawingml/2006/main" noGrp="1"/>
          </p:cNvSpPr>
          <p:nvPr/>
        </p:nvSpPr>
        <p:spPr>
          <a:xfrm xmlns:a="http://schemas.openxmlformats.org/drawingml/2006/main">
            <a:off x="781050" y="29051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6536BDA-044C-44C0-9648-C907BF944376}"/>
              </a:ext>
            </a:extLst>
          </p:cNvPr>
          <p:cNvSpPr>
            <a:spLocks xmlns:a="http://schemas.openxmlformats.org/drawingml/2006/main" noGrp="1"/>
          </p:cNvSpPr>
          <p:nvPr/>
        </p:nvSpPr>
        <p:spPr>
          <a:xfrm xmlns:a="http://schemas.openxmlformats.org/drawingml/2006/main">
            <a:off x="1028700" y="26479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50% guided concepts and demonstrations</a:t>
            </a:r>
          </a:p>
        </p:txBody>
      </p:sp>
      <p:sp>
        <p:nvSpPr>
          <p:cNvPr id="9" name="">
            <a:extLst xmlns:a="http://schemas.openxmlformats.org/drawingml/2006/main">
              <a:ext uri="{FF2B5EF4-FFF2-40B4-BE49-F238E27FC236}">
                <a16:creationId xmlns:a16="http://schemas.microsoft.com/office/drawing/2014/main" id="{4E3A033B-74BF-4CD3-B736-9EBC86B83C80}"/>
              </a:ext>
            </a:extLst>
          </p:cNvPr>
          <p:cNvSpPr>
            <a:spLocks xmlns:a="http://schemas.openxmlformats.org/drawingml/2006/main" noGrp="1"/>
          </p:cNvSpPr>
          <p:nvPr/>
        </p:nvSpPr>
        <p:spPr>
          <a:xfrm xmlns:a="http://schemas.openxmlformats.org/drawingml/2006/main">
            <a:off x="781050" y="355282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A0C6C7F-5D4A-497D-83FF-E425BECAFAB9}"/>
              </a:ext>
            </a:extLst>
          </p:cNvPr>
          <p:cNvSpPr>
            <a:spLocks xmlns:a="http://schemas.openxmlformats.org/drawingml/2006/main" noGrp="1"/>
          </p:cNvSpPr>
          <p:nvPr/>
        </p:nvSpPr>
        <p:spPr>
          <a:xfrm xmlns:a="http://schemas.openxmlformats.org/drawingml/2006/main">
            <a:off x="1028700" y="32956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50% hands-on learner incidents</a:t>
            </a:r>
          </a:p>
        </p:txBody>
      </p:sp>
      <p:sp>
        <p:nvSpPr>
          <p:cNvPr id="11" name="">
            <a:extLst xmlns:a="http://schemas.openxmlformats.org/drawingml/2006/main">
              <a:ext uri="{FF2B5EF4-FFF2-40B4-BE49-F238E27FC236}">
                <a16:creationId xmlns:a16="http://schemas.microsoft.com/office/drawing/2014/main" id="{8E9082E0-E241-4274-8EBB-A028003CFA2A}"/>
              </a:ext>
            </a:extLst>
          </p:cNvPr>
          <p:cNvSpPr>
            <a:spLocks xmlns:a="http://schemas.openxmlformats.org/drawingml/2006/main" noGrp="1"/>
          </p:cNvSpPr>
          <p:nvPr/>
        </p:nvSpPr>
        <p:spPr>
          <a:xfrm xmlns:a="http://schemas.openxmlformats.org/drawingml/2006/main">
            <a:off x="781050" y="42005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606B8AF-4FF1-4400-B16A-1B0969787F5C}"/>
              </a:ext>
            </a:extLst>
          </p:cNvPr>
          <p:cNvSpPr>
            <a:spLocks xmlns:a="http://schemas.openxmlformats.org/drawingml/2006/main" noGrp="1"/>
          </p:cNvSpPr>
          <p:nvPr/>
        </p:nvSpPr>
        <p:spPr>
          <a:xfrm xmlns:a="http://schemas.openxmlformats.org/drawingml/2006/main">
            <a:off x="1028700" y="39433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Every lab follows its prerequisite model</a:t>
            </a:r>
          </a:p>
        </p:txBody>
      </p:sp>
    </p:spTree>
    <p:extLst>
      <p:ext uri="{BB962C8B-B14F-4D97-AF65-F5344CB8AC3E}">
        <p14:creationId xmlns:p14="http://schemas.microsoft.com/office/powerpoint/2010/main" val="1984726956"/>
      </p:ext>
    </p:extLst>
  </p:cSld>
</p:sld>
</file>

<file path=ppt/slides/slide4.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C840226-A20B-4C9A-A886-A24E8C22E203}"/>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8189787-C2D2-4449-9C4B-4100D4ADB15D}"/>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HOW TO LEARN</a:t>
            </a:r>
          </a:p>
        </p:txBody>
      </p:sp>
      <p:sp>
        <p:nvSpPr>
          <p:cNvPr id="3" name="">
            <a:extLst xmlns:a="http://schemas.openxmlformats.org/drawingml/2006/main">
              <a:ext uri="{FF2B5EF4-FFF2-40B4-BE49-F238E27FC236}">
                <a16:creationId xmlns:a16="http://schemas.microsoft.com/office/drawing/2014/main" id="{1329B2A4-8B24-41E0-972B-CCA78223BD75}"/>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604CAE4F-93CE-489D-8A06-5ED83851534F}"/>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04</a:t>
            </a:r>
          </a:p>
        </p:txBody>
      </p:sp>
      <p:sp>
        <p:nvSpPr>
          <p:cNvPr id="5" name="">
            <a:extLst xmlns:a="http://schemas.openxmlformats.org/drawingml/2006/main">
              <a:ext uri="{FF2B5EF4-FFF2-40B4-BE49-F238E27FC236}">
                <a16:creationId xmlns:a16="http://schemas.microsoft.com/office/drawing/2014/main" id="{D3A8C0A6-A76D-48E2-80C3-D3CA860BCF73}"/>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Predict first; type second; verify last</a:t>
            </a:r>
          </a:p>
        </p:txBody>
      </p:sp>
      <p:sp>
        <p:nvSpPr>
          <p:cNvPr id="6" name="">
            <a:extLst xmlns:a="http://schemas.openxmlformats.org/drawingml/2006/main">
              <a:ext uri="{FF2B5EF4-FFF2-40B4-BE49-F238E27FC236}">
                <a16:creationId xmlns:a16="http://schemas.microsoft.com/office/drawing/2014/main" id="{8EAB4550-4EFA-4F47-9B39-ED550AB40CFF}"/>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When stuck, capture whoami, hostname, pwd, the exact command, unchanged output, and exit status.</a:t>
            </a:r>
          </a:p>
        </p:txBody>
      </p:sp>
      <p:sp>
        <p:nvSpPr>
          <p:cNvPr id="7" name="">
            <a:extLst xmlns:a="http://schemas.openxmlformats.org/drawingml/2006/main">
              <a:ext uri="{FF2B5EF4-FFF2-40B4-BE49-F238E27FC236}">
                <a16:creationId xmlns:a16="http://schemas.microsoft.com/office/drawing/2014/main" id="{AF7D4541-C80A-4549-8C1C-57D6D292160A}"/>
              </a:ext>
            </a:extLst>
          </p:cNvPr>
          <p:cNvSpPr>
            <a:spLocks xmlns:a="http://schemas.openxmlformats.org/drawingml/2006/main" noGrp="1"/>
          </p:cNvSpPr>
          <p:nvPr/>
        </p:nvSpPr>
        <p:spPr>
          <a:xfrm xmlns:a="http://schemas.openxmlformats.org/drawingml/2006/main">
            <a:off x="781050" y="29051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BCB73C3-B0DA-45FA-BA9E-D66706DCCDC1}"/>
              </a:ext>
            </a:extLst>
          </p:cNvPr>
          <p:cNvSpPr>
            <a:spLocks xmlns:a="http://schemas.openxmlformats.org/drawingml/2006/main" noGrp="1"/>
          </p:cNvSpPr>
          <p:nvPr/>
        </p:nvSpPr>
        <p:spPr>
          <a:xfrm xmlns:a="http://schemas.openxmlformats.org/drawingml/2006/main">
            <a:off x="1028700" y="26479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Do not add sudo to silence an error</a:t>
            </a:r>
          </a:p>
        </p:txBody>
      </p:sp>
      <p:sp>
        <p:nvSpPr>
          <p:cNvPr id="9" name="">
            <a:extLst xmlns:a="http://schemas.openxmlformats.org/drawingml/2006/main">
              <a:ext uri="{FF2B5EF4-FFF2-40B4-BE49-F238E27FC236}">
                <a16:creationId xmlns:a16="http://schemas.microsoft.com/office/drawing/2014/main" id="{E5C514A1-0EB9-469A-A7FE-7CED82340981}"/>
              </a:ext>
            </a:extLst>
          </p:cNvPr>
          <p:cNvSpPr>
            <a:spLocks xmlns:a="http://schemas.openxmlformats.org/drawingml/2006/main" noGrp="1"/>
          </p:cNvSpPr>
          <p:nvPr/>
        </p:nvSpPr>
        <p:spPr>
          <a:xfrm xmlns:a="http://schemas.openxmlformats.org/drawingml/2006/main">
            <a:off x="781050" y="355282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B2EF9D3-EDC9-44FA-BC09-1C97BDB521FA}"/>
              </a:ext>
            </a:extLst>
          </p:cNvPr>
          <p:cNvSpPr>
            <a:spLocks xmlns:a="http://schemas.openxmlformats.org/drawingml/2006/main" noGrp="1"/>
          </p:cNvSpPr>
          <p:nvPr/>
        </p:nvSpPr>
        <p:spPr>
          <a:xfrm xmlns:a="http://schemas.openxmlformats.org/drawingml/2006/main">
            <a:off x="1028700" y="32956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Do not hide diagnostics with 2&gt;/dev/null</a:t>
            </a:r>
          </a:p>
        </p:txBody>
      </p:sp>
      <p:sp>
        <p:nvSpPr>
          <p:cNvPr id="11" name="">
            <a:extLst xmlns:a="http://schemas.openxmlformats.org/drawingml/2006/main">
              <a:ext uri="{FF2B5EF4-FFF2-40B4-BE49-F238E27FC236}">
                <a16:creationId xmlns:a16="http://schemas.microsoft.com/office/drawing/2014/main" id="{492AF453-6601-44FE-8535-55B3D7915EDD}"/>
              </a:ext>
            </a:extLst>
          </p:cNvPr>
          <p:cNvSpPr>
            <a:spLocks xmlns:a="http://schemas.openxmlformats.org/drawingml/2006/main" noGrp="1"/>
          </p:cNvSpPr>
          <p:nvPr/>
        </p:nvSpPr>
        <p:spPr>
          <a:xfrm xmlns:a="http://schemas.openxmlformats.org/drawingml/2006/main">
            <a:off x="781050" y="42005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16C9251-CCC4-46E8-9479-5651CF5DB9ED}"/>
              </a:ext>
            </a:extLst>
          </p:cNvPr>
          <p:cNvSpPr>
            <a:spLocks xmlns:a="http://schemas.openxmlformats.org/drawingml/2006/main" noGrp="1"/>
          </p:cNvSpPr>
          <p:nvPr/>
        </p:nvSpPr>
        <p:spPr>
          <a:xfrm xmlns:a="http://schemas.openxmlformats.org/drawingml/2006/main">
            <a:off x="1028700" y="39433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Reset only the assigned lab when recovery is needed</a:t>
            </a:r>
          </a:p>
        </p:txBody>
      </p:sp>
    </p:spTree>
    <p:extLst>
      <p:ext uri="{BB962C8B-B14F-4D97-AF65-F5344CB8AC3E}">
        <p14:creationId xmlns:p14="http://schemas.microsoft.com/office/powerpoint/2010/main" val="363486607"/>
      </p:ext>
    </p:extLst>
  </p:cSld>
</p:sld>
</file>

<file path=ppt/slides/slide5.xml><?xml version="1.0" encoding="utf-8"?>
<p:sld xmlns:p="http://schemas.openxmlformats.org/presentationml/2006/main">
  <p:cSld>
    <p:bg>
      <p:bgPr>
        <a:solidFill xmlns:a="http://schemas.openxmlformats.org/drawingml/2006/main">
          <a:srgbClr val="180D2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E6B30E9-B033-41E6-B74C-072789958402}"/>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FF6F6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0DFE004-394D-49CE-973E-66ED792BCA30}"/>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FF6F61"/>
                </a:solidFill>
              </a:defRPr>
            </a:pPr>
            <a:r>
              <a:rPr sz="900" b="1">
                <a:solidFill>
                  <a:srgbClr val="FF6F61"/>
                </a:solidFill>
              </a:rPr>
              <a:t>MODULE 1</a:t>
            </a:r>
          </a:p>
        </p:txBody>
      </p:sp>
      <p:sp>
        <p:nvSpPr>
          <p:cNvPr id="3" name="">
            <a:extLst xmlns:a="http://schemas.openxmlformats.org/drawingml/2006/main">
              <a:ext uri="{FF2B5EF4-FFF2-40B4-BE49-F238E27FC236}">
                <a16:creationId xmlns:a16="http://schemas.microsoft.com/office/drawing/2014/main" id="{8482D36A-499F-4D2B-9536-9F1F886D0728}"/>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CFC5D5"/>
                </a:solidFill>
              </a:defRPr>
            </a:pPr>
            <a:r>
              <a:rPr sz="825" b="1">
                <a:solidFill>
                  <a:srgbClr val="CFC5D5"/>
                </a:solidFill>
              </a:rPr>
              <a:t>LINUX FOUNDATIONS</a:t>
            </a:r>
          </a:p>
        </p:txBody>
      </p:sp>
      <p:sp>
        <p:nvSpPr>
          <p:cNvPr id="4" name="">
            <a:extLst xmlns:a="http://schemas.openxmlformats.org/drawingml/2006/main">
              <a:ext uri="{FF2B5EF4-FFF2-40B4-BE49-F238E27FC236}">
                <a16:creationId xmlns:a16="http://schemas.microsoft.com/office/drawing/2014/main" id="{47563265-EFEE-4B1E-80B9-194EAED66080}"/>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AFA2B8"/>
                </a:solidFill>
              </a:defRPr>
            </a:pPr>
            <a:r>
              <a:rPr sz="825" b="0">
                <a:solidFill>
                  <a:srgbClr val="AFA2B8"/>
                </a:solidFill>
              </a:rPr>
              <a:t>05</a:t>
            </a:r>
          </a:p>
        </p:txBody>
      </p:sp>
      <p:sp>
        <p:nvSpPr>
          <p:cNvPr id="5" name="">
            <a:extLst xmlns:a="http://schemas.openxmlformats.org/drawingml/2006/main">
              <a:ext uri="{FF2B5EF4-FFF2-40B4-BE49-F238E27FC236}">
                <a16:creationId xmlns:a16="http://schemas.microsoft.com/office/drawing/2014/main" id="{B4E275F3-4F60-4A7A-A044-C7A4D69C2DC0}"/>
              </a:ext>
            </a:extLst>
          </p:cNvPr>
          <p:cNvSpPr>
            <a:spLocks xmlns:a="http://schemas.openxmlformats.org/drawingml/2006/main" noGrp="1"/>
          </p:cNvSpPr>
          <p:nvPr/>
        </p:nvSpPr>
        <p:spPr>
          <a:xfrm xmlns:a="http://schemas.openxmlformats.org/drawingml/2006/main">
            <a:off x="666750" y="1123950"/>
            <a:ext cx="1524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5400" b="1">
                <a:solidFill>
                  <a:srgbClr val="FF6F61"/>
                </a:solidFill>
              </a:defRPr>
            </a:pPr>
            <a:r>
              <a:rPr sz="5400" b="1">
                <a:solidFill>
                  <a:srgbClr val="FF6F61"/>
                </a:solidFill>
              </a:rPr>
              <a:t>01</a:t>
            </a:r>
          </a:p>
        </p:txBody>
      </p:sp>
      <p:sp>
        <p:nvSpPr>
          <p:cNvPr id="6" name="">
            <a:extLst xmlns:a="http://schemas.openxmlformats.org/drawingml/2006/main">
              <a:ext uri="{FF2B5EF4-FFF2-40B4-BE49-F238E27FC236}">
                <a16:creationId xmlns:a16="http://schemas.microsoft.com/office/drawing/2014/main" id="{CB8212BC-DE0D-4463-AC1B-6DE3E3F1CE2E}"/>
              </a:ext>
            </a:extLst>
          </p:cNvPr>
          <p:cNvSpPr>
            <a:spLocks xmlns:a="http://schemas.openxmlformats.org/drawingml/2006/main" noGrp="1"/>
          </p:cNvSpPr>
          <p:nvPr/>
        </p:nvSpPr>
        <p:spPr>
          <a:xfrm xmlns:a="http://schemas.openxmlformats.org/drawingml/2006/main">
            <a:off x="2381250" y="1123950"/>
            <a:ext cx="8096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150" b="1">
                <a:solidFill>
                  <a:srgbClr val="FFFFFF"/>
                </a:solidFill>
              </a:defRPr>
            </a:pPr>
            <a:r>
              <a:rPr sz="3150" b="1">
                <a:solidFill>
                  <a:srgbClr val="FFFFFF"/>
                </a:solidFill>
              </a:rPr>
              <a:t>System boundaries and terminal survival</a:t>
            </a:r>
          </a:p>
        </p:txBody>
      </p:sp>
      <p:sp>
        <p:nvSpPr>
          <p:cNvPr id="7" name="">
            <a:extLst xmlns:a="http://schemas.openxmlformats.org/drawingml/2006/main">
              <a:ext uri="{FF2B5EF4-FFF2-40B4-BE49-F238E27FC236}">
                <a16:creationId xmlns:a16="http://schemas.microsoft.com/office/drawing/2014/main" id="{FAD183F3-1337-46F9-9657-241756412572}"/>
              </a:ext>
            </a:extLst>
          </p:cNvPr>
          <p:cNvSpPr>
            <a:spLocks xmlns:a="http://schemas.openxmlformats.org/drawingml/2006/main" noGrp="1"/>
          </p:cNvSpPr>
          <p:nvPr/>
        </p:nvSpPr>
        <p:spPr>
          <a:xfrm xmlns:a="http://schemas.openxmlformats.org/drawingml/2006/main">
            <a:off x="2381250" y="2400300"/>
            <a:ext cx="7810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950" b="0">
                <a:solidFill>
                  <a:srgbClr val="E9DFED"/>
                </a:solidFill>
              </a:defRPr>
            </a:pPr>
            <a:r>
              <a:rPr sz="1950" b="0">
                <a:solidFill>
                  <a:srgbClr val="E9DFED"/>
                </a:solidFill>
              </a:rPr>
              <a:t>Which system am I operating, and how does the shell turn text into work?</a:t>
            </a:r>
          </a:p>
        </p:txBody>
      </p:sp>
      <p:sp>
        <p:nvSpPr>
          <p:cNvPr id="8" name="">
            <a:extLst xmlns:a="http://schemas.openxmlformats.org/drawingml/2006/main">
              <a:ext uri="{FF2B5EF4-FFF2-40B4-BE49-F238E27FC236}">
                <a16:creationId xmlns:a16="http://schemas.microsoft.com/office/drawing/2014/main" id="{C17F2499-FE95-4C6F-88D4-A45ED2B37184}"/>
              </a:ext>
            </a:extLst>
          </p:cNvPr>
          <p:cNvSpPr>
            <a:spLocks xmlns:a="http://schemas.openxmlformats.org/drawingml/2006/main" noGrp="1"/>
          </p:cNvSpPr>
          <p:nvPr/>
        </p:nvSpPr>
        <p:spPr>
          <a:xfrm xmlns:a="http://schemas.openxmlformats.org/drawingml/2006/main">
            <a:off x="2381250" y="3790950"/>
            <a:ext cx="6858000" cy="381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8E2583D-8E00-4020-A7CB-334327F88184}"/>
              </a:ext>
            </a:extLst>
          </p:cNvPr>
          <p:cNvSpPr>
            <a:spLocks xmlns:a="http://schemas.openxmlformats.org/drawingml/2006/main" noGrp="1"/>
          </p:cNvSpPr>
          <p:nvPr/>
        </p:nvSpPr>
        <p:spPr>
          <a:xfrm xmlns:a="http://schemas.openxmlformats.org/drawingml/2006/main">
            <a:off x="2381250" y="400050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0">
                <a:solidFill>
                  <a:srgbClr val="BFB1C7"/>
                </a:solidFill>
              </a:defRPr>
            </a:pPr>
            <a:r>
              <a:rPr sz="1275" b="0">
                <a:solidFill>
                  <a:srgbClr val="BFB1C7"/>
                </a:solidFill>
              </a:rPr>
              <a:t>General Linux + Bash · Ubuntu 24.04 lab</a:t>
            </a:r>
          </a:p>
        </p:txBody>
      </p:sp>
    </p:spTree>
    <p:extLst>
      <p:ext uri="{BB962C8B-B14F-4D97-AF65-F5344CB8AC3E}">
        <p14:creationId xmlns:p14="http://schemas.microsoft.com/office/powerpoint/2010/main" val="629916044"/>
      </p:ext>
    </p:extLst>
  </p:cSld>
</p:sld>
</file>

<file path=ppt/slides/slide6.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A3EFE10-7E44-4C42-86F5-D2291FE511E5}"/>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4D6A4AA-8150-4328-8944-934EF141798A}"/>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1 · MODEL</a:t>
            </a:r>
          </a:p>
        </p:txBody>
      </p:sp>
      <p:sp>
        <p:nvSpPr>
          <p:cNvPr id="3" name="">
            <a:extLst xmlns:a="http://schemas.openxmlformats.org/drawingml/2006/main">
              <a:ext uri="{FF2B5EF4-FFF2-40B4-BE49-F238E27FC236}">
                <a16:creationId xmlns:a16="http://schemas.microsoft.com/office/drawing/2014/main" id="{50A86E40-7DE5-49E5-9D40-FC5258328555}"/>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C8FAB066-CA8B-45AE-98D9-895EDA64364E}"/>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06</a:t>
            </a:r>
          </a:p>
        </p:txBody>
      </p:sp>
      <p:sp>
        <p:nvSpPr>
          <p:cNvPr id="5" name="">
            <a:extLst xmlns:a="http://schemas.openxmlformats.org/drawingml/2006/main">
              <a:ext uri="{FF2B5EF4-FFF2-40B4-BE49-F238E27FC236}">
                <a16:creationId xmlns:a16="http://schemas.microsoft.com/office/drawing/2014/main" id="{C441E251-A093-448F-A823-C2D96640D1CF}"/>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The operating environment has several layers</a:t>
            </a:r>
          </a:p>
        </p:txBody>
      </p:sp>
      <p:sp>
        <p:nvSpPr>
          <p:cNvPr id="6" name="">
            <a:extLst xmlns:a="http://schemas.openxmlformats.org/drawingml/2006/main">
              <a:ext uri="{FF2B5EF4-FFF2-40B4-BE49-F238E27FC236}">
                <a16:creationId xmlns:a16="http://schemas.microsoft.com/office/drawing/2014/main" id="{EE3F3AD8-84B6-443D-995A-6E494C55D2FF}"/>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A virtual machine runs its own kernel. An Incus system container shares the controller kernel while keeping a separate user space and process view.</a:t>
            </a:r>
          </a:p>
        </p:txBody>
      </p:sp>
      <p:sp>
        <p:nvSpPr>
          <p:cNvPr id="7" name="">
            <a:extLst xmlns:a="http://schemas.openxmlformats.org/drawingml/2006/main">
              <a:ext uri="{FF2B5EF4-FFF2-40B4-BE49-F238E27FC236}">
                <a16:creationId xmlns:a16="http://schemas.microsoft.com/office/drawing/2014/main" id="{5B5E2C57-B654-415B-BE03-6ACA3FE5672B}"/>
              </a:ext>
            </a:extLst>
          </p:cNvPr>
          <p:cNvSpPr>
            <a:spLocks xmlns:a="http://schemas.openxmlformats.org/drawingml/2006/main" noGrp="1"/>
          </p:cNvSpPr>
          <p:nvPr/>
        </p:nvSpPr>
        <p:spPr>
          <a:xfrm xmlns:a="http://schemas.openxmlformats.org/drawingml/2006/main">
            <a:off x="781050" y="31051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C79A07D-642D-4584-8BB6-3215E6AE9157}"/>
              </a:ext>
            </a:extLst>
          </p:cNvPr>
          <p:cNvSpPr>
            <a:spLocks xmlns:a="http://schemas.openxmlformats.org/drawingml/2006/main" noGrp="1"/>
          </p:cNvSpPr>
          <p:nvPr/>
        </p:nvSpPr>
        <p:spPr>
          <a:xfrm xmlns:a="http://schemas.openxmlformats.org/drawingml/2006/main">
            <a:off x="1028700" y="272415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Linux names the kernel; the operating environment also includes user-space tools, services, and distribution policy.</a:t>
            </a:r>
          </a:p>
        </p:txBody>
      </p:sp>
      <p:sp>
        <p:nvSpPr>
          <p:cNvPr id="9" name="">
            <a:extLst xmlns:a="http://schemas.openxmlformats.org/drawingml/2006/main">
              <a:ext uri="{FF2B5EF4-FFF2-40B4-BE49-F238E27FC236}">
                <a16:creationId xmlns:a16="http://schemas.microsoft.com/office/drawing/2014/main" id="{35253761-E479-4A83-8016-4BB2D9FB92D5}"/>
              </a:ext>
            </a:extLst>
          </p:cNvPr>
          <p:cNvSpPr>
            <a:spLocks xmlns:a="http://schemas.openxmlformats.org/drawingml/2006/main" noGrp="1"/>
          </p:cNvSpPr>
          <p:nvPr/>
        </p:nvSpPr>
        <p:spPr>
          <a:xfrm xmlns:a="http://schemas.openxmlformats.org/drawingml/2006/main">
            <a:off x="781050" y="40005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8A230AE-4F08-47CF-94A3-BF745D32C699}"/>
              </a:ext>
            </a:extLst>
          </p:cNvPr>
          <p:cNvSpPr>
            <a:spLocks xmlns:a="http://schemas.openxmlformats.org/drawingml/2006/main" noGrp="1"/>
          </p:cNvSpPr>
          <p:nvPr/>
        </p:nvSpPr>
        <p:spPr>
          <a:xfrm xmlns:a="http://schemas.openxmlformats.org/drawingml/2006/main">
            <a:off x="1028700" y="361950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A virtual machine runs its own kernel. An Incus system container shares the controller kernel while keeping a separate user space and process view.</a:t>
            </a:r>
          </a:p>
        </p:txBody>
      </p:sp>
    </p:spTree>
    <p:extLst>
      <p:ext uri="{BB962C8B-B14F-4D97-AF65-F5344CB8AC3E}">
        <p14:creationId xmlns:p14="http://schemas.microsoft.com/office/powerpoint/2010/main" val="862131206"/>
      </p:ext>
    </p:extLst>
  </p:cSld>
</p:sld>
</file>

<file path=ppt/slides/slide7.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3269210-8345-4FC7-8F25-D53BDE7A30B8}"/>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95E3A3F-7DEB-42F8-8456-7C4C680992B4}"/>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1 · MODEL</a:t>
            </a:r>
          </a:p>
        </p:txBody>
      </p:sp>
      <p:sp>
        <p:nvSpPr>
          <p:cNvPr id="3" name="">
            <a:extLst xmlns:a="http://schemas.openxmlformats.org/drawingml/2006/main">
              <a:ext uri="{FF2B5EF4-FFF2-40B4-BE49-F238E27FC236}">
                <a16:creationId xmlns:a16="http://schemas.microsoft.com/office/drawing/2014/main" id="{02C87DBC-7A75-472C-8A37-71C66081EDCC}"/>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CA555D77-348E-4D3E-8545-A6B15B691792}"/>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07</a:t>
            </a:r>
          </a:p>
        </p:txBody>
      </p:sp>
      <p:sp>
        <p:nvSpPr>
          <p:cNvPr id="5" name="">
            <a:extLst xmlns:a="http://schemas.openxmlformats.org/drawingml/2006/main">
              <a:ext uri="{FF2B5EF4-FFF2-40B4-BE49-F238E27FC236}">
                <a16:creationId xmlns:a16="http://schemas.microsoft.com/office/drawing/2014/main" id="{3A4E973D-C3DB-4067-BC39-7F25E3486849}"/>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The shell transforms text before execution</a:t>
            </a:r>
          </a:p>
        </p:txBody>
      </p:sp>
      <p:sp>
        <p:nvSpPr>
          <p:cNvPr id="6" name="">
            <a:extLst xmlns:a="http://schemas.openxmlformats.org/drawingml/2006/main">
              <a:ext uri="{FF2B5EF4-FFF2-40B4-BE49-F238E27FC236}">
                <a16:creationId xmlns:a16="http://schemas.microsoft.com/office/drawing/2014/main" id="{057E4393-CF35-4F0A-B511-668A45FDE574}"/>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Bash expands variables and $(commands), applies quoting and redirection, then starts the command and records its exit status.</a:t>
            </a:r>
          </a:p>
        </p:txBody>
      </p:sp>
      <p:sp>
        <p:nvSpPr>
          <p:cNvPr id="7" name="">
            <a:extLst xmlns:a="http://schemas.openxmlformats.org/drawingml/2006/main">
              <a:ext uri="{FF2B5EF4-FFF2-40B4-BE49-F238E27FC236}">
                <a16:creationId xmlns:a16="http://schemas.microsoft.com/office/drawing/2014/main" id="{E0981BD4-58FD-4128-BD46-D638D915CBD5}"/>
              </a:ext>
            </a:extLst>
          </p:cNvPr>
          <p:cNvSpPr>
            <a:spLocks xmlns:a="http://schemas.openxmlformats.org/drawingml/2006/main" noGrp="1"/>
          </p:cNvSpPr>
          <p:nvPr/>
        </p:nvSpPr>
        <p:spPr>
          <a:xfrm xmlns:a="http://schemas.openxmlformats.org/drawingml/2006/main">
            <a:off x="781050" y="31051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42F47D1-6807-48FE-97D3-8EED0969A572}"/>
              </a:ext>
            </a:extLst>
          </p:cNvPr>
          <p:cNvSpPr>
            <a:spLocks xmlns:a="http://schemas.openxmlformats.org/drawingml/2006/main" noGrp="1"/>
          </p:cNvSpPr>
          <p:nvPr/>
        </p:nvSpPr>
        <p:spPr>
          <a:xfrm xmlns:a="http://schemas.openxmlformats.org/drawingml/2006/main">
            <a:off x="1028700" y="272415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A prompt shows context; the command name selects a program or shell built-in; arguments tell it what to act on.</a:t>
            </a:r>
          </a:p>
        </p:txBody>
      </p:sp>
      <p:sp>
        <p:nvSpPr>
          <p:cNvPr id="9" name="">
            <a:extLst xmlns:a="http://schemas.openxmlformats.org/drawingml/2006/main">
              <a:ext uri="{FF2B5EF4-FFF2-40B4-BE49-F238E27FC236}">
                <a16:creationId xmlns:a16="http://schemas.microsoft.com/office/drawing/2014/main" id="{42A7C942-F304-41AD-964F-B79F82732FE2}"/>
              </a:ext>
            </a:extLst>
          </p:cNvPr>
          <p:cNvSpPr>
            <a:spLocks xmlns:a="http://schemas.openxmlformats.org/drawingml/2006/main" noGrp="1"/>
          </p:cNvSpPr>
          <p:nvPr/>
        </p:nvSpPr>
        <p:spPr>
          <a:xfrm xmlns:a="http://schemas.openxmlformats.org/drawingml/2006/main">
            <a:off x="781050" y="40005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34FABB7-0ECB-4A21-B410-898DC64480A9}"/>
              </a:ext>
            </a:extLst>
          </p:cNvPr>
          <p:cNvSpPr>
            <a:spLocks xmlns:a="http://schemas.openxmlformats.org/drawingml/2006/main" noGrp="1"/>
          </p:cNvSpPr>
          <p:nvPr/>
        </p:nvSpPr>
        <p:spPr>
          <a:xfrm xmlns:a="http://schemas.openxmlformats.org/drawingml/2006/main">
            <a:off x="1028700" y="361950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Bash expands variables and $(commands), applies quoting and redirection, then starts the command and records its exit status.</a:t>
            </a:r>
          </a:p>
        </p:txBody>
      </p:sp>
    </p:spTree>
    <p:extLst>
      <p:ext uri="{BB962C8B-B14F-4D97-AF65-F5344CB8AC3E}">
        <p14:creationId xmlns:p14="http://schemas.microsoft.com/office/powerpoint/2010/main" val="1358469771"/>
      </p:ext>
    </p:extLst>
  </p:cSld>
</p:sld>
</file>

<file path=ppt/slides/slide8.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09F78FB-E9E0-4138-B000-CB0D2D6AD251}"/>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0336177-D728-4456-A02B-F336E1421182}"/>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1 · BUILD THE MODEL</a:t>
            </a:r>
          </a:p>
        </p:txBody>
      </p:sp>
      <p:sp>
        <p:nvSpPr>
          <p:cNvPr id="3" name="">
            <a:extLst xmlns:a="http://schemas.openxmlformats.org/drawingml/2006/main">
              <a:ext uri="{FF2B5EF4-FFF2-40B4-BE49-F238E27FC236}">
                <a16:creationId xmlns:a16="http://schemas.microsoft.com/office/drawing/2014/main" id="{62CE87CC-929B-4BC7-8F1A-4A5D48101020}"/>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6358837B-C0E9-4F7A-BF05-EC5D76030C20}"/>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08</a:t>
            </a:r>
          </a:p>
        </p:txBody>
      </p:sp>
      <p:sp>
        <p:nvSpPr>
          <p:cNvPr id="5" name="">
            <a:extLst xmlns:a="http://schemas.openxmlformats.org/drawingml/2006/main">
              <a:ext uri="{FF2B5EF4-FFF2-40B4-BE49-F238E27FC236}">
                <a16:creationId xmlns:a16="http://schemas.microsoft.com/office/drawing/2014/main" id="{6F50C00F-16BC-445C-8E6A-8CBE7F17B532}"/>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The kernel arbitrates shared resources</a:t>
            </a:r>
          </a:p>
        </p:txBody>
      </p:sp>
      <p:sp>
        <p:nvSpPr>
          <p:cNvPr id="6" name="">
            <a:extLst xmlns:a="http://schemas.openxmlformats.org/drawingml/2006/main">
              <a:ext uri="{FF2B5EF4-FFF2-40B4-BE49-F238E27FC236}">
                <a16:creationId xmlns:a16="http://schemas.microsoft.com/office/drawing/2014/main" id="{03580292-1217-438C-92F0-8276F6922397}"/>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Applications request these services; they do not control hardware directly.</a:t>
            </a:r>
          </a:p>
        </p:txBody>
      </p:sp>
      <p:sp>
        <p:nvSpPr>
          <p:cNvPr id="7" name="">
            <a:extLst xmlns:a="http://schemas.openxmlformats.org/drawingml/2006/main">
              <a:ext uri="{FF2B5EF4-FFF2-40B4-BE49-F238E27FC236}">
                <a16:creationId xmlns:a16="http://schemas.microsoft.com/office/drawing/2014/main" id="{BBC29A70-15D1-4AB0-8F0C-B7DA1F38A2C7}"/>
              </a:ext>
            </a:extLst>
          </p:cNvPr>
          <p:cNvSpPr>
            <a:spLocks xmlns:a="http://schemas.openxmlformats.org/drawingml/2006/main" noGrp="1"/>
          </p:cNvSpPr>
          <p:nvPr/>
        </p:nvSpPr>
        <p:spPr>
          <a:xfrm xmlns:a="http://schemas.openxmlformats.org/drawingml/2006/main">
            <a:off x="781050" y="29622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5245316-2143-4971-8E16-988474FDD10A}"/>
              </a:ext>
            </a:extLst>
          </p:cNvPr>
          <p:cNvSpPr>
            <a:spLocks xmlns:a="http://schemas.openxmlformats.org/drawingml/2006/main" noGrp="1"/>
          </p:cNvSpPr>
          <p:nvPr/>
        </p:nvSpPr>
        <p:spPr>
          <a:xfrm xmlns:a="http://schemas.openxmlformats.org/drawingml/2006/main">
            <a:off x="1028700" y="27241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Schedules CPU time between runnable processes</a:t>
            </a:r>
          </a:p>
        </p:txBody>
      </p:sp>
      <p:sp>
        <p:nvSpPr>
          <p:cNvPr id="9" name="">
            <a:extLst xmlns:a="http://schemas.openxmlformats.org/drawingml/2006/main">
              <a:ext uri="{FF2B5EF4-FFF2-40B4-BE49-F238E27FC236}">
                <a16:creationId xmlns:a16="http://schemas.microsoft.com/office/drawing/2014/main" id="{322B0390-5D50-4DDC-A609-3DF3FE18D2E3}"/>
              </a:ext>
            </a:extLst>
          </p:cNvPr>
          <p:cNvSpPr>
            <a:spLocks xmlns:a="http://schemas.openxmlformats.org/drawingml/2006/main" noGrp="1"/>
          </p:cNvSpPr>
          <p:nvPr/>
        </p:nvSpPr>
        <p:spPr>
          <a:xfrm xmlns:a="http://schemas.openxmlformats.org/drawingml/2006/main">
            <a:off x="781050" y="35718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3DC935B-0B2F-4382-9E2A-14648DA9797B}"/>
              </a:ext>
            </a:extLst>
          </p:cNvPr>
          <p:cNvSpPr>
            <a:spLocks xmlns:a="http://schemas.openxmlformats.org/drawingml/2006/main" noGrp="1"/>
          </p:cNvSpPr>
          <p:nvPr/>
        </p:nvSpPr>
        <p:spPr>
          <a:xfrm xmlns:a="http://schemas.openxmlformats.org/drawingml/2006/main">
            <a:off x="1028700" y="33337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Maps virtual memory and enforces protection</a:t>
            </a:r>
          </a:p>
        </p:txBody>
      </p:sp>
      <p:sp>
        <p:nvSpPr>
          <p:cNvPr id="11" name="">
            <a:extLst xmlns:a="http://schemas.openxmlformats.org/drawingml/2006/main">
              <a:ext uri="{FF2B5EF4-FFF2-40B4-BE49-F238E27FC236}">
                <a16:creationId xmlns:a16="http://schemas.microsoft.com/office/drawing/2014/main" id="{C34F15A9-F2D9-4C88-8667-EFBCBD71CDD0}"/>
              </a:ext>
            </a:extLst>
          </p:cNvPr>
          <p:cNvSpPr>
            <a:spLocks xmlns:a="http://schemas.openxmlformats.org/drawingml/2006/main" noGrp="1"/>
          </p:cNvSpPr>
          <p:nvPr/>
        </p:nvSpPr>
        <p:spPr>
          <a:xfrm xmlns:a="http://schemas.openxmlformats.org/drawingml/2006/main">
            <a:off x="781050" y="41814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FF07254-992C-46D4-AEAF-AEDA8CC4A45B}"/>
              </a:ext>
            </a:extLst>
          </p:cNvPr>
          <p:cNvSpPr>
            <a:spLocks xmlns:a="http://schemas.openxmlformats.org/drawingml/2006/main" noGrp="1"/>
          </p:cNvSpPr>
          <p:nvPr/>
        </p:nvSpPr>
        <p:spPr>
          <a:xfrm xmlns:a="http://schemas.openxmlformats.org/drawingml/2006/main">
            <a:off x="1028700" y="39433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Resolves filesystem and device operations</a:t>
            </a:r>
          </a:p>
        </p:txBody>
      </p:sp>
      <p:sp>
        <p:nvSpPr>
          <p:cNvPr id="13" name="">
            <a:extLst xmlns:a="http://schemas.openxmlformats.org/drawingml/2006/main">
              <a:ext uri="{FF2B5EF4-FFF2-40B4-BE49-F238E27FC236}">
                <a16:creationId xmlns:a16="http://schemas.microsoft.com/office/drawing/2014/main" id="{48B1BC09-650F-4767-B9F8-3D0C4DAA5873}"/>
              </a:ext>
            </a:extLst>
          </p:cNvPr>
          <p:cNvSpPr>
            <a:spLocks xmlns:a="http://schemas.openxmlformats.org/drawingml/2006/main" noGrp="1"/>
          </p:cNvSpPr>
          <p:nvPr/>
        </p:nvSpPr>
        <p:spPr>
          <a:xfrm xmlns:a="http://schemas.openxmlformats.org/drawingml/2006/main">
            <a:off x="781050" y="47910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1FA4231-0637-4360-9F58-4FC14CB010B3}"/>
              </a:ext>
            </a:extLst>
          </p:cNvPr>
          <p:cNvSpPr>
            <a:spLocks xmlns:a="http://schemas.openxmlformats.org/drawingml/2006/main" noGrp="1"/>
          </p:cNvSpPr>
          <p:nvPr/>
        </p:nvSpPr>
        <p:spPr>
          <a:xfrm xmlns:a="http://schemas.openxmlformats.org/drawingml/2006/main">
            <a:off x="1028700" y="45529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Moves network data through sockets and interfaces</a:t>
            </a:r>
          </a:p>
        </p:txBody>
      </p:sp>
    </p:spTree>
    <p:extLst>
      <p:ext uri="{BB962C8B-B14F-4D97-AF65-F5344CB8AC3E}">
        <p14:creationId xmlns:p14="http://schemas.microsoft.com/office/powerpoint/2010/main" val="995519665"/>
      </p:ext>
    </p:extLst>
  </p:cSld>
</p:sld>
</file>

<file path=ppt/slides/slide9.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7AF5E56-F034-4372-8457-05AEEE91E830}"/>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7A40AF9-833C-4013-A898-A9D103BDF5F0}"/>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1 · BUILD THE MODEL</a:t>
            </a:r>
          </a:p>
        </p:txBody>
      </p:sp>
      <p:sp>
        <p:nvSpPr>
          <p:cNvPr id="3" name="">
            <a:extLst xmlns:a="http://schemas.openxmlformats.org/drawingml/2006/main">
              <a:ext uri="{FF2B5EF4-FFF2-40B4-BE49-F238E27FC236}">
                <a16:creationId xmlns:a16="http://schemas.microsoft.com/office/drawing/2014/main" id="{5CC45DF2-8674-418D-8654-203BE54DE270}"/>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17F6911E-5CCE-4F2E-85E8-EE5279BE3494}"/>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09</a:t>
            </a:r>
          </a:p>
        </p:txBody>
      </p:sp>
      <p:sp>
        <p:nvSpPr>
          <p:cNvPr id="5" name="">
            <a:extLst xmlns:a="http://schemas.openxmlformats.org/drawingml/2006/main">
              <a:ext uri="{FF2B5EF4-FFF2-40B4-BE49-F238E27FC236}">
                <a16:creationId xmlns:a16="http://schemas.microsoft.com/office/drawing/2014/main" id="{7E940471-CA73-4B72-B603-3A7307A66555}"/>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A system call crosses the user–kernel boundary</a:t>
            </a:r>
          </a:p>
        </p:txBody>
      </p:sp>
      <p:sp>
        <p:nvSpPr>
          <p:cNvPr id="6" name="">
            <a:extLst xmlns:a="http://schemas.openxmlformats.org/drawingml/2006/main">
              <a:ext uri="{FF2B5EF4-FFF2-40B4-BE49-F238E27FC236}">
                <a16:creationId xmlns:a16="http://schemas.microsoft.com/office/drawing/2014/main" id="{A67611FB-4E5C-4847-98C8-FED221371E79}"/>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A command can fail in the shell, the program, or the kernel-facing operation.</a:t>
            </a:r>
          </a:p>
        </p:txBody>
      </p:sp>
      <p:sp>
        <p:nvSpPr>
          <p:cNvPr id="7" name="">
            <a:extLst xmlns:a="http://schemas.openxmlformats.org/drawingml/2006/main">
              <a:ext uri="{FF2B5EF4-FFF2-40B4-BE49-F238E27FC236}">
                <a16:creationId xmlns:a16="http://schemas.microsoft.com/office/drawing/2014/main" id="{2B3761B5-9FC3-496B-8CF8-3C7FFC31A4AA}"/>
              </a:ext>
            </a:extLst>
          </p:cNvPr>
          <p:cNvSpPr>
            <a:spLocks xmlns:a="http://schemas.openxmlformats.org/drawingml/2006/main" noGrp="1"/>
          </p:cNvSpPr>
          <p:nvPr/>
        </p:nvSpPr>
        <p:spPr>
          <a:xfrm xmlns:a="http://schemas.openxmlformats.org/drawingml/2006/main">
            <a:off x="781050" y="29622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B745ABE-A44D-4B0F-AB36-C5230BC73E68}"/>
              </a:ext>
            </a:extLst>
          </p:cNvPr>
          <p:cNvSpPr>
            <a:spLocks xmlns:a="http://schemas.openxmlformats.org/drawingml/2006/main" noGrp="1"/>
          </p:cNvSpPr>
          <p:nvPr/>
        </p:nvSpPr>
        <p:spPr>
          <a:xfrm xmlns:a="http://schemas.openxmlformats.org/drawingml/2006/main">
            <a:off x="1028700" y="27241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The shell starts a user-space program such as cat</a:t>
            </a:r>
          </a:p>
        </p:txBody>
      </p:sp>
      <p:sp>
        <p:nvSpPr>
          <p:cNvPr id="9" name="">
            <a:extLst xmlns:a="http://schemas.openxmlformats.org/drawingml/2006/main">
              <a:ext uri="{FF2B5EF4-FFF2-40B4-BE49-F238E27FC236}">
                <a16:creationId xmlns:a16="http://schemas.microsoft.com/office/drawing/2014/main" id="{93324CD4-AF62-43D3-BD9C-2044AF6647F4}"/>
              </a:ext>
            </a:extLst>
          </p:cNvPr>
          <p:cNvSpPr>
            <a:spLocks xmlns:a="http://schemas.openxmlformats.org/drawingml/2006/main" noGrp="1"/>
          </p:cNvSpPr>
          <p:nvPr/>
        </p:nvSpPr>
        <p:spPr>
          <a:xfrm xmlns:a="http://schemas.openxmlformats.org/drawingml/2006/main">
            <a:off x="781050" y="35718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87077CF-469B-45DA-BA9F-57B4697F3BB9}"/>
              </a:ext>
            </a:extLst>
          </p:cNvPr>
          <p:cNvSpPr>
            <a:spLocks xmlns:a="http://schemas.openxmlformats.org/drawingml/2006/main" noGrp="1"/>
          </p:cNvSpPr>
          <p:nvPr/>
        </p:nvSpPr>
        <p:spPr>
          <a:xfrm xmlns:a="http://schemas.openxmlformats.org/drawingml/2006/main">
            <a:off x="1028700" y="33337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cat asks the kernel to open and read a path</a:t>
            </a:r>
          </a:p>
        </p:txBody>
      </p:sp>
      <p:sp>
        <p:nvSpPr>
          <p:cNvPr id="11" name="">
            <a:extLst xmlns:a="http://schemas.openxmlformats.org/drawingml/2006/main">
              <a:ext uri="{FF2B5EF4-FFF2-40B4-BE49-F238E27FC236}">
                <a16:creationId xmlns:a16="http://schemas.microsoft.com/office/drawing/2014/main" id="{F16F151A-DF96-4E05-839E-55FDB9D275A7}"/>
              </a:ext>
            </a:extLst>
          </p:cNvPr>
          <p:cNvSpPr>
            <a:spLocks xmlns:a="http://schemas.openxmlformats.org/drawingml/2006/main" noGrp="1"/>
          </p:cNvSpPr>
          <p:nvPr/>
        </p:nvSpPr>
        <p:spPr>
          <a:xfrm xmlns:a="http://schemas.openxmlformats.org/drawingml/2006/main">
            <a:off x="781050" y="41814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6C69767-2825-4A23-A3ED-714116321B27}"/>
              </a:ext>
            </a:extLst>
          </p:cNvPr>
          <p:cNvSpPr>
            <a:spLocks xmlns:a="http://schemas.openxmlformats.org/drawingml/2006/main" noGrp="1"/>
          </p:cNvSpPr>
          <p:nvPr/>
        </p:nvSpPr>
        <p:spPr>
          <a:xfrm xmlns:a="http://schemas.openxmlformats.org/drawingml/2006/main">
            <a:off x="1028700" y="39433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The kernel checks credentials and resolves the filesystem object</a:t>
            </a:r>
          </a:p>
        </p:txBody>
      </p:sp>
      <p:sp>
        <p:nvSpPr>
          <p:cNvPr id="13" name="">
            <a:extLst xmlns:a="http://schemas.openxmlformats.org/drawingml/2006/main">
              <a:ext uri="{FF2B5EF4-FFF2-40B4-BE49-F238E27FC236}">
                <a16:creationId xmlns:a16="http://schemas.microsoft.com/office/drawing/2014/main" id="{634A0879-A905-416D-AEB1-9AED4373B885}"/>
              </a:ext>
            </a:extLst>
          </p:cNvPr>
          <p:cNvSpPr>
            <a:spLocks xmlns:a="http://schemas.openxmlformats.org/drawingml/2006/main" noGrp="1"/>
          </p:cNvSpPr>
          <p:nvPr/>
        </p:nvSpPr>
        <p:spPr>
          <a:xfrm xmlns:a="http://schemas.openxmlformats.org/drawingml/2006/main">
            <a:off x="781050" y="47910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7765067-865D-4CBC-AA9D-8DCDF8861B30}"/>
              </a:ext>
            </a:extLst>
          </p:cNvPr>
          <p:cNvSpPr>
            <a:spLocks xmlns:a="http://schemas.openxmlformats.org/drawingml/2006/main" noGrp="1"/>
          </p:cNvSpPr>
          <p:nvPr/>
        </p:nvSpPr>
        <p:spPr>
          <a:xfrm xmlns:a="http://schemas.openxmlformats.org/drawingml/2006/main">
            <a:off x="1028700" y="45529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Bytes return to cat, which writes them to standard output</a:t>
            </a:r>
          </a:p>
        </p:txBody>
      </p:sp>
    </p:spTree>
    <p:extLst>
      <p:ext uri="{BB962C8B-B14F-4D97-AF65-F5344CB8AC3E}">
        <p14:creationId xmlns:p14="http://schemas.microsoft.com/office/powerpoint/2010/main" val="492036333"/>
      </p:ext>
    </p:extLst>
  </p:cSld>
</p:sld>
</file>

<file path=ppt/slides/slide10.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6825099C-E5EC-454A-A7C1-5B48FA4A1C01}"/>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0E6F916-E853-4944-AE27-F94B09ED4936}"/>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1 · BUILD THE MODEL</a:t>
            </a:r>
          </a:p>
        </p:txBody>
      </p:sp>
      <p:sp>
        <p:nvSpPr>
          <p:cNvPr id="3" name="">
            <a:extLst xmlns:a="http://schemas.openxmlformats.org/drawingml/2006/main">
              <a:ext uri="{FF2B5EF4-FFF2-40B4-BE49-F238E27FC236}">
                <a16:creationId xmlns:a16="http://schemas.microsoft.com/office/drawing/2014/main" id="{68B24F79-FB81-44E2-BF81-9015722E6403}"/>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B3405BF4-66FD-494E-9EFC-796EEE2C29E8}"/>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10</a:t>
            </a:r>
          </a:p>
        </p:txBody>
      </p:sp>
      <p:sp>
        <p:nvSpPr>
          <p:cNvPr id="5" name="">
            <a:extLst xmlns:a="http://schemas.openxmlformats.org/drawingml/2006/main">
              <a:ext uri="{FF2B5EF4-FFF2-40B4-BE49-F238E27FC236}">
                <a16:creationId xmlns:a16="http://schemas.microsoft.com/office/drawing/2014/main" id="{F351CC0C-FAAE-47A3-BBF0-EA895731620E}"/>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Distribution, VM, and container describe different layers</a:t>
            </a:r>
          </a:p>
        </p:txBody>
      </p:sp>
      <p:sp>
        <p:nvSpPr>
          <p:cNvPr id="6" name="">
            <a:extLst xmlns:a="http://schemas.openxmlformats.org/drawingml/2006/main">
              <a:ext uri="{FF2B5EF4-FFF2-40B4-BE49-F238E27FC236}">
                <a16:creationId xmlns:a16="http://schemas.microsoft.com/office/drawing/2014/main" id="{58A5B9AD-F06F-47ED-BCFE-67C3F8C54976}"/>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Record both user-space and kernel facts before following external instructions.</a:t>
            </a:r>
          </a:p>
        </p:txBody>
      </p:sp>
      <p:sp>
        <p:nvSpPr>
          <p:cNvPr id="7" name="">
            <a:extLst xmlns:a="http://schemas.openxmlformats.org/drawingml/2006/main">
              <a:ext uri="{FF2B5EF4-FFF2-40B4-BE49-F238E27FC236}">
                <a16:creationId xmlns:a16="http://schemas.microsoft.com/office/drawing/2014/main" id="{0D5161A3-4E18-4D5C-BA0A-213295B3CEE6}"/>
              </a:ext>
            </a:extLst>
          </p:cNvPr>
          <p:cNvSpPr>
            <a:spLocks xmlns:a="http://schemas.openxmlformats.org/drawingml/2006/main" noGrp="1"/>
          </p:cNvSpPr>
          <p:nvPr/>
        </p:nvSpPr>
        <p:spPr>
          <a:xfrm xmlns:a="http://schemas.openxmlformats.org/drawingml/2006/main">
            <a:off x="781050" y="29622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EBA2687-7D02-4188-A396-BAF189E932A3}"/>
              </a:ext>
            </a:extLst>
          </p:cNvPr>
          <p:cNvSpPr>
            <a:spLocks xmlns:a="http://schemas.openxmlformats.org/drawingml/2006/main" noGrp="1"/>
          </p:cNvSpPr>
          <p:nvPr/>
        </p:nvSpPr>
        <p:spPr>
          <a:xfrm xmlns:a="http://schemas.openxmlformats.org/drawingml/2006/main">
            <a:off x="1028700" y="27241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A distribution curates user space, packages, defaults, and support</a:t>
            </a:r>
          </a:p>
        </p:txBody>
      </p:sp>
      <p:sp>
        <p:nvSpPr>
          <p:cNvPr id="9" name="">
            <a:extLst xmlns:a="http://schemas.openxmlformats.org/drawingml/2006/main">
              <a:ext uri="{FF2B5EF4-FFF2-40B4-BE49-F238E27FC236}">
                <a16:creationId xmlns:a16="http://schemas.microsoft.com/office/drawing/2014/main" id="{5879C42B-6A40-43CC-A5A8-5F9F0CCC231E}"/>
              </a:ext>
            </a:extLst>
          </p:cNvPr>
          <p:cNvSpPr>
            <a:spLocks xmlns:a="http://schemas.openxmlformats.org/drawingml/2006/main" noGrp="1"/>
          </p:cNvSpPr>
          <p:nvPr/>
        </p:nvSpPr>
        <p:spPr>
          <a:xfrm xmlns:a="http://schemas.openxmlformats.org/drawingml/2006/main">
            <a:off x="781050" y="35718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4E8AA56-143C-4BE7-BF07-6DACD03AABB9}"/>
              </a:ext>
            </a:extLst>
          </p:cNvPr>
          <p:cNvSpPr>
            <a:spLocks xmlns:a="http://schemas.openxmlformats.org/drawingml/2006/main" noGrp="1"/>
          </p:cNvSpPr>
          <p:nvPr/>
        </p:nvSpPr>
        <p:spPr>
          <a:xfrm xmlns:a="http://schemas.openxmlformats.org/drawingml/2006/main">
            <a:off x="1028700" y="33337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A virtual machine has virtual hardware and its own guest kernel</a:t>
            </a:r>
          </a:p>
        </p:txBody>
      </p:sp>
      <p:sp>
        <p:nvSpPr>
          <p:cNvPr id="11" name="">
            <a:extLst xmlns:a="http://schemas.openxmlformats.org/drawingml/2006/main">
              <a:ext uri="{FF2B5EF4-FFF2-40B4-BE49-F238E27FC236}">
                <a16:creationId xmlns:a16="http://schemas.microsoft.com/office/drawing/2014/main" id="{9ED36F02-98AD-4A6A-BBFB-F626F19EC81E}"/>
              </a:ext>
            </a:extLst>
          </p:cNvPr>
          <p:cNvSpPr>
            <a:spLocks xmlns:a="http://schemas.openxmlformats.org/drawingml/2006/main" noGrp="1"/>
          </p:cNvSpPr>
          <p:nvPr/>
        </p:nvSpPr>
        <p:spPr>
          <a:xfrm xmlns:a="http://schemas.openxmlformats.org/drawingml/2006/main">
            <a:off x="781050" y="41814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5F15C0F-8A6A-4998-A3BF-4D63E1443B71}"/>
              </a:ext>
            </a:extLst>
          </p:cNvPr>
          <p:cNvSpPr>
            <a:spLocks xmlns:a="http://schemas.openxmlformats.org/drawingml/2006/main" noGrp="1"/>
          </p:cNvSpPr>
          <p:nvPr/>
        </p:nvSpPr>
        <p:spPr>
          <a:xfrm xmlns:a="http://schemas.openxmlformats.org/drawingml/2006/main">
            <a:off x="1028700" y="39433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A system container has isolated user space but shares the host kernel</a:t>
            </a:r>
          </a:p>
        </p:txBody>
      </p:sp>
      <p:sp>
        <p:nvSpPr>
          <p:cNvPr id="13" name="">
            <a:extLst xmlns:a="http://schemas.openxmlformats.org/drawingml/2006/main">
              <a:ext uri="{FF2B5EF4-FFF2-40B4-BE49-F238E27FC236}">
                <a16:creationId xmlns:a16="http://schemas.microsoft.com/office/drawing/2014/main" id="{2AB4A7D3-5CDE-4AF6-9611-FF097DE8F959}"/>
              </a:ext>
            </a:extLst>
          </p:cNvPr>
          <p:cNvSpPr>
            <a:spLocks xmlns:a="http://schemas.openxmlformats.org/drawingml/2006/main" noGrp="1"/>
          </p:cNvSpPr>
          <p:nvPr/>
        </p:nvSpPr>
        <p:spPr>
          <a:xfrm xmlns:a="http://schemas.openxmlformats.org/drawingml/2006/main">
            <a:off x="781050" y="47910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CC1EDF1-1DC1-4A61-8360-8A024D8E6489}"/>
              </a:ext>
            </a:extLst>
          </p:cNvPr>
          <p:cNvSpPr>
            <a:spLocks xmlns:a="http://schemas.openxmlformats.org/drawingml/2006/main" noGrp="1"/>
          </p:cNvSpPr>
          <p:nvPr/>
        </p:nvSpPr>
        <p:spPr>
          <a:xfrm xmlns:a="http://schemas.openxmlformats.org/drawingml/2006/main">
            <a:off x="1028700" y="45529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/etc/os-release and uname answer different layer questions</a:t>
            </a:r>
          </a:p>
        </p:txBody>
      </p:sp>
    </p:spTree>
    <p:extLst>
      <p:ext uri="{BB962C8B-B14F-4D97-AF65-F5344CB8AC3E}">
        <p14:creationId xmlns:p14="http://schemas.microsoft.com/office/powerpoint/2010/main" val="1323599313"/>
      </p:ext>
    </p:extLst>
  </p:cSld>
</p:sld>
</file>

<file path=ppt/slides/slide11.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B89CDFA-FD49-4796-A332-87A961804329}"/>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79DE7E2-15BF-4AD8-901B-1BF966A169C6}"/>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1 · WORKED EXAMPLE</a:t>
            </a:r>
          </a:p>
        </p:txBody>
      </p:sp>
      <p:sp>
        <p:nvSpPr>
          <p:cNvPr id="3" name="">
            <a:extLst xmlns:a="http://schemas.openxmlformats.org/drawingml/2006/main">
              <a:ext uri="{FF2B5EF4-FFF2-40B4-BE49-F238E27FC236}">
                <a16:creationId xmlns:a16="http://schemas.microsoft.com/office/drawing/2014/main" id="{6CDE0664-0C50-4719-B42B-35A6AA6499CB}"/>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A4220D2C-CBAA-4BDC-AAA8-DAAC7DB614ED}"/>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11</a:t>
            </a:r>
          </a:p>
        </p:txBody>
      </p:sp>
      <p:sp>
        <p:nvSpPr>
          <p:cNvPr id="5" name="">
            <a:extLst xmlns:a="http://schemas.openxmlformats.org/drawingml/2006/main">
              <a:ext uri="{FF2B5EF4-FFF2-40B4-BE49-F238E27FC236}">
                <a16:creationId xmlns:a16="http://schemas.microsoft.com/office/drawing/2014/main" id="{3706A811-4C55-4877-9DAD-BFBC404712DA}"/>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Read a command from left to right</a:t>
            </a:r>
          </a:p>
        </p:txBody>
      </p:sp>
      <p:sp>
        <p:nvSpPr>
          <p:cNvPr id="6" name="">
            <a:extLst xmlns:a="http://schemas.openxmlformats.org/drawingml/2006/main">
              <a:ext uri="{FF2B5EF4-FFF2-40B4-BE49-F238E27FC236}">
                <a16:creationId xmlns:a16="http://schemas.microsoft.com/office/drawing/2014/main" id="{3DBAE25F-8FD1-4D3A-AAFA-93FA58BE538E}"/>
              </a:ext>
            </a:extLst>
          </p:cNvPr>
          <p:cNvSpPr>
            <a:spLocks xmlns:a="http://schemas.openxmlformats.org/drawingml/2006/main" noGrp="1"/>
          </p:cNvSpPr>
          <p:nvPr/>
        </p:nvSpPr>
        <p:spPr>
          <a:xfrm xmlns:a="http://schemas.openxmlformats.org/drawingml/2006/main">
            <a:off x="514350" y="2400300"/>
            <a:ext cx="6191250" cy="2857500"/>
          </a:xfrm>
          <a:prstGeom xmlns:a="http://schemas.openxmlformats.org/drawingml/2006/main" prst="roundRect">
            <a:avLst>
              <a:gd name="adj" fmla="val 4000"/>
            </a:avLst>
          </a:prstGeom>
          <a:solidFill xmlns:a="http://schemas.openxmlformats.org/drawingml/2006/main">
            <a:srgbClr val="180D25"/>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E3785B75-6B2D-4CA1-B8B0-0DDB0669E428}"/>
              </a:ext>
            </a:extLst>
          </p:cNvPr>
          <p:cNvSpPr>
            <a:spLocks xmlns:a="http://schemas.openxmlformats.org/drawingml/2006/main" noGrp="1"/>
          </p:cNvSpPr>
          <p:nvPr/>
        </p:nvSpPr>
        <p:spPr>
          <a:xfrm xmlns:a="http://schemas.openxmlformats.org/drawingml/2006/main">
            <a:off x="781050" y="2647950"/>
            <a:ext cx="5667375" cy="2333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F7F1FA"/>
                </a:solidFill>
              </a:defRPr>
            </a:pPr>
            <a:r>
              <a:rPr sz="1575" b="0">
                <a:solidFill>
                  <a:srgbClr val="F7F1FA"/>
                </a:solidFill>
              </a:rPr>
              <a:t>printf 'USER=%s\nKERNEL=%s\n' \</a:t>
            </a:r>
          </a:p>
          <a:p xmlns:a="http://schemas.openxmlformats.org/drawingml/2006/main">
            <a:pPr algn="l">
              <a:buNone/>
              <a:defRPr sz="1575" b="0">
                <a:solidFill>
                  <a:srgbClr val="F7F1FA"/>
                </a:solidFill>
              </a:defRPr>
            </a:pPr>
            <a:r>
              <a:rPr sz="1575" b="0">
                <a:solidFill>
                  <a:srgbClr val="F7F1FA"/>
                </a:solidFill>
              </a:rPr>
              <a:t>  "$USER" "$(uname -r)" &gt; ~/profile.txt</a:t>
            </a:r>
          </a:p>
        </p:txBody>
      </p:sp>
      <p:sp>
        <p:nvSpPr>
          <p:cNvPr id="8" name="">
            <a:extLst xmlns:a="http://schemas.openxmlformats.org/drawingml/2006/main">
              <a:ext uri="{FF2B5EF4-FFF2-40B4-BE49-F238E27FC236}">
                <a16:creationId xmlns:a16="http://schemas.microsoft.com/office/drawing/2014/main" id="{4E8DEF32-83A5-4CA5-883E-FE0EC240D68D}"/>
              </a:ext>
            </a:extLst>
          </p:cNvPr>
          <p:cNvSpPr>
            <a:spLocks xmlns:a="http://schemas.openxmlformats.org/drawingml/2006/main" noGrp="1"/>
          </p:cNvSpPr>
          <p:nvPr/>
        </p:nvSpPr>
        <p:spPr>
          <a:xfrm xmlns:a="http://schemas.openxmlformats.org/drawingml/2006/main">
            <a:off x="7143750" y="27336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635C3481-AA68-4906-B216-695E8796D99D}"/>
              </a:ext>
            </a:extLst>
          </p:cNvPr>
          <p:cNvSpPr>
            <a:spLocks xmlns:a="http://schemas.openxmlformats.org/drawingml/2006/main" noGrp="1"/>
          </p:cNvSpPr>
          <p:nvPr/>
        </p:nvSpPr>
        <p:spPr>
          <a:xfrm xmlns:a="http://schemas.openxmlformats.org/drawingml/2006/main">
            <a:off x="7391400" y="2428875"/>
            <a:ext cx="3848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printf receives a format plus two expanded arguments.</a:t>
            </a:r>
          </a:p>
        </p:txBody>
      </p:sp>
      <p:sp>
        <p:nvSpPr>
          <p:cNvPr id="10" name="">
            <a:extLst xmlns:a="http://schemas.openxmlformats.org/drawingml/2006/main">
              <a:ext uri="{FF2B5EF4-FFF2-40B4-BE49-F238E27FC236}">
                <a16:creationId xmlns:a16="http://schemas.microsoft.com/office/drawing/2014/main" id="{B629236D-A1BD-41CF-AC49-845E88E2E21A}"/>
              </a:ext>
            </a:extLst>
          </p:cNvPr>
          <p:cNvSpPr>
            <a:spLocks xmlns:a="http://schemas.openxmlformats.org/drawingml/2006/main" noGrp="1"/>
          </p:cNvSpPr>
          <p:nvPr/>
        </p:nvSpPr>
        <p:spPr>
          <a:xfrm xmlns:a="http://schemas.openxmlformats.org/drawingml/2006/main">
            <a:off x="7143750" y="347662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34BE7CF9-E69F-4A1B-AE6F-1D249370F089}"/>
              </a:ext>
            </a:extLst>
          </p:cNvPr>
          <p:cNvSpPr>
            <a:spLocks xmlns:a="http://schemas.openxmlformats.org/drawingml/2006/main" noGrp="1"/>
          </p:cNvSpPr>
          <p:nvPr/>
        </p:nvSpPr>
        <p:spPr>
          <a:xfrm xmlns:a="http://schemas.openxmlformats.org/drawingml/2006/main">
            <a:off x="7391400" y="3171825"/>
            <a:ext cx="3848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Double quotes preserve each value as one argument.</a:t>
            </a:r>
          </a:p>
        </p:txBody>
      </p:sp>
      <p:sp>
        <p:nvSpPr>
          <p:cNvPr id="12" name="">
            <a:extLst xmlns:a="http://schemas.openxmlformats.org/drawingml/2006/main">
              <a:ext uri="{FF2B5EF4-FFF2-40B4-BE49-F238E27FC236}">
                <a16:creationId xmlns:a16="http://schemas.microsoft.com/office/drawing/2014/main" id="{10337769-4CB3-441C-8C51-8E153CB6C0EF}"/>
              </a:ext>
            </a:extLst>
          </p:cNvPr>
          <p:cNvSpPr>
            <a:spLocks xmlns:a="http://schemas.openxmlformats.org/drawingml/2006/main" noGrp="1"/>
          </p:cNvSpPr>
          <p:nvPr/>
        </p:nvSpPr>
        <p:spPr>
          <a:xfrm xmlns:a="http://schemas.openxmlformats.org/drawingml/2006/main">
            <a:off x="7143750" y="42195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D4A1EAA6-F5AD-4102-97A5-F0FD9370FC28}"/>
              </a:ext>
            </a:extLst>
          </p:cNvPr>
          <p:cNvSpPr>
            <a:spLocks xmlns:a="http://schemas.openxmlformats.org/drawingml/2006/main" noGrp="1"/>
          </p:cNvSpPr>
          <p:nvPr/>
        </p:nvSpPr>
        <p:spPr>
          <a:xfrm xmlns:a="http://schemas.openxmlformats.org/drawingml/2006/main">
            <a:off x="7391400" y="3914775"/>
            <a:ext cx="3848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&gt; writes standard output to a file; it replaces existing content.</a:t>
            </a:r>
          </a:p>
        </p:txBody>
      </p:sp>
    </p:spTree>
    <p:extLst>
      <p:ext uri="{BB962C8B-B14F-4D97-AF65-F5344CB8AC3E}">
        <p14:creationId xmlns:p14="http://schemas.microsoft.com/office/powerpoint/2010/main" val="817576133"/>
      </p:ext>
    </p:extLst>
  </p:cSld>
</p:sld>
</file>

<file path=ppt/slides/slide12.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5CE0400F-B53F-4010-A124-DBC458874A8D}"/>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90CC424-DAD5-4188-A40D-59B5FF548123}"/>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1 · GUIDED COMMANDS</a:t>
            </a:r>
          </a:p>
        </p:txBody>
      </p:sp>
      <p:sp>
        <p:nvSpPr>
          <p:cNvPr id="3" name="">
            <a:extLst xmlns:a="http://schemas.openxmlformats.org/drawingml/2006/main">
              <a:ext uri="{FF2B5EF4-FFF2-40B4-BE49-F238E27FC236}">
                <a16:creationId xmlns:a16="http://schemas.microsoft.com/office/drawing/2014/main" id="{E5511E55-AF41-434F-88C8-6806C7AA48C9}"/>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1BF06054-5523-460E-AC54-EC74D6558A1D}"/>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12</a:t>
            </a:r>
          </a:p>
        </p:txBody>
      </p:sp>
      <p:sp>
        <p:nvSpPr>
          <p:cNvPr id="5" name="">
            <a:extLst xmlns:a="http://schemas.openxmlformats.org/drawingml/2006/main">
              <a:ext uri="{FF2B5EF4-FFF2-40B4-BE49-F238E27FC236}">
                <a16:creationId xmlns:a16="http://schemas.microsoft.com/office/drawing/2014/main" id="{0FA6FB7D-2FAD-4F11-972A-605A9F62A6F9}"/>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These commands are tools for specific questions</a:t>
            </a:r>
          </a:p>
        </p:txBody>
      </p:sp>
      <p:sp>
        <p:nvSpPr>
          <p:cNvPr id="6" name="">
            <a:extLst xmlns:a="http://schemas.openxmlformats.org/drawingml/2006/main">
              <a:ext uri="{FF2B5EF4-FFF2-40B4-BE49-F238E27FC236}">
                <a16:creationId xmlns:a16="http://schemas.microsoft.com/office/drawing/2014/main" id="{361EAFDA-0741-40C5-8D86-A2DECA074AAE}"/>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The lab guide repeats syntax and expected evidence; memorization is not required.</a:t>
            </a:r>
          </a:p>
        </p:txBody>
      </p:sp>
      <p:sp>
        <p:nvSpPr>
          <p:cNvPr id="7" name="">
            <a:extLst xmlns:a="http://schemas.openxmlformats.org/drawingml/2006/main">
              <a:ext uri="{FF2B5EF4-FFF2-40B4-BE49-F238E27FC236}">
                <a16:creationId xmlns:a16="http://schemas.microsoft.com/office/drawing/2014/main" id="{467C3FFA-5BD7-4100-B78F-34441BCE31BE}"/>
              </a:ext>
            </a:extLst>
          </p:cNvPr>
          <p:cNvSpPr>
            <a:spLocks xmlns:a="http://schemas.openxmlformats.org/drawingml/2006/main" noGrp="1"/>
          </p:cNvSpPr>
          <p:nvPr/>
        </p:nvSpPr>
        <p:spPr>
          <a:xfrm xmlns:a="http://schemas.openxmlformats.org/drawingml/2006/main">
            <a:off x="685800" y="24003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$HOME</a:t>
            </a:r>
          </a:p>
        </p:txBody>
      </p:sp>
      <p:sp>
        <p:nvSpPr>
          <p:cNvPr id="8" name="">
            <a:extLst xmlns:a="http://schemas.openxmlformats.org/drawingml/2006/main">
              <a:ext uri="{FF2B5EF4-FFF2-40B4-BE49-F238E27FC236}">
                <a16:creationId xmlns:a16="http://schemas.microsoft.com/office/drawing/2014/main" id="{9A55F767-A965-4AFE-926C-4015517B0D06}"/>
              </a:ext>
            </a:extLst>
          </p:cNvPr>
          <p:cNvSpPr>
            <a:spLocks xmlns:a="http://schemas.openxmlformats.org/drawingml/2006/main" noGrp="1"/>
          </p:cNvSpPr>
          <p:nvPr/>
        </p:nvSpPr>
        <p:spPr>
          <a:xfrm xmlns:a="http://schemas.openxmlformats.org/drawingml/2006/main">
            <a:off x="3810000" y="24003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the current account’s home directory</a:t>
            </a:r>
          </a:p>
        </p:txBody>
      </p:sp>
      <p:sp>
        <p:nvSpPr>
          <p:cNvPr id="9" name="">
            <a:extLst xmlns:a="http://schemas.openxmlformats.org/drawingml/2006/main">
              <a:ext uri="{FF2B5EF4-FFF2-40B4-BE49-F238E27FC236}">
                <a16:creationId xmlns:a16="http://schemas.microsoft.com/office/drawing/2014/main" id="{4C4AE72E-205A-4D60-9C90-ACBB858F5ACC}"/>
              </a:ext>
            </a:extLst>
          </p:cNvPr>
          <p:cNvSpPr>
            <a:spLocks xmlns:a="http://schemas.openxmlformats.org/drawingml/2006/main" noGrp="1"/>
          </p:cNvSpPr>
          <p:nvPr/>
        </p:nvSpPr>
        <p:spPr>
          <a:xfrm xmlns:a="http://schemas.openxmlformats.org/drawingml/2006/main">
            <a:off x="685800" y="29527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C87038B-84A8-4118-8226-844C3204C780}"/>
              </a:ext>
            </a:extLst>
          </p:cNvPr>
          <p:cNvSpPr>
            <a:spLocks xmlns:a="http://schemas.openxmlformats.org/drawingml/2006/main" noGrp="1"/>
          </p:cNvSpPr>
          <p:nvPr/>
        </p:nvSpPr>
        <p:spPr>
          <a:xfrm xmlns:a="http://schemas.openxmlformats.org/drawingml/2006/main">
            <a:off x="685800" y="30480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$(uname -r)</a:t>
            </a:r>
          </a:p>
        </p:txBody>
      </p:sp>
      <p:sp>
        <p:nvSpPr>
          <p:cNvPr id="11" name="">
            <a:extLst xmlns:a="http://schemas.openxmlformats.org/drawingml/2006/main">
              <a:ext uri="{FF2B5EF4-FFF2-40B4-BE49-F238E27FC236}">
                <a16:creationId xmlns:a16="http://schemas.microsoft.com/office/drawing/2014/main" id="{05764FC1-D97C-43D7-945E-DCC2F4383E89}"/>
              </a:ext>
            </a:extLst>
          </p:cNvPr>
          <p:cNvSpPr>
            <a:spLocks xmlns:a="http://schemas.openxmlformats.org/drawingml/2006/main" noGrp="1"/>
          </p:cNvSpPr>
          <p:nvPr/>
        </p:nvSpPr>
        <p:spPr>
          <a:xfrm xmlns:a="http://schemas.openxmlformats.org/drawingml/2006/main">
            <a:off x="3810000" y="30480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capture command output</a:t>
            </a:r>
          </a:p>
        </p:txBody>
      </p:sp>
      <p:sp>
        <p:nvSpPr>
          <p:cNvPr id="12" name="">
            <a:extLst xmlns:a="http://schemas.openxmlformats.org/drawingml/2006/main">
              <a:ext uri="{FF2B5EF4-FFF2-40B4-BE49-F238E27FC236}">
                <a16:creationId xmlns:a16="http://schemas.microsoft.com/office/drawing/2014/main" id="{9B31F436-C8D6-46B5-90F6-5276BA146DD6}"/>
              </a:ext>
            </a:extLst>
          </p:cNvPr>
          <p:cNvSpPr>
            <a:spLocks xmlns:a="http://schemas.openxmlformats.org/drawingml/2006/main" noGrp="1"/>
          </p:cNvSpPr>
          <p:nvPr/>
        </p:nvSpPr>
        <p:spPr>
          <a:xfrm xmlns:a="http://schemas.openxmlformats.org/drawingml/2006/main">
            <a:off x="685800" y="36004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F7AF4B21-FC0E-40E1-8A10-177DE1D1C63C}"/>
              </a:ext>
            </a:extLst>
          </p:cNvPr>
          <p:cNvSpPr>
            <a:spLocks xmlns:a="http://schemas.openxmlformats.org/drawingml/2006/main" noGrp="1"/>
          </p:cNvSpPr>
          <p:nvPr/>
        </p:nvSpPr>
        <p:spPr>
          <a:xfrm xmlns:a="http://schemas.openxmlformats.org/drawingml/2006/main">
            <a:off x="685800" y="36957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&gt; file</a:t>
            </a:r>
          </a:p>
        </p:txBody>
      </p:sp>
      <p:sp>
        <p:nvSpPr>
          <p:cNvPr id="14" name="">
            <a:extLst xmlns:a="http://schemas.openxmlformats.org/drawingml/2006/main">
              <a:ext uri="{FF2B5EF4-FFF2-40B4-BE49-F238E27FC236}">
                <a16:creationId xmlns:a16="http://schemas.microsoft.com/office/drawing/2014/main" id="{36B61007-C2BF-41FE-913D-B735BD2611C5}"/>
              </a:ext>
            </a:extLst>
          </p:cNvPr>
          <p:cNvSpPr>
            <a:spLocks xmlns:a="http://schemas.openxmlformats.org/drawingml/2006/main" noGrp="1"/>
          </p:cNvSpPr>
          <p:nvPr/>
        </p:nvSpPr>
        <p:spPr>
          <a:xfrm xmlns:a="http://schemas.openxmlformats.org/drawingml/2006/main">
            <a:off x="3810000" y="36957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replace a file with standard output</a:t>
            </a:r>
          </a:p>
        </p:txBody>
      </p:sp>
      <p:sp>
        <p:nvSpPr>
          <p:cNvPr id="15" name="">
            <a:extLst xmlns:a="http://schemas.openxmlformats.org/drawingml/2006/main">
              <a:ext uri="{FF2B5EF4-FFF2-40B4-BE49-F238E27FC236}">
                <a16:creationId xmlns:a16="http://schemas.microsoft.com/office/drawing/2014/main" id="{7BD74230-CB7C-4318-AF22-A34E0C6390D6}"/>
              </a:ext>
            </a:extLst>
          </p:cNvPr>
          <p:cNvSpPr>
            <a:spLocks xmlns:a="http://schemas.openxmlformats.org/drawingml/2006/main" noGrp="1"/>
          </p:cNvSpPr>
          <p:nvPr/>
        </p:nvSpPr>
        <p:spPr>
          <a:xfrm xmlns:a="http://schemas.openxmlformats.org/drawingml/2006/main">
            <a:off x="685800" y="42481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90FC09BE-4E0D-4563-9430-047C35F50F9A}"/>
              </a:ext>
            </a:extLst>
          </p:cNvPr>
          <p:cNvSpPr>
            <a:spLocks xmlns:a="http://schemas.openxmlformats.org/drawingml/2006/main" noGrp="1"/>
          </p:cNvSpPr>
          <p:nvPr/>
        </p:nvSpPr>
        <p:spPr>
          <a:xfrm xmlns:a="http://schemas.openxmlformats.org/drawingml/2006/main">
            <a:off x="685800" y="43434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printf</a:t>
            </a:r>
          </a:p>
        </p:txBody>
      </p:sp>
      <p:sp>
        <p:nvSpPr>
          <p:cNvPr id="17" name="">
            <a:extLst xmlns:a="http://schemas.openxmlformats.org/drawingml/2006/main">
              <a:ext uri="{FF2B5EF4-FFF2-40B4-BE49-F238E27FC236}">
                <a16:creationId xmlns:a16="http://schemas.microsoft.com/office/drawing/2014/main" id="{61738A8F-E9EC-49E8-B31A-79C479C403A3}"/>
              </a:ext>
            </a:extLst>
          </p:cNvPr>
          <p:cNvSpPr>
            <a:spLocks xmlns:a="http://schemas.openxmlformats.org/drawingml/2006/main" noGrp="1"/>
          </p:cNvSpPr>
          <p:nvPr/>
        </p:nvSpPr>
        <p:spPr>
          <a:xfrm xmlns:a="http://schemas.openxmlformats.org/drawingml/2006/main">
            <a:off x="3810000" y="43434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produce predictable formatted text</a:t>
            </a:r>
          </a:p>
        </p:txBody>
      </p:sp>
      <p:sp>
        <p:nvSpPr>
          <p:cNvPr id="18" name="">
            <a:extLst xmlns:a="http://schemas.openxmlformats.org/drawingml/2006/main">
              <a:ext uri="{FF2B5EF4-FFF2-40B4-BE49-F238E27FC236}">
                <a16:creationId xmlns:a16="http://schemas.microsoft.com/office/drawing/2014/main" id="{EFB25430-0047-4062-A801-7D8C2DCDE249}"/>
              </a:ext>
            </a:extLst>
          </p:cNvPr>
          <p:cNvSpPr>
            <a:spLocks xmlns:a="http://schemas.openxmlformats.org/drawingml/2006/main" noGrp="1"/>
          </p:cNvSpPr>
          <p:nvPr/>
        </p:nvSpPr>
        <p:spPr>
          <a:xfrm xmlns:a="http://schemas.openxmlformats.org/drawingml/2006/main">
            <a:off x="685800" y="48958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8930D5A-BFD3-47F3-923C-BC35B94F210F}"/>
              </a:ext>
            </a:extLst>
          </p:cNvPr>
          <p:cNvSpPr>
            <a:spLocks xmlns:a="http://schemas.openxmlformats.org/drawingml/2006/main" noGrp="1"/>
          </p:cNvSpPr>
          <p:nvPr/>
        </p:nvSpPr>
        <p:spPr>
          <a:xfrm xmlns:a="http://schemas.openxmlformats.org/drawingml/2006/main">
            <a:off x="685800" y="49911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test -d PATH</a:t>
            </a:r>
          </a:p>
        </p:txBody>
      </p:sp>
      <p:sp>
        <p:nvSpPr>
          <p:cNvPr id="20" name="">
            <a:extLst xmlns:a="http://schemas.openxmlformats.org/drawingml/2006/main">
              <a:ext uri="{FF2B5EF4-FFF2-40B4-BE49-F238E27FC236}">
                <a16:creationId xmlns:a16="http://schemas.microsoft.com/office/drawing/2014/main" id="{D4DC894C-19A3-43D8-9927-B4EDFD28CA9A}"/>
              </a:ext>
            </a:extLst>
          </p:cNvPr>
          <p:cNvSpPr>
            <a:spLocks xmlns:a="http://schemas.openxmlformats.org/drawingml/2006/main" noGrp="1"/>
          </p:cNvSpPr>
          <p:nvPr/>
        </p:nvSpPr>
        <p:spPr>
          <a:xfrm xmlns:a="http://schemas.openxmlformats.org/drawingml/2006/main">
            <a:off x="3810000" y="49911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return success when a directory exists</a:t>
            </a:r>
          </a:p>
        </p:txBody>
      </p:sp>
    </p:spTree>
    <p:extLst>
      <p:ext uri="{BB962C8B-B14F-4D97-AF65-F5344CB8AC3E}">
        <p14:creationId xmlns:p14="http://schemas.microsoft.com/office/powerpoint/2010/main" val="864421531"/>
      </p:ext>
    </p:extLst>
  </p:cSld>
</p:sld>
</file>

<file path=ppt/slides/slide13.xml><?xml version="1.0" encoding="utf-8"?>
<p:sld xmlns:p="http://schemas.openxmlformats.org/presentationml/2006/main">
  <p:cSld>
    <p:bg>
      <p:bgPr>
        <a:solidFill xmlns:a="http://schemas.openxmlformats.org/drawingml/2006/main">
          <a:srgbClr val="180D25"/>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4E72F36-ADD4-41A2-8AEA-1668E0C29D0C}"/>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FF6F6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D135EB2-CD66-413E-A68E-60BB20601DF4}"/>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FF6F61"/>
                </a:solidFill>
              </a:defRPr>
            </a:pPr>
            <a:r>
              <a:rPr sz="900" b="1">
                <a:solidFill>
                  <a:srgbClr val="FF6F61"/>
                </a:solidFill>
              </a:rPr>
              <a:t>MODULE 1 · LIVE DEMO</a:t>
            </a:r>
          </a:p>
        </p:txBody>
      </p:sp>
      <p:sp>
        <p:nvSpPr>
          <p:cNvPr id="3" name="">
            <a:extLst xmlns:a="http://schemas.openxmlformats.org/drawingml/2006/main">
              <a:ext uri="{FF2B5EF4-FFF2-40B4-BE49-F238E27FC236}">
                <a16:creationId xmlns:a16="http://schemas.microsoft.com/office/drawing/2014/main" id="{D8B066E0-E6B9-4EF4-9162-97FCB995E829}"/>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CFC5D5"/>
                </a:solidFill>
              </a:defRPr>
            </a:pPr>
            <a:r>
              <a:rPr sz="825" b="1">
                <a:solidFill>
                  <a:srgbClr val="CFC5D5"/>
                </a:solidFill>
              </a:rPr>
              <a:t>LINUX FOUNDATIONS</a:t>
            </a:r>
          </a:p>
        </p:txBody>
      </p:sp>
      <p:sp>
        <p:nvSpPr>
          <p:cNvPr id="4" name="">
            <a:extLst xmlns:a="http://schemas.openxmlformats.org/drawingml/2006/main">
              <a:ext uri="{FF2B5EF4-FFF2-40B4-BE49-F238E27FC236}">
                <a16:creationId xmlns:a16="http://schemas.microsoft.com/office/drawing/2014/main" id="{094F1F26-8B06-4431-A399-9D546F34E495}"/>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AFA2B8"/>
                </a:solidFill>
              </a:defRPr>
            </a:pPr>
            <a:r>
              <a:rPr sz="825" b="0">
                <a:solidFill>
                  <a:srgbClr val="AFA2B8"/>
                </a:solidFill>
              </a:rPr>
              <a:t>13</a:t>
            </a:r>
          </a:p>
        </p:txBody>
      </p:sp>
      <p:sp>
        <p:nvSpPr>
          <p:cNvPr id="5" name="">
            <a:extLst xmlns:a="http://schemas.openxmlformats.org/drawingml/2006/main">
              <a:ext uri="{FF2B5EF4-FFF2-40B4-BE49-F238E27FC236}">
                <a16:creationId xmlns:a16="http://schemas.microsoft.com/office/drawing/2014/main" id="{D8C66215-EBAA-4CEC-90E2-A3A1F5F96CBF}"/>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FFFFFF"/>
                </a:solidFill>
              </a:defRPr>
            </a:pPr>
            <a:r>
              <a:rPr sz="2850" b="1">
                <a:solidFill>
                  <a:srgbClr val="FFFFFF"/>
                </a:solidFill>
              </a:rPr>
              <a:t>Predict the evidence before Demo 1</a:t>
            </a:r>
          </a:p>
        </p:txBody>
      </p:sp>
      <p:sp>
        <p:nvSpPr>
          <p:cNvPr id="6" name="">
            <a:extLst xmlns:a="http://schemas.openxmlformats.org/drawingml/2006/main">
              <a:ext uri="{FF2B5EF4-FFF2-40B4-BE49-F238E27FC236}">
                <a16:creationId xmlns:a16="http://schemas.microsoft.com/office/drawing/2014/main" id="{6AF085B1-5C2F-419E-9A95-305BAC0F985C}"/>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E6DDEB"/>
                </a:solidFill>
              </a:defRPr>
            </a:pPr>
            <a:r>
              <a:rPr sz="1650" b="0">
                <a:solidFill>
                  <a:srgbClr val="E6DDEB"/>
                </a:solidFill>
              </a:rPr>
              <a:t>Compare /etc/os-release, uname -r, and PID 1 on the controller and in a separate demo container.</a:t>
            </a:r>
          </a:p>
        </p:txBody>
      </p:sp>
      <p:sp>
        <p:nvSpPr>
          <p:cNvPr id="7" name="">
            <a:extLst xmlns:a="http://schemas.openxmlformats.org/drawingml/2006/main">
              <a:ext uri="{FF2B5EF4-FFF2-40B4-BE49-F238E27FC236}">
                <a16:creationId xmlns:a16="http://schemas.microsoft.com/office/drawing/2014/main" id="{63DE28CC-2A72-42F7-B150-B2A15F7F625F}"/>
              </a:ext>
            </a:extLst>
          </p:cNvPr>
          <p:cNvSpPr>
            <a:spLocks xmlns:a="http://schemas.openxmlformats.org/drawingml/2006/main" noGrp="1"/>
          </p:cNvSpPr>
          <p:nvPr/>
        </p:nvSpPr>
        <p:spPr>
          <a:xfrm xmlns:a="http://schemas.openxmlformats.org/drawingml/2006/main">
            <a:off x="666750" y="2476500"/>
            <a:ext cx="10096500" cy="781050"/>
          </a:xfrm>
          <a:prstGeom xmlns:a="http://schemas.openxmlformats.org/drawingml/2006/main" prst="roundRect">
            <a:avLst>
              <a:gd name="adj" fmla="val 14634"/>
            </a:avLst>
          </a:prstGeom>
          <a:solidFill xmlns:a="http://schemas.openxmlformats.org/drawingml/2006/main">
            <a:srgbClr val="2C173E"/>
          </a:solidFill>
          <a:ln xmlns:a="http://schemas.openxmlformats.org/drawingml/2006/main" w="9525">
            <a:solidFill>
              <a:srgbClr val="7650F8"/>
            </a:solidFill>
            <a:prstDash val="solid"/>
          </a:ln>
        </p:spPr>
      </p:sp>
      <p:sp>
        <p:nvSpPr>
          <p:cNvPr id="8" name="">
            <a:extLst xmlns:a="http://schemas.openxmlformats.org/drawingml/2006/main">
              <a:ext uri="{FF2B5EF4-FFF2-40B4-BE49-F238E27FC236}">
                <a16:creationId xmlns:a16="http://schemas.microsoft.com/office/drawing/2014/main" id="{7BC4DCC5-72C2-4591-9510-2C589B9F851F}"/>
              </a:ext>
            </a:extLst>
          </p:cNvPr>
          <p:cNvSpPr>
            <a:spLocks xmlns:a="http://schemas.openxmlformats.org/drawingml/2006/main" noGrp="1"/>
          </p:cNvSpPr>
          <p:nvPr/>
        </p:nvSpPr>
        <p:spPr>
          <a:xfrm xmlns:a="http://schemas.openxmlformats.org/drawingml/2006/main">
            <a:off x="895350" y="2590800"/>
            <a:ext cx="9620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FFFFFF"/>
                </a:solidFill>
              </a:defRPr>
            </a:pPr>
            <a:r>
              <a:rPr sz="1575" b="0">
                <a:solidFill>
                  <a:srgbClr val="FFFFFF"/>
                </a:solidFill>
              </a:rPr>
              <a:t>Compare /etc/os-release, uname -r, and PID 1 on the controller and in a separate demo container.</a:t>
            </a:r>
          </a:p>
        </p:txBody>
      </p:sp>
      <p:sp>
        <p:nvSpPr>
          <p:cNvPr id="9" name="">
            <a:extLst xmlns:a="http://schemas.openxmlformats.org/drawingml/2006/main">
              <a:ext uri="{FF2B5EF4-FFF2-40B4-BE49-F238E27FC236}">
                <a16:creationId xmlns:a16="http://schemas.microsoft.com/office/drawing/2014/main" id="{3A285C2D-DD54-4E1F-A676-EF28CCBD0C4D}"/>
              </a:ext>
            </a:extLst>
          </p:cNvPr>
          <p:cNvSpPr>
            <a:spLocks xmlns:a="http://schemas.openxmlformats.org/drawingml/2006/main" noGrp="1"/>
          </p:cNvSpPr>
          <p:nvPr/>
        </p:nvSpPr>
        <p:spPr>
          <a:xfrm xmlns:a="http://schemas.openxmlformats.org/drawingml/2006/main">
            <a:off x="904875" y="38195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FE6D6AB-BF2B-49EB-A0E2-AE63F3AC54FA}"/>
              </a:ext>
            </a:extLst>
          </p:cNvPr>
          <p:cNvSpPr>
            <a:spLocks xmlns:a="http://schemas.openxmlformats.org/drawingml/2006/main" noGrp="1"/>
          </p:cNvSpPr>
          <p:nvPr/>
        </p:nvSpPr>
        <p:spPr>
          <a:xfrm xmlns:a="http://schemas.openxmlformats.org/drawingml/2006/main">
            <a:off x="1152525" y="3619500"/>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State the operating question</a:t>
            </a:r>
          </a:p>
        </p:txBody>
      </p:sp>
      <p:sp>
        <p:nvSpPr>
          <p:cNvPr id="11" name="">
            <a:extLst xmlns:a="http://schemas.openxmlformats.org/drawingml/2006/main">
              <a:ext uri="{FF2B5EF4-FFF2-40B4-BE49-F238E27FC236}">
                <a16:creationId xmlns:a16="http://schemas.microsoft.com/office/drawing/2014/main" id="{E249FE4D-4C0E-435F-A079-BB3C3C93DB05}"/>
              </a:ext>
            </a:extLst>
          </p:cNvPr>
          <p:cNvSpPr>
            <a:spLocks xmlns:a="http://schemas.openxmlformats.org/drawingml/2006/main" noGrp="1"/>
          </p:cNvSpPr>
          <p:nvPr/>
        </p:nvSpPr>
        <p:spPr>
          <a:xfrm xmlns:a="http://schemas.openxmlformats.org/drawingml/2006/main">
            <a:off x="904875" y="43434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3ECDA46-F202-4560-8095-216E906486F2}"/>
              </a:ext>
            </a:extLst>
          </p:cNvPr>
          <p:cNvSpPr>
            <a:spLocks xmlns:a="http://schemas.openxmlformats.org/drawingml/2006/main" noGrp="1"/>
          </p:cNvSpPr>
          <p:nvPr/>
        </p:nvSpPr>
        <p:spPr>
          <a:xfrm xmlns:a="http://schemas.openxmlformats.org/drawingml/2006/main">
            <a:off x="1152525" y="4143375"/>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Ask for one prediction</a:t>
            </a:r>
          </a:p>
        </p:txBody>
      </p:sp>
      <p:sp>
        <p:nvSpPr>
          <p:cNvPr id="13" name="">
            <a:extLst xmlns:a="http://schemas.openxmlformats.org/drawingml/2006/main">
              <a:ext uri="{FF2B5EF4-FFF2-40B4-BE49-F238E27FC236}">
                <a16:creationId xmlns:a16="http://schemas.microsoft.com/office/drawing/2014/main" id="{F83374FB-1928-4C50-ABE7-2AA752D5A032}"/>
              </a:ext>
            </a:extLst>
          </p:cNvPr>
          <p:cNvSpPr>
            <a:spLocks xmlns:a="http://schemas.openxmlformats.org/drawingml/2006/main" noGrp="1"/>
          </p:cNvSpPr>
          <p:nvPr/>
        </p:nvSpPr>
        <p:spPr>
          <a:xfrm xmlns:a="http://schemas.openxmlformats.org/drawingml/2006/main">
            <a:off x="904875" y="48672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CC04B5C-EBE2-4CE5-BD71-4827561DA534}"/>
              </a:ext>
            </a:extLst>
          </p:cNvPr>
          <p:cNvSpPr>
            <a:spLocks xmlns:a="http://schemas.openxmlformats.org/drawingml/2006/main" noGrp="1"/>
          </p:cNvSpPr>
          <p:nvPr/>
        </p:nvSpPr>
        <p:spPr>
          <a:xfrm xmlns:a="http://schemas.openxmlformats.org/drawingml/2006/main">
            <a:off x="1152525" y="4667250"/>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Run one command at a time</a:t>
            </a:r>
          </a:p>
        </p:txBody>
      </p:sp>
      <p:sp>
        <p:nvSpPr>
          <p:cNvPr id="15" name="">
            <a:extLst xmlns:a="http://schemas.openxmlformats.org/drawingml/2006/main">
              <a:ext uri="{FF2B5EF4-FFF2-40B4-BE49-F238E27FC236}">
                <a16:creationId xmlns:a16="http://schemas.microsoft.com/office/drawing/2014/main" id="{72D2E77A-2C67-4524-822A-CD02D47ACEA7}"/>
              </a:ext>
            </a:extLst>
          </p:cNvPr>
          <p:cNvSpPr>
            <a:spLocks xmlns:a="http://schemas.openxmlformats.org/drawingml/2006/main" noGrp="1"/>
          </p:cNvSpPr>
          <p:nvPr/>
        </p:nvSpPr>
        <p:spPr>
          <a:xfrm xmlns:a="http://schemas.openxmlformats.org/drawingml/2006/main">
            <a:off x="904875" y="539115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DFB65D58-B82D-4105-8569-F7A501558BE3}"/>
              </a:ext>
            </a:extLst>
          </p:cNvPr>
          <p:cNvSpPr>
            <a:spLocks xmlns:a="http://schemas.openxmlformats.org/drawingml/2006/main" noGrp="1"/>
          </p:cNvSpPr>
          <p:nvPr/>
        </p:nvSpPr>
        <p:spPr>
          <a:xfrm xmlns:a="http://schemas.openxmlformats.org/drawingml/2006/main">
            <a:off x="1152525" y="5191125"/>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Verify through a different interface</a:t>
            </a:r>
          </a:p>
        </p:txBody>
      </p:sp>
      <p:sp>
        <p:nvSpPr>
          <p:cNvPr id="17" name="">
            <a:extLst xmlns:a="http://schemas.openxmlformats.org/drawingml/2006/main">
              <a:ext uri="{FF2B5EF4-FFF2-40B4-BE49-F238E27FC236}">
                <a16:creationId xmlns:a16="http://schemas.microsoft.com/office/drawing/2014/main" id="{9FCE61F3-D83C-427A-93E2-8CCBDD978ECC}"/>
              </a:ext>
            </a:extLst>
          </p:cNvPr>
          <p:cNvSpPr>
            <a:spLocks xmlns:a="http://schemas.openxmlformats.org/drawingml/2006/main" noGrp="1"/>
          </p:cNvSpPr>
          <p:nvPr/>
        </p:nvSpPr>
        <p:spPr>
          <a:xfrm xmlns:a="http://schemas.openxmlformats.org/drawingml/2006/main">
            <a:off x="904875" y="5886450"/>
            <a:ext cx="962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00" b="1">
                <a:solidFill>
                  <a:srgbClr val="71D6B3"/>
                </a:solidFill>
              </a:defRPr>
            </a:pPr>
            <a:r>
              <a:rPr sz="1200" b="1">
                <a:solidFill>
                  <a:srgbClr val="71D6B3"/>
                </a:solidFill>
              </a:rPr>
              <a:t>Instructor seat only · predict before typing · verify through another interface</a:t>
            </a:r>
          </a:p>
        </p:txBody>
      </p:sp>
    </p:spTree>
    <p:extLst>
      <p:ext uri="{BB962C8B-B14F-4D97-AF65-F5344CB8AC3E}">
        <p14:creationId xmlns:p14="http://schemas.microsoft.com/office/powerpoint/2010/main" val="956357748"/>
      </p:ext>
    </p:extLst>
  </p:cSld>
</p:sld>
</file>

<file path=ppt/slides/slide14.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F4165C3-00B8-4469-BA13-1A80E388CCD7}"/>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E5A7960-3C7D-469B-A361-30E7A11BB774}"/>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1 · LAB READINESS</a:t>
            </a:r>
          </a:p>
        </p:txBody>
      </p:sp>
      <p:sp>
        <p:nvSpPr>
          <p:cNvPr id="3" name="">
            <a:extLst xmlns:a="http://schemas.openxmlformats.org/drawingml/2006/main">
              <a:ext uri="{FF2B5EF4-FFF2-40B4-BE49-F238E27FC236}">
                <a16:creationId xmlns:a16="http://schemas.microsoft.com/office/drawing/2014/main" id="{B6688E89-7004-4260-B340-81B162EBD349}"/>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F0574EB7-4809-4D82-9711-915CBE405623}"/>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14</a:t>
            </a:r>
          </a:p>
        </p:txBody>
      </p:sp>
      <p:sp>
        <p:nvSpPr>
          <p:cNvPr id="5" name="">
            <a:extLst xmlns:a="http://schemas.openxmlformats.org/drawingml/2006/main">
              <a:ext uri="{FF2B5EF4-FFF2-40B4-BE49-F238E27FC236}">
                <a16:creationId xmlns:a16="http://schemas.microsoft.com/office/drawing/2014/main" id="{4FDAFE8C-0AF9-4776-9A8F-B20F3A906D3F}"/>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Before Lab 1, you should be able to…</a:t>
            </a:r>
          </a:p>
        </p:txBody>
      </p:sp>
      <p:sp>
        <p:nvSpPr>
          <p:cNvPr id="6" name="">
            <a:extLst xmlns:a="http://schemas.openxmlformats.org/drawingml/2006/main">
              <a:ext uri="{FF2B5EF4-FFF2-40B4-BE49-F238E27FC236}">
                <a16:creationId xmlns:a16="http://schemas.microsoft.com/office/drawing/2014/main" id="{1B58F927-B4FA-4640-B30E-51E5E22C4BB1}"/>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If one item is unclear, revisit the model or worked example before opening the terminal.</a:t>
            </a:r>
          </a:p>
        </p:txBody>
      </p:sp>
      <p:sp>
        <p:nvSpPr>
          <p:cNvPr id="7" name="">
            <a:extLst xmlns:a="http://schemas.openxmlformats.org/drawingml/2006/main">
              <a:ext uri="{FF2B5EF4-FFF2-40B4-BE49-F238E27FC236}">
                <a16:creationId xmlns:a16="http://schemas.microsoft.com/office/drawing/2014/main" id="{D701086F-ADE8-4F26-8EAF-758C3C949F2C}"/>
              </a:ext>
            </a:extLst>
          </p:cNvPr>
          <p:cNvSpPr>
            <a:spLocks xmlns:a="http://schemas.openxmlformats.org/drawingml/2006/main" noGrp="1"/>
          </p:cNvSpPr>
          <p:nvPr/>
        </p:nvSpPr>
        <p:spPr>
          <a:xfrm xmlns:a="http://schemas.openxmlformats.org/drawingml/2006/main">
            <a:off x="781050" y="29051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949E804-5F87-4270-929C-F76E4F029048}"/>
              </a:ext>
            </a:extLst>
          </p:cNvPr>
          <p:cNvSpPr>
            <a:spLocks xmlns:a="http://schemas.openxmlformats.org/drawingml/2006/main" noGrp="1"/>
          </p:cNvSpPr>
          <p:nvPr/>
        </p:nvSpPr>
        <p:spPr>
          <a:xfrm xmlns:a="http://schemas.openxmlformats.org/drawingml/2006/main">
            <a:off x="1028700" y="26479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Explain kernel versus user space</a:t>
            </a:r>
          </a:p>
        </p:txBody>
      </p:sp>
      <p:sp>
        <p:nvSpPr>
          <p:cNvPr id="9" name="">
            <a:extLst xmlns:a="http://schemas.openxmlformats.org/drawingml/2006/main">
              <a:ext uri="{FF2B5EF4-FFF2-40B4-BE49-F238E27FC236}">
                <a16:creationId xmlns:a16="http://schemas.microsoft.com/office/drawing/2014/main" id="{2CFEFE29-3F22-4E40-949D-D03E8BEE22A3}"/>
              </a:ext>
            </a:extLst>
          </p:cNvPr>
          <p:cNvSpPr>
            <a:spLocks xmlns:a="http://schemas.openxmlformats.org/drawingml/2006/main" noGrp="1"/>
          </p:cNvSpPr>
          <p:nvPr/>
        </p:nvSpPr>
        <p:spPr>
          <a:xfrm xmlns:a="http://schemas.openxmlformats.org/drawingml/2006/main">
            <a:off x="781050" y="355282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9BF8F34-6FD4-4877-8E1A-8E7AF3AAC2F4}"/>
              </a:ext>
            </a:extLst>
          </p:cNvPr>
          <p:cNvSpPr>
            <a:spLocks xmlns:a="http://schemas.openxmlformats.org/drawingml/2006/main" noGrp="1"/>
          </p:cNvSpPr>
          <p:nvPr/>
        </p:nvSpPr>
        <p:spPr>
          <a:xfrm xmlns:a="http://schemas.openxmlformats.org/drawingml/2006/main">
            <a:off x="1028700" y="32956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Recognize prompt, command, arguments, quoting, and expansion</a:t>
            </a:r>
          </a:p>
        </p:txBody>
      </p:sp>
      <p:sp>
        <p:nvSpPr>
          <p:cNvPr id="11" name="">
            <a:extLst xmlns:a="http://schemas.openxmlformats.org/drawingml/2006/main">
              <a:ext uri="{FF2B5EF4-FFF2-40B4-BE49-F238E27FC236}">
                <a16:creationId xmlns:a16="http://schemas.microsoft.com/office/drawing/2014/main" id="{E3DD493A-88D0-453E-B6D2-BE671B711647}"/>
              </a:ext>
            </a:extLst>
          </p:cNvPr>
          <p:cNvSpPr>
            <a:spLocks xmlns:a="http://schemas.openxmlformats.org/drawingml/2006/main" noGrp="1"/>
          </p:cNvSpPr>
          <p:nvPr/>
        </p:nvSpPr>
        <p:spPr>
          <a:xfrm xmlns:a="http://schemas.openxmlformats.org/drawingml/2006/main">
            <a:off x="781050" y="42005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FD0A8C7-106F-44F3-8CD2-4D2A9BFCB3B2}"/>
              </a:ext>
            </a:extLst>
          </p:cNvPr>
          <p:cNvSpPr>
            <a:spLocks xmlns:a="http://schemas.openxmlformats.org/drawingml/2006/main" noGrp="1"/>
          </p:cNvSpPr>
          <p:nvPr/>
        </p:nvSpPr>
        <p:spPr>
          <a:xfrm xmlns:a="http://schemas.openxmlformats.org/drawingml/2006/main">
            <a:off x="1028700" y="39433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Use redirection and immediately inspect the result</a:t>
            </a:r>
          </a:p>
        </p:txBody>
      </p:sp>
    </p:spTree>
    <p:extLst>
      <p:ext uri="{BB962C8B-B14F-4D97-AF65-F5344CB8AC3E}">
        <p14:creationId xmlns:p14="http://schemas.microsoft.com/office/powerpoint/2010/main" val="1245956992"/>
      </p:ext>
    </p:extLst>
  </p:cSld>
</p:sld>
</file>

<file path=ppt/slides/slide15.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19A7429-115E-48FD-9267-9CD420A4C4E3}"/>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03B55C8-D0B7-4CE9-BB03-8FA9D8946908}"/>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HANDS-ON · LAB 1</a:t>
            </a:r>
          </a:p>
        </p:txBody>
      </p:sp>
      <p:sp>
        <p:nvSpPr>
          <p:cNvPr id="3" name="">
            <a:extLst xmlns:a="http://schemas.openxmlformats.org/drawingml/2006/main">
              <a:ext uri="{FF2B5EF4-FFF2-40B4-BE49-F238E27FC236}">
                <a16:creationId xmlns:a16="http://schemas.microsoft.com/office/drawing/2014/main" id="{653877D2-7665-4718-8D87-4160DAF8297E}"/>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940FBF52-EFCD-4D9C-8EC0-9432B5A6151D}"/>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15</a:t>
            </a:r>
          </a:p>
        </p:txBody>
      </p:sp>
      <p:sp>
        <p:nvSpPr>
          <p:cNvPr id="5" name="">
            <a:extLst xmlns:a="http://schemas.openxmlformats.org/drawingml/2006/main">
              <a:ext uri="{FF2B5EF4-FFF2-40B4-BE49-F238E27FC236}">
                <a16:creationId xmlns:a16="http://schemas.microsoft.com/office/drawing/2014/main" id="{0E05A6A4-493F-45EB-AD4C-C96CEAE769AF}"/>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System boundaries and terminal survival</a:t>
            </a:r>
          </a:p>
        </p:txBody>
      </p:sp>
      <p:sp>
        <p:nvSpPr>
          <p:cNvPr id="6" name="">
            <a:extLst xmlns:a="http://schemas.openxmlformats.org/drawingml/2006/main">
              <a:ext uri="{FF2B5EF4-FFF2-40B4-BE49-F238E27FC236}">
                <a16:creationId xmlns:a16="http://schemas.microsoft.com/office/drawing/2014/main" id="{764DBCF4-CC1A-49BC-82EB-3094EC724AB3}"/>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Create system-profile.txt and path-map.txt that prove the seat’s user space, kernel, architecture, init system, and filesystem anchors.</a:t>
            </a:r>
          </a:p>
        </p:txBody>
      </p:sp>
      <p:sp>
        <p:nvSpPr>
          <p:cNvPr id="7" name="">
            <a:extLst xmlns:a="http://schemas.openxmlformats.org/drawingml/2006/main">
              <a:ext uri="{FF2B5EF4-FFF2-40B4-BE49-F238E27FC236}">
                <a16:creationId xmlns:a16="http://schemas.microsoft.com/office/drawing/2014/main" id="{B288AC4E-2D80-48D4-A467-0C90ACA321B0}"/>
              </a:ext>
            </a:extLst>
          </p:cNvPr>
          <p:cNvSpPr>
            <a:spLocks xmlns:a="http://schemas.openxmlformats.org/drawingml/2006/main" noGrp="1"/>
          </p:cNvSpPr>
          <p:nvPr/>
        </p:nvSpPr>
        <p:spPr>
          <a:xfrm xmlns:a="http://schemas.openxmlformats.org/drawingml/2006/main">
            <a:off x="514350" y="2457450"/>
            <a:ext cx="6762750" cy="2286000"/>
          </a:xfrm>
          <a:prstGeom xmlns:a="http://schemas.openxmlformats.org/drawingml/2006/main" prst="roundRect">
            <a:avLst>
              <a:gd name="adj" fmla="val 5000"/>
            </a:avLst>
          </a:prstGeom>
          <a:solidFill xmlns:a="http://schemas.openxmlformats.org/drawingml/2006/main">
            <a:srgbClr val="180D2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9D6978F-ED0F-4782-A29F-DCD971FFDA16}"/>
              </a:ext>
            </a:extLst>
          </p:cNvPr>
          <p:cNvSpPr>
            <a:spLocks xmlns:a="http://schemas.openxmlformats.org/drawingml/2006/main" noGrp="1"/>
          </p:cNvSpPr>
          <p:nvPr/>
        </p:nvSpPr>
        <p:spPr>
          <a:xfrm xmlns:a="http://schemas.openxmlformats.org/drawingml/2006/main">
            <a:off x="781050" y="2647950"/>
            <a:ext cx="6238875" cy="1847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FFFFFF"/>
                </a:solidFill>
              </a:defRPr>
            </a:pPr>
            <a:r>
              <a:rPr sz="1650" b="0">
                <a:solidFill>
                  <a:srgbClr val="FFFFFF"/>
                </a:solidFill>
              </a:rPr>
              <a:t>Create system-profile.txt and path-map.txt that prove the seat’s user space, kernel, architecture, init system, and filesystem anchors.</a:t>
            </a:r>
          </a:p>
        </p:txBody>
      </p:sp>
      <p:sp>
        <p:nvSpPr>
          <p:cNvPr id="9" name="">
            <a:extLst xmlns:a="http://schemas.openxmlformats.org/drawingml/2006/main">
              <a:ext uri="{FF2B5EF4-FFF2-40B4-BE49-F238E27FC236}">
                <a16:creationId xmlns:a16="http://schemas.microsoft.com/office/drawing/2014/main" id="{0DB7FFCF-23C8-443A-947A-95372E0EBACF}"/>
              </a:ext>
            </a:extLst>
          </p:cNvPr>
          <p:cNvSpPr>
            <a:spLocks xmlns:a="http://schemas.openxmlformats.org/drawingml/2006/main" noGrp="1"/>
          </p:cNvSpPr>
          <p:nvPr/>
        </p:nvSpPr>
        <p:spPr>
          <a:xfrm xmlns:a="http://schemas.openxmlformats.org/drawingml/2006/main">
            <a:off x="7762875" y="26955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556AF8A-D525-4E04-B85B-6097E7376A3D}"/>
              </a:ext>
            </a:extLst>
          </p:cNvPr>
          <p:cNvSpPr>
            <a:spLocks xmlns:a="http://schemas.openxmlformats.org/drawingml/2006/main" noGrp="1"/>
          </p:cNvSpPr>
          <p:nvPr/>
        </p:nvSpPr>
        <p:spPr>
          <a:xfrm xmlns:a="http://schemas.openxmlformats.org/drawingml/2006/main">
            <a:off x="8010525" y="24765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15 minutes</a:t>
            </a:r>
          </a:p>
        </p:txBody>
      </p:sp>
      <p:sp>
        <p:nvSpPr>
          <p:cNvPr id="11" name="">
            <a:extLst xmlns:a="http://schemas.openxmlformats.org/drawingml/2006/main">
              <a:ext uri="{FF2B5EF4-FFF2-40B4-BE49-F238E27FC236}">
                <a16:creationId xmlns:a16="http://schemas.microsoft.com/office/drawing/2014/main" id="{F50B4969-0CA3-4486-92CC-A97FECCE24F6}"/>
              </a:ext>
            </a:extLst>
          </p:cNvPr>
          <p:cNvSpPr>
            <a:spLocks xmlns:a="http://schemas.openxmlformats.org/drawingml/2006/main" noGrp="1"/>
          </p:cNvSpPr>
          <p:nvPr/>
        </p:nvSpPr>
        <p:spPr>
          <a:xfrm xmlns:a="http://schemas.openxmlformats.org/drawingml/2006/main">
            <a:off x="7762875" y="32670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A610458-3573-4BD3-BA63-7ADA2A14F457}"/>
              </a:ext>
            </a:extLst>
          </p:cNvPr>
          <p:cNvSpPr>
            <a:spLocks xmlns:a="http://schemas.openxmlformats.org/drawingml/2006/main" noGrp="1"/>
          </p:cNvSpPr>
          <p:nvPr/>
        </p:nvSpPr>
        <p:spPr>
          <a:xfrm xmlns:a="http://schemas.openxmlformats.org/drawingml/2006/main">
            <a:off x="8010525" y="30480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Prepare/reset only this lab</a:t>
            </a:r>
          </a:p>
        </p:txBody>
      </p:sp>
      <p:sp>
        <p:nvSpPr>
          <p:cNvPr id="13" name="">
            <a:extLst xmlns:a="http://schemas.openxmlformats.org/drawingml/2006/main">
              <a:ext uri="{FF2B5EF4-FFF2-40B4-BE49-F238E27FC236}">
                <a16:creationId xmlns:a16="http://schemas.microsoft.com/office/drawing/2014/main" id="{23332941-EA23-4878-9BD2-B63D6E136D38}"/>
              </a:ext>
            </a:extLst>
          </p:cNvPr>
          <p:cNvSpPr>
            <a:spLocks xmlns:a="http://schemas.openxmlformats.org/drawingml/2006/main" noGrp="1"/>
          </p:cNvSpPr>
          <p:nvPr/>
        </p:nvSpPr>
        <p:spPr>
          <a:xfrm xmlns:a="http://schemas.openxmlformats.org/drawingml/2006/main">
            <a:off x="7762875" y="38385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41366F4-BDB5-471E-AB12-DF8184B3A78B}"/>
              </a:ext>
            </a:extLst>
          </p:cNvPr>
          <p:cNvSpPr>
            <a:spLocks xmlns:a="http://schemas.openxmlformats.org/drawingml/2006/main" noGrp="1"/>
          </p:cNvSpPr>
          <p:nvPr/>
        </p:nvSpPr>
        <p:spPr>
          <a:xfrm xmlns:a="http://schemas.openxmlformats.org/drawingml/2006/main">
            <a:off x="8010525" y="36195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Check observable state</a:t>
            </a:r>
          </a:p>
        </p:txBody>
      </p:sp>
      <p:sp>
        <p:nvSpPr>
          <p:cNvPr id="15" name="">
            <a:extLst xmlns:a="http://schemas.openxmlformats.org/drawingml/2006/main">
              <a:ext uri="{FF2B5EF4-FFF2-40B4-BE49-F238E27FC236}">
                <a16:creationId xmlns:a16="http://schemas.microsoft.com/office/drawing/2014/main" id="{02ABC613-D2F4-4921-9AD1-EFD52691BD22}"/>
              </a:ext>
            </a:extLst>
          </p:cNvPr>
          <p:cNvSpPr>
            <a:spLocks xmlns:a="http://schemas.openxmlformats.org/drawingml/2006/main" noGrp="1"/>
          </p:cNvSpPr>
          <p:nvPr/>
        </p:nvSpPr>
        <p:spPr>
          <a:xfrm xmlns:a="http://schemas.openxmlformats.org/drawingml/2006/main">
            <a:off x="7762875" y="44100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D6BF2E93-A93E-4BE4-8C39-7001BA3F7935}"/>
              </a:ext>
            </a:extLst>
          </p:cNvPr>
          <p:cNvSpPr>
            <a:spLocks xmlns:a="http://schemas.openxmlformats.org/drawingml/2006/main" noGrp="1"/>
          </p:cNvSpPr>
          <p:nvPr/>
        </p:nvSpPr>
        <p:spPr>
          <a:xfrm xmlns:a="http://schemas.openxmlformats.org/drawingml/2006/main">
            <a:off x="8010525" y="41910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Explain why the result follows</a:t>
            </a:r>
          </a:p>
        </p:txBody>
      </p:sp>
      <p:sp>
        <p:nvSpPr>
          <p:cNvPr id="17" name="">
            <a:extLst xmlns:a="http://schemas.openxmlformats.org/drawingml/2006/main">
              <a:ext uri="{FF2B5EF4-FFF2-40B4-BE49-F238E27FC236}">
                <a16:creationId xmlns:a16="http://schemas.microsoft.com/office/drawing/2014/main" id="{0652FDDA-F736-431E-A7CA-E752E1811A8E}"/>
              </a:ext>
            </a:extLst>
          </p:cNvPr>
          <p:cNvSpPr>
            <a:spLocks xmlns:a="http://schemas.openxmlformats.org/drawingml/2006/main" noGrp="1"/>
          </p:cNvSpPr>
          <p:nvPr/>
        </p:nvSpPr>
        <p:spPr>
          <a:xfrm xmlns:a="http://schemas.openxmlformats.org/drawingml/2006/main">
            <a:off x="514350" y="5391150"/>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350" b="1">
                <a:solidFill>
                  <a:srgbClr val="7650F8"/>
                </a:solidFill>
              </a:defRPr>
            </a:pPr>
            <a:r>
              <a:rPr sz="1350" b="1">
                <a:solidFill>
                  <a:srgbClr val="7650F8"/>
                </a:solidFill>
              </a:rPr>
              <a:t>Open the lab guide for exact tasks, hints, recovery, and checker criteria.</a:t>
            </a:r>
          </a:p>
        </p:txBody>
      </p:sp>
    </p:spTree>
    <p:extLst>
      <p:ext uri="{BB962C8B-B14F-4D97-AF65-F5344CB8AC3E}">
        <p14:creationId xmlns:p14="http://schemas.microsoft.com/office/powerpoint/2010/main" val="2055663890"/>
      </p:ext>
    </p:extLst>
  </p:cSld>
</p:sld>
</file>

<file path=ppt/slides/slide16.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3E1A9453-0F84-4F79-9DDE-9090160D7D69}"/>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F966D1B-61CF-400B-83E9-C3EB7F72F684}"/>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1 · DEBRIEF</a:t>
            </a:r>
          </a:p>
        </p:txBody>
      </p:sp>
      <p:sp>
        <p:nvSpPr>
          <p:cNvPr id="3" name="">
            <a:extLst xmlns:a="http://schemas.openxmlformats.org/drawingml/2006/main">
              <a:ext uri="{FF2B5EF4-FFF2-40B4-BE49-F238E27FC236}">
                <a16:creationId xmlns:a16="http://schemas.microsoft.com/office/drawing/2014/main" id="{22034228-8385-4C25-A908-551D8F061B14}"/>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AB35039A-DCB8-4776-8EFF-FA2DF226A9CE}"/>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16</a:t>
            </a:r>
          </a:p>
        </p:txBody>
      </p:sp>
      <p:sp>
        <p:nvSpPr>
          <p:cNvPr id="5" name="">
            <a:extLst xmlns:a="http://schemas.openxmlformats.org/drawingml/2006/main">
              <a:ext uri="{FF2B5EF4-FFF2-40B4-BE49-F238E27FC236}">
                <a16:creationId xmlns:a16="http://schemas.microsoft.com/office/drawing/2014/main" id="{2EC5717B-0C42-4706-B8EE-DF1ACFC48A38}"/>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Connect the result to the model</a:t>
            </a:r>
          </a:p>
        </p:txBody>
      </p:sp>
      <p:sp>
        <p:nvSpPr>
          <p:cNvPr id="6" name="">
            <a:extLst xmlns:a="http://schemas.openxmlformats.org/drawingml/2006/main">
              <a:ext uri="{FF2B5EF4-FFF2-40B4-BE49-F238E27FC236}">
                <a16:creationId xmlns:a16="http://schemas.microsoft.com/office/drawing/2014/main" id="{49A94345-E748-4266-B3B7-E555DAB5CCCE}"/>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The distribution and kernel answers can differ because they describe different layers. Next, paths tell us where objects live inside that environment.</a:t>
            </a:r>
          </a:p>
        </p:txBody>
      </p:sp>
      <p:sp>
        <p:nvSpPr>
          <p:cNvPr id="7" name="">
            <a:extLst xmlns:a="http://schemas.openxmlformats.org/drawingml/2006/main">
              <a:ext uri="{FF2B5EF4-FFF2-40B4-BE49-F238E27FC236}">
                <a16:creationId xmlns:a16="http://schemas.microsoft.com/office/drawing/2014/main" id="{ED1ABAE1-3C62-4EAF-895E-FE3248257841}"/>
              </a:ext>
            </a:extLst>
          </p:cNvPr>
          <p:cNvSpPr>
            <a:spLocks xmlns:a="http://schemas.openxmlformats.org/drawingml/2006/main" noGrp="1"/>
          </p:cNvSpPr>
          <p:nvPr/>
        </p:nvSpPr>
        <p:spPr>
          <a:xfrm xmlns:a="http://schemas.openxmlformats.org/drawingml/2006/main">
            <a:off x="514350" y="2524125"/>
            <a:ext cx="10668000" cy="1219200"/>
          </a:xfrm>
          <a:prstGeom xmlns:a="http://schemas.openxmlformats.org/drawingml/2006/main" prst="roundRect">
            <a:avLst>
              <a:gd name="adj" fmla="val 9375"/>
            </a:avLst>
          </a:prstGeom>
          <a:solidFill xmlns:a="http://schemas.openxmlformats.org/drawingml/2006/main">
            <a:srgbClr val="F0E7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BA1B157-BC33-48A6-9117-C1BBDAF4347A}"/>
              </a:ext>
            </a:extLst>
          </p:cNvPr>
          <p:cNvSpPr>
            <a:spLocks xmlns:a="http://schemas.openxmlformats.org/drawingml/2006/main" noGrp="1"/>
          </p:cNvSpPr>
          <p:nvPr/>
        </p:nvSpPr>
        <p:spPr>
          <a:xfrm xmlns:a="http://schemas.openxmlformats.org/drawingml/2006/main">
            <a:off x="762000" y="2686050"/>
            <a:ext cx="10191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1">
                <a:solidFill>
                  <a:srgbClr val="211729"/>
                </a:solidFill>
              </a:defRPr>
            </a:pPr>
            <a:r>
              <a:rPr sz="1725" b="1">
                <a:solidFill>
                  <a:srgbClr val="211729"/>
                </a:solidFill>
              </a:rPr>
              <a:t>The distribution and kernel answers can differ because they describe different layers. Next, paths tell us where objects live inside that environment.</a:t>
            </a:r>
          </a:p>
        </p:txBody>
      </p:sp>
      <p:sp>
        <p:nvSpPr>
          <p:cNvPr id="9" name="">
            <a:extLst xmlns:a="http://schemas.openxmlformats.org/drawingml/2006/main">
              <a:ext uri="{FF2B5EF4-FFF2-40B4-BE49-F238E27FC236}">
                <a16:creationId xmlns:a16="http://schemas.microsoft.com/office/drawing/2014/main" id="{8277D880-8D60-4D95-A0D9-0498B6DD12D0}"/>
              </a:ext>
            </a:extLst>
          </p:cNvPr>
          <p:cNvSpPr>
            <a:spLocks xmlns:a="http://schemas.openxmlformats.org/drawingml/2006/main" noGrp="1"/>
          </p:cNvSpPr>
          <p:nvPr/>
        </p:nvSpPr>
        <p:spPr>
          <a:xfrm xmlns:a="http://schemas.openxmlformats.org/drawingml/2006/main">
            <a:off x="762000" y="43243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7604968-FFBC-4536-A620-EBC126CE0F04}"/>
              </a:ext>
            </a:extLst>
          </p:cNvPr>
          <p:cNvSpPr>
            <a:spLocks xmlns:a="http://schemas.openxmlformats.org/drawingml/2006/main" noGrp="1"/>
          </p:cNvSpPr>
          <p:nvPr/>
        </p:nvSpPr>
        <p:spPr>
          <a:xfrm xmlns:a="http://schemas.openxmlformats.org/drawingml/2006/main">
            <a:off x="1009650" y="4095750"/>
            <a:ext cx="9658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What was declared or expected?</a:t>
            </a:r>
          </a:p>
        </p:txBody>
      </p:sp>
      <p:sp>
        <p:nvSpPr>
          <p:cNvPr id="11" name="">
            <a:extLst xmlns:a="http://schemas.openxmlformats.org/drawingml/2006/main">
              <a:ext uri="{FF2B5EF4-FFF2-40B4-BE49-F238E27FC236}">
                <a16:creationId xmlns:a16="http://schemas.microsoft.com/office/drawing/2014/main" id="{D31AF736-B39F-4F2D-B8CA-ECAEE2D243DA}"/>
              </a:ext>
            </a:extLst>
          </p:cNvPr>
          <p:cNvSpPr>
            <a:spLocks xmlns:a="http://schemas.openxmlformats.org/drawingml/2006/main" noGrp="1"/>
          </p:cNvSpPr>
          <p:nvPr/>
        </p:nvSpPr>
        <p:spPr>
          <a:xfrm xmlns:a="http://schemas.openxmlformats.org/drawingml/2006/main">
            <a:off x="762000" y="49149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5AC9087-9277-4163-A72A-C4302EAD9086}"/>
              </a:ext>
            </a:extLst>
          </p:cNvPr>
          <p:cNvSpPr>
            <a:spLocks xmlns:a="http://schemas.openxmlformats.org/drawingml/2006/main" noGrp="1"/>
          </p:cNvSpPr>
          <p:nvPr/>
        </p:nvSpPr>
        <p:spPr>
          <a:xfrm xmlns:a="http://schemas.openxmlformats.org/drawingml/2006/main">
            <a:off x="1009650" y="4686300"/>
            <a:ext cx="9658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What runtime state did you observe?</a:t>
            </a:r>
          </a:p>
        </p:txBody>
      </p:sp>
      <p:sp>
        <p:nvSpPr>
          <p:cNvPr id="13" name="">
            <a:extLst xmlns:a="http://schemas.openxmlformats.org/drawingml/2006/main">
              <a:ext uri="{FF2B5EF4-FFF2-40B4-BE49-F238E27FC236}">
                <a16:creationId xmlns:a16="http://schemas.microsoft.com/office/drawing/2014/main" id="{42D0D58D-2AD3-40E5-B6D3-4EC8AF896CA5}"/>
              </a:ext>
            </a:extLst>
          </p:cNvPr>
          <p:cNvSpPr>
            <a:spLocks xmlns:a="http://schemas.openxmlformats.org/drawingml/2006/main" noGrp="1"/>
          </p:cNvSpPr>
          <p:nvPr/>
        </p:nvSpPr>
        <p:spPr>
          <a:xfrm xmlns:a="http://schemas.openxmlformats.org/drawingml/2006/main">
            <a:off x="762000" y="55054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C9BEB13-B589-478F-963C-CE658D3E8E7C}"/>
              </a:ext>
            </a:extLst>
          </p:cNvPr>
          <p:cNvSpPr>
            <a:spLocks xmlns:a="http://schemas.openxmlformats.org/drawingml/2006/main" noGrp="1"/>
          </p:cNvSpPr>
          <p:nvPr/>
        </p:nvSpPr>
        <p:spPr>
          <a:xfrm xmlns:a="http://schemas.openxmlformats.org/drawingml/2006/main">
            <a:off x="1009650" y="5276850"/>
            <a:ext cx="9658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Which independent evidence closed the claim?</a:t>
            </a:r>
          </a:p>
        </p:txBody>
      </p:sp>
    </p:spTree>
    <p:extLst>
      <p:ext uri="{BB962C8B-B14F-4D97-AF65-F5344CB8AC3E}">
        <p14:creationId xmlns:p14="http://schemas.microsoft.com/office/powerpoint/2010/main" val="1188271790"/>
      </p:ext>
    </p:extLst>
  </p:cSld>
</p:sld>
</file>

<file path=ppt/slides/slide17.xml><?xml version="1.0" encoding="utf-8"?>
<p:sld xmlns:p="http://schemas.openxmlformats.org/presentationml/2006/main">
  <p:cSld>
    <p:bg>
      <p:bgPr>
        <a:solidFill xmlns:a="http://schemas.openxmlformats.org/drawingml/2006/main">
          <a:srgbClr val="180D2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855E45F-0659-4D25-AA9F-C6050A71A686}"/>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FF6F6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744A57D-6812-4820-B2BE-4B616C85B150}"/>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FF6F61"/>
                </a:solidFill>
              </a:defRPr>
            </a:pPr>
            <a:r>
              <a:rPr sz="900" b="1">
                <a:solidFill>
                  <a:srgbClr val="FF6F61"/>
                </a:solidFill>
              </a:rPr>
              <a:t>MODULE 2</a:t>
            </a:r>
          </a:p>
        </p:txBody>
      </p:sp>
      <p:sp>
        <p:nvSpPr>
          <p:cNvPr id="3" name="">
            <a:extLst xmlns:a="http://schemas.openxmlformats.org/drawingml/2006/main">
              <a:ext uri="{FF2B5EF4-FFF2-40B4-BE49-F238E27FC236}">
                <a16:creationId xmlns:a16="http://schemas.microsoft.com/office/drawing/2014/main" id="{41488DF6-4936-4D40-BD8E-33D5C3EFAAD9}"/>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CFC5D5"/>
                </a:solidFill>
              </a:defRPr>
            </a:pPr>
            <a:r>
              <a:rPr sz="825" b="1">
                <a:solidFill>
                  <a:srgbClr val="CFC5D5"/>
                </a:solidFill>
              </a:rPr>
              <a:t>LINUX FOUNDATIONS</a:t>
            </a:r>
          </a:p>
        </p:txBody>
      </p:sp>
      <p:sp>
        <p:nvSpPr>
          <p:cNvPr id="4" name="">
            <a:extLst xmlns:a="http://schemas.openxmlformats.org/drawingml/2006/main">
              <a:ext uri="{FF2B5EF4-FFF2-40B4-BE49-F238E27FC236}">
                <a16:creationId xmlns:a16="http://schemas.microsoft.com/office/drawing/2014/main" id="{CF3B7368-576A-420D-997F-909FF075E5E5}"/>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AFA2B8"/>
                </a:solidFill>
              </a:defRPr>
            </a:pPr>
            <a:r>
              <a:rPr sz="825" b="0">
                <a:solidFill>
                  <a:srgbClr val="AFA2B8"/>
                </a:solidFill>
              </a:rPr>
              <a:t>17</a:t>
            </a:r>
          </a:p>
        </p:txBody>
      </p:sp>
      <p:sp>
        <p:nvSpPr>
          <p:cNvPr id="5" name="">
            <a:extLst xmlns:a="http://schemas.openxmlformats.org/drawingml/2006/main">
              <a:ext uri="{FF2B5EF4-FFF2-40B4-BE49-F238E27FC236}">
                <a16:creationId xmlns:a16="http://schemas.microsoft.com/office/drawing/2014/main" id="{59B92775-FA35-4B1D-9D4A-65ED35CEC488}"/>
              </a:ext>
            </a:extLst>
          </p:cNvPr>
          <p:cNvSpPr>
            <a:spLocks xmlns:a="http://schemas.openxmlformats.org/drawingml/2006/main" noGrp="1"/>
          </p:cNvSpPr>
          <p:nvPr/>
        </p:nvSpPr>
        <p:spPr>
          <a:xfrm xmlns:a="http://schemas.openxmlformats.org/drawingml/2006/main">
            <a:off x="666750" y="1123950"/>
            <a:ext cx="1524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5400" b="1">
                <a:solidFill>
                  <a:srgbClr val="FF6F61"/>
                </a:solidFill>
              </a:defRPr>
            </a:pPr>
            <a:r>
              <a:rPr sz="5400" b="1">
                <a:solidFill>
                  <a:srgbClr val="FF6F61"/>
                </a:solidFill>
              </a:rPr>
              <a:t>02</a:t>
            </a:r>
          </a:p>
        </p:txBody>
      </p:sp>
      <p:sp>
        <p:nvSpPr>
          <p:cNvPr id="6" name="">
            <a:extLst xmlns:a="http://schemas.openxmlformats.org/drawingml/2006/main">
              <a:ext uri="{FF2B5EF4-FFF2-40B4-BE49-F238E27FC236}">
                <a16:creationId xmlns:a16="http://schemas.microsoft.com/office/drawing/2014/main" id="{7195935D-634B-48F5-8045-08D2B6A82972}"/>
              </a:ext>
            </a:extLst>
          </p:cNvPr>
          <p:cNvSpPr>
            <a:spLocks xmlns:a="http://schemas.openxmlformats.org/drawingml/2006/main" noGrp="1"/>
          </p:cNvSpPr>
          <p:nvPr/>
        </p:nvSpPr>
        <p:spPr>
          <a:xfrm xmlns:a="http://schemas.openxmlformats.org/drawingml/2006/main">
            <a:off x="2381250" y="1123950"/>
            <a:ext cx="8096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150" b="1">
                <a:solidFill>
                  <a:srgbClr val="FFFFFF"/>
                </a:solidFill>
              </a:defRPr>
            </a:pPr>
            <a:r>
              <a:rPr sz="3150" b="1">
                <a:solidFill>
                  <a:srgbClr val="FFFFFF"/>
                </a:solidFill>
              </a:rPr>
              <a:t>Filesystem navigation, objects, and links</a:t>
            </a:r>
          </a:p>
        </p:txBody>
      </p:sp>
      <p:sp>
        <p:nvSpPr>
          <p:cNvPr id="7" name="">
            <a:extLst xmlns:a="http://schemas.openxmlformats.org/drawingml/2006/main">
              <a:ext uri="{FF2B5EF4-FFF2-40B4-BE49-F238E27FC236}">
                <a16:creationId xmlns:a16="http://schemas.microsoft.com/office/drawing/2014/main" id="{C90111B5-F4B6-481F-8924-FEBF8C9D3B89}"/>
              </a:ext>
            </a:extLst>
          </p:cNvPr>
          <p:cNvSpPr>
            <a:spLocks xmlns:a="http://schemas.openxmlformats.org/drawingml/2006/main" noGrp="1"/>
          </p:cNvSpPr>
          <p:nvPr/>
        </p:nvSpPr>
        <p:spPr>
          <a:xfrm xmlns:a="http://schemas.openxmlformats.org/drawingml/2006/main">
            <a:off x="2381250" y="2400300"/>
            <a:ext cx="7810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950" b="0">
                <a:solidFill>
                  <a:srgbClr val="E9DFED"/>
                </a:solidFill>
              </a:defRPr>
            </a:pPr>
            <a:r>
              <a:rPr sz="1950" b="0">
                <a:solidFill>
                  <a:srgbClr val="E9DFED"/>
                </a:solidFill>
              </a:rPr>
              <a:t>How does Linux resolve a pathname into an object?</a:t>
            </a:r>
          </a:p>
        </p:txBody>
      </p:sp>
      <p:sp>
        <p:nvSpPr>
          <p:cNvPr id="8" name="">
            <a:extLst xmlns:a="http://schemas.openxmlformats.org/drawingml/2006/main">
              <a:ext uri="{FF2B5EF4-FFF2-40B4-BE49-F238E27FC236}">
                <a16:creationId xmlns:a16="http://schemas.microsoft.com/office/drawing/2014/main" id="{53B3C1BB-A3FD-4916-A07D-1873618BCF15}"/>
              </a:ext>
            </a:extLst>
          </p:cNvPr>
          <p:cNvSpPr>
            <a:spLocks xmlns:a="http://schemas.openxmlformats.org/drawingml/2006/main" noGrp="1"/>
          </p:cNvSpPr>
          <p:nvPr/>
        </p:nvSpPr>
        <p:spPr>
          <a:xfrm xmlns:a="http://schemas.openxmlformats.org/drawingml/2006/main">
            <a:off x="2381250" y="3790950"/>
            <a:ext cx="6858000" cy="381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B72EC9BA-C078-418B-BB20-9FBFA21512C0}"/>
              </a:ext>
            </a:extLst>
          </p:cNvPr>
          <p:cNvSpPr>
            <a:spLocks xmlns:a="http://schemas.openxmlformats.org/drawingml/2006/main" noGrp="1"/>
          </p:cNvSpPr>
          <p:nvPr/>
        </p:nvSpPr>
        <p:spPr>
          <a:xfrm xmlns:a="http://schemas.openxmlformats.org/drawingml/2006/main">
            <a:off x="2381250" y="400050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0">
                <a:solidFill>
                  <a:srgbClr val="BFB1C7"/>
                </a:solidFill>
              </a:defRPr>
            </a:pPr>
            <a:r>
              <a:rPr sz="1275" b="0">
                <a:solidFill>
                  <a:srgbClr val="BFB1C7"/>
                </a:solidFill>
              </a:rPr>
              <a:t>General Linux · FHS + Linux VFS</a:t>
            </a:r>
          </a:p>
        </p:txBody>
      </p:sp>
    </p:spTree>
    <p:extLst>
      <p:ext uri="{BB962C8B-B14F-4D97-AF65-F5344CB8AC3E}">
        <p14:creationId xmlns:p14="http://schemas.microsoft.com/office/powerpoint/2010/main" val="564449837"/>
      </p:ext>
    </p:extLst>
  </p:cSld>
</p:sld>
</file>

<file path=ppt/slides/slide18.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2CA54F8-A3D8-444C-B857-ACDB8859A6AB}"/>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46E53DC-1237-4BB8-8A3E-59DF558CE344}"/>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2 · MODEL</a:t>
            </a:r>
          </a:p>
        </p:txBody>
      </p:sp>
      <p:sp>
        <p:nvSpPr>
          <p:cNvPr id="3" name="">
            <a:extLst xmlns:a="http://schemas.openxmlformats.org/drawingml/2006/main">
              <a:ext uri="{FF2B5EF4-FFF2-40B4-BE49-F238E27FC236}">
                <a16:creationId xmlns:a16="http://schemas.microsoft.com/office/drawing/2014/main" id="{B4737894-F2C9-405D-B1DA-4B79DC2DCD43}"/>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86AFACB6-50A1-46AE-B36D-CF540F129485}"/>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18</a:t>
            </a:r>
          </a:p>
        </p:txBody>
      </p:sp>
      <p:sp>
        <p:nvSpPr>
          <p:cNvPr id="5" name="">
            <a:extLst xmlns:a="http://schemas.openxmlformats.org/drawingml/2006/main">
              <a:ext uri="{FF2B5EF4-FFF2-40B4-BE49-F238E27FC236}">
                <a16:creationId xmlns:a16="http://schemas.microsoft.com/office/drawing/2014/main" id="{E6A49BEB-717E-4561-AC8F-780DB79497E9}"/>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Paths resolve from a starting point</a:t>
            </a:r>
          </a:p>
        </p:txBody>
      </p:sp>
      <p:sp>
        <p:nvSpPr>
          <p:cNvPr id="6" name="">
            <a:extLst xmlns:a="http://schemas.openxmlformats.org/drawingml/2006/main">
              <a:ext uri="{FF2B5EF4-FFF2-40B4-BE49-F238E27FC236}">
                <a16:creationId xmlns:a16="http://schemas.microsoft.com/office/drawing/2014/main" id="{57F46637-EADF-4D18-8F17-800AA9C7ADB2}"/>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Absolute paths begin at /. Relative paths begin at the current working directory; every parent component must be searchable.</a:t>
            </a:r>
          </a:p>
        </p:txBody>
      </p:sp>
      <p:sp>
        <p:nvSpPr>
          <p:cNvPr id="7" name="">
            <a:extLst xmlns:a="http://schemas.openxmlformats.org/drawingml/2006/main">
              <a:ext uri="{FF2B5EF4-FFF2-40B4-BE49-F238E27FC236}">
                <a16:creationId xmlns:a16="http://schemas.microsoft.com/office/drawing/2014/main" id="{9218793E-EC26-4D22-8733-235994D49857}"/>
              </a:ext>
            </a:extLst>
          </p:cNvPr>
          <p:cNvSpPr>
            <a:spLocks xmlns:a="http://schemas.openxmlformats.org/drawingml/2006/main" noGrp="1"/>
          </p:cNvSpPr>
          <p:nvPr/>
        </p:nvSpPr>
        <p:spPr>
          <a:xfrm xmlns:a="http://schemas.openxmlformats.org/drawingml/2006/main">
            <a:off x="781050" y="31051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DB5C676-90AF-4777-87B8-BC3FFF6430C7}"/>
              </a:ext>
            </a:extLst>
          </p:cNvPr>
          <p:cNvSpPr>
            <a:spLocks xmlns:a="http://schemas.openxmlformats.org/drawingml/2006/main" noGrp="1"/>
          </p:cNvSpPr>
          <p:nvPr/>
        </p:nvSpPr>
        <p:spPr>
          <a:xfrm xmlns:a="http://schemas.openxmlformats.org/drawingml/2006/main">
            <a:off x="1028700" y="272415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Linux presents one directory namespace rooted at /. Mounted filesystems and virtual trees join that namespace at directories.</a:t>
            </a:r>
          </a:p>
        </p:txBody>
      </p:sp>
      <p:sp>
        <p:nvSpPr>
          <p:cNvPr id="9" name="">
            <a:extLst xmlns:a="http://schemas.openxmlformats.org/drawingml/2006/main">
              <a:ext uri="{FF2B5EF4-FFF2-40B4-BE49-F238E27FC236}">
                <a16:creationId xmlns:a16="http://schemas.microsoft.com/office/drawing/2014/main" id="{5991E3F4-4AF9-41A4-8CA5-7B1F202C780F}"/>
              </a:ext>
            </a:extLst>
          </p:cNvPr>
          <p:cNvSpPr>
            <a:spLocks xmlns:a="http://schemas.openxmlformats.org/drawingml/2006/main" noGrp="1"/>
          </p:cNvSpPr>
          <p:nvPr/>
        </p:nvSpPr>
        <p:spPr>
          <a:xfrm xmlns:a="http://schemas.openxmlformats.org/drawingml/2006/main">
            <a:off x="781050" y="40005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8770C2B-ABE9-460B-A592-FDF5EF7C3986}"/>
              </a:ext>
            </a:extLst>
          </p:cNvPr>
          <p:cNvSpPr>
            <a:spLocks xmlns:a="http://schemas.openxmlformats.org/drawingml/2006/main" noGrp="1"/>
          </p:cNvSpPr>
          <p:nvPr/>
        </p:nvSpPr>
        <p:spPr>
          <a:xfrm xmlns:a="http://schemas.openxmlformats.org/drawingml/2006/main">
            <a:off x="1028700" y="361950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Absolute paths begin at /. Relative paths begin at the current working directory; every parent component must be searchable.</a:t>
            </a:r>
          </a:p>
        </p:txBody>
      </p:sp>
    </p:spTree>
    <p:extLst>
      <p:ext uri="{BB962C8B-B14F-4D97-AF65-F5344CB8AC3E}">
        <p14:creationId xmlns:p14="http://schemas.microsoft.com/office/powerpoint/2010/main" val="1276924502"/>
      </p:ext>
    </p:extLst>
  </p:cSld>
</p:sld>
</file>

<file path=ppt/slides/slide19.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96C4D88-2412-49FE-804E-0E7AB6326642}"/>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34739F3-0F10-473B-856F-E7F4482574D4}"/>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2 · MODEL</a:t>
            </a:r>
          </a:p>
        </p:txBody>
      </p:sp>
      <p:sp>
        <p:nvSpPr>
          <p:cNvPr id="3" name="">
            <a:extLst xmlns:a="http://schemas.openxmlformats.org/drawingml/2006/main">
              <a:ext uri="{FF2B5EF4-FFF2-40B4-BE49-F238E27FC236}">
                <a16:creationId xmlns:a16="http://schemas.microsoft.com/office/drawing/2014/main" id="{60859A35-7500-405D-A96B-5F3F5BF3DBF4}"/>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1CF38F86-C7CF-4EBB-A51C-F499A37FC4E4}"/>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19</a:t>
            </a:r>
          </a:p>
        </p:txBody>
      </p:sp>
      <p:sp>
        <p:nvSpPr>
          <p:cNvPr id="5" name="">
            <a:extLst xmlns:a="http://schemas.openxmlformats.org/drawingml/2006/main">
              <a:ext uri="{FF2B5EF4-FFF2-40B4-BE49-F238E27FC236}">
                <a16:creationId xmlns:a16="http://schemas.microsoft.com/office/drawing/2014/main" id="{AE9FF95D-E31B-495B-9B20-918A43672AE4}"/>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Links connect names to objects differently</a:t>
            </a:r>
          </a:p>
        </p:txBody>
      </p:sp>
      <p:sp>
        <p:nvSpPr>
          <p:cNvPr id="6" name="">
            <a:extLst xmlns:a="http://schemas.openxmlformats.org/drawingml/2006/main">
              <a:ext uri="{FF2B5EF4-FFF2-40B4-BE49-F238E27FC236}">
                <a16:creationId xmlns:a16="http://schemas.microsoft.com/office/drawing/2014/main" id="{8FF2A5DA-6396-4546-A95B-9A5B7342039F}"/>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A hard link is another name for the same inode. A symbolic link stores a path and can become dangling.</a:t>
            </a:r>
          </a:p>
        </p:txBody>
      </p:sp>
      <p:sp>
        <p:nvSpPr>
          <p:cNvPr id="7" name="">
            <a:extLst xmlns:a="http://schemas.openxmlformats.org/drawingml/2006/main">
              <a:ext uri="{FF2B5EF4-FFF2-40B4-BE49-F238E27FC236}">
                <a16:creationId xmlns:a16="http://schemas.microsoft.com/office/drawing/2014/main" id="{2FFC72DE-BAFC-42A4-BECC-A768C1B0E248}"/>
              </a:ext>
            </a:extLst>
          </p:cNvPr>
          <p:cNvSpPr>
            <a:spLocks xmlns:a="http://schemas.openxmlformats.org/drawingml/2006/main" noGrp="1"/>
          </p:cNvSpPr>
          <p:nvPr/>
        </p:nvSpPr>
        <p:spPr>
          <a:xfrm xmlns:a="http://schemas.openxmlformats.org/drawingml/2006/main">
            <a:off x="781050" y="31051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8535781-6DD1-4B0E-B71C-FB59E32961B0}"/>
              </a:ext>
            </a:extLst>
          </p:cNvPr>
          <p:cNvSpPr>
            <a:spLocks xmlns:a="http://schemas.openxmlformats.org/drawingml/2006/main" noGrp="1"/>
          </p:cNvSpPr>
          <p:nvPr/>
        </p:nvSpPr>
        <p:spPr>
          <a:xfrm xmlns:a="http://schemas.openxmlformats.org/drawingml/2006/main">
            <a:off x="1028700" y="272415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A directory entry is a name for an object. stat reports metadata; file makes a content-oriented type guess; realpath resolves a path.</a:t>
            </a:r>
          </a:p>
        </p:txBody>
      </p:sp>
      <p:sp>
        <p:nvSpPr>
          <p:cNvPr id="9" name="">
            <a:extLst xmlns:a="http://schemas.openxmlformats.org/drawingml/2006/main">
              <a:ext uri="{FF2B5EF4-FFF2-40B4-BE49-F238E27FC236}">
                <a16:creationId xmlns:a16="http://schemas.microsoft.com/office/drawing/2014/main" id="{07284CA3-7F52-4B81-A142-78296250B4DF}"/>
              </a:ext>
            </a:extLst>
          </p:cNvPr>
          <p:cNvSpPr>
            <a:spLocks xmlns:a="http://schemas.openxmlformats.org/drawingml/2006/main" noGrp="1"/>
          </p:cNvSpPr>
          <p:nvPr/>
        </p:nvSpPr>
        <p:spPr>
          <a:xfrm xmlns:a="http://schemas.openxmlformats.org/drawingml/2006/main">
            <a:off x="781050" y="40005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6DD929E-6E37-45B0-89C5-B275A4358898}"/>
              </a:ext>
            </a:extLst>
          </p:cNvPr>
          <p:cNvSpPr>
            <a:spLocks xmlns:a="http://schemas.openxmlformats.org/drawingml/2006/main" noGrp="1"/>
          </p:cNvSpPr>
          <p:nvPr/>
        </p:nvSpPr>
        <p:spPr>
          <a:xfrm xmlns:a="http://schemas.openxmlformats.org/drawingml/2006/main">
            <a:off x="1028700" y="361950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A hard link is another name for the same inode. A symbolic link stores a path and can become dangling.</a:t>
            </a:r>
          </a:p>
        </p:txBody>
      </p:sp>
    </p:spTree>
    <p:extLst>
      <p:ext uri="{BB962C8B-B14F-4D97-AF65-F5344CB8AC3E}">
        <p14:creationId xmlns:p14="http://schemas.microsoft.com/office/powerpoint/2010/main" val="1150882129"/>
      </p:ext>
    </p:extLst>
  </p:cSld>
</p:sld>
</file>

<file path=ppt/slides/slide20.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28DEEFE-A890-4AB5-BDCE-2AB98C516C17}"/>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0B5B3AE-79D7-4663-B22E-95FA898C5B4F}"/>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2 · BUILD THE MODEL</a:t>
            </a:r>
          </a:p>
        </p:txBody>
      </p:sp>
      <p:sp>
        <p:nvSpPr>
          <p:cNvPr id="3" name="">
            <a:extLst xmlns:a="http://schemas.openxmlformats.org/drawingml/2006/main">
              <a:ext uri="{FF2B5EF4-FFF2-40B4-BE49-F238E27FC236}">
                <a16:creationId xmlns:a16="http://schemas.microsoft.com/office/drawing/2014/main" id="{2347B095-9506-4072-AC46-388E1C3FAF66}"/>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04EE5DB0-57A6-47DB-B781-4391A16A6A4D}"/>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20</a:t>
            </a:r>
          </a:p>
        </p:txBody>
      </p:sp>
      <p:sp>
        <p:nvSpPr>
          <p:cNvPr id="5" name="">
            <a:extLst xmlns:a="http://schemas.openxmlformats.org/drawingml/2006/main">
              <a:ext uri="{FF2B5EF4-FFF2-40B4-BE49-F238E27FC236}">
                <a16:creationId xmlns:a16="http://schemas.microsoft.com/office/drawing/2014/main" id="{58865A13-4C5E-4F4E-935A-1A62FC4E8AE8}"/>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Path resolution checks one component at a time</a:t>
            </a:r>
          </a:p>
        </p:txBody>
      </p:sp>
      <p:sp>
        <p:nvSpPr>
          <p:cNvPr id="6" name="">
            <a:extLst xmlns:a="http://schemas.openxmlformats.org/drawingml/2006/main">
              <a:ext uri="{FF2B5EF4-FFF2-40B4-BE49-F238E27FC236}">
                <a16:creationId xmlns:a16="http://schemas.microsoft.com/office/drawing/2014/main" id="{57E57745-74ED-4564-B821-9FF48585CF54}"/>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The final pathname can fail even when the final file mode looks permissive.</a:t>
            </a:r>
          </a:p>
        </p:txBody>
      </p:sp>
      <p:sp>
        <p:nvSpPr>
          <p:cNvPr id="7" name="">
            <a:extLst xmlns:a="http://schemas.openxmlformats.org/drawingml/2006/main">
              <a:ext uri="{FF2B5EF4-FFF2-40B4-BE49-F238E27FC236}">
                <a16:creationId xmlns:a16="http://schemas.microsoft.com/office/drawing/2014/main" id="{50A9FB2F-8B93-437B-817D-EB59586B65C6}"/>
              </a:ext>
            </a:extLst>
          </p:cNvPr>
          <p:cNvSpPr>
            <a:spLocks xmlns:a="http://schemas.openxmlformats.org/drawingml/2006/main" noGrp="1"/>
          </p:cNvSpPr>
          <p:nvPr/>
        </p:nvSpPr>
        <p:spPr>
          <a:xfrm xmlns:a="http://schemas.openxmlformats.org/drawingml/2006/main">
            <a:off x="781050" y="29622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5B414D8-8BFC-4E12-80CC-B443A7974640}"/>
              </a:ext>
            </a:extLst>
          </p:cNvPr>
          <p:cNvSpPr>
            <a:spLocks xmlns:a="http://schemas.openxmlformats.org/drawingml/2006/main" noGrp="1"/>
          </p:cNvSpPr>
          <p:nvPr/>
        </p:nvSpPr>
        <p:spPr>
          <a:xfrm xmlns:a="http://schemas.openxmlformats.org/drawingml/2006/main">
            <a:off x="1028700" y="27241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Choose / or the working directory as the starting point</a:t>
            </a:r>
          </a:p>
        </p:txBody>
      </p:sp>
      <p:sp>
        <p:nvSpPr>
          <p:cNvPr id="9" name="">
            <a:extLst xmlns:a="http://schemas.openxmlformats.org/drawingml/2006/main">
              <a:ext uri="{FF2B5EF4-FFF2-40B4-BE49-F238E27FC236}">
                <a16:creationId xmlns:a16="http://schemas.microsoft.com/office/drawing/2014/main" id="{A90AB4D4-9BB2-4E2C-9AF0-9DAFAFA6DFEB}"/>
              </a:ext>
            </a:extLst>
          </p:cNvPr>
          <p:cNvSpPr>
            <a:spLocks xmlns:a="http://schemas.openxmlformats.org/drawingml/2006/main" noGrp="1"/>
          </p:cNvSpPr>
          <p:nvPr/>
        </p:nvSpPr>
        <p:spPr>
          <a:xfrm xmlns:a="http://schemas.openxmlformats.org/drawingml/2006/main">
            <a:off x="781050" y="35718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9F2A970-87BE-4D0B-AB35-B675BACFA7E5}"/>
              </a:ext>
            </a:extLst>
          </p:cNvPr>
          <p:cNvSpPr>
            <a:spLocks xmlns:a="http://schemas.openxmlformats.org/drawingml/2006/main" noGrp="1"/>
          </p:cNvSpPr>
          <p:nvPr/>
        </p:nvSpPr>
        <p:spPr>
          <a:xfrm xmlns:a="http://schemas.openxmlformats.org/drawingml/2006/main">
            <a:off x="1028700" y="33337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Read each directory entry from left to right</a:t>
            </a:r>
          </a:p>
        </p:txBody>
      </p:sp>
      <p:sp>
        <p:nvSpPr>
          <p:cNvPr id="11" name="">
            <a:extLst xmlns:a="http://schemas.openxmlformats.org/drawingml/2006/main">
              <a:ext uri="{FF2B5EF4-FFF2-40B4-BE49-F238E27FC236}">
                <a16:creationId xmlns:a16="http://schemas.microsoft.com/office/drawing/2014/main" id="{E34C6C0A-EF11-45AD-AB6F-4A7B262FACBD}"/>
              </a:ext>
            </a:extLst>
          </p:cNvPr>
          <p:cNvSpPr>
            <a:spLocks xmlns:a="http://schemas.openxmlformats.org/drawingml/2006/main" noGrp="1"/>
          </p:cNvSpPr>
          <p:nvPr/>
        </p:nvSpPr>
        <p:spPr>
          <a:xfrm xmlns:a="http://schemas.openxmlformats.org/drawingml/2006/main">
            <a:off x="781050" y="41814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7B8652B-8D31-41C1-AC1D-3C62F6DA77C7}"/>
              </a:ext>
            </a:extLst>
          </p:cNvPr>
          <p:cNvSpPr>
            <a:spLocks xmlns:a="http://schemas.openxmlformats.org/drawingml/2006/main" noGrp="1"/>
          </p:cNvSpPr>
          <p:nvPr/>
        </p:nvSpPr>
        <p:spPr>
          <a:xfrm xmlns:a="http://schemas.openxmlformats.org/drawingml/2006/main">
            <a:off x="1028700" y="39433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Follow mounts and symbolic links when encountered</a:t>
            </a:r>
          </a:p>
        </p:txBody>
      </p:sp>
      <p:sp>
        <p:nvSpPr>
          <p:cNvPr id="13" name="">
            <a:extLst xmlns:a="http://schemas.openxmlformats.org/drawingml/2006/main">
              <a:ext uri="{FF2B5EF4-FFF2-40B4-BE49-F238E27FC236}">
                <a16:creationId xmlns:a16="http://schemas.microsoft.com/office/drawing/2014/main" id="{75F755CB-D272-4223-9137-59D548030CF9}"/>
              </a:ext>
            </a:extLst>
          </p:cNvPr>
          <p:cNvSpPr>
            <a:spLocks xmlns:a="http://schemas.openxmlformats.org/drawingml/2006/main" noGrp="1"/>
          </p:cNvSpPr>
          <p:nvPr/>
        </p:nvSpPr>
        <p:spPr>
          <a:xfrm xmlns:a="http://schemas.openxmlformats.org/drawingml/2006/main">
            <a:off x="781050" y="47910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F0B3232-7E3C-4854-A9A8-9636BA7CC57A}"/>
              </a:ext>
            </a:extLst>
          </p:cNvPr>
          <p:cNvSpPr>
            <a:spLocks xmlns:a="http://schemas.openxmlformats.org/drawingml/2006/main" noGrp="1"/>
          </p:cNvSpPr>
          <p:nvPr/>
        </p:nvSpPr>
        <p:spPr>
          <a:xfrm xmlns:a="http://schemas.openxmlformats.org/drawingml/2006/main">
            <a:off x="1028700" y="45529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Require search permission on every parent directory</a:t>
            </a:r>
          </a:p>
        </p:txBody>
      </p:sp>
    </p:spTree>
    <p:extLst>
      <p:ext uri="{BB962C8B-B14F-4D97-AF65-F5344CB8AC3E}">
        <p14:creationId xmlns:p14="http://schemas.microsoft.com/office/powerpoint/2010/main" val="337490489"/>
      </p:ext>
    </p:extLst>
  </p:cSld>
</p:sld>
</file>

<file path=ppt/slides/slide21.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C44BBA4-1367-413C-AF34-9ACF2A6F16EC}"/>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9198772-10F2-46F7-8225-B247A48D328B}"/>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2 · WORKED EXAMPLE</a:t>
            </a:r>
          </a:p>
        </p:txBody>
      </p:sp>
      <p:sp>
        <p:nvSpPr>
          <p:cNvPr id="3" name="">
            <a:extLst xmlns:a="http://schemas.openxmlformats.org/drawingml/2006/main">
              <a:ext uri="{FF2B5EF4-FFF2-40B4-BE49-F238E27FC236}">
                <a16:creationId xmlns:a16="http://schemas.microsoft.com/office/drawing/2014/main" id="{206D8A59-5C9C-44A0-B470-14FA521491A0}"/>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C0DF8566-B2EC-4ED8-975D-20B3FDD3A622}"/>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21</a:t>
            </a:r>
          </a:p>
        </p:txBody>
      </p:sp>
      <p:sp>
        <p:nvSpPr>
          <p:cNvPr id="5" name="">
            <a:extLst xmlns:a="http://schemas.openxmlformats.org/drawingml/2006/main">
              <a:ext uri="{FF2B5EF4-FFF2-40B4-BE49-F238E27FC236}">
                <a16:creationId xmlns:a16="http://schemas.microsoft.com/office/drawing/2014/main" id="{66176B65-8149-4CFF-8DA6-E35DC0B4E0C4}"/>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Predict link behavior before changing names</a:t>
            </a:r>
          </a:p>
        </p:txBody>
      </p:sp>
      <p:sp>
        <p:nvSpPr>
          <p:cNvPr id="6" name="">
            <a:extLst xmlns:a="http://schemas.openxmlformats.org/drawingml/2006/main">
              <a:ext uri="{FF2B5EF4-FFF2-40B4-BE49-F238E27FC236}">
                <a16:creationId xmlns:a16="http://schemas.microsoft.com/office/drawing/2014/main" id="{9B469D05-C552-4DE2-B898-D1CA215E15D4}"/>
              </a:ext>
            </a:extLst>
          </p:cNvPr>
          <p:cNvSpPr>
            <a:spLocks xmlns:a="http://schemas.openxmlformats.org/drawingml/2006/main" noGrp="1"/>
          </p:cNvSpPr>
          <p:nvPr/>
        </p:nvSpPr>
        <p:spPr>
          <a:xfrm xmlns:a="http://schemas.openxmlformats.org/drawingml/2006/main">
            <a:off x="514350" y="2400300"/>
            <a:ext cx="6191250" cy="2857500"/>
          </a:xfrm>
          <a:prstGeom xmlns:a="http://schemas.openxmlformats.org/drawingml/2006/main" prst="roundRect">
            <a:avLst>
              <a:gd name="adj" fmla="val 4000"/>
            </a:avLst>
          </a:prstGeom>
          <a:solidFill xmlns:a="http://schemas.openxmlformats.org/drawingml/2006/main">
            <a:srgbClr val="180D25"/>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CC7F827-583B-4341-BBEE-39A520BD2995}"/>
              </a:ext>
            </a:extLst>
          </p:cNvPr>
          <p:cNvSpPr>
            <a:spLocks xmlns:a="http://schemas.openxmlformats.org/drawingml/2006/main" noGrp="1"/>
          </p:cNvSpPr>
          <p:nvPr/>
        </p:nvSpPr>
        <p:spPr>
          <a:xfrm xmlns:a="http://schemas.openxmlformats.org/drawingml/2006/main">
            <a:off x="781050" y="2647950"/>
            <a:ext cx="5667375" cy="2333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F7F1FA"/>
                </a:solidFill>
              </a:defRPr>
            </a:pPr>
            <a:r>
              <a:rPr sz="1575" b="0">
                <a:solidFill>
                  <a:srgbClr val="F7F1FA"/>
                </a:solidFill>
              </a:rPr>
              <a:t>ln notes/welcome.txt notes/welcome-hard.txt</a:t>
            </a:r>
          </a:p>
          <a:p xmlns:a="http://schemas.openxmlformats.org/drawingml/2006/main">
            <a:pPr algn="l">
              <a:buNone/>
              <a:defRPr sz="1575" b="0">
                <a:solidFill>
                  <a:srgbClr val="F7F1FA"/>
                </a:solidFill>
              </a:defRPr>
            </a:pPr>
            <a:r>
              <a:rPr sz="1575" b="0">
                <a:solidFill>
                  <a:srgbClr val="F7F1FA"/>
                </a:solidFill>
              </a:rPr>
              <a:t>ln -s ../notes/welcome.txt links/latest-note</a:t>
            </a:r>
          </a:p>
          <a:p xmlns:a="http://schemas.openxmlformats.org/drawingml/2006/main">
            <a:pPr algn="l">
              <a:buNone/>
              <a:defRPr sz="1575" b="0">
                <a:solidFill>
                  <a:srgbClr val="F7F1FA"/>
                </a:solidFill>
              </a:defRPr>
            </a:pPr>
            <a:r>
              <a:rPr sz="1575" b="0">
                <a:solidFill>
                  <a:srgbClr val="F7F1FA"/>
                </a:solidFill>
              </a:rPr>
              <a:t>ls -li notes; readlink links/latest-note</a:t>
            </a:r>
          </a:p>
        </p:txBody>
      </p:sp>
      <p:sp>
        <p:nvSpPr>
          <p:cNvPr id="8" name="">
            <a:extLst xmlns:a="http://schemas.openxmlformats.org/drawingml/2006/main">
              <a:ext uri="{FF2B5EF4-FFF2-40B4-BE49-F238E27FC236}">
                <a16:creationId xmlns:a16="http://schemas.microsoft.com/office/drawing/2014/main" id="{F437C155-508E-497C-A10E-4A954B36F269}"/>
              </a:ext>
            </a:extLst>
          </p:cNvPr>
          <p:cNvSpPr>
            <a:spLocks xmlns:a="http://schemas.openxmlformats.org/drawingml/2006/main" noGrp="1"/>
          </p:cNvSpPr>
          <p:nvPr/>
        </p:nvSpPr>
        <p:spPr>
          <a:xfrm xmlns:a="http://schemas.openxmlformats.org/drawingml/2006/main">
            <a:off x="7143750" y="27336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9F903A2-941A-453D-B6F0-B8C053B1FC53}"/>
              </a:ext>
            </a:extLst>
          </p:cNvPr>
          <p:cNvSpPr>
            <a:spLocks xmlns:a="http://schemas.openxmlformats.org/drawingml/2006/main" noGrp="1"/>
          </p:cNvSpPr>
          <p:nvPr/>
        </p:nvSpPr>
        <p:spPr>
          <a:xfrm xmlns:a="http://schemas.openxmlformats.org/drawingml/2006/main">
            <a:off x="7391400" y="2428875"/>
            <a:ext cx="3848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Matching inode numbers prove hard-link identity.</a:t>
            </a:r>
          </a:p>
        </p:txBody>
      </p:sp>
      <p:sp>
        <p:nvSpPr>
          <p:cNvPr id="10" name="">
            <a:extLst xmlns:a="http://schemas.openxmlformats.org/drawingml/2006/main">
              <a:ext uri="{FF2B5EF4-FFF2-40B4-BE49-F238E27FC236}">
                <a16:creationId xmlns:a16="http://schemas.microsoft.com/office/drawing/2014/main" id="{AA576768-EDAD-43CB-B639-173CFEC8974C}"/>
              </a:ext>
            </a:extLst>
          </p:cNvPr>
          <p:cNvSpPr>
            <a:spLocks xmlns:a="http://schemas.openxmlformats.org/drawingml/2006/main" noGrp="1"/>
          </p:cNvSpPr>
          <p:nvPr/>
        </p:nvSpPr>
        <p:spPr>
          <a:xfrm xmlns:a="http://schemas.openxmlformats.org/drawingml/2006/main">
            <a:off x="7143750" y="347662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0F27E42-C0D6-4177-B078-DECDE38DB0BE}"/>
              </a:ext>
            </a:extLst>
          </p:cNvPr>
          <p:cNvSpPr>
            <a:spLocks xmlns:a="http://schemas.openxmlformats.org/drawingml/2006/main" noGrp="1"/>
          </p:cNvSpPr>
          <p:nvPr/>
        </p:nvSpPr>
        <p:spPr>
          <a:xfrm xmlns:a="http://schemas.openxmlformats.org/drawingml/2006/main">
            <a:off x="7391400" y="3171825"/>
            <a:ext cx="3848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readlink shows the path stored in the symbolic link.</a:t>
            </a:r>
          </a:p>
        </p:txBody>
      </p:sp>
      <p:sp>
        <p:nvSpPr>
          <p:cNvPr id="12" name="">
            <a:extLst xmlns:a="http://schemas.openxmlformats.org/drawingml/2006/main">
              <a:ext uri="{FF2B5EF4-FFF2-40B4-BE49-F238E27FC236}">
                <a16:creationId xmlns:a16="http://schemas.microsoft.com/office/drawing/2014/main" id="{B6FF6E98-036E-4966-A6E5-6E29E4187B3E}"/>
              </a:ext>
            </a:extLst>
          </p:cNvPr>
          <p:cNvSpPr>
            <a:spLocks xmlns:a="http://schemas.openxmlformats.org/drawingml/2006/main" noGrp="1"/>
          </p:cNvSpPr>
          <p:nvPr/>
        </p:nvSpPr>
        <p:spPr>
          <a:xfrm xmlns:a="http://schemas.openxmlformats.org/drawingml/2006/main">
            <a:off x="7143750" y="42195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237A0CB-8BE2-4846-BD2B-D6F127819E7E}"/>
              </a:ext>
            </a:extLst>
          </p:cNvPr>
          <p:cNvSpPr>
            <a:spLocks xmlns:a="http://schemas.openxmlformats.org/drawingml/2006/main" noGrp="1"/>
          </p:cNvSpPr>
          <p:nvPr/>
        </p:nvSpPr>
        <p:spPr>
          <a:xfrm xmlns:a="http://schemas.openxmlformats.org/drawingml/2006/main">
            <a:off x="7391400" y="3914775"/>
            <a:ext cx="3848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Moving the target name breaks the symlink, not the hard link.</a:t>
            </a:r>
          </a:p>
        </p:txBody>
      </p:sp>
    </p:spTree>
    <p:extLst>
      <p:ext uri="{BB962C8B-B14F-4D97-AF65-F5344CB8AC3E}">
        <p14:creationId xmlns:p14="http://schemas.microsoft.com/office/powerpoint/2010/main" val="654501102"/>
      </p:ext>
    </p:extLst>
  </p:cSld>
</p:sld>
</file>

<file path=ppt/slides/slide22.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CE61DA55-5771-43CE-84DE-88274D267E73}"/>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FAFB5E0-BD68-4FCC-B46D-AE734AC54320}"/>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2 · GUIDED COMMANDS</a:t>
            </a:r>
          </a:p>
        </p:txBody>
      </p:sp>
      <p:sp>
        <p:nvSpPr>
          <p:cNvPr id="3" name="">
            <a:extLst xmlns:a="http://schemas.openxmlformats.org/drawingml/2006/main">
              <a:ext uri="{FF2B5EF4-FFF2-40B4-BE49-F238E27FC236}">
                <a16:creationId xmlns:a16="http://schemas.microsoft.com/office/drawing/2014/main" id="{8393E17E-4EF3-4F12-B651-3DB2E6629795}"/>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01F14660-23EB-4562-88E4-1E679B2C11AA}"/>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22</a:t>
            </a:r>
          </a:p>
        </p:txBody>
      </p:sp>
      <p:sp>
        <p:nvSpPr>
          <p:cNvPr id="5" name="">
            <a:extLst xmlns:a="http://schemas.openxmlformats.org/drawingml/2006/main">
              <a:ext uri="{FF2B5EF4-FFF2-40B4-BE49-F238E27FC236}">
                <a16:creationId xmlns:a16="http://schemas.microsoft.com/office/drawing/2014/main" id="{08EBD93B-DB21-40F8-9D3F-19347118B23D}"/>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These commands are tools for specific questions</a:t>
            </a:r>
          </a:p>
        </p:txBody>
      </p:sp>
      <p:sp>
        <p:nvSpPr>
          <p:cNvPr id="6" name="">
            <a:extLst xmlns:a="http://schemas.openxmlformats.org/drawingml/2006/main">
              <a:ext uri="{FF2B5EF4-FFF2-40B4-BE49-F238E27FC236}">
                <a16:creationId xmlns:a16="http://schemas.microsoft.com/office/drawing/2014/main" id="{C2686387-EE4C-4189-ACC7-3E09D31B18B7}"/>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The lab guide repeats syntax and expected evidence; memorization is not required.</a:t>
            </a:r>
          </a:p>
        </p:txBody>
      </p:sp>
      <p:sp>
        <p:nvSpPr>
          <p:cNvPr id="7" name="">
            <a:extLst xmlns:a="http://schemas.openxmlformats.org/drawingml/2006/main">
              <a:ext uri="{FF2B5EF4-FFF2-40B4-BE49-F238E27FC236}">
                <a16:creationId xmlns:a16="http://schemas.microsoft.com/office/drawing/2014/main" id="{3B14FE74-7D29-498D-9720-F6F62CC68549}"/>
              </a:ext>
            </a:extLst>
          </p:cNvPr>
          <p:cNvSpPr>
            <a:spLocks xmlns:a="http://schemas.openxmlformats.org/drawingml/2006/main" noGrp="1"/>
          </p:cNvSpPr>
          <p:nvPr/>
        </p:nvSpPr>
        <p:spPr>
          <a:xfrm xmlns:a="http://schemas.openxmlformats.org/drawingml/2006/main">
            <a:off x="685800" y="24003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pwd</a:t>
            </a:r>
          </a:p>
        </p:txBody>
      </p:sp>
      <p:sp>
        <p:nvSpPr>
          <p:cNvPr id="8" name="">
            <a:extLst xmlns:a="http://schemas.openxmlformats.org/drawingml/2006/main">
              <a:ext uri="{FF2B5EF4-FFF2-40B4-BE49-F238E27FC236}">
                <a16:creationId xmlns:a16="http://schemas.microsoft.com/office/drawing/2014/main" id="{E34FD9FA-C2D1-49F1-8A00-0E51A1D4CE6B}"/>
              </a:ext>
            </a:extLst>
          </p:cNvPr>
          <p:cNvSpPr>
            <a:spLocks xmlns:a="http://schemas.openxmlformats.org/drawingml/2006/main" noGrp="1"/>
          </p:cNvSpPr>
          <p:nvPr/>
        </p:nvSpPr>
        <p:spPr>
          <a:xfrm xmlns:a="http://schemas.openxmlformats.org/drawingml/2006/main">
            <a:off x="3810000" y="24003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print the current directory</a:t>
            </a:r>
          </a:p>
        </p:txBody>
      </p:sp>
      <p:sp>
        <p:nvSpPr>
          <p:cNvPr id="9" name="">
            <a:extLst xmlns:a="http://schemas.openxmlformats.org/drawingml/2006/main">
              <a:ext uri="{FF2B5EF4-FFF2-40B4-BE49-F238E27FC236}">
                <a16:creationId xmlns:a16="http://schemas.microsoft.com/office/drawing/2014/main" id="{25F77108-BA86-461A-9C9E-5ED813140BB8}"/>
              </a:ext>
            </a:extLst>
          </p:cNvPr>
          <p:cNvSpPr>
            <a:spLocks xmlns:a="http://schemas.openxmlformats.org/drawingml/2006/main" noGrp="1"/>
          </p:cNvSpPr>
          <p:nvPr/>
        </p:nvSpPr>
        <p:spPr>
          <a:xfrm xmlns:a="http://schemas.openxmlformats.org/drawingml/2006/main">
            <a:off x="685800" y="29527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E29F139-4766-4C0A-991F-B900492D4A30}"/>
              </a:ext>
            </a:extLst>
          </p:cNvPr>
          <p:cNvSpPr>
            <a:spLocks xmlns:a="http://schemas.openxmlformats.org/drawingml/2006/main" noGrp="1"/>
          </p:cNvSpPr>
          <p:nvPr/>
        </p:nvSpPr>
        <p:spPr>
          <a:xfrm xmlns:a="http://schemas.openxmlformats.org/drawingml/2006/main">
            <a:off x="685800" y="30480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file PATH</a:t>
            </a:r>
          </a:p>
        </p:txBody>
      </p:sp>
      <p:sp>
        <p:nvSpPr>
          <p:cNvPr id="11" name="">
            <a:extLst xmlns:a="http://schemas.openxmlformats.org/drawingml/2006/main">
              <a:ext uri="{FF2B5EF4-FFF2-40B4-BE49-F238E27FC236}">
                <a16:creationId xmlns:a16="http://schemas.microsoft.com/office/drawing/2014/main" id="{2EF2F31C-4F64-4027-A95A-B93D9F4118AE}"/>
              </a:ext>
            </a:extLst>
          </p:cNvPr>
          <p:cNvSpPr>
            <a:spLocks xmlns:a="http://schemas.openxmlformats.org/drawingml/2006/main" noGrp="1"/>
          </p:cNvSpPr>
          <p:nvPr/>
        </p:nvSpPr>
        <p:spPr>
          <a:xfrm xmlns:a="http://schemas.openxmlformats.org/drawingml/2006/main">
            <a:off x="3810000" y="30480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classify content</a:t>
            </a:r>
          </a:p>
        </p:txBody>
      </p:sp>
      <p:sp>
        <p:nvSpPr>
          <p:cNvPr id="12" name="">
            <a:extLst xmlns:a="http://schemas.openxmlformats.org/drawingml/2006/main">
              <a:ext uri="{FF2B5EF4-FFF2-40B4-BE49-F238E27FC236}">
                <a16:creationId xmlns:a16="http://schemas.microsoft.com/office/drawing/2014/main" id="{2FF3C6F9-06AC-4C1E-9145-C6E5DC18EC05}"/>
              </a:ext>
            </a:extLst>
          </p:cNvPr>
          <p:cNvSpPr>
            <a:spLocks xmlns:a="http://schemas.openxmlformats.org/drawingml/2006/main" noGrp="1"/>
          </p:cNvSpPr>
          <p:nvPr/>
        </p:nvSpPr>
        <p:spPr>
          <a:xfrm xmlns:a="http://schemas.openxmlformats.org/drawingml/2006/main">
            <a:off x="685800" y="36004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D7E4F186-CFB0-4EC2-97BD-934E8A007032}"/>
              </a:ext>
            </a:extLst>
          </p:cNvPr>
          <p:cNvSpPr>
            <a:spLocks xmlns:a="http://schemas.openxmlformats.org/drawingml/2006/main" noGrp="1"/>
          </p:cNvSpPr>
          <p:nvPr/>
        </p:nvSpPr>
        <p:spPr>
          <a:xfrm xmlns:a="http://schemas.openxmlformats.org/drawingml/2006/main">
            <a:off x="685800" y="36957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realpath PATH</a:t>
            </a:r>
          </a:p>
        </p:txBody>
      </p:sp>
      <p:sp>
        <p:nvSpPr>
          <p:cNvPr id="14" name="">
            <a:extLst xmlns:a="http://schemas.openxmlformats.org/drawingml/2006/main">
              <a:ext uri="{FF2B5EF4-FFF2-40B4-BE49-F238E27FC236}">
                <a16:creationId xmlns:a16="http://schemas.microsoft.com/office/drawing/2014/main" id="{EBF993C5-5C61-4DE8-9998-1FEDB254CE2F}"/>
              </a:ext>
            </a:extLst>
          </p:cNvPr>
          <p:cNvSpPr>
            <a:spLocks xmlns:a="http://schemas.openxmlformats.org/drawingml/2006/main" noGrp="1"/>
          </p:cNvSpPr>
          <p:nvPr/>
        </p:nvSpPr>
        <p:spPr>
          <a:xfrm xmlns:a="http://schemas.openxmlformats.org/drawingml/2006/main">
            <a:off x="3810000" y="36957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show the resolved absolute path</a:t>
            </a:r>
          </a:p>
        </p:txBody>
      </p:sp>
      <p:sp>
        <p:nvSpPr>
          <p:cNvPr id="15" name="">
            <a:extLst xmlns:a="http://schemas.openxmlformats.org/drawingml/2006/main">
              <a:ext uri="{FF2B5EF4-FFF2-40B4-BE49-F238E27FC236}">
                <a16:creationId xmlns:a16="http://schemas.microsoft.com/office/drawing/2014/main" id="{9AC321F6-52E1-442C-9D1C-5EAB577ECCEF}"/>
              </a:ext>
            </a:extLst>
          </p:cNvPr>
          <p:cNvSpPr>
            <a:spLocks xmlns:a="http://schemas.openxmlformats.org/drawingml/2006/main" noGrp="1"/>
          </p:cNvSpPr>
          <p:nvPr/>
        </p:nvSpPr>
        <p:spPr>
          <a:xfrm xmlns:a="http://schemas.openxmlformats.org/drawingml/2006/main">
            <a:off x="685800" y="42481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E3E273BE-0958-4DDB-BAE6-7F0B96F78C5C}"/>
              </a:ext>
            </a:extLst>
          </p:cNvPr>
          <p:cNvSpPr>
            <a:spLocks xmlns:a="http://schemas.openxmlformats.org/drawingml/2006/main" noGrp="1"/>
          </p:cNvSpPr>
          <p:nvPr/>
        </p:nvSpPr>
        <p:spPr>
          <a:xfrm xmlns:a="http://schemas.openxmlformats.org/drawingml/2006/main">
            <a:off x="685800" y="43434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stat PATH</a:t>
            </a:r>
          </a:p>
        </p:txBody>
      </p:sp>
      <p:sp>
        <p:nvSpPr>
          <p:cNvPr id="17" name="">
            <a:extLst xmlns:a="http://schemas.openxmlformats.org/drawingml/2006/main">
              <a:ext uri="{FF2B5EF4-FFF2-40B4-BE49-F238E27FC236}">
                <a16:creationId xmlns:a16="http://schemas.microsoft.com/office/drawing/2014/main" id="{A0DFBFD4-FE79-430D-A822-2F853CBCC514}"/>
              </a:ext>
            </a:extLst>
          </p:cNvPr>
          <p:cNvSpPr>
            <a:spLocks xmlns:a="http://schemas.openxmlformats.org/drawingml/2006/main" noGrp="1"/>
          </p:cNvSpPr>
          <p:nvPr/>
        </p:nvSpPr>
        <p:spPr>
          <a:xfrm xmlns:a="http://schemas.openxmlformats.org/drawingml/2006/main">
            <a:off x="3810000" y="43434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inspect authoritative metadata</a:t>
            </a:r>
          </a:p>
        </p:txBody>
      </p:sp>
      <p:sp>
        <p:nvSpPr>
          <p:cNvPr id="18" name="">
            <a:extLst xmlns:a="http://schemas.openxmlformats.org/drawingml/2006/main">
              <a:ext uri="{FF2B5EF4-FFF2-40B4-BE49-F238E27FC236}">
                <a16:creationId xmlns:a16="http://schemas.microsoft.com/office/drawing/2014/main" id="{34DB7554-1120-4326-8B18-718A9F8F6C20}"/>
              </a:ext>
            </a:extLst>
          </p:cNvPr>
          <p:cNvSpPr>
            <a:spLocks xmlns:a="http://schemas.openxmlformats.org/drawingml/2006/main" noGrp="1"/>
          </p:cNvSpPr>
          <p:nvPr/>
        </p:nvSpPr>
        <p:spPr>
          <a:xfrm xmlns:a="http://schemas.openxmlformats.org/drawingml/2006/main">
            <a:off x="685800" y="48958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53CDC02-141F-4EAA-8846-DDAAC3FD780D}"/>
              </a:ext>
            </a:extLst>
          </p:cNvPr>
          <p:cNvSpPr>
            <a:spLocks xmlns:a="http://schemas.openxmlformats.org/drawingml/2006/main" noGrp="1"/>
          </p:cNvSpPr>
          <p:nvPr/>
        </p:nvSpPr>
        <p:spPr>
          <a:xfrm xmlns:a="http://schemas.openxmlformats.org/drawingml/2006/main">
            <a:off x="685800" y="49911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find … -printf</a:t>
            </a:r>
          </a:p>
        </p:txBody>
      </p:sp>
      <p:sp>
        <p:nvSpPr>
          <p:cNvPr id="20" name="">
            <a:extLst xmlns:a="http://schemas.openxmlformats.org/drawingml/2006/main">
              <a:ext uri="{FF2B5EF4-FFF2-40B4-BE49-F238E27FC236}">
                <a16:creationId xmlns:a16="http://schemas.microsoft.com/office/drawing/2014/main" id="{38BDAE65-A544-48F2-BBF8-3D4B5CD4C7D9}"/>
              </a:ext>
            </a:extLst>
          </p:cNvPr>
          <p:cNvSpPr>
            <a:spLocks xmlns:a="http://schemas.openxmlformats.org/drawingml/2006/main" noGrp="1"/>
          </p:cNvSpPr>
          <p:nvPr/>
        </p:nvSpPr>
        <p:spPr>
          <a:xfrm xmlns:a="http://schemas.openxmlformats.org/drawingml/2006/main">
            <a:off x="3810000" y="49911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enumerate names and link targets</a:t>
            </a:r>
          </a:p>
        </p:txBody>
      </p:sp>
    </p:spTree>
    <p:extLst>
      <p:ext uri="{BB962C8B-B14F-4D97-AF65-F5344CB8AC3E}">
        <p14:creationId xmlns:p14="http://schemas.microsoft.com/office/powerpoint/2010/main" val="134798710"/>
      </p:ext>
    </p:extLst>
  </p:cSld>
</p:sld>
</file>

<file path=ppt/slides/slide23.xml><?xml version="1.0" encoding="utf-8"?>
<p:sld xmlns:p="http://schemas.openxmlformats.org/presentationml/2006/main">
  <p:cSld>
    <p:bg>
      <p:bgPr>
        <a:solidFill xmlns:a="http://schemas.openxmlformats.org/drawingml/2006/main">
          <a:srgbClr val="180D25"/>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1DEF652D-7A29-42EF-8D9C-9A5C14118A1C}"/>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FF6F6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F1E01F5-FEF8-4F2D-A66E-F77E380BB3CF}"/>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FF6F61"/>
                </a:solidFill>
              </a:defRPr>
            </a:pPr>
            <a:r>
              <a:rPr sz="900" b="1">
                <a:solidFill>
                  <a:srgbClr val="FF6F61"/>
                </a:solidFill>
              </a:rPr>
              <a:t>MODULE 2 · LIVE DEMO</a:t>
            </a:r>
          </a:p>
        </p:txBody>
      </p:sp>
      <p:sp>
        <p:nvSpPr>
          <p:cNvPr id="3" name="">
            <a:extLst xmlns:a="http://schemas.openxmlformats.org/drawingml/2006/main">
              <a:ext uri="{FF2B5EF4-FFF2-40B4-BE49-F238E27FC236}">
                <a16:creationId xmlns:a16="http://schemas.microsoft.com/office/drawing/2014/main" id="{99DD3560-8998-49DF-94C1-B2D9341D39F1}"/>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CFC5D5"/>
                </a:solidFill>
              </a:defRPr>
            </a:pPr>
            <a:r>
              <a:rPr sz="825" b="1">
                <a:solidFill>
                  <a:srgbClr val="CFC5D5"/>
                </a:solidFill>
              </a:rPr>
              <a:t>LINUX FOUNDATIONS</a:t>
            </a:r>
          </a:p>
        </p:txBody>
      </p:sp>
      <p:sp>
        <p:nvSpPr>
          <p:cNvPr id="4" name="">
            <a:extLst xmlns:a="http://schemas.openxmlformats.org/drawingml/2006/main">
              <a:ext uri="{FF2B5EF4-FFF2-40B4-BE49-F238E27FC236}">
                <a16:creationId xmlns:a16="http://schemas.microsoft.com/office/drawing/2014/main" id="{39F88043-3CEE-463E-A921-84E42DF00662}"/>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AFA2B8"/>
                </a:solidFill>
              </a:defRPr>
            </a:pPr>
            <a:r>
              <a:rPr sz="825" b="0">
                <a:solidFill>
                  <a:srgbClr val="AFA2B8"/>
                </a:solidFill>
              </a:rPr>
              <a:t>23</a:t>
            </a:r>
          </a:p>
        </p:txBody>
      </p:sp>
      <p:sp>
        <p:nvSpPr>
          <p:cNvPr id="5" name="">
            <a:extLst xmlns:a="http://schemas.openxmlformats.org/drawingml/2006/main">
              <a:ext uri="{FF2B5EF4-FFF2-40B4-BE49-F238E27FC236}">
                <a16:creationId xmlns:a16="http://schemas.microsoft.com/office/drawing/2014/main" id="{5CA7737A-B3A9-4A10-964A-CB55D8F63588}"/>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FFFFFF"/>
                </a:solidFill>
              </a:defRPr>
            </a:pPr>
            <a:r>
              <a:rPr sz="2850" b="1">
                <a:solidFill>
                  <a:srgbClr val="FFFFFF"/>
                </a:solidFill>
              </a:rPr>
              <a:t>Predict the evidence before Demo 2</a:t>
            </a:r>
          </a:p>
        </p:txBody>
      </p:sp>
      <p:sp>
        <p:nvSpPr>
          <p:cNvPr id="6" name="">
            <a:extLst xmlns:a="http://schemas.openxmlformats.org/drawingml/2006/main">
              <a:ext uri="{FF2B5EF4-FFF2-40B4-BE49-F238E27FC236}">
                <a16:creationId xmlns:a16="http://schemas.microsoft.com/office/drawing/2014/main" id="{9CBC6FB4-B5F1-41A1-9689-DE99601390DF}"/>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E6DDEB"/>
                </a:solidFill>
              </a:defRPr>
            </a:pPr>
            <a:r>
              <a:rPr sz="1650" b="0">
                <a:solidFill>
                  <a:srgbClr val="E6DDEB"/>
                </a:solidFill>
              </a:rPr>
              <a:t>Start in the wrong directory, let cat fail, then use pwd, realpath, namei, and stat to correct the coordinate model.</a:t>
            </a:r>
          </a:p>
        </p:txBody>
      </p:sp>
      <p:sp>
        <p:nvSpPr>
          <p:cNvPr id="7" name="">
            <a:extLst xmlns:a="http://schemas.openxmlformats.org/drawingml/2006/main">
              <a:ext uri="{FF2B5EF4-FFF2-40B4-BE49-F238E27FC236}">
                <a16:creationId xmlns:a16="http://schemas.microsoft.com/office/drawing/2014/main" id="{765DC78E-61A0-4EE4-8B28-76B1E1D8A12C}"/>
              </a:ext>
            </a:extLst>
          </p:cNvPr>
          <p:cNvSpPr>
            <a:spLocks xmlns:a="http://schemas.openxmlformats.org/drawingml/2006/main" noGrp="1"/>
          </p:cNvSpPr>
          <p:nvPr/>
        </p:nvSpPr>
        <p:spPr>
          <a:xfrm xmlns:a="http://schemas.openxmlformats.org/drawingml/2006/main">
            <a:off x="666750" y="2476500"/>
            <a:ext cx="10096500" cy="781050"/>
          </a:xfrm>
          <a:prstGeom xmlns:a="http://schemas.openxmlformats.org/drawingml/2006/main" prst="roundRect">
            <a:avLst>
              <a:gd name="adj" fmla="val 14634"/>
            </a:avLst>
          </a:prstGeom>
          <a:solidFill xmlns:a="http://schemas.openxmlformats.org/drawingml/2006/main">
            <a:srgbClr val="2C173E"/>
          </a:solidFill>
          <a:ln xmlns:a="http://schemas.openxmlformats.org/drawingml/2006/main" w="9525">
            <a:solidFill>
              <a:srgbClr val="7650F8"/>
            </a:solidFill>
            <a:prstDash val="solid"/>
          </a:ln>
        </p:spPr>
      </p:sp>
      <p:sp>
        <p:nvSpPr>
          <p:cNvPr id="8" name="">
            <a:extLst xmlns:a="http://schemas.openxmlformats.org/drawingml/2006/main">
              <a:ext uri="{FF2B5EF4-FFF2-40B4-BE49-F238E27FC236}">
                <a16:creationId xmlns:a16="http://schemas.microsoft.com/office/drawing/2014/main" id="{B8A6CA74-847F-4A47-9C53-7EDDF467EBDD}"/>
              </a:ext>
            </a:extLst>
          </p:cNvPr>
          <p:cNvSpPr>
            <a:spLocks xmlns:a="http://schemas.openxmlformats.org/drawingml/2006/main" noGrp="1"/>
          </p:cNvSpPr>
          <p:nvPr/>
        </p:nvSpPr>
        <p:spPr>
          <a:xfrm xmlns:a="http://schemas.openxmlformats.org/drawingml/2006/main">
            <a:off x="895350" y="2590800"/>
            <a:ext cx="9620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FFFFFF"/>
                </a:solidFill>
              </a:defRPr>
            </a:pPr>
            <a:r>
              <a:rPr sz="1575" b="0">
                <a:solidFill>
                  <a:srgbClr val="FFFFFF"/>
                </a:solidFill>
              </a:rPr>
              <a:t>Start in the wrong directory, let cat fail, then use pwd, realpath, namei, and stat to correct the coordinate model.</a:t>
            </a:r>
          </a:p>
        </p:txBody>
      </p:sp>
      <p:sp>
        <p:nvSpPr>
          <p:cNvPr id="9" name="">
            <a:extLst xmlns:a="http://schemas.openxmlformats.org/drawingml/2006/main">
              <a:ext uri="{FF2B5EF4-FFF2-40B4-BE49-F238E27FC236}">
                <a16:creationId xmlns:a16="http://schemas.microsoft.com/office/drawing/2014/main" id="{2D4D77FA-E2C5-41B1-8FB3-ADB6FBE809CC}"/>
              </a:ext>
            </a:extLst>
          </p:cNvPr>
          <p:cNvSpPr>
            <a:spLocks xmlns:a="http://schemas.openxmlformats.org/drawingml/2006/main" noGrp="1"/>
          </p:cNvSpPr>
          <p:nvPr/>
        </p:nvSpPr>
        <p:spPr>
          <a:xfrm xmlns:a="http://schemas.openxmlformats.org/drawingml/2006/main">
            <a:off x="904875" y="38195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81E3A75-09AC-4881-8770-104BE9E14A1A}"/>
              </a:ext>
            </a:extLst>
          </p:cNvPr>
          <p:cNvSpPr>
            <a:spLocks xmlns:a="http://schemas.openxmlformats.org/drawingml/2006/main" noGrp="1"/>
          </p:cNvSpPr>
          <p:nvPr/>
        </p:nvSpPr>
        <p:spPr>
          <a:xfrm xmlns:a="http://schemas.openxmlformats.org/drawingml/2006/main">
            <a:off x="1152525" y="3619500"/>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State the operating question</a:t>
            </a:r>
          </a:p>
        </p:txBody>
      </p:sp>
      <p:sp>
        <p:nvSpPr>
          <p:cNvPr id="11" name="">
            <a:extLst xmlns:a="http://schemas.openxmlformats.org/drawingml/2006/main">
              <a:ext uri="{FF2B5EF4-FFF2-40B4-BE49-F238E27FC236}">
                <a16:creationId xmlns:a16="http://schemas.microsoft.com/office/drawing/2014/main" id="{725663C4-37A5-405E-8064-335787767CAD}"/>
              </a:ext>
            </a:extLst>
          </p:cNvPr>
          <p:cNvSpPr>
            <a:spLocks xmlns:a="http://schemas.openxmlformats.org/drawingml/2006/main" noGrp="1"/>
          </p:cNvSpPr>
          <p:nvPr/>
        </p:nvSpPr>
        <p:spPr>
          <a:xfrm xmlns:a="http://schemas.openxmlformats.org/drawingml/2006/main">
            <a:off x="904875" y="43434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186DCCF-BC7B-4E00-8BED-2130FA102DBF}"/>
              </a:ext>
            </a:extLst>
          </p:cNvPr>
          <p:cNvSpPr>
            <a:spLocks xmlns:a="http://schemas.openxmlformats.org/drawingml/2006/main" noGrp="1"/>
          </p:cNvSpPr>
          <p:nvPr/>
        </p:nvSpPr>
        <p:spPr>
          <a:xfrm xmlns:a="http://schemas.openxmlformats.org/drawingml/2006/main">
            <a:off x="1152525" y="4143375"/>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Ask for one prediction</a:t>
            </a:r>
          </a:p>
        </p:txBody>
      </p:sp>
      <p:sp>
        <p:nvSpPr>
          <p:cNvPr id="13" name="">
            <a:extLst xmlns:a="http://schemas.openxmlformats.org/drawingml/2006/main">
              <a:ext uri="{FF2B5EF4-FFF2-40B4-BE49-F238E27FC236}">
                <a16:creationId xmlns:a16="http://schemas.microsoft.com/office/drawing/2014/main" id="{591AC93B-FBD0-42FA-97AF-C3F8D129B092}"/>
              </a:ext>
            </a:extLst>
          </p:cNvPr>
          <p:cNvSpPr>
            <a:spLocks xmlns:a="http://schemas.openxmlformats.org/drawingml/2006/main" noGrp="1"/>
          </p:cNvSpPr>
          <p:nvPr/>
        </p:nvSpPr>
        <p:spPr>
          <a:xfrm xmlns:a="http://schemas.openxmlformats.org/drawingml/2006/main">
            <a:off x="904875" y="48672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AF63505-F6ED-4208-9B6A-84047EAE3001}"/>
              </a:ext>
            </a:extLst>
          </p:cNvPr>
          <p:cNvSpPr>
            <a:spLocks xmlns:a="http://schemas.openxmlformats.org/drawingml/2006/main" noGrp="1"/>
          </p:cNvSpPr>
          <p:nvPr/>
        </p:nvSpPr>
        <p:spPr>
          <a:xfrm xmlns:a="http://schemas.openxmlformats.org/drawingml/2006/main">
            <a:off x="1152525" y="4667250"/>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Run one command at a time</a:t>
            </a:r>
          </a:p>
        </p:txBody>
      </p:sp>
      <p:sp>
        <p:nvSpPr>
          <p:cNvPr id="15" name="">
            <a:extLst xmlns:a="http://schemas.openxmlformats.org/drawingml/2006/main">
              <a:ext uri="{FF2B5EF4-FFF2-40B4-BE49-F238E27FC236}">
                <a16:creationId xmlns:a16="http://schemas.microsoft.com/office/drawing/2014/main" id="{9F931923-5826-4AEB-9158-26EFC6464D31}"/>
              </a:ext>
            </a:extLst>
          </p:cNvPr>
          <p:cNvSpPr>
            <a:spLocks xmlns:a="http://schemas.openxmlformats.org/drawingml/2006/main" noGrp="1"/>
          </p:cNvSpPr>
          <p:nvPr/>
        </p:nvSpPr>
        <p:spPr>
          <a:xfrm xmlns:a="http://schemas.openxmlformats.org/drawingml/2006/main">
            <a:off x="904875" y="539115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24F3402A-78BF-45A9-8DF6-1BC750BFA205}"/>
              </a:ext>
            </a:extLst>
          </p:cNvPr>
          <p:cNvSpPr>
            <a:spLocks xmlns:a="http://schemas.openxmlformats.org/drawingml/2006/main" noGrp="1"/>
          </p:cNvSpPr>
          <p:nvPr/>
        </p:nvSpPr>
        <p:spPr>
          <a:xfrm xmlns:a="http://schemas.openxmlformats.org/drawingml/2006/main">
            <a:off x="1152525" y="5191125"/>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Verify through a different interface</a:t>
            </a:r>
          </a:p>
        </p:txBody>
      </p:sp>
      <p:sp>
        <p:nvSpPr>
          <p:cNvPr id="17" name="">
            <a:extLst xmlns:a="http://schemas.openxmlformats.org/drawingml/2006/main">
              <a:ext uri="{FF2B5EF4-FFF2-40B4-BE49-F238E27FC236}">
                <a16:creationId xmlns:a16="http://schemas.microsoft.com/office/drawing/2014/main" id="{88EC7F9C-F9F0-46F2-9C23-2FDD8032F882}"/>
              </a:ext>
            </a:extLst>
          </p:cNvPr>
          <p:cNvSpPr>
            <a:spLocks xmlns:a="http://schemas.openxmlformats.org/drawingml/2006/main" noGrp="1"/>
          </p:cNvSpPr>
          <p:nvPr/>
        </p:nvSpPr>
        <p:spPr>
          <a:xfrm xmlns:a="http://schemas.openxmlformats.org/drawingml/2006/main">
            <a:off x="904875" y="5886450"/>
            <a:ext cx="962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00" b="1">
                <a:solidFill>
                  <a:srgbClr val="71D6B3"/>
                </a:solidFill>
              </a:defRPr>
            </a:pPr>
            <a:r>
              <a:rPr sz="1200" b="1">
                <a:solidFill>
                  <a:srgbClr val="71D6B3"/>
                </a:solidFill>
              </a:rPr>
              <a:t>Instructor seat only · predict before typing · verify through another interface</a:t>
            </a:r>
          </a:p>
        </p:txBody>
      </p:sp>
    </p:spTree>
    <p:extLst>
      <p:ext uri="{BB962C8B-B14F-4D97-AF65-F5344CB8AC3E}">
        <p14:creationId xmlns:p14="http://schemas.microsoft.com/office/powerpoint/2010/main" val="1125060567"/>
      </p:ext>
    </p:extLst>
  </p:cSld>
</p:sld>
</file>

<file path=ppt/slides/slide24.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8F3F054-8E6A-4984-AA34-A0E8C81AFF35}"/>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9F8A503-21FA-4FE1-AF83-1821EBE3CB6A}"/>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2 · LAB READINESS</a:t>
            </a:r>
          </a:p>
        </p:txBody>
      </p:sp>
      <p:sp>
        <p:nvSpPr>
          <p:cNvPr id="3" name="">
            <a:extLst xmlns:a="http://schemas.openxmlformats.org/drawingml/2006/main">
              <a:ext uri="{FF2B5EF4-FFF2-40B4-BE49-F238E27FC236}">
                <a16:creationId xmlns:a16="http://schemas.microsoft.com/office/drawing/2014/main" id="{AE15DD80-5EF1-4B71-8811-2A898277314B}"/>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4CF03CC7-A9B1-4843-A552-DD3AA944BB2D}"/>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24</a:t>
            </a:r>
          </a:p>
        </p:txBody>
      </p:sp>
      <p:sp>
        <p:nvSpPr>
          <p:cNvPr id="5" name="">
            <a:extLst xmlns:a="http://schemas.openxmlformats.org/drawingml/2006/main">
              <a:ext uri="{FF2B5EF4-FFF2-40B4-BE49-F238E27FC236}">
                <a16:creationId xmlns:a16="http://schemas.microsoft.com/office/drawing/2014/main" id="{192E5418-2CBE-48F9-873E-8C4F86286E80}"/>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Before Lab 2, you should be able to…</a:t>
            </a:r>
          </a:p>
        </p:txBody>
      </p:sp>
      <p:sp>
        <p:nvSpPr>
          <p:cNvPr id="6" name="">
            <a:extLst xmlns:a="http://schemas.openxmlformats.org/drawingml/2006/main">
              <a:ext uri="{FF2B5EF4-FFF2-40B4-BE49-F238E27FC236}">
                <a16:creationId xmlns:a16="http://schemas.microsoft.com/office/drawing/2014/main" id="{24D09B71-AEA2-41FA-8DB9-8F28754A49EC}"/>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If one item is unclear, revisit the model or worked example before opening the terminal.</a:t>
            </a:r>
          </a:p>
        </p:txBody>
      </p:sp>
      <p:sp>
        <p:nvSpPr>
          <p:cNvPr id="7" name="">
            <a:extLst xmlns:a="http://schemas.openxmlformats.org/drawingml/2006/main">
              <a:ext uri="{FF2B5EF4-FFF2-40B4-BE49-F238E27FC236}">
                <a16:creationId xmlns:a16="http://schemas.microsoft.com/office/drawing/2014/main" id="{C8E7BC32-3988-42A8-B2F3-AF550F6ED4CE}"/>
              </a:ext>
            </a:extLst>
          </p:cNvPr>
          <p:cNvSpPr>
            <a:spLocks xmlns:a="http://schemas.openxmlformats.org/drawingml/2006/main" noGrp="1"/>
          </p:cNvSpPr>
          <p:nvPr/>
        </p:nvSpPr>
        <p:spPr>
          <a:xfrm xmlns:a="http://schemas.openxmlformats.org/drawingml/2006/main">
            <a:off x="781050" y="29051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791CDF2-E100-481B-884E-3B0064F047CE}"/>
              </a:ext>
            </a:extLst>
          </p:cNvPr>
          <p:cNvSpPr>
            <a:spLocks xmlns:a="http://schemas.openxmlformats.org/drawingml/2006/main" noGrp="1"/>
          </p:cNvSpPr>
          <p:nvPr/>
        </p:nvSpPr>
        <p:spPr>
          <a:xfrm xmlns:a="http://schemas.openxmlformats.org/drawingml/2006/main">
            <a:off x="1028700" y="26479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Distinguish absolute and relative paths</a:t>
            </a:r>
          </a:p>
        </p:txBody>
      </p:sp>
      <p:sp>
        <p:nvSpPr>
          <p:cNvPr id="9" name="">
            <a:extLst xmlns:a="http://schemas.openxmlformats.org/drawingml/2006/main">
              <a:ext uri="{FF2B5EF4-FFF2-40B4-BE49-F238E27FC236}">
                <a16:creationId xmlns:a16="http://schemas.microsoft.com/office/drawing/2014/main" id="{1156CFA7-607C-45F6-9EF5-FD4A33C8CA3B}"/>
              </a:ext>
            </a:extLst>
          </p:cNvPr>
          <p:cNvSpPr>
            <a:spLocks xmlns:a="http://schemas.openxmlformats.org/drawingml/2006/main" noGrp="1"/>
          </p:cNvSpPr>
          <p:nvPr/>
        </p:nvSpPr>
        <p:spPr>
          <a:xfrm xmlns:a="http://schemas.openxmlformats.org/drawingml/2006/main">
            <a:off x="781050" y="355282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10858FA-2A10-48B2-9DAF-9C2CDECC3C96}"/>
              </a:ext>
            </a:extLst>
          </p:cNvPr>
          <p:cNvSpPr>
            <a:spLocks xmlns:a="http://schemas.openxmlformats.org/drawingml/2006/main" noGrp="1"/>
          </p:cNvSpPr>
          <p:nvPr/>
        </p:nvSpPr>
        <p:spPr>
          <a:xfrm xmlns:a="http://schemas.openxmlformats.org/drawingml/2006/main">
            <a:off x="1028700" y="32956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Predict copy, move, hard-link, and symlink behavior</a:t>
            </a:r>
          </a:p>
        </p:txBody>
      </p:sp>
      <p:sp>
        <p:nvSpPr>
          <p:cNvPr id="11" name="">
            <a:extLst xmlns:a="http://schemas.openxmlformats.org/drawingml/2006/main">
              <a:ext uri="{FF2B5EF4-FFF2-40B4-BE49-F238E27FC236}">
                <a16:creationId xmlns:a16="http://schemas.microsoft.com/office/drawing/2014/main" id="{2B514EE5-70A2-4A7A-82E9-AE484FCD90FB}"/>
              </a:ext>
            </a:extLst>
          </p:cNvPr>
          <p:cNvSpPr>
            <a:spLocks xmlns:a="http://schemas.openxmlformats.org/drawingml/2006/main" noGrp="1"/>
          </p:cNvSpPr>
          <p:nvPr/>
        </p:nvSpPr>
        <p:spPr>
          <a:xfrm xmlns:a="http://schemas.openxmlformats.org/drawingml/2006/main">
            <a:off x="781050" y="42005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13EBE3F-162A-4BA2-853E-7BB6E54E106D}"/>
              </a:ext>
            </a:extLst>
          </p:cNvPr>
          <p:cNvSpPr>
            <a:spLocks xmlns:a="http://schemas.openxmlformats.org/drawingml/2006/main" noGrp="1"/>
          </p:cNvSpPr>
          <p:nvPr/>
        </p:nvSpPr>
        <p:spPr>
          <a:xfrm xmlns:a="http://schemas.openxmlformats.org/drawingml/2006/main">
            <a:off x="1028700" y="39433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Inspect exact targets before changing them</a:t>
            </a:r>
          </a:p>
        </p:txBody>
      </p:sp>
    </p:spTree>
    <p:extLst>
      <p:ext uri="{BB962C8B-B14F-4D97-AF65-F5344CB8AC3E}">
        <p14:creationId xmlns:p14="http://schemas.microsoft.com/office/powerpoint/2010/main" val="2072660576"/>
      </p:ext>
    </p:extLst>
  </p:cSld>
</p:sld>
</file>

<file path=ppt/slides/slide25.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31E49F26-C942-43A5-ACD1-4D558CF162EC}"/>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D858713-57F1-45F5-AA80-91FBEE05F2F0}"/>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HANDS-ON · LAB 2</a:t>
            </a:r>
          </a:p>
        </p:txBody>
      </p:sp>
      <p:sp>
        <p:nvSpPr>
          <p:cNvPr id="3" name="">
            <a:extLst xmlns:a="http://schemas.openxmlformats.org/drawingml/2006/main">
              <a:ext uri="{FF2B5EF4-FFF2-40B4-BE49-F238E27FC236}">
                <a16:creationId xmlns:a16="http://schemas.microsoft.com/office/drawing/2014/main" id="{15D6AC23-CA32-437C-8776-79D6D3DF1D0E}"/>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C2F7E4A5-4061-46D2-9DB5-EF09CE2330FF}"/>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25</a:t>
            </a:r>
          </a:p>
        </p:txBody>
      </p:sp>
      <p:sp>
        <p:nvSpPr>
          <p:cNvPr id="5" name="">
            <a:extLst xmlns:a="http://schemas.openxmlformats.org/drawingml/2006/main">
              <a:ext uri="{FF2B5EF4-FFF2-40B4-BE49-F238E27FC236}">
                <a16:creationId xmlns:a16="http://schemas.microsoft.com/office/drawing/2014/main" id="{A3412510-53BF-4E78-B3FA-A41E9B64D965}"/>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Filesystem navigation, objects, and links</a:t>
            </a:r>
          </a:p>
        </p:txBody>
      </p:sp>
      <p:sp>
        <p:nvSpPr>
          <p:cNvPr id="6" name="">
            <a:extLst xmlns:a="http://schemas.openxmlformats.org/drawingml/2006/main">
              <a:ext uri="{FF2B5EF4-FFF2-40B4-BE49-F238E27FC236}">
                <a16:creationId xmlns:a16="http://schemas.microsoft.com/office/drawing/2014/main" id="{8554B0F4-3710-4249-ACDE-AB763AE6C2B7}"/>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Organize ~/inbox, then prove the different semantics of a copy, a hard link, and a relative symbolic link.</a:t>
            </a:r>
          </a:p>
        </p:txBody>
      </p:sp>
      <p:sp>
        <p:nvSpPr>
          <p:cNvPr id="7" name="">
            <a:extLst xmlns:a="http://schemas.openxmlformats.org/drawingml/2006/main">
              <a:ext uri="{FF2B5EF4-FFF2-40B4-BE49-F238E27FC236}">
                <a16:creationId xmlns:a16="http://schemas.microsoft.com/office/drawing/2014/main" id="{C3103944-EB9E-4610-8A4A-A2C10E798949}"/>
              </a:ext>
            </a:extLst>
          </p:cNvPr>
          <p:cNvSpPr>
            <a:spLocks xmlns:a="http://schemas.openxmlformats.org/drawingml/2006/main" noGrp="1"/>
          </p:cNvSpPr>
          <p:nvPr/>
        </p:nvSpPr>
        <p:spPr>
          <a:xfrm xmlns:a="http://schemas.openxmlformats.org/drawingml/2006/main">
            <a:off x="514350" y="2457450"/>
            <a:ext cx="6762750" cy="2286000"/>
          </a:xfrm>
          <a:prstGeom xmlns:a="http://schemas.openxmlformats.org/drawingml/2006/main" prst="roundRect">
            <a:avLst>
              <a:gd name="adj" fmla="val 5000"/>
            </a:avLst>
          </a:prstGeom>
          <a:solidFill xmlns:a="http://schemas.openxmlformats.org/drawingml/2006/main">
            <a:srgbClr val="180D2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7DC015E-1185-4907-B516-11E4080E39A8}"/>
              </a:ext>
            </a:extLst>
          </p:cNvPr>
          <p:cNvSpPr>
            <a:spLocks xmlns:a="http://schemas.openxmlformats.org/drawingml/2006/main" noGrp="1"/>
          </p:cNvSpPr>
          <p:nvPr/>
        </p:nvSpPr>
        <p:spPr>
          <a:xfrm xmlns:a="http://schemas.openxmlformats.org/drawingml/2006/main">
            <a:off x="781050" y="2647950"/>
            <a:ext cx="6238875" cy="1847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FFFFFF"/>
                </a:solidFill>
              </a:defRPr>
            </a:pPr>
            <a:r>
              <a:rPr sz="1650" b="0">
                <a:solidFill>
                  <a:srgbClr val="FFFFFF"/>
                </a:solidFill>
              </a:rPr>
              <a:t>Organize ~/inbox, then prove the different semantics of a copy, a hard link, and a relative symbolic link.</a:t>
            </a:r>
          </a:p>
        </p:txBody>
      </p:sp>
      <p:sp>
        <p:nvSpPr>
          <p:cNvPr id="9" name="">
            <a:extLst xmlns:a="http://schemas.openxmlformats.org/drawingml/2006/main">
              <a:ext uri="{FF2B5EF4-FFF2-40B4-BE49-F238E27FC236}">
                <a16:creationId xmlns:a16="http://schemas.microsoft.com/office/drawing/2014/main" id="{8731CAF6-F933-421E-9DA3-E6A3A81969CD}"/>
              </a:ext>
            </a:extLst>
          </p:cNvPr>
          <p:cNvSpPr>
            <a:spLocks xmlns:a="http://schemas.openxmlformats.org/drawingml/2006/main" noGrp="1"/>
          </p:cNvSpPr>
          <p:nvPr/>
        </p:nvSpPr>
        <p:spPr>
          <a:xfrm xmlns:a="http://schemas.openxmlformats.org/drawingml/2006/main">
            <a:off x="7762875" y="26955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FF387FB-B254-4A98-8C4A-B041A2F3B64F}"/>
              </a:ext>
            </a:extLst>
          </p:cNvPr>
          <p:cNvSpPr>
            <a:spLocks xmlns:a="http://schemas.openxmlformats.org/drawingml/2006/main" noGrp="1"/>
          </p:cNvSpPr>
          <p:nvPr/>
        </p:nvSpPr>
        <p:spPr>
          <a:xfrm xmlns:a="http://schemas.openxmlformats.org/drawingml/2006/main">
            <a:off x="8010525" y="24765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25 minutes</a:t>
            </a:r>
          </a:p>
        </p:txBody>
      </p:sp>
      <p:sp>
        <p:nvSpPr>
          <p:cNvPr id="11" name="">
            <a:extLst xmlns:a="http://schemas.openxmlformats.org/drawingml/2006/main">
              <a:ext uri="{FF2B5EF4-FFF2-40B4-BE49-F238E27FC236}">
                <a16:creationId xmlns:a16="http://schemas.microsoft.com/office/drawing/2014/main" id="{6EECA4FE-AEDF-45FB-B448-EED480A2E1B8}"/>
              </a:ext>
            </a:extLst>
          </p:cNvPr>
          <p:cNvSpPr>
            <a:spLocks xmlns:a="http://schemas.openxmlformats.org/drawingml/2006/main" noGrp="1"/>
          </p:cNvSpPr>
          <p:nvPr/>
        </p:nvSpPr>
        <p:spPr>
          <a:xfrm xmlns:a="http://schemas.openxmlformats.org/drawingml/2006/main">
            <a:off x="7762875" y="32670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F575496-AE6F-4EC2-A4A6-CFA06AFCA9B8}"/>
              </a:ext>
            </a:extLst>
          </p:cNvPr>
          <p:cNvSpPr>
            <a:spLocks xmlns:a="http://schemas.openxmlformats.org/drawingml/2006/main" noGrp="1"/>
          </p:cNvSpPr>
          <p:nvPr/>
        </p:nvSpPr>
        <p:spPr>
          <a:xfrm xmlns:a="http://schemas.openxmlformats.org/drawingml/2006/main">
            <a:off x="8010525" y="30480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Prepare/reset only this lab</a:t>
            </a:r>
          </a:p>
        </p:txBody>
      </p:sp>
      <p:sp>
        <p:nvSpPr>
          <p:cNvPr id="13" name="">
            <a:extLst xmlns:a="http://schemas.openxmlformats.org/drawingml/2006/main">
              <a:ext uri="{FF2B5EF4-FFF2-40B4-BE49-F238E27FC236}">
                <a16:creationId xmlns:a16="http://schemas.microsoft.com/office/drawing/2014/main" id="{FBFFAFA0-F5F9-4542-A282-69D7E4BA507A}"/>
              </a:ext>
            </a:extLst>
          </p:cNvPr>
          <p:cNvSpPr>
            <a:spLocks xmlns:a="http://schemas.openxmlformats.org/drawingml/2006/main" noGrp="1"/>
          </p:cNvSpPr>
          <p:nvPr/>
        </p:nvSpPr>
        <p:spPr>
          <a:xfrm xmlns:a="http://schemas.openxmlformats.org/drawingml/2006/main">
            <a:off x="7762875" y="38385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EAF5BBA-E00A-4FFA-B3F9-2D0992A4FB83}"/>
              </a:ext>
            </a:extLst>
          </p:cNvPr>
          <p:cNvSpPr>
            <a:spLocks xmlns:a="http://schemas.openxmlformats.org/drawingml/2006/main" noGrp="1"/>
          </p:cNvSpPr>
          <p:nvPr/>
        </p:nvSpPr>
        <p:spPr>
          <a:xfrm xmlns:a="http://schemas.openxmlformats.org/drawingml/2006/main">
            <a:off x="8010525" y="36195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Check observable state</a:t>
            </a:r>
          </a:p>
        </p:txBody>
      </p:sp>
      <p:sp>
        <p:nvSpPr>
          <p:cNvPr id="15" name="">
            <a:extLst xmlns:a="http://schemas.openxmlformats.org/drawingml/2006/main">
              <a:ext uri="{FF2B5EF4-FFF2-40B4-BE49-F238E27FC236}">
                <a16:creationId xmlns:a16="http://schemas.microsoft.com/office/drawing/2014/main" id="{69BA0066-07C7-4636-9166-CE75F83C66D9}"/>
              </a:ext>
            </a:extLst>
          </p:cNvPr>
          <p:cNvSpPr>
            <a:spLocks xmlns:a="http://schemas.openxmlformats.org/drawingml/2006/main" noGrp="1"/>
          </p:cNvSpPr>
          <p:nvPr/>
        </p:nvSpPr>
        <p:spPr>
          <a:xfrm xmlns:a="http://schemas.openxmlformats.org/drawingml/2006/main">
            <a:off x="7762875" y="44100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3CEDF8DF-3AA3-410B-AD75-73E06F8D3305}"/>
              </a:ext>
            </a:extLst>
          </p:cNvPr>
          <p:cNvSpPr>
            <a:spLocks xmlns:a="http://schemas.openxmlformats.org/drawingml/2006/main" noGrp="1"/>
          </p:cNvSpPr>
          <p:nvPr/>
        </p:nvSpPr>
        <p:spPr>
          <a:xfrm xmlns:a="http://schemas.openxmlformats.org/drawingml/2006/main">
            <a:off x="8010525" y="41910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Explain why the result follows</a:t>
            </a:r>
          </a:p>
        </p:txBody>
      </p:sp>
      <p:sp>
        <p:nvSpPr>
          <p:cNvPr id="17" name="">
            <a:extLst xmlns:a="http://schemas.openxmlformats.org/drawingml/2006/main">
              <a:ext uri="{FF2B5EF4-FFF2-40B4-BE49-F238E27FC236}">
                <a16:creationId xmlns:a16="http://schemas.microsoft.com/office/drawing/2014/main" id="{7CCD9266-31B6-435A-A958-21B3D5CCC159}"/>
              </a:ext>
            </a:extLst>
          </p:cNvPr>
          <p:cNvSpPr>
            <a:spLocks xmlns:a="http://schemas.openxmlformats.org/drawingml/2006/main" noGrp="1"/>
          </p:cNvSpPr>
          <p:nvPr/>
        </p:nvSpPr>
        <p:spPr>
          <a:xfrm xmlns:a="http://schemas.openxmlformats.org/drawingml/2006/main">
            <a:off x="514350" y="5391150"/>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350" b="1">
                <a:solidFill>
                  <a:srgbClr val="7650F8"/>
                </a:solidFill>
              </a:defRPr>
            </a:pPr>
            <a:r>
              <a:rPr sz="1350" b="1">
                <a:solidFill>
                  <a:srgbClr val="7650F8"/>
                </a:solidFill>
              </a:rPr>
              <a:t>Open the lab guide for exact tasks, hints, recovery, and checker criteria.</a:t>
            </a:r>
          </a:p>
        </p:txBody>
      </p:sp>
    </p:spTree>
    <p:extLst>
      <p:ext uri="{BB962C8B-B14F-4D97-AF65-F5344CB8AC3E}">
        <p14:creationId xmlns:p14="http://schemas.microsoft.com/office/powerpoint/2010/main" val="181212516"/>
      </p:ext>
    </p:extLst>
  </p:cSld>
</p:sld>
</file>

<file path=ppt/slides/slide26.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E6B97170-E3C1-4608-B601-6E605750F703}"/>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0FF77AE-169B-4B0C-B16C-EEEF61DA4FF5}"/>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2 · DEBRIEF</a:t>
            </a:r>
          </a:p>
        </p:txBody>
      </p:sp>
      <p:sp>
        <p:nvSpPr>
          <p:cNvPr id="3" name="">
            <a:extLst xmlns:a="http://schemas.openxmlformats.org/drawingml/2006/main">
              <a:ext uri="{FF2B5EF4-FFF2-40B4-BE49-F238E27FC236}">
                <a16:creationId xmlns:a16="http://schemas.microsoft.com/office/drawing/2014/main" id="{8FC0F2BD-683A-4D66-BE54-C3A4EA0D7C6A}"/>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1F7C2F5D-D9B2-47FB-949A-AF4B1C61AE79}"/>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26</a:t>
            </a:r>
          </a:p>
        </p:txBody>
      </p:sp>
      <p:sp>
        <p:nvSpPr>
          <p:cNvPr id="5" name="">
            <a:extLst xmlns:a="http://schemas.openxmlformats.org/drawingml/2006/main">
              <a:ext uri="{FF2B5EF4-FFF2-40B4-BE49-F238E27FC236}">
                <a16:creationId xmlns:a16="http://schemas.microsoft.com/office/drawing/2014/main" id="{5981D6FB-6CBA-4117-B03C-AECAC8A7BD09}"/>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Connect the result to the model</a:t>
            </a:r>
          </a:p>
        </p:txBody>
      </p:sp>
      <p:sp>
        <p:nvSpPr>
          <p:cNvPr id="6" name="">
            <a:extLst xmlns:a="http://schemas.openxmlformats.org/drawingml/2006/main">
              <a:ext uri="{FF2B5EF4-FFF2-40B4-BE49-F238E27FC236}">
                <a16:creationId xmlns:a16="http://schemas.microsoft.com/office/drawing/2014/main" id="{AE611245-DB47-486E-8928-687124161167}"/>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Errors such as “No such file” often reveal a path assumption, not missing data. Next, the shell will turn file and log text into evidence.</a:t>
            </a:r>
          </a:p>
        </p:txBody>
      </p:sp>
      <p:sp>
        <p:nvSpPr>
          <p:cNvPr id="7" name="">
            <a:extLst xmlns:a="http://schemas.openxmlformats.org/drawingml/2006/main">
              <a:ext uri="{FF2B5EF4-FFF2-40B4-BE49-F238E27FC236}">
                <a16:creationId xmlns:a16="http://schemas.microsoft.com/office/drawing/2014/main" id="{558497A8-09C2-44BB-8519-7BA65C12059C}"/>
              </a:ext>
            </a:extLst>
          </p:cNvPr>
          <p:cNvSpPr>
            <a:spLocks xmlns:a="http://schemas.openxmlformats.org/drawingml/2006/main" noGrp="1"/>
          </p:cNvSpPr>
          <p:nvPr/>
        </p:nvSpPr>
        <p:spPr>
          <a:xfrm xmlns:a="http://schemas.openxmlformats.org/drawingml/2006/main">
            <a:off x="514350" y="2524125"/>
            <a:ext cx="10668000" cy="1219200"/>
          </a:xfrm>
          <a:prstGeom xmlns:a="http://schemas.openxmlformats.org/drawingml/2006/main" prst="roundRect">
            <a:avLst>
              <a:gd name="adj" fmla="val 9375"/>
            </a:avLst>
          </a:prstGeom>
          <a:solidFill xmlns:a="http://schemas.openxmlformats.org/drawingml/2006/main">
            <a:srgbClr val="F0E7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953262B-4F08-4EDF-80AE-7492B3C049B3}"/>
              </a:ext>
            </a:extLst>
          </p:cNvPr>
          <p:cNvSpPr>
            <a:spLocks xmlns:a="http://schemas.openxmlformats.org/drawingml/2006/main" noGrp="1"/>
          </p:cNvSpPr>
          <p:nvPr/>
        </p:nvSpPr>
        <p:spPr>
          <a:xfrm xmlns:a="http://schemas.openxmlformats.org/drawingml/2006/main">
            <a:off x="762000" y="2686050"/>
            <a:ext cx="10191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1">
                <a:solidFill>
                  <a:srgbClr val="211729"/>
                </a:solidFill>
              </a:defRPr>
            </a:pPr>
            <a:r>
              <a:rPr sz="1725" b="1">
                <a:solidFill>
                  <a:srgbClr val="211729"/>
                </a:solidFill>
              </a:rPr>
              <a:t>Errors such as “No such file” often reveal a path assumption, not missing data. Next, the shell will turn file and log text into evidence.</a:t>
            </a:r>
          </a:p>
        </p:txBody>
      </p:sp>
      <p:sp>
        <p:nvSpPr>
          <p:cNvPr id="9" name="">
            <a:extLst xmlns:a="http://schemas.openxmlformats.org/drawingml/2006/main">
              <a:ext uri="{FF2B5EF4-FFF2-40B4-BE49-F238E27FC236}">
                <a16:creationId xmlns:a16="http://schemas.microsoft.com/office/drawing/2014/main" id="{37A8B689-D956-41CE-847D-419D250F6A51}"/>
              </a:ext>
            </a:extLst>
          </p:cNvPr>
          <p:cNvSpPr>
            <a:spLocks xmlns:a="http://schemas.openxmlformats.org/drawingml/2006/main" noGrp="1"/>
          </p:cNvSpPr>
          <p:nvPr/>
        </p:nvSpPr>
        <p:spPr>
          <a:xfrm xmlns:a="http://schemas.openxmlformats.org/drawingml/2006/main">
            <a:off x="762000" y="43243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6EA34F9-8A39-4E50-A7F4-5ECC604F8C60}"/>
              </a:ext>
            </a:extLst>
          </p:cNvPr>
          <p:cNvSpPr>
            <a:spLocks xmlns:a="http://schemas.openxmlformats.org/drawingml/2006/main" noGrp="1"/>
          </p:cNvSpPr>
          <p:nvPr/>
        </p:nvSpPr>
        <p:spPr>
          <a:xfrm xmlns:a="http://schemas.openxmlformats.org/drawingml/2006/main">
            <a:off x="1009650" y="4095750"/>
            <a:ext cx="9658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What was declared or expected?</a:t>
            </a:r>
          </a:p>
        </p:txBody>
      </p:sp>
      <p:sp>
        <p:nvSpPr>
          <p:cNvPr id="11" name="">
            <a:extLst xmlns:a="http://schemas.openxmlformats.org/drawingml/2006/main">
              <a:ext uri="{FF2B5EF4-FFF2-40B4-BE49-F238E27FC236}">
                <a16:creationId xmlns:a16="http://schemas.microsoft.com/office/drawing/2014/main" id="{9A0D16B9-D553-4808-A8B6-F9024E19F749}"/>
              </a:ext>
            </a:extLst>
          </p:cNvPr>
          <p:cNvSpPr>
            <a:spLocks xmlns:a="http://schemas.openxmlformats.org/drawingml/2006/main" noGrp="1"/>
          </p:cNvSpPr>
          <p:nvPr/>
        </p:nvSpPr>
        <p:spPr>
          <a:xfrm xmlns:a="http://schemas.openxmlformats.org/drawingml/2006/main">
            <a:off x="762000" y="49149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E36B15-E5BE-43DB-A6AC-C1A442630991}"/>
              </a:ext>
            </a:extLst>
          </p:cNvPr>
          <p:cNvSpPr>
            <a:spLocks xmlns:a="http://schemas.openxmlformats.org/drawingml/2006/main" noGrp="1"/>
          </p:cNvSpPr>
          <p:nvPr/>
        </p:nvSpPr>
        <p:spPr>
          <a:xfrm xmlns:a="http://schemas.openxmlformats.org/drawingml/2006/main">
            <a:off x="1009650" y="4686300"/>
            <a:ext cx="9658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What runtime state did you observe?</a:t>
            </a:r>
          </a:p>
        </p:txBody>
      </p:sp>
      <p:sp>
        <p:nvSpPr>
          <p:cNvPr id="13" name="">
            <a:extLst xmlns:a="http://schemas.openxmlformats.org/drawingml/2006/main">
              <a:ext uri="{FF2B5EF4-FFF2-40B4-BE49-F238E27FC236}">
                <a16:creationId xmlns:a16="http://schemas.microsoft.com/office/drawing/2014/main" id="{67D55C98-2D23-4FC1-AD75-23E6A3E02EA7}"/>
              </a:ext>
            </a:extLst>
          </p:cNvPr>
          <p:cNvSpPr>
            <a:spLocks xmlns:a="http://schemas.openxmlformats.org/drawingml/2006/main" noGrp="1"/>
          </p:cNvSpPr>
          <p:nvPr/>
        </p:nvSpPr>
        <p:spPr>
          <a:xfrm xmlns:a="http://schemas.openxmlformats.org/drawingml/2006/main">
            <a:off x="762000" y="55054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9B4A0F6-0382-4294-AB88-B2A3BA44FAB7}"/>
              </a:ext>
            </a:extLst>
          </p:cNvPr>
          <p:cNvSpPr>
            <a:spLocks xmlns:a="http://schemas.openxmlformats.org/drawingml/2006/main" noGrp="1"/>
          </p:cNvSpPr>
          <p:nvPr/>
        </p:nvSpPr>
        <p:spPr>
          <a:xfrm xmlns:a="http://schemas.openxmlformats.org/drawingml/2006/main">
            <a:off x="1009650" y="5276850"/>
            <a:ext cx="9658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Which independent evidence closed the claim?</a:t>
            </a:r>
          </a:p>
        </p:txBody>
      </p:sp>
    </p:spTree>
    <p:extLst>
      <p:ext uri="{BB962C8B-B14F-4D97-AF65-F5344CB8AC3E}">
        <p14:creationId xmlns:p14="http://schemas.microsoft.com/office/powerpoint/2010/main" val="180461046"/>
      </p:ext>
    </p:extLst>
  </p:cSld>
</p:sld>
</file>

<file path=ppt/slides/slide27.xml><?xml version="1.0" encoding="utf-8"?>
<p:sld xmlns:p="http://schemas.openxmlformats.org/presentationml/2006/main">
  <p:cSld>
    <p:bg>
      <p:bgPr>
        <a:solidFill xmlns:a="http://schemas.openxmlformats.org/drawingml/2006/main">
          <a:srgbClr val="180D2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3572808-713B-404C-BDA0-290B3F4CAA12}"/>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FF6F6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70E7812-180B-48BB-9ED5-A597CAE26D83}"/>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FF6F61"/>
                </a:solidFill>
              </a:defRPr>
            </a:pPr>
            <a:r>
              <a:rPr sz="900" b="1">
                <a:solidFill>
                  <a:srgbClr val="FF6F61"/>
                </a:solidFill>
              </a:rPr>
              <a:t>MODULE 3</a:t>
            </a:r>
          </a:p>
        </p:txBody>
      </p:sp>
      <p:sp>
        <p:nvSpPr>
          <p:cNvPr id="3" name="">
            <a:extLst xmlns:a="http://schemas.openxmlformats.org/drawingml/2006/main">
              <a:ext uri="{FF2B5EF4-FFF2-40B4-BE49-F238E27FC236}">
                <a16:creationId xmlns:a16="http://schemas.microsoft.com/office/drawing/2014/main" id="{ADC9C68A-6089-4DF7-B714-71E1EF4481BF}"/>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CFC5D5"/>
                </a:solidFill>
              </a:defRPr>
            </a:pPr>
            <a:r>
              <a:rPr sz="825" b="1">
                <a:solidFill>
                  <a:srgbClr val="CFC5D5"/>
                </a:solidFill>
              </a:rPr>
              <a:t>LINUX FOUNDATIONS</a:t>
            </a:r>
          </a:p>
        </p:txBody>
      </p:sp>
      <p:sp>
        <p:nvSpPr>
          <p:cNvPr id="4" name="">
            <a:extLst xmlns:a="http://schemas.openxmlformats.org/drawingml/2006/main">
              <a:ext uri="{FF2B5EF4-FFF2-40B4-BE49-F238E27FC236}">
                <a16:creationId xmlns:a16="http://schemas.microsoft.com/office/drawing/2014/main" id="{485E7B7D-D4FF-4B8F-A3AC-29A192E9F2BB}"/>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AFA2B8"/>
                </a:solidFill>
              </a:defRPr>
            </a:pPr>
            <a:r>
              <a:rPr sz="825" b="0">
                <a:solidFill>
                  <a:srgbClr val="AFA2B8"/>
                </a:solidFill>
              </a:rPr>
              <a:t>27</a:t>
            </a:r>
          </a:p>
        </p:txBody>
      </p:sp>
      <p:sp>
        <p:nvSpPr>
          <p:cNvPr id="5" name="">
            <a:extLst xmlns:a="http://schemas.openxmlformats.org/drawingml/2006/main">
              <a:ext uri="{FF2B5EF4-FFF2-40B4-BE49-F238E27FC236}">
                <a16:creationId xmlns:a16="http://schemas.microsoft.com/office/drawing/2014/main" id="{C3331358-0836-405A-92C8-043A2DA2F2A0}"/>
              </a:ext>
            </a:extLst>
          </p:cNvPr>
          <p:cNvSpPr>
            <a:spLocks xmlns:a="http://schemas.openxmlformats.org/drawingml/2006/main" noGrp="1"/>
          </p:cNvSpPr>
          <p:nvPr/>
        </p:nvSpPr>
        <p:spPr>
          <a:xfrm xmlns:a="http://schemas.openxmlformats.org/drawingml/2006/main">
            <a:off x="666750" y="1123950"/>
            <a:ext cx="1524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5400" b="1">
                <a:solidFill>
                  <a:srgbClr val="FF6F61"/>
                </a:solidFill>
              </a:defRPr>
            </a:pPr>
            <a:r>
              <a:rPr sz="5400" b="1">
                <a:solidFill>
                  <a:srgbClr val="FF6F61"/>
                </a:solidFill>
              </a:rPr>
              <a:t>03</a:t>
            </a:r>
          </a:p>
        </p:txBody>
      </p:sp>
      <p:sp>
        <p:nvSpPr>
          <p:cNvPr id="6" name="">
            <a:extLst xmlns:a="http://schemas.openxmlformats.org/drawingml/2006/main">
              <a:ext uri="{FF2B5EF4-FFF2-40B4-BE49-F238E27FC236}">
                <a16:creationId xmlns:a16="http://schemas.microsoft.com/office/drawing/2014/main" id="{E5C6B733-C755-4680-909F-AACF675594A9}"/>
              </a:ext>
            </a:extLst>
          </p:cNvPr>
          <p:cNvSpPr>
            <a:spLocks xmlns:a="http://schemas.openxmlformats.org/drawingml/2006/main" noGrp="1"/>
          </p:cNvSpPr>
          <p:nvPr/>
        </p:nvSpPr>
        <p:spPr>
          <a:xfrm xmlns:a="http://schemas.openxmlformats.org/drawingml/2006/main">
            <a:off x="2381250" y="1123950"/>
            <a:ext cx="8096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150" b="1">
                <a:solidFill>
                  <a:srgbClr val="FFFFFF"/>
                </a:solidFill>
              </a:defRPr>
            </a:pPr>
            <a:r>
              <a:rPr sz="3150" b="1">
                <a:solidFill>
                  <a:srgbClr val="FFFFFF"/>
                </a:solidFill>
              </a:rPr>
              <a:t>Shell execution, streams, editing, and text evidence</a:t>
            </a:r>
          </a:p>
        </p:txBody>
      </p:sp>
      <p:sp>
        <p:nvSpPr>
          <p:cNvPr id="7" name="">
            <a:extLst xmlns:a="http://schemas.openxmlformats.org/drawingml/2006/main">
              <a:ext uri="{FF2B5EF4-FFF2-40B4-BE49-F238E27FC236}">
                <a16:creationId xmlns:a16="http://schemas.microsoft.com/office/drawing/2014/main" id="{EA2D0C00-B2EE-4459-8089-61E4B4BBA88B}"/>
              </a:ext>
            </a:extLst>
          </p:cNvPr>
          <p:cNvSpPr>
            <a:spLocks xmlns:a="http://schemas.openxmlformats.org/drawingml/2006/main" noGrp="1"/>
          </p:cNvSpPr>
          <p:nvPr/>
        </p:nvSpPr>
        <p:spPr>
          <a:xfrm xmlns:a="http://schemas.openxmlformats.org/drawingml/2006/main">
            <a:off x="2381250" y="2400300"/>
            <a:ext cx="7810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950" b="0">
                <a:solidFill>
                  <a:srgbClr val="E9DFED"/>
                </a:solidFill>
              </a:defRPr>
            </a:pPr>
            <a:r>
              <a:rPr sz="1950" b="0">
                <a:solidFill>
                  <a:srgbClr val="E9DFED"/>
                </a:solidFill>
              </a:rPr>
              <a:t>How can a pipeline turn records into a reviewable answer?</a:t>
            </a:r>
          </a:p>
        </p:txBody>
      </p:sp>
      <p:sp>
        <p:nvSpPr>
          <p:cNvPr id="8" name="">
            <a:extLst xmlns:a="http://schemas.openxmlformats.org/drawingml/2006/main">
              <a:ext uri="{FF2B5EF4-FFF2-40B4-BE49-F238E27FC236}">
                <a16:creationId xmlns:a16="http://schemas.microsoft.com/office/drawing/2014/main" id="{2DB785F0-AF4F-4DF8-B794-2635EA60D288}"/>
              </a:ext>
            </a:extLst>
          </p:cNvPr>
          <p:cNvSpPr>
            <a:spLocks xmlns:a="http://schemas.openxmlformats.org/drawingml/2006/main" noGrp="1"/>
          </p:cNvSpPr>
          <p:nvPr/>
        </p:nvSpPr>
        <p:spPr>
          <a:xfrm xmlns:a="http://schemas.openxmlformats.org/drawingml/2006/main">
            <a:off x="2381250" y="3790950"/>
            <a:ext cx="6858000" cy="381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E285B182-54E7-45F1-9F17-6A7B424548BD}"/>
              </a:ext>
            </a:extLst>
          </p:cNvPr>
          <p:cNvSpPr>
            <a:spLocks xmlns:a="http://schemas.openxmlformats.org/drawingml/2006/main" noGrp="1"/>
          </p:cNvSpPr>
          <p:nvPr/>
        </p:nvSpPr>
        <p:spPr>
          <a:xfrm xmlns:a="http://schemas.openxmlformats.org/drawingml/2006/main">
            <a:off x="2381250" y="400050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0">
                <a:solidFill>
                  <a:srgbClr val="BFB1C7"/>
                </a:solidFill>
              </a:defRPr>
            </a:pPr>
            <a:r>
              <a:rPr sz="1275" b="0">
                <a:solidFill>
                  <a:srgbClr val="BFB1C7"/>
                </a:solidFill>
              </a:rPr>
              <a:t>Bash + GNU text tools · Ubuntu lab</a:t>
            </a:r>
          </a:p>
        </p:txBody>
      </p:sp>
    </p:spTree>
    <p:extLst>
      <p:ext uri="{BB962C8B-B14F-4D97-AF65-F5344CB8AC3E}">
        <p14:creationId xmlns:p14="http://schemas.microsoft.com/office/powerpoint/2010/main" val="281307169"/>
      </p:ext>
    </p:extLst>
  </p:cSld>
</p:sld>
</file>

<file path=ppt/slides/slide28.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4D239AC-558F-4E71-807F-E800300F0C57}"/>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023F059-46C4-4B44-9139-1CE106C87B45}"/>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3 · MODEL</a:t>
            </a:r>
          </a:p>
        </p:txBody>
      </p:sp>
      <p:sp>
        <p:nvSpPr>
          <p:cNvPr id="3" name="">
            <a:extLst xmlns:a="http://schemas.openxmlformats.org/drawingml/2006/main">
              <a:ext uri="{FF2B5EF4-FFF2-40B4-BE49-F238E27FC236}">
                <a16:creationId xmlns:a16="http://schemas.microsoft.com/office/drawing/2014/main" id="{219BA959-CE65-4A0D-A928-7B7D63B633FF}"/>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3D3B58E8-A9FE-4B49-8090-0517590AC216}"/>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28</a:t>
            </a:r>
          </a:p>
        </p:txBody>
      </p:sp>
      <p:sp>
        <p:nvSpPr>
          <p:cNvPr id="5" name="">
            <a:extLst xmlns:a="http://schemas.openxmlformats.org/drawingml/2006/main">
              <a:ext uri="{FF2B5EF4-FFF2-40B4-BE49-F238E27FC236}">
                <a16:creationId xmlns:a16="http://schemas.microsoft.com/office/drawing/2014/main" id="{E6D77B4F-C9B1-4745-9629-AE35C193210D}"/>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Streams separate data from diagnostics</a:t>
            </a:r>
          </a:p>
        </p:txBody>
      </p:sp>
      <p:sp>
        <p:nvSpPr>
          <p:cNvPr id="6" name="">
            <a:extLst xmlns:a="http://schemas.openxmlformats.org/drawingml/2006/main">
              <a:ext uri="{FF2B5EF4-FFF2-40B4-BE49-F238E27FC236}">
                <a16:creationId xmlns:a16="http://schemas.microsoft.com/office/drawing/2014/main" id="{F68DF331-A4E7-4228-BF30-D74230CB58DB}"/>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Redirection saves a stream; it does not automatically include diagnostics. Exit status and visible output are separate evidence.</a:t>
            </a:r>
          </a:p>
        </p:txBody>
      </p:sp>
      <p:sp>
        <p:nvSpPr>
          <p:cNvPr id="7" name="">
            <a:extLst xmlns:a="http://schemas.openxmlformats.org/drawingml/2006/main">
              <a:ext uri="{FF2B5EF4-FFF2-40B4-BE49-F238E27FC236}">
                <a16:creationId xmlns:a16="http://schemas.microsoft.com/office/drawing/2014/main" id="{17674819-3E04-4A80-A49D-194F8B26897A}"/>
              </a:ext>
            </a:extLst>
          </p:cNvPr>
          <p:cNvSpPr>
            <a:spLocks xmlns:a="http://schemas.openxmlformats.org/drawingml/2006/main" noGrp="1"/>
          </p:cNvSpPr>
          <p:nvPr/>
        </p:nvSpPr>
        <p:spPr>
          <a:xfrm xmlns:a="http://schemas.openxmlformats.org/drawingml/2006/main">
            <a:off x="781050" y="31051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A59DAFB-D258-4B5E-A43F-1B9D50B3D1DF}"/>
              </a:ext>
            </a:extLst>
          </p:cNvPr>
          <p:cNvSpPr>
            <a:spLocks xmlns:a="http://schemas.openxmlformats.org/drawingml/2006/main" noGrp="1"/>
          </p:cNvSpPr>
          <p:nvPr/>
        </p:nvSpPr>
        <p:spPr>
          <a:xfrm xmlns:a="http://schemas.openxmlformats.org/drawingml/2006/main">
            <a:off x="1028700" y="272415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Every process begins with standard input, standard output, and standard error. A pipe connects one command’s stdout to the next command’s stdin.</a:t>
            </a:r>
          </a:p>
        </p:txBody>
      </p:sp>
      <p:sp>
        <p:nvSpPr>
          <p:cNvPr id="9" name="">
            <a:extLst xmlns:a="http://schemas.openxmlformats.org/drawingml/2006/main">
              <a:ext uri="{FF2B5EF4-FFF2-40B4-BE49-F238E27FC236}">
                <a16:creationId xmlns:a16="http://schemas.microsoft.com/office/drawing/2014/main" id="{29A2862D-4D50-4A6D-8C7B-5475A46358EA}"/>
              </a:ext>
            </a:extLst>
          </p:cNvPr>
          <p:cNvSpPr>
            <a:spLocks xmlns:a="http://schemas.openxmlformats.org/drawingml/2006/main" noGrp="1"/>
          </p:cNvSpPr>
          <p:nvPr/>
        </p:nvSpPr>
        <p:spPr>
          <a:xfrm xmlns:a="http://schemas.openxmlformats.org/drawingml/2006/main">
            <a:off x="781050" y="40005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083C9C8-CAF5-41C2-B0D8-6D89105421D2}"/>
              </a:ext>
            </a:extLst>
          </p:cNvPr>
          <p:cNvSpPr>
            <a:spLocks xmlns:a="http://schemas.openxmlformats.org/drawingml/2006/main" noGrp="1"/>
          </p:cNvSpPr>
          <p:nvPr/>
        </p:nvSpPr>
        <p:spPr>
          <a:xfrm xmlns:a="http://schemas.openxmlformats.org/drawingml/2006/main">
            <a:off x="1028700" y="361950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Redirection saves a stream; it does not automatically include diagnostics. Exit status and visible output are separate evidence.</a:t>
            </a:r>
          </a:p>
        </p:txBody>
      </p:sp>
    </p:spTree>
    <p:extLst>
      <p:ext uri="{BB962C8B-B14F-4D97-AF65-F5344CB8AC3E}">
        <p14:creationId xmlns:p14="http://schemas.microsoft.com/office/powerpoint/2010/main" val="144948005"/>
      </p:ext>
    </p:extLst>
  </p:cSld>
</p:sld>
</file>

<file path=ppt/slides/slide29.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1E200CE-68E1-4EDD-80F1-C69CF21A3AE3}"/>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C8C3709-184C-4E63-9FF1-40E1DE85224D}"/>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3 · MODEL</a:t>
            </a:r>
          </a:p>
        </p:txBody>
      </p:sp>
      <p:sp>
        <p:nvSpPr>
          <p:cNvPr id="3" name="">
            <a:extLst xmlns:a="http://schemas.openxmlformats.org/drawingml/2006/main">
              <a:ext uri="{FF2B5EF4-FFF2-40B4-BE49-F238E27FC236}">
                <a16:creationId xmlns:a16="http://schemas.microsoft.com/office/drawing/2014/main" id="{B0D0D54C-CA87-4AF3-BE4A-03B6A37C57DB}"/>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C9184291-60ED-41C5-9353-D24F1A39B36A}"/>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29</a:t>
            </a:r>
          </a:p>
        </p:txBody>
      </p:sp>
      <p:sp>
        <p:nvSpPr>
          <p:cNvPr id="5" name="">
            <a:extLst xmlns:a="http://schemas.openxmlformats.org/drawingml/2006/main">
              <a:ext uri="{FF2B5EF4-FFF2-40B4-BE49-F238E27FC236}">
                <a16:creationId xmlns:a16="http://schemas.microsoft.com/office/drawing/2014/main" id="{9BF569EB-BFFF-4B6E-B81E-9F35A931E301}"/>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A pipeline is a staged data transformation</a:t>
            </a:r>
          </a:p>
        </p:txBody>
      </p:sp>
      <p:sp>
        <p:nvSpPr>
          <p:cNvPr id="6" name="">
            <a:extLst xmlns:a="http://schemas.openxmlformats.org/drawingml/2006/main">
              <a:ext uri="{FF2B5EF4-FFF2-40B4-BE49-F238E27FC236}">
                <a16:creationId xmlns:a16="http://schemas.microsoft.com/office/drawing/2014/main" id="{24569607-A1BA-4977-B1EB-65E2015D2BFA}"/>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sort must precede uniq -c because uniq counts adjacent equal lines, not all equal lines anywhere in the input.</a:t>
            </a:r>
          </a:p>
        </p:txBody>
      </p:sp>
      <p:sp>
        <p:nvSpPr>
          <p:cNvPr id="7" name="">
            <a:extLst xmlns:a="http://schemas.openxmlformats.org/drawingml/2006/main">
              <a:ext uri="{FF2B5EF4-FFF2-40B4-BE49-F238E27FC236}">
                <a16:creationId xmlns:a16="http://schemas.microsoft.com/office/drawing/2014/main" id="{1FF4C347-49C5-46DF-88E2-523F4317F027}"/>
              </a:ext>
            </a:extLst>
          </p:cNvPr>
          <p:cNvSpPr>
            <a:spLocks xmlns:a="http://schemas.openxmlformats.org/drawingml/2006/main" noGrp="1"/>
          </p:cNvSpPr>
          <p:nvPr/>
        </p:nvSpPr>
        <p:spPr>
          <a:xfrm xmlns:a="http://schemas.openxmlformats.org/drawingml/2006/main">
            <a:off x="781050" y="31051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C952210-92D5-4625-B51F-10B60A821AF7}"/>
              </a:ext>
            </a:extLst>
          </p:cNvPr>
          <p:cNvSpPr>
            <a:spLocks xmlns:a="http://schemas.openxmlformats.org/drawingml/2006/main" noGrp="1"/>
          </p:cNvSpPr>
          <p:nvPr/>
        </p:nvSpPr>
        <p:spPr>
          <a:xfrm xmlns:a="http://schemas.openxmlformats.org/drawingml/2006/main">
            <a:off x="1028700" y="272415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Build pipelines one stage at a time: inspect the record grammar, select relevant records, extract a field, group adjacent values, and verify the saved result.</a:t>
            </a:r>
          </a:p>
        </p:txBody>
      </p:sp>
      <p:sp>
        <p:nvSpPr>
          <p:cNvPr id="9" name="">
            <a:extLst xmlns:a="http://schemas.openxmlformats.org/drawingml/2006/main">
              <a:ext uri="{FF2B5EF4-FFF2-40B4-BE49-F238E27FC236}">
                <a16:creationId xmlns:a16="http://schemas.microsoft.com/office/drawing/2014/main" id="{C493D858-B4A7-4914-9FAD-F0D2AFFBF0B3}"/>
              </a:ext>
            </a:extLst>
          </p:cNvPr>
          <p:cNvSpPr>
            <a:spLocks xmlns:a="http://schemas.openxmlformats.org/drawingml/2006/main" noGrp="1"/>
          </p:cNvSpPr>
          <p:nvPr/>
        </p:nvSpPr>
        <p:spPr>
          <a:xfrm xmlns:a="http://schemas.openxmlformats.org/drawingml/2006/main">
            <a:off x="781050" y="40005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05AA475-5DB1-43AD-BD40-B7EC187104AF}"/>
              </a:ext>
            </a:extLst>
          </p:cNvPr>
          <p:cNvSpPr>
            <a:spLocks xmlns:a="http://schemas.openxmlformats.org/drawingml/2006/main" noGrp="1"/>
          </p:cNvSpPr>
          <p:nvPr/>
        </p:nvSpPr>
        <p:spPr>
          <a:xfrm xmlns:a="http://schemas.openxmlformats.org/drawingml/2006/main">
            <a:off x="1028700" y="361950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sort must precede uniq -c because uniq counts adjacent equal lines, not all equal lines anywhere in the input.</a:t>
            </a:r>
          </a:p>
        </p:txBody>
      </p:sp>
    </p:spTree>
    <p:extLst>
      <p:ext uri="{BB962C8B-B14F-4D97-AF65-F5344CB8AC3E}">
        <p14:creationId xmlns:p14="http://schemas.microsoft.com/office/powerpoint/2010/main" val="839575124"/>
      </p:ext>
    </p:extLst>
  </p:cSld>
</p:sld>
</file>

<file path=ppt/slides/slide30.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63647AA6-2C66-4F41-A068-3E546E37A798}"/>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E766861-CF4E-4055-8038-1ACF3A1AEAED}"/>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3 · BUILD THE MODEL</a:t>
            </a:r>
          </a:p>
        </p:txBody>
      </p:sp>
      <p:sp>
        <p:nvSpPr>
          <p:cNvPr id="3" name="">
            <a:extLst xmlns:a="http://schemas.openxmlformats.org/drawingml/2006/main">
              <a:ext uri="{FF2B5EF4-FFF2-40B4-BE49-F238E27FC236}">
                <a16:creationId xmlns:a16="http://schemas.microsoft.com/office/drawing/2014/main" id="{F5C39E50-8781-44F4-8A9E-32F1380F2CA9}"/>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12952285-64BA-44A0-A4EA-C7D844289200}"/>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30</a:t>
            </a:r>
          </a:p>
        </p:txBody>
      </p:sp>
      <p:sp>
        <p:nvSpPr>
          <p:cNvPr id="5" name="">
            <a:extLst xmlns:a="http://schemas.openxmlformats.org/drawingml/2006/main">
              <a:ext uri="{FF2B5EF4-FFF2-40B4-BE49-F238E27FC236}">
                <a16:creationId xmlns:a16="http://schemas.microsoft.com/office/drawing/2014/main" id="{7821AE05-9EB9-42B4-8031-64430BCD0D80}"/>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A pipeline is several processes, not one command</a:t>
            </a:r>
          </a:p>
        </p:txBody>
      </p:sp>
      <p:sp>
        <p:nvSpPr>
          <p:cNvPr id="6" name="">
            <a:extLst xmlns:a="http://schemas.openxmlformats.org/drawingml/2006/main">
              <a:ext uri="{FF2B5EF4-FFF2-40B4-BE49-F238E27FC236}">
                <a16:creationId xmlns:a16="http://schemas.microsoft.com/office/drawing/2014/main" id="{D0FEF380-9D44-43E9-9ADD-D640A3678AA7}"/>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Inspect intermediate output before adding the next stage.</a:t>
            </a:r>
          </a:p>
        </p:txBody>
      </p:sp>
      <p:sp>
        <p:nvSpPr>
          <p:cNvPr id="7" name="">
            <a:extLst xmlns:a="http://schemas.openxmlformats.org/drawingml/2006/main">
              <a:ext uri="{FF2B5EF4-FFF2-40B4-BE49-F238E27FC236}">
                <a16:creationId xmlns:a16="http://schemas.microsoft.com/office/drawing/2014/main" id="{D0E45600-902D-4BA5-9459-2C483BAF57F7}"/>
              </a:ext>
            </a:extLst>
          </p:cNvPr>
          <p:cNvSpPr>
            <a:spLocks xmlns:a="http://schemas.openxmlformats.org/drawingml/2006/main" noGrp="1"/>
          </p:cNvSpPr>
          <p:nvPr/>
        </p:nvSpPr>
        <p:spPr>
          <a:xfrm xmlns:a="http://schemas.openxmlformats.org/drawingml/2006/main">
            <a:off x="781050" y="29622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8C8C24E-EE63-441A-9BA9-BA30F4C7CC4B}"/>
              </a:ext>
            </a:extLst>
          </p:cNvPr>
          <p:cNvSpPr>
            <a:spLocks xmlns:a="http://schemas.openxmlformats.org/drawingml/2006/main" noGrp="1"/>
          </p:cNvSpPr>
          <p:nvPr/>
        </p:nvSpPr>
        <p:spPr>
          <a:xfrm xmlns:a="http://schemas.openxmlformats.org/drawingml/2006/main">
            <a:off x="1028700" y="27241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The shell creates pipes before starting the programs</a:t>
            </a:r>
          </a:p>
        </p:txBody>
      </p:sp>
      <p:sp>
        <p:nvSpPr>
          <p:cNvPr id="9" name="">
            <a:extLst xmlns:a="http://schemas.openxmlformats.org/drawingml/2006/main">
              <a:ext uri="{FF2B5EF4-FFF2-40B4-BE49-F238E27FC236}">
                <a16:creationId xmlns:a16="http://schemas.microsoft.com/office/drawing/2014/main" id="{C58C4E0F-65A7-43D6-B46F-5D9D29C399E9}"/>
              </a:ext>
            </a:extLst>
          </p:cNvPr>
          <p:cNvSpPr>
            <a:spLocks xmlns:a="http://schemas.openxmlformats.org/drawingml/2006/main" noGrp="1"/>
          </p:cNvSpPr>
          <p:nvPr/>
        </p:nvSpPr>
        <p:spPr>
          <a:xfrm xmlns:a="http://schemas.openxmlformats.org/drawingml/2006/main">
            <a:off x="781050" y="35718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F45AADC-9909-44B7-952E-D7A580B43FD4}"/>
              </a:ext>
            </a:extLst>
          </p:cNvPr>
          <p:cNvSpPr>
            <a:spLocks xmlns:a="http://schemas.openxmlformats.org/drawingml/2006/main" noGrp="1"/>
          </p:cNvSpPr>
          <p:nvPr/>
        </p:nvSpPr>
        <p:spPr>
          <a:xfrm xmlns:a="http://schemas.openxmlformats.org/drawingml/2006/main">
            <a:off x="1028700" y="33337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Each stage receives the previous stage’s standard output</a:t>
            </a:r>
          </a:p>
        </p:txBody>
      </p:sp>
      <p:sp>
        <p:nvSpPr>
          <p:cNvPr id="11" name="">
            <a:extLst xmlns:a="http://schemas.openxmlformats.org/drawingml/2006/main">
              <a:ext uri="{FF2B5EF4-FFF2-40B4-BE49-F238E27FC236}">
                <a16:creationId xmlns:a16="http://schemas.microsoft.com/office/drawing/2014/main" id="{41A2F8E8-AFB0-43DC-AAF5-DD9733E51028}"/>
              </a:ext>
            </a:extLst>
          </p:cNvPr>
          <p:cNvSpPr>
            <a:spLocks xmlns:a="http://schemas.openxmlformats.org/drawingml/2006/main" noGrp="1"/>
          </p:cNvSpPr>
          <p:nvPr/>
        </p:nvSpPr>
        <p:spPr>
          <a:xfrm xmlns:a="http://schemas.openxmlformats.org/drawingml/2006/main">
            <a:off x="781050" y="41814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0DCA9C9-1490-4BEC-AE28-BDE5DC0FD116}"/>
              </a:ext>
            </a:extLst>
          </p:cNvPr>
          <p:cNvSpPr>
            <a:spLocks xmlns:a="http://schemas.openxmlformats.org/drawingml/2006/main" noGrp="1"/>
          </p:cNvSpPr>
          <p:nvPr/>
        </p:nvSpPr>
        <p:spPr>
          <a:xfrm xmlns:a="http://schemas.openxmlformats.org/drawingml/2006/main">
            <a:off x="1028700" y="39433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Standard error remains separate unless explicitly redirected</a:t>
            </a:r>
          </a:p>
        </p:txBody>
      </p:sp>
      <p:sp>
        <p:nvSpPr>
          <p:cNvPr id="13" name="">
            <a:extLst xmlns:a="http://schemas.openxmlformats.org/drawingml/2006/main">
              <a:ext uri="{FF2B5EF4-FFF2-40B4-BE49-F238E27FC236}">
                <a16:creationId xmlns:a16="http://schemas.microsoft.com/office/drawing/2014/main" id="{7C30EEB2-734D-4871-A595-5BAE91EB71BC}"/>
              </a:ext>
            </a:extLst>
          </p:cNvPr>
          <p:cNvSpPr>
            <a:spLocks xmlns:a="http://schemas.openxmlformats.org/drawingml/2006/main" noGrp="1"/>
          </p:cNvSpPr>
          <p:nvPr/>
        </p:nvSpPr>
        <p:spPr>
          <a:xfrm xmlns:a="http://schemas.openxmlformats.org/drawingml/2006/main">
            <a:off x="781050" y="47910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51EBEC0-F76A-4077-B0D8-61568385248E}"/>
              </a:ext>
            </a:extLst>
          </p:cNvPr>
          <p:cNvSpPr>
            <a:spLocks xmlns:a="http://schemas.openxmlformats.org/drawingml/2006/main" noGrp="1"/>
          </p:cNvSpPr>
          <p:nvPr/>
        </p:nvSpPr>
        <p:spPr>
          <a:xfrm xmlns:a="http://schemas.openxmlformats.org/drawingml/2006/main">
            <a:off x="1028700" y="45529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The pipeline status normally comes from its last command in Bash</a:t>
            </a:r>
          </a:p>
        </p:txBody>
      </p:sp>
    </p:spTree>
    <p:extLst>
      <p:ext uri="{BB962C8B-B14F-4D97-AF65-F5344CB8AC3E}">
        <p14:creationId xmlns:p14="http://schemas.microsoft.com/office/powerpoint/2010/main" val="937102362"/>
      </p:ext>
    </p:extLst>
  </p:cSld>
</p:sld>
</file>

<file path=ppt/slides/slide31.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4AB4978-8438-4756-B32C-A91B7F57C1AB}"/>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222E86C-2C15-42F3-A2F0-F03CE1881A87}"/>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3 · WORKED EXAMPLE</a:t>
            </a:r>
          </a:p>
        </p:txBody>
      </p:sp>
      <p:sp>
        <p:nvSpPr>
          <p:cNvPr id="3" name="">
            <a:extLst xmlns:a="http://schemas.openxmlformats.org/drawingml/2006/main">
              <a:ext uri="{FF2B5EF4-FFF2-40B4-BE49-F238E27FC236}">
                <a16:creationId xmlns:a16="http://schemas.microsoft.com/office/drawing/2014/main" id="{F19A04C6-053B-42DE-B809-50BCA4DD539E}"/>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49F0CD95-56DD-47E4-BA2C-AD2F4192BB74}"/>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31</a:t>
            </a:r>
          </a:p>
        </p:txBody>
      </p:sp>
      <p:sp>
        <p:nvSpPr>
          <p:cNvPr id="5" name="">
            <a:extLst xmlns:a="http://schemas.openxmlformats.org/drawingml/2006/main">
              <a:ext uri="{FF2B5EF4-FFF2-40B4-BE49-F238E27FC236}">
                <a16:creationId xmlns:a16="http://schemas.microsoft.com/office/drawing/2014/main" id="{7DC9820B-469B-4D87-AF95-E5D874E9C7D4}"/>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Make every pipeline stage explainable</a:t>
            </a:r>
          </a:p>
        </p:txBody>
      </p:sp>
      <p:sp>
        <p:nvSpPr>
          <p:cNvPr id="6" name="">
            <a:extLst xmlns:a="http://schemas.openxmlformats.org/drawingml/2006/main">
              <a:ext uri="{FF2B5EF4-FFF2-40B4-BE49-F238E27FC236}">
                <a16:creationId xmlns:a16="http://schemas.microsoft.com/office/drawing/2014/main" id="{5105568B-A5AC-4DA9-83C9-5578269F4A75}"/>
              </a:ext>
            </a:extLst>
          </p:cNvPr>
          <p:cNvSpPr>
            <a:spLocks xmlns:a="http://schemas.openxmlformats.org/drawingml/2006/main" noGrp="1"/>
          </p:cNvSpPr>
          <p:nvPr/>
        </p:nvSpPr>
        <p:spPr>
          <a:xfrm xmlns:a="http://schemas.openxmlformats.org/drawingml/2006/main">
            <a:off x="514350" y="2400300"/>
            <a:ext cx="6191250" cy="2857500"/>
          </a:xfrm>
          <a:prstGeom xmlns:a="http://schemas.openxmlformats.org/drawingml/2006/main" prst="roundRect">
            <a:avLst>
              <a:gd name="adj" fmla="val 4000"/>
            </a:avLst>
          </a:prstGeom>
          <a:solidFill xmlns:a="http://schemas.openxmlformats.org/drawingml/2006/main">
            <a:srgbClr val="180D25"/>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94200EDB-1E17-4E7E-8833-060FB02A0980}"/>
              </a:ext>
            </a:extLst>
          </p:cNvPr>
          <p:cNvSpPr>
            <a:spLocks xmlns:a="http://schemas.openxmlformats.org/drawingml/2006/main" noGrp="1"/>
          </p:cNvSpPr>
          <p:nvPr/>
        </p:nvSpPr>
        <p:spPr>
          <a:xfrm xmlns:a="http://schemas.openxmlformats.org/drawingml/2006/main">
            <a:off x="781050" y="2647950"/>
            <a:ext cx="5667375" cy="2333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F7F1FA"/>
                </a:solidFill>
              </a:defRPr>
            </a:pPr>
            <a:r>
              <a:rPr sz="1575" b="0">
                <a:solidFill>
                  <a:srgbClr val="F7F1FA"/>
                </a:solidFill>
              </a:rPr>
              <a:t>awk '{print $4}' access.log \</a:t>
            </a:r>
          </a:p>
          <a:p xmlns:a="http://schemas.openxmlformats.org/drawingml/2006/main">
            <a:pPr algn="l">
              <a:buNone/>
              <a:defRPr sz="1575" b="0">
                <a:solidFill>
                  <a:srgbClr val="F7F1FA"/>
                </a:solidFill>
              </a:defRPr>
            </a:pPr>
            <a:r>
              <a:rPr sz="1575" b="0">
                <a:solidFill>
                  <a:srgbClr val="F7F1FA"/>
                </a:solidFill>
              </a:rPr>
              <a:t> | sort | uniq -c \</a:t>
            </a:r>
          </a:p>
          <a:p xmlns:a="http://schemas.openxmlformats.org/drawingml/2006/main">
            <a:pPr algn="l">
              <a:buNone/>
              <a:defRPr sz="1575" b="0">
                <a:solidFill>
                  <a:srgbClr val="F7F1FA"/>
                </a:solidFill>
              </a:defRPr>
            </a:pPr>
            <a:r>
              <a:rPr sz="1575" b="0">
                <a:solidFill>
                  <a:srgbClr val="F7F1FA"/>
                </a:solidFill>
              </a:rPr>
              <a:t> | awk '{print $2, $1}' &gt; status-counts.txt</a:t>
            </a:r>
          </a:p>
        </p:txBody>
      </p:sp>
      <p:sp>
        <p:nvSpPr>
          <p:cNvPr id="8" name="">
            <a:extLst xmlns:a="http://schemas.openxmlformats.org/drawingml/2006/main">
              <a:ext uri="{FF2B5EF4-FFF2-40B4-BE49-F238E27FC236}">
                <a16:creationId xmlns:a16="http://schemas.microsoft.com/office/drawing/2014/main" id="{75D5521E-6CCE-410C-8916-2C37CDA5619C}"/>
              </a:ext>
            </a:extLst>
          </p:cNvPr>
          <p:cNvSpPr>
            <a:spLocks xmlns:a="http://schemas.openxmlformats.org/drawingml/2006/main" noGrp="1"/>
          </p:cNvSpPr>
          <p:nvPr/>
        </p:nvSpPr>
        <p:spPr>
          <a:xfrm xmlns:a="http://schemas.openxmlformats.org/drawingml/2006/main">
            <a:off x="7143750" y="27336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CAA9097-00B6-457F-BAAA-57F9CCBFC625}"/>
              </a:ext>
            </a:extLst>
          </p:cNvPr>
          <p:cNvSpPr>
            <a:spLocks xmlns:a="http://schemas.openxmlformats.org/drawingml/2006/main" noGrp="1"/>
          </p:cNvSpPr>
          <p:nvPr/>
        </p:nvSpPr>
        <p:spPr>
          <a:xfrm xmlns:a="http://schemas.openxmlformats.org/drawingml/2006/main">
            <a:off x="7391400" y="2428875"/>
            <a:ext cx="3848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The first awk emits one status per line.</a:t>
            </a:r>
          </a:p>
        </p:txBody>
      </p:sp>
      <p:sp>
        <p:nvSpPr>
          <p:cNvPr id="10" name="">
            <a:extLst xmlns:a="http://schemas.openxmlformats.org/drawingml/2006/main">
              <a:ext uri="{FF2B5EF4-FFF2-40B4-BE49-F238E27FC236}">
                <a16:creationId xmlns:a16="http://schemas.microsoft.com/office/drawing/2014/main" id="{BB3795F8-CD86-441C-BEDD-5002435FF509}"/>
              </a:ext>
            </a:extLst>
          </p:cNvPr>
          <p:cNvSpPr>
            <a:spLocks xmlns:a="http://schemas.openxmlformats.org/drawingml/2006/main" noGrp="1"/>
          </p:cNvSpPr>
          <p:nvPr/>
        </p:nvSpPr>
        <p:spPr>
          <a:xfrm xmlns:a="http://schemas.openxmlformats.org/drawingml/2006/main">
            <a:off x="7143750" y="347662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2062735-25E0-46D6-B145-A91BF6975A69}"/>
              </a:ext>
            </a:extLst>
          </p:cNvPr>
          <p:cNvSpPr>
            <a:spLocks xmlns:a="http://schemas.openxmlformats.org/drawingml/2006/main" noGrp="1"/>
          </p:cNvSpPr>
          <p:nvPr/>
        </p:nvSpPr>
        <p:spPr>
          <a:xfrm xmlns:a="http://schemas.openxmlformats.org/drawingml/2006/main">
            <a:off x="7391400" y="3171825"/>
            <a:ext cx="3848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sort groups equal values; uniq -c counts each group.</a:t>
            </a:r>
          </a:p>
        </p:txBody>
      </p:sp>
      <p:sp>
        <p:nvSpPr>
          <p:cNvPr id="12" name="">
            <a:extLst xmlns:a="http://schemas.openxmlformats.org/drawingml/2006/main">
              <a:ext uri="{FF2B5EF4-FFF2-40B4-BE49-F238E27FC236}">
                <a16:creationId xmlns:a16="http://schemas.microsoft.com/office/drawing/2014/main" id="{6474A7B7-9A46-4821-8832-FA1997253748}"/>
              </a:ext>
            </a:extLst>
          </p:cNvPr>
          <p:cNvSpPr>
            <a:spLocks xmlns:a="http://schemas.openxmlformats.org/drawingml/2006/main" noGrp="1"/>
          </p:cNvSpPr>
          <p:nvPr/>
        </p:nvSpPr>
        <p:spPr>
          <a:xfrm xmlns:a="http://schemas.openxmlformats.org/drawingml/2006/main">
            <a:off x="7143750" y="42195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A08B43F2-E2CD-4E2D-B220-52EEB021AB7A}"/>
              </a:ext>
            </a:extLst>
          </p:cNvPr>
          <p:cNvSpPr>
            <a:spLocks xmlns:a="http://schemas.openxmlformats.org/drawingml/2006/main" noGrp="1"/>
          </p:cNvSpPr>
          <p:nvPr/>
        </p:nvSpPr>
        <p:spPr>
          <a:xfrm xmlns:a="http://schemas.openxmlformats.org/drawingml/2006/main">
            <a:off x="7391400" y="3914775"/>
            <a:ext cx="3848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The final awk normalizes the saved output to STATUS COUNT.</a:t>
            </a:r>
          </a:p>
        </p:txBody>
      </p:sp>
    </p:spTree>
    <p:extLst>
      <p:ext uri="{BB962C8B-B14F-4D97-AF65-F5344CB8AC3E}">
        <p14:creationId xmlns:p14="http://schemas.microsoft.com/office/powerpoint/2010/main" val="1596348085"/>
      </p:ext>
    </p:extLst>
  </p:cSld>
</p:sld>
</file>

<file path=ppt/slides/slide32.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188BCACA-CEDD-4921-83D8-CAB7466E0F7F}"/>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9E0F782-5EF5-4ABC-80BA-78FE10CAAE93}"/>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3 · GUIDED COMMANDS</a:t>
            </a:r>
          </a:p>
        </p:txBody>
      </p:sp>
      <p:sp>
        <p:nvSpPr>
          <p:cNvPr id="3" name="">
            <a:extLst xmlns:a="http://schemas.openxmlformats.org/drawingml/2006/main">
              <a:ext uri="{FF2B5EF4-FFF2-40B4-BE49-F238E27FC236}">
                <a16:creationId xmlns:a16="http://schemas.microsoft.com/office/drawing/2014/main" id="{99AC1CA3-B0D7-4C6E-866A-AD59287662B1}"/>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62CF4BBD-279A-4AE1-ABC0-63301134D327}"/>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32</a:t>
            </a:r>
          </a:p>
        </p:txBody>
      </p:sp>
      <p:sp>
        <p:nvSpPr>
          <p:cNvPr id="5" name="">
            <a:extLst xmlns:a="http://schemas.openxmlformats.org/drawingml/2006/main">
              <a:ext uri="{FF2B5EF4-FFF2-40B4-BE49-F238E27FC236}">
                <a16:creationId xmlns:a16="http://schemas.microsoft.com/office/drawing/2014/main" id="{65400BE4-3B50-48C8-B124-9AA56FB70948}"/>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These commands are tools for specific questions</a:t>
            </a:r>
          </a:p>
        </p:txBody>
      </p:sp>
      <p:sp>
        <p:nvSpPr>
          <p:cNvPr id="6" name="">
            <a:extLst xmlns:a="http://schemas.openxmlformats.org/drawingml/2006/main">
              <a:ext uri="{FF2B5EF4-FFF2-40B4-BE49-F238E27FC236}">
                <a16:creationId xmlns:a16="http://schemas.microsoft.com/office/drawing/2014/main" id="{7F5CB476-0FF2-49D1-85C0-43CE20D83D37}"/>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The lab guide repeats syntax and expected evidence; memorization is not required.</a:t>
            </a:r>
          </a:p>
        </p:txBody>
      </p:sp>
      <p:sp>
        <p:nvSpPr>
          <p:cNvPr id="7" name="">
            <a:extLst xmlns:a="http://schemas.openxmlformats.org/drawingml/2006/main">
              <a:ext uri="{FF2B5EF4-FFF2-40B4-BE49-F238E27FC236}">
                <a16:creationId xmlns:a16="http://schemas.microsoft.com/office/drawing/2014/main" id="{851DA552-EF51-4090-A68C-8A1A825E5BEE}"/>
              </a:ext>
            </a:extLst>
          </p:cNvPr>
          <p:cNvSpPr>
            <a:spLocks xmlns:a="http://schemas.openxmlformats.org/drawingml/2006/main" noGrp="1"/>
          </p:cNvSpPr>
          <p:nvPr/>
        </p:nvSpPr>
        <p:spPr>
          <a:xfrm xmlns:a="http://schemas.openxmlformats.org/drawingml/2006/main">
            <a:off x="685800" y="24003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nano FILE</a:t>
            </a:r>
          </a:p>
        </p:txBody>
      </p:sp>
      <p:sp>
        <p:nvSpPr>
          <p:cNvPr id="8" name="">
            <a:extLst xmlns:a="http://schemas.openxmlformats.org/drawingml/2006/main">
              <a:ext uri="{FF2B5EF4-FFF2-40B4-BE49-F238E27FC236}">
                <a16:creationId xmlns:a16="http://schemas.microsoft.com/office/drawing/2014/main" id="{B4E55547-2B8F-449D-A52E-D476DE4DA811}"/>
              </a:ext>
            </a:extLst>
          </p:cNvPr>
          <p:cNvSpPr>
            <a:spLocks xmlns:a="http://schemas.openxmlformats.org/drawingml/2006/main" noGrp="1"/>
          </p:cNvSpPr>
          <p:nvPr/>
        </p:nvSpPr>
        <p:spPr>
          <a:xfrm xmlns:a="http://schemas.openxmlformats.org/drawingml/2006/main">
            <a:off x="3810000" y="24003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edit interactively; Ctrl+O saves</a:t>
            </a:r>
          </a:p>
        </p:txBody>
      </p:sp>
      <p:sp>
        <p:nvSpPr>
          <p:cNvPr id="9" name="">
            <a:extLst xmlns:a="http://schemas.openxmlformats.org/drawingml/2006/main">
              <a:ext uri="{FF2B5EF4-FFF2-40B4-BE49-F238E27FC236}">
                <a16:creationId xmlns:a16="http://schemas.microsoft.com/office/drawing/2014/main" id="{0E5182B4-B2BB-4992-9D1A-FE9C4DF37418}"/>
              </a:ext>
            </a:extLst>
          </p:cNvPr>
          <p:cNvSpPr>
            <a:spLocks xmlns:a="http://schemas.openxmlformats.org/drawingml/2006/main" noGrp="1"/>
          </p:cNvSpPr>
          <p:nvPr/>
        </p:nvSpPr>
        <p:spPr>
          <a:xfrm xmlns:a="http://schemas.openxmlformats.org/drawingml/2006/main">
            <a:off x="685800" y="29527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4FB68C3-D7F7-418B-8F21-9E6EA0F02383}"/>
              </a:ext>
            </a:extLst>
          </p:cNvPr>
          <p:cNvSpPr>
            <a:spLocks xmlns:a="http://schemas.openxmlformats.org/drawingml/2006/main" noGrp="1"/>
          </p:cNvSpPr>
          <p:nvPr/>
        </p:nvSpPr>
        <p:spPr>
          <a:xfrm xmlns:a="http://schemas.openxmlformats.org/drawingml/2006/main">
            <a:off x="685800" y="30480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grep PATTERN FILE</a:t>
            </a:r>
          </a:p>
        </p:txBody>
      </p:sp>
      <p:sp>
        <p:nvSpPr>
          <p:cNvPr id="11" name="">
            <a:extLst xmlns:a="http://schemas.openxmlformats.org/drawingml/2006/main">
              <a:ext uri="{FF2B5EF4-FFF2-40B4-BE49-F238E27FC236}">
                <a16:creationId xmlns:a16="http://schemas.microsoft.com/office/drawing/2014/main" id="{8888AB12-A73E-4224-BF34-3F20B591E77E}"/>
              </a:ext>
            </a:extLst>
          </p:cNvPr>
          <p:cNvSpPr>
            <a:spLocks xmlns:a="http://schemas.openxmlformats.org/drawingml/2006/main" noGrp="1"/>
          </p:cNvSpPr>
          <p:nvPr/>
        </p:nvSpPr>
        <p:spPr>
          <a:xfrm xmlns:a="http://schemas.openxmlformats.org/drawingml/2006/main">
            <a:off x="3810000" y="30480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select matching records</a:t>
            </a:r>
          </a:p>
        </p:txBody>
      </p:sp>
      <p:sp>
        <p:nvSpPr>
          <p:cNvPr id="12" name="">
            <a:extLst xmlns:a="http://schemas.openxmlformats.org/drawingml/2006/main">
              <a:ext uri="{FF2B5EF4-FFF2-40B4-BE49-F238E27FC236}">
                <a16:creationId xmlns:a16="http://schemas.microsoft.com/office/drawing/2014/main" id="{F6286EEF-5063-48E8-8E22-93F94C3444CE}"/>
              </a:ext>
            </a:extLst>
          </p:cNvPr>
          <p:cNvSpPr>
            <a:spLocks xmlns:a="http://schemas.openxmlformats.org/drawingml/2006/main" noGrp="1"/>
          </p:cNvSpPr>
          <p:nvPr/>
        </p:nvSpPr>
        <p:spPr>
          <a:xfrm xmlns:a="http://schemas.openxmlformats.org/drawingml/2006/main">
            <a:off x="685800" y="36004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B3DC4257-072C-4404-A5B7-27B01D9412F0}"/>
              </a:ext>
            </a:extLst>
          </p:cNvPr>
          <p:cNvSpPr>
            <a:spLocks xmlns:a="http://schemas.openxmlformats.org/drawingml/2006/main" noGrp="1"/>
          </p:cNvSpPr>
          <p:nvPr/>
        </p:nvSpPr>
        <p:spPr>
          <a:xfrm xmlns:a="http://schemas.openxmlformats.org/drawingml/2006/main">
            <a:off x="685800" y="36957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awk</a:t>
            </a:r>
          </a:p>
        </p:txBody>
      </p:sp>
      <p:sp>
        <p:nvSpPr>
          <p:cNvPr id="14" name="">
            <a:extLst xmlns:a="http://schemas.openxmlformats.org/drawingml/2006/main">
              <a:ext uri="{FF2B5EF4-FFF2-40B4-BE49-F238E27FC236}">
                <a16:creationId xmlns:a16="http://schemas.microsoft.com/office/drawing/2014/main" id="{1A496B4A-4B73-4B16-94AC-C0A126A0F5F8}"/>
              </a:ext>
            </a:extLst>
          </p:cNvPr>
          <p:cNvSpPr>
            <a:spLocks xmlns:a="http://schemas.openxmlformats.org/drawingml/2006/main" noGrp="1"/>
          </p:cNvSpPr>
          <p:nvPr/>
        </p:nvSpPr>
        <p:spPr>
          <a:xfrm xmlns:a="http://schemas.openxmlformats.org/drawingml/2006/main">
            <a:off x="3810000" y="36957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extract or reshape fields</a:t>
            </a:r>
          </a:p>
        </p:txBody>
      </p:sp>
      <p:sp>
        <p:nvSpPr>
          <p:cNvPr id="15" name="">
            <a:extLst xmlns:a="http://schemas.openxmlformats.org/drawingml/2006/main">
              <a:ext uri="{FF2B5EF4-FFF2-40B4-BE49-F238E27FC236}">
                <a16:creationId xmlns:a16="http://schemas.microsoft.com/office/drawing/2014/main" id="{8FC9CB33-2029-4200-95DE-43FDCB54B4FB}"/>
              </a:ext>
            </a:extLst>
          </p:cNvPr>
          <p:cNvSpPr>
            <a:spLocks xmlns:a="http://schemas.openxmlformats.org/drawingml/2006/main" noGrp="1"/>
          </p:cNvSpPr>
          <p:nvPr/>
        </p:nvSpPr>
        <p:spPr>
          <a:xfrm xmlns:a="http://schemas.openxmlformats.org/drawingml/2006/main">
            <a:off x="685800" y="42481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57CA48F9-B36A-4A61-8159-276F391112E9}"/>
              </a:ext>
            </a:extLst>
          </p:cNvPr>
          <p:cNvSpPr>
            <a:spLocks xmlns:a="http://schemas.openxmlformats.org/drawingml/2006/main" noGrp="1"/>
          </p:cNvSpPr>
          <p:nvPr/>
        </p:nvSpPr>
        <p:spPr>
          <a:xfrm xmlns:a="http://schemas.openxmlformats.org/drawingml/2006/main">
            <a:off x="685800" y="43434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sort</a:t>
            </a:r>
          </a:p>
        </p:txBody>
      </p:sp>
      <p:sp>
        <p:nvSpPr>
          <p:cNvPr id="17" name="">
            <a:extLst xmlns:a="http://schemas.openxmlformats.org/drawingml/2006/main">
              <a:ext uri="{FF2B5EF4-FFF2-40B4-BE49-F238E27FC236}">
                <a16:creationId xmlns:a16="http://schemas.microsoft.com/office/drawing/2014/main" id="{D0DA86FB-C46D-4D44-A14D-3D916014C6C3}"/>
              </a:ext>
            </a:extLst>
          </p:cNvPr>
          <p:cNvSpPr>
            <a:spLocks xmlns:a="http://schemas.openxmlformats.org/drawingml/2006/main" noGrp="1"/>
          </p:cNvSpPr>
          <p:nvPr/>
        </p:nvSpPr>
        <p:spPr>
          <a:xfrm xmlns:a="http://schemas.openxmlformats.org/drawingml/2006/main">
            <a:off x="3810000" y="43434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order records for comparison</a:t>
            </a:r>
          </a:p>
        </p:txBody>
      </p:sp>
      <p:sp>
        <p:nvSpPr>
          <p:cNvPr id="18" name="">
            <a:extLst xmlns:a="http://schemas.openxmlformats.org/drawingml/2006/main">
              <a:ext uri="{FF2B5EF4-FFF2-40B4-BE49-F238E27FC236}">
                <a16:creationId xmlns:a16="http://schemas.microsoft.com/office/drawing/2014/main" id="{C718F318-9149-467F-BDFA-E251927BB29B}"/>
              </a:ext>
            </a:extLst>
          </p:cNvPr>
          <p:cNvSpPr>
            <a:spLocks xmlns:a="http://schemas.openxmlformats.org/drawingml/2006/main" noGrp="1"/>
          </p:cNvSpPr>
          <p:nvPr/>
        </p:nvSpPr>
        <p:spPr>
          <a:xfrm xmlns:a="http://schemas.openxmlformats.org/drawingml/2006/main">
            <a:off x="685800" y="48958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307F59B2-F6C5-4309-A477-9574872B2422}"/>
              </a:ext>
            </a:extLst>
          </p:cNvPr>
          <p:cNvSpPr>
            <a:spLocks xmlns:a="http://schemas.openxmlformats.org/drawingml/2006/main" noGrp="1"/>
          </p:cNvSpPr>
          <p:nvPr/>
        </p:nvSpPr>
        <p:spPr>
          <a:xfrm xmlns:a="http://schemas.openxmlformats.org/drawingml/2006/main">
            <a:off x="685800" y="49911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uniq -c</a:t>
            </a:r>
          </a:p>
        </p:txBody>
      </p:sp>
      <p:sp>
        <p:nvSpPr>
          <p:cNvPr id="20" name="">
            <a:extLst xmlns:a="http://schemas.openxmlformats.org/drawingml/2006/main">
              <a:ext uri="{FF2B5EF4-FFF2-40B4-BE49-F238E27FC236}">
                <a16:creationId xmlns:a16="http://schemas.microsoft.com/office/drawing/2014/main" id="{59377540-D62E-4E36-9246-15DDFAE5468A}"/>
              </a:ext>
            </a:extLst>
          </p:cNvPr>
          <p:cNvSpPr>
            <a:spLocks xmlns:a="http://schemas.openxmlformats.org/drawingml/2006/main" noGrp="1"/>
          </p:cNvSpPr>
          <p:nvPr/>
        </p:nvSpPr>
        <p:spPr>
          <a:xfrm xmlns:a="http://schemas.openxmlformats.org/drawingml/2006/main">
            <a:off x="3810000" y="49911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count adjacent identical records</a:t>
            </a:r>
          </a:p>
        </p:txBody>
      </p:sp>
    </p:spTree>
    <p:extLst>
      <p:ext uri="{BB962C8B-B14F-4D97-AF65-F5344CB8AC3E}">
        <p14:creationId xmlns:p14="http://schemas.microsoft.com/office/powerpoint/2010/main" val="955951007"/>
      </p:ext>
    </p:extLst>
  </p:cSld>
</p:sld>
</file>

<file path=ppt/slides/slide33.xml><?xml version="1.0" encoding="utf-8"?>
<p:sld xmlns:p="http://schemas.openxmlformats.org/presentationml/2006/main">
  <p:cSld>
    <p:bg>
      <p:bgPr>
        <a:solidFill xmlns:a="http://schemas.openxmlformats.org/drawingml/2006/main">
          <a:srgbClr val="180D25"/>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C2FA4C12-AA99-4848-9773-858B4AF20908}"/>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FF6F6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108D30F-B778-4DC3-8D52-FFF54F11EBAC}"/>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FF6F61"/>
                </a:solidFill>
              </a:defRPr>
            </a:pPr>
            <a:r>
              <a:rPr sz="900" b="1">
                <a:solidFill>
                  <a:srgbClr val="FF6F61"/>
                </a:solidFill>
              </a:rPr>
              <a:t>MODULE 3 · LIVE DEMO</a:t>
            </a:r>
          </a:p>
        </p:txBody>
      </p:sp>
      <p:sp>
        <p:nvSpPr>
          <p:cNvPr id="3" name="">
            <a:extLst xmlns:a="http://schemas.openxmlformats.org/drawingml/2006/main">
              <a:ext uri="{FF2B5EF4-FFF2-40B4-BE49-F238E27FC236}">
                <a16:creationId xmlns:a16="http://schemas.microsoft.com/office/drawing/2014/main" id="{C981FE15-394D-4E81-9166-DAEFCCCCCE33}"/>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CFC5D5"/>
                </a:solidFill>
              </a:defRPr>
            </a:pPr>
            <a:r>
              <a:rPr sz="825" b="1">
                <a:solidFill>
                  <a:srgbClr val="CFC5D5"/>
                </a:solidFill>
              </a:rPr>
              <a:t>LINUX FOUNDATIONS</a:t>
            </a:r>
          </a:p>
        </p:txBody>
      </p:sp>
      <p:sp>
        <p:nvSpPr>
          <p:cNvPr id="4" name="">
            <a:extLst xmlns:a="http://schemas.openxmlformats.org/drawingml/2006/main">
              <a:ext uri="{FF2B5EF4-FFF2-40B4-BE49-F238E27FC236}">
                <a16:creationId xmlns:a16="http://schemas.microsoft.com/office/drawing/2014/main" id="{ABFC3C48-A3D2-4FE1-919C-DBFAAA0619BE}"/>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AFA2B8"/>
                </a:solidFill>
              </a:defRPr>
            </a:pPr>
            <a:r>
              <a:rPr sz="825" b="0">
                <a:solidFill>
                  <a:srgbClr val="AFA2B8"/>
                </a:solidFill>
              </a:rPr>
              <a:t>33</a:t>
            </a:r>
          </a:p>
        </p:txBody>
      </p:sp>
      <p:sp>
        <p:nvSpPr>
          <p:cNvPr id="5" name="">
            <a:extLst xmlns:a="http://schemas.openxmlformats.org/drawingml/2006/main">
              <a:ext uri="{FF2B5EF4-FFF2-40B4-BE49-F238E27FC236}">
                <a16:creationId xmlns:a16="http://schemas.microsoft.com/office/drawing/2014/main" id="{A5AD9DE1-4EE4-4B7D-A7BF-461331B94E3E}"/>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FFFFFF"/>
                </a:solidFill>
              </a:defRPr>
            </a:pPr>
            <a:r>
              <a:rPr sz="2850" b="1">
                <a:solidFill>
                  <a:srgbClr val="FFFFFF"/>
                </a:solidFill>
              </a:rPr>
              <a:t>Predict the evidence before Demo 3</a:t>
            </a:r>
          </a:p>
        </p:txBody>
      </p:sp>
      <p:sp>
        <p:nvSpPr>
          <p:cNvPr id="6" name="">
            <a:extLst xmlns:a="http://schemas.openxmlformats.org/drawingml/2006/main">
              <a:ext uri="{FF2B5EF4-FFF2-40B4-BE49-F238E27FC236}">
                <a16:creationId xmlns:a16="http://schemas.microsoft.com/office/drawing/2014/main" id="{A16CB0A5-8D66-46F4-AC11-5C6BBC59811A}"/>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E6DDEB"/>
                </a:solidFill>
              </a:defRPr>
            </a:pPr>
            <a:r>
              <a:rPr sz="1650" b="0">
                <a:solidFill>
                  <a:srgbClr val="E6DDEB"/>
                </a:solidFill>
              </a:rPr>
              <a:t>Inspect a synthetic authentication log, predict the needed fields, build the pipeline one stage at a time, then save and count the evidence.</a:t>
            </a:r>
          </a:p>
        </p:txBody>
      </p:sp>
      <p:sp>
        <p:nvSpPr>
          <p:cNvPr id="7" name="">
            <a:extLst xmlns:a="http://schemas.openxmlformats.org/drawingml/2006/main">
              <a:ext uri="{FF2B5EF4-FFF2-40B4-BE49-F238E27FC236}">
                <a16:creationId xmlns:a16="http://schemas.microsoft.com/office/drawing/2014/main" id="{E5DD1A55-4992-4900-B9CB-B6A902275DAD}"/>
              </a:ext>
            </a:extLst>
          </p:cNvPr>
          <p:cNvSpPr>
            <a:spLocks xmlns:a="http://schemas.openxmlformats.org/drawingml/2006/main" noGrp="1"/>
          </p:cNvSpPr>
          <p:nvPr/>
        </p:nvSpPr>
        <p:spPr>
          <a:xfrm xmlns:a="http://schemas.openxmlformats.org/drawingml/2006/main">
            <a:off x="666750" y="2476500"/>
            <a:ext cx="10096500" cy="781050"/>
          </a:xfrm>
          <a:prstGeom xmlns:a="http://schemas.openxmlformats.org/drawingml/2006/main" prst="roundRect">
            <a:avLst>
              <a:gd name="adj" fmla="val 14634"/>
            </a:avLst>
          </a:prstGeom>
          <a:solidFill xmlns:a="http://schemas.openxmlformats.org/drawingml/2006/main">
            <a:srgbClr val="2C173E"/>
          </a:solidFill>
          <a:ln xmlns:a="http://schemas.openxmlformats.org/drawingml/2006/main" w="9525">
            <a:solidFill>
              <a:srgbClr val="7650F8"/>
            </a:solidFill>
            <a:prstDash val="solid"/>
          </a:ln>
        </p:spPr>
      </p:sp>
      <p:sp>
        <p:nvSpPr>
          <p:cNvPr id="8" name="">
            <a:extLst xmlns:a="http://schemas.openxmlformats.org/drawingml/2006/main">
              <a:ext uri="{FF2B5EF4-FFF2-40B4-BE49-F238E27FC236}">
                <a16:creationId xmlns:a16="http://schemas.microsoft.com/office/drawing/2014/main" id="{71BA19B7-A15D-4815-8A7E-4BA334FB5C2D}"/>
              </a:ext>
            </a:extLst>
          </p:cNvPr>
          <p:cNvSpPr>
            <a:spLocks xmlns:a="http://schemas.openxmlformats.org/drawingml/2006/main" noGrp="1"/>
          </p:cNvSpPr>
          <p:nvPr/>
        </p:nvSpPr>
        <p:spPr>
          <a:xfrm xmlns:a="http://schemas.openxmlformats.org/drawingml/2006/main">
            <a:off x="895350" y="2590800"/>
            <a:ext cx="9620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FFFFFF"/>
                </a:solidFill>
              </a:defRPr>
            </a:pPr>
            <a:r>
              <a:rPr sz="1575" b="0">
                <a:solidFill>
                  <a:srgbClr val="FFFFFF"/>
                </a:solidFill>
              </a:rPr>
              <a:t>Inspect a synthetic authentication log, predict the needed fields, build the pipeline one stage at a time, then save and count the evidence.</a:t>
            </a:r>
          </a:p>
        </p:txBody>
      </p:sp>
      <p:sp>
        <p:nvSpPr>
          <p:cNvPr id="9" name="">
            <a:extLst xmlns:a="http://schemas.openxmlformats.org/drawingml/2006/main">
              <a:ext uri="{FF2B5EF4-FFF2-40B4-BE49-F238E27FC236}">
                <a16:creationId xmlns:a16="http://schemas.microsoft.com/office/drawing/2014/main" id="{3BC715FA-2F3E-47B6-A92A-24E5E1C30EC2}"/>
              </a:ext>
            </a:extLst>
          </p:cNvPr>
          <p:cNvSpPr>
            <a:spLocks xmlns:a="http://schemas.openxmlformats.org/drawingml/2006/main" noGrp="1"/>
          </p:cNvSpPr>
          <p:nvPr/>
        </p:nvSpPr>
        <p:spPr>
          <a:xfrm xmlns:a="http://schemas.openxmlformats.org/drawingml/2006/main">
            <a:off x="904875" y="38195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DFF8B4B-0550-497F-A7D3-64A019F49B30}"/>
              </a:ext>
            </a:extLst>
          </p:cNvPr>
          <p:cNvSpPr>
            <a:spLocks xmlns:a="http://schemas.openxmlformats.org/drawingml/2006/main" noGrp="1"/>
          </p:cNvSpPr>
          <p:nvPr/>
        </p:nvSpPr>
        <p:spPr>
          <a:xfrm xmlns:a="http://schemas.openxmlformats.org/drawingml/2006/main">
            <a:off x="1152525" y="3619500"/>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State the operating question</a:t>
            </a:r>
          </a:p>
        </p:txBody>
      </p:sp>
      <p:sp>
        <p:nvSpPr>
          <p:cNvPr id="11" name="">
            <a:extLst xmlns:a="http://schemas.openxmlformats.org/drawingml/2006/main">
              <a:ext uri="{FF2B5EF4-FFF2-40B4-BE49-F238E27FC236}">
                <a16:creationId xmlns:a16="http://schemas.microsoft.com/office/drawing/2014/main" id="{102DFE69-A057-4668-9743-EAA523A8FCE5}"/>
              </a:ext>
            </a:extLst>
          </p:cNvPr>
          <p:cNvSpPr>
            <a:spLocks xmlns:a="http://schemas.openxmlformats.org/drawingml/2006/main" noGrp="1"/>
          </p:cNvSpPr>
          <p:nvPr/>
        </p:nvSpPr>
        <p:spPr>
          <a:xfrm xmlns:a="http://schemas.openxmlformats.org/drawingml/2006/main">
            <a:off x="904875" y="43434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F2719BB-B98E-45A9-A443-6EF210B3930A}"/>
              </a:ext>
            </a:extLst>
          </p:cNvPr>
          <p:cNvSpPr>
            <a:spLocks xmlns:a="http://schemas.openxmlformats.org/drawingml/2006/main" noGrp="1"/>
          </p:cNvSpPr>
          <p:nvPr/>
        </p:nvSpPr>
        <p:spPr>
          <a:xfrm xmlns:a="http://schemas.openxmlformats.org/drawingml/2006/main">
            <a:off x="1152525" y="4143375"/>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Ask for one prediction</a:t>
            </a:r>
          </a:p>
        </p:txBody>
      </p:sp>
      <p:sp>
        <p:nvSpPr>
          <p:cNvPr id="13" name="">
            <a:extLst xmlns:a="http://schemas.openxmlformats.org/drawingml/2006/main">
              <a:ext uri="{FF2B5EF4-FFF2-40B4-BE49-F238E27FC236}">
                <a16:creationId xmlns:a16="http://schemas.microsoft.com/office/drawing/2014/main" id="{F9C67771-BBB0-4C10-B002-2F7D54427A8E}"/>
              </a:ext>
            </a:extLst>
          </p:cNvPr>
          <p:cNvSpPr>
            <a:spLocks xmlns:a="http://schemas.openxmlformats.org/drawingml/2006/main" noGrp="1"/>
          </p:cNvSpPr>
          <p:nvPr/>
        </p:nvSpPr>
        <p:spPr>
          <a:xfrm xmlns:a="http://schemas.openxmlformats.org/drawingml/2006/main">
            <a:off x="904875" y="48672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41A477C-65C8-4213-818D-9D5BC9AD5AAA}"/>
              </a:ext>
            </a:extLst>
          </p:cNvPr>
          <p:cNvSpPr>
            <a:spLocks xmlns:a="http://schemas.openxmlformats.org/drawingml/2006/main" noGrp="1"/>
          </p:cNvSpPr>
          <p:nvPr/>
        </p:nvSpPr>
        <p:spPr>
          <a:xfrm xmlns:a="http://schemas.openxmlformats.org/drawingml/2006/main">
            <a:off x="1152525" y="4667250"/>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Run one command at a time</a:t>
            </a:r>
          </a:p>
        </p:txBody>
      </p:sp>
      <p:sp>
        <p:nvSpPr>
          <p:cNvPr id="15" name="">
            <a:extLst xmlns:a="http://schemas.openxmlformats.org/drawingml/2006/main">
              <a:ext uri="{FF2B5EF4-FFF2-40B4-BE49-F238E27FC236}">
                <a16:creationId xmlns:a16="http://schemas.microsoft.com/office/drawing/2014/main" id="{54EEC4A7-828A-49FC-8E84-0FDF02C17722}"/>
              </a:ext>
            </a:extLst>
          </p:cNvPr>
          <p:cNvSpPr>
            <a:spLocks xmlns:a="http://schemas.openxmlformats.org/drawingml/2006/main" noGrp="1"/>
          </p:cNvSpPr>
          <p:nvPr/>
        </p:nvSpPr>
        <p:spPr>
          <a:xfrm xmlns:a="http://schemas.openxmlformats.org/drawingml/2006/main">
            <a:off x="904875" y="539115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6449C29B-71E8-4A04-AE68-151D4BFBAD6D}"/>
              </a:ext>
            </a:extLst>
          </p:cNvPr>
          <p:cNvSpPr>
            <a:spLocks xmlns:a="http://schemas.openxmlformats.org/drawingml/2006/main" noGrp="1"/>
          </p:cNvSpPr>
          <p:nvPr/>
        </p:nvSpPr>
        <p:spPr>
          <a:xfrm xmlns:a="http://schemas.openxmlformats.org/drawingml/2006/main">
            <a:off x="1152525" y="5191125"/>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Verify through a different interface</a:t>
            </a:r>
          </a:p>
        </p:txBody>
      </p:sp>
      <p:sp>
        <p:nvSpPr>
          <p:cNvPr id="17" name="">
            <a:extLst xmlns:a="http://schemas.openxmlformats.org/drawingml/2006/main">
              <a:ext uri="{FF2B5EF4-FFF2-40B4-BE49-F238E27FC236}">
                <a16:creationId xmlns:a16="http://schemas.microsoft.com/office/drawing/2014/main" id="{70DDEFE8-7C12-4DB3-85D8-CE358EC4F0E1}"/>
              </a:ext>
            </a:extLst>
          </p:cNvPr>
          <p:cNvSpPr>
            <a:spLocks xmlns:a="http://schemas.openxmlformats.org/drawingml/2006/main" noGrp="1"/>
          </p:cNvSpPr>
          <p:nvPr/>
        </p:nvSpPr>
        <p:spPr>
          <a:xfrm xmlns:a="http://schemas.openxmlformats.org/drawingml/2006/main">
            <a:off x="904875" y="5886450"/>
            <a:ext cx="962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00" b="1">
                <a:solidFill>
                  <a:srgbClr val="71D6B3"/>
                </a:solidFill>
              </a:defRPr>
            </a:pPr>
            <a:r>
              <a:rPr sz="1200" b="1">
                <a:solidFill>
                  <a:srgbClr val="71D6B3"/>
                </a:solidFill>
              </a:rPr>
              <a:t>Instructor seat only · predict before typing · verify through another interface</a:t>
            </a:r>
          </a:p>
        </p:txBody>
      </p:sp>
    </p:spTree>
    <p:extLst>
      <p:ext uri="{BB962C8B-B14F-4D97-AF65-F5344CB8AC3E}">
        <p14:creationId xmlns:p14="http://schemas.microsoft.com/office/powerpoint/2010/main" val="1823530005"/>
      </p:ext>
    </p:extLst>
  </p:cSld>
</p:sld>
</file>

<file path=ppt/slides/slide34.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CF53178-020A-43C0-86DD-08FB2B4E543E}"/>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1816BCA-E35A-4EF9-B972-60CE7C9E5F38}"/>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3 · LAB READINESS</a:t>
            </a:r>
          </a:p>
        </p:txBody>
      </p:sp>
      <p:sp>
        <p:nvSpPr>
          <p:cNvPr id="3" name="">
            <a:extLst xmlns:a="http://schemas.openxmlformats.org/drawingml/2006/main">
              <a:ext uri="{FF2B5EF4-FFF2-40B4-BE49-F238E27FC236}">
                <a16:creationId xmlns:a16="http://schemas.microsoft.com/office/drawing/2014/main" id="{63C32FCE-6F0F-454A-AF73-35C9CE2806D1}"/>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D99120C2-0053-45C6-8FD3-15474CB9F3C5}"/>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34</a:t>
            </a:r>
          </a:p>
        </p:txBody>
      </p:sp>
      <p:sp>
        <p:nvSpPr>
          <p:cNvPr id="5" name="">
            <a:extLst xmlns:a="http://schemas.openxmlformats.org/drawingml/2006/main">
              <a:ext uri="{FF2B5EF4-FFF2-40B4-BE49-F238E27FC236}">
                <a16:creationId xmlns:a16="http://schemas.microsoft.com/office/drawing/2014/main" id="{2B856BA4-16B9-44FB-9C55-C28BB47F3BC9}"/>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Before Lab 3, you should be able to…</a:t>
            </a:r>
          </a:p>
        </p:txBody>
      </p:sp>
      <p:sp>
        <p:nvSpPr>
          <p:cNvPr id="6" name="">
            <a:extLst xmlns:a="http://schemas.openxmlformats.org/drawingml/2006/main">
              <a:ext uri="{FF2B5EF4-FFF2-40B4-BE49-F238E27FC236}">
                <a16:creationId xmlns:a16="http://schemas.microsoft.com/office/drawing/2014/main" id="{91E83CB5-2812-46D8-96B1-10AE73E9F34F}"/>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If one item is unclear, revisit the model or worked example before opening the terminal.</a:t>
            </a:r>
          </a:p>
        </p:txBody>
      </p:sp>
      <p:sp>
        <p:nvSpPr>
          <p:cNvPr id="7" name="">
            <a:extLst xmlns:a="http://schemas.openxmlformats.org/drawingml/2006/main">
              <a:ext uri="{FF2B5EF4-FFF2-40B4-BE49-F238E27FC236}">
                <a16:creationId xmlns:a16="http://schemas.microsoft.com/office/drawing/2014/main" id="{437B8A66-D265-46C1-A8C0-A3AC43EB110B}"/>
              </a:ext>
            </a:extLst>
          </p:cNvPr>
          <p:cNvSpPr>
            <a:spLocks xmlns:a="http://schemas.openxmlformats.org/drawingml/2006/main" noGrp="1"/>
          </p:cNvSpPr>
          <p:nvPr/>
        </p:nvSpPr>
        <p:spPr>
          <a:xfrm xmlns:a="http://schemas.openxmlformats.org/drawingml/2006/main">
            <a:off x="781050" y="29051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2EF3D2A-A60F-43BE-AB5F-8BDFE2DD55A0}"/>
              </a:ext>
            </a:extLst>
          </p:cNvPr>
          <p:cNvSpPr>
            <a:spLocks xmlns:a="http://schemas.openxmlformats.org/drawingml/2006/main" noGrp="1"/>
          </p:cNvSpPr>
          <p:nvPr/>
        </p:nvSpPr>
        <p:spPr>
          <a:xfrm xmlns:a="http://schemas.openxmlformats.org/drawingml/2006/main">
            <a:off x="1028700" y="26479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Explain stdin, stdout, stderr, and exit status</a:t>
            </a:r>
          </a:p>
        </p:txBody>
      </p:sp>
      <p:sp>
        <p:nvSpPr>
          <p:cNvPr id="9" name="">
            <a:extLst xmlns:a="http://schemas.openxmlformats.org/drawingml/2006/main">
              <a:ext uri="{FF2B5EF4-FFF2-40B4-BE49-F238E27FC236}">
                <a16:creationId xmlns:a16="http://schemas.microsoft.com/office/drawing/2014/main" id="{80B8CD60-4F0B-4F95-A3D8-418E8831F84B}"/>
              </a:ext>
            </a:extLst>
          </p:cNvPr>
          <p:cNvSpPr>
            <a:spLocks xmlns:a="http://schemas.openxmlformats.org/drawingml/2006/main" noGrp="1"/>
          </p:cNvSpPr>
          <p:nvPr/>
        </p:nvSpPr>
        <p:spPr>
          <a:xfrm xmlns:a="http://schemas.openxmlformats.org/drawingml/2006/main">
            <a:off x="781050" y="355282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D6BCBD3-10AC-4789-A211-8796EDF84973}"/>
              </a:ext>
            </a:extLst>
          </p:cNvPr>
          <p:cNvSpPr>
            <a:spLocks xmlns:a="http://schemas.openxmlformats.org/drawingml/2006/main" noGrp="1"/>
          </p:cNvSpPr>
          <p:nvPr/>
        </p:nvSpPr>
        <p:spPr>
          <a:xfrm xmlns:a="http://schemas.openxmlformats.org/drawingml/2006/main">
            <a:off x="1028700" y="32956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Describe what each pipeline stage receives and emits</a:t>
            </a:r>
          </a:p>
        </p:txBody>
      </p:sp>
      <p:sp>
        <p:nvSpPr>
          <p:cNvPr id="11" name="">
            <a:extLst xmlns:a="http://schemas.openxmlformats.org/drawingml/2006/main">
              <a:ext uri="{FF2B5EF4-FFF2-40B4-BE49-F238E27FC236}">
                <a16:creationId xmlns:a16="http://schemas.microsoft.com/office/drawing/2014/main" id="{09476762-20FC-4082-A27B-6ABBC64A33C7}"/>
              </a:ext>
            </a:extLst>
          </p:cNvPr>
          <p:cNvSpPr>
            <a:spLocks xmlns:a="http://schemas.openxmlformats.org/drawingml/2006/main" noGrp="1"/>
          </p:cNvSpPr>
          <p:nvPr/>
        </p:nvSpPr>
        <p:spPr>
          <a:xfrm xmlns:a="http://schemas.openxmlformats.org/drawingml/2006/main">
            <a:off x="781050" y="42005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247EE10-C15D-4938-B35D-59DCB0D36C84}"/>
              </a:ext>
            </a:extLst>
          </p:cNvPr>
          <p:cNvSpPr>
            <a:spLocks xmlns:a="http://schemas.openxmlformats.org/drawingml/2006/main" noGrp="1"/>
          </p:cNvSpPr>
          <p:nvPr/>
        </p:nvSpPr>
        <p:spPr>
          <a:xfrm xmlns:a="http://schemas.openxmlformats.org/drawingml/2006/main">
            <a:off x="1028700" y="39433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Edit, save, re-open, and validate a text file</a:t>
            </a:r>
          </a:p>
        </p:txBody>
      </p:sp>
    </p:spTree>
    <p:extLst>
      <p:ext uri="{BB962C8B-B14F-4D97-AF65-F5344CB8AC3E}">
        <p14:creationId xmlns:p14="http://schemas.microsoft.com/office/powerpoint/2010/main" val="162217915"/>
      </p:ext>
    </p:extLst>
  </p:cSld>
</p:sld>
</file>

<file path=ppt/slides/slide35.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7160A88-20DA-42E4-B304-603BAE7C1F94}"/>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6ADFD8A-5C3A-49F3-9859-7492314DB228}"/>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HANDS-ON · LAB 3</a:t>
            </a:r>
          </a:p>
        </p:txBody>
      </p:sp>
      <p:sp>
        <p:nvSpPr>
          <p:cNvPr id="3" name="">
            <a:extLst xmlns:a="http://schemas.openxmlformats.org/drawingml/2006/main">
              <a:ext uri="{FF2B5EF4-FFF2-40B4-BE49-F238E27FC236}">
                <a16:creationId xmlns:a16="http://schemas.microsoft.com/office/drawing/2014/main" id="{1A2781CF-37F1-4F3A-AE47-0F6FC5B98120}"/>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608571B3-028C-4BA3-9FF6-0409AD3C1806}"/>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35</a:t>
            </a:r>
          </a:p>
        </p:txBody>
      </p:sp>
      <p:sp>
        <p:nvSpPr>
          <p:cNvPr id="5" name="">
            <a:extLst xmlns:a="http://schemas.openxmlformats.org/drawingml/2006/main">
              <a:ext uri="{FF2B5EF4-FFF2-40B4-BE49-F238E27FC236}">
                <a16:creationId xmlns:a16="http://schemas.microsoft.com/office/drawing/2014/main" id="{3730FDED-C8BC-4CC3-ACBA-130E53068E28}"/>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Shell execution, streams, editing, and text evidence</a:t>
            </a:r>
          </a:p>
        </p:txBody>
      </p:sp>
      <p:sp>
        <p:nvSpPr>
          <p:cNvPr id="6" name="">
            <a:extLst xmlns:a="http://schemas.openxmlformats.org/drawingml/2006/main">
              <a:ext uri="{FF2B5EF4-FFF2-40B4-BE49-F238E27FC236}">
                <a16:creationId xmlns:a16="http://schemas.microsoft.com/office/drawing/2014/main" id="{7954BA61-CD20-44CE-A6DF-0BB01D4EEF22}"/>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Edit app.conf and reduce application and access logs into small evidence files another operator can review.</a:t>
            </a:r>
          </a:p>
        </p:txBody>
      </p:sp>
      <p:sp>
        <p:nvSpPr>
          <p:cNvPr id="7" name="">
            <a:extLst xmlns:a="http://schemas.openxmlformats.org/drawingml/2006/main">
              <a:ext uri="{FF2B5EF4-FFF2-40B4-BE49-F238E27FC236}">
                <a16:creationId xmlns:a16="http://schemas.microsoft.com/office/drawing/2014/main" id="{A0314E16-B375-4039-A6B7-E120CBE7168B}"/>
              </a:ext>
            </a:extLst>
          </p:cNvPr>
          <p:cNvSpPr>
            <a:spLocks xmlns:a="http://schemas.openxmlformats.org/drawingml/2006/main" noGrp="1"/>
          </p:cNvSpPr>
          <p:nvPr/>
        </p:nvSpPr>
        <p:spPr>
          <a:xfrm xmlns:a="http://schemas.openxmlformats.org/drawingml/2006/main">
            <a:off x="514350" y="2457450"/>
            <a:ext cx="6762750" cy="2286000"/>
          </a:xfrm>
          <a:prstGeom xmlns:a="http://schemas.openxmlformats.org/drawingml/2006/main" prst="roundRect">
            <a:avLst>
              <a:gd name="adj" fmla="val 5000"/>
            </a:avLst>
          </a:prstGeom>
          <a:solidFill xmlns:a="http://schemas.openxmlformats.org/drawingml/2006/main">
            <a:srgbClr val="180D2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C8A3244-7140-447D-815F-B99DE2F5DB5E}"/>
              </a:ext>
            </a:extLst>
          </p:cNvPr>
          <p:cNvSpPr>
            <a:spLocks xmlns:a="http://schemas.openxmlformats.org/drawingml/2006/main" noGrp="1"/>
          </p:cNvSpPr>
          <p:nvPr/>
        </p:nvSpPr>
        <p:spPr>
          <a:xfrm xmlns:a="http://schemas.openxmlformats.org/drawingml/2006/main">
            <a:off x="781050" y="2647950"/>
            <a:ext cx="6238875" cy="1847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FFFFFF"/>
                </a:solidFill>
              </a:defRPr>
            </a:pPr>
            <a:r>
              <a:rPr sz="1650" b="0">
                <a:solidFill>
                  <a:srgbClr val="FFFFFF"/>
                </a:solidFill>
              </a:rPr>
              <a:t>Edit app.conf and reduce application and access logs into small evidence files another operator can review.</a:t>
            </a:r>
          </a:p>
        </p:txBody>
      </p:sp>
      <p:sp>
        <p:nvSpPr>
          <p:cNvPr id="9" name="">
            <a:extLst xmlns:a="http://schemas.openxmlformats.org/drawingml/2006/main">
              <a:ext uri="{FF2B5EF4-FFF2-40B4-BE49-F238E27FC236}">
                <a16:creationId xmlns:a16="http://schemas.microsoft.com/office/drawing/2014/main" id="{2F70D2EE-0E06-4D2E-A8A4-355A89D4EAFE}"/>
              </a:ext>
            </a:extLst>
          </p:cNvPr>
          <p:cNvSpPr>
            <a:spLocks xmlns:a="http://schemas.openxmlformats.org/drawingml/2006/main" noGrp="1"/>
          </p:cNvSpPr>
          <p:nvPr/>
        </p:nvSpPr>
        <p:spPr>
          <a:xfrm xmlns:a="http://schemas.openxmlformats.org/drawingml/2006/main">
            <a:off x="7762875" y="26955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D6F69DB-3003-4E68-AF92-0FD3C2D89262}"/>
              </a:ext>
            </a:extLst>
          </p:cNvPr>
          <p:cNvSpPr>
            <a:spLocks xmlns:a="http://schemas.openxmlformats.org/drawingml/2006/main" noGrp="1"/>
          </p:cNvSpPr>
          <p:nvPr/>
        </p:nvSpPr>
        <p:spPr>
          <a:xfrm xmlns:a="http://schemas.openxmlformats.org/drawingml/2006/main">
            <a:off x="8010525" y="24765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20 minutes</a:t>
            </a:r>
          </a:p>
        </p:txBody>
      </p:sp>
      <p:sp>
        <p:nvSpPr>
          <p:cNvPr id="11" name="">
            <a:extLst xmlns:a="http://schemas.openxmlformats.org/drawingml/2006/main">
              <a:ext uri="{FF2B5EF4-FFF2-40B4-BE49-F238E27FC236}">
                <a16:creationId xmlns:a16="http://schemas.microsoft.com/office/drawing/2014/main" id="{06968EF8-0056-4852-9E10-E3A09D496D65}"/>
              </a:ext>
            </a:extLst>
          </p:cNvPr>
          <p:cNvSpPr>
            <a:spLocks xmlns:a="http://schemas.openxmlformats.org/drawingml/2006/main" noGrp="1"/>
          </p:cNvSpPr>
          <p:nvPr/>
        </p:nvSpPr>
        <p:spPr>
          <a:xfrm xmlns:a="http://schemas.openxmlformats.org/drawingml/2006/main">
            <a:off x="7762875" y="32670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EC32FF1-AAC1-4E33-8964-F15B63878C09}"/>
              </a:ext>
            </a:extLst>
          </p:cNvPr>
          <p:cNvSpPr>
            <a:spLocks xmlns:a="http://schemas.openxmlformats.org/drawingml/2006/main" noGrp="1"/>
          </p:cNvSpPr>
          <p:nvPr/>
        </p:nvSpPr>
        <p:spPr>
          <a:xfrm xmlns:a="http://schemas.openxmlformats.org/drawingml/2006/main">
            <a:off x="8010525" y="30480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Prepare/reset only this lab</a:t>
            </a:r>
          </a:p>
        </p:txBody>
      </p:sp>
      <p:sp>
        <p:nvSpPr>
          <p:cNvPr id="13" name="">
            <a:extLst xmlns:a="http://schemas.openxmlformats.org/drawingml/2006/main">
              <a:ext uri="{FF2B5EF4-FFF2-40B4-BE49-F238E27FC236}">
                <a16:creationId xmlns:a16="http://schemas.microsoft.com/office/drawing/2014/main" id="{CA70CB1F-56C8-425C-9343-7BADEBD0A168}"/>
              </a:ext>
            </a:extLst>
          </p:cNvPr>
          <p:cNvSpPr>
            <a:spLocks xmlns:a="http://schemas.openxmlformats.org/drawingml/2006/main" noGrp="1"/>
          </p:cNvSpPr>
          <p:nvPr/>
        </p:nvSpPr>
        <p:spPr>
          <a:xfrm xmlns:a="http://schemas.openxmlformats.org/drawingml/2006/main">
            <a:off x="7762875" y="38385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DE01BC3-D2BA-43D1-9F8D-68030E584CD3}"/>
              </a:ext>
            </a:extLst>
          </p:cNvPr>
          <p:cNvSpPr>
            <a:spLocks xmlns:a="http://schemas.openxmlformats.org/drawingml/2006/main" noGrp="1"/>
          </p:cNvSpPr>
          <p:nvPr/>
        </p:nvSpPr>
        <p:spPr>
          <a:xfrm xmlns:a="http://schemas.openxmlformats.org/drawingml/2006/main">
            <a:off x="8010525" y="36195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Check observable state</a:t>
            </a:r>
          </a:p>
        </p:txBody>
      </p:sp>
      <p:sp>
        <p:nvSpPr>
          <p:cNvPr id="15" name="">
            <a:extLst xmlns:a="http://schemas.openxmlformats.org/drawingml/2006/main">
              <a:ext uri="{FF2B5EF4-FFF2-40B4-BE49-F238E27FC236}">
                <a16:creationId xmlns:a16="http://schemas.microsoft.com/office/drawing/2014/main" id="{20CFEBA3-B80E-4E6E-88D4-4570DD37BE6B}"/>
              </a:ext>
            </a:extLst>
          </p:cNvPr>
          <p:cNvSpPr>
            <a:spLocks xmlns:a="http://schemas.openxmlformats.org/drawingml/2006/main" noGrp="1"/>
          </p:cNvSpPr>
          <p:nvPr/>
        </p:nvSpPr>
        <p:spPr>
          <a:xfrm xmlns:a="http://schemas.openxmlformats.org/drawingml/2006/main">
            <a:off x="7762875" y="44100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0646E845-2740-4610-A894-02C84AD7D939}"/>
              </a:ext>
            </a:extLst>
          </p:cNvPr>
          <p:cNvSpPr>
            <a:spLocks xmlns:a="http://schemas.openxmlformats.org/drawingml/2006/main" noGrp="1"/>
          </p:cNvSpPr>
          <p:nvPr/>
        </p:nvSpPr>
        <p:spPr>
          <a:xfrm xmlns:a="http://schemas.openxmlformats.org/drawingml/2006/main">
            <a:off x="8010525" y="41910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Explain why the result follows</a:t>
            </a:r>
          </a:p>
        </p:txBody>
      </p:sp>
      <p:sp>
        <p:nvSpPr>
          <p:cNvPr id="17" name="">
            <a:extLst xmlns:a="http://schemas.openxmlformats.org/drawingml/2006/main">
              <a:ext uri="{FF2B5EF4-FFF2-40B4-BE49-F238E27FC236}">
                <a16:creationId xmlns:a16="http://schemas.microsoft.com/office/drawing/2014/main" id="{783FCFC4-5302-4F7F-80C2-BA919E739988}"/>
              </a:ext>
            </a:extLst>
          </p:cNvPr>
          <p:cNvSpPr>
            <a:spLocks xmlns:a="http://schemas.openxmlformats.org/drawingml/2006/main" noGrp="1"/>
          </p:cNvSpPr>
          <p:nvPr/>
        </p:nvSpPr>
        <p:spPr>
          <a:xfrm xmlns:a="http://schemas.openxmlformats.org/drawingml/2006/main">
            <a:off x="514350" y="5391150"/>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350" b="1">
                <a:solidFill>
                  <a:srgbClr val="7650F8"/>
                </a:solidFill>
              </a:defRPr>
            </a:pPr>
            <a:r>
              <a:rPr sz="1350" b="1">
                <a:solidFill>
                  <a:srgbClr val="7650F8"/>
                </a:solidFill>
              </a:rPr>
              <a:t>Open the lab guide for exact tasks, hints, recovery, and checker criteria.</a:t>
            </a:r>
          </a:p>
        </p:txBody>
      </p:sp>
    </p:spTree>
    <p:extLst>
      <p:ext uri="{BB962C8B-B14F-4D97-AF65-F5344CB8AC3E}">
        <p14:creationId xmlns:p14="http://schemas.microsoft.com/office/powerpoint/2010/main" val="885460643"/>
      </p:ext>
    </p:extLst>
  </p:cSld>
</p:sld>
</file>

<file path=ppt/slides/slide36.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6B363817-75A5-4799-B722-2B240F9D8D18}"/>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E09BA4A-1011-4A2B-B75C-94B6905FE028}"/>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3 · DEBRIEF</a:t>
            </a:r>
          </a:p>
        </p:txBody>
      </p:sp>
      <p:sp>
        <p:nvSpPr>
          <p:cNvPr id="3" name="">
            <a:extLst xmlns:a="http://schemas.openxmlformats.org/drawingml/2006/main">
              <a:ext uri="{FF2B5EF4-FFF2-40B4-BE49-F238E27FC236}">
                <a16:creationId xmlns:a16="http://schemas.microsoft.com/office/drawing/2014/main" id="{873CF556-55EA-420E-AD88-8D70A9F61B91}"/>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0829D52B-EDA4-459A-B9A7-BF407D85BB17}"/>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36</a:t>
            </a:r>
          </a:p>
        </p:txBody>
      </p:sp>
      <p:sp>
        <p:nvSpPr>
          <p:cNvPr id="5" name="">
            <a:extLst xmlns:a="http://schemas.openxmlformats.org/drawingml/2006/main">
              <a:ext uri="{FF2B5EF4-FFF2-40B4-BE49-F238E27FC236}">
                <a16:creationId xmlns:a16="http://schemas.microsoft.com/office/drawing/2014/main" id="{D33034BC-6186-406C-AA3C-15658B69DD94}"/>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Connect the result to the model</a:t>
            </a:r>
          </a:p>
        </p:txBody>
      </p:sp>
      <p:sp>
        <p:nvSpPr>
          <p:cNvPr id="6" name="">
            <a:extLst xmlns:a="http://schemas.openxmlformats.org/drawingml/2006/main">
              <a:ext uri="{FF2B5EF4-FFF2-40B4-BE49-F238E27FC236}">
                <a16:creationId xmlns:a16="http://schemas.microsoft.com/office/drawing/2014/main" id="{9F60FF2B-ACBC-4CFA-98E6-0D2EE1BC6753}"/>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A pipeline is trustworthy when each stage has a stated input and output. Next, package tools will provide several independent views of software state.</a:t>
            </a:r>
          </a:p>
        </p:txBody>
      </p:sp>
      <p:sp>
        <p:nvSpPr>
          <p:cNvPr id="7" name="">
            <a:extLst xmlns:a="http://schemas.openxmlformats.org/drawingml/2006/main">
              <a:ext uri="{FF2B5EF4-FFF2-40B4-BE49-F238E27FC236}">
                <a16:creationId xmlns:a16="http://schemas.microsoft.com/office/drawing/2014/main" id="{DBE53919-5AA7-4EA1-9547-8C2F58DDA910}"/>
              </a:ext>
            </a:extLst>
          </p:cNvPr>
          <p:cNvSpPr>
            <a:spLocks xmlns:a="http://schemas.openxmlformats.org/drawingml/2006/main" noGrp="1"/>
          </p:cNvSpPr>
          <p:nvPr/>
        </p:nvSpPr>
        <p:spPr>
          <a:xfrm xmlns:a="http://schemas.openxmlformats.org/drawingml/2006/main">
            <a:off x="514350" y="2524125"/>
            <a:ext cx="10668000" cy="1219200"/>
          </a:xfrm>
          <a:prstGeom xmlns:a="http://schemas.openxmlformats.org/drawingml/2006/main" prst="roundRect">
            <a:avLst>
              <a:gd name="adj" fmla="val 9375"/>
            </a:avLst>
          </a:prstGeom>
          <a:solidFill xmlns:a="http://schemas.openxmlformats.org/drawingml/2006/main">
            <a:srgbClr val="F0E7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36582EF-C116-4EFF-AB7C-DCE864B33072}"/>
              </a:ext>
            </a:extLst>
          </p:cNvPr>
          <p:cNvSpPr>
            <a:spLocks xmlns:a="http://schemas.openxmlformats.org/drawingml/2006/main" noGrp="1"/>
          </p:cNvSpPr>
          <p:nvPr/>
        </p:nvSpPr>
        <p:spPr>
          <a:xfrm xmlns:a="http://schemas.openxmlformats.org/drawingml/2006/main">
            <a:off x="762000" y="2686050"/>
            <a:ext cx="10191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1">
                <a:solidFill>
                  <a:srgbClr val="211729"/>
                </a:solidFill>
              </a:defRPr>
            </a:pPr>
            <a:r>
              <a:rPr sz="1725" b="1">
                <a:solidFill>
                  <a:srgbClr val="211729"/>
                </a:solidFill>
              </a:rPr>
              <a:t>A pipeline is trustworthy when each stage has a stated input and output. Next, package tools will provide several independent views of software state.</a:t>
            </a:r>
          </a:p>
        </p:txBody>
      </p:sp>
      <p:sp>
        <p:nvSpPr>
          <p:cNvPr id="9" name="">
            <a:extLst xmlns:a="http://schemas.openxmlformats.org/drawingml/2006/main">
              <a:ext uri="{FF2B5EF4-FFF2-40B4-BE49-F238E27FC236}">
                <a16:creationId xmlns:a16="http://schemas.microsoft.com/office/drawing/2014/main" id="{361A89E4-936F-4194-8015-63835BE6EB87}"/>
              </a:ext>
            </a:extLst>
          </p:cNvPr>
          <p:cNvSpPr>
            <a:spLocks xmlns:a="http://schemas.openxmlformats.org/drawingml/2006/main" noGrp="1"/>
          </p:cNvSpPr>
          <p:nvPr/>
        </p:nvSpPr>
        <p:spPr>
          <a:xfrm xmlns:a="http://schemas.openxmlformats.org/drawingml/2006/main">
            <a:off x="762000" y="43243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D59F7BB-806A-4B8F-91E1-86D1CBE19474}"/>
              </a:ext>
            </a:extLst>
          </p:cNvPr>
          <p:cNvSpPr>
            <a:spLocks xmlns:a="http://schemas.openxmlformats.org/drawingml/2006/main" noGrp="1"/>
          </p:cNvSpPr>
          <p:nvPr/>
        </p:nvSpPr>
        <p:spPr>
          <a:xfrm xmlns:a="http://schemas.openxmlformats.org/drawingml/2006/main">
            <a:off x="1009650" y="4095750"/>
            <a:ext cx="9658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What was declared or expected?</a:t>
            </a:r>
          </a:p>
        </p:txBody>
      </p:sp>
      <p:sp>
        <p:nvSpPr>
          <p:cNvPr id="11" name="">
            <a:extLst xmlns:a="http://schemas.openxmlformats.org/drawingml/2006/main">
              <a:ext uri="{FF2B5EF4-FFF2-40B4-BE49-F238E27FC236}">
                <a16:creationId xmlns:a16="http://schemas.microsoft.com/office/drawing/2014/main" id="{EACF5E7C-998E-4590-93FD-34C6B5879E72}"/>
              </a:ext>
            </a:extLst>
          </p:cNvPr>
          <p:cNvSpPr>
            <a:spLocks xmlns:a="http://schemas.openxmlformats.org/drawingml/2006/main" noGrp="1"/>
          </p:cNvSpPr>
          <p:nvPr/>
        </p:nvSpPr>
        <p:spPr>
          <a:xfrm xmlns:a="http://schemas.openxmlformats.org/drawingml/2006/main">
            <a:off x="762000" y="49149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24A6DA2-46FF-42EB-B709-EB2E6EAB240E}"/>
              </a:ext>
            </a:extLst>
          </p:cNvPr>
          <p:cNvSpPr>
            <a:spLocks xmlns:a="http://schemas.openxmlformats.org/drawingml/2006/main" noGrp="1"/>
          </p:cNvSpPr>
          <p:nvPr/>
        </p:nvSpPr>
        <p:spPr>
          <a:xfrm xmlns:a="http://schemas.openxmlformats.org/drawingml/2006/main">
            <a:off x="1009650" y="4686300"/>
            <a:ext cx="9658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What runtime state did you observe?</a:t>
            </a:r>
          </a:p>
        </p:txBody>
      </p:sp>
      <p:sp>
        <p:nvSpPr>
          <p:cNvPr id="13" name="">
            <a:extLst xmlns:a="http://schemas.openxmlformats.org/drawingml/2006/main">
              <a:ext uri="{FF2B5EF4-FFF2-40B4-BE49-F238E27FC236}">
                <a16:creationId xmlns:a16="http://schemas.microsoft.com/office/drawing/2014/main" id="{BF42FEBC-181C-43AF-A768-7D09B175D778}"/>
              </a:ext>
            </a:extLst>
          </p:cNvPr>
          <p:cNvSpPr>
            <a:spLocks xmlns:a="http://schemas.openxmlformats.org/drawingml/2006/main" noGrp="1"/>
          </p:cNvSpPr>
          <p:nvPr/>
        </p:nvSpPr>
        <p:spPr>
          <a:xfrm xmlns:a="http://schemas.openxmlformats.org/drawingml/2006/main">
            <a:off x="762000" y="55054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25A6BC5-116F-48A9-BBF9-02F72529F2E0}"/>
              </a:ext>
            </a:extLst>
          </p:cNvPr>
          <p:cNvSpPr>
            <a:spLocks xmlns:a="http://schemas.openxmlformats.org/drawingml/2006/main" noGrp="1"/>
          </p:cNvSpPr>
          <p:nvPr/>
        </p:nvSpPr>
        <p:spPr>
          <a:xfrm xmlns:a="http://schemas.openxmlformats.org/drawingml/2006/main">
            <a:off x="1009650" y="5276850"/>
            <a:ext cx="9658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Which independent evidence closed the claim?</a:t>
            </a:r>
          </a:p>
        </p:txBody>
      </p:sp>
    </p:spTree>
    <p:extLst>
      <p:ext uri="{BB962C8B-B14F-4D97-AF65-F5344CB8AC3E}">
        <p14:creationId xmlns:p14="http://schemas.microsoft.com/office/powerpoint/2010/main" val="877623057"/>
      </p:ext>
    </p:extLst>
  </p:cSld>
</p:sld>
</file>

<file path=ppt/slides/slide37.xml><?xml version="1.0" encoding="utf-8"?>
<p:sld xmlns:p="http://schemas.openxmlformats.org/presentationml/2006/main">
  <p:cSld>
    <p:bg>
      <p:bgPr>
        <a:solidFill xmlns:a="http://schemas.openxmlformats.org/drawingml/2006/main">
          <a:srgbClr val="180D2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C329A1A-5A49-4C62-BDFC-BA9BF7BE7841}"/>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FF6F6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643D902-C87A-44A7-ADCC-41870C157AB0}"/>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FF6F61"/>
                </a:solidFill>
              </a:defRPr>
            </a:pPr>
            <a:r>
              <a:rPr sz="900" b="1">
                <a:solidFill>
                  <a:srgbClr val="FF6F61"/>
                </a:solidFill>
              </a:rPr>
              <a:t>MODULE 4</a:t>
            </a:r>
          </a:p>
        </p:txBody>
      </p:sp>
      <p:sp>
        <p:nvSpPr>
          <p:cNvPr id="3" name="">
            <a:extLst xmlns:a="http://schemas.openxmlformats.org/drawingml/2006/main">
              <a:ext uri="{FF2B5EF4-FFF2-40B4-BE49-F238E27FC236}">
                <a16:creationId xmlns:a16="http://schemas.microsoft.com/office/drawing/2014/main" id="{200BA46E-3E4B-4265-89B1-F60B8583074A}"/>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CFC5D5"/>
                </a:solidFill>
              </a:defRPr>
            </a:pPr>
            <a:r>
              <a:rPr sz="825" b="1">
                <a:solidFill>
                  <a:srgbClr val="CFC5D5"/>
                </a:solidFill>
              </a:rPr>
              <a:t>LINUX FOUNDATIONS</a:t>
            </a:r>
          </a:p>
        </p:txBody>
      </p:sp>
      <p:sp>
        <p:nvSpPr>
          <p:cNvPr id="4" name="">
            <a:extLst xmlns:a="http://schemas.openxmlformats.org/drawingml/2006/main">
              <a:ext uri="{FF2B5EF4-FFF2-40B4-BE49-F238E27FC236}">
                <a16:creationId xmlns:a16="http://schemas.microsoft.com/office/drawing/2014/main" id="{FD5E6C5A-2514-424D-8E01-102879872519}"/>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AFA2B8"/>
                </a:solidFill>
              </a:defRPr>
            </a:pPr>
            <a:r>
              <a:rPr sz="825" b="0">
                <a:solidFill>
                  <a:srgbClr val="AFA2B8"/>
                </a:solidFill>
              </a:rPr>
              <a:t>37</a:t>
            </a:r>
          </a:p>
        </p:txBody>
      </p:sp>
      <p:sp>
        <p:nvSpPr>
          <p:cNvPr id="5" name="">
            <a:extLst xmlns:a="http://schemas.openxmlformats.org/drawingml/2006/main">
              <a:ext uri="{FF2B5EF4-FFF2-40B4-BE49-F238E27FC236}">
                <a16:creationId xmlns:a16="http://schemas.microsoft.com/office/drawing/2014/main" id="{1433999A-E0B7-41BB-A53E-0A76E7D4764A}"/>
              </a:ext>
            </a:extLst>
          </p:cNvPr>
          <p:cNvSpPr>
            <a:spLocks xmlns:a="http://schemas.openxmlformats.org/drawingml/2006/main" noGrp="1"/>
          </p:cNvSpPr>
          <p:nvPr/>
        </p:nvSpPr>
        <p:spPr>
          <a:xfrm xmlns:a="http://schemas.openxmlformats.org/drawingml/2006/main">
            <a:off x="666750" y="1123950"/>
            <a:ext cx="1524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5400" b="1">
                <a:solidFill>
                  <a:srgbClr val="FF6F61"/>
                </a:solidFill>
              </a:defRPr>
            </a:pPr>
            <a:r>
              <a:rPr sz="5400" b="1">
                <a:solidFill>
                  <a:srgbClr val="FF6F61"/>
                </a:solidFill>
              </a:rPr>
              <a:t>04</a:t>
            </a:r>
          </a:p>
        </p:txBody>
      </p:sp>
      <p:sp>
        <p:nvSpPr>
          <p:cNvPr id="6" name="">
            <a:extLst xmlns:a="http://schemas.openxmlformats.org/drawingml/2006/main">
              <a:ext uri="{FF2B5EF4-FFF2-40B4-BE49-F238E27FC236}">
                <a16:creationId xmlns:a16="http://schemas.microsoft.com/office/drawing/2014/main" id="{4521ADED-C389-4EF0-947A-AC5A13B37362}"/>
              </a:ext>
            </a:extLst>
          </p:cNvPr>
          <p:cNvSpPr>
            <a:spLocks xmlns:a="http://schemas.openxmlformats.org/drawingml/2006/main" noGrp="1"/>
          </p:cNvSpPr>
          <p:nvPr/>
        </p:nvSpPr>
        <p:spPr>
          <a:xfrm xmlns:a="http://schemas.openxmlformats.org/drawingml/2006/main">
            <a:off x="2381250" y="1123950"/>
            <a:ext cx="8096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150" b="1">
                <a:solidFill>
                  <a:srgbClr val="FFFFFF"/>
                </a:solidFill>
              </a:defRPr>
            </a:pPr>
            <a:r>
              <a:rPr sz="3150" b="1">
                <a:solidFill>
                  <a:srgbClr val="FFFFFF"/>
                </a:solidFill>
              </a:rPr>
              <a:t>Packages and software provenance</a:t>
            </a:r>
          </a:p>
        </p:txBody>
      </p:sp>
      <p:sp>
        <p:nvSpPr>
          <p:cNvPr id="7" name="">
            <a:extLst xmlns:a="http://schemas.openxmlformats.org/drawingml/2006/main">
              <a:ext uri="{FF2B5EF4-FFF2-40B4-BE49-F238E27FC236}">
                <a16:creationId xmlns:a16="http://schemas.microsoft.com/office/drawing/2014/main" id="{3656C730-7719-4020-AC43-C8BB81CA2D8C}"/>
              </a:ext>
            </a:extLst>
          </p:cNvPr>
          <p:cNvSpPr>
            <a:spLocks xmlns:a="http://schemas.openxmlformats.org/drawingml/2006/main" noGrp="1"/>
          </p:cNvSpPr>
          <p:nvPr/>
        </p:nvSpPr>
        <p:spPr>
          <a:xfrm xmlns:a="http://schemas.openxmlformats.org/drawingml/2006/main">
            <a:off x="2381250" y="2400300"/>
            <a:ext cx="7810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950" b="0">
                <a:solidFill>
                  <a:srgbClr val="E9DFED"/>
                </a:solidFill>
              </a:defRPr>
            </a:pPr>
            <a:r>
              <a:rPr sz="1950" b="0">
                <a:solidFill>
                  <a:srgbClr val="E9DFED"/>
                </a:solidFill>
              </a:rPr>
              <a:t>What proves that software came from the supported package system?</a:t>
            </a:r>
          </a:p>
        </p:txBody>
      </p:sp>
      <p:sp>
        <p:nvSpPr>
          <p:cNvPr id="8" name="">
            <a:extLst xmlns:a="http://schemas.openxmlformats.org/drawingml/2006/main">
              <a:ext uri="{FF2B5EF4-FFF2-40B4-BE49-F238E27FC236}">
                <a16:creationId xmlns:a16="http://schemas.microsoft.com/office/drawing/2014/main" id="{83DC441F-2773-4C9E-8BDF-8036AA4D6875}"/>
              </a:ext>
            </a:extLst>
          </p:cNvPr>
          <p:cNvSpPr>
            <a:spLocks xmlns:a="http://schemas.openxmlformats.org/drawingml/2006/main" noGrp="1"/>
          </p:cNvSpPr>
          <p:nvPr/>
        </p:nvSpPr>
        <p:spPr>
          <a:xfrm xmlns:a="http://schemas.openxmlformats.org/drawingml/2006/main">
            <a:off x="2381250" y="3790950"/>
            <a:ext cx="6858000" cy="381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F634208-38A7-4CB1-A53C-6F88D4F15B8D}"/>
              </a:ext>
            </a:extLst>
          </p:cNvPr>
          <p:cNvSpPr>
            <a:spLocks xmlns:a="http://schemas.openxmlformats.org/drawingml/2006/main" noGrp="1"/>
          </p:cNvSpPr>
          <p:nvPr/>
        </p:nvSpPr>
        <p:spPr>
          <a:xfrm xmlns:a="http://schemas.openxmlformats.org/drawingml/2006/main">
            <a:off x="2381250" y="400050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0">
                <a:solidFill>
                  <a:srgbClr val="BFB1C7"/>
                </a:solidFill>
              </a:defRPr>
            </a:pPr>
            <a:r>
              <a:rPr sz="1275" b="0">
                <a:solidFill>
                  <a:srgbClr val="BFB1C7"/>
                </a:solidFill>
              </a:rPr>
              <a:t>Ubuntu 24.04 · APT + dpkg</a:t>
            </a:r>
          </a:p>
        </p:txBody>
      </p:sp>
    </p:spTree>
    <p:extLst>
      <p:ext uri="{BB962C8B-B14F-4D97-AF65-F5344CB8AC3E}">
        <p14:creationId xmlns:p14="http://schemas.microsoft.com/office/powerpoint/2010/main" val="266112542"/>
      </p:ext>
    </p:extLst>
  </p:cSld>
</p:sld>
</file>

<file path=ppt/slides/slide38.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305B220-4226-4FB9-B209-6E4493E5A2D5}"/>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BF95D07-08C9-4469-8E69-76C5632618B4}"/>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4 · MODEL</a:t>
            </a:r>
          </a:p>
        </p:txBody>
      </p:sp>
      <p:sp>
        <p:nvSpPr>
          <p:cNvPr id="3" name="">
            <a:extLst xmlns:a="http://schemas.openxmlformats.org/drawingml/2006/main">
              <a:ext uri="{FF2B5EF4-FFF2-40B4-BE49-F238E27FC236}">
                <a16:creationId xmlns:a16="http://schemas.microsoft.com/office/drawing/2014/main" id="{E0810DA9-EA80-4A1D-8E34-4E65E5DBF39B}"/>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73287882-B424-48AD-97E5-51097D121DE7}"/>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38</a:t>
            </a:r>
          </a:p>
        </p:txBody>
      </p:sp>
      <p:sp>
        <p:nvSpPr>
          <p:cNvPr id="5" name="">
            <a:extLst xmlns:a="http://schemas.openxmlformats.org/drawingml/2006/main">
              <a:ext uri="{FF2B5EF4-FFF2-40B4-BE49-F238E27FC236}">
                <a16:creationId xmlns:a16="http://schemas.microsoft.com/office/drawing/2014/main" id="{4F19E5BD-3E85-45A4-B1BA-D658B22CEF93}"/>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Package tools expose different states</a:t>
            </a:r>
          </a:p>
        </p:txBody>
      </p:sp>
      <p:sp>
        <p:nvSpPr>
          <p:cNvPr id="6" name="">
            <a:extLst xmlns:a="http://schemas.openxmlformats.org/drawingml/2006/main">
              <a:ext uri="{FF2B5EF4-FFF2-40B4-BE49-F238E27FC236}">
                <a16:creationId xmlns:a16="http://schemas.microsoft.com/office/drawing/2014/main" id="{90B226CA-182D-4810-975B-15EC6C08245A}"/>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APT resolves repositories and dependencies. dpkg records installed package state and file ownership. A runnable command alone does not prove provenance.</a:t>
            </a:r>
          </a:p>
        </p:txBody>
      </p:sp>
      <p:sp>
        <p:nvSpPr>
          <p:cNvPr id="7" name="">
            <a:extLst xmlns:a="http://schemas.openxmlformats.org/drawingml/2006/main">
              <a:ext uri="{FF2B5EF4-FFF2-40B4-BE49-F238E27FC236}">
                <a16:creationId xmlns:a16="http://schemas.microsoft.com/office/drawing/2014/main" id="{9BF4E808-B55B-40F2-9BD7-A31193A0664E}"/>
              </a:ext>
            </a:extLst>
          </p:cNvPr>
          <p:cNvSpPr>
            <a:spLocks xmlns:a="http://schemas.openxmlformats.org/drawingml/2006/main" noGrp="1"/>
          </p:cNvSpPr>
          <p:nvPr/>
        </p:nvSpPr>
        <p:spPr>
          <a:xfrm xmlns:a="http://schemas.openxmlformats.org/drawingml/2006/main">
            <a:off x="781050" y="31051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AA553E3-022D-4982-B355-6005D4C9AF19}"/>
              </a:ext>
            </a:extLst>
          </p:cNvPr>
          <p:cNvSpPr>
            <a:spLocks xmlns:a="http://schemas.openxmlformats.org/drawingml/2006/main" noGrp="1"/>
          </p:cNvSpPr>
          <p:nvPr/>
        </p:nvSpPr>
        <p:spPr>
          <a:xfrm xmlns:a="http://schemas.openxmlformats.org/drawingml/2006/main">
            <a:off x="1028700" y="272415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A repository publishes packages and signed metadata. apt update refreshes the local index; it installs no application by itself.</a:t>
            </a:r>
          </a:p>
        </p:txBody>
      </p:sp>
      <p:sp>
        <p:nvSpPr>
          <p:cNvPr id="9" name="">
            <a:extLst xmlns:a="http://schemas.openxmlformats.org/drawingml/2006/main">
              <a:ext uri="{FF2B5EF4-FFF2-40B4-BE49-F238E27FC236}">
                <a16:creationId xmlns:a16="http://schemas.microsoft.com/office/drawing/2014/main" id="{74A880A3-DED5-42A1-82FE-22B4E34577B9}"/>
              </a:ext>
            </a:extLst>
          </p:cNvPr>
          <p:cNvSpPr>
            <a:spLocks xmlns:a="http://schemas.openxmlformats.org/drawingml/2006/main" noGrp="1"/>
          </p:cNvSpPr>
          <p:nvPr/>
        </p:nvSpPr>
        <p:spPr>
          <a:xfrm xmlns:a="http://schemas.openxmlformats.org/drawingml/2006/main">
            <a:off x="781050" y="40005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A44940E-E26C-4CE6-BFE6-22A8F7575F55}"/>
              </a:ext>
            </a:extLst>
          </p:cNvPr>
          <p:cNvSpPr>
            <a:spLocks xmlns:a="http://schemas.openxmlformats.org/drawingml/2006/main" noGrp="1"/>
          </p:cNvSpPr>
          <p:nvPr/>
        </p:nvSpPr>
        <p:spPr>
          <a:xfrm xmlns:a="http://schemas.openxmlformats.org/drawingml/2006/main">
            <a:off x="1028700" y="361950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APT resolves repositories and dependencies. dpkg records installed package state and file ownership. A runnable command alone does not prove provenance.</a:t>
            </a:r>
          </a:p>
        </p:txBody>
      </p:sp>
    </p:spTree>
    <p:extLst>
      <p:ext uri="{BB962C8B-B14F-4D97-AF65-F5344CB8AC3E}">
        <p14:creationId xmlns:p14="http://schemas.microsoft.com/office/powerpoint/2010/main" val="1342090216"/>
      </p:ext>
    </p:extLst>
  </p:cSld>
</p:sld>
</file>

<file path=ppt/slides/slide39.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8D9E3F0-CEC2-41D4-AF4D-4882E6F7C21B}"/>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DDDA988-FA7D-4559-B5A2-A64B653A4A0D}"/>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4 · MODEL</a:t>
            </a:r>
          </a:p>
        </p:txBody>
      </p:sp>
      <p:sp>
        <p:nvSpPr>
          <p:cNvPr id="3" name="">
            <a:extLst xmlns:a="http://schemas.openxmlformats.org/drawingml/2006/main">
              <a:ext uri="{FF2B5EF4-FFF2-40B4-BE49-F238E27FC236}">
                <a16:creationId xmlns:a16="http://schemas.microsoft.com/office/drawing/2014/main" id="{C5F255F0-7A1C-4CA5-98D2-09B184CFCE7A}"/>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79CF66AB-E314-46A2-BEBF-9DA35DB50D93}"/>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39</a:t>
            </a:r>
          </a:p>
        </p:txBody>
      </p:sp>
      <p:sp>
        <p:nvSpPr>
          <p:cNvPr id="5" name="">
            <a:extLst xmlns:a="http://schemas.openxmlformats.org/drawingml/2006/main">
              <a:ext uri="{FF2B5EF4-FFF2-40B4-BE49-F238E27FC236}">
                <a16:creationId xmlns:a16="http://schemas.microsoft.com/office/drawing/2014/main" id="{F0AB30C7-DEF7-4991-A1EB-F6936D7A601B}"/>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Provenance and behavior need separate proof</a:t>
            </a:r>
          </a:p>
        </p:txBody>
      </p:sp>
      <p:sp>
        <p:nvSpPr>
          <p:cNvPr id="6" name="">
            <a:extLst xmlns:a="http://schemas.openxmlformats.org/drawingml/2006/main">
              <a:ext uri="{FF2B5EF4-FFF2-40B4-BE49-F238E27FC236}">
                <a16:creationId xmlns:a16="http://schemas.microsoft.com/office/drawing/2014/main" id="{254A245F-2845-4303-B118-E7D951117EED}"/>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Use apt interactively; use apt-get for non-interactive scripts. Treat third-party repositories as a separate trust decision.</a:t>
            </a:r>
          </a:p>
        </p:txBody>
      </p:sp>
      <p:sp>
        <p:nvSpPr>
          <p:cNvPr id="7" name="">
            <a:extLst xmlns:a="http://schemas.openxmlformats.org/drawingml/2006/main">
              <a:ext uri="{FF2B5EF4-FFF2-40B4-BE49-F238E27FC236}">
                <a16:creationId xmlns:a16="http://schemas.microsoft.com/office/drawing/2014/main" id="{B18E8379-601B-43D5-A847-8CFD22301E60}"/>
              </a:ext>
            </a:extLst>
          </p:cNvPr>
          <p:cNvSpPr>
            <a:spLocks xmlns:a="http://schemas.openxmlformats.org/drawingml/2006/main" noGrp="1"/>
          </p:cNvSpPr>
          <p:nvPr/>
        </p:nvSpPr>
        <p:spPr>
          <a:xfrm xmlns:a="http://schemas.openxmlformats.org/drawingml/2006/main">
            <a:off x="781050" y="31051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B1783AB-AE48-437C-ADEA-CBBAAE3CF228}"/>
              </a:ext>
            </a:extLst>
          </p:cNvPr>
          <p:cNvSpPr>
            <a:spLocks xmlns:a="http://schemas.openxmlformats.org/drawingml/2006/main" noGrp="1"/>
          </p:cNvSpPr>
          <p:nvPr/>
        </p:nvSpPr>
        <p:spPr>
          <a:xfrm xmlns:a="http://schemas.openxmlformats.org/drawingml/2006/main">
            <a:off x="1028700" y="272415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Separate five claims: a candidate exists, the package is registered as installed, an executable is discoverable, the file belongs to that package, and the program behaves as expected.</a:t>
            </a:r>
          </a:p>
        </p:txBody>
      </p:sp>
      <p:sp>
        <p:nvSpPr>
          <p:cNvPr id="9" name="">
            <a:extLst xmlns:a="http://schemas.openxmlformats.org/drawingml/2006/main">
              <a:ext uri="{FF2B5EF4-FFF2-40B4-BE49-F238E27FC236}">
                <a16:creationId xmlns:a16="http://schemas.microsoft.com/office/drawing/2014/main" id="{03991323-FD69-44D2-8AE7-4B116FB1EE93}"/>
              </a:ext>
            </a:extLst>
          </p:cNvPr>
          <p:cNvSpPr>
            <a:spLocks xmlns:a="http://schemas.openxmlformats.org/drawingml/2006/main" noGrp="1"/>
          </p:cNvSpPr>
          <p:nvPr/>
        </p:nvSpPr>
        <p:spPr>
          <a:xfrm xmlns:a="http://schemas.openxmlformats.org/drawingml/2006/main">
            <a:off x="781050" y="40005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ABE75F2-7735-4F5B-A739-2CF6990BDFA0}"/>
              </a:ext>
            </a:extLst>
          </p:cNvPr>
          <p:cNvSpPr>
            <a:spLocks xmlns:a="http://schemas.openxmlformats.org/drawingml/2006/main" noGrp="1"/>
          </p:cNvSpPr>
          <p:nvPr/>
        </p:nvSpPr>
        <p:spPr>
          <a:xfrm xmlns:a="http://schemas.openxmlformats.org/drawingml/2006/main">
            <a:off x="1028700" y="361950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Use apt interactively; use apt-get for non-interactive scripts. Treat third-party repositories as a separate trust decision.</a:t>
            </a:r>
          </a:p>
        </p:txBody>
      </p:sp>
    </p:spTree>
    <p:extLst>
      <p:ext uri="{BB962C8B-B14F-4D97-AF65-F5344CB8AC3E}">
        <p14:creationId xmlns:p14="http://schemas.microsoft.com/office/powerpoint/2010/main" val="1896363361"/>
      </p:ext>
    </p:extLst>
  </p:cSld>
</p:sld>
</file>

<file path=ppt/slides/slide40.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4458A9E-5729-4FE5-A336-99B891054A95}"/>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C83F131-6B62-4100-8629-19D85404BA20}"/>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4 · BUILD THE MODEL</a:t>
            </a:r>
          </a:p>
        </p:txBody>
      </p:sp>
      <p:sp>
        <p:nvSpPr>
          <p:cNvPr id="3" name="">
            <a:extLst xmlns:a="http://schemas.openxmlformats.org/drawingml/2006/main">
              <a:ext uri="{FF2B5EF4-FFF2-40B4-BE49-F238E27FC236}">
                <a16:creationId xmlns:a16="http://schemas.microsoft.com/office/drawing/2014/main" id="{4E0F83A5-4E15-423A-B453-93E6C1EDB829}"/>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EFD5F3B7-1FE1-4D80-BEC5-D0F1A06560DF}"/>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40</a:t>
            </a:r>
          </a:p>
        </p:txBody>
      </p:sp>
      <p:sp>
        <p:nvSpPr>
          <p:cNvPr id="5" name="">
            <a:extLst xmlns:a="http://schemas.openxmlformats.org/drawingml/2006/main">
              <a:ext uri="{FF2B5EF4-FFF2-40B4-BE49-F238E27FC236}">
                <a16:creationId xmlns:a16="http://schemas.microsoft.com/office/drawing/2014/main" id="{28803638-2995-4A3F-B4EF-79F46E674DBE}"/>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Software state has several independent layers</a:t>
            </a:r>
          </a:p>
        </p:txBody>
      </p:sp>
      <p:sp>
        <p:nvSpPr>
          <p:cNvPr id="6" name="">
            <a:extLst xmlns:a="http://schemas.openxmlformats.org/drawingml/2006/main">
              <a:ext uri="{FF2B5EF4-FFF2-40B4-BE49-F238E27FC236}">
                <a16:creationId xmlns:a16="http://schemas.microsoft.com/office/drawing/2014/main" id="{EA617D65-D1CF-4D8F-8293-56D718CF9FBB}"/>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A command that runs is not automatically a supported package installation.</a:t>
            </a:r>
          </a:p>
        </p:txBody>
      </p:sp>
      <p:sp>
        <p:nvSpPr>
          <p:cNvPr id="7" name="">
            <a:extLst xmlns:a="http://schemas.openxmlformats.org/drawingml/2006/main">
              <a:ext uri="{FF2B5EF4-FFF2-40B4-BE49-F238E27FC236}">
                <a16:creationId xmlns:a16="http://schemas.microsoft.com/office/drawing/2014/main" id="{02DCF0DC-C1DA-4B4D-9ABE-FFF3F30C2672}"/>
              </a:ext>
            </a:extLst>
          </p:cNvPr>
          <p:cNvSpPr>
            <a:spLocks xmlns:a="http://schemas.openxmlformats.org/drawingml/2006/main" noGrp="1"/>
          </p:cNvSpPr>
          <p:nvPr/>
        </p:nvSpPr>
        <p:spPr>
          <a:xfrm xmlns:a="http://schemas.openxmlformats.org/drawingml/2006/main">
            <a:off x="781050" y="29622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7E5DA8A-CAD0-4C99-964C-CDCE535C45CC}"/>
              </a:ext>
            </a:extLst>
          </p:cNvPr>
          <p:cNvSpPr>
            <a:spLocks xmlns:a="http://schemas.openxmlformats.org/drawingml/2006/main" noGrp="1"/>
          </p:cNvSpPr>
          <p:nvPr/>
        </p:nvSpPr>
        <p:spPr>
          <a:xfrm xmlns:a="http://schemas.openxmlformats.org/drawingml/2006/main">
            <a:off x="1028700" y="27241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Repository metadata says what is available</a:t>
            </a:r>
          </a:p>
        </p:txBody>
      </p:sp>
      <p:sp>
        <p:nvSpPr>
          <p:cNvPr id="9" name="">
            <a:extLst xmlns:a="http://schemas.openxmlformats.org/drawingml/2006/main">
              <a:ext uri="{FF2B5EF4-FFF2-40B4-BE49-F238E27FC236}">
                <a16:creationId xmlns:a16="http://schemas.microsoft.com/office/drawing/2014/main" id="{982B5A23-6E6D-4E8F-9417-8B50823B508B}"/>
              </a:ext>
            </a:extLst>
          </p:cNvPr>
          <p:cNvSpPr>
            <a:spLocks xmlns:a="http://schemas.openxmlformats.org/drawingml/2006/main" noGrp="1"/>
          </p:cNvSpPr>
          <p:nvPr/>
        </p:nvSpPr>
        <p:spPr>
          <a:xfrm xmlns:a="http://schemas.openxmlformats.org/drawingml/2006/main">
            <a:off x="781050" y="35718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548EB47-0092-4FC4-BFD3-C21E3C52E4D0}"/>
              </a:ext>
            </a:extLst>
          </p:cNvPr>
          <p:cNvSpPr>
            <a:spLocks xmlns:a="http://schemas.openxmlformats.org/drawingml/2006/main" noGrp="1"/>
          </p:cNvSpPr>
          <p:nvPr/>
        </p:nvSpPr>
        <p:spPr>
          <a:xfrm xmlns:a="http://schemas.openxmlformats.org/drawingml/2006/main">
            <a:off x="1028700" y="33337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The package database says what is registered as installed</a:t>
            </a:r>
          </a:p>
        </p:txBody>
      </p:sp>
      <p:sp>
        <p:nvSpPr>
          <p:cNvPr id="11" name="">
            <a:extLst xmlns:a="http://schemas.openxmlformats.org/drawingml/2006/main">
              <a:ext uri="{FF2B5EF4-FFF2-40B4-BE49-F238E27FC236}">
                <a16:creationId xmlns:a16="http://schemas.microsoft.com/office/drawing/2014/main" id="{1FB07D40-7352-4ADA-8CFD-EF679A85C46A}"/>
              </a:ext>
            </a:extLst>
          </p:cNvPr>
          <p:cNvSpPr>
            <a:spLocks xmlns:a="http://schemas.openxmlformats.org/drawingml/2006/main" noGrp="1"/>
          </p:cNvSpPr>
          <p:nvPr/>
        </p:nvSpPr>
        <p:spPr>
          <a:xfrm xmlns:a="http://schemas.openxmlformats.org/drawingml/2006/main">
            <a:off x="781050" y="41814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4C02145-A1B2-4721-BEBF-206B7D328021}"/>
              </a:ext>
            </a:extLst>
          </p:cNvPr>
          <p:cNvSpPr>
            <a:spLocks xmlns:a="http://schemas.openxmlformats.org/drawingml/2006/main" noGrp="1"/>
          </p:cNvSpPr>
          <p:nvPr/>
        </p:nvSpPr>
        <p:spPr>
          <a:xfrm xmlns:a="http://schemas.openxmlformats.org/drawingml/2006/main">
            <a:off x="1028700" y="39433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The shell decides which executable path it would run</a:t>
            </a:r>
          </a:p>
        </p:txBody>
      </p:sp>
      <p:sp>
        <p:nvSpPr>
          <p:cNvPr id="13" name="">
            <a:extLst xmlns:a="http://schemas.openxmlformats.org/drawingml/2006/main">
              <a:ext uri="{FF2B5EF4-FFF2-40B4-BE49-F238E27FC236}">
                <a16:creationId xmlns:a16="http://schemas.microsoft.com/office/drawing/2014/main" id="{AD26FA51-EF35-4DFC-9BD5-5DBF4D7FE136}"/>
              </a:ext>
            </a:extLst>
          </p:cNvPr>
          <p:cNvSpPr>
            <a:spLocks xmlns:a="http://schemas.openxmlformats.org/drawingml/2006/main" noGrp="1"/>
          </p:cNvSpPr>
          <p:nvPr/>
        </p:nvSpPr>
        <p:spPr>
          <a:xfrm xmlns:a="http://schemas.openxmlformats.org/drawingml/2006/main">
            <a:off x="781050" y="47910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9918DD0-7C1E-4FA6-9C5A-7F0FCF9217BC}"/>
              </a:ext>
            </a:extLst>
          </p:cNvPr>
          <p:cNvSpPr>
            <a:spLocks xmlns:a="http://schemas.openxmlformats.org/drawingml/2006/main" noGrp="1"/>
          </p:cNvSpPr>
          <p:nvPr/>
        </p:nvSpPr>
        <p:spPr>
          <a:xfrm xmlns:a="http://schemas.openxmlformats.org/drawingml/2006/main">
            <a:off x="1028700" y="45529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The executable’s behavior is a final, separate observation</a:t>
            </a:r>
          </a:p>
        </p:txBody>
      </p:sp>
    </p:spTree>
    <p:extLst>
      <p:ext uri="{BB962C8B-B14F-4D97-AF65-F5344CB8AC3E}">
        <p14:creationId xmlns:p14="http://schemas.microsoft.com/office/powerpoint/2010/main" val="1944069017"/>
      </p:ext>
    </p:extLst>
  </p:cSld>
</p:sld>
</file>

<file path=ppt/slides/slide41.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82C1D94-88FD-4871-869D-4D423E173EA9}"/>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9F1E059-0683-44A3-A581-335186A8FC65}"/>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4 · WORKED EXAMPLE</a:t>
            </a:r>
          </a:p>
        </p:txBody>
      </p:sp>
      <p:sp>
        <p:nvSpPr>
          <p:cNvPr id="3" name="">
            <a:extLst xmlns:a="http://schemas.openxmlformats.org/drawingml/2006/main">
              <a:ext uri="{FF2B5EF4-FFF2-40B4-BE49-F238E27FC236}">
                <a16:creationId xmlns:a16="http://schemas.microsoft.com/office/drawing/2014/main" id="{79AE122B-DD23-43A5-B4ED-98245B16D23B}"/>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70982B5D-7361-40CF-8702-05920F9EA11C}"/>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41</a:t>
            </a:r>
          </a:p>
        </p:txBody>
      </p:sp>
      <p:sp>
        <p:nvSpPr>
          <p:cNvPr id="5" name="">
            <a:extLst xmlns:a="http://schemas.openxmlformats.org/drawingml/2006/main">
              <a:ext uri="{FF2B5EF4-FFF2-40B4-BE49-F238E27FC236}">
                <a16:creationId xmlns:a16="http://schemas.microsoft.com/office/drawing/2014/main" id="{678C943B-1DF6-4A85-BD26-00E306873EEC}"/>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Verify software through independent views</a:t>
            </a:r>
          </a:p>
        </p:txBody>
      </p:sp>
      <p:sp>
        <p:nvSpPr>
          <p:cNvPr id="6" name="">
            <a:extLst xmlns:a="http://schemas.openxmlformats.org/drawingml/2006/main">
              <a:ext uri="{FF2B5EF4-FFF2-40B4-BE49-F238E27FC236}">
                <a16:creationId xmlns:a16="http://schemas.microsoft.com/office/drawing/2014/main" id="{9B6444B6-18F0-45C2-9E4F-6DB828936D4B}"/>
              </a:ext>
            </a:extLst>
          </p:cNvPr>
          <p:cNvSpPr>
            <a:spLocks xmlns:a="http://schemas.openxmlformats.org/drawingml/2006/main" noGrp="1"/>
          </p:cNvSpPr>
          <p:nvPr/>
        </p:nvSpPr>
        <p:spPr>
          <a:xfrm xmlns:a="http://schemas.openxmlformats.org/drawingml/2006/main">
            <a:off x="514350" y="2400300"/>
            <a:ext cx="6191250" cy="2857500"/>
          </a:xfrm>
          <a:prstGeom xmlns:a="http://schemas.openxmlformats.org/drawingml/2006/main" prst="roundRect">
            <a:avLst>
              <a:gd name="adj" fmla="val 4000"/>
            </a:avLst>
          </a:prstGeom>
          <a:solidFill xmlns:a="http://schemas.openxmlformats.org/drawingml/2006/main">
            <a:srgbClr val="180D25"/>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7D7B8411-8223-4297-9B8D-61C1F12C1423}"/>
              </a:ext>
            </a:extLst>
          </p:cNvPr>
          <p:cNvSpPr>
            <a:spLocks xmlns:a="http://schemas.openxmlformats.org/drawingml/2006/main" noGrp="1"/>
          </p:cNvSpPr>
          <p:nvPr/>
        </p:nvSpPr>
        <p:spPr>
          <a:xfrm xmlns:a="http://schemas.openxmlformats.org/drawingml/2006/main">
            <a:off x="781050" y="2647950"/>
            <a:ext cx="5667375" cy="2333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F7F1FA"/>
                </a:solidFill>
              </a:defRPr>
            </a:pPr>
            <a:r>
              <a:rPr sz="1575" b="0">
                <a:solidFill>
                  <a:srgbClr val="F7F1FA"/>
                </a:solidFill>
              </a:rPr>
              <a:t>apt-cache policy tree</a:t>
            </a:r>
          </a:p>
          <a:p xmlns:a="http://schemas.openxmlformats.org/drawingml/2006/main">
            <a:pPr algn="l">
              <a:buNone/>
              <a:defRPr sz="1575" b="0">
                <a:solidFill>
                  <a:srgbClr val="F7F1FA"/>
                </a:solidFill>
              </a:defRPr>
            </a:pPr>
            <a:r>
              <a:rPr sz="1575" b="0">
                <a:solidFill>
                  <a:srgbClr val="F7F1FA"/>
                </a:solidFill>
              </a:rPr>
              <a:t>sudo apt install tree</a:t>
            </a:r>
          </a:p>
          <a:p xmlns:a="http://schemas.openxmlformats.org/drawingml/2006/main">
            <a:pPr algn="l">
              <a:buNone/>
              <a:defRPr sz="1575" b="0">
                <a:solidFill>
                  <a:srgbClr val="F7F1FA"/>
                </a:solidFill>
              </a:defRPr>
            </a:pPr>
            <a:r>
              <a:rPr sz="1575" b="0">
                <a:solidFill>
                  <a:srgbClr val="F7F1FA"/>
                </a:solidFill>
              </a:rPr>
              <a:t>dpkg-query -W -f='${Status}\n' tree</a:t>
            </a:r>
          </a:p>
          <a:p xmlns:a="http://schemas.openxmlformats.org/drawingml/2006/main">
            <a:pPr algn="l">
              <a:buNone/>
              <a:defRPr sz="1575" b="0">
                <a:solidFill>
                  <a:srgbClr val="F7F1FA"/>
                </a:solidFill>
              </a:defRPr>
            </a:pPr>
            <a:r>
              <a:rPr sz="1575" b="0">
                <a:solidFill>
                  <a:srgbClr val="F7F1FA"/>
                </a:solidFill>
              </a:rPr>
              <a:t>command -v tree</a:t>
            </a:r>
          </a:p>
          <a:p xmlns:a="http://schemas.openxmlformats.org/drawingml/2006/main">
            <a:pPr algn="l">
              <a:buNone/>
              <a:defRPr sz="1575" b="0">
                <a:solidFill>
                  <a:srgbClr val="F7F1FA"/>
                </a:solidFill>
              </a:defRPr>
            </a:pPr>
            <a:r>
              <a:rPr sz="1575" b="0">
                <a:solidFill>
                  <a:srgbClr val="F7F1FA"/>
                </a:solidFill>
              </a:rPr>
              <a:t>dpkg-query -S "$(command -v tree)"</a:t>
            </a:r>
          </a:p>
        </p:txBody>
      </p:sp>
      <p:sp>
        <p:nvSpPr>
          <p:cNvPr id="8" name="">
            <a:extLst xmlns:a="http://schemas.openxmlformats.org/drawingml/2006/main">
              <a:ext uri="{FF2B5EF4-FFF2-40B4-BE49-F238E27FC236}">
                <a16:creationId xmlns:a16="http://schemas.microsoft.com/office/drawing/2014/main" id="{136653D5-5066-45EC-B21D-072EF0E67E72}"/>
              </a:ext>
            </a:extLst>
          </p:cNvPr>
          <p:cNvSpPr>
            <a:spLocks xmlns:a="http://schemas.openxmlformats.org/drawingml/2006/main" noGrp="1"/>
          </p:cNvSpPr>
          <p:nvPr/>
        </p:nvSpPr>
        <p:spPr>
          <a:xfrm xmlns:a="http://schemas.openxmlformats.org/drawingml/2006/main">
            <a:off x="7143750" y="27336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84A58894-BCE1-46B5-9A12-5C7C425EC9C8}"/>
              </a:ext>
            </a:extLst>
          </p:cNvPr>
          <p:cNvSpPr>
            <a:spLocks xmlns:a="http://schemas.openxmlformats.org/drawingml/2006/main" noGrp="1"/>
          </p:cNvSpPr>
          <p:nvPr/>
        </p:nvSpPr>
        <p:spPr>
          <a:xfrm xmlns:a="http://schemas.openxmlformats.org/drawingml/2006/main">
            <a:off x="7391400" y="2428875"/>
            <a:ext cx="3848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Candidate state and installed state answer different questions.</a:t>
            </a:r>
          </a:p>
        </p:txBody>
      </p:sp>
      <p:sp>
        <p:nvSpPr>
          <p:cNvPr id="10" name="">
            <a:extLst xmlns:a="http://schemas.openxmlformats.org/drawingml/2006/main">
              <a:ext uri="{FF2B5EF4-FFF2-40B4-BE49-F238E27FC236}">
                <a16:creationId xmlns:a16="http://schemas.microsoft.com/office/drawing/2014/main" id="{974BE6E2-D6F9-4729-A9C2-3E008B7F12A6}"/>
              </a:ext>
            </a:extLst>
          </p:cNvPr>
          <p:cNvSpPr>
            <a:spLocks xmlns:a="http://schemas.openxmlformats.org/drawingml/2006/main" noGrp="1"/>
          </p:cNvSpPr>
          <p:nvPr/>
        </p:nvSpPr>
        <p:spPr>
          <a:xfrm xmlns:a="http://schemas.openxmlformats.org/drawingml/2006/main">
            <a:off x="7143750" y="347662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F08FB378-6D4A-4BEF-885A-8331A6EBD27B}"/>
              </a:ext>
            </a:extLst>
          </p:cNvPr>
          <p:cNvSpPr>
            <a:spLocks xmlns:a="http://schemas.openxmlformats.org/drawingml/2006/main" noGrp="1"/>
          </p:cNvSpPr>
          <p:nvPr/>
        </p:nvSpPr>
        <p:spPr>
          <a:xfrm xmlns:a="http://schemas.openxmlformats.org/drawingml/2006/main">
            <a:off x="7391400" y="3171825"/>
            <a:ext cx="3848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command -v reports shell discovery, not package ownership.</a:t>
            </a:r>
          </a:p>
        </p:txBody>
      </p:sp>
      <p:sp>
        <p:nvSpPr>
          <p:cNvPr id="12" name="">
            <a:extLst xmlns:a="http://schemas.openxmlformats.org/drawingml/2006/main">
              <a:ext uri="{FF2B5EF4-FFF2-40B4-BE49-F238E27FC236}">
                <a16:creationId xmlns:a16="http://schemas.microsoft.com/office/drawing/2014/main" id="{D495F4B6-6E87-4699-8B2A-E30A377FDF52}"/>
              </a:ext>
            </a:extLst>
          </p:cNvPr>
          <p:cNvSpPr>
            <a:spLocks xmlns:a="http://schemas.openxmlformats.org/drawingml/2006/main" noGrp="1"/>
          </p:cNvSpPr>
          <p:nvPr/>
        </p:nvSpPr>
        <p:spPr>
          <a:xfrm xmlns:a="http://schemas.openxmlformats.org/drawingml/2006/main">
            <a:off x="7143750" y="42195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3468520-95A1-4B03-B94D-AD5AEB764F75}"/>
              </a:ext>
            </a:extLst>
          </p:cNvPr>
          <p:cNvSpPr>
            <a:spLocks xmlns:a="http://schemas.openxmlformats.org/drawingml/2006/main" noGrp="1"/>
          </p:cNvSpPr>
          <p:nvPr/>
        </p:nvSpPr>
        <p:spPr>
          <a:xfrm xmlns:a="http://schemas.openxmlformats.org/drawingml/2006/main">
            <a:off x="7391400" y="3914775"/>
            <a:ext cx="3848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Running tree verifies behavior after provenance is established.</a:t>
            </a:r>
          </a:p>
        </p:txBody>
      </p:sp>
    </p:spTree>
    <p:extLst>
      <p:ext uri="{BB962C8B-B14F-4D97-AF65-F5344CB8AC3E}">
        <p14:creationId xmlns:p14="http://schemas.microsoft.com/office/powerpoint/2010/main" val="317621535"/>
      </p:ext>
    </p:extLst>
  </p:cSld>
</p:sld>
</file>

<file path=ppt/slides/slide42.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B28C2310-A614-4613-85C0-EE68896EEF9F}"/>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2FC92FD-8822-4B06-8C63-C16DAE2A855D}"/>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4 · GUIDED COMMANDS</a:t>
            </a:r>
          </a:p>
        </p:txBody>
      </p:sp>
      <p:sp>
        <p:nvSpPr>
          <p:cNvPr id="3" name="">
            <a:extLst xmlns:a="http://schemas.openxmlformats.org/drawingml/2006/main">
              <a:ext uri="{FF2B5EF4-FFF2-40B4-BE49-F238E27FC236}">
                <a16:creationId xmlns:a16="http://schemas.microsoft.com/office/drawing/2014/main" id="{40812CD1-6066-444C-9B81-66A31AC2D25E}"/>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A38FA81D-0950-44C6-BA04-2C40FAA12FA5}"/>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42</a:t>
            </a:r>
          </a:p>
        </p:txBody>
      </p:sp>
      <p:sp>
        <p:nvSpPr>
          <p:cNvPr id="5" name="">
            <a:extLst xmlns:a="http://schemas.openxmlformats.org/drawingml/2006/main">
              <a:ext uri="{FF2B5EF4-FFF2-40B4-BE49-F238E27FC236}">
                <a16:creationId xmlns:a16="http://schemas.microsoft.com/office/drawing/2014/main" id="{49224F17-8EE2-49E4-B4DA-E5394C8EB0B1}"/>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These commands are tools for specific questions</a:t>
            </a:r>
          </a:p>
        </p:txBody>
      </p:sp>
      <p:sp>
        <p:nvSpPr>
          <p:cNvPr id="6" name="">
            <a:extLst xmlns:a="http://schemas.openxmlformats.org/drawingml/2006/main">
              <a:ext uri="{FF2B5EF4-FFF2-40B4-BE49-F238E27FC236}">
                <a16:creationId xmlns:a16="http://schemas.microsoft.com/office/drawing/2014/main" id="{3E9AE7C3-E572-44F0-B1FA-E63522195D9D}"/>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The lab guide repeats syntax and expected evidence; memorization is not required.</a:t>
            </a:r>
          </a:p>
        </p:txBody>
      </p:sp>
      <p:sp>
        <p:nvSpPr>
          <p:cNvPr id="7" name="">
            <a:extLst xmlns:a="http://schemas.openxmlformats.org/drawingml/2006/main">
              <a:ext uri="{FF2B5EF4-FFF2-40B4-BE49-F238E27FC236}">
                <a16:creationId xmlns:a16="http://schemas.microsoft.com/office/drawing/2014/main" id="{53E22F39-F773-483E-A5DC-165EEE311C08}"/>
              </a:ext>
            </a:extLst>
          </p:cNvPr>
          <p:cNvSpPr>
            <a:spLocks xmlns:a="http://schemas.openxmlformats.org/drawingml/2006/main" noGrp="1"/>
          </p:cNvSpPr>
          <p:nvPr/>
        </p:nvSpPr>
        <p:spPr>
          <a:xfrm xmlns:a="http://schemas.openxmlformats.org/drawingml/2006/main">
            <a:off x="685800" y="24003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apt-cache policy NAME</a:t>
            </a:r>
          </a:p>
        </p:txBody>
      </p:sp>
      <p:sp>
        <p:nvSpPr>
          <p:cNvPr id="8" name="">
            <a:extLst xmlns:a="http://schemas.openxmlformats.org/drawingml/2006/main">
              <a:ext uri="{FF2B5EF4-FFF2-40B4-BE49-F238E27FC236}">
                <a16:creationId xmlns:a16="http://schemas.microsoft.com/office/drawing/2014/main" id="{AE7E509F-F059-4949-8A56-80F07E85FB8C}"/>
              </a:ext>
            </a:extLst>
          </p:cNvPr>
          <p:cNvSpPr>
            <a:spLocks xmlns:a="http://schemas.openxmlformats.org/drawingml/2006/main" noGrp="1"/>
          </p:cNvSpPr>
          <p:nvPr/>
        </p:nvSpPr>
        <p:spPr>
          <a:xfrm xmlns:a="http://schemas.openxmlformats.org/drawingml/2006/main">
            <a:off x="3810000" y="24003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inspect candidates</a:t>
            </a:r>
          </a:p>
        </p:txBody>
      </p:sp>
      <p:sp>
        <p:nvSpPr>
          <p:cNvPr id="9" name="">
            <a:extLst xmlns:a="http://schemas.openxmlformats.org/drawingml/2006/main">
              <a:ext uri="{FF2B5EF4-FFF2-40B4-BE49-F238E27FC236}">
                <a16:creationId xmlns:a16="http://schemas.microsoft.com/office/drawing/2014/main" id="{599EE9CC-456A-4FB9-9C7A-8BD70FFEDC6E}"/>
              </a:ext>
            </a:extLst>
          </p:cNvPr>
          <p:cNvSpPr>
            <a:spLocks xmlns:a="http://schemas.openxmlformats.org/drawingml/2006/main" noGrp="1"/>
          </p:cNvSpPr>
          <p:nvPr/>
        </p:nvSpPr>
        <p:spPr>
          <a:xfrm xmlns:a="http://schemas.openxmlformats.org/drawingml/2006/main">
            <a:off x="685800" y="29527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B2091C7-BE7A-4A42-BD26-6F85D8C6F027}"/>
              </a:ext>
            </a:extLst>
          </p:cNvPr>
          <p:cNvSpPr>
            <a:spLocks xmlns:a="http://schemas.openxmlformats.org/drawingml/2006/main" noGrp="1"/>
          </p:cNvSpPr>
          <p:nvPr/>
        </p:nvSpPr>
        <p:spPr>
          <a:xfrm xmlns:a="http://schemas.openxmlformats.org/drawingml/2006/main">
            <a:off x="685800" y="30480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sudo apt update</a:t>
            </a:r>
          </a:p>
        </p:txBody>
      </p:sp>
      <p:sp>
        <p:nvSpPr>
          <p:cNvPr id="11" name="">
            <a:extLst xmlns:a="http://schemas.openxmlformats.org/drawingml/2006/main">
              <a:ext uri="{FF2B5EF4-FFF2-40B4-BE49-F238E27FC236}">
                <a16:creationId xmlns:a16="http://schemas.microsoft.com/office/drawing/2014/main" id="{E31C7FCB-9865-4D9F-A865-CF06007A2A52}"/>
              </a:ext>
            </a:extLst>
          </p:cNvPr>
          <p:cNvSpPr>
            <a:spLocks xmlns:a="http://schemas.openxmlformats.org/drawingml/2006/main" noGrp="1"/>
          </p:cNvSpPr>
          <p:nvPr/>
        </p:nvSpPr>
        <p:spPr>
          <a:xfrm xmlns:a="http://schemas.openxmlformats.org/drawingml/2006/main">
            <a:off x="3810000" y="30480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refresh repository metadata</a:t>
            </a:r>
          </a:p>
        </p:txBody>
      </p:sp>
      <p:sp>
        <p:nvSpPr>
          <p:cNvPr id="12" name="">
            <a:extLst xmlns:a="http://schemas.openxmlformats.org/drawingml/2006/main">
              <a:ext uri="{FF2B5EF4-FFF2-40B4-BE49-F238E27FC236}">
                <a16:creationId xmlns:a16="http://schemas.microsoft.com/office/drawing/2014/main" id="{E538920C-6428-4442-B5C3-6099635F7441}"/>
              </a:ext>
            </a:extLst>
          </p:cNvPr>
          <p:cNvSpPr>
            <a:spLocks xmlns:a="http://schemas.openxmlformats.org/drawingml/2006/main" noGrp="1"/>
          </p:cNvSpPr>
          <p:nvPr/>
        </p:nvSpPr>
        <p:spPr>
          <a:xfrm xmlns:a="http://schemas.openxmlformats.org/drawingml/2006/main">
            <a:off x="685800" y="36004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FBCE9BE0-B2D6-4129-9C41-BB1C1CB7F7EC}"/>
              </a:ext>
            </a:extLst>
          </p:cNvPr>
          <p:cNvSpPr>
            <a:spLocks xmlns:a="http://schemas.openxmlformats.org/drawingml/2006/main" noGrp="1"/>
          </p:cNvSpPr>
          <p:nvPr/>
        </p:nvSpPr>
        <p:spPr>
          <a:xfrm xmlns:a="http://schemas.openxmlformats.org/drawingml/2006/main">
            <a:off x="685800" y="36957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sudo apt install NAME</a:t>
            </a:r>
          </a:p>
        </p:txBody>
      </p:sp>
      <p:sp>
        <p:nvSpPr>
          <p:cNvPr id="14" name="">
            <a:extLst xmlns:a="http://schemas.openxmlformats.org/drawingml/2006/main">
              <a:ext uri="{FF2B5EF4-FFF2-40B4-BE49-F238E27FC236}">
                <a16:creationId xmlns:a16="http://schemas.microsoft.com/office/drawing/2014/main" id="{12DEF405-6EEC-4B23-8EC3-8540B809842B}"/>
              </a:ext>
            </a:extLst>
          </p:cNvPr>
          <p:cNvSpPr>
            <a:spLocks xmlns:a="http://schemas.openxmlformats.org/drawingml/2006/main" noGrp="1"/>
          </p:cNvSpPr>
          <p:nvPr/>
        </p:nvSpPr>
        <p:spPr>
          <a:xfrm xmlns:a="http://schemas.openxmlformats.org/drawingml/2006/main">
            <a:off x="3810000" y="36957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resolve and install</a:t>
            </a:r>
          </a:p>
        </p:txBody>
      </p:sp>
      <p:sp>
        <p:nvSpPr>
          <p:cNvPr id="15" name="">
            <a:extLst xmlns:a="http://schemas.openxmlformats.org/drawingml/2006/main">
              <a:ext uri="{FF2B5EF4-FFF2-40B4-BE49-F238E27FC236}">
                <a16:creationId xmlns:a16="http://schemas.microsoft.com/office/drawing/2014/main" id="{5D665BA8-0F13-4B6A-B707-CACABB5A52DC}"/>
              </a:ext>
            </a:extLst>
          </p:cNvPr>
          <p:cNvSpPr>
            <a:spLocks xmlns:a="http://schemas.openxmlformats.org/drawingml/2006/main" noGrp="1"/>
          </p:cNvSpPr>
          <p:nvPr/>
        </p:nvSpPr>
        <p:spPr>
          <a:xfrm xmlns:a="http://schemas.openxmlformats.org/drawingml/2006/main">
            <a:off x="685800" y="42481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BBC0C797-DC12-4A89-B400-8023D104E57A}"/>
              </a:ext>
            </a:extLst>
          </p:cNvPr>
          <p:cNvSpPr>
            <a:spLocks xmlns:a="http://schemas.openxmlformats.org/drawingml/2006/main" noGrp="1"/>
          </p:cNvSpPr>
          <p:nvPr/>
        </p:nvSpPr>
        <p:spPr>
          <a:xfrm xmlns:a="http://schemas.openxmlformats.org/drawingml/2006/main">
            <a:off x="685800" y="43434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dpkg-query -W</a:t>
            </a:r>
          </a:p>
        </p:txBody>
      </p:sp>
      <p:sp>
        <p:nvSpPr>
          <p:cNvPr id="17" name="">
            <a:extLst xmlns:a="http://schemas.openxmlformats.org/drawingml/2006/main">
              <a:ext uri="{FF2B5EF4-FFF2-40B4-BE49-F238E27FC236}">
                <a16:creationId xmlns:a16="http://schemas.microsoft.com/office/drawing/2014/main" id="{17313C69-3F65-4A2C-9059-F8B7B56356FA}"/>
              </a:ext>
            </a:extLst>
          </p:cNvPr>
          <p:cNvSpPr>
            <a:spLocks xmlns:a="http://schemas.openxmlformats.org/drawingml/2006/main" noGrp="1"/>
          </p:cNvSpPr>
          <p:nvPr/>
        </p:nvSpPr>
        <p:spPr>
          <a:xfrm xmlns:a="http://schemas.openxmlformats.org/drawingml/2006/main">
            <a:off x="3810000" y="43434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inspect registered state</a:t>
            </a:r>
          </a:p>
        </p:txBody>
      </p:sp>
      <p:sp>
        <p:nvSpPr>
          <p:cNvPr id="18" name="">
            <a:extLst xmlns:a="http://schemas.openxmlformats.org/drawingml/2006/main">
              <a:ext uri="{FF2B5EF4-FFF2-40B4-BE49-F238E27FC236}">
                <a16:creationId xmlns:a16="http://schemas.microsoft.com/office/drawing/2014/main" id="{CAA12DC6-0CE5-4102-BE03-1ACDB9A80C1B}"/>
              </a:ext>
            </a:extLst>
          </p:cNvPr>
          <p:cNvSpPr>
            <a:spLocks xmlns:a="http://schemas.openxmlformats.org/drawingml/2006/main" noGrp="1"/>
          </p:cNvSpPr>
          <p:nvPr/>
        </p:nvSpPr>
        <p:spPr>
          <a:xfrm xmlns:a="http://schemas.openxmlformats.org/drawingml/2006/main">
            <a:off x="685800" y="48958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ED013FF-2C6E-4472-A171-AF60CD026BA8}"/>
              </a:ext>
            </a:extLst>
          </p:cNvPr>
          <p:cNvSpPr>
            <a:spLocks xmlns:a="http://schemas.openxmlformats.org/drawingml/2006/main" noGrp="1"/>
          </p:cNvSpPr>
          <p:nvPr/>
        </p:nvSpPr>
        <p:spPr>
          <a:xfrm xmlns:a="http://schemas.openxmlformats.org/drawingml/2006/main">
            <a:off x="685800" y="49911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dpkg-query -S PATH</a:t>
            </a:r>
          </a:p>
        </p:txBody>
      </p:sp>
      <p:sp>
        <p:nvSpPr>
          <p:cNvPr id="20" name="">
            <a:extLst xmlns:a="http://schemas.openxmlformats.org/drawingml/2006/main">
              <a:ext uri="{FF2B5EF4-FFF2-40B4-BE49-F238E27FC236}">
                <a16:creationId xmlns:a16="http://schemas.microsoft.com/office/drawing/2014/main" id="{0CB1C6D7-B884-4110-AA07-93489C346DF7}"/>
              </a:ext>
            </a:extLst>
          </p:cNvPr>
          <p:cNvSpPr>
            <a:spLocks xmlns:a="http://schemas.openxmlformats.org/drawingml/2006/main" noGrp="1"/>
          </p:cNvSpPr>
          <p:nvPr/>
        </p:nvSpPr>
        <p:spPr>
          <a:xfrm xmlns:a="http://schemas.openxmlformats.org/drawingml/2006/main">
            <a:off x="3810000" y="49911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ask which package owns a file</a:t>
            </a:r>
          </a:p>
        </p:txBody>
      </p:sp>
    </p:spTree>
    <p:extLst>
      <p:ext uri="{BB962C8B-B14F-4D97-AF65-F5344CB8AC3E}">
        <p14:creationId xmlns:p14="http://schemas.microsoft.com/office/powerpoint/2010/main" val="1986983981"/>
      </p:ext>
    </p:extLst>
  </p:cSld>
</p:sld>
</file>

<file path=ppt/slides/slide43.xml><?xml version="1.0" encoding="utf-8"?>
<p:sld xmlns:p="http://schemas.openxmlformats.org/presentationml/2006/main">
  <p:cSld>
    <p:bg>
      <p:bgPr>
        <a:solidFill xmlns:a="http://schemas.openxmlformats.org/drawingml/2006/main">
          <a:srgbClr val="180D25"/>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86AF4F8-9931-4A8A-80C6-B825E69BD744}"/>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FF6F6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C89B7A7-BB78-4955-8213-BF8BFC42A29E}"/>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FF6F61"/>
                </a:solidFill>
              </a:defRPr>
            </a:pPr>
            <a:r>
              <a:rPr sz="900" b="1">
                <a:solidFill>
                  <a:srgbClr val="FF6F61"/>
                </a:solidFill>
              </a:rPr>
              <a:t>MODULE 4 · LIVE DEMO</a:t>
            </a:r>
          </a:p>
        </p:txBody>
      </p:sp>
      <p:sp>
        <p:nvSpPr>
          <p:cNvPr id="3" name="">
            <a:extLst xmlns:a="http://schemas.openxmlformats.org/drawingml/2006/main">
              <a:ext uri="{FF2B5EF4-FFF2-40B4-BE49-F238E27FC236}">
                <a16:creationId xmlns:a16="http://schemas.microsoft.com/office/drawing/2014/main" id="{017D1E5C-4BEA-4EC9-95F7-24CB9B6526EA}"/>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CFC5D5"/>
                </a:solidFill>
              </a:defRPr>
            </a:pPr>
            <a:r>
              <a:rPr sz="825" b="1">
                <a:solidFill>
                  <a:srgbClr val="CFC5D5"/>
                </a:solidFill>
              </a:rPr>
              <a:t>LINUX FOUNDATIONS</a:t>
            </a:r>
          </a:p>
        </p:txBody>
      </p:sp>
      <p:sp>
        <p:nvSpPr>
          <p:cNvPr id="4" name="">
            <a:extLst xmlns:a="http://schemas.openxmlformats.org/drawingml/2006/main">
              <a:ext uri="{FF2B5EF4-FFF2-40B4-BE49-F238E27FC236}">
                <a16:creationId xmlns:a16="http://schemas.microsoft.com/office/drawing/2014/main" id="{0C32F6DA-057A-42AF-90B4-E9C425830405}"/>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AFA2B8"/>
                </a:solidFill>
              </a:defRPr>
            </a:pPr>
            <a:r>
              <a:rPr sz="825" b="0">
                <a:solidFill>
                  <a:srgbClr val="AFA2B8"/>
                </a:solidFill>
              </a:rPr>
              <a:t>43</a:t>
            </a:r>
          </a:p>
        </p:txBody>
      </p:sp>
      <p:sp>
        <p:nvSpPr>
          <p:cNvPr id="5" name="">
            <a:extLst xmlns:a="http://schemas.openxmlformats.org/drawingml/2006/main">
              <a:ext uri="{FF2B5EF4-FFF2-40B4-BE49-F238E27FC236}">
                <a16:creationId xmlns:a16="http://schemas.microsoft.com/office/drawing/2014/main" id="{6DD2CC0B-E203-4CCB-AF61-954DB0FEA48A}"/>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FFFFFF"/>
                </a:solidFill>
              </a:defRPr>
            </a:pPr>
            <a:r>
              <a:rPr sz="2850" b="1">
                <a:solidFill>
                  <a:srgbClr val="FFFFFF"/>
                </a:solidFill>
              </a:rPr>
              <a:t>Predict the evidence before Demo 4</a:t>
            </a:r>
          </a:p>
        </p:txBody>
      </p:sp>
      <p:sp>
        <p:nvSpPr>
          <p:cNvPr id="6" name="">
            <a:extLst xmlns:a="http://schemas.openxmlformats.org/drawingml/2006/main">
              <a:ext uri="{FF2B5EF4-FFF2-40B4-BE49-F238E27FC236}">
                <a16:creationId xmlns:a16="http://schemas.microsoft.com/office/drawing/2014/main" id="{5576246A-15D2-4B8D-8315-47AD328A78F7}"/>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E6DDEB"/>
                </a:solidFill>
              </a:defRPr>
            </a:pPr>
            <a:r>
              <a:rPr sz="1650" b="0">
                <a:solidFill>
                  <a:srgbClr val="E6DDEB"/>
                </a:solidFill>
              </a:rPr>
              <a:t>Trace jq from repository candidate to installed state, executable path, package ownership, and JSON behavior.</a:t>
            </a:r>
          </a:p>
        </p:txBody>
      </p:sp>
      <p:sp>
        <p:nvSpPr>
          <p:cNvPr id="7" name="">
            <a:extLst xmlns:a="http://schemas.openxmlformats.org/drawingml/2006/main">
              <a:ext uri="{FF2B5EF4-FFF2-40B4-BE49-F238E27FC236}">
                <a16:creationId xmlns:a16="http://schemas.microsoft.com/office/drawing/2014/main" id="{384878E2-3F88-413A-BEAC-2FC49DA0E5F2}"/>
              </a:ext>
            </a:extLst>
          </p:cNvPr>
          <p:cNvSpPr>
            <a:spLocks xmlns:a="http://schemas.openxmlformats.org/drawingml/2006/main" noGrp="1"/>
          </p:cNvSpPr>
          <p:nvPr/>
        </p:nvSpPr>
        <p:spPr>
          <a:xfrm xmlns:a="http://schemas.openxmlformats.org/drawingml/2006/main">
            <a:off x="666750" y="2476500"/>
            <a:ext cx="10096500" cy="781050"/>
          </a:xfrm>
          <a:prstGeom xmlns:a="http://schemas.openxmlformats.org/drawingml/2006/main" prst="roundRect">
            <a:avLst>
              <a:gd name="adj" fmla="val 14634"/>
            </a:avLst>
          </a:prstGeom>
          <a:solidFill xmlns:a="http://schemas.openxmlformats.org/drawingml/2006/main">
            <a:srgbClr val="2C173E"/>
          </a:solidFill>
          <a:ln xmlns:a="http://schemas.openxmlformats.org/drawingml/2006/main" w="9525">
            <a:solidFill>
              <a:srgbClr val="7650F8"/>
            </a:solidFill>
            <a:prstDash val="solid"/>
          </a:ln>
        </p:spPr>
      </p:sp>
      <p:sp>
        <p:nvSpPr>
          <p:cNvPr id="8" name="">
            <a:extLst xmlns:a="http://schemas.openxmlformats.org/drawingml/2006/main">
              <a:ext uri="{FF2B5EF4-FFF2-40B4-BE49-F238E27FC236}">
                <a16:creationId xmlns:a16="http://schemas.microsoft.com/office/drawing/2014/main" id="{50A745C1-005A-4701-B63E-DD1CE46BAFEF}"/>
              </a:ext>
            </a:extLst>
          </p:cNvPr>
          <p:cNvSpPr>
            <a:spLocks xmlns:a="http://schemas.openxmlformats.org/drawingml/2006/main" noGrp="1"/>
          </p:cNvSpPr>
          <p:nvPr/>
        </p:nvSpPr>
        <p:spPr>
          <a:xfrm xmlns:a="http://schemas.openxmlformats.org/drawingml/2006/main">
            <a:off x="895350" y="2590800"/>
            <a:ext cx="9620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FFFFFF"/>
                </a:solidFill>
              </a:defRPr>
            </a:pPr>
            <a:r>
              <a:rPr sz="1575" b="0">
                <a:solidFill>
                  <a:srgbClr val="FFFFFF"/>
                </a:solidFill>
              </a:rPr>
              <a:t>Trace jq from repository candidate to installed state, executable path, package ownership, and JSON behavior.</a:t>
            </a:r>
          </a:p>
        </p:txBody>
      </p:sp>
      <p:sp>
        <p:nvSpPr>
          <p:cNvPr id="9" name="">
            <a:extLst xmlns:a="http://schemas.openxmlformats.org/drawingml/2006/main">
              <a:ext uri="{FF2B5EF4-FFF2-40B4-BE49-F238E27FC236}">
                <a16:creationId xmlns:a16="http://schemas.microsoft.com/office/drawing/2014/main" id="{A16B8A3A-DF3C-4262-9158-BB4B634EFD5D}"/>
              </a:ext>
            </a:extLst>
          </p:cNvPr>
          <p:cNvSpPr>
            <a:spLocks xmlns:a="http://schemas.openxmlformats.org/drawingml/2006/main" noGrp="1"/>
          </p:cNvSpPr>
          <p:nvPr/>
        </p:nvSpPr>
        <p:spPr>
          <a:xfrm xmlns:a="http://schemas.openxmlformats.org/drawingml/2006/main">
            <a:off x="904875" y="38195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8F4B960-7823-43E2-BAC6-4D0A17F0158F}"/>
              </a:ext>
            </a:extLst>
          </p:cNvPr>
          <p:cNvSpPr>
            <a:spLocks xmlns:a="http://schemas.openxmlformats.org/drawingml/2006/main" noGrp="1"/>
          </p:cNvSpPr>
          <p:nvPr/>
        </p:nvSpPr>
        <p:spPr>
          <a:xfrm xmlns:a="http://schemas.openxmlformats.org/drawingml/2006/main">
            <a:off x="1152525" y="3619500"/>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State the operating question</a:t>
            </a:r>
          </a:p>
        </p:txBody>
      </p:sp>
      <p:sp>
        <p:nvSpPr>
          <p:cNvPr id="11" name="">
            <a:extLst xmlns:a="http://schemas.openxmlformats.org/drawingml/2006/main">
              <a:ext uri="{FF2B5EF4-FFF2-40B4-BE49-F238E27FC236}">
                <a16:creationId xmlns:a16="http://schemas.microsoft.com/office/drawing/2014/main" id="{8723EE8B-07DF-4217-AB52-9018C3501D3A}"/>
              </a:ext>
            </a:extLst>
          </p:cNvPr>
          <p:cNvSpPr>
            <a:spLocks xmlns:a="http://schemas.openxmlformats.org/drawingml/2006/main" noGrp="1"/>
          </p:cNvSpPr>
          <p:nvPr/>
        </p:nvSpPr>
        <p:spPr>
          <a:xfrm xmlns:a="http://schemas.openxmlformats.org/drawingml/2006/main">
            <a:off x="904875" y="43434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8997022-254A-4224-86F1-3CC9BC8359A0}"/>
              </a:ext>
            </a:extLst>
          </p:cNvPr>
          <p:cNvSpPr>
            <a:spLocks xmlns:a="http://schemas.openxmlformats.org/drawingml/2006/main" noGrp="1"/>
          </p:cNvSpPr>
          <p:nvPr/>
        </p:nvSpPr>
        <p:spPr>
          <a:xfrm xmlns:a="http://schemas.openxmlformats.org/drawingml/2006/main">
            <a:off x="1152525" y="4143375"/>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Ask for one prediction</a:t>
            </a:r>
          </a:p>
        </p:txBody>
      </p:sp>
      <p:sp>
        <p:nvSpPr>
          <p:cNvPr id="13" name="">
            <a:extLst xmlns:a="http://schemas.openxmlformats.org/drawingml/2006/main">
              <a:ext uri="{FF2B5EF4-FFF2-40B4-BE49-F238E27FC236}">
                <a16:creationId xmlns:a16="http://schemas.microsoft.com/office/drawing/2014/main" id="{30CC8346-9847-4CAF-A1FD-CCFF3EF56865}"/>
              </a:ext>
            </a:extLst>
          </p:cNvPr>
          <p:cNvSpPr>
            <a:spLocks xmlns:a="http://schemas.openxmlformats.org/drawingml/2006/main" noGrp="1"/>
          </p:cNvSpPr>
          <p:nvPr/>
        </p:nvSpPr>
        <p:spPr>
          <a:xfrm xmlns:a="http://schemas.openxmlformats.org/drawingml/2006/main">
            <a:off x="904875" y="48672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82C4FAD-42B7-4CD0-9515-613768BF1646}"/>
              </a:ext>
            </a:extLst>
          </p:cNvPr>
          <p:cNvSpPr>
            <a:spLocks xmlns:a="http://schemas.openxmlformats.org/drawingml/2006/main" noGrp="1"/>
          </p:cNvSpPr>
          <p:nvPr/>
        </p:nvSpPr>
        <p:spPr>
          <a:xfrm xmlns:a="http://schemas.openxmlformats.org/drawingml/2006/main">
            <a:off x="1152525" y="4667250"/>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Run one command at a time</a:t>
            </a:r>
          </a:p>
        </p:txBody>
      </p:sp>
      <p:sp>
        <p:nvSpPr>
          <p:cNvPr id="15" name="">
            <a:extLst xmlns:a="http://schemas.openxmlformats.org/drawingml/2006/main">
              <a:ext uri="{FF2B5EF4-FFF2-40B4-BE49-F238E27FC236}">
                <a16:creationId xmlns:a16="http://schemas.microsoft.com/office/drawing/2014/main" id="{405AB98F-AA20-46C2-93F5-772988D2F322}"/>
              </a:ext>
            </a:extLst>
          </p:cNvPr>
          <p:cNvSpPr>
            <a:spLocks xmlns:a="http://schemas.openxmlformats.org/drawingml/2006/main" noGrp="1"/>
          </p:cNvSpPr>
          <p:nvPr/>
        </p:nvSpPr>
        <p:spPr>
          <a:xfrm xmlns:a="http://schemas.openxmlformats.org/drawingml/2006/main">
            <a:off x="904875" y="539115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4E665B68-C791-4988-8378-6AC91395B407}"/>
              </a:ext>
            </a:extLst>
          </p:cNvPr>
          <p:cNvSpPr>
            <a:spLocks xmlns:a="http://schemas.openxmlformats.org/drawingml/2006/main" noGrp="1"/>
          </p:cNvSpPr>
          <p:nvPr/>
        </p:nvSpPr>
        <p:spPr>
          <a:xfrm xmlns:a="http://schemas.openxmlformats.org/drawingml/2006/main">
            <a:off x="1152525" y="5191125"/>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Verify through a different interface</a:t>
            </a:r>
          </a:p>
        </p:txBody>
      </p:sp>
      <p:sp>
        <p:nvSpPr>
          <p:cNvPr id="17" name="">
            <a:extLst xmlns:a="http://schemas.openxmlformats.org/drawingml/2006/main">
              <a:ext uri="{FF2B5EF4-FFF2-40B4-BE49-F238E27FC236}">
                <a16:creationId xmlns:a16="http://schemas.microsoft.com/office/drawing/2014/main" id="{329C3CD8-451F-44C0-A6D7-C20C6806D269}"/>
              </a:ext>
            </a:extLst>
          </p:cNvPr>
          <p:cNvSpPr>
            <a:spLocks xmlns:a="http://schemas.openxmlformats.org/drawingml/2006/main" noGrp="1"/>
          </p:cNvSpPr>
          <p:nvPr/>
        </p:nvSpPr>
        <p:spPr>
          <a:xfrm xmlns:a="http://schemas.openxmlformats.org/drawingml/2006/main">
            <a:off x="904875" y="5886450"/>
            <a:ext cx="962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00" b="1">
                <a:solidFill>
                  <a:srgbClr val="71D6B3"/>
                </a:solidFill>
              </a:defRPr>
            </a:pPr>
            <a:r>
              <a:rPr sz="1200" b="1">
                <a:solidFill>
                  <a:srgbClr val="71D6B3"/>
                </a:solidFill>
              </a:rPr>
              <a:t>Instructor seat only · predict before typing · verify through another interface</a:t>
            </a:r>
          </a:p>
        </p:txBody>
      </p:sp>
    </p:spTree>
    <p:extLst>
      <p:ext uri="{BB962C8B-B14F-4D97-AF65-F5344CB8AC3E}">
        <p14:creationId xmlns:p14="http://schemas.microsoft.com/office/powerpoint/2010/main" val="1914869804"/>
      </p:ext>
    </p:extLst>
  </p:cSld>
</p:sld>
</file>

<file path=ppt/slides/slide44.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B95E3BD-7625-4F6E-8308-A81139D87D4D}"/>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CCE1441-D526-442C-AAD2-881ABA1F6ED3}"/>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4 · LAB READINESS</a:t>
            </a:r>
          </a:p>
        </p:txBody>
      </p:sp>
      <p:sp>
        <p:nvSpPr>
          <p:cNvPr id="3" name="">
            <a:extLst xmlns:a="http://schemas.openxmlformats.org/drawingml/2006/main">
              <a:ext uri="{FF2B5EF4-FFF2-40B4-BE49-F238E27FC236}">
                <a16:creationId xmlns:a16="http://schemas.microsoft.com/office/drawing/2014/main" id="{BD4EC128-F136-4A81-806D-919260E12F8F}"/>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14D31C7D-513E-4F27-BAC7-D01F2D0BEE8B}"/>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44</a:t>
            </a:r>
          </a:p>
        </p:txBody>
      </p:sp>
      <p:sp>
        <p:nvSpPr>
          <p:cNvPr id="5" name="">
            <a:extLst xmlns:a="http://schemas.openxmlformats.org/drawingml/2006/main">
              <a:ext uri="{FF2B5EF4-FFF2-40B4-BE49-F238E27FC236}">
                <a16:creationId xmlns:a16="http://schemas.microsoft.com/office/drawing/2014/main" id="{1707564C-CBD9-40C0-B1DC-5B3050146C8A}"/>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Before Lab 4, you should be able to…</a:t>
            </a:r>
          </a:p>
        </p:txBody>
      </p:sp>
      <p:sp>
        <p:nvSpPr>
          <p:cNvPr id="6" name="">
            <a:extLst xmlns:a="http://schemas.openxmlformats.org/drawingml/2006/main">
              <a:ext uri="{FF2B5EF4-FFF2-40B4-BE49-F238E27FC236}">
                <a16:creationId xmlns:a16="http://schemas.microsoft.com/office/drawing/2014/main" id="{7CCF1A8F-8106-4AF4-B2C6-DAA6AD879B37}"/>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If one item is unclear, revisit the model or worked example before opening the terminal.</a:t>
            </a:r>
          </a:p>
        </p:txBody>
      </p:sp>
      <p:sp>
        <p:nvSpPr>
          <p:cNvPr id="7" name="">
            <a:extLst xmlns:a="http://schemas.openxmlformats.org/drawingml/2006/main">
              <a:ext uri="{FF2B5EF4-FFF2-40B4-BE49-F238E27FC236}">
                <a16:creationId xmlns:a16="http://schemas.microsoft.com/office/drawing/2014/main" id="{B6BF353A-E6A3-4260-9326-9EE37F0C1498}"/>
              </a:ext>
            </a:extLst>
          </p:cNvPr>
          <p:cNvSpPr>
            <a:spLocks xmlns:a="http://schemas.openxmlformats.org/drawingml/2006/main" noGrp="1"/>
          </p:cNvSpPr>
          <p:nvPr/>
        </p:nvSpPr>
        <p:spPr>
          <a:xfrm xmlns:a="http://schemas.openxmlformats.org/drawingml/2006/main">
            <a:off x="781050" y="29051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8403FE8-5B26-4FB8-BE8A-CE9D90504BC6}"/>
              </a:ext>
            </a:extLst>
          </p:cNvPr>
          <p:cNvSpPr>
            <a:spLocks xmlns:a="http://schemas.openxmlformats.org/drawingml/2006/main" noGrp="1"/>
          </p:cNvSpPr>
          <p:nvPr/>
        </p:nvSpPr>
        <p:spPr>
          <a:xfrm xmlns:a="http://schemas.openxmlformats.org/drawingml/2006/main">
            <a:off x="1028700" y="26479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Distinguish repository, index, installed state, and files</a:t>
            </a:r>
          </a:p>
        </p:txBody>
      </p:sp>
      <p:sp>
        <p:nvSpPr>
          <p:cNvPr id="9" name="">
            <a:extLst xmlns:a="http://schemas.openxmlformats.org/drawingml/2006/main">
              <a:ext uri="{FF2B5EF4-FFF2-40B4-BE49-F238E27FC236}">
                <a16:creationId xmlns:a16="http://schemas.microsoft.com/office/drawing/2014/main" id="{BF18A184-33B0-426C-8B37-938D1AA24410}"/>
              </a:ext>
            </a:extLst>
          </p:cNvPr>
          <p:cNvSpPr>
            <a:spLocks xmlns:a="http://schemas.openxmlformats.org/drawingml/2006/main" noGrp="1"/>
          </p:cNvSpPr>
          <p:nvPr/>
        </p:nvSpPr>
        <p:spPr>
          <a:xfrm xmlns:a="http://schemas.openxmlformats.org/drawingml/2006/main">
            <a:off x="781050" y="355282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DE9709C-4C96-47EF-A352-BC82547A213D}"/>
              </a:ext>
            </a:extLst>
          </p:cNvPr>
          <p:cNvSpPr>
            <a:spLocks xmlns:a="http://schemas.openxmlformats.org/drawingml/2006/main" noGrp="1"/>
          </p:cNvSpPr>
          <p:nvPr/>
        </p:nvSpPr>
        <p:spPr>
          <a:xfrm xmlns:a="http://schemas.openxmlformats.org/drawingml/2006/main">
            <a:off x="1028700" y="32956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Explain why update and install are separate</a:t>
            </a:r>
          </a:p>
        </p:txBody>
      </p:sp>
      <p:sp>
        <p:nvSpPr>
          <p:cNvPr id="11" name="">
            <a:extLst xmlns:a="http://schemas.openxmlformats.org/drawingml/2006/main">
              <a:ext uri="{FF2B5EF4-FFF2-40B4-BE49-F238E27FC236}">
                <a16:creationId xmlns:a16="http://schemas.microsoft.com/office/drawing/2014/main" id="{02A3495F-C76F-4F75-9C1A-AFC9E50B20D5}"/>
              </a:ext>
            </a:extLst>
          </p:cNvPr>
          <p:cNvSpPr>
            <a:spLocks xmlns:a="http://schemas.openxmlformats.org/drawingml/2006/main" noGrp="1"/>
          </p:cNvSpPr>
          <p:nvPr/>
        </p:nvSpPr>
        <p:spPr>
          <a:xfrm xmlns:a="http://schemas.openxmlformats.org/drawingml/2006/main">
            <a:off x="781050" y="42005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D16B80B-20C3-482E-98EF-65784353C683}"/>
              </a:ext>
            </a:extLst>
          </p:cNvPr>
          <p:cNvSpPr>
            <a:spLocks xmlns:a="http://schemas.openxmlformats.org/drawingml/2006/main" noGrp="1"/>
          </p:cNvSpPr>
          <p:nvPr/>
        </p:nvSpPr>
        <p:spPr>
          <a:xfrm xmlns:a="http://schemas.openxmlformats.org/drawingml/2006/main">
            <a:off x="1028700" y="39433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Verify provenance and behavior independently</a:t>
            </a:r>
          </a:p>
        </p:txBody>
      </p:sp>
    </p:spTree>
    <p:extLst>
      <p:ext uri="{BB962C8B-B14F-4D97-AF65-F5344CB8AC3E}">
        <p14:creationId xmlns:p14="http://schemas.microsoft.com/office/powerpoint/2010/main" val="151873050"/>
      </p:ext>
    </p:extLst>
  </p:cSld>
</p:sld>
</file>

<file path=ppt/slides/slide45.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53BEFDEF-6FE1-4C18-8F95-9B97639C8536}"/>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2C60FD1-192F-4546-8B93-C0FFCCCAC885}"/>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HANDS-ON · LAB 4</a:t>
            </a:r>
          </a:p>
        </p:txBody>
      </p:sp>
      <p:sp>
        <p:nvSpPr>
          <p:cNvPr id="3" name="">
            <a:extLst xmlns:a="http://schemas.openxmlformats.org/drawingml/2006/main">
              <a:ext uri="{FF2B5EF4-FFF2-40B4-BE49-F238E27FC236}">
                <a16:creationId xmlns:a16="http://schemas.microsoft.com/office/drawing/2014/main" id="{DFF5BED2-B68D-4487-9854-182C0E1947F0}"/>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5501CD64-BDE6-490E-9E9C-5FA200366E68}"/>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45</a:t>
            </a:r>
          </a:p>
        </p:txBody>
      </p:sp>
      <p:sp>
        <p:nvSpPr>
          <p:cNvPr id="5" name="">
            <a:extLst xmlns:a="http://schemas.openxmlformats.org/drawingml/2006/main">
              <a:ext uri="{FF2B5EF4-FFF2-40B4-BE49-F238E27FC236}">
                <a16:creationId xmlns:a16="http://schemas.microsoft.com/office/drawing/2014/main" id="{1F7D3E84-C9A8-46DD-BBFA-5B920C270188}"/>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Packages and software provenance</a:t>
            </a:r>
          </a:p>
        </p:txBody>
      </p:sp>
      <p:sp>
        <p:nvSpPr>
          <p:cNvPr id="6" name="">
            <a:extLst xmlns:a="http://schemas.openxmlformats.org/drawingml/2006/main">
              <a:ext uri="{FF2B5EF4-FFF2-40B4-BE49-F238E27FC236}">
                <a16:creationId xmlns:a16="http://schemas.microsoft.com/office/drawing/2014/main" id="{7C53668C-7029-4B7D-9623-1C8B09F87125}"/>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Install tree from the configured Ubuntu repositories and create evidence for candidate, state, path, ownership, and behavior.</a:t>
            </a:r>
          </a:p>
        </p:txBody>
      </p:sp>
      <p:sp>
        <p:nvSpPr>
          <p:cNvPr id="7" name="">
            <a:extLst xmlns:a="http://schemas.openxmlformats.org/drawingml/2006/main">
              <a:ext uri="{FF2B5EF4-FFF2-40B4-BE49-F238E27FC236}">
                <a16:creationId xmlns:a16="http://schemas.microsoft.com/office/drawing/2014/main" id="{D7833C0D-6F87-48DC-AAC2-B318A79E5B0D}"/>
              </a:ext>
            </a:extLst>
          </p:cNvPr>
          <p:cNvSpPr>
            <a:spLocks xmlns:a="http://schemas.openxmlformats.org/drawingml/2006/main" noGrp="1"/>
          </p:cNvSpPr>
          <p:nvPr/>
        </p:nvSpPr>
        <p:spPr>
          <a:xfrm xmlns:a="http://schemas.openxmlformats.org/drawingml/2006/main">
            <a:off x="514350" y="2457450"/>
            <a:ext cx="6762750" cy="2286000"/>
          </a:xfrm>
          <a:prstGeom xmlns:a="http://schemas.openxmlformats.org/drawingml/2006/main" prst="roundRect">
            <a:avLst>
              <a:gd name="adj" fmla="val 5000"/>
            </a:avLst>
          </a:prstGeom>
          <a:solidFill xmlns:a="http://schemas.openxmlformats.org/drawingml/2006/main">
            <a:srgbClr val="180D2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6186236-41EE-4357-B6A5-4F2185DF5B20}"/>
              </a:ext>
            </a:extLst>
          </p:cNvPr>
          <p:cNvSpPr>
            <a:spLocks xmlns:a="http://schemas.openxmlformats.org/drawingml/2006/main" noGrp="1"/>
          </p:cNvSpPr>
          <p:nvPr/>
        </p:nvSpPr>
        <p:spPr>
          <a:xfrm xmlns:a="http://schemas.openxmlformats.org/drawingml/2006/main">
            <a:off x="781050" y="2647950"/>
            <a:ext cx="6238875" cy="1847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FFFFFF"/>
                </a:solidFill>
              </a:defRPr>
            </a:pPr>
            <a:r>
              <a:rPr sz="1650" b="0">
                <a:solidFill>
                  <a:srgbClr val="FFFFFF"/>
                </a:solidFill>
              </a:rPr>
              <a:t>Install tree from the configured Ubuntu repositories and create evidence for candidate, state, path, ownership, and behavior.</a:t>
            </a:r>
          </a:p>
        </p:txBody>
      </p:sp>
      <p:sp>
        <p:nvSpPr>
          <p:cNvPr id="9" name="">
            <a:extLst xmlns:a="http://schemas.openxmlformats.org/drawingml/2006/main">
              <a:ext uri="{FF2B5EF4-FFF2-40B4-BE49-F238E27FC236}">
                <a16:creationId xmlns:a16="http://schemas.microsoft.com/office/drawing/2014/main" id="{1B8B16D9-430B-4554-A5AB-588EA467FA24}"/>
              </a:ext>
            </a:extLst>
          </p:cNvPr>
          <p:cNvSpPr>
            <a:spLocks xmlns:a="http://schemas.openxmlformats.org/drawingml/2006/main" noGrp="1"/>
          </p:cNvSpPr>
          <p:nvPr/>
        </p:nvSpPr>
        <p:spPr>
          <a:xfrm xmlns:a="http://schemas.openxmlformats.org/drawingml/2006/main">
            <a:off x="7762875" y="26955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B4F3D67-7B7D-4D8E-93AF-220AB683F3B4}"/>
              </a:ext>
            </a:extLst>
          </p:cNvPr>
          <p:cNvSpPr>
            <a:spLocks xmlns:a="http://schemas.openxmlformats.org/drawingml/2006/main" noGrp="1"/>
          </p:cNvSpPr>
          <p:nvPr/>
        </p:nvSpPr>
        <p:spPr>
          <a:xfrm xmlns:a="http://schemas.openxmlformats.org/drawingml/2006/main">
            <a:off x="8010525" y="24765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20 minutes</a:t>
            </a:r>
          </a:p>
        </p:txBody>
      </p:sp>
      <p:sp>
        <p:nvSpPr>
          <p:cNvPr id="11" name="">
            <a:extLst xmlns:a="http://schemas.openxmlformats.org/drawingml/2006/main">
              <a:ext uri="{FF2B5EF4-FFF2-40B4-BE49-F238E27FC236}">
                <a16:creationId xmlns:a16="http://schemas.microsoft.com/office/drawing/2014/main" id="{327DD4BE-2405-4142-8FE4-E1058E212250}"/>
              </a:ext>
            </a:extLst>
          </p:cNvPr>
          <p:cNvSpPr>
            <a:spLocks xmlns:a="http://schemas.openxmlformats.org/drawingml/2006/main" noGrp="1"/>
          </p:cNvSpPr>
          <p:nvPr/>
        </p:nvSpPr>
        <p:spPr>
          <a:xfrm xmlns:a="http://schemas.openxmlformats.org/drawingml/2006/main">
            <a:off x="7762875" y="32670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F440291-DD72-4783-A85B-5960E7BB9EFB}"/>
              </a:ext>
            </a:extLst>
          </p:cNvPr>
          <p:cNvSpPr>
            <a:spLocks xmlns:a="http://schemas.openxmlformats.org/drawingml/2006/main" noGrp="1"/>
          </p:cNvSpPr>
          <p:nvPr/>
        </p:nvSpPr>
        <p:spPr>
          <a:xfrm xmlns:a="http://schemas.openxmlformats.org/drawingml/2006/main">
            <a:off x="8010525" y="30480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Prepare/reset only this lab</a:t>
            </a:r>
          </a:p>
        </p:txBody>
      </p:sp>
      <p:sp>
        <p:nvSpPr>
          <p:cNvPr id="13" name="">
            <a:extLst xmlns:a="http://schemas.openxmlformats.org/drawingml/2006/main">
              <a:ext uri="{FF2B5EF4-FFF2-40B4-BE49-F238E27FC236}">
                <a16:creationId xmlns:a16="http://schemas.microsoft.com/office/drawing/2014/main" id="{5A085E0A-9226-4E39-A713-FDE64EF245C1}"/>
              </a:ext>
            </a:extLst>
          </p:cNvPr>
          <p:cNvSpPr>
            <a:spLocks xmlns:a="http://schemas.openxmlformats.org/drawingml/2006/main" noGrp="1"/>
          </p:cNvSpPr>
          <p:nvPr/>
        </p:nvSpPr>
        <p:spPr>
          <a:xfrm xmlns:a="http://schemas.openxmlformats.org/drawingml/2006/main">
            <a:off x="7762875" y="38385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C22885F-A15E-4AFC-8F35-A7935FB8E070}"/>
              </a:ext>
            </a:extLst>
          </p:cNvPr>
          <p:cNvSpPr>
            <a:spLocks xmlns:a="http://schemas.openxmlformats.org/drawingml/2006/main" noGrp="1"/>
          </p:cNvSpPr>
          <p:nvPr/>
        </p:nvSpPr>
        <p:spPr>
          <a:xfrm xmlns:a="http://schemas.openxmlformats.org/drawingml/2006/main">
            <a:off x="8010525" y="36195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Check observable state</a:t>
            </a:r>
          </a:p>
        </p:txBody>
      </p:sp>
      <p:sp>
        <p:nvSpPr>
          <p:cNvPr id="15" name="">
            <a:extLst xmlns:a="http://schemas.openxmlformats.org/drawingml/2006/main">
              <a:ext uri="{FF2B5EF4-FFF2-40B4-BE49-F238E27FC236}">
                <a16:creationId xmlns:a16="http://schemas.microsoft.com/office/drawing/2014/main" id="{7408BA8C-C0B1-405F-85E6-1781604F53C5}"/>
              </a:ext>
            </a:extLst>
          </p:cNvPr>
          <p:cNvSpPr>
            <a:spLocks xmlns:a="http://schemas.openxmlformats.org/drawingml/2006/main" noGrp="1"/>
          </p:cNvSpPr>
          <p:nvPr/>
        </p:nvSpPr>
        <p:spPr>
          <a:xfrm xmlns:a="http://schemas.openxmlformats.org/drawingml/2006/main">
            <a:off x="7762875" y="44100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CAF6CDBD-6559-454B-99D0-981CC8B90BE3}"/>
              </a:ext>
            </a:extLst>
          </p:cNvPr>
          <p:cNvSpPr>
            <a:spLocks xmlns:a="http://schemas.openxmlformats.org/drawingml/2006/main" noGrp="1"/>
          </p:cNvSpPr>
          <p:nvPr/>
        </p:nvSpPr>
        <p:spPr>
          <a:xfrm xmlns:a="http://schemas.openxmlformats.org/drawingml/2006/main">
            <a:off x="8010525" y="41910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Explain why the result follows</a:t>
            </a:r>
          </a:p>
        </p:txBody>
      </p:sp>
      <p:sp>
        <p:nvSpPr>
          <p:cNvPr id="17" name="">
            <a:extLst xmlns:a="http://schemas.openxmlformats.org/drawingml/2006/main">
              <a:ext uri="{FF2B5EF4-FFF2-40B4-BE49-F238E27FC236}">
                <a16:creationId xmlns:a16="http://schemas.microsoft.com/office/drawing/2014/main" id="{6206930F-4787-4034-A79A-4AAC4A9762C2}"/>
              </a:ext>
            </a:extLst>
          </p:cNvPr>
          <p:cNvSpPr>
            <a:spLocks xmlns:a="http://schemas.openxmlformats.org/drawingml/2006/main" noGrp="1"/>
          </p:cNvSpPr>
          <p:nvPr/>
        </p:nvSpPr>
        <p:spPr>
          <a:xfrm xmlns:a="http://schemas.openxmlformats.org/drawingml/2006/main">
            <a:off x="514350" y="5391150"/>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350" b="1">
                <a:solidFill>
                  <a:srgbClr val="7650F8"/>
                </a:solidFill>
              </a:defRPr>
            </a:pPr>
            <a:r>
              <a:rPr sz="1350" b="1">
                <a:solidFill>
                  <a:srgbClr val="7650F8"/>
                </a:solidFill>
              </a:rPr>
              <a:t>Open the lab guide for exact tasks, hints, recovery, and checker criteria.</a:t>
            </a:r>
          </a:p>
        </p:txBody>
      </p:sp>
    </p:spTree>
    <p:extLst>
      <p:ext uri="{BB962C8B-B14F-4D97-AF65-F5344CB8AC3E}">
        <p14:creationId xmlns:p14="http://schemas.microsoft.com/office/powerpoint/2010/main" val="701887653"/>
      </p:ext>
    </p:extLst>
  </p:cSld>
</p:sld>
</file>

<file path=ppt/slides/slide46.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513B0E8-D33D-47E6-8D1D-B02F5EBC7643}"/>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779DCF4-298F-4BCC-917C-AEEAE2092A24}"/>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4 · DEBRIEF</a:t>
            </a:r>
          </a:p>
        </p:txBody>
      </p:sp>
      <p:sp>
        <p:nvSpPr>
          <p:cNvPr id="3" name="">
            <a:extLst xmlns:a="http://schemas.openxmlformats.org/drawingml/2006/main">
              <a:ext uri="{FF2B5EF4-FFF2-40B4-BE49-F238E27FC236}">
                <a16:creationId xmlns:a16="http://schemas.microsoft.com/office/drawing/2014/main" id="{68833EEB-6D48-4E53-8771-2726B1DBB3EC}"/>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9AD5994A-EC10-45A0-9708-671756F2D753}"/>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46</a:t>
            </a:r>
          </a:p>
        </p:txBody>
      </p:sp>
      <p:sp>
        <p:nvSpPr>
          <p:cNvPr id="5" name="">
            <a:extLst xmlns:a="http://schemas.openxmlformats.org/drawingml/2006/main">
              <a:ext uri="{FF2B5EF4-FFF2-40B4-BE49-F238E27FC236}">
                <a16:creationId xmlns:a16="http://schemas.microsoft.com/office/drawing/2014/main" id="{B07E3D94-8D7E-4D60-A65A-37C4E1ABAF8C}"/>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Connect the result to the model</a:t>
            </a:r>
          </a:p>
        </p:txBody>
      </p:sp>
      <p:sp>
        <p:nvSpPr>
          <p:cNvPr id="6" name="">
            <a:extLst xmlns:a="http://schemas.openxmlformats.org/drawingml/2006/main">
              <a:ext uri="{FF2B5EF4-FFF2-40B4-BE49-F238E27FC236}">
                <a16:creationId xmlns:a16="http://schemas.microsoft.com/office/drawing/2014/main" id="{0BC2AC5F-95C0-45C3-9A7C-8FED28D36428}"/>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Package state is a chain of claims, not a single command result. Next, identity and permissions determine who may change those files and directories.</a:t>
            </a:r>
          </a:p>
        </p:txBody>
      </p:sp>
      <p:sp>
        <p:nvSpPr>
          <p:cNvPr id="7" name="">
            <a:extLst xmlns:a="http://schemas.openxmlformats.org/drawingml/2006/main">
              <a:ext uri="{FF2B5EF4-FFF2-40B4-BE49-F238E27FC236}">
                <a16:creationId xmlns:a16="http://schemas.microsoft.com/office/drawing/2014/main" id="{7F3EFC27-A277-4FD6-B4B5-CB7DD0536964}"/>
              </a:ext>
            </a:extLst>
          </p:cNvPr>
          <p:cNvSpPr>
            <a:spLocks xmlns:a="http://schemas.openxmlformats.org/drawingml/2006/main" noGrp="1"/>
          </p:cNvSpPr>
          <p:nvPr/>
        </p:nvSpPr>
        <p:spPr>
          <a:xfrm xmlns:a="http://schemas.openxmlformats.org/drawingml/2006/main">
            <a:off x="514350" y="2524125"/>
            <a:ext cx="10668000" cy="1219200"/>
          </a:xfrm>
          <a:prstGeom xmlns:a="http://schemas.openxmlformats.org/drawingml/2006/main" prst="roundRect">
            <a:avLst>
              <a:gd name="adj" fmla="val 9375"/>
            </a:avLst>
          </a:prstGeom>
          <a:solidFill xmlns:a="http://schemas.openxmlformats.org/drawingml/2006/main">
            <a:srgbClr val="F0E7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CDBBFA1-D098-4D2F-9C04-CE2C2A7E5130}"/>
              </a:ext>
            </a:extLst>
          </p:cNvPr>
          <p:cNvSpPr>
            <a:spLocks xmlns:a="http://schemas.openxmlformats.org/drawingml/2006/main" noGrp="1"/>
          </p:cNvSpPr>
          <p:nvPr/>
        </p:nvSpPr>
        <p:spPr>
          <a:xfrm xmlns:a="http://schemas.openxmlformats.org/drawingml/2006/main">
            <a:off x="762000" y="2686050"/>
            <a:ext cx="10191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1">
                <a:solidFill>
                  <a:srgbClr val="211729"/>
                </a:solidFill>
              </a:defRPr>
            </a:pPr>
            <a:r>
              <a:rPr sz="1725" b="1">
                <a:solidFill>
                  <a:srgbClr val="211729"/>
                </a:solidFill>
              </a:rPr>
              <a:t>Package state is a chain of claims, not a single command result. Next, identity and permissions determine who may change those files and directories.</a:t>
            </a:r>
          </a:p>
        </p:txBody>
      </p:sp>
      <p:sp>
        <p:nvSpPr>
          <p:cNvPr id="9" name="">
            <a:extLst xmlns:a="http://schemas.openxmlformats.org/drawingml/2006/main">
              <a:ext uri="{FF2B5EF4-FFF2-40B4-BE49-F238E27FC236}">
                <a16:creationId xmlns:a16="http://schemas.microsoft.com/office/drawing/2014/main" id="{665F9393-5F70-454D-A38B-B1F7EAA23F7B}"/>
              </a:ext>
            </a:extLst>
          </p:cNvPr>
          <p:cNvSpPr>
            <a:spLocks xmlns:a="http://schemas.openxmlformats.org/drawingml/2006/main" noGrp="1"/>
          </p:cNvSpPr>
          <p:nvPr/>
        </p:nvSpPr>
        <p:spPr>
          <a:xfrm xmlns:a="http://schemas.openxmlformats.org/drawingml/2006/main">
            <a:off x="762000" y="43243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AA1E5E2-E612-4C1E-A128-47A4FC2A0007}"/>
              </a:ext>
            </a:extLst>
          </p:cNvPr>
          <p:cNvSpPr>
            <a:spLocks xmlns:a="http://schemas.openxmlformats.org/drawingml/2006/main" noGrp="1"/>
          </p:cNvSpPr>
          <p:nvPr/>
        </p:nvSpPr>
        <p:spPr>
          <a:xfrm xmlns:a="http://schemas.openxmlformats.org/drawingml/2006/main">
            <a:off x="1009650" y="4095750"/>
            <a:ext cx="9658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What was declared or expected?</a:t>
            </a:r>
          </a:p>
        </p:txBody>
      </p:sp>
      <p:sp>
        <p:nvSpPr>
          <p:cNvPr id="11" name="">
            <a:extLst xmlns:a="http://schemas.openxmlformats.org/drawingml/2006/main">
              <a:ext uri="{FF2B5EF4-FFF2-40B4-BE49-F238E27FC236}">
                <a16:creationId xmlns:a16="http://schemas.microsoft.com/office/drawing/2014/main" id="{1E38D94D-A4FC-413D-99F2-E44044F4AE37}"/>
              </a:ext>
            </a:extLst>
          </p:cNvPr>
          <p:cNvSpPr>
            <a:spLocks xmlns:a="http://schemas.openxmlformats.org/drawingml/2006/main" noGrp="1"/>
          </p:cNvSpPr>
          <p:nvPr/>
        </p:nvSpPr>
        <p:spPr>
          <a:xfrm xmlns:a="http://schemas.openxmlformats.org/drawingml/2006/main">
            <a:off x="762000" y="49149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75B02AA-8036-421A-BEF6-A3A0009954C5}"/>
              </a:ext>
            </a:extLst>
          </p:cNvPr>
          <p:cNvSpPr>
            <a:spLocks xmlns:a="http://schemas.openxmlformats.org/drawingml/2006/main" noGrp="1"/>
          </p:cNvSpPr>
          <p:nvPr/>
        </p:nvSpPr>
        <p:spPr>
          <a:xfrm xmlns:a="http://schemas.openxmlformats.org/drawingml/2006/main">
            <a:off x="1009650" y="4686300"/>
            <a:ext cx="9658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What runtime state did you observe?</a:t>
            </a:r>
          </a:p>
        </p:txBody>
      </p:sp>
      <p:sp>
        <p:nvSpPr>
          <p:cNvPr id="13" name="">
            <a:extLst xmlns:a="http://schemas.openxmlformats.org/drawingml/2006/main">
              <a:ext uri="{FF2B5EF4-FFF2-40B4-BE49-F238E27FC236}">
                <a16:creationId xmlns:a16="http://schemas.microsoft.com/office/drawing/2014/main" id="{4C47B221-01ED-458E-B483-2EA5E581AD29}"/>
              </a:ext>
            </a:extLst>
          </p:cNvPr>
          <p:cNvSpPr>
            <a:spLocks xmlns:a="http://schemas.openxmlformats.org/drawingml/2006/main" noGrp="1"/>
          </p:cNvSpPr>
          <p:nvPr/>
        </p:nvSpPr>
        <p:spPr>
          <a:xfrm xmlns:a="http://schemas.openxmlformats.org/drawingml/2006/main">
            <a:off x="762000" y="55054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7BBCAB1-DB99-4228-B8A8-BD2C720A1AC6}"/>
              </a:ext>
            </a:extLst>
          </p:cNvPr>
          <p:cNvSpPr>
            <a:spLocks xmlns:a="http://schemas.openxmlformats.org/drawingml/2006/main" noGrp="1"/>
          </p:cNvSpPr>
          <p:nvPr/>
        </p:nvSpPr>
        <p:spPr>
          <a:xfrm xmlns:a="http://schemas.openxmlformats.org/drawingml/2006/main">
            <a:off x="1009650" y="5276850"/>
            <a:ext cx="9658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Which independent evidence closed the claim?</a:t>
            </a:r>
          </a:p>
        </p:txBody>
      </p:sp>
    </p:spTree>
    <p:extLst>
      <p:ext uri="{BB962C8B-B14F-4D97-AF65-F5344CB8AC3E}">
        <p14:creationId xmlns:p14="http://schemas.microsoft.com/office/powerpoint/2010/main" val="1015011640"/>
      </p:ext>
    </p:extLst>
  </p:cSld>
</p:sld>
</file>

<file path=ppt/slides/slide47.xml><?xml version="1.0" encoding="utf-8"?>
<p:sld xmlns:p="http://schemas.openxmlformats.org/presentationml/2006/main">
  <p:cSld>
    <p:bg>
      <p:bgPr>
        <a:solidFill xmlns:a="http://schemas.openxmlformats.org/drawingml/2006/main">
          <a:srgbClr val="180D2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DD1BAA3-0CD5-46B7-9D0D-B80BFEEBF3D0}"/>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FF6F6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CF4F4E5-62B0-4293-B320-B3A3E6672C79}"/>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FF6F61"/>
                </a:solidFill>
              </a:defRPr>
            </a:pPr>
            <a:r>
              <a:rPr sz="900" b="1">
                <a:solidFill>
                  <a:srgbClr val="FF6F61"/>
                </a:solidFill>
              </a:rPr>
              <a:t>MODULE 5</a:t>
            </a:r>
          </a:p>
        </p:txBody>
      </p:sp>
      <p:sp>
        <p:nvSpPr>
          <p:cNvPr id="3" name="">
            <a:extLst xmlns:a="http://schemas.openxmlformats.org/drawingml/2006/main">
              <a:ext uri="{FF2B5EF4-FFF2-40B4-BE49-F238E27FC236}">
                <a16:creationId xmlns:a16="http://schemas.microsoft.com/office/drawing/2014/main" id="{7C4CD416-731D-4923-B8EC-97BD834B582E}"/>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CFC5D5"/>
                </a:solidFill>
              </a:defRPr>
            </a:pPr>
            <a:r>
              <a:rPr sz="825" b="1">
                <a:solidFill>
                  <a:srgbClr val="CFC5D5"/>
                </a:solidFill>
              </a:rPr>
              <a:t>LINUX FOUNDATIONS</a:t>
            </a:r>
          </a:p>
        </p:txBody>
      </p:sp>
      <p:sp>
        <p:nvSpPr>
          <p:cNvPr id="4" name="">
            <a:extLst xmlns:a="http://schemas.openxmlformats.org/drawingml/2006/main">
              <a:ext uri="{FF2B5EF4-FFF2-40B4-BE49-F238E27FC236}">
                <a16:creationId xmlns:a16="http://schemas.microsoft.com/office/drawing/2014/main" id="{1513F6E4-BBFF-49AF-9E51-A4BFBB868820}"/>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AFA2B8"/>
                </a:solidFill>
              </a:defRPr>
            </a:pPr>
            <a:r>
              <a:rPr sz="825" b="0">
                <a:solidFill>
                  <a:srgbClr val="AFA2B8"/>
                </a:solidFill>
              </a:rPr>
              <a:t>47</a:t>
            </a:r>
          </a:p>
        </p:txBody>
      </p:sp>
      <p:sp>
        <p:nvSpPr>
          <p:cNvPr id="5" name="">
            <a:extLst xmlns:a="http://schemas.openxmlformats.org/drawingml/2006/main">
              <a:ext uri="{FF2B5EF4-FFF2-40B4-BE49-F238E27FC236}">
                <a16:creationId xmlns:a16="http://schemas.microsoft.com/office/drawing/2014/main" id="{EF940AD7-4627-475D-8184-D4061CB2E866}"/>
              </a:ext>
            </a:extLst>
          </p:cNvPr>
          <p:cNvSpPr>
            <a:spLocks xmlns:a="http://schemas.openxmlformats.org/drawingml/2006/main" noGrp="1"/>
          </p:cNvSpPr>
          <p:nvPr/>
        </p:nvSpPr>
        <p:spPr>
          <a:xfrm xmlns:a="http://schemas.openxmlformats.org/drawingml/2006/main">
            <a:off x="666750" y="1123950"/>
            <a:ext cx="1524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5400" b="1">
                <a:solidFill>
                  <a:srgbClr val="FF6F61"/>
                </a:solidFill>
              </a:defRPr>
            </a:pPr>
            <a:r>
              <a:rPr sz="5400" b="1">
                <a:solidFill>
                  <a:srgbClr val="FF6F61"/>
                </a:solidFill>
              </a:rPr>
              <a:t>05</a:t>
            </a:r>
          </a:p>
        </p:txBody>
      </p:sp>
      <p:sp>
        <p:nvSpPr>
          <p:cNvPr id="6" name="">
            <a:extLst xmlns:a="http://schemas.openxmlformats.org/drawingml/2006/main">
              <a:ext uri="{FF2B5EF4-FFF2-40B4-BE49-F238E27FC236}">
                <a16:creationId xmlns:a16="http://schemas.microsoft.com/office/drawing/2014/main" id="{F74FB71D-E048-4ECE-9C91-BD9A6C714925}"/>
              </a:ext>
            </a:extLst>
          </p:cNvPr>
          <p:cNvSpPr>
            <a:spLocks xmlns:a="http://schemas.openxmlformats.org/drawingml/2006/main" noGrp="1"/>
          </p:cNvSpPr>
          <p:nvPr/>
        </p:nvSpPr>
        <p:spPr>
          <a:xfrm xmlns:a="http://schemas.openxmlformats.org/drawingml/2006/main">
            <a:off x="2381250" y="1123950"/>
            <a:ext cx="8096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150" b="1">
                <a:solidFill>
                  <a:srgbClr val="FFFFFF"/>
                </a:solidFill>
              </a:defRPr>
            </a:pPr>
            <a:r>
              <a:rPr sz="3150" b="1">
                <a:solidFill>
                  <a:srgbClr val="FFFFFF"/>
                </a:solidFill>
              </a:rPr>
              <a:t>Users, groups, permissions, and shared directories</a:t>
            </a:r>
          </a:p>
        </p:txBody>
      </p:sp>
      <p:sp>
        <p:nvSpPr>
          <p:cNvPr id="7" name="">
            <a:extLst xmlns:a="http://schemas.openxmlformats.org/drawingml/2006/main">
              <a:ext uri="{FF2B5EF4-FFF2-40B4-BE49-F238E27FC236}">
                <a16:creationId xmlns:a16="http://schemas.microsoft.com/office/drawing/2014/main" id="{FB18700C-8543-483E-A9B0-A32E3CE133BA}"/>
              </a:ext>
            </a:extLst>
          </p:cNvPr>
          <p:cNvSpPr>
            <a:spLocks xmlns:a="http://schemas.openxmlformats.org/drawingml/2006/main" noGrp="1"/>
          </p:cNvSpPr>
          <p:nvPr/>
        </p:nvSpPr>
        <p:spPr>
          <a:xfrm xmlns:a="http://schemas.openxmlformats.org/drawingml/2006/main">
            <a:off x="2381250" y="2400300"/>
            <a:ext cx="7810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950" b="0">
                <a:solidFill>
                  <a:srgbClr val="E9DFED"/>
                </a:solidFill>
              </a:defRPr>
            </a:pPr>
            <a:r>
              <a:rPr sz="1950" b="0">
                <a:solidFill>
                  <a:srgbClr val="E9DFED"/>
                </a:solidFill>
              </a:rPr>
              <a:t>Why does one identity gain access while another is denied?</a:t>
            </a:r>
          </a:p>
        </p:txBody>
      </p:sp>
      <p:sp>
        <p:nvSpPr>
          <p:cNvPr id="8" name="">
            <a:extLst xmlns:a="http://schemas.openxmlformats.org/drawingml/2006/main">
              <a:ext uri="{FF2B5EF4-FFF2-40B4-BE49-F238E27FC236}">
                <a16:creationId xmlns:a16="http://schemas.microsoft.com/office/drawing/2014/main" id="{1BE76E02-96FD-4248-8E49-A6E8B1D5296E}"/>
              </a:ext>
            </a:extLst>
          </p:cNvPr>
          <p:cNvSpPr>
            <a:spLocks xmlns:a="http://schemas.openxmlformats.org/drawingml/2006/main" noGrp="1"/>
          </p:cNvSpPr>
          <p:nvPr/>
        </p:nvSpPr>
        <p:spPr>
          <a:xfrm xmlns:a="http://schemas.openxmlformats.org/drawingml/2006/main">
            <a:off x="2381250" y="3790950"/>
            <a:ext cx="6858000" cy="381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9B1D5A1E-AD48-42F3-AF94-2D627A8D4B47}"/>
              </a:ext>
            </a:extLst>
          </p:cNvPr>
          <p:cNvSpPr>
            <a:spLocks xmlns:a="http://schemas.openxmlformats.org/drawingml/2006/main" noGrp="1"/>
          </p:cNvSpPr>
          <p:nvPr/>
        </p:nvSpPr>
        <p:spPr>
          <a:xfrm xmlns:a="http://schemas.openxmlformats.org/drawingml/2006/main">
            <a:off x="2381250" y="400050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0">
                <a:solidFill>
                  <a:srgbClr val="BFB1C7"/>
                </a:solidFill>
              </a:defRPr>
            </a:pPr>
            <a:r>
              <a:rPr sz="1275" b="0">
                <a:solidFill>
                  <a:srgbClr val="BFB1C7"/>
                </a:solidFill>
              </a:rPr>
              <a:t>General Linux DAC · Ubuntu sudo</a:t>
            </a:r>
          </a:p>
        </p:txBody>
      </p:sp>
    </p:spTree>
    <p:extLst>
      <p:ext uri="{BB962C8B-B14F-4D97-AF65-F5344CB8AC3E}">
        <p14:creationId xmlns:p14="http://schemas.microsoft.com/office/powerpoint/2010/main" val="8044843"/>
      </p:ext>
    </p:extLst>
  </p:cSld>
</p:sld>
</file>

<file path=ppt/slides/slide48.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6F7901C-A245-40EB-A598-2E62948BB17E}"/>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62256AC-E3E7-4BFA-9DC1-93452FA8ADD5}"/>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5 · MODEL</a:t>
            </a:r>
          </a:p>
        </p:txBody>
      </p:sp>
      <p:sp>
        <p:nvSpPr>
          <p:cNvPr id="3" name="">
            <a:extLst xmlns:a="http://schemas.openxmlformats.org/drawingml/2006/main">
              <a:ext uri="{FF2B5EF4-FFF2-40B4-BE49-F238E27FC236}">
                <a16:creationId xmlns:a16="http://schemas.microsoft.com/office/drawing/2014/main" id="{5A97F52C-56A8-4ACA-BFD6-954D57218BDA}"/>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5D77D0F1-7E56-4090-A42B-627BEF3EC0DF}"/>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48</a:t>
            </a:r>
          </a:p>
        </p:txBody>
      </p:sp>
      <p:sp>
        <p:nvSpPr>
          <p:cNvPr id="5" name="">
            <a:extLst xmlns:a="http://schemas.openxmlformats.org/drawingml/2006/main">
              <a:ext uri="{FF2B5EF4-FFF2-40B4-BE49-F238E27FC236}">
                <a16:creationId xmlns:a16="http://schemas.microsoft.com/office/drawing/2014/main" id="{F8F2B4AF-90ED-4DF8-B3A9-348429C33B5B}"/>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Access checks begin with process identity</a:t>
            </a:r>
          </a:p>
        </p:txBody>
      </p:sp>
      <p:sp>
        <p:nvSpPr>
          <p:cNvPr id="6" name="">
            <a:extLst xmlns:a="http://schemas.openxmlformats.org/drawingml/2006/main">
              <a:ext uri="{FF2B5EF4-FFF2-40B4-BE49-F238E27FC236}">
                <a16:creationId xmlns:a16="http://schemas.microsoft.com/office/drawing/2014/main" id="{334FD222-FC94-427C-B2F1-580EC82C8408}"/>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For traditional mode bits, the kernel selects one class—owner, matching group, or other. It does not add the classes together.</a:t>
            </a:r>
          </a:p>
        </p:txBody>
      </p:sp>
      <p:sp>
        <p:nvSpPr>
          <p:cNvPr id="7" name="">
            <a:extLst xmlns:a="http://schemas.openxmlformats.org/drawingml/2006/main">
              <a:ext uri="{FF2B5EF4-FFF2-40B4-BE49-F238E27FC236}">
                <a16:creationId xmlns:a16="http://schemas.microsoft.com/office/drawing/2014/main" id="{939ABF0B-200B-4BDB-BB34-153DF279E762}"/>
              </a:ext>
            </a:extLst>
          </p:cNvPr>
          <p:cNvSpPr>
            <a:spLocks xmlns:a="http://schemas.openxmlformats.org/drawingml/2006/main" noGrp="1"/>
          </p:cNvSpPr>
          <p:nvPr/>
        </p:nvSpPr>
        <p:spPr>
          <a:xfrm xmlns:a="http://schemas.openxmlformats.org/drawingml/2006/main">
            <a:off x="781050" y="31051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6654BEC-B4BC-475F-B40A-466F3796941D}"/>
              </a:ext>
            </a:extLst>
          </p:cNvPr>
          <p:cNvSpPr>
            <a:spLocks xmlns:a="http://schemas.openxmlformats.org/drawingml/2006/main" noGrp="1"/>
          </p:cNvSpPr>
          <p:nvPr/>
        </p:nvSpPr>
        <p:spPr>
          <a:xfrm xmlns:a="http://schemas.openxmlformats.org/drawingml/2006/main">
            <a:off x="1028700" y="272415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The kernel authorizes numeric user and group identities. A process carries an effective user and a set of group credentials captured when its session starts.</a:t>
            </a:r>
          </a:p>
        </p:txBody>
      </p:sp>
      <p:sp>
        <p:nvSpPr>
          <p:cNvPr id="9" name="">
            <a:extLst xmlns:a="http://schemas.openxmlformats.org/drawingml/2006/main">
              <a:ext uri="{FF2B5EF4-FFF2-40B4-BE49-F238E27FC236}">
                <a16:creationId xmlns:a16="http://schemas.microsoft.com/office/drawing/2014/main" id="{13F50BF7-26C3-4D44-99C3-8ABFF79026D6}"/>
              </a:ext>
            </a:extLst>
          </p:cNvPr>
          <p:cNvSpPr>
            <a:spLocks xmlns:a="http://schemas.openxmlformats.org/drawingml/2006/main" noGrp="1"/>
          </p:cNvSpPr>
          <p:nvPr/>
        </p:nvSpPr>
        <p:spPr>
          <a:xfrm xmlns:a="http://schemas.openxmlformats.org/drawingml/2006/main">
            <a:off x="781050" y="40005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BCFE601-845A-4471-B912-3426F44E13A2}"/>
              </a:ext>
            </a:extLst>
          </p:cNvPr>
          <p:cNvSpPr>
            <a:spLocks xmlns:a="http://schemas.openxmlformats.org/drawingml/2006/main" noGrp="1"/>
          </p:cNvSpPr>
          <p:nvPr/>
        </p:nvSpPr>
        <p:spPr>
          <a:xfrm xmlns:a="http://schemas.openxmlformats.org/drawingml/2006/main">
            <a:off x="1028700" y="361950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For traditional mode bits, the kernel selects one class—owner, matching group, or other. It does not add the classes together.</a:t>
            </a:r>
          </a:p>
        </p:txBody>
      </p:sp>
    </p:spTree>
    <p:extLst>
      <p:ext uri="{BB962C8B-B14F-4D97-AF65-F5344CB8AC3E}">
        <p14:creationId xmlns:p14="http://schemas.microsoft.com/office/powerpoint/2010/main" val="1850984355"/>
      </p:ext>
    </p:extLst>
  </p:cSld>
</p:sld>
</file>

<file path=ppt/slides/slide49.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748FFCF-766B-4C44-8300-DEE241A28EE8}"/>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FA32577-EC61-4844-8281-16D4456E293B}"/>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5 · MODEL</a:t>
            </a:r>
          </a:p>
        </p:txBody>
      </p:sp>
      <p:sp>
        <p:nvSpPr>
          <p:cNvPr id="3" name="">
            <a:extLst xmlns:a="http://schemas.openxmlformats.org/drawingml/2006/main">
              <a:ext uri="{FF2B5EF4-FFF2-40B4-BE49-F238E27FC236}">
                <a16:creationId xmlns:a16="http://schemas.microsoft.com/office/drawing/2014/main" id="{157EDCFC-543C-493A-B8F8-2CCA326D857D}"/>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0630D169-B377-4B57-8083-761A17B78548}"/>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49</a:t>
            </a:r>
          </a:p>
        </p:txBody>
      </p:sp>
      <p:sp>
        <p:nvSpPr>
          <p:cNvPr id="5" name="">
            <a:extLst xmlns:a="http://schemas.openxmlformats.org/drawingml/2006/main">
              <a:ext uri="{FF2B5EF4-FFF2-40B4-BE49-F238E27FC236}">
                <a16:creationId xmlns:a16="http://schemas.microsoft.com/office/drawing/2014/main" id="{462A65B8-126D-4CAC-B11F-7D399EEE8A0E}"/>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Directory permissions govern path operations</a:t>
            </a:r>
          </a:p>
        </p:txBody>
      </p:sp>
      <p:sp>
        <p:nvSpPr>
          <p:cNvPr id="6" name="">
            <a:extLst xmlns:a="http://schemas.openxmlformats.org/drawingml/2006/main">
              <a:ext uri="{FF2B5EF4-FFF2-40B4-BE49-F238E27FC236}">
                <a16:creationId xmlns:a16="http://schemas.microsoft.com/office/drawing/2014/main" id="{CD65DF0C-EE2D-45C8-87AE-302767EB1B0C}"/>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setgid on a shared directory makes new objects inherit its group. Sticky controls who may remove names in a broadly writable directory.</a:t>
            </a:r>
          </a:p>
        </p:txBody>
      </p:sp>
      <p:sp>
        <p:nvSpPr>
          <p:cNvPr id="7" name="">
            <a:extLst xmlns:a="http://schemas.openxmlformats.org/drawingml/2006/main">
              <a:ext uri="{FF2B5EF4-FFF2-40B4-BE49-F238E27FC236}">
                <a16:creationId xmlns:a16="http://schemas.microsoft.com/office/drawing/2014/main" id="{2D6E80C2-4E1E-484B-AE01-7F257F8D97CC}"/>
              </a:ext>
            </a:extLst>
          </p:cNvPr>
          <p:cNvSpPr>
            <a:spLocks xmlns:a="http://schemas.openxmlformats.org/drawingml/2006/main" noGrp="1"/>
          </p:cNvSpPr>
          <p:nvPr/>
        </p:nvSpPr>
        <p:spPr>
          <a:xfrm xmlns:a="http://schemas.openxmlformats.org/drawingml/2006/main">
            <a:off x="781050" y="31051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5C00CDB-A4D8-4CAE-9AF2-032192392314}"/>
              </a:ext>
            </a:extLst>
          </p:cNvPr>
          <p:cNvSpPr>
            <a:spLocks xmlns:a="http://schemas.openxmlformats.org/drawingml/2006/main" noGrp="1"/>
          </p:cNvSpPr>
          <p:nvPr/>
        </p:nvSpPr>
        <p:spPr>
          <a:xfrm xmlns:a="http://schemas.openxmlformats.org/drawingml/2006/main">
            <a:off x="1028700" y="272415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On directories, r lists names, w changes names, and x traverses or searches. Access to a file requires x on every parent directory.</a:t>
            </a:r>
          </a:p>
        </p:txBody>
      </p:sp>
      <p:sp>
        <p:nvSpPr>
          <p:cNvPr id="9" name="">
            <a:extLst xmlns:a="http://schemas.openxmlformats.org/drawingml/2006/main">
              <a:ext uri="{FF2B5EF4-FFF2-40B4-BE49-F238E27FC236}">
                <a16:creationId xmlns:a16="http://schemas.microsoft.com/office/drawing/2014/main" id="{737EE9CC-5788-4E0C-840E-8C08C2BFEA5A}"/>
              </a:ext>
            </a:extLst>
          </p:cNvPr>
          <p:cNvSpPr>
            <a:spLocks xmlns:a="http://schemas.openxmlformats.org/drawingml/2006/main" noGrp="1"/>
          </p:cNvSpPr>
          <p:nvPr/>
        </p:nvSpPr>
        <p:spPr>
          <a:xfrm xmlns:a="http://schemas.openxmlformats.org/drawingml/2006/main">
            <a:off x="781050" y="40005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E89F529-462C-40A3-9BF1-7B7038539329}"/>
              </a:ext>
            </a:extLst>
          </p:cNvPr>
          <p:cNvSpPr>
            <a:spLocks xmlns:a="http://schemas.openxmlformats.org/drawingml/2006/main" noGrp="1"/>
          </p:cNvSpPr>
          <p:nvPr/>
        </p:nvSpPr>
        <p:spPr>
          <a:xfrm xmlns:a="http://schemas.openxmlformats.org/drawingml/2006/main">
            <a:off x="1028700" y="361950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setgid on a shared directory makes new objects inherit its group. Sticky controls who may remove names in a broadly writable directory.</a:t>
            </a:r>
          </a:p>
        </p:txBody>
      </p:sp>
    </p:spTree>
    <p:extLst>
      <p:ext uri="{BB962C8B-B14F-4D97-AF65-F5344CB8AC3E}">
        <p14:creationId xmlns:p14="http://schemas.microsoft.com/office/powerpoint/2010/main" val="948440748"/>
      </p:ext>
    </p:extLst>
  </p:cSld>
</p:sld>
</file>

<file path=ppt/slides/slide50.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F086326C-8875-4989-92B5-BBD551569112}"/>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30450B1-14B7-4EE2-BAD6-427604316338}"/>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5 · BUILD THE MODEL</a:t>
            </a:r>
          </a:p>
        </p:txBody>
      </p:sp>
      <p:sp>
        <p:nvSpPr>
          <p:cNvPr id="3" name="">
            <a:extLst xmlns:a="http://schemas.openxmlformats.org/drawingml/2006/main">
              <a:ext uri="{FF2B5EF4-FFF2-40B4-BE49-F238E27FC236}">
                <a16:creationId xmlns:a16="http://schemas.microsoft.com/office/drawing/2014/main" id="{09201D5A-F6E5-41C4-BE3D-9E587E42C19F}"/>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D79AADF8-A9F7-4341-BE2D-0ADA7363F966}"/>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50</a:t>
            </a:r>
          </a:p>
        </p:txBody>
      </p:sp>
      <p:sp>
        <p:nvSpPr>
          <p:cNvPr id="5" name="">
            <a:extLst xmlns:a="http://schemas.openxmlformats.org/drawingml/2006/main">
              <a:ext uri="{FF2B5EF4-FFF2-40B4-BE49-F238E27FC236}">
                <a16:creationId xmlns:a16="http://schemas.microsoft.com/office/drawing/2014/main" id="{5648DA64-683B-484C-9699-BA9C0317B1BA}"/>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Permission diagnosis follows a fixed decision order</a:t>
            </a:r>
          </a:p>
        </p:txBody>
      </p:sp>
      <p:sp>
        <p:nvSpPr>
          <p:cNvPr id="6" name="">
            <a:extLst xmlns:a="http://schemas.openxmlformats.org/drawingml/2006/main">
              <a:ext uri="{FF2B5EF4-FFF2-40B4-BE49-F238E27FC236}">
                <a16:creationId xmlns:a16="http://schemas.microsoft.com/office/drawing/2014/main" id="{C4938924-7B6B-4D1B-806D-75CA54EF0B0A}"/>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Do not jump directly to chmod; first identify which check failed.</a:t>
            </a:r>
          </a:p>
        </p:txBody>
      </p:sp>
      <p:sp>
        <p:nvSpPr>
          <p:cNvPr id="7" name="">
            <a:extLst xmlns:a="http://schemas.openxmlformats.org/drawingml/2006/main">
              <a:ext uri="{FF2B5EF4-FFF2-40B4-BE49-F238E27FC236}">
                <a16:creationId xmlns:a16="http://schemas.microsoft.com/office/drawing/2014/main" id="{0BF0F284-3463-4EF5-8E23-7E2C1D3EC999}"/>
              </a:ext>
            </a:extLst>
          </p:cNvPr>
          <p:cNvSpPr>
            <a:spLocks xmlns:a="http://schemas.openxmlformats.org/drawingml/2006/main" noGrp="1"/>
          </p:cNvSpPr>
          <p:nvPr/>
        </p:nvSpPr>
        <p:spPr>
          <a:xfrm xmlns:a="http://schemas.openxmlformats.org/drawingml/2006/main">
            <a:off x="781050" y="29622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B7C359B-08CD-491F-8998-5C37611A3554}"/>
              </a:ext>
            </a:extLst>
          </p:cNvPr>
          <p:cNvSpPr>
            <a:spLocks xmlns:a="http://schemas.openxmlformats.org/drawingml/2006/main" noGrp="1"/>
          </p:cNvSpPr>
          <p:nvPr/>
        </p:nvSpPr>
        <p:spPr>
          <a:xfrm xmlns:a="http://schemas.openxmlformats.org/drawingml/2006/main">
            <a:off x="1028700" y="27241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Identify the process user and supplementary groups</a:t>
            </a:r>
          </a:p>
        </p:txBody>
      </p:sp>
      <p:sp>
        <p:nvSpPr>
          <p:cNvPr id="9" name="">
            <a:extLst xmlns:a="http://schemas.openxmlformats.org/drawingml/2006/main">
              <a:ext uri="{FF2B5EF4-FFF2-40B4-BE49-F238E27FC236}">
                <a16:creationId xmlns:a16="http://schemas.microsoft.com/office/drawing/2014/main" id="{37AEFB89-3BBD-4A0F-877D-3CF90204A6BB}"/>
              </a:ext>
            </a:extLst>
          </p:cNvPr>
          <p:cNvSpPr>
            <a:spLocks xmlns:a="http://schemas.openxmlformats.org/drawingml/2006/main" noGrp="1"/>
          </p:cNvSpPr>
          <p:nvPr/>
        </p:nvSpPr>
        <p:spPr>
          <a:xfrm xmlns:a="http://schemas.openxmlformats.org/drawingml/2006/main">
            <a:off x="781050" y="35718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428F405-5D00-488E-9ED6-389AF74F1D68}"/>
              </a:ext>
            </a:extLst>
          </p:cNvPr>
          <p:cNvSpPr>
            <a:spLocks xmlns:a="http://schemas.openxmlformats.org/drawingml/2006/main" noGrp="1"/>
          </p:cNvSpPr>
          <p:nvPr/>
        </p:nvSpPr>
        <p:spPr>
          <a:xfrm xmlns:a="http://schemas.openxmlformats.org/drawingml/2006/main">
            <a:off x="1028700" y="33337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Check search permission on every parent directory</a:t>
            </a:r>
          </a:p>
        </p:txBody>
      </p:sp>
      <p:sp>
        <p:nvSpPr>
          <p:cNvPr id="11" name="">
            <a:extLst xmlns:a="http://schemas.openxmlformats.org/drawingml/2006/main">
              <a:ext uri="{FF2B5EF4-FFF2-40B4-BE49-F238E27FC236}">
                <a16:creationId xmlns:a16="http://schemas.microsoft.com/office/drawing/2014/main" id="{D0993068-B41F-4E63-93CC-6CE54865E057}"/>
              </a:ext>
            </a:extLst>
          </p:cNvPr>
          <p:cNvSpPr>
            <a:spLocks xmlns:a="http://schemas.openxmlformats.org/drawingml/2006/main" noGrp="1"/>
          </p:cNvSpPr>
          <p:nvPr/>
        </p:nvSpPr>
        <p:spPr>
          <a:xfrm xmlns:a="http://schemas.openxmlformats.org/drawingml/2006/main">
            <a:off x="781050" y="41814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5E965D8-8715-4BBF-AD11-EB87B53BA45D}"/>
              </a:ext>
            </a:extLst>
          </p:cNvPr>
          <p:cNvSpPr>
            <a:spLocks xmlns:a="http://schemas.openxmlformats.org/drawingml/2006/main" noGrp="1"/>
          </p:cNvSpPr>
          <p:nvPr/>
        </p:nvSpPr>
        <p:spPr>
          <a:xfrm xmlns:a="http://schemas.openxmlformats.org/drawingml/2006/main">
            <a:off x="1028700" y="39433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Select owner, matching group, or other mode bits</a:t>
            </a:r>
          </a:p>
        </p:txBody>
      </p:sp>
      <p:sp>
        <p:nvSpPr>
          <p:cNvPr id="13" name="">
            <a:extLst xmlns:a="http://schemas.openxmlformats.org/drawingml/2006/main">
              <a:ext uri="{FF2B5EF4-FFF2-40B4-BE49-F238E27FC236}">
                <a16:creationId xmlns:a16="http://schemas.microsoft.com/office/drawing/2014/main" id="{8AA20F9D-530F-48C5-86D8-3EBA6C4EDD0F}"/>
              </a:ext>
            </a:extLst>
          </p:cNvPr>
          <p:cNvSpPr>
            <a:spLocks xmlns:a="http://schemas.openxmlformats.org/drawingml/2006/main" noGrp="1"/>
          </p:cNvSpPr>
          <p:nvPr/>
        </p:nvSpPr>
        <p:spPr>
          <a:xfrm xmlns:a="http://schemas.openxmlformats.org/drawingml/2006/main">
            <a:off x="781050" y="47910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E44BD44-E5D8-443A-9C86-1BF2A56232D3}"/>
              </a:ext>
            </a:extLst>
          </p:cNvPr>
          <p:cNvSpPr>
            <a:spLocks xmlns:a="http://schemas.openxmlformats.org/drawingml/2006/main" noGrp="1"/>
          </p:cNvSpPr>
          <p:nvPr/>
        </p:nvSpPr>
        <p:spPr>
          <a:xfrm xmlns:a="http://schemas.openxmlformats.org/drawingml/2006/main">
            <a:off x="1028700" y="45529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Test the exact read, write, create, or remove operation</a:t>
            </a:r>
          </a:p>
        </p:txBody>
      </p:sp>
    </p:spTree>
    <p:extLst>
      <p:ext uri="{BB962C8B-B14F-4D97-AF65-F5344CB8AC3E}">
        <p14:creationId xmlns:p14="http://schemas.microsoft.com/office/powerpoint/2010/main" val="38168489"/>
      </p:ext>
    </p:extLst>
  </p:cSld>
</p:sld>
</file>

<file path=ppt/slides/slide51.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ABFB1C7-0B8D-4917-B760-6DDD2FBEE913}"/>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7BA6CD1-0840-4D57-805F-9990AB9154B7}"/>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5 · WORKED EXAMPLE</a:t>
            </a:r>
          </a:p>
        </p:txBody>
      </p:sp>
      <p:sp>
        <p:nvSpPr>
          <p:cNvPr id="3" name="">
            <a:extLst xmlns:a="http://schemas.openxmlformats.org/drawingml/2006/main">
              <a:ext uri="{FF2B5EF4-FFF2-40B4-BE49-F238E27FC236}">
                <a16:creationId xmlns:a16="http://schemas.microsoft.com/office/drawing/2014/main" id="{A283BBA4-452B-4ACD-B5B6-6317547A9BDF}"/>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550DC211-245E-4A48-8DB2-E1FF7E23310C}"/>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51</a:t>
            </a:r>
          </a:p>
        </p:txBody>
      </p:sp>
      <p:sp>
        <p:nvSpPr>
          <p:cNvPr id="5" name="">
            <a:extLst xmlns:a="http://schemas.openxmlformats.org/drawingml/2006/main">
              <a:ext uri="{FF2B5EF4-FFF2-40B4-BE49-F238E27FC236}">
                <a16:creationId xmlns:a16="http://schemas.microsoft.com/office/drawing/2014/main" id="{D7BF2D04-45F9-450B-A726-136205CAD855}"/>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Repair from identity outward</a:t>
            </a:r>
          </a:p>
        </p:txBody>
      </p:sp>
      <p:sp>
        <p:nvSpPr>
          <p:cNvPr id="6" name="">
            <a:extLst xmlns:a="http://schemas.openxmlformats.org/drawingml/2006/main">
              <a:ext uri="{FF2B5EF4-FFF2-40B4-BE49-F238E27FC236}">
                <a16:creationId xmlns:a16="http://schemas.microsoft.com/office/drawing/2014/main" id="{BDFBABF0-B61A-40DE-8ACA-A52CE2A51B15}"/>
              </a:ext>
            </a:extLst>
          </p:cNvPr>
          <p:cNvSpPr>
            <a:spLocks xmlns:a="http://schemas.openxmlformats.org/drawingml/2006/main" noGrp="1"/>
          </p:cNvSpPr>
          <p:nvPr/>
        </p:nvSpPr>
        <p:spPr>
          <a:xfrm xmlns:a="http://schemas.openxmlformats.org/drawingml/2006/main">
            <a:off x="514350" y="2400300"/>
            <a:ext cx="6191250" cy="2857500"/>
          </a:xfrm>
          <a:prstGeom xmlns:a="http://schemas.openxmlformats.org/drawingml/2006/main" prst="roundRect">
            <a:avLst>
              <a:gd name="adj" fmla="val 4000"/>
            </a:avLst>
          </a:prstGeom>
          <a:solidFill xmlns:a="http://schemas.openxmlformats.org/drawingml/2006/main">
            <a:srgbClr val="180D25"/>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646616C-4533-46AE-AC14-61237B3D6C29}"/>
              </a:ext>
            </a:extLst>
          </p:cNvPr>
          <p:cNvSpPr>
            <a:spLocks xmlns:a="http://schemas.openxmlformats.org/drawingml/2006/main" noGrp="1"/>
          </p:cNvSpPr>
          <p:nvPr/>
        </p:nvSpPr>
        <p:spPr>
          <a:xfrm xmlns:a="http://schemas.openxmlformats.org/drawingml/2006/main">
            <a:off x="781050" y="2647950"/>
            <a:ext cx="5667375" cy="2333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F7F1FA"/>
                </a:solidFill>
              </a:defRPr>
            </a:pPr>
            <a:r>
              <a:rPr sz="1575" b="0">
                <a:solidFill>
                  <a:srgbClr val="F7F1FA"/>
                </a:solidFill>
              </a:rPr>
              <a:t>id alice</a:t>
            </a:r>
          </a:p>
          <a:p xmlns:a="http://schemas.openxmlformats.org/drawingml/2006/main">
            <a:pPr algn="l">
              <a:buNone/>
              <a:defRPr sz="1575" b="0">
                <a:solidFill>
                  <a:srgbClr val="F7F1FA"/>
                </a:solidFill>
              </a:defRPr>
            </a:pPr>
            <a:r>
              <a:rPr sz="1575" b="0">
                <a:solidFill>
                  <a:srgbClr val="F7F1FA"/>
                </a:solidFill>
              </a:rPr>
              <a:t>namei -l /srv/team-share/report.txt</a:t>
            </a:r>
          </a:p>
          <a:p xmlns:a="http://schemas.openxmlformats.org/drawingml/2006/main">
            <a:pPr algn="l">
              <a:buNone/>
              <a:defRPr sz="1575" b="0">
                <a:solidFill>
                  <a:srgbClr val="F7F1FA"/>
                </a:solidFill>
              </a:defRPr>
            </a:pPr>
            <a:r>
              <a:rPr sz="1575" b="0">
                <a:solidFill>
                  <a:srgbClr val="F7F1FA"/>
                </a:solidFill>
              </a:rPr>
              <a:t>sudo chown root:webteam /srv/team-share</a:t>
            </a:r>
          </a:p>
          <a:p xmlns:a="http://schemas.openxmlformats.org/drawingml/2006/main">
            <a:pPr algn="l">
              <a:buNone/>
              <a:defRPr sz="1575" b="0">
                <a:solidFill>
                  <a:srgbClr val="F7F1FA"/>
                </a:solidFill>
              </a:defRPr>
            </a:pPr>
            <a:r>
              <a:rPr sz="1575" b="0">
                <a:solidFill>
                  <a:srgbClr val="F7F1FA"/>
                </a:solidFill>
              </a:rPr>
              <a:t>sudo chmod 2770 /srv/team-share</a:t>
            </a:r>
          </a:p>
          <a:p xmlns:a="http://schemas.openxmlformats.org/drawingml/2006/main">
            <a:pPr algn="l">
              <a:buNone/>
              <a:defRPr sz="1575" b="0">
                <a:solidFill>
                  <a:srgbClr val="F7F1FA"/>
                </a:solidFill>
              </a:defRPr>
            </a:pPr>
            <a:r>
              <a:rPr sz="1575" b="0">
                <a:solidFill>
                  <a:srgbClr val="F7F1FA"/>
                </a:solidFill>
              </a:rPr>
              <a:t>sudo -u alice test -w /srv/team-share</a:t>
            </a:r>
          </a:p>
        </p:txBody>
      </p:sp>
      <p:sp>
        <p:nvSpPr>
          <p:cNvPr id="8" name="">
            <a:extLst xmlns:a="http://schemas.openxmlformats.org/drawingml/2006/main">
              <a:ext uri="{FF2B5EF4-FFF2-40B4-BE49-F238E27FC236}">
                <a16:creationId xmlns:a16="http://schemas.microsoft.com/office/drawing/2014/main" id="{7324641B-D131-4DE8-A579-3F2AA8C71294}"/>
              </a:ext>
            </a:extLst>
          </p:cNvPr>
          <p:cNvSpPr>
            <a:spLocks xmlns:a="http://schemas.openxmlformats.org/drawingml/2006/main" noGrp="1"/>
          </p:cNvSpPr>
          <p:nvPr/>
        </p:nvSpPr>
        <p:spPr>
          <a:xfrm xmlns:a="http://schemas.openxmlformats.org/drawingml/2006/main">
            <a:off x="7143750" y="27336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F439E52-2F55-4791-8604-B4B99B4BAF28}"/>
              </a:ext>
            </a:extLst>
          </p:cNvPr>
          <p:cNvSpPr>
            <a:spLocks xmlns:a="http://schemas.openxmlformats.org/drawingml/2006/main" noGrp="1"/>
          </p:cNvSpPr>
          <p:nvPr/>
        </p:nvSpPr>
        <p:spPr>
          <a:xfrm xmlns:a="http://schemas.openxmlformats.org/drawingml/2006/main">
            <a:off x="7391400" y="2428875"/>
            <a:ext cx="3848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id shows the credentials used for access checks.</a:t>
            </a:r>
          </a:p>
        </p:txBody>
      </p:sp>
      <p:sp>
        <p:nvSpPr>
          <p:cNvPr id="10" name="">
            <a:extLst xmlns:a="http://schemas.openxmlformats.org/drawingml/2006/main">
              <a:ext uri="{FF2B5EF4-FFF2-40B4-BE49-F238E27FC236}">
                <a16:creationId xmlns:a16="http://schemas.microsoft.com/office/drawing/2014/main" id="{7906F431-8176-43D8-8BC5-D77B51A63001}"/>
              </a:ext>
            </a:extLst>
          </p:cNvPr>
          <p:cNvSpPr>
            <a:spLocks xmlns:a="http://schemas.openxmlformats.org/drawingml/2006/main" noGrp="1"/>
          </p:cNvSpPr>
          <p:nvPr/>
        </p:nvSpPr>
        <p:spPr>
          <a:xfrm xmlns:a="http://schemas.openxmlformats.org/drawingml/2006/main">
            <a:off x="7143750" y="347662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347C1D8-AA2D-47E0-8634-BC0A0E4DE185}"/>
              </a:ext>
            </a:extLst>
          </p:cNvPr>
          <p:cNvSpPr>
            <a:spLocks xmlns:a="http://schemas.openxmlformats.org/drawingml/2006/main" noGrp="1"/>
          </p:cNvSpPr>
          <p:nvPr/>
        </p:nvSpPr>
        <p:spPr>
          <a:xfrm xmlns:a="http://schemas.openxmlformats.org/drawingml/2006/main">
            <a:off x="7391400" y="3171825"/>
            <a:ext cx="3848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namei -l exposes every path component.</a:t>
            </a:r>
          </a:p>
        </p:txBody>
      </p:sp>
      <p:sp>
        <p:nvSpPr>
          <p:cNvPr id="12" name="">
            <a:extLst xmlns:a="http://schemas.openxmlformats.org/drawingml/2006/main">
              <a:ext uri="{FF2B5EF4-FFF2-40B4-BE49-F238E27FC236}">
                <a16:creationId xmlns:a16="http://schemas.microsoft.com/office/drawing/2014/main" id="{E9D35DAF-B78F-470B-80D4-F17BDA5478EC}"/>
              </a:ext>
            </a:extLst>
          </p:cNvPr>
          <p:cNvSpPr>
            <a:spLocks xmlns:a="http://schemas.openxmlformats.org/drawingml/2006/main" noGrp="1"/>
          </p:cNvSpPr>
          <p:nvPr/>
        </p:nvSpPr>
        <p:spPr>
          <a:xfrm xmlns:a="http://schemas.openxmlformats.org/drawingml/2006/main">
            <a:off x="7143750" y="42195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D2DB5205-A56F-4DBB-BA1B-BDAA5FCBD583}"/>
              </a:ext>
            </a:extLst>
          </p:cNvPr>
          <p:cNvSpPr>
            <a:spLocks xmlns:a="http://schemas.openxmlformats.org/drawingml/2006/main" noGrp="1"/>
          </p:cNvSpPr>
          <p:nvPr/>
        </p:nvSpPr>
        <p:spPr>
          <a:xfrm xmlns:a="http://schemas.openxmlformats.org/drawingml/2006/main">
            <a:off x="7391400" y="3914775"/>
            <a:ext cx="3848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sudo -u tests the policy as the identity that matters.</a:t>
            </a:r>
          </a:p>
        </p:txBody>
      </p:sp>
    </p:spTree>
    <p:extLst>
      <p:ext uri="{BB962C8B-B14F-4D97-AF65-F5344CB8AC3E}">
        <p14:creationId xmlns:p14="http://schemas.microsoft.com/office/powerpoint/2010/main" val="2093873803"/>
      </p:ext>
    </p:extLst>
  </p:cSld>
</p:sld>
</file>

<file path=ppt/slides/slide52.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9BD77B08-1E1C-42ED-A868-D043EADDAB86}"/>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976E9C0-4414-4753-B406-AF05CB250BAB}"/>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5 · GUIDED COMMANDS</a:t>
            </a:r>
          </a:p>
        </p:txBody>
      </p:sp>
      <p:sp>
        <p:nvSpPr>
          <p:cNvPr id="3" name="">
            <a:extLst xmlns:a="http://schemas.openxmlformats.org/drawingml/2006/main">
              <a:ext uri="{FF2B5EF4-FFF2-40B4-BE49-F238E27FC236}">
                <a16:creationId xmlns:a16="http://schemas.microsoft.com/office/drawing/2014/main" id="{832E2400-F0EA-4B28-B7E6-3CEF9FF38B36}"/>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2122F808-74E7-4A0E-A3F5-2CD896251374}"/>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52</a:t>
            </a:r>
          </a:p>
        </p:txBody>
      </p:sp>
      <p:sp>
        <p:nvSpPr>
          <p:cNvPr id="5" name="">
            <a:extLst xmlns:a="http://schemas.openxmlformats.org/drawingml/2006/main">
              <a:ext uri="{FF2B5EF4-FFF2-40B4-BE49-F238E27FC236}">
                <a16:creationId xmlns:a16="http://schemas.microsoft.com/office/drawing/2014/main" id="{1DF48F02-B600-4092-9F12-77645CDF2919}"/>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These commands are tools for specific questions</a:t>
            </a:r>
          </a:p>
        </p:txBody>
      </p:sp>
      <p:sp>
        <p:nvSpPr>
          <p:cNvPr id="6" name="">
            <a:extLst xmlns:a="http://schemas.openxmlformats.org/drawingml/2006/main">
              <a:ext uri="{FF2B5EF4-FFF2-40B4-BE49-F238E27FC236}">
                <a16:creationId xmlns:a16="http://schemas.microsoft.com/office/drawing/2014/main" id="{CBA103EF-D5B4-4E70-A3D9-C8CB98AAB46C}"/>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The lab guide repeats syntax and expected evidence; memorization is not required.</a:t>
            </a:r>
          </a:p>
        </p:txBody>
      </p:sp>
      <p:sp>
        <p:nvSpPr>
          <p:cNvPr id="7" name="">
            <a:extLst xmlns:a="http://schemas.openxmlformats.org/drawingml/2006/main">
              <a:ext uri="{FF2B5EF4-FFF2-40B4-BE49-F238E27FC236}">
                <a16:creationId xmlns:a16="http://schemas.microsoft.com/office/drawing/2014/main" id="{D62FEDA1-9607-49B7-BBD2-E935790663AD}"/>
              </a:ext>
            </a:extLst>
          </p:cNvPr>
          <p:cNvSpPr>
            <a:spLocks xmlns:a="http://schemas.openxmlformats.org/drawingml/2006/main" noGrp="1"/>
          </p:cNvSpPr>
          <p:nvPr/>
        </p:nvSpPr>
        <p:spPr>
          <a:xfrm xmlns:a="http://schemas.openxmlformats.org/drawingml/2006/main">
            <a:off x="685800" y="24003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id USER</a:t>
            </a:r>
          </a:p>
        </p:txBody>
      </p:sp>
      <p:sp>
        <p:nvSpPr>
          <p:cNvPr id="8" name="">
            <a:extLst xmlns:a="http://schemas.openxmlformats.org/drawingml/2006/main">
              <a:ext uri="{FF2B5EF4-FFF2-40B4-BE49-F238E27FC236}">
                <a16:creationId xmlns:a16="http://schemas.microsoft.com/office/drawing/2014/main" id="{6EA13404-A3F0-4604-B64E-99D70D84C419}"/>
              </a:ext>
            </a:extLst>
          </p:cNvPr>
          <p:cNvSpPr>
            <a:spLocks xmlns:a="http://schemas.openxmlformats.org/drawingml/2006/main" noGrp="1"/>
          </p:cNvSpPr>
          <p:nvPr/>
        </p:nvSpPr>
        <p:spPr>
          <a:xfrm xmlns:a="http://schemas.openxmlformats.org/drawingml/2006/main">
            <a:off x="3810000" y="24003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show UID, primary group, and supplementary groups</a:t>
            </a:r>
          </a:p>
        </p:txBody>
      </p:sp>
      <p:sp>
        <p:nvSpPr>
          <p:cNvPr id="9" name="">
            <a:extLst xmlns:a="http://schemas.openxmlformats.org/drawingml/2006/main">
              <a:ext uri="{FF2B5EF4-FFF2-40B4-BE49-F238E27FC236}">
                <a16:creationId xmlns:a16="http://schemas.microsoft.com/office/drawing/2014/main" id="{C1E2810A-C3D6-460B-9278-7DE04FFC028C}"/>
              </a:ext>
            </a:extLst>
          </p:cNvPr>
          <p:cNvSpPr>
            <a:spLocks xmlns:a="http://schemas.openxmlformats.org/drawingml/2006/main" noGrp="1"/>
          </p:cNvSpPr>
          <p:nvPr/>
        </p:nvSpPr>
        <p:spPr>
          <a:xfrm xmlns:a="http://schemas.openxmlformats.org/drawingml/2006/main">
            <a:off x="685800" y="29527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B8EE034-F671-4D92-93D6-B25A9062D657}"/>
              </a:ext>
            </a:extLst>
          </p:cNvPr>
          <p:cNvSpPr>
            <a:spLocks xmlns:a="http://schemas.openxmlformats.org/drawingml/2006/main" noGrp="1"/>
          </p:cNvSpPr>
          <p:nvPr/>
        </p:nvSpPr>
        <p:spPr>
          <a:xfrm xmlns:a="http://schemas.openxmlformats.org/drawingml/2006/main">
            <a:off x="685800" y="30480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namei -l PATH</a:t>
            </a:r>
          </a:p>
        </p:txBody>
      </p:sp>
      <p:sp>
        <p:nvSpPr>
          <p:cNvPr id="11" name="">
            <a:extLst xmlns:a="http://schemas.openxmlformats.org/drawingml/2006/main">
              <a:ext uri="{FF2B5EF4-FFF2-40B4-BE49-F238E27FC236}">
                <a16:creationId xmlns:a16="http://schemas.microsoft.com/office/drawing/2014/main" id="{0082F638-5BF5-4F54-9EDD-40FCC11EBD2F}"/>
              </a:ext>
            </a:extLst>
          </p:cNvPr>
          <p:cNvSpPr>
            <a:spLocks xmlns:a="http://schemas.openxmlformats.org/drawingml/2006/main" noGrp="1"/>
          </p:cNvSpPr>
          <p:nvPr/>
        </p:nvSpPr>
        <p:spPr>
          <a:xfrm xmlns:a="http://schemas.openxmlformats.org/drawingml/2006/main">
            <a:off x="3810000" y="30480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inspect every path component</a:t>
            </a:r>
          </a:p>
        </p:txBody>
      </p:sp>
      <p:sp>
        <p:nvSpPr>
          <p:cNvPr id="12" name="">
            <a:extLst xmlns:a="http://schemas.openxmlformats.org/drawingml/2006/main">
              <a:ext uri="{FF2B5EF4-FFF2-40B4-BE49-F238E27FC236}">
                <a16:creationId xmlns:a16="http://schemas.microsoft.com/office/drawing/2014/main" id="{B0F2DC57-0E90-4B97-8675-77F094980231}"/>
              </a:ext>
            </a:extLst>
          </p:cNvPr>
          <p:cNvSpPr>
            <a:spLocks xmlns:a="http://schemas.openxmlformats.org/drawingml/2006/main" noGrp="1"/>
          </p:cNvSpPr>
          <p:nvPr/>
        </p:nvSpPr>
        <p:spPr>
          <a:xfrm xmlns:a="http://schemas.openxmlformats.org/drawingml/2006/main">
            <a:off x="685800" y="36004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AF23C46-DE20-47EB-9A5E-F79FFDA86AD4}"/>
              </a:ext>
            </a:extLst>
          </p:cNvPr>
          <p:cNvSpPr>
            <a:spLocks xmlns:a="http://schemas.openxmlformats.org/drawingml/2006/main" noGrp="1"/>
          </p:cNvSpPr>
          <p:nvPr/>
        </p:nvSpPr>
        <p:spPr>
          <a:xfrm xmlns:a="http://schemas.openxmlformats.org/drawingml/2006/main">
            <a:off x="685800" y="36957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stat -c … PATH</a:t>
            </a:r>
          </a:p>
        </p:txBody>
      </p:sp>
      <p:sp>
        <p:nvSpPr>
          <p:cNvPr id="14" name="">
            <a:extLst xmlns:a="http://schemas.openxmlformats.org/drawingml/2006/main">
              <a:ext uri="{FF2B5EF4-FFF2-40B4-BE49-F238E27FC236}">
                <a16:creationId xmlns:a16="http://schemas.microsoft.com/office/drawing/2014/main" id="{95DAE478-34A5-4457-9432-E4742174D9D9}"/>
              </a:ext>
            </a:extLst>
          </p:cNvPr>
          <p:cNvSpPr>
            <a:spLocks xmlns:a="http://schemas.openxmlformats.org/drawingml/2006/main" noGrp="1"/>
          </p:cNvSpPr>
          <p:nvPr/>
        </p:nvSpPr>
        <p:spPr>
          <a:xfrm xmlns:a="http://schemas.openxmlformats.org/drawingml/2006/main">
            <a:off x="3810000" y="36957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report owner, group, and numeric mode</a:t>
            </a:r>
          </a:p>
        </p:txBody>
      </p:sp>
      <p:sp>
        <p:nvSpPr>
          <p:cNvPr id="15" name="">
            <a:extLst xmlns:a="http://schemas.openxmlformats.org/drawingml/2006/main">
              <a:ext uri="{FF2B5EF4-FFF2-40B4-BE49-F238E27FC236}">
                <a16:creationId xmlns:a16="http://schemas.microsoft.com/office/drawing/2014/main" id="{DC49A52E-6E44-4414-BA4C-C2F857F61A9A}"/>
              </a:ext>
            </a:extLst>
          </p:cNvPr>
          <p:cNvSpPr>
            <a:spLocks xmlns:a="http://schemas.openxmlformats.org/drawingml/2006/main" noGrp="1"/>
          </p:cNvSpPr>
          <p:nvPr/>
        </p:nvSpPr>
        <p:spPr>
          <a:xfrm xmlns:a="http://schemas.openxmlformats.org/drawingml/2006/main">
            <a:off x="685800" y="42481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D473D38B-8859-4EF0-A3DB-14981729BC1C}"/>
              </a:ext>
            </a:extLst>
          </p:cNvPr>
          <p:cNvSpPr>
            <a:spLocks xmlns:a="http://schemas.openxmlformats.org/drawingml/2006/main" noGrp="1"/>
          </p:cNvSpPr>
          <p:nvPr/>
        </p:nvSpPr>
        <p:spPr>
          <a:xfrm xmlns:a="http://schemas.openxmlformats.org/drawingml/2006/main">
            <a:off x="685800" y="43434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sudo -u USER COMMAND</a:t>
            </a:r>
          </a:p>
        </p:txBody>
      </p:sp>
      <p:sp>
        <p:nvSpPr>
          <p:cNvPr id="17" name="">
            <a:extLst xmlns:a="http://schemas.openxmlformats.org/drawingml/2006/main">
              <a:ext uri="{FF2B5EF4-FFF2-40B4-BE49-F238E27FC236}">
                <a16:creationId xmlns:a16="http://schemas.microsoft.com/office/drawing/2014/main" id="{73A82B18-6008-49F8-BB3F-ED3E20F8E9D5}"/>
              </a:ext>
            </a:extLst>
          </p:cNvPr>
          <p:cNvSpPr>
            <a:spLocks xmlns:a="http://schemas.openxmlformats.org/drawingml/2006/main" noGrp="1"/>
          </p:cNvSpPr>
          <p:nvPr/>
        </p:nvSpPr>
        <p:spPr>
          <a:xfrm xmlns:a="http://schemas.openxmlformats.org/drawingml/2006/main">
            <a:off x="3810000" y="43434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test as another identity</a:t>
            </a:r>
          </a:p>
        </p:txBody>
      </p:sp>
      <p:sp>
        <p:nvSpPr>
          <p:cNvPr id="18" name="">
            <a:extLst xmlns:a="http://schemas.openxmlformats.org/drawingml/2006/main">
              <a:ext uri="{FF2B5EF4-FFF2-40B4-BE49-F238E27FC236}">
                <a16:creationId xmlns:a16="http://schemas.microsoft.com/office/drawing/2014/main" id="{A0C25134-4BB0-4DC0-992C-8C534D1B2F82}"/>
              </a:ext>
            </a:extLst>
          </p:cNvPr>
          <p:cNvSpPr>
            <a:spLocks xmlns:a="http://schemas.openxmlformats.org/drawingml/2006/main" noGrp="1"/>
          </p:cNvSpPr>
          <p:nvPr/>
        </p:nvSpPr>
        <p:spPr>
          <a:xfrm xmlns:a="http://schemas.openxmlformats.org/drawingml/2006/main">
            <a:off x="685800" y="48958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CCFAA18-B7B2-428E-9115-4CE81D5785E9}"/>
              </a:ext>
            </a:extLst>
          </p:cNvPr>
          <p:cNvSpPr>
            <a:spLocks xmlns:a="http://schemas.openxmlformats.org/drawingml/2006/main" noGrp="1"/>
          </p:cNvSpPr>
          <p:nvPr/>
        </p:nvSpPr>
        <p:spPr>
          <a:xfrm xmlns:a="http://schemas.openxmlformats.org/drawingml/2006/main">
            <a:off x="685800" y="49911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sh -c '…'</a:t>
            </a:r>
          </a:p>
        </p:txBody>
      </p:sp>
      <p:sp>
        <p:nvSpPr>
          <p:cNvPr id="20" name="">
            <a:extLst xmlns:a="http://schemas.openxmlformats.org/drawingml/2006/main">
              <a:ext uri="{FF2B5EF4-FFF2-40B4-BE49-F238E27FC236}">
                <a16:creationId xmlns:a16="http://schemas.microsoft.com/office/drawing/2014/main" id="{407A3FF1-923F-4038-B0D9-CE39057EF471}"/>
              </a:ext>
            </a:extLst>
          </p:cNvPr>
          <p:cNvSpPr>
            <a:spLocks xmlns:a="http://schemas.openxmlformats.org/drawingml/2006/main" noGrp="1"/>
          </p:cNvSpPr>
          <p:nvPr/>
        </p:nvSpPr>
        <p:spPr>
          <a:xfrm xmlns:a="http://schemas.openxmlformats.org/drawingml/2006/main">
            <a:off x="3810000" y="49911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run a compound command under that identity</a:t>
            </a:r>
          </a:p>
        </p:txBody>
      </p:sp>
    </p:spTree>
    <p:extLst>
      <p:ext uri="{BB962C8B-B14F-4D97-AF65-F5344CB8AC3E}">
        <p14:creationId xmlns:p14="http://schemas.microsoft.com/office/powerpoint/2010/main" val="67570165"/>
      </p:ext>
    </p:extLst>
  </p:cSld>
</p:sld>
</file>

<file path=ppt/slides/slide53.xml><?xml version="1.0" encoding="utf-8"?>
<p:sld xmlns:p="http://schemas.openxmlformats.org/presentationml/2006/main">
  <p:cSld>
    <p:bg>
      <p:bgPr>
        <a:solidFill xmlns:a="http://schemas.openxmlformats.org/drawingml/2006/main">
          <a:srgbClr val="180D25"/>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7FA6FBA4-7847-47BC-B945-47150D2F2BCA}"/>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FF6F6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C689607-DC1B-4A51-BDE3-98195DAEF766}"/>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FF6F61"/>
                </a:solidFill>
              </a:defRPr>
            </a:pPr>
            <a:r>
              <a:rPr sz="900" b="1">
                <a:solidFill>
                  <a:srgbClr val="FF6F61"/>
                </a:solidFill>
              </a:rPr>
              <a:t>MODULE 5 · LIVE DEMO</a:t>
            </a:r>
          </a:p>
        </p:txBody>
      </p:sp>
      <p:sp>
        <p:nvSpPr>
          <p:cNvPr id="3" name="">
            <a:extLst xmlns:a="http://schemas.openxmlformats.org/drawingml/2006/main">
              <a:ext uri="{FF2B5EF4-FFF2-40B4-BE49-F238E27FC236}">
                <a16:creationId xmlns:a16="http://schemas.microsoft.com/office/drawing/2014/main" id="{BB7DF343-9005-4EF9-BB25-933961C7D0C9}"/>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CFC5D5"/>
                </a:solidFill>
              </a:defRPr>
            </a:pPr>
            <a:r>
              <a:rPr sz="825" b="1">
                <a:solidFill>
                  <a:srgbClr val="CFC5D5"/>
                </a:solidFill>
              </a:rPr>
              <a:t>LINUX FOUNDATIONS</a:t>
            </a:r>
          </a:p>
        </p:txBody>
      </p:sp>
      <p:sp>
        <p:nvSpPr>
          <p:cNvPr id="4" name="">
            <a:extLst xmlns:a="http://schemas.openxmlformats.org/drawingml/2006/main">
              <a:ext uri="{FF2B5EF4-FFF2-40B4-BE49-F238E27FC236}">
                <a16:creationId xmlns:a16="http://schemas.microsoft.com/office/drawing/2014/main" id="{7421AD37-93D1-481E-AD96-76B020115082}"/>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AFA2B8"/>
                </a:solidFill>
              </a:defRPr>
            </a:pPr>
            <a:r>
              <a:rPr sz="825" b="0">
                <a:solidFill>
                  <a:srgbClr val="AFA2B8"/>
                </a:solidFill>
              </a:rPr>
              <a:t>53</a:t>
            </a:r>
          </a:p>
        </p:txBody>
      </p:sp>
      <p:sp>
        <p:nvSpPr>
          <p:cNvPr id="5" name="">
            <a:extLst xmlns:a="http://schemas.openxmlformats.org/drawingml/2006/main">
              <a:ext uri="{FF2B5EF4-FFF2-40B4-BE49-F238E27FC236}">
                <a16:creationId xmlns:a16="http://schemas.microsoft.com/office/drawing/2014/main" id="{23B57173-5E48-4092-ACA9-1E97582F0FB4}"/>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FFFFFF"/>
                </a:solidFill>
              </a:defRPr>
            </a:pPr>
            <a:r>
              <a:rPr sz="2850" b="1">
                <a:solidFill>
                  <a:srgbClr val="FFFFFF"/>
                </a:solidFill>
              </a:rPr>
              <a:t>Predict the evidence before Demo 5</a:t>
            </a:r>
          </a:p>
        </p:txBody>
      </p:sp>
      <p:sp>
        <p:nvSpPr>
          <p:cNvPr id="6" name="">
            <a:extLst xmlns:a="http://schemas.openxmlformats.org/drawingml/2006/main">
              <a:ext uri="{FF2B5EF4-FFF2-40B4-BE49-F238E27FC236}">
                <a16:creationId xmlns:a16="http://schemas.microsoft.com/office/drawing/2014/main" id="{E8886500-09C7-4A1D-8A9B-9C477954487A}"/>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E6DDEB"/>
                </a:solidFill>
              </a:defRPr>
            </a:pPr>
            <a:r>
              <a:rPr sz="1650" b="0">
                <a:solidFill>
                  <a:srgbClr val="E6DDEB"/>
                </a:solidFill>
              </a:rPr>
              <a:t>Repair /srv/demo-share for demoops after inspecting two users, every path component, group ownership, and directory semantics.</a:t>
            </a:r>
          </a:p>
        </p:txBody>
      </p:sp>
      <p:sp>
        <p:nvSpPr>
          <p:cNvPr id="7" name="">
            <a:extLst xmlns:a="http://schemas.openxmlformats.org/drawingml/2006/main">
              <a:ext uri="{FF2B5EF4-FFF2-40B4-BE49-F238E27FC236}">
                <a16:creationId xmlns:a16="http://schemas.microsoft.com/office/drawing/2014/main" id="{8502F99E-B172-42AD-AAB4-6A3CC54DD5A1}"/>
              </a:ext>
            </a:extLst>
          </p:cNvPr>
          <p:cNvSpPr>
            <a:spLocks xmlns:a="http://schemas.openxmlformats.org/drawingml/2006/main" noGrp="1"/>
          </p:cNvSpPr>
          <p:nvPr/>
        </p:nvSpPr>
        <p:spPr>
          <a:xfrm xmlns:a="http://schemas.openxmlformats.org/drawingml/2006/main">
            <a:off x="666750" y="2476500"/>
            <a:ext cx="10096500" cy="781050"/>
          </a:xfrm>
          <a:prstGeom xmlns:a="http://schemas.openxmlformats.org/drawingml/2006/main" prst="roundRect">
            <a:avLst>
              <a:gd name="adj" fmla="val 14634"/>
            </a:avLst>
          </a:prstGeom>
          <a:solidFill xmlns:a="http://schemas.openxmlformats.org/drawingml/2006/main">
            <a:srgbClr val="2C173E"/>
          </a:solidFill>
          <a:ln xmlns:a="http://schemas.openxmlformats.org/drawingml/2006/main" w="9525">
            <a:solidFill>
              <a:srgbClr val="7650F8"/>
            </a:solidFill>
            <a:prstDash val="solid"/>
          </a:ln>
        </p:spPr>
      </p:sp>
      <p:sp>
        <p:nvSpPr>
          <p:cNvPr id="8" name="">
            <a:extLst xmlns:a="http://schemas.openxmlformats.org/drawingml/2006/main">
              <a:ext uri="{FF2B5EF4-FFF2-40B4-BE49-F238E27FC236}">
                <a16:creationId xmlns:a16="http://schemas.microsoft.com/office/drawing/2014/main" id="{97C98EF2-FB27-48C8-B4C3-35D7D9BC23D0}"/>
              </a:ext>
            </a:extLst>
          </p:cNvPr>
          <p:cNvSpPr>
            <a:spLocks xmlns:a="http://schemas.openxmlformats.org/drawingml/2006/main" noGrp="1"/>
          </p:cNvSpPr>
          <p:nvPr/>
        </p:nvSpPr>
        <p:spPr>
          <a:xfrm xmlns:a="http://schemas.openxmlformats.org/drawingml/2006/main">
            <a:off x="895350" y="2590800"/>
            <a:ext cx="9620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FFFFFF"/>
                </a:solidFill>
              </a:defRPr>
            </a:pPr>
            <a:r>
              <a:rPr sz="1575" b="0">
                <a:solidFill>
                  <a:srgbClr val="FFFFFF"/>
                </a:solidFill>
              </a:rPr>
              <a:t>Repair /srv/demo-share for demoops after inspecting two users, every path component, group ownership, and directory semantics.</a:t>
            </a:r>
          </a:p>
        </p:txBody>
      </p:sp>
      <p:sp>
        <p:nvSpPr>
          <p:cNvPr id="9" name="">
            <a:extLst xmlns:a="http://schemas.openxmlformats.org/drawingml/2006/main">
              <a:ext uri="{FF2B5EF4-FFF2-40B4-BE49-F238E27FC236}">
                <a16:creationId xmlns:a16="http://schemas.microsoft.com/office/drawing/2014/main" id="{45A8862D-E948-4886-8E29-019F04AB385C}"/>
              </a:ext>
            </a:extLst>
          </p:cNvPr>
          <p:cNvSpPr>
            <a:spLocks xmlns:a="http://schemas.openxmlformats.org/drawingml/2006/main" noGrp="1"/>
          </p:cNvSpPr>
          <p:nvPr/>
        </p:nvSpPr>
        <p:spPr>
          <a:xfrm xmlns:a="http://schemas.openxmlformats.org/drawingml/2006/main">
            <a:off x="904875" y="38195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BE900A9-1EFF-4757-9648-768C57922884}"/>
              </a:ext>
            </a:extLst>
          </p:cNvPr>
          <p:cNvSpPr>
            <a:spLocks xmlns:a="http://schemas.openxmlformats.org/drawingml/2006/main" noGrp="1"/>
          </p:cNvSpPr>
          <p:nvPr/>
        </p:nvSpPr>
        <p:spPr>
          <a:xfrm xmlns:a="http://schemas.openxmlformats.org/drawingml/2006/main">
            <a:off x="1152525" y="3619500"/>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State the operating question</a:t>
            </a:r>
          </a:p>
        </p:txBody>
      </p:sp>
      <p:sp>
        <p:nvSpPr>
          <p:cNvPr id="11" name="">
            <a:extLst xmlns:a="http://schemas.openxmlformats.org/drawingml/2006/main">
              <a:ext uri="{FF2B5EF4-FFF2-40B4-BE49-F238E27FC236}">
                <a16:creationId xmlns:a16="http://schemas.microsoft.com/office/drawing/2014/main" id="{0CDB445C-0FA3-441A-A9C8-CDB3DFD91744}"/>
              </a:ext>
            </a:extLst>
          </p:cNvPr>
          <p:cNvSpPr>
            <a:spLocks xmlns:a="http://schemas.openxmlformats.org/drawingml/2006/main" noGrp="1"/>
          </p:cNvSpPr>
          <p:nvPr/>
        </p:nvSpPr>
        <p:spPr>
          <a:xfrm xmlns:a="http://schemas.openxmlformats.org/drawingml/2006/main">
            <a:off x="904875" y="43434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6DE4EAC-6F3C-46AA-8EF4-11078198A778}"/>
              </a:ext>
            </a:extLst>
          </p:cNvPr>
          <p:cNvSpPr>
            <a:spLocks xmlns:a="http://schemas.openxmlformats.org/drawingml/2006/main" noGrp="1"/>
          </p:cNvSpPr>
          <p:nvPr/>
        </p:nvSpPr>
        <p:spPr>
          <a:xfrm xmlns:a="http://schemas.openxmlformats.org/drawingml/2006/main">
            <a:off x="1152525" y="4143375"/>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Ask for one prediction</a:t>
            </a:r>
          </a:p>
        </p:txBody>
      </p:sp>
      <p:sp>
        <p:nvSpPr>
          <p:cNvPr id="13" name="">
            <a:extLst xmlns:a="http://schemas.openxmlformats.org/drawingml/2006/main">
              <a:ext uri="{FF2B5EF4-FFF2-40B4-BE49-F238E27FC236}">
                <a16:creationId xmlns:a16="http://schemas.microsoft.com/office/drawing/2014/main" id="{6830B6C3-9878-4F01-B1FD-7E68822D073A}"/>
              </a:ext>
            </a:extLst>
          </p:cNvPr>
          <p:cNvSpPr>
            <a:spLocks xmlns:a="http://schemas.openxmlformats.org/drawingml/2006/main" noGrp="1"/>
          </p:cNvSpPr>
          <p:nvPr/>
        </p:nvSpPr>
        <p:spPr>
          <a:xfrm xmlns:a="http://schemas.openxmlformats.org/drawingml/2006/main">
            <a:off x="904875" y="48672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C60DDB5-A6FC-4264-85B7-DE1C2BC0D287}"/>
              </a:ext>
            </a:extLst>
          </p:cNvPr>
          <p:cNvSpPr>
            <a:spLocks xmlns:a="http://schemas.openxmlformats.org/drawingml/2006/main" noGrp="1"/>
          </p:cNvSpPr>
          <p:nvPr/>
        </p:nvSpPr>
        <p:spPr>
          <a:xfrm xmlns:a="http://schemas.openxmlformats.org/drawingml/2006/main">
            <a:off x="1152525" y="4667250"/>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Run one command at a time</a:t>
            </a:r>
          </a:p>
        </p:txBody>
      </p:sp>
      <p:sp>
        <p:nvSpPr>
          <p:cNvPr id="15" name="">
            <a:extLst xmlns:a="http://schemas.openxmlformats.org/drawingml/2006/main">
              <a:ext uri="{FF2B5EF4-FFF2-40B4-BE49-F238E27FC236}">
                <a16:creationId xmlns:a16="http://schemas.microsoft.com/office/drawing/2014/main" id="{4F0DE92D-5954-4DE5-88D1-CDFAE14FA038}"/>
              </a:ext>
            </a:extLst>
          </p:cNvPr>
          <p:cNvSpPr>
            <a:spLocks xmlns:a="http://schemas.openxmlformats.org/drawingml/2006/main" noGrp="1"/>
          </p:cNvSpPr>
          <p:nvPr/>
        </p:nvSpPr>
        <p:spPr>
          <a:xfrm xmlns:a="http://schemas.openxmlformats.org/drawingml/2006/main">
            <a:off x="904875" y="539115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0668D002-F26A-4A78-A7DB-AF4D656AF319}"/>
              </a:ext>
            </a:extLst>
          </p:cNvPr>
          <p:cNvSpPr>
            <a:spLocks xmlns:a="http://schemas.openxmlformats.org/drawingml/2006/main" noGrp="1"/>
          </p:cNvSpPr>
          <p:nvPr/>
        </p:nvSpPr>
        <p:spPr>
          <a:xfrm xmlns:a="http://schemas.openxmlformats.org/drawingml/2006/main">
            <a:off x="1152525" y="5191125"/>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Verify through a different interface</a:t>
            </a:r>
          </a:p>
        </p:txBody>
      </p:sp>
      <p:sp>
        <p:nvSpPr>
          <p:cNvPr id="17" name="">
            <a:extLst xmlns:a="http://schemas.openxmlformats.org/drawingml/2006/main">
              <a:ext uri="{FF2B5EF4-FFF2-40B4-BE49-F238E27FC236}">
                <a16:creationId xmlns:a16="http://schemas.microsoft.com/office/drawing/2014/main" id="{A525AAA3-67D4-4325-8905-B1A7B72C8F97}"/>
              </a:ext>
            </a:extLst>
          </p:cNvPr>
          <p:cNvSpPr>
            <a:spLocks xmlns:a="http://schemas.openxmlformats.org/drawingml/2006/main" noGrp="1"/>
          </p:cNvSpPr>
          <p:nvPr/>
        </p:nvSpPr>
        <p:spPr>
          <a:xfrm xmlns:a="http://schemas.openxmlformats.org/drawingml/2006/main">
            <a:off x="904875" y="5886450"/>
            <a:ext cx="962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00" b="1">
                <a:solidFill>
                  <a:srgbClr val="71D6B3"/>
                </a:solidFill>
              </a:defRPr>
            </a:pPr>
            <a:r>
              <a:rPr sz="1200" b="1">
                <a:solidFill>
                  <a:srgbClr val="71D6B3"/>
                </a:solidFill>
              </a:rPr>
              <a:t>Instructor seat only · predict before typing · verify through another interface</a:t>
            </a:r>
          </a:p>
        </p:txBody>
      </p:sp>
    </p:spTree>
    <p:extLst>
      <p:ext uri="{BB962C8B-B14F-4D97-AF65-F5344CB8AC3E}">
        <p14:creationId xmlns:p14="http://schemas.microsoft.com/office/powerpoint/2010/main" val="1957620759"/>
      </p:ext>
    </p:extLst>
  </p:cSld>
</p:sld>
</file>

<file path=ppt/slides/slide54.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62D1789-3C1A-4694-B434-AA6B6DB88B00}"/>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5DA1755-4CAE-4BE8-A04B-ABEEF80B5D2F}"/>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5 · LAB READINESS</a:t>
            </a:r>
          </a:p>
        </p:txBody>
      </p:sp>
      <p:sp>
        <p:nvSpPr>
          <p:cNvPr id="3" name="">
            <a:extLst xmlns:a="http://schemas.openxmlformats.org/drawingml/2006/main">
              <a:ext uri="{FF2B5EF4-FFF2-40B4-BE49-F238E27FC236}">
                <a16:creationId xmlns:a16="http://schemas.microsoft.com/office/drawing/2014/main" id="{8265D046-D06B-47A4-B76D-F3D72317C6AB}"/>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3D7ADF3D-FD9F-4453-9195-DE4DC2A5AAA2}"/>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54</a:t>
            </a:r>
          </a:p>
        </p:txBody>
      </p:sp>
      <p:sp>
        <p:nvSpPr>
          <p:cNvPr id="5" name="">
            <a:extLst xmlns:a="http://schemas.openxmlformats.org/drawingml/2006/main">
              <a:ext uri="{FF2B5EF4-FFF2-40B4-BE49-F238E27FC236}">
                <a16:creationId xmlns:a16="http://schemas.microsoft.com/office/drawing/2014/main" id="{FBA4BD95-8B39-46DF-87B5-571432A82D41}"/>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Before Lab 5, you should be able to…</a:t>
            </a:r>
          </a:p>
        </p:txBody>
      </p:sp>
      <p:sp>
        <p:nvSpPr>
          <p:cNvPr id="6" name="">
            <a:extLst xmlns:a="http://schemas.openxmlformats.org/drawingml/2006/main">
              <a:ext uri="{FF2B5EF4-FFF2-40B4-BE49-F238E27FC236}">
                <a16:creationId xmlns:a16="http://schemas.microsoft.com/office/drawing/2014/main" id="{F6FA1C6F-86DD-4A8E-B498-59FA4E27BF3B}"/>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If one item is unclear, revisit the model or worked example before opening the terminal.</a:t>
            </a:r>
          </a:p>
        </p:txBody>
      </p:sp>
      <p:sp>
        <p:nvSpPr>
          <p:cNvPr id="7" name="">
            <a:extLst xmlns:a="http://schemas.openxmlformats.org/drawingml/2006/main">
              <a:ext uri="{FF2B5EF4-FFF2-40B4-BE49-F238E27FC236}">
                <a16:creationId xmlns:a16="http://schemas.microsoft.com/office/drawing/2014/main" id="{4440B968-DC08-44FC-A284-69CEF43B5FE7}"/>
              </a:ext>
            </a:extLst>
          </p:cNvPr>
          <p:cNvSpPr>
            <a:spLocks xmlns:a="http://schemas.openxmlformats.org/drawingml/2006/main" noGrp="1"/>
          </p:cNvSpPr>
          <p:nvPr/>
        </p:nvSpPr>
        <p:spPr>
          <a:xfrm xmlns:a="http://schemas.openxmlformats.org/drawingml/2006/main">
            <a:off x="781050" y="29051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21B3786-7E3C-4E7F-9FCF-B58E9037EF9F}"/>
              </a:ext>
            </a:extLst>
          </p:cNvPr>
          <p:cNvSpPr>
            <a:spLocks xmlns:a="http://schemas.openxmlformats.org/drawingml/2006/main" noGrp="1"/>
          </p:cNvSpPr>
          <p:nvPr/>
        </p:nvSpPr>
        <p:spPr>
          <a:xfrm xmlns:a="http://schemas.openxmlformats.org/drawingml/2006/main">
            <a:off x="1028700" y="26479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Select owner, group, or other without combining them</a:t>
            </a:r>
          </a:p>
        </p:txBody>
      </p:sp>
      <p:sp>
        <p:nvSpPr>
          <p:cNvPr id="9" name="">
            <a:extLst xmlns:a="http://schemas.openxmlformats.org/drawingml/2006/main">
              <a:ext uri="{FF2B5EF4-FFF2-40B4-BE49-F238E27FC236}">
                <a16:creationId xmlns:a16="http://schemas.microsoft.com/office/drawing/2014/main" id="{B7CFBD20-9FD2-4675-B6FB-7A9FAEEEA52C}"/>
              </a:ext>
            </a:extLst>
          </p:cNvPr>
          <p:cNvSpPr>
            <a:spLocks xmlns:a="http://schemas.openxmlformats.org/drawingml/2006/main" noGrp="1"/>
          </p:cNvSpPr>
          <p:nvPr/>
        </p:nvSpPr>
        <p:spPr>
          <a:xfrm xmlns:a="http://schemas.openxmlformats.org/drawingml/2006/main">
            <a:off x="781050" y="355282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AA4E1B2-05AB-423D-A77B-9002B6A434D0}"/>
              </a:ext>
            </a:extLst>
          </p:cNvPr>
          <p:cNvSpPr>
            <a:spLocks xmlns:a="http://schemas.openxmlformats.org/drawingml/2006/main" noGrp="1"/>
          </p:cNvSpPr>
          <p:nvPr/>
        </p:nvSpPr>
        <p:spPr>
          <a:xfrm xmlns:a="http://schemas.openxmlformats.org/drawingml/2006/main">
            <a:off x="1028700" y="32956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Explain directory r, w, and x</a:t>
            </a:r>
          </a:p>
        </p:txBody>
      </p:sp>
      <p:sp>
        <p:nvSpPr>
          <p:cNvPr id="11" name="">
            <a:extLst xmlns:a="http://schemas.openxmlformats.org/drawingml/2006/main">
              <a:ext uri="{FF2B5EF4-FFF2-40B4-BE49-F238E27FC236}">
                <a16:creationId xmlns:a16="http://schemas.microsoft.com/office/drawing/2014/main" id="{67F20FBE-AB27-44A3-8C58-50057574AD7A}"/>
              </a:ext>
            </a:extLst>
          </p:cNvPr>
          <p:cNvSpPr>
            <a:spLocks xmlns:a="http://schemas.openxmlformats.org/drawingml/2006/main" noGrp="1"/>
          </p:cNvSpPr>
          <p:nvPr/>
        </p:nvSpPr>
        <p:spPr>
          <a:xfrm xmlns:a="http://schemas.openxmlformats.org/drawingml/2006/main">
            <a:off x="781050" y="42005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957F872-91A6-45EE-B0D0-8337D0F64C86}"/>
              </a:ext>
            </a:extLst>
          </p:cNvPr>
          <p:cNvSpPr>
            <a:spLocks xmlns:a="http://schemas.openxmlformats.org/drawingml/2006/main" noGrp="1"/>
          </p:cNvSpPr>
          <p:nvPr/>
        </p:nvSpPr>
        <p:spPr>
          <a:xfrm xmlns:a="http://schemas.openxmlformats.org/drawingml/2006/main">
            <a:off x="1028700" y="39433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Test both the allowed and denied identities</a:t>
            </a:r>
          </a:p>
        </p:txBody>
      </p:sp>
    </p:spTree>
    <p:extLst>
      <p:ext uri="{BB962C8B-B14F-4D97-AF65-F5344CB8AC3E}">
        <p14:creationId xmlns:p14="http://schemas.microsoft.com/office/powerpoint/2010/main" val="639353261"/>
      </p:ext>
    </p:extLst>
  </p:cSld>
</p:sld>
</file>

<file path=ppt/slides/slide55.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3B86461-998B-461B-BDC3-26E07D843085}"/>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97B1FBB-0A71-4DCE-B144-01F41E654517}"/>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HANDS-ON · LAB 5</a:t>
            </a:r>
          </a:p>
        </p:txBody>
      </p:sp>
      <p:sp>
        <p:nvSpPr>
          <p:cNvPr id="3" name="">
            <a:extLst xmlns:a="http://schemas.openxmlformats.org/drawingml/2006/main">
              <a:ext uri="{FF2B5EF4-FFF2-40B4-BE49-F238E27FC236}">
                <a16:creationId xmlns:a16="http://schemas.microsoft.com/office/drawing/2014/main" id="{C27A5378-027B-4EE3-B275-98D1EA05EAF3}"/>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8F4DDA09-774D-473F-B22B-75B86E119D3E}"/>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55</a:t>
            </a:r>
          </a:p>
        </p:txBody>
      </p:sp>
      <p:sp>
        <p:nvSpPr>
          <p:cNvPr id="5" name="">
            <a:extLst xmlns:a="http://schemas.openxmlformats.org/drawingml/2006/main">
              <a:ext uri="{FF2B5EF4-FFF2-40B4-BE49-F238E27FC236}">
                <a16:creationId xmlns:a16="http://schemas.microsoft.com/office/drawing/2014/main" id="{BC166476-724A-49FC-BB05-4BD6F6BAD7F9}"/>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Users, groups, permissions, and shared directories</a:t>
            </a:r>
          </a:p>
        </p:txBody>
      </p:sp>
      <p:sp>
        <p:nvSpPr>
          <p:cNvPr id="6" name="">
            <a:extLst xmlns:a="http://schemas.openxmlformats.org/drawingml/2006/main">
              <a:ext uri="{FF2B5EF4-FFF2-40B4-BE49-F238E27FC236}">
                <a16:creationId xmlns:a16="http://schemas.microsoft.com/office/drawing/2014/main" id="{100B50E8-F3EF-421B-8A33-622B55ACF398}"/>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Repair /srv/team-share for webteam so collaborators can create and update files while an outsider remains denied.</a:t>
            </a:r>
          </a:p>
        </p:txBody>
      </p:sp>
      <p:sp>
        <p:nvSpPr>
          <p:cNvPr id="7" name="">
            <a:extLst xmlns:a="http://schemas.openxmlformats.org/drawingml/2006/main">
              <a:ext uri="{FF2B5EF4-FFF2-40B4-BE49-F238E27FC236}">
                <a16:creationId xmlns:a16="http://schemas.microsoft.com/office/drawing/2014/main" id="{9FA5F3CC-895B-4FC3-BE64-23534011C2B7}"/>
              </a:ext>
            </a:extLst>
          </p:cNvPr>
          <p:cNvSpPr>
            <a:spLocks xmlns:a="http://schemas.openxmlformats.org/drawingml/2006/main" noGrp="1"/>
          </p:cNvSpPr>
          <p:nvPr/>
        </p:nvSpPr>
        <p:spPr>
          <a:xfrm xmlns:a="http://schemas.openxmlformats.org/drawingml/2006/main">
            <a:off x="514350" y="2457450"/>
            <a:ext cx="6762750" cy="2286000"/>
          </a:xfrm>
          <a:prstGeom xmlns:a="http://schemas.openxmlformats.org/drawingml/2006/main" prst="roundRect">
            <a:avLst>
              <a:gd name="adj" fmla="val 5000"/>
            </a:avLst>
          </a:prstGeom>
          <a:solidFill xmlns:a="http://schemas.openxmlformats.org/drawingml/2006/main">
            <a:srgbClr val="180D2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0FAC038-A952-45DE-864C-D1E44951411F}"/>
              </a:ext>
            </a:extLst>
          </p:cNvPr>
          <p:cNvSpPr>
            <a:spLocks xmlns:a="http://schemas.openxmlformats.org/drawingml/2006/main" noGrp="1"/>
          </p:cNvSpPr>
          <p:nvPr/>
        </p:nvSpPr>
        <p:spPr>
          <a:xfrm xmlns:a="http://schemas.openxmlformats.org/drawingml/2006/main">
            <a:off x="781050" y="2647950"/>
            <a:ext cx="6238875" cy="1847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FFFFFF"/>
                </a:solidFill>
              </a:defRPr>
            </a:pPr>
            <a:r>
              <a:rPr sz="1650" b="0">
                <a:solidFill>
                  <a:srgbClr val="FFFFFF"/>
                </a:solidFill>
              </a:rPr>
              <a:t>Repair /srv/team-share for webteam so collaborators can create and update files while an outsider remains denied.</a:t>
            </a:r>
          </a:p>
        </p:txBody>
      </p:sp>
      <p:sp>
        <p:nvSpPr>
          <p:cNvPr id="9" name="">
            <a:extLst xmlns:a="http://schemas.openxmlformats.org/drawingml/2006/main">
              <a:ext uri="{FF2B5EF4-FFF2-40B4-BE49-F238E27FC236}">
                <a16:creationId xmlns:a16="http://schemas.microsoft.com/office/drawing/2014/main" id="{8E1A1F98-48C9-4F02-B1F1-15A757E8CCC4}"/>
              </a:ext>
            </a:extLst>
          </p:cNvPr>
          <p:cNvSpPr>
            <a:spLocks xmlns:a="http://schemas.openxmlformats.org/drawingml/2006/main" noGrp="1"/>
          </p:cNvSpPr>
          <p:nvPr/>
        </p:nvSpPr>
        <p:spPr>
          <a:xfrm xmlns:a="http://schemas.openxmlformats.org/drawingml/2006/main">
            <a:off x="7762875" y="26955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5221D71-40D5-461A-80EE-1DFC4395B4FA}"/>
              </a:ext>
            </a:extLst>
          </p:cNvPr>
          <p:cNvSpPr>
            <a:spLocks xmlns:a="http://schemas.openxmlformats.org/drawingml/2006/main" noGrp="1"/>
          </p:cNvSpPr>
          <p:nvPr/>
        </p:nvSpPr>
        <p:spPr>
          <a:xfrm xmlns:a="http://schemas.openxmlformats.org/drawingml/2006/main">
            <a:off x="8010525" y="24765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30 minutes</a:t>
            </a:r>
          </a:p>
        </p:txBody>
      </p:sp>
      <p:sp>
        <p:nvSpPr>
          <p:cNvPr id="11" name="">
            <a:extLst xmlns:a="http://schemas.openxmlformats.org/drawingml/2006/main">
              <a:ext uri="{FF2B5EF4-FFF2-40B4-BE49-F238E27FC236}">
                <a16:creationId xmlns:a16="http://schemas.microsoft.com/office/drawing/2014/main" id="{B230C393-14F9-4979-ABDC-0501B25113AA}"/>
              </a:ext>
            </a:extLst>
          </p:cNvPr>
          <p:cNvSpPr>
            <a:spLocks xmlns:a="http://schemas.openxmlformats.org/drawingml/2006/main" noGrp="1"/>
          </p:cNvSpPr>
          <p:nvPr/>
        </p:nvSpPr>
        <p:spPr>
          <a:xfrm xmlns:a="http://schemas.openxmlformats.org/drawingml/2006/main">
            <a:off x="7762875" y="32670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DABC37D-20E0-4B8F-B9A5-BABD4425E5D3}"/>
              </a:ext>
            </a:extLst>
          </p:cNvPr>
          <p:cNvSpPr>
            <a:spLocks xmlns:a="http://schemas.openxmlformats.org/drawingml/2006/main" noGrp="1"/>
          </p:cNvSpPr>
          <p:nvPr/>
        </p:nvSpPr>
        <p:spPr>
          <a:xfrm xmlns:a="http://schemas.openxmlformats.org/drawingml/2006/main">
            <a:off x="8010525" y="30480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Prepare/reset only this lab</a:t>
            </a:r>
          </a:p>
        </p:txBody>
      </p:sp>
      <p:sp>
        <p:nvSpPr>
          <p:cNvPr id="13" name="">
            <a:extLst xmlns:a="http://schemas.openxmlformats.org/drawingml/2006/main">
              <a:ext uri="{FF2B5EF4-FFF2-40B4-BE49-F238E27FC236}">
                <a16:creationId xmlns:a16="http://schemas.microsoft.com/office/drawing/2014/main" id="{8518C511-437C-4ACC-9369-5B1D63CF0047}"/>
              </a:ext>
            </a:extLst>
          </p:cNvPr>
          <p:cNvSpPr>
            <a:spLocks xmlns:a="http://schemas.openxmlformats.org/drawingml/2006/main" noGrp="1"/>
          </p:cNvSpPr>
          <p:nvPr/>
        </p:nvSpPr>
        <p:spPr>
          <a:xfrm xmlns:a="http://schemas.openxmlformats.org/drawingml/2006/main">
            <a:off x="7762875" y="38385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200DEA5-81FC-4962-B526-CA419A72D18C}"/>
              </a:ext>
            </a:extLst>
          </p:cNvPr>
          <p:cNvSpPr>
            <a:spLocks xmlns:a="http://schemas.openxmlformats.org/drawingml/2006/main" noGrp="1"/>
          </p:cNvSpPr>
          <p:nvPr/>
        </p:nvSpPr>
        <p:spPr>
          <a:xfrm xmlns:a="http://schemas.openxmlformats.org/drawingml/2006/main">
            <a:off x="8010525" y="36195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Check observable state</a:t>
            </a:r>
          </a:p>
        </p:txBody>
      </p:sp>
      <p:sp>
        <p:nvSpPr>
          <p:cNvPr id="15" name="">
            <a:extLst xmlns:a="http://schemas.openxmlformats.org/drawingml/2006/main">
              <a:ext uri="{FF2B5EF4-FFF2-40B4-BE49-F238E27FC236}">
                <a16:creationId xmlns:a16="http://schemas.microsoft.com/office/drawing/2014/main" id="{FECB6DFA-CECB-4EE9-8513-DC3B93B0B555}"/>
              </a:ext>
            </a:extLst>
          </p:cNvPr>
          <p:cNvSpPr>
            <a:spLocks xmlns:a="http://schemas.openxmlformats.org/drawingml/2006/main" noGrp="1"/>
          </p:cNvSpPr>
          <p:nvPr/>
        </p:nvSpPr>
        <p:spPr>
          <a:xfrm xmlns:a="http://schemas.openxmlformats.org/drawingml/2006/main">
            <a:off x="7762875" y="44100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48E8A58C-E2B0-4272-912A-CAAE926E02F8}"/>
              </a:ext>
            </a:extLst>
          </p:cNvPr>
          <p:cNvSpPr>
            <a:spLocks xmlns:a="http://schemas.openxmlformats.org/drawingml/2006/main" noGrp="1"/>
          </p:cNvSpPr>
          <p:nvPr/>
        </p:nvSpPr>
        <p:spPr>
          <a:xfrm xmlns:a="http://schemas.openxmlformats.org/drawingml/2006/main">
            <a:off x="8010525" y="41910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Explain why the result follows</a:t>
            </a:r>
          </a:p>
        </p:txBody>
      </p:sp>
      <p:sp>
        <p:nvSpPr>
          <p:cNvPr id="17" name="">
            <a:extLst xmlns:a="http://schemas.openxmlformats.org/drawingml/2006/main">
              <a:ext uri="{FF2B5EF4-FFF2-40B4-BE49-F238E27FC236}">
                <a16:creationId xmlns:a16="http://schemas.microsoft.com/office/drawing/2014/main" id="{66B7F16D-2887-4E07-B813-818715AD6ED5}"/>
              </a:ext>
            </a:extLst>
          </p:cNvPr>
          <p:cNvSpPr>
            <a:spLocks xmlns:a="http://schemas.openxmlformats.org/drawingml/2006/main" noGrp="1"/>
          </p:cNvSpPr>
          <p:nvPr/>
        </p:nvSpPr>
        <p:spPr>
          <a:xfrm xmlns:a="http://schemas.openxmlformats.org/drawingml/2006/main">
            <a:off x="514350" y="5391150"/>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350" b="1">
                <a:solidFill>
                  <a:srgbClr val="7650F8"/>
                </a:solidFill>
              </a:defRPr>
            </a:pPr>
            <a:r>
              <a:rPr sz="1350" b="1">
                <a:solidFill>
                  <a:srgbClr val="7650F8"/>
                </a:solidFill>
              </a:rPr>
              <a:t>Open the lab guide for exact tasks, hints, recovery, and checker criteria.</a:t>
            </a:r>
          </a:p>
        </p:txBody>
      </p:sp>
    </p:spTree>
    <p:extLst>
      <p:ext uri="{BB962C8B-B14F-4D97-AF65-F5344CB8AC3E}">
        <p14:creationId xmlns:p14="http://schemas.microsoft.com/office/powerpoint/2010/main" val="1749588597"/>
      </p:ext>
    </p:extLst>
  </p:cSld>
</p:sld>
</file>

<file path=ppt/slides/slide56.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6379F05F-B602-406C-B64C-96C34BCB4E66}"/>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13D11BE-DBF5-4F69-BA5B-A5CF7DFA13C7}"/>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5 · DEBRIEF</a:t>
            </a:r>
          </a:p>
        </p:txBody>
      </p:sp>
      <p:sp>
        <p:nvSpPr>
          <p:cNvPr id="3" name="">
            <a:extLst xmlns:a="http://schemas.openxmlformats.org/drawingml/2006/main">
              <a:ext uri="{FF2B5EF4-FFF2-40B4-BE49-F238E27FC236}">
                <a16:creationId xmlns:a16="http://schemas.microsoft.com/office/drawing/2014/main" id="{E2BBED25-FAB5-482A-B669-5796E38BB201}"/>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896D8F5A-A237-4EA8-ADE2-5B1F8321B411}"/>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56</a:t>
            </a:r>
          </a:p>
        </p:txBody>
      </p:sp>
      <p:sp>
        <p:nvSpPr>
          <p:cNvPr id="5" name="">
            <a:extLst xmlns:a="http://schemas.openxmlformats.org/drawingml/2006/main">
              <a:ext uri="{FF2B5EF4-FFF2-40B4-BE49-F238E27FC236}">
                <a16:creationId xmlns:a16="http://schemas.microsoft.com/office/drawing/2014/main" id="{0DFA4146-5B34-4192-8482-35034102DF15}"/>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Connect the result to the model</a:t>
            </a:r>
          </a:p>
        </p:txBody>
      </p:sp>
      <p:sp>
        <p:nvSpPr>
          <p:cNvPr id="6" name="">
            <a:extLst xmlns:a="http://schemas.openxmlformats.org/drawingml/2006/main">
              <a:ext uri="{FF2B5EF4-FFF2-40B4-BE49-F238E27FC236}">
                <a16:creationId xmlns:a16="http://schemas.microsoft.com/office/drawing/2014/main" id="{711CB747-3255-4B25-A366-419CA25A9D53}"/>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Least privilege comes from matching identity, path traversal, and the intended operation. Next, SSH will authenticate both ends of a remote session.</a:t>
            </a:r>
          </a:p>
        </p:txBody>
      </p:sp>
      <p:sp>
        <p:nvSpPr>
          <p:cNvPr id="7" name="">
            <a:extLst xmlns:a="http://schemas.openxmlformats.org/drawingml/2006/main">
              <a:ext uri="{FF2B5EF4-FFF2-40B4-BE49-F238E27FC236}">
                <a16:creationId xmlns:a16="http://schemas.microsoft.com/office/drawing/2014/main" id="{A3A36FC1-7869-439E-8D55-90AF498778EE}"/>
              </a:ext>
            </a:extLst>
          </p:cNvPr>
          <p:cNvSpPr>
            <a:spLocks xmlns:a="http://schemas.openxmlformats.org/drawingml/2006/main" noGrp="1"/>
          </p:cNvSpPr>
          <p:nvPr/>
        </p:nvSpPr>
        <p:spPr>
          <a:xfrm xmlns:a="http://schemas.openxmlformats.org/drawingml/2006/main">
            <a:off x="514350" y="2524125"/>
            <a:ext cx="10668000" cy="1219200"/>
          </a:xfrm>
          <a:prstGeom xmlns:a="http://schemas.openxmlformats.org/drawingml/2006/main" prst="roundRect">
            <a:avLst>
              <a:gd name="adj" fmla="val 9375"/>
            </a:avLst>
          </a:prstGeom>
          <a:solidFill xmlns:a="http://schemas.openxmlformats.org/drawingml/2006/main">
            <a:srgbClr val="F0E7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92142E9-2E61-4A23-A5C6-894B5203B1EF}"/>
              </a:ext>
            </a:extLst>
          </p:cNvPr>
          <p:cNvSpPr>
            <a:spLocks xmlns:a="http://schemas.openxmlformats.org/drawingml/2006/main" noGrp="1"/>
          </p:cNvSpPr>
          <p:nvPr/>
        </p:nvSpPr>
        <p:spPr>
          <a:xfrm xmlns:a="http://schemas.openxmlformats.org/drawingml/2006/main">
            <a:off x="762000" y="2686050"/>
            <a:ext cx="10191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1">
                <a:solidFill>
                  <a:srgbClr val="211729"/>
                </a:solidFill>
              </a:defRPr>
            </a:pPr>
            <a:r>
              <a:rPr sz="1725" b="1">
                <a:solidFill>
                  <a:srgbClr val="211729"/>
                </a:solidFill>
              </a:rPr>
              <a:t>Least privilege comes from matching identity, path traversal, and the intended operation. Next, SSH will authenticate both ends of a remote session.</a:t>
            </a:r>
          </a:p>
        </p:txBody>
      </p:sp>
      <p:sp>
        <p:nvSpPr>
          <p:cNvPr id="9" name="">
            <a:extLst xmlns:a="http://schemas.openxmlformats.org/drawingml/2006/main">
              <a:ext uri="{FF2B5EF4-FFF2-40B4-BE49-F238E27FC236}">
                <a16:creationId xmlns:a16="http://schemas.microsoft.com/office/drawing/2014/main" id="{09E3660A-8B1D-4EE4-8BFF-3B491DE0BD81}"/>
              </a:ext>
            </a:extLst>
          </p:cNvPr>
          <p:cNvSpPr>
            <a:spLocks xmlns:a="http://schemas.openxmlformats.org/drawingml/2006/main" noGrp="1"/>
          </p:cNvSpPr>
          <p:nvPr/>
        </p:nvSpPr>
        <p:spPr>
          <a:xfrm xmlns:a="http://schemas.openxmlformats.org/drawingml/2006/main">
            <a:off x="762000" y="43243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F918D35-BBE6-4CE7-B981-C3C8550E3238}"/>
              </a:ext>
            </a:extLst>
          </p:cNvPr>
          <p:cNvSpPr>
            <a:spLocks xmlns:a="http://schemas.openxmlformats.org/drawingml/2006/main" noGrp="1"/>
          </p:cNvSpPr>
          <p:nvPr/>
        </p:nvSpPr>
        <p:spPr>
          <a:xfrm xmlns:a="http://schemas.openxmlformats.org/drawingml/2006/main">
            <a:off x="1009650" y="4095750"/>
            <a:ext cx="9658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What was declared or expected?</a:t>
            </a:r>
          </a:p>
        </p:txBody>
      </p:sp>
      <p:sp>
        <p:nvSpPr>
          <p:cNvPr id="11" name="">
            <a:extLst xmlns:a="http://schemas.openxmlformats.org/drawingml/2006/main">
              <a:ext uri="{FF2B5EF4-FFF2-40B4-BE49-F238E27FC236}">
                <a16:creationId xmlns:a16="http://schemas.microsoft.com/office/drawing/2014/main" id="{EBB98C86-E92B-4FFE-ADA4-A37E383A92B2}"/>
              </a:ext>
            </a:extLst>
          </p:cNvPr>
          <p:cNvSpPr>
            <a:spLocks xmlns:a="http://schemas.openxmlformats.org/drawingml/2006/main" noGrp="1"/>
          </p:cNvSpPr>
          <p:nvPr/>
        </p:nvSpPr>
        <p:spPr>
          <a:xfrm xmlns:a="http://schemas.openxmlformats.org/drawingml/2006/main">
            <a:off x="762000" y="49149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3B34DD0-096E-4A52-A5D6-E1FE0949113C}"/>
              </a:ext>
            </a:extLst>
          </p:cNvPr>
          <p:cNvSpPr>
            <a:spLocks xmlns:a="http://schemas.openxmlformats.org/drawingml/2006/main" noGrp="1"/>
          </p:cNvSpPr>
          <p:nvPr/>
        </p:nvSpPr>
        <p:spPr>
          <a:xfrm xmlns:a="http://schemas.openxmlformats.org/drawingml/2006/main">
            <a:off x="1009650" y="4686300"/>
            <a:ext cx="9658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What runtime state did you observe?</a:t>
            </a:r>
          </a:p>
        </p:txBody>
      </p:sp>
      <p:sp>
        <p:nvSpPr>
          <p:cNvPr id="13" name="">
            <a:extLst xmlns:a="http://schemas.openxmlformats.org/drawingml/2006/main">
              <a:ext uri="{FF2B5EF4-FFF2-40B4-BE49-F238E27FC236}">
                <a16:creationId xmlns:a16="http://schemas.microsoft.com/office/drawing/2014/main" id="{58C2286E-7420-4D40-AB92-D306180E075D}"/>
              </a:ext>
            </a:extLst>
          </p:cNvPr>
          <p:cNvSpPr>
            <a:spLocks xmlns:a="http://schemas.openxmlformats.org/drawingml/2006/main" noGrp="1"/>
          </p:cNvSpPr>
          <p:nvPr/>
        </p:nvSpPr>
        <p:spPr>
          <a:xfrm xmlns:a="http://schemas.openxmlformats.org/drawingml/2006/main">
            <a:off x="762000" y="55054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6B80BA2-2385-4D7B-B83E-098A468C838C}"/>
              </a:ext>
            </a:extLst>
          </p:cNvPr>
          <p:cNvSpPr>
            <a:spLocks xmlns:a="http://schemas.openxmlformats.org/drawingml/2006/main" noGrp="1"/>
          </p:cNvSpPr>
          <p:nvPr/>
        </p:nvSpPr>
        <p:spPr>
          <a:xfrm xmlns:a="http://schemas.openxmlformats.org/drawingml/2006/main">
            <a:off x="1009650" y="5276850"/>
            <a:ext cx="9658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Which independent evidence closed the claim?</a:t>
            </a:r>
          </a:p>
        </p:txBody>
      </p:sp>
    </p:spTree>
    <p:extLst>
      <p:ext uri="{BB962C8B-B14F-4D97-AF65-F5344CB8AC3E}">
        <p14:creationId xmlns:p14="http://schemas.microsoft.com/office/powerpoint/2010/main" val="938375155"/>
      </p:ext>
    </p:extLst>
  </p:cSld>
</p:sld>
</file>

<file path=ppt/slides/slide57.xml><?xml version="1.0" encoding="utf-8"?>
<p:sld xmlns:p="http://schemas.openxmlformats.org/presentationml/2006/main">
  <p:cSld>
    <p:bg>
      <p:bgPr>
        <a:solidFill xmlns:a="http://schemas.openxmlformats.org/drawingml/2006/main">
          <a:srgbClr val="180D2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35E3032-89A9-4DA4-BDE1-37476C6254B1}"/>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FF6F6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31FA185-33A1-4C20-8B72-26D79D33AA54}"/>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FF6F61"/>
                </a:solidFill>
              </a:defRPr>
            </a:pPr>
            <a:r>
              <a:rPr sz="900" b="1">
                <a:solidFill>
                  <a:srgbClr val="FF6F61"/>
                </a:solidFill>
              </a:rPr>
              <a:t>MODULE 6</a:t>
            </a:r>
          </a:p>
        </p:txBody>
      </p:sp>
      <p:sp>
        <p:nvSpPr>
          <p:cNvPr id="3" name="">
            <a:extLst xmlns:a="http://schemas.openxmlformats.org/drawingml/2006/main">
              <a:ext uri="{FF2B5EF4-FFF2-40B4-BE49-F238E27FC236}">
                <a16:creationId xmlns:a16="http://schemas.microsoft.com/office/drawing/2014/main" id="{CECDA998-E922-4725-8300-2F5719044BBE}"/>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CFC5D5"/>
                </a:solidFill>
              </a:defRPr>
            </a:pPr>
            <a:r>
              <a:rPr sz="825" b="1">
                <a:solidFill>
                  <a:srgbClr val="CFC5D5"/>
                </a:solidFill>
              </a:rPr>
              <a:t>LINUX FOUNDATIONS</a:t>
            </a:r>
          </a:p>
        </p:txBody>
      </p:sp>
      <p:sp>
        <p:nvSpPr>
          <p:cNvPr id="4" name="">
            <a:extLst xmlns:a="http://schemas.openxmlformats.org/drawingml/2006/main">
              <a:ext uri="{FF2B5EF4-FFF2-40B4-BE49-F238E27FC236}">
                <a16:creationId xmlns:a16="http://schemas.microsoft.com/office/drawing/2014/main" id="{83469A08-AA2D-43C3-95A8-92BD5AEB0C73}"/>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AFA2B8"/>
                </a:solidFill>
              </a:defRPr>
            </a:pPr>
            <a:r>
              <a:rPr sz="825" b="0">
                <a:solidFill>
                  <a:srgbClr val="AFA2B8"/>
                </a:solidFill>
              </a:rPr>
              <a:t>57</a:t>
            </a:r>
          </a:p>
        </p:txBody>
      </p:sp>
      <p:sp>
        <p:nvSpPr>
          <p:cNvPr id="5" name="">
            <a:extLst xmlns:a="http://schemas.openxmlformats.org/drawingml/2006/main">
              <a:ext uri="{FF2B5EF4-FFF2-40B4-BE49-F238E27FC236}">
                <a16:creationId xmlns:a16="http://schemas.microsoft.com/office/drawing/2014/main" id="{98DCE0F5-B326-4706-BDB2-1C4FFA6AC05A}"/>
              </a:ext>
            </a:extLst>
          </p:cNvPr>
          <p:cNvSpPr>
            <a:spLocks xmlns:a="http://schemas.openxmlformats.org/drawingml/2006/main" noGrp="1"/>
          </p:cNvSpPr>
          <p:nvPr/>
        </p:nvSpPr>
        <p:spPr>
          <a:xfrm xmlns:a="http://schemas.openxmlformats.org/drawingml/2006/main">
            <a:off x="666750" y="1123950"/>
            <a:ext cx="1524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5400" b="1">
                <a:solidFill>
                  <a:srgbClr val="FF6F61"/>
                </a:solidFill>
              </a:defRPr>
            </a:pPr>
            <a:r>
              <a:rPr sz="5400" b="1">
                <a:solidFill>
                  <a:srgbClr val="FF6F61"/>
                </a:solidFill>
              </a:rPr>
              <a:t>06</a:t>
            </a:r>
          </a:p>
        </p:txBody>
      </p:sp>
      <p:sp>
        <p:nvSpPr>
          <p:cNvPr id="6" name="">
            <a:extLst xmlns:a="http://schemas.openxmlformats.org/drawingml/2006/main">
              <a:ext uri="{FF2B5EF4-FFF2-40B4-BE49-F238E27FC236}">
                <a16:creationId xmlns:a16="http://schemas.microsoft.com/office/drawing/2014/main" id="{48AD0180-A690-4F26-8C80-CCF4D56C37F2}"/>
              </a:ext>
            </a:extLst>
          </p:cNvPr>
          <p:cNvSpPr>
            <a:spLocks xmlns:a="http://schemas.openxmlformats.org/drawingml/2006/main" noGrp="1"/>
          </p:cNvSpPr>
          <p:nvPr/>
        </p:nvSpPr>
        <p:spPr>
          <a:xfrm xmlns:a="http://schemas.openxmlformats.org/drawingml/2006/main">
            <a:off x="2381250" y="1123950"/>
            <a:ext cx="8096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150" b="1">
                <a:solidFill>
                  <a:srgbClr val="FFFFFF"/>
                </a:solidFill>
              </a:defRPr>
            </a:pPr>
            <a:r>
              <a:rPr sz="3150" b="1">
                <a:solidFill>
                  <a:srgbClr val="FFFFFF"/>
                </a:solidFill>
              </a:rPr>
              <a:t>SSH transport, host trust, and user authentication</a:t>
            </a:r>
          </a:p>
        </p:txBody>
      </p:sp>
      <p:sp>
        <p:nvSpPr>
          <p:cNvPr id="7" name="">
            <a:extLst xmlns:a="http://schemas.openxmlformats.org/drawingml/2006/main">
              <a:ext uri="{FF2B5EF4-FFF2-40B4-BE49-F238E27FC236}">
                <a16:creationId xmlns:a16="http://schemas.microsoft.com/office/drawing/2014/main" id="{0E81BCDF-6C6F-4661-B019-AB5CE91DFF84}"/>
              </a:ext>
            </a:extLst>
          </p:cNvPr>
          <p:cNvSpPr>
            <a:spLocks xmlns:a="http://schemas.openxmlformats.org/drawingml/2006/main" noGrp="1"/>
          </p:cNvSpPr>
          <p:nvPr/>
        </p:nvSpPr>
        <p:spPr>
          <a:xfrm xmlns:a="http://schemas.openxmlformats.org/drawingml/2006/main">
            <a:off x="2381250" y="2400300"/>
            <a:ext cx="7810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950" b="0">
                <a:solidFill>
                  <a:srgbClr val="E9DFED"/>
                </a:solidFill>
              </a:defRPr>
            </a:pPr>
            <a:r>
              <a:rPr sz="1950" b="0">
                <a:solidFill>
                  <a:srgbClr val="E9DFED"/>
                </a:solidFill>
              </a:rPr>
              <a:t>How does an SSH client know the server—and how does the server know the user?</a:t>
            </a:r>
          </a:p>
        </p:txBody>
      </p:sp>
      <p:sp>
        <p:nvSpPr>
          <p:cNvPr id="8" name="">
            <a:extLst xmlns:a="http://schemas.openxmlformats.org/drawingml/2006/main">
              <a:ext uri="{FF2B5EF4-FFF2-40B4-BE49-F238E27FC236}">
                <a16:creationId xmlns:a16="http://schemas.microsoft.com/office/drawing/2014/main" id="{AD15A923-EF6F-4FAD-9BF4-D9B78F3E5FBE}"/>
              </a:ext>
            </a:extLst>
          </p:cNvPr>
          <p:cNvSpPr>
            <a:spLocks xmlns:a="http://schemas.openxmlformats.org/drawingml/2006/main" noGrp="1"/>
          </p:cNvSpPr>
          <p:nvPr/>
        </p:nvSpPr>
        <p:spPr>
          <a:xfrm xmlns:a="http://schemas.openxmlformats.org/drawingml/2006/main">
            <a:off x="2381250" y="3790950"/>
            <a:ext cx="6858000" cy="381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D2F4F25-E789-42DC-99B3-12667DFB6B97}"/>
              </a:ext>
            </a:extLst>
          </p:cNvPr>
          <p:cNvSpPr>
            <a:spLocks xmlns:a="http://schemas.openxmlformats.org/drawingml/2006/main" noGrp="1"/>
          </p:cNvSpPr>
          <p:nvPr/>
        </p:nvSpPr>
        <p:spPr>
          <a:xfrm xmlns:a="http://schemas.openxmlformats.org/drawingml/2006/main">
            <a:off x="2381250" y="400050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0">
                <a:solidFill>
                  <a:srgbClr val="BFB1C7"/>
                </a:solidFill>
              </a:defRPr>
            </a:pPr>
            <a:r>
              <a:rPr sz="1275" b="0">
                <a:solidFill>
                  <a:srgbClr val="BFB1C7"/>
                </a:solidFill>
              </a:rPr>
              <a:t>OpenSSH · Ubuntu lab endpoint</a:t>
            </a:r>
          </a:p>
        </p:txBody>
      </p:sp>
    </p:spTree>
    <p:extLst>
      <p:ext uri="{BB962C8B-B14F-4D97-AF65-F5344CB8AC3E}">
        <p14:creationId xmlns:p14="http://schemas.microsoft.com/office/powerpoint/2010/main" val="1247981354"/>
      </p:ext>
    </p:extLst>
  </p:cSld>
</p:sld>
</file>

<file path=ppt/slides/slide58.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131A9B4-58C2-440C-A8FA-1270D3D144EC}"/>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C27540C-B139-4E95-AA39-551A829B26B3}"/>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6 · MODEL</a:t>
            </a:r>
          </a:p>
        </p:txBody>
      </p:sp>
      <p:sp>
        <p:nvSpPr>
          <p:cNvPr id="3" name="">
            <a:extLst xmlns:a="http://schemas.openxmlformats.org/drawingml/2006/main">
              <a:ext uri="{FF2B5EF4-FFF2-40B4-BE49-F238E27FC236}">
                <a16:creationId xmlns:a16="http://schemas.microsoft.com/office/drawing/2014/main" id="{ED094AA2-346D-44F9-B636-F581549326F3}"/>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DF5346D6-B7B6-4CA0-B843-531C56CA8758}"/>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58</a:t>
            </a:r>
          </a:p>
        </p:txBody>
      </p:sp>
      <p:sp>
        <p:nvSpPr>
          <p:cNvPr id="5" name="">
            <a:extLst xmlns:a="http://schemas.openxmlformats.org/drawingml/2006/main">
              <a:ext uri="{FF2B5EF4-FFF2-40B4-BE49-F238E27FC236}">
                <a16:creationId xmlns:a16="http://schemas.microsoft.com/office/drawing/2014/main" id="{AF9AE014-BF82-4169-A0B0-9CC9E3D5E0C5}"/>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SSH authenticates both ends</a:t>
            </a:r>
          </a:p>
        </p:txBody>
      </p:sp>
      <p:sp>
        <p:nvSpPr>
          <p:cNvPr id="6" name="">
            <a:extLst xmlns:a="http://schemas.openxmlformats.org/drawingml/2006/main">
              <a:ext uri="{FF2B5EF4-FFF2-40B4-BE49-F238E27FC236}">
                <a16:creationId xmlns:a16="http://schemas.microsoft.com/office/drawing/2014/main" id="{9CD40B8D-8A0E-4C99-BEB1-946F98D05871}"/>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A host-key fingerprint must be compared through an independent trusted channel before it is recorded in known_hosts.</a:t>
            </a:r>
          </a:p>
        </p:txBody>
      </p:sp>
      <p:sp>
        <p:nvSpPr>
          <p:cNvPr id="7" name="">
            <a:extLst xmlns:a="http://schemas.openxmlformats.org/drawingml/2006/main">
              <a:ext uri="{FF2B5EF4-FFF2-40B4-BE49-F238E27FC236}">
                <a16:creationId xmlns:a16="http://schemas.microsoft.com/office/drawing/2014/main" id="{F406CCAF-2164-4105-9F21-75450197BEEF}"/>
              </a:ext>
            </a:extLst>
          </p:cNvPr>
          <p:cNvSpPr>
            <a:spLocks xmlns:a="http://schemas.openxmlformats.org/drawingml/2006/main" noGrp="1"/>
          </p:cNvSpPr>
          <p:nvPr/>
        </p:nvSpPr>
        <p:spPr>
          <a:xfrm xmlns:a="http://schemas.openxmlformats.org/drawingml/2006/main">
            <a:off x="781050" y="31051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F32C1F0-12A5-40FD-8B1C-B27903BA7AAF}"/>
              </a:ext>
            </a:extLst>
          </p:cNvPr>
          <p:cNvSpPr>
            <a:spLocks xmlns:a="http://schemas.openxmlformats.org/drawingml/2006/main" noGrp="1"/>
          </p:cNvSpPr>
          <p:nvPr/>
        </p:nvSpPr>
        <p:spPr>
          <a:xfrm xmlns:a="http://schemas.openxmlformats.org/drawingml/2006/main">
            <a:off x="1028700" y="272415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SSH protects transport, authenticates the server with a host key, and authenticates the user separately. Encryption without verified identity is not enough.</a:t>
            </a:r>
          </a:p>
        </p:txBody>
      </p:sp>
      <p:sp>
        <p:nvSpPr>
          <p:cNvPr id="9" name="">
            <a:extLst xmlns:a="http://schemas.openxmlformats.org/drawingml/2006/main">
              <a:ext uri="{FF2B5EF4-FFF2-40B4-BE49-F238E27FC236}">
                <a16:creationId xmlns:a16="http://schemas.microsoft.com/office/drawing/2014/main" id="{C28EEB75-D4FC-45BA-8B59-95164709F1BE}"/>
              </a:ext>
            </a:extLst>
          </p:cNvPr>
          <p:cNvSpPr>
            <a:spLocks xmlns:a="http://schemas.openxmlformats.org/drawingml/2006/main" noGrp="1"/>
          </p:cNvSpPr>
          <p:nvPr/>
        </p:nvSpPr>
        <p:spPr>
          <a:xfrm xmlns:a="http://schemas.openxmlformats.org/drawingml/2006/main">
            <a:off x="781050" y="40005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1299B8F-4CD9-475C-AB1A-41511B34C10C}"/>
              </a:ext>
            </a:extLst>
          </p:cNvPr>
          <p:cNvSpPr>
            <a:spLocks xmlns:a="http://schemas.openxmlformats.org/drawingml/2006/main" noGrp="1"/>
          </p:cNvSpPr>
          <p:nvPr/>
        </p:nvSpPr>
        <p:spPr>
          <a:xfrm xmlns:a="http://schemas.openxmlformats.org/drawingml/2006/main">
            <a:off x="1028700" y="361950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A host-key fingerprint must be compared through an independent trusted channel before it is recorded in known_hosts.</a:t>
            </a:r>
          </a:p>
        </p:txBody>
      </p:sp>
    </p:spTree>
    <p:extLst>
      <p:ext uri="{BB962C8B-B14F-4D97-AF65-F5344CB8AC3E}">
        <p14:creationId xmlns:p14="http://schemas.microsoft.com/office/powerpoint/2010/main" val="1073346180"/>
      </p:ext>
    </p:extLst>
  </p:cSld>
</p:sld>
</file>

<file path=ppt/slides/slide59.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CBE189C-2A8B-4343-AAE8-6F3FB1665106}"/>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A31CCD5-3DAA-4841-A5D4-D1D7E0594809}"/>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6 · MODEL</a:t>
            </a:r>
          </a:p>
        </p:txBody>
      </p:sp>
      <p:sp>
        <p:nvSpPr>
          <p:cNvPr id="3" name="">
            <a:extLst xmlns:a="http://schemas.openxmlformats.org/drawingml/2006/main">
              <a:ext uri="{FF2B5EF4-FFF2-40B4-BE49-F238E27FC236}">
                <a16:creationId xmlns:a16="http://schemas.microsoft.com/office/drawing/2014/main" id="{144579DA-D041-4689-8727-D72F6FE51AD1}"/>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63BBE03A-B8A1-4A18-8DAB-7C50FCF7BE53}"/>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59</a:t>
            </a:r>
          </a:p>
        </p:txBody>
      </p:sp>
      <p:sp>
        <p:nvSpPr>
          <p:cNvPr id="5" name="">
            <a:extLst xmlns:a="http://schemas.openxmlformats.org/drawingml/2006/main">
              <a:ext uri="{FF2B5EF4-FFF2-40B4-BE49-F238E27FC236}">
                <a16:creationId xmlns:a16="http://schemas.microsoft.com/office/drawing/2014/main" id="{79A0B7F6-24A1-4FAB-88BD-CA281A0E4015}"/>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Host trust and user trust use different keys</a:t>
            </a:r>
          </a:p>
        </p:txBody>
      </p:sp>
      <p:sp>
        <p:nvSpPr>
          <p:cNvPr id="6" name="">
            <a:extLst xmlns:a="http://schemas.openxmlformats.org/drawingml/2006/main">
              <a:ext uri="{FF2B5EF4-FFF2-40B4-BE49-F238E27FC236}">
                <a16:creationId xmlns:a16="http://schemas.microsoft.com/office/drawing/2014/main" id="{4939B316-A9F3-4C18-A4E2-8022CB21B9F0}"/>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OpenSSH checks ownership and permissions along the authorization path. A named client profile makes host, port, user, identity file, and strict host-key policy explicit.</a:t>
            </a:r>
          </a:p>
        </p:txBody>
      </p:sp>
      <p:sp>
        <p:nvSpPr>
          <p:cNvPr id="7" name="">
            <a:extLst xmlns:a="http://schemas.openxmlformats.org/drawingml/2006/main">
              <a:ext uri="{FF2B5EF4-FFF2-40B4-BE49-F238E27FC236}">
                <a16:creationId xmlns:a16="http://schemas.microsoft.com/office/drawing/2014/main" id="{65CD3E61-3930-452A-890F-2CA3ADD0B33A}"/>
              </a:ext>
            </a:extLst>
          </p:cNvPr>
          <p:cNvSpPr>
            <a:spLocks xmlns:a="http://schemas.openxmlformats.org/drawingml/2006/main" noGrp="1"/>
          </p:cNvSpPr>
          <p:nvPr/>
        </p:nvSpPr>
        <p:spPr>
          <a:xfrm xmlns:a="http://schemas.openxmlformats.org/drawingml/2006/main">
            <a:off x="781050" y="31051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38A2727-FD72-45A1-9550-32BBE52ADB1E}"/>
              </a:ext>
            </a:extLst>
          </p:cNvPr>
          <p:cNvSpPr>
            <a:spLocks xmlns:a="http://schemas.openxmlformats.org/drawingml/2006/main" noGrp="1"/>
          </p:cNvSpPr>
          <p:nvPr/>
        </p:nvSpPr>
        <p:spPr>
          <a:xfrm xmlns:a="http://schemas.openxmlformats.org/drawingml/2006/main">
            <a:off x="1028700" y="272415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The user’s private key stays on the client and proves possession. The authorized public key on the server permits that identity.</a:t>
            </a:r>
          </a:p>
        </p:txBody>
      </p:sp>
      <p:sp>
        <p:nvSpPr>
          <p:cNvPr id="9" name="">
            <a:extLst xmlns:a="http://schemas.openxmlformats.org/drawingml/2006/main">
              <a:ext uri="{FF2B5EF4-FFF2-40B4-BE49-F238E27FC236}">
                <a16:creationId xmlns:a16="http://schemas.microsoft.com/office/drawing/2014/main" id="{CB99BF29-FEDF-424C-B361-93652528FCF9}"/>
              </a:ext>
            </a:extLst>
          </p:cNvPr>
          <p:cNvSpPr>
            <a:spLocks xmlns:a="http://schemas.openxmlformats.org/drawingml/2006/main" noGrp="1"/>
          </p:cNvSpPr>
          <p:nvPr/>
        </p:nvSpPr>
        <p:spPr>
          <a:xfrm xmlns:a="http://schemas.openxmlformats.org/drawingml/2006/main">
            <a:off x="781050" y="40005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CD58450-C3FE-4A64-9D60-37F8FDBC96ED}"/>
              </a:ext>
            </a:extLst>
          </p:cNvPr>
          <p:cNvSpPr>
            <a:spLocks xmlns:a="http://schemas.openxmlformats.org/drawingml/2006/main" noGrp="1"/>
          </p:cNvSpPr>
          <p:nvPr/>
        </p:nvSpPr>
        <p:spPr>
          <a:xfrm xmlns:a="http://schemas.openxmlformats.org/drawingml/2006/main">
            <a:off x="1028700" y="361950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OpenSSH checks ownership and permissions along the authorization path. A named client profile makes host, port, user, identity file, and strict host-key policy explicit.</a:t>
            </a:r>
          </a:p>
        </p:txBody>
      </p:sp>
    </p:spTree>
    <p:extLst>
      <p:ext uri="{BB962C8B-B14F-4D97-AF65-F5344CB8AC3E}">
        <p14:creationId xmlns:p14="http://schemas.microsoft.com/office/powerpoint/2010/main" val="1934973708"/>
      </p:ext>
    </p:extLst>
  </p:cSld>
</p:sld>
</file>

<file path=ppt/slides/slide60.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E644A7EE-F9DB-4FC0-BA40-11B2052A2C00}"/>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E163963-4CEC-4C10-811E-414B33920D6E}"/>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6 · BUILD THE MODEL</a:t>
            </a:r>
          </a:p>
        </p:txBody>
      </p:sp>
      <p:sp>
        <p:nvSpPr>
          <p:cNvPr id="3" name="">
            <a:extLst xmlns:a="http://schemas.openxmlformats.org/drawingml/2006/main">
              <a:ext uri="{FF2B5EF4-FFF2-40B4-BE49-F238E27FC236}">
                <a16:creationId xmlns:a16="http://schemas.microsoft.com/office/drawing/2014/main" id="{EEE400B1-0FBB-49BA-9752-F418CCAB7270}"/>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ED5A69F9-B11D-4338-969F-46EF2B14E63B}"/>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60</a:t>
            </a:r>
          </a:p>
        </p:txBody>
      </p:sp>
      <p:sp>
        <p:nvSpPr>
          <p:cNvPr id="5" name="">
            <a:extLst xmlns:a="http://schemas.openxmlformats.org/drawingml/2006/main">
              <a:ext uri="{FF2B5EF4-FFF2-40B4-BE49-F238E27FC236}">
                <a16:creationId xmlns:a16="http://schemas.microsoft.com/office/drawing/2014/main" id="{1378F70E-0A32-4703-8C70-4821E8CFD9CE}"/>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An SSH connection establishes trust in stages</a:t>
            </a:r>
          </a:p>
        </p:txBody>
      </p:sp>
      <p:sp>
        <p:nvSpPr>
          <p:cNvPr id="6" name="">
            <a:extLst xmlns:a="http://schemas.openxmlformats.org/drawingml/2006/main">
              <a:ext uri="{FF2B5EF4-FFF2-40B4-BE49-F238E27FC236}">
                <a16:creationId xmlns:a16="http://schemas.microsoft.com/office/drawing/2014/main" id="{209AEB07-76C6-41FF-9BA1-048BB2789C98}"/>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A failure at one stage should not be “fixed” by weakening another.</a:t>
            </a:r>
          </a:p>
        </p:txBody>
      </p:sp>
      <p:sp>
        <p:nvSpPr>
          <p:cNvPr id="7" name="">
            <a:extLst xmlns:a="http://schemas.openxmlformats.org/drawingml/2006/main">
              <a:ext uri="{FF2B5EF4-FFF2-40B4-BE49-F238E27FC236}">
                <a16:creationId xmlns:a16="http://schemas.microsoft.com/office/drawing/2014/main" id="{069D52BA-D15F-43DA-BE30-7E62968D38EB}"/>
              </a:ext>
            </a:extLst>
          </p:cNvPr>
          <p:cNvSpPr>
            <a:spLocks xmlns:a="http://schemas.openxmlformats.org/drawingml/2006/main" noGrp="1"/>
          </p:cNvSpPr>
          <p:nvPr/>
        </p:nvSpPr>
        <p:spPr>
          <a:xfrm xmlns:a="http://schemas.openxmlformats.org/drawingml/2006/main">
            <a:off x="781050" y="29622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8E9CD02-C4AB-42DB-AA7B-5075499F8EB5}"/>
              </a:ext>
            </a:extLst>
          </p:cNvPr>
          <p:cNvSpPr>
            <a:spLocks xmlns:a="http://schemas.openxmlformats.org/drawingml/2006/main" noGrp="1"/>
          </p:cNvSpPr>
          <p:nvPr/>
        </p:nvSpPr>
        <p:spPr>
          <a:xfrm xmlns:a="http://schemas.openxmlformats.org/drawingml/2006/main">
            <a:off x="1028700" y="27241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Reach the correct host and TCP port</a:t>
            </a:r>
          </a:p>
        </p:txBody>
      </p:sp>
      <p:sp>
        <p:nvSpPr>
          <p:cNvPr id="9" name="">
            <a:extLst xmlns:a="http://schemas.openxmlformats.org/drawingml/2006/main">
              <a:ext uri="{FF2B5EF4-FFF2-40B4-BE49-F238E27FC236}">
                <a16:creationId xmlns:a16="http://schemas.microsoft.com/office/drawing/2014/main" id="{0C3D66F1-C817-470F-B5BC-730C4FECDA7D}"/>
              </a:ext>
            </a:extLst>
          </p:cNvPr>
          <p:cNvSpPr>
            <a:spLocks xmlns:a="http://schemas.openxmlformats.org/drawingml/2006/main" noGrp="1"/>
          </p:cNvSpPr>
          <p:nvPr/>
        </p:nvSpPr>
        <p:spPr>
          <a:xfrm xmlns:a="http://schemas.openxmlformats.org/drawingml/2006/main">
            <a:off x="781050" y="35718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96122BD-FDDF-4985-95B3-368F28AB186C}"/>
              </a:ext>
            </a:extLst>
          </p:cNvPr>
          <p:cNvSpPr>
            <a:spLocks xmlns:a="http://schemas.openxmlformats.org/drawingml/2006/main" noGrp="1"/>
          </p:cNvSpPr>
          <p:nvPr/>
        </p:nvSpPr>
        <p:spPr>
          <a:xfrm xmlns:a="http://schemas.openxmlformats.org/drawingml/2006/main">
            <a:off x="1028700" y="33337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Verify the server host-key fingerprint independently</a:t>
            </a:r>
          </a:p>
        </p:txBody>
      </p:sp>
      <p:sp>
        <p:nvSpPr>
          <p:cNvPr id="11" name="">
            <a:extLst xmlns:a="http://schemas.openxmlformats.org/drawingml/2006/main">
              <a:ext uri="{FF2B5EF4-FFF2-40B4-BE49-F238E27FC236}">
                <a16:creationId xmlns:a16="http://schemas.microsoft.com/office/drawing/2014/main" id="{646DE5EF-8501-4613-84E9-D23AF4F3BBF4}"/>
              </a:ext>
            </a:extLst>
          </p:cNvPr>
          <p:cNvSpPr>
            <a:spLocks xmlns:a="http://schemas.openxmlformats.org/drawingml/2006/main" noGrp="1"/>
          </p:cNvSpPr>
          <p:nvPr/>
        </p:nvSpPr>
        <p:spPr>
          <a:xfrm xmlns:a="http://schemas.openxmlformats.org/drawingml/2006/main">
            <a:off x="781050" y="41814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46F8CCB-2DDC-4A4E-A443-AADF4732A721}"/>
              </a:ext>
            </a:extLst>
          </p:cNvPr>
          <p:cNvSpPr>
            <a:spLocks xmlns:a="http://schemas.openxmlformats.org/drawingml/2006/main" noGrp="1"/>
          </p:cNvSpPr>
          <p:nvPr/>
        </p:nvSpPr>
        <p:spPr>
          <a:xfrm xmlns:a="http://schemas.openxmlformats.org/drawingml/2006/main">
            <a:off x="1028700" y="39433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Offer proof from the client private key</a:t>
            </a:r>
          </a:p>
        </p:txBody>
      </p:sp>
      <p:sp>
        <p:nvSpPr>
          <p:cNvPr id="13" name="">
            <a:extLst xmlns:a="http://schemas.openxmlformats.org/drawingml/2006/main">
              <a:ext uri="{FF2B5EF4-FFF2-40B4-BE49-F238E27FC236}">
                <a16:creationId xmlns:a16="http://schemas.microsoft.com/office/drawing/2014/main" id="{DDB4D6D9-EBCD-4377-98D1-C82B114A5EFA}"/>
              </a:ext>
            </a:extLst>
          </p:cNvPr>
          <p:cNvSpPr>
            <a:spLocks xmlns:a="http://schemas.openxmlformats.org/drawingml/2006/main" noGrp="1"/>
          </p:cNvSpPr>
          <p:nvPr/>
        </p:nvSpPr>
        <p:spPr>
          <a:xfrm xmlns:a="http://schemas.openxmlformats.org/drawingml/2006/main">
            <a:off x="781050" y="47910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8E04FDB-E199-45FD-B30C-BE4982EF9D58}"/>
              </a:ext>
            </a:extLst>
          </p:cNvPr>
          <p:cNvSpPr>
            <a:spLocks xmlns:a="http://schemas.openxmlformats.org/drawingml/2006/main" noGrp="1"/>
          </p:cNvSpPr>
          <p:nvPr/>
        </p:nvSpPr>
        <p:spPr>
          <a:xfrm xmlns:a="http://schemas.openxmlformats.org/drawingml/2006/main">
            <a:off x="1028700" y="45529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Let the server match the authorized public key and account policy</a:t>
            </a:r>
          </a:p>
        </p:txBody>
      </p:sp>
    </p:spTree>
    <p:extLst>
      <p:ext uri="{BB962C8B-B14F-4D97-AF65-F5344CB8AC3E}">
        <p14:creationId xmlns:p14="http://schemas.microsoft.com/office/powerpoint/2010/main" val="360446131"/>
      </p:ext>
    </p:extLst>
  </p:cSld>
</p:sld>
</file>

<file path=ppt/slides/slide61.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6C46B1BF-A3A5-4F23-96CA-C811AC260084}"/>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80B79F8-E259-4E3C-A884-5B13381FC7D9}"/>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6 · WORKED EXAMPLE</a:t>
            </a:r>
          </a:p>
        </p:txBody>
      </p:sp>
      <p:sp>
        <p:nvSpPr>
          <p:cNvPr id="3" name="">
            <a:extLst xmlns:a="http://schemas.openxmlformats.org/drawingml/2006/main">
              <a:ext uri="{FF2B5EF4-FFF2-40B4-BE49-F238E27FC236}">
                <a16:creationId xmlns:a16="http://schemas.microsoft.com/office/drawing/2014/main" id="{0E1C6F7E-5E37-4B5B-B417-A12ABC53CBB9}"/>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0000540A-6F0D-451B-A87D-C5ABE16390B3}"/>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61</a:t>
            </a:r>
          </a:p>
        </p:txBody>
      </p:sp>
      <p:sp>
        <p:nvSpPr>
          <p:cNvPr id="5" name="">
            <a:extLst xmlns:a="http://schemas.openxmlformats.org/drawingml/2006/main">
              <a:ext uri="{FF2B5EF4-FFF2-40B4-BE49-F238E27FC236}">
                <a16:creationId xmlns:a16="http://schemas.microsoft.com/office/drawing/2014/main" id="{9431ED34-FF20-46B1-A071-451B6A2D606A}"/>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Verify host trust before user trust</a:t>
            </a:r>
          </a:p>
        </p:txBody>
      </p:sp>
      <p:sp>
        <p:nvSpPr>
          <p:cNvPr id="6" name="">
            <a:extLst xmlns:a="http://schemas.openxmlformats.org/drawingml/2006/main">
              <a:ext uri="{FF2B5EF4-FFF2-40B4-BE49-F238E27FC236}">
                <a16:creationId xmlns:a16="http://schemas.microsoft.com/office/drawing/2014/main" id="{1B2D04F1-8E42-40F5-B6A6-2675E372221C}"/>
              </a:ext>
            </a:extLst>
          </p:cNvPr>
          <p:cNvSpPr>
            <a:spLocks xmlns:a="http://schemas.openxmlformats.org/drawingml/2006/main" noGrp="1"/>
          </p:cNvSpPr>
          <p:nvPr/>
        </p:nvSpPr>
        <p:spPr>
          <a:xfrm xmlns:a="http://schemas.openxmlformats.org/drawingml/2006/main">
            <a:off x="514350" y="2400300"/>
            <a:ext cx="6191250" cy="2857500"/>
          </a:xfrm>
          <a:prstGeom xmlns:a="http://schemas.openxmlformats.org/drawingml/2006/main" prst="roundRect">
            <a:avLst>
              <a:gd name="adj" fmla="val 4000"/>
            </a:avLst>
          </a:prstGeom>
          <a:solidFill xmlns:a="http://schemas.openxmlformats.org/drawingml/2006/main">
            <a:srgbClr val="180D25"/>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B37143F6-7641-4A6D-B9C1-2569ACBA4A09}"/>
              </a:ext>
            </a:extLst>
          </p:cNvPr>
          <p:cNvSpPr>
            <a:spLocks xmlns:a="http://schemas.openxmlformats.org/drawingml/2006/main" noGrp="1"/>
          </p:cNvSpPr>
          <p:nvPr/>
        </p:nvSpPr>
        <p:spPr>
          <a:xfrm xmlns:a="http://schemas.openxmlformats.org/drawingml/2006/main">
            <a:off x="781050" y="2647950"/>
            <a:ext cx="5667375" cy="2333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F7F1FA"/>
                </a:solidFill>
              </a:defRPr>
            </a:pPr>
            <a:r>
              <a:rPr sz="1575" b="0">
                <a:solidFill>
                  <a:srgbClr val="F7F1FA"/>
                </a:solidFill>
              </a:rPr>
              <a:t>ssh-keyscan -p 2222 training-server &gt; host.scan</a:t>
            </a:r>
          </a:p>
          <a:p xmlns:a="http://schemas.openxmlformats.org/drawingml/2006/main">
            <a:pPr algn="l">
              <a:buNone/>
              <a:defRPr sz="1575" b="0">
                <a:solidFill>
                  <a:srgbClr val="F7F1FA"/>
                </a:solidFill>
              </a:defRPr>
            </a:pPr>
            <a:r>
              <a:rPr sz="1575" b="0">
                <a:solidFill>
                  <a:srgbClr val="F7F1FA"/>
                </a:solidFill>
              </a:rPr>
              <a:t>ssh-keygen -lf host.scan -E sha256</a:t>
            </a:r>
          </a:p>
          <a:p xmlns:a="http://schemas.openxmlformats.org/drawingml/2006/main">
            <a:pPr algn="l">
              <a:buNone/>
              <a:defRPr sz="1575" b="0">
                <a:solidFill>
                  <a:srgbClr val="F7F1FA"/>
                </a:solidFill>
              </a:defRPr>
            </a:pPr>
            <a:r>
              <a:rPr sz="1575" b="0">
                <a:solidFill>
                  <a:srgbClr val="F7F1FA"/>
                </a:solidFill>
              </a:rPr>
              <a:t>ssh -o BatchMode=yes training-server</a:t>
            </a:r>
          </a:p>
        </p:txBody>
      </p:sp>
      <p:sp>
        <p:nvSpPr>
          <p:cNvPr id="8" name="">
            <a:extLst xmlns:a="http://schemas.openxmlformats.org/drawingml/2006/main">
              <a:ext uri="{FF2B5EF4-FFF2-40B4-BE49-F238E27FC236}">
                <a16:creationId xmlns:a16="http://schemas.microsoft.com/office/drawing/2014/main" id="{37565A7F-6F39-4D5F-963B-BB54C48F1640}"/>
              </a:ext>
            </a:extLst>
          </p:cNvPr>
          <p:cNvSpPr>
            <a:spLocks xmlns:a="http://schemas.openxmlformats.org/drawingml/2006/main" noGrp="1"/>
          </p:cNvSpPr>
          <p:nvPr/>
        </p:nvSpPr>
        <p:spPr>
          <a:xfrm xmlns:a="http://schemas.openxmlformats.org/drawingml/2006/main">
            <a:off x="7143750" y="27336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836D680-CCDA-4557-A49C-6403C1C5130D}"/>
              </a:ext>
            </a:extLst>
          </p:cNvPr>
          <p:cNvSpPr>
            <a:spLocks xmlns:a="http://schemas.openxmlformats.org/drawingml/2006/main" noGrp="1"/>
          </p:cNvSpPr>
          <p:nvPr/>
        </p:nvSpPr>
        <p:spPr>
          <a:xfrm xmlns:a="http://schemas.openxmlformats.org/drawingml/2006/main">
            <a:off x="7391400" y="2428875"/>
            <a:ext cx="3848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ssh-keyscan collects a key; it does not authenticate it.</a:t>
            </a:r>
          </a:p>
        </p:txBody>
      </p:sp>
      <p:sp>
        <p:nvSpPr>
          <p:cNvPr id="10" name="">
            <a:extLst xmlns:a="http://schemas.openxmlformats.org/drawingml/2006/main">
              <a:ext uri="{FF2B5EF4-FFF2-40B4-BE49-F238E27FC236}">
                <a16:creationId xmlns:a16="http://schemas.microsoft.com/office/drawing/2014/main" id="{A3BC3C04-A2DB-43A3-92D8-58B7DB3052B0}"/>
              </a:ext>
            </a:extLst>
          </p:cNvPr>
          <p:cNvSpPr>
            <a:spLocks xmlns:a="http://schemas.openxmlformats.org/drawingml/2006/main" noGrp="1"/>
          </p:cNvSpPr>
          <p:nvPr/>
        </p:nvSpPr>
        <p:spPr>
          <a:xfrm xmlns:a="http://schemas.openxmlformats.org/drawingml/2006/main">
            <a:off x="7143750" y="347662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65345044-BB0A-4916-9B16-5556A461F754}"/>
              </a:ext>
            </a:extLst>
          </p:cNvPr>
          <p:cNvSpPr>
            <a:spLocks xmlns:a="http://schemas.openxmlformats.org/drawingml/2006/main" noGrp="1"/>
          </p:cNvSpPr>
          <p:nvPr/>
        </p:nvSpPr>
        <p:spPr>
          <a:xfrm xmlns:a="http://schemas.openxmlformats.org/drawingml/2006/main">
            <a:off x="7391400" y="3171825"/>
            <a:ext cx="3848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Compare the fingerprint with the instructor’s independent value.</a:t>
            </a:r>
          </a:p>
        </p:txBody>
      </p:sp>
      <p:sp>
        <p:nvSpPr>
          <p:cNvPr id="12" name="">
            <a:extLst xmlns:a="http://schemas.openxmlformats.org/drawingml/2006/main">
              <a:ext uri="{FF2B5EF4-FFF2-40B4-BE49-F238E27FC236}">
                <a16:creationId xmlns:a16="http://schemas.microsoft.com/office/drawing/2014/main" id="{75A73474-8D5F-4FB6-8DBF-F1A0E7F4BE0C}"/>
              </a:ext>
            </a:extLst>
          </p:cNvPr>
          <p:cNvSpPr>
            <a:spLocks xmlns:a="http://schemas.openxmlformats.org/drawingml/2006/main" noGrp="1"/>
          </p:cNvSpPr>
          <p:nvPr/>
        </p:nvSpPr>
        <p:spPr>
          <a:xfrm xmlns:a="http://schemas.openxmlformats.org/drawingml/2006/main">
            <a:off x="7143750" y="42195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E3C9605-C664-4E72-8310-B6CFD6D38DDE}"/>
              </a:ext>
            </a:extLst>
          </p:cNvPr>
          <p:cNvSpPr>
            <a:spLocks xmlns:a="http://schemas.openxmlformats.org/drawingml/2006/main" noGrp="1"/>
          </p:cNvSpPr>
          <p:nvPr/>
        </p:nvSpPr>
        <p:spPr>
          <a:xfrm xmlns:a="http://schemas.openxmlformats.org/drawingml/2006/main">
            <a:off x="7391400" y="3914775"/>
            <a:ext cx="3848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BatchMode prevents a password prompt from hiding key failure.</a:t>
            </a:r>
          </a:p>
        </p:txBody>
      </p:sp>
    </p:spTree>
    <p:extLst>
      <p:ext uri="{BB962C8B-B14F-4D97-AF65-F5344CB8AC3E}">
        <p14:creationId xmlns:p14="http://schemas.microsoft.com/office/powerpoint/2010/main" val="939331491"/>
      </p:ext>
    </p:extLst>
  </p:cSld>
</p:sld>
</file>

<file path=ppt/slides/slide62.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6D86652F-3878-4EF4-86BC-5E9BB0E72626}"/>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EACFC7F-4447-46F6-903F-0F572F13D637}"/>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6 · GUIDED COMMANDS</a:t>
            </a:r>
          </a:p>
        </p:txBody>
      </p:sp>
      <p:sp>
        <p:nvSpPr>
          <p:cNvPr id="3" name="">
            <a:extLst xmlns:a="http://schemas.openxmlformats.org/drawingml/2006/main">
              <a:ext uri="{FF2B5EF4-FFF2-40B4-BE49-F238E27FC236}">
                <a16:creationId xmlns:a16="http://schemas.microsoft.com/office/drawing/2014/main" id="{968DA51D-1F70-436E-998A-F5822A6296BE}"/>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CA730DA9-28C6-42F4-8905-EA46CEF98E3F}"/>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62</a:t>
            </a:r>
          </a:p>
        </p:txBody>
      </p:sp>
      <p:sp>
        <p:nvSpPr>
          <p:cNvPr id="5" name="">
            <a:extLst xmlns:a="http://schemas.openxmlformats.org/drawingml/2006/main">
              <a:ext uri="{FF2B5EF4-FFF2-40B4-BE49-F238E27FC236}">
                <a16:creationId xmlns:a16="http://schemas.microsoft.com/office/drawing/2014/main" id="{BE9F5371-6AF3-4F05-B940-F36012D711A7}"/>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These commands are tools for specific questions</a:t>
            </a:r>
          </a:p>
        </p:txBody>
      </p:sp>
      <p:sp>
        <p:nvSpPr>
          <p:cNvPr id="6" name="">
            <a:extLst xmlns:a="http://schemas.openxmlformats.org/drawingml/2006/main">
              <a:ext uri="{FF2B5EF4-FFF2-40B4-BE49-F238E27FC236}">
                <a16:creationId xmlns:a16="http://schemas.microsoft.com/office/drawing/2014/main" id="{BE33F568-3CF7-4437-B0BC-7EE9DCBE12AA}"/>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The lab guide repeats syntax and expected evidence; memorization is not required.</a:t>
            </a:r>
          </a:p>
        </p:txBody>
      </p:sp>
      <p:sp>
        <p:nvSpPr>
          <p:cNvPr id="7" name="">
            <a:extLst xmlns:a="http://schemas.openxmlformats.org/drawingml/2006/main">
              <a:ext uri="{FF2B5EF4-FFF2-40B4-BE49-F238E27FC236}">
                <a16:creationId xmlns:a16="http://schemas.microsoft.com/office/drawing/2014/main" id="{8792A3BE-CC46-4555-94D9-AF07A635C2BE}"/>
              </a:ext>
            </a:extLst>
          </p:cNvPr>
          <p:cNvSpPr>
            <a:spLocks xmlns:a="http://schemas.openxmlformats.org/drawingml/2006/main" noGrp="1"/>
          </p:cNvSpPr>
          <p:nvPr/>
        </p:nvSpPr>
        <p:spPr>
          <a:xfrm xmlns:a="http://schemas.openxmlformats.org/drawingml/2006/main">
            <a:off x="685800" y="24003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ssh-keygen -t ed25519</a:t>
            </a:r>
          </a:p>
        </p:txBody>
      </p:sp>
      <p:sp>
        <p:nvSpPr>
          <p:cNvPr id="8" name="">
            <a:extLst xmlns:a="http://schemas.openxmlformats.org/drawingml/2006/main">
              <a:ext uri="{FF2B5EF4-FFF2-40B4-BE49-F238E27FC236}">
                <a16:creationId xmlns:a16="http://schemas.microsoft.com/office/drawing/2014/main" id="{C8F1697A-5FDE-4EC0-B9D7-18DA7ED85ACE}"/>
              </a:ext>
            </a:extLst>
          </p:cNvPr>
          <p:cNvSpPr>
            <a:spLocks xmlns:a="http://schemas.openxmlformats.org/drawingml/2006/main" noGrp="1"/>
          </p:cNvSpPr>
          <p:nvPr/>
        </p:nvSpPr>
        <p:spPr>
          <a:xfrm xmlns:a="http://schemas.openxmlformats.org/drawingml/2006/main">
            <a:off x="3810000" y="24003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create a dedicated key pair</a:t>
            </a:r>
          </a:p>
        </p:txBody>
      </p:sp>
      <p:sp>
        <p:nvSpPr>
          <p:cNvPr id="9" name="">
            <a:extLst xmlns:a="http://schemas.openxmlformats.org/drawingml/2006/main">
              <a:ext uri="{FF2B5EF4-FFF2-40B4-BE49-F238E27FC236}">
                <a16:creationId xmlns:a16="http://schemas.microsoft.com/office/drawing/2014/main" id="{8D48F208-0196-4EA7-994E-B9DDCABD5778}"/>
              </a:ext>
            </a:extLst>
          </p:cNvPr>
          <p:cNvSpPr>
            <a:spLocks xmlns:a="http://schemas.openxmlformats.org/drawingml/2006/main" noGrp="1"/>
          </p:cNvSpPr>
          <p:nvPr/>
        </p:nvSpPr>
        <p:spPr>
          <a:xfrm xmlns:a="http://schemas.openxmlformats.org/drawingml/2006/main">
            <a:off x="685800" y="29527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D4D03C3-F2E2-4FB6-A8DD-7F9EC5BA79B9}"/>
              </a:ext>
            </a:extLst>
          </p:cNvPr>
          <p:cNvSpPr>
            <a:spLocks xmlns:a="http://schemas.openxmlformats.org/drawingml/2006/main" noGrp="1"/>
          </p:cNvSpPr>
          <p:nvPr/>
        </p:nvSpPr>
        <p:spPr>
          <a:xfrm xmlns:a="http://schemas.openxmlformats.org/drawingml/2006/main">
            <a:off x="685800" y="30480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ssh-keyscan</a:t>
            </a:r>
          </a:p>
        </p:txBody>
      </p:sp>
      <p:sp>
        <p:nvSpPr>
          <p:cNvPr id="11" name="">
            <a:extLst xmlns:a="http://schemas.openxmlformats.org/drawingml/2006/main">
              <a:ext uri="{FF2B5EF4-FFF2-40B4-BE49-F238E27FC236}">
                <a16:creationId xmlns:a16="http://schemas.microsoft.com/office/drawing/2014/main" id="{9C6D964B-DAFC-40F8-8AB3-0791EEC4BBB6}"/>
              </a:ext>
            </a:extLst>
          </p:cNvPr>
          <p:cNvSpPr>
            <a:spLocks xmlns:a="http://schemas.openxmlformats.org/drawingml/2006/main" noGrp="1"/>
          </p:cNvSpPr>
          <p:nvPr/>
        </p:nvSpPr>
        <p:spPr>
          <a:xfrm xmlns:a="http://schemas.openxmlformats.org/drawingml/2006/main">
            <a:off x="3810000" y="30480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collect an endpoint host key</a:t>
            </a:r>
          </a:p>
        </p:txBody>
      </p:sp>
      <p:sp>
        <p:nvSpPr>
          <p:cNvPr id="12" name="">
            <a:extLst xmlns:a="http://schemas.openxmlformats.org/drawingml/2006/main">
              <a:ext uri="{FF2B5EF4-FFF2-40B4-BE49-F238E27FC236}">
                <a16:creationId xmlns:a16="http://schemas.microsoft.com/office/drawing/2014/main" id="{42C244C8-6AD3-4052-8FBB-7D522338A8F1}"/>
              </a:ext>
            </a:extLst>
          </p:cNvPr>
          <p:cNvSpPr>
            <a:spLocks xmlns:a="http://schemas.openxmlformats.org/drawingml/2006/main" noGrp="1"/>
          </p:cNvSpPr>
          <p:nvPr/>
        </p:nvSpPr>
        <p:spPr>
          <a:xfrm xmlns:a="http://schemas.openxmlformats.org/drawingml/2006/main">
            <a:off x="685800" y="36004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390AAC81-F3A9-48D7-83BA-B415F606EBC7}"/>
              </a:ext>
            </a:extLst>
          </p:cNvPr>
          <p:cNvSpPr>
            <a:spLocks xmlns:a="http://schemas.openxmlformats.org/drawingml/2006/main" noGrp="1"/>
          </p:cNvSpPr>
          <p:nvPr/>
        </p:nvSpPr>
        <p:spPr>
          <a:xfrm xmlns:a="http://schemas.openxmlformats.org/drawingml/2006/main">
            <a:off x="685800" y="36957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ssh-keygen -lf</a:t>
            </a:r>
          </a:p>
        </p:txBody>
      </p:sp>
      <p:sp>
        <p:nvSpPr>
          <p:cNvPr id="14" name="">
            <a:extLst xmlns:a="http://schemas.openxmlformats.org/drawingml/2006/main">
              <a:ext uri="{FF2B5EF4-FFF2-40B4-BE49-F238E27FC236}">
                <a16:creationId xmlns:a16="http://schemas.microsoft.com/office/drawing/2014/main" id="{D973375A-08DD-4F17-9CFB-8496B3D65BE4}"/>
              </a:ext>
            </a:extLst>
          </p:cNvPr>
          <p:cNvSpPr>
            <a:spLocks xmlns:a="http://schemas.openxmlformats.org/drawingml/2006/main" noGrp="1"/>
          </p:cNvSpPr>
          <p:nvPr/>
        </p:nvSpPr>
        <p:spPr>
          <a:xfrm xmlns:a="http://schemas.openxmlformats.org/drawingml/2006/main">
            <a:off x="3810000" y="36957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display a fingerprint</a:t>
            </a:r>
          </a:p>
        </p:txBody>
      </p:sp>
      <p:sp>
        <p:nvSpPr>
          <p:cNvPr id="15" name="">
            <a:extLst xmlns:a="http://schemas.openxmlformats.org/drawingml/2006/main">
              <a:ext uri="{FF2B5EF4-FFF2-40B4-BE49-F238E27FC236}">
                <a16:creationId xmlns:a16="http://schemas.microsoft.com/office/drawing/2014/main" id="{59B33BA7-9563-4E9F-9B75-DE0CD858F85F}"/>
              </a:ext>
            </a:extLst>
          </p:cNvPr>
          <p:cNvSpPr>
            <a:spLocks xmlns:a="http://schemas.openxmlformats.org/drawingml/2006/main" noGrp="1"/>
          </p:cNvSpPr>
          <p:nvPr/>
        </p:nvSpPr>
        <p:spPr>
          <a:xfrm xmlns:a="http://schemas.openxmlformats.org/drawingml/2006/main">
            <a:off x="685800" y="42481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3743136-D909-4FC4-B5B7-6CA36F979DD8}"/>
              </a:ext>
            </a:extLst>
          </p:cNvPr>
          <p:cNvSpPr>
            <a:spLocks xmlns:a="http://schemas.openxmlformats.org/drawingml/2006/main" noGrp="1"/>
          </p:cNvSpPr>
          <p:nvPr/>
        </p:nvSpPr>
        <p:spPr>
          <a:xfrm xmlns:a="http://schemas.openxmlformats.org/drawingml/2006/main">
            <a:off x="685800" y="43434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ssh -G HOST</a:t>
            </a:r>
          </a:p>
        </p:txBody>
      </p:sp>
      <p:sp>
        <p:nvSpPr>
          <p:cNvPr id="17" name="">
            <a:extLst xmlns:a="http://schemas.openxmlformats.org/drawingml/2006/main">
              <a:ext uri="{FF2B5EF4-FFF2-40B4-BE49-F238E27FC236}">
                <a16:creationId xmlns:a16="http://schemas.microsoft.com/office/drawing/2014/main" id="{D43C75E1-A67F-427F-9325-E4D974ADCD7A}"/>
              </a:ext>
            </a:extLst>
          </p:cNvPr>
          <p:cNvSpPr>
            <a:spLocks xmlns:a="http://schemas.openxmlformats.org/drawingml/2006/main" noGrp="1"/>
          </p:cNvSpPr>
          <p:nvPr/>
        </p:nvSpPr>
        <p:spPr>
          <a:xfrm xmlns:a="http://schemas.openxmlformats.org/drawingml/2006/main">
            <a:off x="3810000" y="43434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inspect effective client configuration</a:t>
            </a:r>
          </a:p>
        </p:txBody>
      </p:sp>
      <p:sp>
        <p:nvSpPr>
          <p:cNvPr id="18" name="">
            <a:extLst xmlns:a="http://schemas.openxmlformats.org/drawingml/2006/main">
              <a:ext uri="{FF2B5EF4-FFF2-40B4-BE49-F238E27FC236}">
                <a16:creationId xmlns:a16="http://schemas.microsoft.com/office/drawing/2014/main" id="{C289749F-35C0-459C-B92B-D13DA41CBCB1}"/>
              </a:ext>
            </a:extLst>
          </p:cNvPr>
          <p:cNvSpPr>
            <a:spLocks xmlns:a="http://schemas.openxmlformats.org/drawingml/2006/main" noGrp="1"/>
          </p:cNvSpPr>
          <p:nvPr/>
        </p:nvSpPr>
        <p:spPr>
          <a:xfrm xmlns:a="http://schemas.openxmlformats.org/drawingml/2006/main">
            <a:off x="685800" y="48958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0272CE0-3A85-4935-9A6B-EFBBF20E37CE}"/>
              </a:ext>
            </a:extLst>
          </p:cNvPr>
          <p:cNvSpPr>
            <a:spLocks xmlns:a="http://schemas.openxmlformats.org/drawingml/2006/main" noGrp="1"/>
          </p:cNvSpPr>
          <p:nvPr/>
        </p:nvSpPr>
        <p:spPr>
          <a:xfrm xmlns:a="http://schemas.openxmlformats.org/drawingml/2006/main">
            <a:off x="685800" y="49911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BatchMode=yes</a:t>
            </a:r>
          </a:p>
        </p:txBody>
      </p:sp>
      <p:sp>
        <p:nvSpPr>
          <p:cNvPr id="20" name="">
            <a:extLst xmlns:a="http://schemas.openxmlformats.org/drawingml/2006/main">
              <a:ext uri="{FF2B5EF4-FFF2-40B4-BE49-F238E27FC236}">
                <a16:creationId xmlns:a16="http://schemas.microsoft.com/office/drawing/2014/main" id="{97BEE614-295E-4D37-8DBD-8FDFF8278A84}"/>
              </a:ext>
            </a:extLst>
          </p:cNvPr>
          <p:cNvSpPr>
            <a:spLocks xmlns:a="http://schemas.openxmlformats.org/drawingml/2006/main" noGrp="1"/>
          </p:cNvSpPr>
          <p:nvPr/>
        </p:nvSpPr>
        <p:spPr>
          <a:xfrm xmlns:a="http://schemas.openxmlformats.org/drawingml/2006/main">
            <a:off x="3810000" y="49911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fail instead of prompting for a password</a:t>
            </a:r>
          </a:p>
        </p:txBody>
      </p:sp>
    </p:spTree>
    <p:extLst>
      <p:ext uri="{BB962C8B-B14F-4D97-AF65-F5344CB8AC3E}">
        <p14:creationId xmlns:p14="http://schemas.microsoft.com/office/powerpoint/2010/main" val="414014580"/>
      </p:ext>
    </p:extLst>
  </p:cSld>
</p:sld>
</file>

<file path=ppt/slides/slide63.xml><?xml version="1.0" encoding="utf-8"?>
<p:sld xmlns:p="http://schemas.openxmlformats.org/presentationml/2006/main">
  <p:cSld>
    <p:bg>
      <p:bgPr>
        <a:solidFill xmlns:a="http://schemas.openxmlformats.org/drawingml/2006/main">
          <a:srgbClr val="180D25"/>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EC2569A-662F-41AE-AC77-48CCDEEC07D4}"/>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FF6F6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1BE2716-418A-4542-8227-2D2CC191A6B7}"/>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FF6F61"/>
                </a:solidFill>
              </a:defRPr>
            </a:pPr>
            <a:r>
              <a:rPr sz="900" b="1">
                <a:solidFill>
                  <a:srgbClr val="FF6F61"/>
                </a:solidFill>
              </a:rPr>
              <a:t>MODULE 6 · LIVE DEMO</a:t>
            </a:r>
          </a:p>
        </p:txBody>
      </p:sp>
      <p:sp>
        <p:nvSpPr>
          <p:cNvPr id="3" name="">
            <a:extLst xmlns:a="http://schemas.openxmlformats.org/drawingml/2006/main">
              <a:ext uri="{FF2B5EF4-FFF2-40B4-BE49-F238E27FC236}">
                <a16:creationId xmlns:a16="http://schemas.microsoft.com/office/drawing/2014/main" id="{BF3A804A-94DD-42E5-BD7E-33A81DE7B2BD}"/>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CFC5D5"/>
                </a:solidFill>
              </a:defRPr>
            </a:pPr>
            <a:r>
              <a:rPr sz="825" b="1">
                <a:solidFill>
                  <a:srgbClr val="CFC5D5"/>
                </a:solidFill>
              </a:rPr>
              <a:t>LINUX FOUNDATIONS</a:t>
            </a:r>
          </a:p>
        </p:txBody>
      </p:sp>
      <p:sp>
        <p:nvSpPr>
          <p:cNvPr id="4" name="">
            <a:extLst xmlns:a="http://schemas.openxmlformats.org/drawingml/2006/main">
              <a:ext uri="{FF2B5EF4-FFF2-40B4-BE49-F238E27FC236}">
                <a16:creationId xmlns:a16="http://schemas.microsoft.com/office/drawing/2014/main" id="{254C4436-69F6-4E5D-84F6-A8A64E8924CE}"/>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AFA2B8"/>
                </a:solidFill>
              </a:defRPr>
            </a:pPr>
            <a:r>
              <a:rPr sz="825" b="0">
                <a:solidFill>
                  <a:srgbClr val="AFA2B8"/>
                </a:solidFill>
              </a:rPr>
              <a:t>63</a:t>
            </a:r>
          </a:p>
        </p:txBody>
      </p:sp>
      <p:sp>
        <p:nvSpPr>
          <p:cNvPr id="5" name="">
            <a:extLst xmlns:a="http://schemas.openxmlformats.org/drawingml/2006/main">
              <a:ext uri="{FF2B5EF4-FFF2-40B4-BE49-F238E27FC236}">
                <a16:creationId xmlns:a16="http://schemas.microsoft.com/office/drawing/2014/main" id="{3DC04F5D-0661-4FC7-B0E6-442F5AD40BAC}"/>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FFFFFF"/>
                </a:solidFill>
              </a:defRPr>
            </a:pPr>
            <a:r>
              <a:rPr sz="2850" b="1">
                <a:solidFill>
                  <a:srgbClr val="FFFFFF"/>
                </a:solidFill>
              </a:rPr>
              <a:t>Predict the evidence before Demo 6</a:t>
            </a:r>
          </a:p>
        </p:txBody>
      </p:sp>
      <p:sp>
        <p:nvSpPr>
          <p:cNvPr id="6" name="">
            <a:extLst xmlns:a="http://schemas.openxmlformats.org/drawingml/2006/main">
              <a:ext uri="{FF2B5EF4-FFF2-40B4-BE49-F238E27FC236}">
                <a16:creationId xmlns:a16="http://schemas.microsoft.com/office/drawing/2014/main" id="{87C88C44-6347-4CD9-915D-BC6A1B4F52E1}"/>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E6DDEB"/>
                </a:solidFill>
              </a:defRPr>
            </a:pPr>
            <a:r>
              <a:rPr sz="1650" b="0">
                <a:solidFill>
                  <a:srgbClr val="E6DDEB"/>
                </a:solidFill>
              </a:rPr>
              <a:t>Compare the demo endpoint fingerprint through an independent source, pin it, and prove key authentication on port 2207.</a:t>
            </a:r>
          </a:p>
        </p:txBody>
      </p:sp>
      <p:sp>
        <p:nvSpPr>
          <p:cNvPr id="7" name="">
            <a:extLst xmlns:a="http://schemas.openxmlformats.org/drawingml/2006/main">
              <a:ext uri="{FF2B5EF4-FFF2-40B4-BE49-F238E27FC236}">
                <a16:creationId xmlns:a16="http://schemas.microsoft.com/office/drawing/2014/main" id="{5E963E0E-AE53-4D42-8399-8D98357A62C0}"/>
              </a:ext>
            </a:extLst>
          </p:cNvPr>
          <p:cNvSpPr>
            <a:spLocks xmlns:a="http://schemas.openxmlformats.org/drawingml/2006/main" noGrp="1"/>
          </p:cNvSpPr>
          <p:nvPr/>
        </p:nvSpPr>
        <p:spPr>
          <a:xfrm xmlns:a="http://schemas.openxmlformats.org/drawingml/2006/main">
            <a:off x="666750" y="2476500"/>
            <a:ext cx="10096500" cy="781050"/>
          </a:xfrm>
          <a:prstGeom xmlns:a="http://schemas.openxmlformats.org/drawingml/2006/main" prst="roundRect">
            <a:avLst>
              <a:gd name="adj" fmla="val 14634"/>
            </a:avLst>
          </a:prstGeom>
          <a:solidFill xmlns:a="http://schemas.openxmlformats.org/drawingml/2006/main">
            <a:srgbClr val="2C173E"/>
          </a:solidFill>
          <a:ln xmlns:a="http://schemas.openxmlformats.org/drawingml/2006/main" w="9525">
            <a:solidFill>
              <a:srgbClr val="7650F8"/>
            </a:solidFill>
            <a:prstDash val="solid"/>
          </a:ln>
        </p:spPr>
      </p:sp>
      <p:sp>
        <p:nvSpPr>
          <p:cNvPr id="8" name="">
            <a:extLst xmlns:a="http://schemas.openxmlformats.org/drawingml/2006/main">
              <a:ext uri="{FF2B5EF4-FFF2-40B4-BE49-F238E27FC236}">
                <a16:creationId xmlns:a16="http://schemas.microsoft.com/office/drawing/2014/main" id="{E87CB636-0BB1-49EE-A485-29E5CD062788}"/>
              </a:ext>
            </a:extLst>
          </p:cNvPr>
          <p:cNvSpPr>
            <a:spLocks xmlns:a="http://schemas.openxmlformats.org/drawingml/2006/main" noGrp="1"/>
          </p:cNvSpPr>
          <p:nvPr/>
        </p:nvSpPr>
        <p:spPr>
          <a:xfrm xmlns:a="http://schemas.openxmlformats.org/drawingml/2006/main">
            <a:off x="895350" y="2590800"/>
            <a:ext cx="9620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FFFFFF"/>
                </a:solidFill>
              </a:defRPr>
            </a:pPr>
            <a:r>
              <a:rPr sz="1575" b="0">
                <a:solidFill>
                  <a:srgbClr val="FFFFFF"/>
                </a:solidFill>
              </a:rPr>
              <a:t>Compare the demo endpoint fingerprint through an independent source, pin it, and prove key authentication on port 2207.</a:t>
            </a:r>
          </a:p>
        </p:txBody>
      </p:sp>
      <p:sp>
        <p:nvSpPr>
          <p:cNvPr id="9" name="">
            <a:extLst xmlns:a="http://schemas.openxmlformats.org/drawingml/2006/main">
              <a:ext uri="{FF2B5EF4-FFF2-40B4-BE49-F238E27FC236}">
                <a16:creationId xmlns:a16="http://schemas.microsoft.com/office/drawing/2014/main" id="{F59C620C-C677-4DFF-BA85-D231DA8903EA}"/>
              </a:ext>
            </a:extLst>
          </p:cNvPr>
          <p:cNvSpPr>
            <a:spLocks xmlns:a="http://schemas.openxmlformats.org/drawingml/2006/main" noGrp="1"/>
          </p:cNvSpPr>
          <p:nvPr/>
        </p:nvSpPr>
        <p:spPr>
          <a:xfrm xmlns:a="http://schemas.openxmlformats.org/drawingml/2006/main">
            <a:off x="904875" y="38195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5814F78-A988-4924-B6AB-E4D3854C241C}"/>
              </a:ext>
            </a:extLst>
          </p:cNvPr>
          <p:cNvSpPr>
            <a:spLocks xmlns:a="http://schemas.openxmlformats.org/drawingml/2006/main" noGrp="1"/>
          </p:cNvSpPr>
          <p:nvPr/>
        </p:nvSpPr>
        <p:spPr>
          <a:xfrm xmlns:a="http://schemas.openxmlformats.org/drawingml/2006/main">
            <a:off x="1152525" y="3619500"/>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State the operating question</a:t>
            </a:r>
          </a:p>
        </p:txBody>
      </p:sp>
      <p:sp>
        <p:nvSpPr>
          <p:cNvPr id="11" name="">
            <a:extLst xmlns:a="http://schemas.openxmlformats.org/drawingml/2006/main">
              <a:ext uri="{FF2B5EF4-FFF2-40B4-BE49-F238E27FC236}">
                <a16:creationId xmlns:a16="http://schemas.microsoft.com/office/drawing/2014/main" id="{56EFCFCB-9C35-4CFA-8490-BCC61196819C}"/>
              </a:ext>
            </a:extLst>
          </p:cNvPr>
          <p:cNvSpPr>
            <a:spLocks xmlns:a="http://schemas.openxmlformats.org/drawingml/2006/main" noGrp="1"/>
          </p:cNvSpPr>
          <p:nvPr/>
        </p:nvSpPr>
        <p:spPr>
          <a:xfrm xmlns:a="http://schemas.openxmlformats.org/drawingml/2006/main">
            <a:off x="904875" y="43434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3D10A25-A24F-4510-A726-08B2C9D41CAE}"/>
              </a:ext>
            </a:extLst>
          </p:cNvPr>
          <p:cNvSpPr>
            <a:spLocks xmlns:a="http://schemas.openxmlformats.org/drawingml/2006/main" noGrp="1"/>
          </p:cNvSpPr>
          <p:nvPr/>
        </p:nvSpPr>
        <p:spPr>
          <a:xfrm xmlns:a="http://schemas.openxmlformats.org/drawingml/2006/main">
            <a:off x="1152525" y="4143375"/>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Ask for one prediction</a:t>
            </a:r>
          </a:p>
        </p:txBody>
      </p:sp>
      <p:sp>
        <p:nvSpPr>
          <p:cNvPr id="13" name="">
            <a:extLst xmlns:a="http://schemas.openxmlformats.org/drawingml/2006/main">
              <a:ext uri="{FF2B5EF4-FFF2-40B4-BE49-F238E27FC236}">
                <a16:creationId xmlns:a16="http://schemas.microsoft.com/office/drawing/2014/main" id="{CF6FB540-340D-43ED-A5D5-7F18591107F5}"/>
              </a:ext>
            </a:extLst>
          </p:cNvPr>
          <p:cNvSpPr>
            <a:spLocks xmlns:a="http://schemas.openxmlformats.org/drawingml/2006/main" noGrp="1"/>
          </p:cNvSpPr>
          <p:nvPr/>
        </p:nvSpPr>
        <p:spPr>
          <a:xfrm xmlns:a="http://schemas.openxmlformats.org/drawingml/2006/main">
            <a:off x="904875" y="48672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844139F-0070-44BE-A60B-568DA296F90F}"/>
              </a:ext>
            </a:extLst>
          </p:cNvPr>
          <p:cNvSpPr>
            <a:spLocks xmlns:a="http://schemas.openxmlformats.org/drawingml/2006/main" noGrp="1"/>
          </p:cNvSpPr>
          <p:nvPr/>
        </p:nvSpPr>
        <p:spPr>
          <a:xfrm xmlns:a="http://schemas.openxmlformats.org/drawingml/2006/main">
            <a:off x="1152525" y="4667250"/>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Run one command at a time</a:t>
            </a:r>
          </a:p>
        </p:txBody>
      </p:sp>
      <p:sp>
        <p:nvSpPr>
          <p:cNvPr id="15" name="">
            <a:extLst xmlns:a="http://schemas.openxmlformats.org/drawingml/2006/main">
              <a:ext uri="{FF2B5EF4-FFF2-40B4-BE49-F238E27FC236}">
                <a16:creationId xmlns:a16="http://schemas.microsoft.com/office/drawing/2014/main" id="{C684223C-64E2-45A0-9D1F-4BEFD4E03661}"/>
              </a:ext>
            </a:extLst>
          </p:cNvPr>
          <p:cNvSpPr>
            <a:spLocks xmlns:a="http://schemas.openxmlformats.org/drawingml/2006/main" noGrp="1"/>
          </p:cNvSpPr>
          <p:nvPr/>
        </p:nvSpPr>
        <p:spPr>
          <a:xfrm xmlns:a="http://schemas.openxmlformats.org/drawingml/2006/main">
            <a:off x="904875" y="539115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3EE5D220-13AB-4073-9E2B-D4AD0A07576A}"/>
              </a:ext>
            </a:extLst>
          </p:cNvPr>
          <p:cNvSpPr>
            <a:spLocks xmlns:a="http://schemas.openxmlformats.org/drawingml/2006/main" noGrp="1"/>
          </p:cNvSpPr>
          <p:nvPr/>
        </p:nvSpPr>
        <p:spPr>
          <a:xfrm xmlns:a="http://schemas.openxmlformats.org/drawingml/2006/main">
            <a:off x="1152525" y="5191125"/>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Verify through a different interface</a:t>
            </a:r>
          </a:p>
        </p:txBody>
      </p:sp>
      <p:sp>
        <p:nvSpPr>
          <p:cNvPr id="17" name="">
            <a:extLst xmlns:a="http://schemas.openxmlformats.org/drawingml/2006/main">
              <a:ext uri="{FF2B5EF4-FFF2-40B4-BE49-F238E27FC236}">
                <a16:creationId xmlns:a16="http://schemas.microsoft.com/office/drawing/2014/main" id="{51E53152-DDC2-4EDF-9D84-958BA32AAA27}"/>
              </a:ext>
            </a:extLst>
          </p:cNvPr>
          <p:cNvSpPr>
            <a:spLocks xmlns:a="http://schemas.openxmlformats.org/drawingml/2006/main" noGrp="1"/>
          </p:cNvSpPr>
          <p:nvPr/>
        </p:nvSpPr>
        <p:spPr>
          <a:xfrm xmlns:a="http://schemas.openxmlformats.org/drawingml/2006/main">
            <a:off x="904875" y="5886450"/>
            <a:ext cx="962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00" b="1">
                <a:solidFill>
                  <a:srgbClr val="71D6B3"/>
                </a:solidFill>
              </a:defRPr>
            </a:pPr>
            <a:r>
              <a:rPr sz="1200" b="1">
                <a:solidFill>
                  <a:srgbClr val="71D6B3"/>
                </a:solidFill>
              </a:rPr>
              <a:t>Instructor seat only · predict before typing · verify through another interface</a:t>
            </a:r>
          </a:p>
        </p:txBody>
      </p:sp>
    </p:spTree>
    <p:extLst>
      <p:ext uri="{BB962C8B-B14F-4D97-AF65-F5344CB8AC3E}">
        <p14:creationId xmlns:p14="http://schemas.microsoft.com/office/powerpoint/2010/main" val="2036692139"/>
      </p:ext>
    </p:extLst>
  </p:cSld>
</p:sld>
</file>

<file path=ppt/slides/slide64.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CD477E4-7CD2-478A-9909-7BD2FBF2BE4F}"/>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128CC94-3BDE-4653-B36E-1E017013BCD5}"/>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6 · LAB READINESS</a:t>
            </a:r>
          </a:p>
        </p:txBody>
      </p:sp>
      <p:sp>
        <p:nvSpPr>
          <p:cNvPr id="3" name="">
            <a:extLst xmlns:a="http://schemas.openxmlformats.org/drawingml/2006/main">
              <a:ext uri="{FF2B5EF4-FFF2-40B4-BE49-F238E27FC236}">
                <a16:creationId xmlns:a16="http://schemas.microsoft.com/office/drawing/2014/main" id="{931B5A0B-C0A6-4E70-99E8-7310994A6DB7}"/>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4A4ADB83-5B54-48D9-997B-F190E50EFF92}"/>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64</a:t>
            </a:r>
          </a:p>
        </p:txBody>
      </p:sp>
      <p:sp>
        <p:nvSpPr>
          <p:cNvPr id="5" name="">
            <a:extLst xmlns:a="http://schemas.openxmlformats.org/drawingml/2006/main">
              <a:ext uri="{FF2B5EF4-FFF2-40B4-BE49-F238E27FC236}">
                <a16:creationId xmlns:a16="http://schemas.microsoft.com/office/drawing/2014/main" id="{A44A099B-92AB-43C5-B6ED-43E74ED805B0}"/>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Before Lab 6, you should be able to…</a:t>
            </a:r>
          </a:p>
        </p:txBody>
      </p:sp>
      <p:sp>
        <p:nvSpPr>
          <p:cNvPr id="6" name="">
            <a:extLst xmlns:a="http://schemas.openxmlformats.org/drawingml/2006/main">
              <a:ext uri="{FF2B5EF4-FFF2-40B4-BE49-F238E27FC236}">
                <a16:creationId xmlns:a16="http://schemas.microsoft.com/office/drawing/2014/main" id="{4A1DBDFC-7F72-408B-8606-19CF7892369B}"/>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If one item is unclear, revisit the model or worked example before opening the terminal.</a:t>
            </a:r>
          </a:p>
        </p:txBody>
      </p:sp>
      <p:sp>
        <p:nvSpPr>
          <p:cNvPr id="7" name="">
            <a:extLst xmlns:a="http://schemas.openxmlformats.org/drawingml/2006/main">
              <a:ext uri="{FF2B5EF4-FFF2-40B4-BE49-F238E27FC236}">
                <a16:creationId xmlns:a16="http://schemas.microsoft.com/office/drawing/2014/main" id="{47D4C4B8-5BE1-423A-913D-6551A695CB39}"/>
              </a:ext>
            </a:extLst>
          </p:cNvPr>
          <p:cNvSpPr>
            <a:spLocks xmlns:a="http://schemas.openxmlformats.org/drawingml/2006/main" noGrp="1"/>
          </p:cNvSpPr>
          <p:nvPr/>
        </p:nvSpPr>
        <p:spPr>
          <a:xfrm xmlns:a="http://schemas.openxmlformats.org/drawingml/2006/main">
            <a:off x="781050" y="29051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BE47EC9-A617-4EED-A49F-48637DD76CD5}"/>
              </a:ext>
            </a:extLst>
          </p:cNvPr>
          <p:cNvSpPr>
            <a:spLocks xmlns:a="http://schemas.openxmlformats.org/drawingml/2006/main" noGrp="1"/>
          </p:cNvSpPr>
          <p:nvPr/>
        </p:nvSpPr>
        <p:spPr>
          <a:xfrm xmlns:a="http://schemas.openxmlformats.org/drawingml/2006/main">
            <a:off x="1028700" y="26479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Separate transport, server identity, and user identity</a:t>
            </a:r>
          </a:p>
        </p:txBody>
      </p:sp>
      <p:sp>
        <p:nvSpPr>
          <p:cNvPr id="9" name="">
            <a:extLst xmlns:a="http://schemas.openxmlformats.org/drawingml/2006/main">
              <a:ext uri="{FF2B5EF4-FFF2-40B4-BE49-F238E27FC236}">
                <a16:creationId xmlns:a16="http://schemas.microsoft.com/office/drawing/2014/main" id="{1877CFF6-3679-4540-AC1F-284953DF7B68}"/>
              </a:ext>
            </a:extLst>
          </p:cNvPr>
          <p:cNvSpPr>
            <a:spLocks xmlns:a="http://schemas.openxmlformats.org/drawingml/2006/main" noGrp="1"/>
          </p:cNvSpPr>
          <p:nvPr/>
        </p:nvSpPr>
        <p:spPr>
          <a:xfrm xmlns:a="http://schemas.openxmlformats.org/drawingml/2006/main">
            <a:off x="781050" y="355282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FEFCC0B-6F9E-4F12-ADB8-42D4F2F73BB4}"/>
              </a:ext>
            </a:extLst>
          </p:cNvPr>
          <p:cNvSpPr>
            <a:spLocks xmlns:a="http://schemas.openxmlformats.org/drawingml/2006/main" noGrp="1"/>
          </p:cNvSpPr>
          <p:nvPr/>
        </p:nvSpPr>
        <p:spPr>
          <a:xfrm xmlns:a="http://schemas.openxmlformats.org/drawingml/2006/main">
            <a:off x="1028700" y="32956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Protect the private key and authorization path</a:t>
            </a:r>
          </a:p>
        </p:txBody>
      </p:sp>
      <p:sp>
        <p:nvSpPr>
          <p:cNvPr id="11" name="">
            <a:extLst xmlns:a="http://schemas.openxmlformats.org/drawingml/2006/main">
              <a:ext uri="{FF2B5EF4-FFF2-40B4-BE49-F238E27FC236}">
                <a16:creationId xmlns:a16="http://schemas.microsoft.com/office/drawing/2014/main" id="{A0B2B4A6-3A94-4466-B724-121F20603C41}"/>
              </a:ext>
            </a:extLst>
          </p:cNvPr>
          <p:cNvSpPr>
            <a:spLocks xmlns:a="http://schemas.openxmlformats.org/drawingml/2006/main" noGrp="1"/>
          </p:cNvSpPr>
          <p:nvPr/>
        </p:nvSpPr>
        <p:spPr>
          <a:xfrm xmlns:a="http://schemas.openxmlformats.org/drawingml/2006/main">
            <a:off x="781050" y="42005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7A63EF2-4F37-443A-BC52-01AAC5C78339}"/>
              </a:ext>
            </a:extLst>
          </p:cNvPr>
          <p:cNvSpPr>
            <a:spLocks xmlns:a="http://schemas.openxmlformats.org/drawingml/2006/main" noGrp="1"/>
          </p:cNvSpPr>
          <p:nvPr/>
        </p:nvSpPr>
        <p:spPr>
          <a:xfrm xmlns:a="http://schemas.openxmlformats.org/drawingml/2006/main">
            <a:off x="1028700" y="39433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Diagnose network, host-key, and user-key failures separately</a:t>
            </a:r>
          </a:p>
        </p:txBody>
      </p:sp>
    </p:spTree>
    <p:extLst>
      <p:ext uri="{BB962C8B-B14F-4D97-AF65-F5344CB8AC3E}">
        <p14:creationId xmlns:p14="http://schemas.microsoft.com/office/powerpoint/2010/main" val="143750354"/>
      </p:ext>
    </p:extLst>
  </p:cSld>
</p:sld>
</file>

<file path=ppt/slides/slide65.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755135F-B7FC-4ECB-B3D3-655721B05BAA}"/>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26DE4D6-230E-47B0-9EE9-AEAB8E94CD11}"/>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HANDS-ON · LAB 6</a:t>
            </a:r>
          </a:p>
        </p:txBody>
      </p:sp>
      <p:sp>
        <p:nvSpPr>
          <p:cNvPr id="3" name="">
            <a:extLst xmlns:a="http://schemas.openxmlformats.org/drawingml/2006/main">
              <a:ext uri="{FF2B5EF4-FFF2-40B4-BE49-F238E27FC236}">
                <a16:creationId xmlns:a16="http://schemas.microsoft.com/office/drawing/2014/main" id="{79231125-DB74-417C-8E8D-512ED9492A8C}"/>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C629DB96-BE81-49CE-A73E-B60E1F14F6D7}"/>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65</a:t>
            </a:r>
          </a:p>
        </p:txBody>
      </p:sp>
      <p:sp>
        <p:nvSpPr>
          <p:cNvPr id="5" name="">
            <a:extLst xmlns:a="http://schemas.openxmlformats.org/drawingml/2006/main">
              <a:ext uri="{FF2B5EF4-FFF2-40B4-BE49-F238E27FC236}">
                <a16:creationId xmlns:a16="http://schemas.microsoft.com/office/drawing/2014/main" id="{10FCB625-17A4-4E7C-93AE-22AF93DAAF8F}"/>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SSH transport, host trust, and user authentication</a:t>
            </a:r>
          </a:p>
        </p:txBody>
      </p:sp>
      <p:sp>
        <p:nvSpPr>
          <p:cNvPr id="6" name="">
            <a:extLst xmlns:a="http://schemas.openxmlformats.org/drawingml/2006/main">
              <a:ext uri="{FF2B5EF4-FFF2-40B4-BE49-F238E27FC236}">
                <a16:creationId xmlns:a16="http://schemas.microsoft.com/office/drawing/2014/main" id="{42B86E9A-D73D-4935-ADD1-54D0F50595C1}"/>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Create a strict client profile for training-server on port 2222, verify its host key, authorize a dedicated user key, and prove BatchMode login.</a:t>
            </a:r>
          </a:p>
        </p:txBody>
      </p:sp>
      <p:sp>
        <p:nvSpPr>
          <p:cNvPr id="7" name="">
            <a:extLst xmlns:a="http://schemas.openxmlformats.org/drawingml/2006/main">
              <a:ext uri="{FF2B5EF4-FFF2-40B4-BE49-F238E27FC236}">
                <a16:creationId xmlns:a16="http://schemas.microsoft.com/office/drawing/2014/main" id="{AB36DCC3-11EA-4918-AED7-97BC0849C7A5}"/>
              </a:ext>
            </a:extLst>
          </p:cNvPr>
          <p:cNvSpPr>
            <a:spLocks xmlns:a="http://schemas.openxmlformats.org/drawingml/2006/main" noGrp="1"/>
          </p:cNvSpPr>
          <p:nvPr/>
        </p:nvSpPr>
        <p:spPr>
          <a:xfrm xmlns:a="http://schemas.openxmlformats.org/drawingml/2006/main">
            <a:off x="514350" y="2457450"/>
            <a:ext cx="6762750" cy="2286000"/>
          </a:xfrm>
          <a:prstGeom xmlns:a="http://schemas.openxmlformats.org/drawingml/2006/main" prst="roundRect">
            <a:avLst>
              <a:gd name="adj" fmla="val 5000"/>
            </a:avLst>
          </a:prstGeom>
          <a:solidFill xmlns:a="http://schemas.openxmlformats.org/drawingml/2006/main">
            <a:srgbClr val="180D2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AE3A8A7-C033-42EE-A8B0-BF03B91EFFB1}"/>
              </a:ext>
            </a:extLst>
          </p:cNvPr>
          <p:cNvSpPr>
            <a:spLocks xmlns:a="http://schemas.openxmlformats.org/drawingml/2006/main" noGrp="1"/>
          </p:cNvSpPr>
          <p:nvPr/>
        </p:nvSpPr>
        <p:spPr>
          <a:xfrm xmlns:a="http://schemas.openxmlformats.org/drawingml/2006/main">
            <a:off x="781050" y="2647950"/>
            <a:ext cx="6238875" cy="1847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FFFFFF"/>
                </a:solidFill>
              </a:defRPr>
            </a:pPr>
            <a:r>
              <a:rPr sz="1650" b="0">
                <a:solidFill>
                  <a:srgbClr val="FFFFFF"/>
                </a:solidFill>
              </a:rPr>
              <a:t>Create a strict client profile for training-server on port 2222, verify its host key, authorize a dedicated user key, and prove BatchMode login.</a:t>
            </a:r>
          </a:p>
        </p:txBody>
      </p:sp>
      <p:sp>
        <p:nvSpPr>
          <p:cNvPr id="9" name="">
            <a:extLst xmlns:a="http://schemas.openxmlformats.org/drawingml/2006/main">
              <a:ext uri="{FF2B5EF4-FFF2-40B4-BE49-F238E27FC236}">
                <a16:creationId xmlns:a16="http://schemas.microsoft.com/office/drawing/2014/main" id="{DE22A499-B8D4-4651-BBFA-72B9227A40D5}"/>
              </a:ext>
            </a:extLst>
          </p:cNvPr>
          <p:cNvSpPr>
            <a:spLocks xmlns:a="http://schemas.openxmlformats.org/drawingml/2006/main" noGrp="1"/>
          </p:cNvSpPr>
          <p:nvPr/>
        </p:nvSpPr>
        <p:spPr>
          <a:xfrm xmlns:a="http://schemas.openxmlformats.org/drawingml/2006/main">
            <a:off x="7762875" y="26955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BC439C7-75C8-4923-88E7-816E24C182F1}"/>
              </a:ext>
            </a:extLst>
          </p:cNvPr>
          <p:cNvSpPr>
            <a:spLocks xmlns:a="http://schemas.openxmlformats.org/drawingml/2006/main" noGrp="1"/>
          </p:cNvSpPr>
          <p:nvPr/>
        </p:nvSpPr>
        <p:spPr>
          <a:xfrm xmlns:a="http://schemas.openxmlformats.org/drawingml/2006/main">
            <a:off x="8010525" y="24765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25 minutes</a:t>
            </a:r>
          </a:p>
        </p:txBody>
      </p:sp>
      <p:sp>
        <p:nvSpPr>
          <p:cNvPr id="11" name="">
            <a:extLst xmlns:a="http://schemas.openxmlformats.org/drawingml/2006/main">
              <a:ext uri="{FF2B5EF4-FFF2-40B4-BE49-F238E27FC236}">
                <a16:creationId xmlns:a16="http://schemas.microsoft.com/office/drawing/2014/main" id="{6B170F8C-9940-46F2-8B98-E78A0AED65E2}"/>
              </a:ext>
            </a:extLst>
          </p:cNvPr>
          <p:cNvSpPr>
            <a:spLocks xmlns:a="http://schemas.openxmlformats.org/drawingml/2006/main" noGrp="1"/>
          </p:cNvSpPr>
          <p:nvPr/>
        </p:nvSpPr>
        <p:spPr>
          <a:xfrm xmlns:a="http://schemas.openxmlformats.org/drawingml/2006/main">
            <a:off x="7762875" y="32670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47B2CA1-97A7-4FC1-B8B5-8A480E5C5A43}"/>
              </a:ext>
            </a:extLst>
          </p:cNvPr>
          <p:cNvSpPr>
            <a:spLocks xmlns:a="http://schemas.openxmlformats.org/drawingml/2006/main" noGrp="1"/>
          </p:cNvSpPr>
          <p:nvPr/>
        </p:nvSpPr>
        <p:spPr>
          <a:xfrm xmlns:a="http://schemas.openxmlformats.org/drawingml/2006/main">
            <a:off x="8010525" y="30480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Prepare/reset only this lab</a:t>
            </a:r>
          </a:p>
        </p:txBody>
      </p:sp>
      <p:sp>
        <p:nvSpPr>
          <p:cNvPr id="13" name="">
            <a:extLst xmlns:a="http://schemas.openxmlformats.org/drawingml/2006/main">
              <a:ext uri="{FF2B5EF4-FFF2-40B4-BE49-F238E27FC236}">
                <a16:creationId xmlns:a16="http://schemas.microsoft.com/office/drawing/2014/main" id="{90755D4D-FAEA-486E-A33B-ECD6098D71E2}"/>
              </a:ext>
            </a:extLst>
          </p:cNvPr>
          <p:cNvSpPr>
            <a:spLocks xmlns:a="http://schemas.openxmlformats.org/drawingml/2006/main" noGrp="1"/>
          </p:cNvSpPr>
          <p:nvPr/>
        </p:nvSpPr>
        <p:spPr>
          <a:xfrm xmlns:a="http://schemas.openxmlformats.org/drawingml/2006/main">
            <a:off x="7762875" y="38385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586DB64-2A37-4662-872D-E5CD0B1850ED}"/>
              </a:ext>
            </a:extLst>
          </p:cNvPr>
          <p:cNvSpPr>
            <a:spLocks xmlns:a="http://schemas.openxmlformats.org/drawingml/2006/main" noGrp="1"/>
          </p:cNvSpPr>
          <p:nvPr/>
        </p:nvSpPr>
        <p:spPr>
          <a:xfrm xmlns:a="http://schemas.openxmlformats.org/drawingml/2006/main">
            <a:off x="8010525" y="36195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Check observable state</a:t>
            </a:r>
          </a:p>
        </p:txBody>
      </p:sp>
      <p:sp>
        <p:nvSpPr>
          <p:cNvPr id="15" name="">
            <a:extLst xmlns:a="http://schemas.openxmlformats.org/drawingml/2006/main">
              <a:ext uri="{FF2B5EF4-FFF2-40B4-BE49-F238E27FC236}">
                <a16:creationId xmlns:a16="http://schemas.microsoft.com/office/drawing/2014/main" id="{E1DE8CDE-3553-4E66-A89A-890C568D8FE3}"/>
              </a:ext>
            </a:extLst>
          </p:cNvPr>
          <p:cNvSpPr>
            <a:spLocks xmlns:a="http://schemas.openxmlformats.org/drawingml/2006/main" noGrp="1"/>
          </p:cNvSpPr>
          <p:nvPr/>
        </p:nvSpPr>
        <p:spPr>
          <a:xfrm xmlns:a="http://schemas.openxmlformats.org/drawingml/2006/main">
            <a:off x="7762875" y="44100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43ECCED4-338C-4448-A5D6-9C5F81BF5F49}"/>
              </a:ext>
            </a:extLst>
          </p:cNvPr>
          <p:cNvSpPr>
            <a:spLocks xmlns:a="http://schemas.openxmlformats.org/drawingml/2006/main" noGrp="1"/>
          </p:cNvSpPr>
          <p:nvPr/>
        </p:nvSpPr>
        <p:spPr>
          <a:xfrm xmlns:a="http://schemas.openxmlformats.org/drawingml/2006/main">
            <a:off x="8010525" y="41910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Explain why the result follows</a:t>
            </a:r>
          </a:p>
        </p:txBody>
      </p:sp>
      <p:sp>
        <p:nvSpPr>
          <p:cNvPr id="17" name="">
            <a:extLst xmlns:a="http://schemas.openxmlformats.org/drawingml/2006/main">
              <a:ext uri="{FF2B5EF4-FFF2-40B4-BE49-F238E27FC236}">
                <a16:creationId xmlns:a16="http://schemas.microsoft.com/office/drawing/2014/main" id="{4D452694-D115-4CE5-84A1-2AC999EBAD91}"/>
              </a:ext>
            </a:extLst>
          </p:cNvPr>
          <p:cNvSpPr>
            <a:spLocks xmlns:a="http://schemas.openxmlformats.org/drawingml/2006/main" noGrp="1"/>
          </p:cNvSpPr>
          <p:nvPr/>
        </p:nvSpPr>
        <p:spPr>
          <a:xfrm xmlns:a="http://schemas.openxmlformats.org/drawingml/2006/main">
            <a:off x="514350" y="5391150"/>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350" b="1">
                <a:solidFill>
                  <a:srgbClr val="7650F8"/>
                </a:solidFill>
              </a:defRPr>
            </a:pPr>
            <a:r>
              <a:rPr sz="1350" b="1">
                <a:solidFill>
                  <a:srgbClr val="7650F8"/>
                </a:solidFill>
              </a:rPr>
              <a:t>Open the lab guide for exact tasks, hints, recovery, and checker criteria.</a:t>
            </a:r>
          </a:p>
        </p:txBody>
      </p:sp>
    </p:spTree>
    <p:extLst>
      <p:ext uri="{BB962C8B-B14F-4D97-AF65-F5344CB8AC3E}">
        <p14:creationId xmlns:p14="http://schemas.microsoft.com/office/powerpoint/2010/main" val="824142721"/>
      </p:ext>
    </p:extLst>
  </p:cSld>
</p:sld>
</file>

<file path=ppt/slides/slide66.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77BA52E-352D-48F3-95CD-76009F7822A6}"/>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6C8613B-BC4F-4015-9485-D2A4EE697F49}"/>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6 · DEBRIEF</a:t>
            </a:r>
          </a:p>
        </p:txBody>
      </p:sp>
      <p:sp>
        <p:nvSpPr>
          <p:cNvPr id="3" name="">
            <a:extLst xmlns:a="http://schemas.openxmlformats.org/drawingml/2006/main">
              <a:ext uri="{FF2B5EF4-FFF2-40B4-BE49-F238E27FC236}">
                <a16:creationId xmlns:a16="http://schemas.microsoft.com/office/drawing/2014/main" id="{5274AB7A-4348-46B6-9354-E407BDF46171}"/>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F69DD0B8-79C1-4257-98D5-BF2E2D0972C9}"/>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66</a:t>
            </a:r>
          </a:p>
        </p:txBody>
      </p:sp>
      <p:sp>
        <p:nvSpPr>
          <p:cNvPr id="5" name="">
            <a:extLst xmlns:a="http://schemas.openxmlformats.org/drawingml/2006/main">
              <a:ext uri="{FF2B5EF4-FFF2-40B4-BE49-F238E27FC236}">
                <a16:creationId xmlns:a16="http://schemas.microsoft.com/office/drawing/2014/main" id="{A2BAD6DB-7E35-4374-A2FB-C1A7F67E5E47}"/>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Connect the result to the model</a:t>
            </a:r>
          </a:p>
        </p:txBody>
      </p:sp>
      <p:sp>
        <p:nvSpPr>
          <p:cNvPr id="6" name="">
            <a:extLst xmlns:a="http://schemas.openxmlformats.org/drawingml/2006/main">
              <a:ext uri="{FF2B5EF4-FFF2-40B4-BE49-F238E27FC236}">
                <a16:creationId xmlns:a16="http://schemas.microsoft.com/office/drawing/2014/main" id="{1DEDA6F5-5FF5-4959-93C5-EFFC67F005D2}"/>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A successful SSH session rests on two explicit trust decisions. Next, logs will help reconstruct what happened when a service or login fails.</a:t>
            </a:r>
          </a:p>
        </p:txBody>
      </p:sp>
      <p:sp>
        <p:nvSpPr>
          <p:cNvPr id="7" name="">
            <a:extLst xmlns:a="http://schemas.openxmlformats.org/drawingml/2006/main">
              <a:ext uri="{FF2B5EF4-FFF2-40B4-BE49-F238E27FC236}">
                <a16:creationId xmlns:a16="http://schemas.microsoft.com/office/drawing/2014/main" id="{DC79B444-807D-4009-9AB4-4FAFD4730D42}"/>
              </a:ext>
            </a:extLst>
          </p:cNvPr>
          <p:cNvSpPr>
            <a:spLocks xmlns:a="http://schemas.openxmlformats.org/drawingml/2006/main" noGrp="1"/>
          </p:cNvSpPr>
          <p:nvPr/>
        </p:nvSpPr>
        <p:spPr>
          <a:xfrm xmlns:a="http://schemas.openxmlformats.org/drawingml/2006/main">
            <a:off x="514350" y="2524125"/>
            <a:ext cx="10668000" cy="1219200"/>
          </a:xfrm>
          <a:prstGeom xmlns:a="http://schemas.openxmlformats.org/drawingml/2006/main" prst="roundRect">
            <a:avLst>
              <a:gd name="adj" fmla="val 9375"/>
            </a:avLst>
          </a:prstGeom>
          <a:solidFill xmlns:a="http://schemas.openxmlformats.org/drawingml/2006/main">
            <a:srgbClr val="F0E7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6E8C27C-AC6B-4461-A557-FDA6771AE3D5}"/>
              </a:ext>
            </a:extLst>
          </p:cNvPr>
          <p:cNvSpPr>
            <a:spLocks xmlns:a="http://schemas.openxmlformats.org/drawingml/2006/main" noGrp="1"/>
          </p:cNvSpPr>
          <p:nvPr/>
        </p:nvSpPr>
        <p:spPr>
          <a:xfrm xmlns:a="http://schemas.openxmlformats.org/drawingml/2006/main">
            <a:off x="762000" y="2686050"/>
            <a:ext cx="10191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1">
                <a:solidFill>
                  <a:srgbClr val="211729"/>
                </a:solidFill>
              </a:defRPr>
            </a:pPr>
            <a:r>
              <a:rPr sz="1725" b="1">
                <a:solidFill>
                  <a:srgbClr val="211729"/>
                </a:solidFill>
              </a:rPr>
              <a:t>A successful SSH session rests on two explicit trust decisions. Next, logs will help reconstruct what happened when a service or login fails.</a:t>
            </a:r>
          </a:p>
        </p:txBody>
      </p:sp>
      <p:sp>
        <p:nvSpPr>
          <p:cNvPr id="9" name="">
            <a:extLst xmlns:a="http://schemas.openxmlformats.org/drawingml/2006/main">
              <a:ext uri="{FF2B5EF4-FFF2-40B4-BE49-F238E27FC236}">
                <a16:creationId xmlns:a16="http://schemas.microsoft.com/office/drawing/2014/main" id="{1BE75C54-7DA8-459A-957F-D0889FFC3534}"/>
              </a:ext>
            </a:extLst>
          </p:cNvPr>
          <p:cNvSpPr>
            <a:spLocks xmlns:a="http://schemas.openxmlformats.org/drawingml/2006/main" noGrp="1"/>
          </p:cNvSpPr>
          <p:nvPr/>
        </p:nvSpPr>
        <p:spPr>
          <a:xfrm xmlns:a="http://schemas.openxmlformats.org/drawingml/2006/main">
            <a:off x="762000" y="43243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7277C6C-ACCA-43C9-86C9-60E93DD652FE}"/>
              </a:ext>
            </a:extLst>
          </p:cNvPr>
          <p:cNvSpPr>
            <a:spLocks xmlns:a="http://schemas.openxmlformats.org/drawingml/2006/main" noGrp="1"/>
          </p:cNvSpPr>
          <p:nvPr/>
        </p:nvSpPr>
        <p:spPr>
          <a:xfrm xmlns:a="http://schemas.openxmlformats.org/drawingml/2006/main">
            <a:off x="1009650" y="4095750"/>
            <a:ext cx="9658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What was declared or expected?</a:t>
            </a:r>
          </a:p>
        </p:txBody>
      </p:sp>
      <p:sp>
        <p:nvSpPr>
          <p:cNvPr id="11" name="">
            <a:extLst xmlns:a="http://schemas.openxmlformats.org/drawingml/2006/main">
              <a:ext uri="{FF2B5EF4-FFF2-40B4-BE49-F238E27FC236}">
                <a16:creationId xmlns:a16="http://schemas.microsoft.com/office/drawing/2014/main" id="{5B66419F-32DA-4EBD-A1E6-BD4CA246F80E}"/>
              </a:ext>
            </a:extLst>
          </p:cNvPr>
          <p:cNvSpPr>
            <a:spLocks xmlns:a="http://schemas.openxmlformats.org/drawingml/2006/main" noGrp="1"/>
          </p:cNvSpPr>
          <p:nvPr/>
        </p:nvSpPr>
        <p:spPr>
          <a:xfrm xmlns:a="http://schemas.openxmlformats.org/drawingml/2006/main">
            <a:off x="762000" y="49149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1B23AB9-C4D9-4131-A5D2-BB3D56A32051}"/>
              </a:ext>
            </a:extLst>
          </p:cNvPr>
          <p:cNvSpPr>
            <a:spLocks xmlns:a="http://schemas.openxmlformats.org/drawingml/2006/main" noGrp="1"/>
          </p:cNvSpPr>
          <p:nvPr/>
        </p:nvSpPr>
        <p:spPr>
          <a:xfrm xmlns:a="http://schemas.openxmlformats.org/drawingml/2006/main">
            <a:off x="1009650" y="4686300"/>
            <a:ext cx="9658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What runtime state did you observe?</a:t>
            </a:r>
          </a:p>
        </p:txBody>
      </p:sp>
      <p:sp>
        <p:nvSpPr>
          <p:cNvPr id="13" name="">
            <a:extLst xmlns:a="http://schemas.openxmlformats.org/drawingml/2006/main">
              <a:ext uri="{FF2B5EF4-FFF2-40B4-BE49-F238E27FC236}">
                <a16:creationId xmlns:a16="http://schemas.microsoft.com/office/drawing/2014/main" id="{646736B8-683E-41D5-BE35-A4ECEB769E19}"/>
              </a:ext>
            </a:extLst>
          </p:cNvPr>
          <p:cNvSpPr>
            <a:spLocks xmlns:a="http://schemas.openxmlformats.org/drawingml/2006/main" noGrp="1"/>
          </p:cNvSpPr>
          <p:nvPr/>
        </p:nvSpPr>
        <p:spPr>
          <a:xfrm xmlns:a="http://schemas.openxmlformats.org/drawingml/2006/main">
            <a:off x="762000" y="55054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DD27798-57CE-4943-8B19-B6585AF0C1E9}"/>
              </a:ext>
            </a:extLst>
          </p:cNvPr>
          <p:cNvSpPr>
            <a:spLocks xmlns:a="http://schemas.openxmlformats.org/drawingml/2006/main" noGrp="1"/>
          </p:cNvSpPr>
          <p:nvPr/>
        </p:nvSpPr>
        <p:spPr>
          <a:xfrm xmlns:a="http://schemas.openxmlformats.org/drawingml/2006/main">
            <a:off x="1009650" y="5276850"/>
            <a:ext cx="9658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Which independent evidence closed the claim?</a:t>
            </a:r>
          </a:p>
        </p:txBody>
      </p:sp>
    </p:spTree>
    <p:extLst>
      <p:ext uri="{BB962C8B-B14F-4D97-AF65-F5344CB8AC3E}">
        <p14:creationId xmlns:p14="http://schemas.microsoft.com/office/powerpoint/2010/main" val="842610455"/>
      </p:ext>
    </p:extLst>
  </p:cSld>
</p:sld>
</file>

<file path=ppt/slides/slide67.xml><?xml version="1.0" encoding="utf-8"?>
<p:sld xmlns:p="http://schemas.openxmlformats.org/presentationml/2006/main">
  <p:cSld>
    <p:bg>
      <p:bgPr>
        <a:solidFill xmlns:a="http://schemas.openxmlformats.org/drawingml/2006/main">
          <a:srgbClr val="180D2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43EF1F3-AB10-45C9-AAB5-C0C9AF01CC43}"/>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FF6F6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6560CD3-226D-4847-AC66-76EABF7C29A5}"/>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FF6F61"/>
                </a:solidFill>
              </a:defRPr>
            </a:pPr>
            <a:r>
              <a:rPr sz="900" b="1">
                <a:solidFill>
                  <a:srgbClr val="FF6F61"/>
                </a:solidFill>
              </a:rPr>
              <a:t>MODULE 7</a:t>
            </a:r>
          </a:p>
        </p:txBody>
      </p:sp>
      <p:sp>
        <p:nvSpPr>
          <p:cNvPr id="3" name="">
            <a:extLst xmlns:a="http://schemas.openxmlformats.org/drawingml/2006/main">
              <a:ext uri="{FF2B5EF4-FFF2-40B4-BE49-F238E27FC236}">
                <a16:creationId xmlns:a16="http://schemas.microsoft.com/office/drawing/2014/main" id="{357B87B7-468C-4F8A-A219-EA0DDBDE69CB}"/>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CFC5D5"/>
                </a:solidFill>
              </a:defRPr>
            </a:pPr>
            <a:r>
              <a:rPr sz="825" b="1">
                <a:solidFill>
                  <a:srgbClr val="CFC5D5"/>
                </a:solidFill>
              </a:rPr>
              <a:t>LINUX FOUNDATIONS</a:t>
            </a:r>
          </a:p>
        </p:txBody>
      </p:sp>
      <p:sp>
        <p:nvSpPr>
          <p:cNvPr id="4" name="">
            <a:extLst xmlns:a="http://schemas.openxmlformats.org/drawingml/2006/main">
              <a:ext uri="{FF2B5EF4-FFF2-40B4-BE49-F238E27FC236}">
                <a16:creationId xmlns:a16="http://schemas.microsoft.com/office/drawing/2014/main" id="{CEEF87FF-D0A4-436B-8078-CE60C8E3F318}"/>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AFA2B8"/>
                </a:solidFill>
              </a:defRPr>
            </a:pPr>
            <a:r>
              <a:rPr sz="825" b="0">
                <a:solidFill>
                  <a:srgbClr val="AFA2B8"/>
                </a:solidFill>
              </a:rPr>
              <a:t>67</a:t>
            </a:r>
          </a:p>
        </p:txBody>
      </p:sp>
      <p:sp>
        <p:nvSpPr>
          <p:cNvPr id="5" name="">
            <a:extLst xmlns:a="http://schemas.openxmlformats.org/drawingml/2006/main">
              <a:ext uri="{FF2B5EF4-FFF2-40B4-BE49-F238E27FC236}">
                <a16:creationId xmlns:a16="http://schemas.microsoft.com/office/drawing/2014/main" id="{6D325BDC-D23B-4D62-9BDD-055DC3B29B64}"/>
              </a:ext>
            </a:extLst>
          </p:cNvPr>
          <p:cNvSpPr>
            <a:spLocks xmlns:a="http://schemas.openxmlformats.org/drawingml/2006/main" noGrp="1"/>
          </p:cNvSpPr>
          <p:nvPr/>
        </p:nvSpPr>
        <p:spPr>
          <a:xfrm xmlns:a="http://schemas.openxmlformats.org/drawingml/2006/main">
            <a:off x="666750" y="1123950"/>
            <a:ext cx="1524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5400" b="1">
                <a:solidFill>
                  <a:srgbClr val="FF6F61"/>
                </a:solidFill>
              </a:defRPr>
            </a:pPr>
            <a:r>
              <a:rPr sz="5400" b="1">
                <a:solidFill>
                  <a:srgbClr val="FF6F61"/>
                </a:solidFill>
              </a:rPr>
              <a:t>07</a:t>
            </a:r>
          </a:p>
        </p:txBody>
      </p:sp>
      <p:sp>
        <p:nvSpPr>
          <p:cNvPr id="6" name="">
            <a:extLst xmlns:a="http://schemas.openxmlformats.org/drawingml/2006/main">
              <a:ext uri="{FF2B5EF4-FFF2-40B4-BE49-F238E27FC236}">
                <a16:creationId xmlns:a16="http://schemas.microsoft.com/office/drawing/2014/main" id="{74CAD159-497A-4E01-A888-8E9AFB8A5FF5}"/>
              </a:ext>
            </a:extLst>
          </p:cNvPr>
          <p:cNvSpPr>
            <a:spLocks xmlns:a="http://schemas.openxmlformats.org/drawingml/2006/main" noGrp="1"/>
          </p:cNvSpPr>
          <p:nvPr/>
        </p:nvSpPr>
        <p:spPr>
          <a:xfrm xmlns:a="http://schemas.openxmlformats.org/drawingml/2006/main">
            <a:off x="2381250" y="1123950"/>
            <a:ext cx="8096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150" b="1">
                <a:solidFill>
                  <a:srgbClr val="FFFFFF"/>
                </a:solidFill>
              </a:defRPr>
            </a:pPr>
            <a:r>
              <a:rPr sz="3150" b="1">
                <a:solidFill>
                  <a:srgbClr val="FFFFFF"/>
                </a:solidFill>
              </a:rPr>
              <a:t>Logs, journal scope, and causal events</a:t>
            </a:r>
          </a:p>
        </p:txBody>
      </p:sp>
      <p:sp>
        <p:nvSpPr>
          <p:cNvPr id="7" name="">
            <a:extLst xmlns:a="http://schemas.openxmlformats.org/drawingml/2006/main">
              <a:ext uri="{FF2B5EF4-FFF2-40B4-BE49-F238E27FC236}">
                <a16:creationId xmlns:a16="http://schemas.microsoft.com/office/drawing/2014/main" id="{9953E0D2-266E-47C4-8D3E-DFE9242791E8}"/>
              </a:ext>
            </a:extLst>
          </p:cNvPr>
          <p:cNvSpPr>
            <a:spLocks xmlns:a="http://schemas.openxmlformats.org/drawingml/2006/main" noGrp="1"/>
          </p:cNvSpPr>
          <p:nvPr/>
        </p:nvSpPr>
        <p:spPr>
          <a:xfrm xmlns:a="http://schemas.openxmlformats.org/drawingml/2006/main">
            <a:off x="2381250" y="2400300"/>
            <a:ext cx="7810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950" b="0">
                <a:solidFill>
                  <a:srgbClr val="E9DFED"/>
                </a:solidFill>
              </a:defRPr>
            </a:pPr>
            <a:r>
              <a:rPr sz="1950" b="0">
                <a:solidFill>
                  <a:srgbClr val="E9DFED"/>
                </a:solidFill>
              </a:rPr>
              <a:t>Which event explains the failure rather than merely reporting its consequence?</a:t>
            </a:r>
          </a:p>
        </p:txBody>
      </p:sp>
      <p:sp>
        <p:nvSpPr>
          <p:cNvPr id="8" name="">
            <a:extLst xmlns:a="http://schemas.openxmlformats.org/drawingml/2006/main">
              <a:ext uri="{FF2B5EF4-FFF2-40B4-BE49-F238E27FC236}">
                <a16:creationId xmlns:a16="http://schemas.microsoft.com/office/drawing/2014/main" id="{56F1472A-6F73-4ED6-B4F5-86911C66B9E0}"/>
              </a:ext>
            </a:extLst>
          </p:cNvPr>
          <p:cNvSpPr>
            <a:spLocks xmlns:a="http://schemas.openxmlformats.org/drawingml/2006/main" noGrp="1"/>
          </p:cNvSpPr>
          <p:nvPr/>
        </p:nvSpPr>
        <p:spPr>
          <a:xfrm xmlns:a="http://schemas.openxmlformats.org/drawingml/2006/main">
            <a:off x="2381250" y="3790950"/>
            <a:ext cx="6858000" cy="381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CEDD60A5-D06C-45E0-84C9-70983C8B67C2}"/>
              </a:ext>
            </a:extLst>
          </p:cNvPr>
          <p:cNvSpPr>
            <a:spLocks xmlns:a="http://schemas.openxmlformats.org/drawingml/2006/main" noGrp="1"/>
          </p:cNvSpPr>
          <p:nvPr/>
        </p:nvSpPr>
        <p:spPr>
          <a:xfrm xmlns:a="http://schemas.openxmlformats.org/drawingml/2006/main">
            <a:off x="2381250" y="400050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0">
                <a:solidFill>
                  <a:srgbClr val="BFB1C7"/>
                </a:solidFill>
              </a:defRPr>
            </a:pPr>
            <a:r>
              <a:rPr sz="1275" b="0">
                <a:solidFill>
                  <a:srgbClr val="BFB1C7"/>
                </a:solidFill>
              </a:rPr>
              <a:t>systemd journal · Ubuntu 24.04</a:t>
            </a:r>
          </a:p>
        </p:txBody>
      </p:sp>
    </p:spTree>
    <p:extLst>
      <p:ext uri="{BB962C8B-B14F-4D97-AF65-F5344CB8AC3E}">
        <p14:creationId xmlns:p14="http://schemas.microsoft.com/office/powerpoint/2010/main" val="299990565"/>
      </p:ext>
    </p:extLst>
  </p:cSld>
</p:sld>
</file>

<file path=ppt/slides/slide68.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C8FFC8F-B13B-4E93-ADB4-3C12706852A0}"/>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3639B38-01AD-4F5A-BBEC-76E2D09679F2}"/>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7 · MODEL</a:t>
            </a:r>
          </a:p>
        </p:txBody>
      </p:sp>
      <p:sp>
        <p:nvSpPr>
          <p:cNvPr id="3" name="">
            <a:extLst xmlns:a="http://schemas.openxmlformats.org/drawingml/2006/main">
              <a:ext uri="{FF2B5EF4-FFF2-40B4-BE49-F238E27FC236}">
                <a16:creationId xmlns:a16="http://schemas.microsoft.com/office/drawing/2014/main" id="{7A772991-7A9B-451F-813C-B89DF5833AEE}"/>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D49CDB31-239D-477A-A4FC-33F454EA2E36}"/>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68</a:t>
            </a:r>
          </a:p>
        </p:txBody>
      </p:sp>
      <p:sp>
        <p:nvSpPr>
          <p:cNvPr id="5" name="">
            <a:extLst xmlns:a="http://schemas.openxmlformats.org/drawingml/2006/main">
              <a:ext uri="{FF2B5EF4-FFF2-40B4-BE49-F238E27FC236}">
                <a16:creationId xmlns:a16="http://schemas.microsoft.com/office/drawing/2014/main" id="{8BFBEC87-33C9-4E48-B478-FC772C0CC407}"/>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Logs are bounded event evidence</a:t>
            </a:r>
          </a:p>
        </p:txBody>
      </p:sp>
      <p:sp>
        <p:nvSpPr>
          <p:cNvPr id="6" name="">
            <a:extLst xmlns:a="http://schemas.openxmlformats.org/drawingml/2006/main">
              <a:ext uri="{FF2B5EF4-FFF2-40B4-BE49-F238E27FC236}">
                <a16:creationId xmlns:a16="http://schemas.microsoft.com/office/drawing/2014/main" id="{2AB6DE7B-FCB5-4867-BB1C-2EFB330535FF}"/>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The journal stores structured fields. Scope first by unit, boot, and time; then read chronology before filtering for a suspected word.</a:t>
            </a:r>
          </a:p>
        </p:txBody>
      </p:sp>
      <p:sp>
        <p:nvSpPr>
          <p:cNvPr id="7" name="">
            <a:extLst xmlns:a="http://schemas.openxmlformats.org/drawingml/2006/main">
              <a:ext uri="{FF2B5EF4-FFF2-40B4-BE49-F238E27FC236}">
                <a16:creationId xmlns:a16="http://schemas.microsoft.com/office/drawing/2014/main" id="{35957A35-9177-490D-989D-15AA2259A390}"/>
              </a:ext>
            </a:extLst>
          </p:cNvPr>
          <p:cNvSpPr>
            <a:spLocks xmlns:a="http://schemas.openxmlformats.org/drawingml/2006/main" noGrp="1"/>
          </p:cNvSpPr>
          <p:nvPr/>
        </p:nvSpPr>
        <p:spPr>
          <a:xfrm xmlns:a="http://schemas.openxmlformats.org/drawingml/2006/main">
            <a:off x="781050" y="31051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9575171-EC86-47AC-A65C-EC67F4CADD6A}"/>
              </a:ext>
            </a:extLst>
          </p:cNvPr>
          <p:cNvSpPr>
            <a:spLocks xmlns:a="http://schemas.openxmlformats.org/drawingml/2006/main" noGrp="1"/>
          </p:cNvSpPr>
          <p:nvPr/>
        </p:nvSpPr>
        <p:spPr>
          <a:xfrm xmlns:a="http://schemas.openxmlformats.org/drawingml/2006/main">
            <a:off x="1028700" y="272415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Logs are event evidence, not complete truth. A useful record identifies when, where, who or what, what happened, and why it matters.</a:t>
            </a:r>
          </a:p>
        </p:txBody>
      </p:sp>
      <p:sp>
        <p:nvSpPr>
          <p:cNvPr id="9" name="">
            <a:extLst xmlns:a="http://schemas.openxmlformats.org/drawingml/2006/main">
              <a:ext uri="{FF2B5EF4-FFF2-40B4-BE49-F238E27FC236}">
                <a16:creationId xmlns:a16="http://schemas.microsoft.com/office/drawing/2014/main" id="{B4E1E1C1-5829-423D-B666-47027ABC85D6}"/>
              </a:ext>
            </a:extLst>
          </p:cNvPr>
          <p:cNvSpPr>
            <a:spLocks xmlns:a="http://schemas.openxmlformats.org/drawingml/2006/main" noGrp="1"/>
          </p:cNvSpPr>
          <p:nvPr/>
        </p:nvSpPr>
        <p:spPr>
          <a:xfrm xmlns:a="http://schemas.openxmlformats.org/drawingml/2006/main">
            <a:off x="781050" y="40005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4FF3037-C752-422E-A049-F58E704C100A}"/>
              </a:ext>
            </a:extLst>
          </p:cNvPr>
          <p:cNvSpPr>
            <a:spLocks xmlns:a="http://schemas.openxmlformats.org/drawingml/2006/main" noGrp="1"/>
          </p:cNvSpPr>
          <p:nvPr/>
        </p:nvSpPr>
        <p:spPr>
          <a:xfrm xmlns:a="http://schemas.openxmlformats.org/drawingml/2006/main">
            <a:off x="1028700" y="361950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The journal stores structured fields. Scope first by unit, boot, and time; then read chronology before filtering for a suspected word.</a:t>
            </a:r>
          </a:p>
        </p:txBody>
      </p:sp>
    </p:spTree>
    <p:extLst>
      <p:ext uri="{BB962C8B-B14F-4D97-AF65-F5344CB8AC3E}">
        <p14:creationId xmlns:p14="http://schemas.microsoft.com/office/powerpoint/2010/main" val="733230608"/>
      </p:ext>
    </p:extLst>
  </p:cSld>
</p:sld>
</file>

<file path=ppt/slides/slide69.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2BAA8C8-72FC-4279-9B30-EF78C36C60E6}"/>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96DDD63-D128-4F8C-875D-D2AC5EF2A6A7}"/>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7 · MODEL</a:t>
            </a:r>
          </a:p>
        </p:txBody>
      </p:sp>
      <p:sp>
        <p:nvSpPr>
          <p:cNvPr id="3" name="">
            <a:extLst xmlns:a="http://schemas.openxmlformats.org/drawingml/2006/main">
              <a:ext uri="{FF2B5EF4-FFF2-40B4-BE49-F238E27FC236}">
                <a16:creationId xmlns:a16="http://schemas.microsoft.com/office/drawing/2014/main" id="{04EC905B-26DB-4355-8BEB-C7E87026FA06}"/>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20C077CA-59B0-4895-B6E0-DEE68F27D826}"/>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69</a:t>
            </a:r>
          </a:p>
        </p:txBody>
      </p:sp>
      <p:sp>
        <p:nvSpPr>
          <p:cNvPr id="5" name="">
            <a:extLst xmlns:a="http://schemas.openxmlformats.org/drawingml/2006/main">
              <a:ext uri="{FF2B5EF4-FFF2-40B4-BE49-F238E27FC236}">
                <a16:creationId xmlns:a16="http://schemas.microsoft.com/office/drawing/2014/main" id="{FE76D5E0-66D4-4BA9-AE6C-601D43419FB5}"/>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State summaries and causal events answer different questions</a:t>
            </a:r>
          </a:p>
        </p:txBody>
      </p:sp>
      <p:sp>
        <p:nvSpPr>
          <p:cNvPr id="6" name="">
            <a:extLst xmlns:a="http://schemas.openxmlformats.org/drawingml/2006/main">
              <a:ext uri="{FF2B5EF4-FFF2-40B4-BE49-F238E27FC236}">
                <a16:creationId xmlns:a16="http://schemas.microsoft.com/office/drawing/2014/main" id="{36C44626-0E3A-4165-8555-906646B4822D}"/>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The final “failed” line is often a consequence. Find the earliest causal application or manager record inside the bounded incident window.</a:t>
            </a:r>
          </a:p>
        </p:txBody>
      </p:sp>
      <p:sp>
        <p:nvSpPr>
          <p:cNvPr id="7" name="">
            <a:extLst xmlns:a="http://schemas.openxmlformats.org/drawingml/2006/main">
              <a:ext uri="{FF2B5EF4-FFF2-40B4-BE49-F238E27FC236}">
                <a16:creationId xmlns:a16="http://schemas.microsoft.com/office/drawing/2014/main" id="{F592894B-BED0-4835-922F-BCAC7D792581}"/>
              </a:ext>
            </a:extLst>
          </p:cNvPr>
          <p:cNvSpPr>
            <a:spLocks xmlns:a="http://schemas.openxmlformats.org/drawingml/2006/main" noGrp="1"/>
          </p:cNvSpPr>
          <p:nvPr/>
        </p:nvSpPr>
        <p:spPr>
          <a:xfrm xmlns:a="http://schemas.openxmlformats.org/drawingml/2006/main">
            <a:off x="781050" y="31051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6A0C74B-B650-4BD8-8882-E5DE99D8C063}"/>
              </a:ext>
            </a:extLst>
          </p:cNvPr>
          <p:cNvSpPr>
            <a:spLocks xmlns:a="http://schemas.openxmlformats.org/drawingml/2006/main" noGrp="1"/>
          </p:cNvSpPr>
          <p:nvPr/>
        </p:nvSpPr>
        <p:spPr>
          <a:xfrm xmlns:a="http://schemas.openxmlformats.org/drawingml/2006/main">
            <a:off x="1028700" y="272415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systemctl show provides machine-readable state such as ActiveState, Result, and ExecMainStatus. journalctl provides the event sequence that led there.</a:t>
            </a:r>
          </a:p>
        </p:txBody>
      </p:sp>
      <p:sp>
        <p:nvSpPr>
          <p:cNvPr id="9" name="">
            <a:extLst xmlns:a="http://schemas.openxmlformats.org/drawingml/2006/main">
              <a:ext uri="{FF2B5EF4-FFF2-40B4-BE49-F238E27FC236}">
                <a16:creationId xmlns:a16="http://schemas.microsoft.com/office/drawing/2014/main" id="{2E0E272E-188E-49FD-872B-143588C8C8F9}"/>
              </a:ext>
            </a:extLst>
          </p:cNvPr>
          <p:cNvSpPr>
            <a:spLocks xmlns:a="http://schemas.openxmlformats.org/drawingml/2006/main" noGrp="1"/>
          </p:cNvSpPr>
          <p:nvPr/>
        </p:nvSpPr>
        <p:spPr>
          <a:xfrm xmlns:a="http://schemas.openxmlformats.org/drawingml/2006/main">
            <a:off x="781050" y="40005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D9927AD-E332-421F-A687-FE761AA42AF3}"/>
              </a:ext>
            </a:extLst>
          </p:cNvPr>
          <p:cNvSpPr>
            <a:spLocks xmlns:a="http://schemas.openxmlformats.org/drawingml/2006/main" noGrp="1"/>
          </p:cNvSpPr>
          <p:nvPr/>
        </p:nvSpPr>
        <p:spPr>
          <a:xfrm xmlns:a="http://schemas.openxmlformats.org/drawingml/2006/main">
            <a:off x="1028700" y="361950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The final “failed” line is often a consequence. Find the earliest causal application or manager record inside the bounded incident window.</a:t>
            </a:r>
          </a:p>
        </p:txBody>
      </p:sp>
    </p:spTree>
    <p:extLst>
      <p:ext uri="{BB962C8B-B14F-4D97-AF65-F5344CB8AC3E}">
        <p14:creationId xmlns:p14="http://schemas.microsoft.com/office/powerpoint/2010/main" val="9345909"/>
      </p:ext>
    </p:extLst>
  </p:cSld>
</p:sld>
</file>

<file path=ppt/slides/slide70.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66ED5C34-EE11-4761-9D5D-1891A34442E2}"/>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6B14D14-84B0-43B5-9A21-0B2233E5C7B3}"/>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7 · BUILD THE MODEL</a:t>
            </a:r>
          </a:p>
        </p:txBody>
      </p:sp>
      <p:sp>
        <p:nvSpPr>
          <p:cNvPr id="3" name="">
            <a:extLst xmlns:a="http://schemas.openxmlformats.org/drawingml/2006/main">
              <a:ext uri="{FF2B5EF4-FFF2-40B4-BE49-F238E27FC236}">
                <a16:creationId xmlns:a16="http://schemas.microsoft.com/office/drawing/2014/main" id="{117D927D-A5FA-4669-A9C1-348F8035DC2F}"/>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3A154AA3-8738-436F-88CB-7CF63A42E6A4}"/>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70</a:t>
            </a:r>
          </a:p>
        </p:txBody>
      </p:sp>
      <p:sp>
        <p:nvSpPr>
          <p:cNvPr id="5" name="">
            <a:extLst xmlns:a="http://schemas.openxmlformats.org/drawingml/2006/main">
              <a:ext uri="{FF2B5EF4-FFF2-40B4-BE49-F238E27FC236}">
                <a16:creationId xmlns:a16="http://schemas.microsoft.com/office/drawing/2014/main" id="{40E77FCE-4EAF-4CD8-91E0-1ED1FC4532F8}"/>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A useful incident window preserves causality</a:t>
            </a:r>
          </a:p>
        </p:txBody>
      </p:sp>
      <p:sp>
        <p:nvSpPr>
          <p:cNvPr id="6" name="">
            <a:extLst xmlns:a="http://schemas.openxmlformats.org/drawingml/2006/main">
              <a:ext uri="{FF2B5EF4-FFF2-40B4-BE49-F238E27FC236}">
                <a16:creationId xmlns:a16="http://schemas.microsoft.com/office/drawing/2014/main" id="{41B5825F-6E00-40CD-996E-D1A2DAE8442C}"/>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Narrow scope reduces noise without destroying chronology.</a:t>
            </a:r>
          </a:p>
        </p:txBody>
      </p:sp>
      <p:sp>
        <p:nvSpPr>
          <p:cNvPr id="7" name="">
            <a:extLst xmlns:a="http://schemas.openxmlformats.org/drawingml/2006/main">
              <a:ext uri="{FF2B5EF4-FFF2-40B4-BE49-F238E27FC236}">
                <a16:creationId xmlns:a16="http://schemas.microsoft.com/office/drawing/2014/main" id="{5030E689-8D57-410F-8C32-0A5C04F60647}"/>
              </a:ext>
            </a:extLst>
          </p:cNvPr>
          <p:cNvSpPr>
            <a:spLocks xmlns:a="http://schemas.openxmlformats.org/drawingml/2006/main" noGrp="1"/>
          </p:cNvSpPr>
          <p:nvPr/>
        </p:nvSpPr>
        <p:spPr>
          <a:xfrm xmlns:a="http://schemas.openxmlformats.org/drawingml/2006/main">
            <a:off x="781050" y="29622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5F70C20-20B8-46D5-91B5-86000DD804B6}"/>
              </a:ext>
            </a:extLst>
          </p:cNvPr>
          <p:cNvSpPr>
            <a:spLocks xmlns:a="http://schemas.openxmlformats.org/drawingml/2006/main" noGrp="1"/>
          </p:cNvSpPr>
          <p:nvPr/>
        </p:nvSpPr>
        <p:spPr>
          <a:xfrm xmlns:a="http://schemas.openxmlformats.org/drawingml/2006/main">
            <a:off x="1028700" y="27241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Select the affected unit and boot</a:t>
            </a:r>
          </a:p>
        </p:txBody>
      </p:sp>
      <p:sp>
        <p:nvSpPr>
          <p:cNvPr id="9" name="">
            <a:extLst xmlns:a="http://schemas.openxmlformats.org/drawingml/2006/main">
              <a:ext uri="{FF2B5EF4-FFF2-40B4-BE49-F238E27FC236}">
                <a16:creationId xmlns:a16="http://schemas.microsoft.com/office/drawing/2014/main" id="{287E8547-7FB6-42C7-B321-E3BA6152CC67}"/>
              </a:ext>
            </a:extLst>
          </p:cNvPr>
          <p:cNvSpPr>
            <a:spLocks xmlns:a="http://schemas.openxmlformats.org/drawingml/2006/main" noGrp="1"/>
          </p:cNvSpPr>
          <p:nvPr/>
        </p:nvSpPr>
        <p:spPr>
          <a:xfrm xmlns:a="http://schemas.openxmlformats.org/drawingml/2006/main">
            <a:off x="781050" y="35718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47DC5BE-B08D-4C87-B500-B19F3904EDD4}"/>
              </a:ext>
            </a:extLst>
          </p:cNvPr>
          <p:cNvSpPr>
            <a:spLocks xmlns:a="http://schemas.openxmlformats.org/drawingml/2006/main" noGrp="1"/>
          </p:cNvSpPr>
          <p:nvPr/>
        </p:nvSpPr>
        <p:spPr>
          <a:xfrm xmlns:a="http://schemas.openxmlformats.org/drawingml/2006/main">
            <a:off x="1028700" y="33337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Bound the time around the reported symptom</a:t>
            </a:r>
          </a:p>
        </p:txBody>
      </p:sp>
      <p:sp>
        <p:nvSpPr>
          <p:cNvPr id="11" name="">
            <a:extLst xmlns:a="http://schemas.openxmlformats.org/drawingml/2006/main">
              <a:ext uri="{FF2B5EF4-FFF2-40B4-BE49-F238E27FC236}">
                <a16:creationId xmlns:a16="http://schemas.microsoft.com/office/drawing/2014/main" id="{C25B15BD-82D9-4DA1-86A2-C44C37719843}"/>
              </a:ext>
            </a:extLst>
          </p:cNvPr>
          <p:cNvSpPr>
            <a:spLocks xmlns:a="http://schemas.openxmlformats.org/drawingml/2006/main" noGrp="1"/>
          </p:cNvSpPr>
          <p:nvPr/>
        </p:nvSpPr>
        <p:spPr>
          <a:xfrm xmlns:a="http://schemas.openxmlformats.org/drawingml/2006/main">
            <a:off x="781050" y="41814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46D79C6-23C4-411D-9CC3-ADEE341E74D4}"/>
              </a:ext>
            </a:extLst>
          </p:cNvPr>
          <p:cNvSpPr>
            <a:spLocks xmlns:a="http://schemas.openxmlformats.org/drawingml/2006/main" noGrp="1"/>
          </p:cNvSpPr>
          <p:nvPr/>
        </p:nvSpPr>
        <p:spPr>
          <a:xfrm xmlns:a="http://schemas.openxmlformats.org/drawingml/2006/main">
            <a:off x="1028700" y="39433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Read the sequence before filtering for keywords</a:t>
            </a:r>
          </a:p>
        </p:txBody>
      </p:sp>
      <p:sp>
        <p:nvSpPr>
          <p:cNvPr id="13" name="">
            <a:extLst xmlns:a="http://schemas.openxmlformats.org/drawingml/2006/main">
              <a:ext uri="{FF2B5EF4-FFF2-40B4-BE49-F238E27FC236}">
                <a16:creationId xmlns:a16="http://schemas.microsoft.com/office/drawing/2014/main" id="{4D8F0516-B773-4896-B278-42A0F3C91950}"/>
              </a:ext>
            </a:extLst>
          </p:cNvPr>
          <p:cNvSpPr>
            <a:spLocks xmlns:a="http://schemas.openxmlformats.org/drawingml/2006/main" noGrp="1"/>
          </p:cNvSpPr>
          <p:nvPr/>
        </p:nvSpPr>
        <p:spPr>
          <a:xfrm xmlns:a="http://schemas.openxmlformats.org/drawingml/2006/main">
            <a:off x="781050" y="47910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9BDA7B0-6CFA-4BFD-B371-86EC6D1E781B}"/>
              </a:ext>
            </a:extLst>
          </p:cNvPr>
          <p:cNvSpPr>
            <a:spLocks xmlns:a="http://schemas.openxmlformats.org/drawingml/2006/main" noGrp="1"/>
          </p:cNvSpPr>
          <p:nvPr/>
        </p:nvSpPr>
        <p:spPr>
          <a:xfrm xmlns:a="http://schemas.openxmlformats.org/drawingml/2006/main">
            <a:off x="1028700" y="45529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Separate the first cause from later failure summaries</a:t>
            </a:r>
          </a:p>
        </p:txBody>
      </p:sp>
    </p:spTree>
    <p:extLst>
      <p:ext uri="{BB962C8B-B14F-4D97-AF65-F5344CB8AC3E}">
        <p14:creationId xmlns:p14="http://schemas.microsoft.com/office/powerpoint/2010/main" val="924833079"/>
      </p:ext>
    </p:extLst>
  </p:cSld>
</p:sld>
</file>

<file path=ppt/slides/slide71.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DFD5110-C862-48A7-B265-A2C0EAEC31D0}"/>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9E8FEB5-17E6-4D82-9944-416ADB27F200}"/>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7 · WORKED EXAMPLE</a:t>
            </a:r>
          </a:p>
        </p:txBody>
      </p:sp>
      <p:sp>
        <p:nvSpPr>
          <p:cNvPr id="3" name="">
            <a:extLst xmlns:a="http://schemas.openxmlformats.org/drawingml/2006/main">
              <a:ext uri="{FF2B5EF4-FFF2-40B4-BE49-F238E27FC236}">
                <a16:creationId xmlns:a16="http://schemas.microsoft.com/office/drawing/2014/main" id="{2B37246A-5E81-4F13-B42C-C3A4DB36EA46}"/>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FF1E9EA6-82B3-4ADC-8476-DEB136642181}"/>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71</a:t>
            </a:r>
          </a:p>
        </p:txBody>
      </p:sp>
      <p:sp>
        <p:nvSpPr>
          <p:cNvPr id="5" name="">
            <a:extLst xmlns:a="http://schemas.openxmlformats.org/drawingml/2006/main">
              <a:ext uri="{FF2B5EF4-FFF2-40B4-BE49-F238E27FC236}">
                <a16:creationId xmlns:a16="http://schemas.microsoft.com/office/drawing/2014/main" id="{DBADB3FF-1E7B-4FFA-A3CF-4CD349CE7263}"/>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Narrow evidence without losing chronology</a:t>
            </a:r>
          </a:p>
        </p:txBody>
      </p:sp>
      <p:sp>
        <p:nvSpPr>
          <p:cNvPr id="6" name="">
            <a:extLst xmlns:a="http://schemas.openxmlformats.org/drawingml/2006/main">
              <a:ext uri="{FF2B5EF4-FFF2-40B4-BE49-F238E27FC236}">
                <a16:creationId xmlns:a16="http://schemas.microsoft.com/office/drawing/2014/main" id="{3E39EBFB-BC58-4993-94C8-DF7FF2336E09}"/>
              </a:ext>
            </a:extLst>
          </p:cNvPr>
          <p:cNvSpPr>
            <a:spLocks xmlns:a="http://schemas.openxmlformats.org/drawingml/2006/main" noGrp="1"/>
          </p:cNvSpPr>
          <p:nvPr/>
        </p:nvSpPr>
        <p:spPr>
          <a:xfrm xmlns:a="http://schemas.openxmlformats.org/drawingml/2006/main">
            <a:off x="514350" y="2400300"/>
            <a:ext cx="6191250" cy="2857500"/>
          </a:xfrm>
          <a:prstGeom xmlns:a="http://schemas.openxmlformats.org/drawingml/2006/main" prst="roundRect">
            <a:avLst>
              <a:gd name="adj" fmla="val 4000"/>
            </a:avLst>
          </a:prstGeom>
          <a:solidFill xmlns:a="http://schemas.openxmlformats.org/drawingml/2006/main">
            <a:srgbClr val="180D25"/>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25194DCE-AABA-49F3-82E0-4D6F176E69D7}"/>
              </a:ext>
            </a:extLst>
          </p:cNvPr>
          <p:cNvSpPr>
            <a:spLocks xmlns:a="http://schemas.openxmlformats.org/drawingml/2006/main" noGrp="1"/>
          </p:cNvSpPr>
          <p:nvPr/>
        </p:nvSpPr>
        <p:spPr>
          <a:xfrm xmlns:a="http://schemas.openxmlformats.org/drawingml/2006/main">
            <a:off x="781050" y="2647950"/>
            <a:ext cx="5667375" cy="2333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F7F1FA"/>
                </a:solidFill>
              </a:defRPr>
            </a:pPr>
            <a:r>
              <a:rPr sz="1575" b="0">
                <a:solidFill>
                  <a:srgbClr val="F7F1FA"/>
                </a:solidFill>
              </a:rPr>
              <a:t>systemctl show noisy.service \</a:t>
            </a:r>
          </a:p>
          <a:p xmlns:a="http://schemas.openxmlformats.org/drawingml/2006/main">
            <a:pPr algn="l">
              <a:buNone/>
              <a:defRPr sz="1575" b="0">
                <a:solidFill>
                  <a:srgbClr val="F7F1FA"/>
                </a:solidFill>
              </a:defRPr>
            </a:pPr>
            <a:r>
              <a:rPr sz="1575" b="0">
                <a:solidFill>
                  <a:srgbClr val="F7F1FA"/>
                </a:solidFill>
              </a:rPr>
              <a:t> -p ActiveState -p Result -p ExecMainStatus</a:t>
            </a:r>
          </a:p>
          <a:p xmlns:a="http://schemas.openxmlformats.org/drawingml/2006/main">
            <a:pPr algn="l">
              <a:buNone/>
              <a:defRPr sz="1575" b="0">
                <a:solidFill>
                  <a:srgbClr val="F7F1FA"/>
                </a:solidFill>
              </a:defRPr>
            </a:pPr>
            <a:r>
              <a:rPr sz="1575" b="0">
                <a:solidFill>
                  <a:srgbClr val="F7F1FA"/>
                </a:solidFill>
              </a:rPr>
              <a:t>journalctl -u noisy.service -b \</a:t>
            </a:r>
          </a:p>
          <a:p xmlns:a="http://schemas.openxmlformats.org/drawingml/2006/main">
            <a:pPr algn="l">
              <a:buNone/>
              <a:defRPr sz="1575" b="0">
                <a:solidFill>
                  <a:srgbClr val="F7F1FA"/>
                </a:solidFill>
              </a:defRPr>
            </a:pPr>
            <a:r>
              <a:rPr sz="1575" b="0">
                <a:solidFill>
                  <a:srgbClr val="F7F1FA"/>
                </a:solidFill>
              </a:rPr>
              <a:t> --since "-10 min" -o short-iso --no-pager</a:t>
            </a:r>
          </a:p>
        </p:txBody>
      </p:sp>
      <p:sp>
        <p:nvSpPr>
          <p:cNvPr id="8" name="">
            <a:extLst xmlns:a="http://schemas.openxmlformats.org/drawingml/2006/main">
              <a:ext uri="{FF2B5EF4-FFF2-40B4-BE49-F238E27FC236}">
                <a16:creationId xmlns:a16="http://schemas.microsoft.com/office/drawing/2014/main" id="{C88E7703-02F6-4B77-A72F-3024CEB7516D}"/>
              </a:ext>
            </a:extLst>
          </p:cNvPr>
          <p:cNvSpPr>
            <a:spLocks xmlns:a="http://schemas.openxmlformats.org/drawingml/2006/main" noGrp="1"/>
          </p:cNvSpPr>
          <p:nvPr/>
        </p:nvSpPr>
        <p:spPr>
          <a:xfrm xmlns:a="http://schemas.openxmlformats.org/drawingml/2006/main">
            <a:off x="7143750" y="27336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BDB3E30-45DA-44E4-A39C-F597952CC69F}"/>
              </a:ext>
            </a:extLst>
          </p:cNvPr>
          <p:cNvSpPr>
            <a:spLocks xmlns:a="http://schemas.openxmlformats.org/drawingml/2006/main" noGrp="1"/>
          </p:cNvSpPr>
          <p:nvPr/>
        </p:nvSpPr>
        <p:spPr>
          <a:xfrm xmlns:a="http://schemas.openxmlformats.org/drawingml/2006/main">
            <a:off x="7391400" y="2428875"/>
            <a:ext cx="3848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Properties summarize state; they do not explain the event sequence.</a:t>
            </a:r>
          </a:p>
        </p:txBody>
      </p:sp>
      <p:sp>
        <p:nvSpPr>
          <p:cNvPr id="10" name="">
            <a:extLst xmlns:a="http://schemas.openxmlformats.org/drawingml/2006/main">
              <a:ext uri="{FF2B5EF4-FFF2-40B4-BE49-F238E27FC236}">
                <a16:creationId xmlns:a16="http://schemas.microsoft.com/office/drawing/2014/main" id="{803199EC-11B5-4BB4-B284-B702E34EF216}"/>
              </a:ext>
            </a:extLst>
          </p:cNvPr>
          <p:cNvSpPr>
            <a:spLocks xmlns:a="http://schemas.openxmlformats.org/drawingml/2006/main" noGrp="1"/>
          </p:cNvSpPr>
          <p:nvPr/>
        </p:nvSpPr>
        <p:spPr>
          <a:xfrm xmlns:a="http://schemas.openxmlformats.org/drawingml/2006/main">
            <a:off x="7143750" y="347662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EB7A863-0FE1-46F8-971F-146F4E7D8EF7}"/>
              </a:ext>
            </a:extLst>
          </p:cNvPr>
          <p:cNvSpPr>
            <a:spLocks xmlns:a="http://schemas.openxmlformats.org/drawingml/2006/main" noGrp="1"/>
          </p:cNvSpPr>
          <p:nvPr/>
        </p:nvSpPr>
        <p:spPr>
          <a:xfrm xmlns:a="http://schemas.openxmlformats.org/drawingml/2006/main">
            <a:off x="7391400" y="3171825"/>
            <a:ext cx="3848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-u and -b establish service and boot boundaries.</a:t>
            </a:r>
          </a:p>
        </p:txBody>
      </p:sp>
      <p:sp>
        <p:nvSpPr>
          <p:cNvPr id="12" name="">
            <a:extLst xmlns:a="http://schemas.openxmlformats.org/drawingml/2006/main">
              <a:ext uri="{FF2B5EF4-FFF2-40B4-BE49-F238E27FC236}">
                <a16:creationId xmlns:a16="http://schemas.microsoft.com/office/drawing/2014/main" id="{E205B01C-FD24-4E44-995A-E94EBD367B10}"/>
              </a:ext>
            </a:extLst>
          </p:cNvPr>
          <p:cNvSpPr>
            <a:spLocks xmlns:a="http://schemas.openxmlformats.org/drawingml/2006/main" noGrp="1"/>
          </p:cNvSpPr>
          <p:nvPr/>
        </p:nvSpPr>
        <p:spPr>
          <a:xfrm xmlns:a="http://schemas.openxmlformats.org/drawingml/2006/main">
            <a:off x="7143750" y="42195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DA6D73D2-6BB7-4466-96E8-79EA83621846}"/>
              </a:ext>
            </a:extLst>
          </p:cNvPr>
          <p:cNvSpPr>
            <a:spLocks xmlns:a="http://schemas.openxmlformats.org/drawingml/2006/main" noGrp="1"/>
          </p:cNvSpPr>
          <p:nvPr/>
        </p:nvSpPr>
        <p:spPr>
          <a:xfrm xmlns:a="http://schemas.openxmlformats.org/drawingml/2006/main">
            <a:off x="7391400" y="3914775"/>
            <a:ext cx="3848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Time bounds make the query repeatable and reviewable.</a:t>
            </a:r>
          </a:p>
        </p:txBody>
      </p:sp>
    </p:spTree>
    <p:extLst>
      <p:ext uri="{BB962C8B-B14F-4D97-AF65-F5344CB8AC3E}">
        <p14:creationId xmlns:p14="http://schemas.microsoft.com/office/powerpoint/2010/main" val="1647144618"/>
      </p:ext>
    </p:extLst>
  </p:cSld>
</p:sld>
</file>

<file path=ppt/slides/slide72.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FCACD83C-4C05-4184-B00A-5AB64EA5752C}"/>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12CABEE-0C8C-47D3-9A83-11F0B4E24798}"/>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7 · GUIDED COMMANDS</a:t>
            </a:r>
          </a:p>
        </p:txBody>
      </p:sp>
      <p:sp>
        <p:nvSpPr>
          <p:cNvPr id="3" name="">
            <a:extLst xmlns:a="http://schemas.openxmlformats.org/drawingml/2006/main">
              <a:ext uri="{FF2B5EF4-FFF2-40B4-BE49-F238E27FC236}">
                <a16:creationId xmlns:a16="http://schemas.microsoft.com/office/drawing/2014/main" id="{3A90DEDA-291A-4CCD-9749-4AAE40056CB3}"/>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DBFD2457-0384-4235-B7AB-B129605F467E}"/>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72</a:t>
            </a:r>
          </a:p>
        </p:txBody>
      </p:sp>
      <p:sp>
        <p:nvSpPr>
          <p:cNvPr id="5" name="">
            <a:extLst xmlns:a="http://schemas.openxmlformats.org/drawingml/2006/main">
              <a:ext uri="{FF2B5EF4-FFF2-40B4-BE49-F238E27FC236}">
                <a16:creationId xmlns:a16="http://schemas.microsoft.com/office/drawing/2014/main" id="{9A277CD0-2FE0-439A-8D83-D87A9A7E6AB2}"/>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These commands are tools for specific questions</a:t>
            </a:r>
          </a:p>
        </p:txBody>
      </p:sp>
      <p:sp>
        <p:nvSpPr>
          <p:cNvPr id="6" name="">
            <a:extLst xmlns:a="http://schemas.openxmlformats.org/drawingml/2006/main">
              <a:ext uri="{FF2B5EF4-FFF2-40B4-BE49-F238E27FC236}">
                <a16:creationId xmlns:a16="http://schemas.microsoft.com/office/drawing/2014/main" id="{BA7C9593-B4B7-4D60-9E83-55F67D6238A2}"/>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The lab guide repeats syntax and expected evidence; memorization is not required.</a:t>
            </a:r>
          </a:p>
        </p:txBody>
      </p:sp>
      <p:sp>
        <p:nvSpPr>
          <p:cNvPr id="7" name="">
            <a:extLst xmlns:a="http://schemas.openxmlformats.org/drawingml/2006/main">
              <a:ext uri="{FF2B5EF4-FFF2-40B4-BE49-F238E27FC236}">
                <a16:creationId xmlns:a16="http://schemas.microsoft.com/office/drawing/2014/main" id="{0466969E-1FCC-4E1D-89F8-76C38A597BDD}"/>
              </a:ext>
            </a:extLst>
          </p:cNvPr>
          <p:cNvSpPr>
            <a:spLocks xmlns:a="http://schemas.openxmlformats.org/drawingml/2006/main" noGrp="1"/>
          </p:cNvSpPr>
          <p:nvPr/>
        </p:nvSpPr>
        <p:spPr>
          <a:xfrm xmlns:a="http://schemas.openxmlformats.org/drawingml/2006/main">
            <a:off x="685800" y="24003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journalctl -u UNIT</a:t>
            </a:r>
          </a:p>
        </p:txBody>
      </p:sp>
      <p:sp>
        <p:nvSpPr>
          <p:cNvPr id="8" name="">
            <a:extLst xmlns:a="http://schemas.openxmlformats.org/drawingml/2006/main">
              <a:ext uri="{FF2B5EF4-FFF2-40B4-BE49-F238E27FC236}">
                <a16:creationId xmlns:a16="http://schemas.microsoft.com/office/drawing/2014/main" id="{829B8524-B680-416A-B6E1-CDB621AF4C51}"/>
              </a:ext>
            </a:extLst>
          </p:cNvPr>
          <p:cNvSpPr>
            <a:spLocks xmlns:a="http://schemas.openxmlformats.org/drawingml/2006/main" noGrp="1"/>
          </p:cNvSpPr>
          <p:nvPr/>
        </p:nvSpPr>
        <p:spPr>
          <a:xfrm xmlns:a="http://schemas.openxmlformats.org/drawingml/2006/main">
            <a:off x="3810000" y="24003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select one unit</a:t>
            </a:r>
          </a:p>
        </p:txBody>
      </p:sp>
      <p:sp>
        <p:nvSpPr>
          <p:cNvPr id="9" name="">
            <a:extLst xmlns:a="http://schemas.openxmlformats.org/drawingml/2006/main">
              <a:ext uri="{FF2B5EF4-FFF2-40B4-BE49-F238E27FC236}">
                <a16:creationId xmlns:a16="http://schemas.microsoft.com/office/drawing/2014/main" id="{85D779EB-013F-463C-8533-3484B9E78336}"/>
              </a:ext>
            </a:extLst>
          </p:cNvPr>
          <p:cNvSpPr>
            <a:spLocks xmlns:a="http://schemas.openxmlformats.org/drawingml/2006/main" noGrp="1"/>
          </p:cNvSpPr>
          <p:nvPr/>
        </p:nvSpPr>
        <p:spPr>
          <a:xfrm xmlns:a="http://schemas.openxmlformats.org/drawingml/2006/main">
            <a:off x="685800" y="29527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D89F58A-0E2E-4C03-8EFE-5CFB1CB6DA71}"/>
              </a:ext>
            </a:extLst>
          </p:cNvPr>
          <p:cNvSpPr>
            <a:spLocks xmlns:a="http://schemas.openxmlformats.org/drawingml/2006/main" noGrp="1"/>
          </p:cNvSpPr>
          <p:nvPr/>
        </p:nvSpPr>
        <p:spPr>
          <a:xfrm xmlns:a="http://schemas.openxmlformats.org/drawingml/2006/main">
            <a:off x="685800" y="30480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-b</a:t>
            </a:r>
          </a:p>
        </p:txBody>
      </p:sp>
      <p:sp>
        <p:nvSpPr>
          <p:cNvPr id="11" name="">
            <a:extLst xmlns:a="http://schemas.openxmlformats.org/drawingml/2006/main">
              <a:ext uri="{FF2B5EF4-FFF2-40B4-BE49-F238E27FC236}">
                <a16:creationId xmlns:a16="http://schemas.microsoft.com/office/drawing/2014/main" id="{ACAC1718-842B-4A30-8297-49865BE98711}"/>
              </a:ext>
            </a:extLst>
          </p:cNvPr>
          <p:cNvSpPr>
            <a:spLocks xmlns:a="http://schemas.openxmlformats.org/drawingml/2006/main" noGrp="1"/>
          </p:cNvSpPr>
          <p:nvPr/>
        </p:nvSpPr>
        <p:spPr>
          <a:xfrm xmlns:a="http://schemas.openxmlformats.org/drawingml/2006/main">
            <a:off x="3810000" y="30480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select the current boot</a:t>
            </a:r>
          </a:p>
        </p:txBody>
      </p:sp>
      <p:sp>
        <p:nvSpPr>
          <p:cNvPr id="12" name="">
            <a:extLst xmlns:a="http://schemas.openxmlformats.org/drawingml/2006/main">
              <a:ext uri="{FF2B5EF4-FFF2-40B4-BE49-F238E27FC236}">
                <a16:creationId xmlns:a16="http://schemas.microsoft.com/office/drawing/2014/main" id="{62CBDE0C-6B5B-48A3-B6E4-CB6A838B7A84}"/>
              </a:ext>
            </a:extLst>
          </p:cNvPr>
          <p:cNvSpPr>
            <a:spLocks xmlns:a="http://schemas.openxmlformats.org/drawingml/2006/main" noGrp="1"/>
          </p:cNvSpPr>
          <p:nvPr/>
        </p:nvSpPr>
        <p:spPr>
          <a:xfrm xmlns:a="http://schemas.openxmlformats.org/drawingml/2006/main">
            <a:off x="685800" y="36004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2DD2B9F3-3B60-4358-B45E-A57346147478}"/>
              </a:ext>
            </a:extLst>
          </p:cNvPr>
          <p:cNvSpPr>
            <a:spLocks xmlns:a="http://schemas.openxmlformats.org/drawingml/2006/main" noGrp="1"/>
          </p:cNvSpPr>
          <p:nvPr/>
        </p:nvSpPr>
        <p:spPr>
          <a:xfrm xmlns:a="http://schemas.openxmlformats.org/drawingml/2006/main">
            <a:off x="685800" y="36957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--since/--until</a:t>
            </a:r>
          </a:p>
        </p:txBody>
      </p:sp>
      <p:sp>
        <p:nvSpPr>
          <p:cNvPr id="14" name="">
            <a:extLst xmlns:a="http://schemas.openxmlformats.org/drawingml/2006/main">
              <a:ext uri="{FF2B5EF4-FFF2-40B4-BE49-F238E27FC236}">
                <a16:creationId xmlns:a16="http://schemas.microsoft.com/office/drawing/2014/main" id="{98F52211-449F-49B2-AC6A-B2D656156630}"/>
              </a:ext>
            </a:extLst>
          </p:cNvPr>
          <p:cNvSpPr>
            <a:spLocks xmlns:a="http://schemas.openxmlformats.org/drawingml/2006/main" noGrp="1"/>
          </p:cNvSpPr>
          <p:nvPr/>
        </p:nvSpPr>
        <p:spPr>
          <a:xfrm xmlns:a="http://schemas.openxmlformats.org/drawingml/2006/main">
            <a:off x="3810000" y="36957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bound time</a:t>
            </a:r>
          </a:p>
        </p:txBody>
      </p:sp>
      <p:sp>
        <p:nvSpPr>
          <p:cNvPr id="15" name="">
            <a:extLst xmlns:a="http://schemas.openxmlformats.org/drawingml/2006/main">
              <a:ext uri="{FF2B5EF4-FFF2-40B4-BE49-F238E27FC236}">
                <a16:creationId xmlns:a16="http://schemas.microsoft.com/office/drawing/2014/main" id="{13F4437F-F50A-4DD9-883C-DAA064F7136C}"/>
              </a:ext>
            </a:extLst>
          </p:cNvPr>
          <p:cNvSpPr>
            <a:spLocks xmlns:a="http://schemas.openxmlformats.org/drawingml/2006/main" noGrp="1"/>
          </p:cNvSpPr>
          <p:nvPr/>
        </p:nvSpPr>
        <p:spPr>
          <a:xfrm xmlns:a="http://schemas.openxmlformats.org/drawingml/2006/main">
            <a:off x="685800" y="42481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36E764C3-4DE9-48C6-9EBE-038D8AB2F153}"/>
              </a:ext>
            </a:extLst>
          </p:cNvPr>
          <p:cNvSpPr>
            <a:spLocks xmlns:a="http://schemas.openxmlformats.org/drawingml/2006/main" noGrp="1"/>
          </p:cNvSpPr>
          <p:nvPr/>
        </p:nvSpPr>
        <p:spPr>
          <a:xfrm xmlns:a="http://schemas.openxmlformats.org/drawingml/2006/main">
            <a:off x="685800" y="43434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-p PRIORITY</a:t>
            </a:r>
          </a:p>
        </p:txBody>
      </p:sp>
      <p:sp>
        <p:nvSpPr>
          <p:cNvPr id="17" name="">
            <a:extLst xmlns:a="http://schemas.openxmlformats.org/drawingml/2006/main">
              <a:ext uri="{FF2B5EF4-FFF2-40B4-BE49-F238E27FC236}">
                <a16:creationId xmlns:a16="http://schemas.microsoft.com/office/drawing/2014/main" id="{040208D9-C1D2-454D-B94E-0E38FC91DC72}"/>
              </a:ext>
            </a:extLst>
          </p:cNvPr>
          <p:cNvSpPr>
            <a:spLocks xmlns:a="http://schemas.openxmlformats.org/drawingml/2006/main" noGrp="1"/>
          </p:cNvSpPr>
          <p:nvPr/>
        </p:nvSpPr>
        <p:spPr>
          <a:xfrm xmlns:a="http://schemas.openxmlformats.org/drawingml/2006/main">
            <a:off x="3810000" y="43434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filter severity after scoping</a:t>
            </a:r>
          </a:p>
        </p:txBody>
      </p:sp>
      <p:sp>
        <p:nvSpPr>
          <p:cNvPr id="18" name="">
            <a:extLst xmlns:a="http://schemas.openxmlformats.org/drawingml/2006/main">
              <a:ext uri="{FF2B5EF4-FFF2-40B4-BE49-F238E27FC236}">
                <a16:creationId xmlns:a16="http://schemas.microsoft.com/office/drawing/2014/main" id="{E9BEDF7A-DF66-47D9-8932-D4019E2EEED1}"/>
              </a:ext>
            </a:extLst>
          </p:cNvPr>
          <p:cNvSpPr>
            <a:spLocks xmlns:a="http://schemas.openxmlformats.org/drawingml/2006/main" noGrp="1"/>
          </p:cNvSpPr>
          <p:nvPr/>
        </p:nvSpPr>
        <p:spPr>
          <a:xfrm xmlns:a="http://schemas.openxmlformats.org/drawingml/2006/main">
            <a:off x="685800" y="48958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24E1C76-23A6-42B3-8989-C429E1969F38}"/>
              </a:ext>
            </a:extLst>
          </p:cNvPr>
          <p:cNvSpPr>
            <a:spLocks xmlns:a="http://schemas.openxmlformats.org/drawingml/2006/main" noGrp="1"/>
          </p:cNvSpPr>
          <p:nvPr/>
        </p:nvSpPr>
        <p:spPr>
          <a:xfrm xmlns:a="http://schemas.openxmlformats.org/drawingml/2006/main">
            <a:off x="685800" y="49911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--no-pager</a:t>
            </a:r>
          </a:p>
        </p:txBody>
      </p:sp>
      <p:sp>
        <p:nvSpPr>
          <p:cNvPr id="20" name="">
            <a:extLst xmlns:a="http://schemas.openxmlformats.org/drawingml/2006/main">
              <a:ext uri="{FF2B5EF4-FFF2-40B4-BE49-F238E27FC236}">
                <a16:creationId xmlns:a16="http://schemas.microsoft.com/office/drawing/2014/main" id="{9600099E-34E4-4F23-970F-C67B7DF6DB6C}"/>
              </a:ext>
            </a:extLst>
          </p:cNvPr>
          <p:cNvSpPr>
            <a:spLocks xmlns:a="http://schemas.openxmlformats.org/drawingml/2006/main" noGrp="1"/>
          </p:cNvSpPr>
          <p:nvPr/>
        </p:nvSpPr>
        <p:spPr>
          <a:xfrm xmlns:a="http://schemas.openxmlformats.org/drawingml/2006/main">
            <a:off x="3810000" y="49911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produce stable terminal output</a:t>
            </a:r>
          </a:p>
        </p:txBody>
      </p:sp>
    </p:spTree>
    <p:extLst>
      <p:ext uri="{BB962C8B-B14F-4D97-AF65-F5344CB8AC3E}">
        <p14:creationId xmlns:p14="http://schemas.microsoft.com/office/powerpoint/2010/main" val="420179608"/>
      </p:ext>
    </p:extLst>
  </p:cSld>
</p:sld>
</file>

<file path=ppt/slides/slide73.xml><?xml version="1.0" encoding="utf-8"?>
<p:sld xmlns:p="http://schemas.openxmlformats.org/presentationml/2006/main">
  <p:cSld>
    <p:bg>
      <p:bgPr>
        <a:solidFill xmlns:a="http://schemas.openxmlformats.org/drawingml/2006/main">
          <a:srgbClr val="180D25"/>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E0F294D-6106-48F6-BCAB-DA99A23B76DD}"/>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FF6F6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6444030-C94F-471B-BCA4-86B10BD1E369}"/>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FF6F61"/>
                </a:solidFill>
              </a:defRPr>
            </a:pPr>
            <a:r>
              <a:rPr sz="900" b="1">
                <a:solidFill>
                  <a:srgbClr val="FF6F61"/>
                </a:solidFill>
              </a:rPr>
              <a:t>MODULE 7 · LIVE DEMO</a:t>
            </a:r>
          </a:p>
        </p:txBody>
      </p:sp>
      <p:sp>
        <p:nvSpPr>
          <p:cNvPr id="3" name="">
            <a:extLst xmlns:a="http://schemas.openxmlformats.org/drawingml/2006/main">
              <a:ext uri="{FF2B5EF4-FFF2-40B4-BE49-F238E27FC236}">
                <a16:creationId xmlns:a16="http://schemas.microsoft.com/office/drawing/2014/main" id="{E142ADA7-DB5F-4621-9C90-65150710654C}"/>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CFC5D5"/>
                </a:solidFill>
              </a:defRPr>
            </a:pPr>
            <a:r>
              <a:rPr sz="825" b="1">
                <a:solidFill>
                  <a:srgbClr val="CFC5D5"/>
                </a:solidFill>
              </a:rPr>
              <a:t>LINUX FOUNDATIONS</a:t>
            </a:r>
          </a:p>
        </p:txBody>
      </p:sp>
      <p:sp>
        <p:nvSpPr>
          <p:cNvPr id="4" name="">
            <a:extLst xmlns:a="http://schemas.openxmlformats.org/drawingml/2006/main">
              <a:ext uri="{FF2B5EF4-FFF2-40B4-BE49-F238E27FC236}">
                <a16:creationId xmlns:a16="http://schemas.microsoft.com/office/drawing/2014/main" id="{401B474A-51C2-41B0-A2DF-F50FC4BED548}"/>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AFA2B8"/>
                </a:solidFill>
              </a:defRPr>
            </a:pPr>
            <a:r>
              <a:rPr sz="825" b="0">
                <a:solidFill>
                  <a:srgbClr val="AFA2B8"/>
                </a:solidFill>
              </a:rPr>
              <a:t>73</a:t>
            </a:r>
          </a:p>
        </p:txBody>
      </p:sp>
      <p:sp>
        <p:nvSpPr>
          <p:cNvPr id="5" name="">
            <a:extLst xmlns:a="http://schemas.openxmlformats.org/drawingml/2006/main">
              <a:ext uri="{FF2B5EF4-FFF2-40B4-BE49-F238E27FC236}">
                <a16:creationId xmlns:a16="http://schemas.microsoft.com/office/drawing/2014/main" id="{B4424ED8-ABA5-4873-A404-158D2DC4FB41}"/>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FFFFFF"/>
                </a:solidFill>
              </a:defRPr>
            </a:pPr>
            <a:r>
              <a:rPr sz="2850" b="1">
                <a:solidFill>
                  <a:srgbClr val="FFFFFF"/>
                </a:solidFill>
              </a:rPr>
              <a:t>Predict the evidence before Demo 7</a:t>
            </a:r>
          </a:p>
        </p:txBody>
      </p:sp>
      <p:sp>
        <p:nvSpPr>
          <p:cNvPr id="6" name="">
            <a:extLst xmlns:a="http://schemas.openxmlformats.org/drawingml/2006/main">
              <a:ext uri="{FF2B5EF4-FFF2-40B4-BE49-F238E27FC236}">
                <a16:creationId xmlns:a16="http://schemas.microsoft.com/office/drawing/2014/main" id="{AC72A887-8D83-4A7F-9B90-3E827EA411FF}"/>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E6DDEB"/>
                </a:solidFill>
              </a:defRPr>
            </a:pPr>
            <a:r>
              <a:rPr sz="1650" b="0">
                <a:solidFill>
                  <a:srgbClr val="E6DDEB"/>
                </a:solidFill>
              </a:rPr>
              <a:t>Start a service that records STALE_CACHE and exits 17; identify the causal record before the later failed-state messages.</a:t>
            </a:r>
          </a:p>
        </p:txBody>
      </p:sp>
      <p:sp>
        <p:nvSpPr>
          <p:cNvPr id="7" name="">
            <a:extLst xmlns:a="http://schemas.openxmlformats.org/drawingml/2006/main">
              <a:ext uri="{FF2B5EF4-FFF2-40B4-BE49-F238E27FC236}">
                <a16:creationId xmlns:a16="http://schemas.microsoft.com/office/drawing/2014/main" id="{AC74DEEB-A292-4F87-86BA-D462237C5090}"/>
              </a:ext>
            </a:extLst>
          </p:cNvPr>
          <p:cNvSpPr>
            <a:spLocks xmlns:a="http://schemas.openxmlformats.org/drawingml/2006/main" noGrp="1"/>
          </p:cNvSpPr>
          <p:nvPr/>
        </p:nvSpPr>
        <p:spPr>
          <a:xfrm xmlns:a="http://schemas.openxmlformats.org/drawingml/2006/main">
            <a:off x="666750" y="2476500"/>
            <a:ext cx="10096500" cy="781050"/>
          </a:xfrm>
          <a:prstGeom xmlns:a="http://schemas.openxmlformats.org/drawingml/2006/main" prst="roundRect">
            <a:avLst>
              <a:gd name="adj" fmla="val 14634"/>
            </a:avLst>
          </a:prstGeom>
          <a:solidFill xmlns:a="http://schemas.openxmlformats.org/drawingml/2006/main">
            <a:srgbClr val="2C173E"/>
          </a:solidFill>
          <a:ln xmlns:a="http://schemas.openxmlformats.org/drawingml/2006/main" w="9525">
            <a:solidFill>
              <a:srgbClr val="7650F8"/>
            </a:solidFill>
            <a:prstDash val="solid"/>
          </a:ln>
        </p:spPr>
      </p:sp>
      <p:sp>
        <p:nvSpPr>
          <p:cNvPr id="8" name="">
            <a:extLst xmlns:a="http://schemas.openxmlformats.org/drawingml/2006/main">
              <a:ext uri="{FF2B5EF4-FFF2-40B4-BE49-F238E27FC236}">
                <a16:creationId xmlns:a16="http://schemas.microsoft.com/office/drawing/2014/main" id="{C8E32525-1754-4BB0-B002-B367218DCCD3}"/>
              </a:ext>
            </a:extLst>
          </p:cNvPr>
          <p:cNvSpPr>
            <a:spLocks xmlns:a="http://schemas.openxmlformats.org/drawingml/2006/main" noGrp="1"/>
          </p:cNvSpPr>
          <p:nvPr/>
        </p:nvSpPr>
        <p:spPr>
          <a:xfrm xmlns:a="http://schemas.openxmlformats.org/drawingml/2006/main">
            <a:off x="895350" y="2590800"/>
            <a:ext cx="9620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FFFFFF"/>
                </a:solidFill>
              </a:defRPr>
            </a:pPr>
            <a:r>
              <a:rPr sz="1575" b="0">
                <a:solidFill>
                  <a:srgbClr val="FFFFFF"/>
                </a:solidFill>
              </a:rPr>
              <a:t>Start a service that records STALE_CACHE and exits 17; identify the causal record before the later failed-state messages.</a:t>
            </a:r>
          </a:p>
        </p:txBody>
      </p:sp>
      <p:sp>
        <p:nvSpPr>
          <p:cNvPr id="9" name="">
            <a:extLst xmlns:a="http://schemas.openxmlformats.org/drawingml/2006/main">
              <a:ext uri="{FF2B5EF4-FFF2-40B4-BE49-F238E27FC236}">
                <a16:creationId xmlns:a16="http://schemas.microsoft.com/office/drawing/2014/main" id="{24C659CA-06C1-403A-8ABE-27C8B3BB9C19}"/>
              </a:ext>
            </a:extLst>
          </p:cNvPr>
          <p:cNvSpPr>
            <a:spLocks xmlns:a="http://schemas.openxmlformats.org/drawingml/2006/main" noGrp="1"/>
          </p:cNvSpPr>
          <p:nvPr/>
        </p:nvSpPr>
        <p:spPr>
          <a:xfrm xmlns:a="http://schemas.openxmlformats.org/drawingml/2006/main">
            <a:off x="904875" y="38195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7CEAFCA-F3EB-4474-966E-57C649825ACB}"/>
              </a:ext>
            </a:extLst>
          </p:cNvPr>
          <p:cNvSpPr>
            <a:spLocks xmlns:a="http://schemas.openxmlformats.org/drawingml/2006/main" noGrp="1"/>
          </p:cNvSpPr>
          <p:nvPr/>
        </p:nvSpPr>
        <p:spPr>
          <a:xfrm xmlns:a="http://schemas.openxmlformats.org/drawingml/2006/main">
            <a:off x="1152525" y="3619500"/>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State the operating question</a:t>
            </a:r>
          </a:p>
        </p:txBody>
      </p:sp>
      <p:sp>
        <p:nvSpPr>
          <p:cNvPr id="11" name="">
            <a:extLst xmlns:a="http://schemas.openxmlformats.org/drawingml/2006/main">
              <a:ext uri="{FF2B5EF4-FFF2-40B4-BE49-F238E27FC236}">
                <a16:creationId xmlns:a16="http://schemas.microsoft.com/office/drawing/2014/main" id="{68A7F836-56C2-4420-9D10-6A284E17D57E}"/>
              </a:ext>
            </a:extLst>
          </p:cNvPr>
          <p:cNvSpPr>
            <a:spLocks xmlns:a="http://schemas.openxmlformats.org/drawingml/2006/main" noGrp="1"/>
          </p:cNvSpPr>
          <p:nvPr/>
        </p:nvSpPr>
        <p:spPr>
          <a:xfrm xmlns:a="http://schemas.openxmlformats.org/drawingml/2006/main">
            <a:off x="904875" y="43434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EBD03C2-0821-4EB0-A19E-6221555508C9}"/>
              </a:ext>
            </a:extLst>
          </p:cNvPr>
          <p:cNvSpPr>
            <a:spLocks xmlns:a="http://schemas.openxmlformats.org/drawingml/2006/main" noGrp="1"/>
          </p:cNvSpPr>
          <p:nvPr/>
        </p:nvSpPr>
        <p:spPr>
          <a:xfrm xmlns:a="http://schemas.openxmlformats.org/drawingml/2006/main">
            <a:off x="1152525" y="4143375"/>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Ask for one prediction</a:t>
            </a:r>
          </a:p>
        </p:txBody>
      </p:sp>
      <p:sp>
        <p:nvSpPr>
          <p:cNvPr id="13" name="">
            <a:extLst xmlns:a="http://schemas.openxmlformats.org/drawingml/2006/main">
              <a:ext uri="{FF2B5EF4-FFF2-40B4-BE49-F238E27FC236}">
                <a16:creationId xmlns:a16="http://schemas.microsoft.com/office/drawing/2014/main" id="{7B36F95E-531A-420F-819F-1075A45397BE}"/>
              </a:ext>
            </a:extLst>
          </p:cNvPr>
          <p:cNvSpPr>
            <a:spLocks xmlns:a="http://schemas.openxmlformats.org/drawingml/2006/main" noGrp="1"/>
          </p:cNvSpPr>
          <p:nvPr/>
        </p:nvSpPr>
        <p:spPr>
          <a:xfrm xmlns:a="http://schemas.openxmlformats.org/drawingml/2006/main">
            <a:off x="904875" y="48672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96FD71D-2536-4B23-ADE2-9FD6C3AA1B4F}"/>
              </a:ext>
            </a:extLst>
          </p:cNvPr>
          <p:cNvSpPr>
            <a:spLocks xmlns:a="http://schemas.openxmlformats.org/drawingml/2006/main" noGrp="1"/>
          </p:cNvSpPr>
          <p:nvPr/>
        </p:nvSpPr>
        <p:spPr>
          <a:xfrm xmlns:a="http://schemas.openxmlformats.org/drawingml/2006/main">
            <a:off x="1152525" y="4667250"/>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Run one command at a time</a:t>
            </a:r>
          </a:p>
        </p:txBody>
      </p:sp>
      <p:sp>
        <p:nvSpPr>
          <p:cNvPr id="15" name="">
            <a:extLst xmlns:a="http://schemas.openxmlformats.org/drawingml/2006/main">
              <a:ext uri="{FF2B5EF4-FFF2-40B4-BE49-F238E27FC236}">
                <a16:creationId xmlns:a16="http://schemas.microsoft.com/office/drawing/2014/main" id="{69575DFE-5647-40EB-8758-E4403DDE9B47}"/>
              </a:ext>
            </a:extLst>
          </p:cNvPr>
          <p:cNvSpPr>
            <a:spLocks xmlns:a="http://schemas.openxmlformats.org/drawingml/2006/main" noGrp="1"/>
          </p:cNvSpPr>
          <p:nvPr/>
        </p:nvSpPr>
        <p:spPr>
          <a:xfrm xmlns:a="http://schemas.openxmlformats.org/drawingml/2006/main">
            <a:off x="904875" y="539115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A9B26C94-328E-4C52-A881-844308EBEDA0}"/>
              </a:ext>
            </a:extLst>
          </p:cNvPr>
          <p:cNvSpPr>
            <a:spLocks xmlns:a="http://schemas.openxmlformats.org/drawingml/2006/main" noGrp="1"/>
          </p:cNvSpPr>
          <p:nvPr/>
        </p:nvSpPr>
        <p:spPr>
          <a:xfrm xmlns:a="http://schemas.openxmlformats.org/drawingml/2006/main">
            <a:off x="1152525" y="5191125"/>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Verify through a different interface</a:t>
            </a:r>
          </a:p>
        </p:txBody>
      </p:sp>
      <p:sp>
        <p:nvSpPr>
          <p:cNvPr id="17" name="">
            <a:extLst xmlns:a="http://schemas.openxmlformats.org/drawingml/2006/main">
              <a:ext uri="{FF2B5EF4-FFF2-40B4-BE49-F238E27FC236}">
                <a16:creationId xmlns:a16="http://schemas.microsoft.com/office/drawing/2014/main" id="{BB257062-F48B-4C86-90E3-434A291B2F86}"/>
              </a:ext>
            </a:extLst>
          </p:cNvPr>
          <p:cNvSpPr>
            <a:spLocks xmlns:a="http://schemas.openxmlformats.org/drawingml/2006/main" noGrp="1"/>
          </p:cNvSpPr>
          <p:nvPr/>
        </p:nvSpPr>
        <p:spPr>
          <a:xfrm xmlns:a="http://schemas.openxmlformats.org/drawingml/2006/main">
            <a:off x="904875" y="5886450"/>
            <a:ext cx="962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00" b="1">
                <a:solidFill>
                  <a:srgbClr val="71D6B3"/>
                </a:solidFill>
              </a:defRPr>
            </a:pPr>
            <a:r>
              <a:rPr sz="1200" b="1">
                <a:solidFill>
                  <a:srgbClr val="71D6B3"/>
                </a:solidFill>
              </a:rPr>
              <a:t>Instructor seat only · predict before typing · verify through another interface</a:t>
            </a:r>
          </a:p>
        </p:txBody>
      </p:sp>
    </p:spTree>
    <p:extLst>
      <p:ext uri="{BB962C8B-B14F-4D97-AF65-F5344CB8AC3E}">
        <p14:creationId xmlns:p14="http://schemas.microsoft.com/office/powerpoint/2010/main" val="1607449929"/>
      </p:ext>
    </p:extLst>
  </p:cSld>
</p:sld>
</file>

<file path=ppt/slides/slide74.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4B2ECD3-5864-4109-8FEC-79A990EF9F5A}"/>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D7D4375-AA2B-4C0A-B186-03EA2985A340}"/>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7 · LAB READINESS</a:t>
            </a:r>
          </a:p>
        </p:txBody>
      </p:sp>
      <p:sp>
        <p:nvSpPr>
          <p:cNvPr id="3" name="">
            <a:extLst xmlns:a="http://schemas.openxmlformats.org/drawingml/2006/main">
              <a:ext uri="{FF2B5EF4-FFF2-40B4-BE49-F238E27FC236}">
                <a16:creationId xmlns:a16="http://schemas.microsoft.com/office/drawing/2014/main" id="{60B3E00A-C800-45A2-ABFA-F86115DC21F0}"/>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C130A28A-BBA3-4CEC-B693-9F80BC913B0B}"/>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74</a:t>
            </a:r>
          </a:p>
        </p:txBody>
      </p:sp>
      <p:sp>
        <p:nvSpPr>
          <p:cNvPr id="5" name="">
            <a:extLst xmlns:a="http://schemas.openxmlformats.org/drawingml/2006/main">
              <a:ext uri="{FF2B5EF4-FFF2-40B4-BE49-F238E27FC236}">
                <a16:creationId xmlns:a16="http://schemas.microsoft.com/office/drawing/2014/main" id="{101F4CA8-DAE6-4899-9348-45564301B9BD}"/>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Before Lab 7, you should be able to…</a:t>
            </a:r>
          </a:p>
        </p:txBody>
      </p:sp>
      <p:sp>
        <p:nvSpPr>
          <p:cNvPr id="6" name="">
            <a:extLst xmlns:a="http://schemas.openxmlformats.org/drawingml/2006/main">
              <a:ext uri="{FF2B5EF4-FFF2-40B4-BE49-F238E27FC236}">
                <a16:creationId xmlns:a16="http://schemas.microsoft.com/office/drawing/2014/main" id="{008DECFD-999E-42DA-808A-B1C4D8F5443B}"/>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If one item is unclear, revisit the model or worked example before opening the terminal.</a:t>
            </a:r>
          </a:p>
        </p:txBody>
      </p:sp>
      <p:sp>
        <p:nvSpPr>
          <p:cNvPr id="7" name="">
            <a:extLst xmlns:a="http://schemas.openxmlformats.org/drawingml/2006/main">
              <a:ext uri="{FF2B5EF4-FFF2-40B4-BE49-F238E27FC236}">
                <a16:creationId xmlns:a16="http://schemas.microsoft.com/office/drawing/2014/main" id="{FE74EEB6-D467-4410-8410-C3A2A26913A4}"/>
              </a:ext>
            </a:extLst>
          </p:cNvPr>
          <p:cNvSpPr>
            <a:spLocks xmlns:a="http://schemas.openxmlformats.org/drawingml/2006/main" noGrp="1"/>
          </p:cNvSpPr>
          <p:nvPr/>
        </p:nvSpPr>
        <p:spPr>
          <a:xfrm xmlns:a="http://schemas.openxmlformats.org/drawingml/2006/main">
            <a:off x="781050" y="29051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8F53713-FC96-4632-B1FB-97CF328933EE}"/>
              </a:ext>
            </a:extLst>
          </p:cNvPr>
          <p:cNvSpPr>
            <a:spLocks xmlns:a="http://schemas.openxmlformats.org/drawingml/2006/main" noGrp="1"/>
          </p:cNvSpPr>
          <p:nvPr/>
        </p:nvSpPr>
        <p:spPr>
          <a:xfrm xmlns:a="http://schemas.openxmlformats.org/drawingml/2006/main">
            <a:off x="1028700" y="26479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Distinguish state properties from event records</a:t>
            </a:r>
          </a:p>
        </p:txBody>
      </p:sp>
      <p:sp>
        <p:nvSpPr>
          <p:cNvPr id="9" name="">
            <a:extLst xmlns:a="http://schemas.openxmlformats.org/drawingml/2006/main">
              <a:ext uri="{FF2B5EF4-FFF2-40B4-BE49-F238E27FC236}">
                <a16:creationId xmlns:a16="http://schemas.microsoft.com/office/drawing/2014/main" id="{C8AE884E-E728-4DCF-BF91-B81098786FE7}"/>
              </a:ext>
            </a:extLst>
          </p:cNvPr>
          <p:cNvSpPr>
            <a:spLocks xmlns:a="http://schemas.openxmlformats.org/drawingml/2006/main" noGrp="1"/>
          </p:cNvSpPr>
          <p:nvPr/>
        </p:nvSpPr>
        <p:spPr>
          <a:xfrm xmlns:a="http://schemas.openxmlformats.org/drawingml/2006/main">
            <a:off x="781050" y="355282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09B01A3-CAC9-4983-9D59-DF7100FC05B2}"/>
              </a:ext>
            </a:extLst>
          </p:cNvPr>
          <p:cNvSpPr>
            <a:spLocks xmlns:a="http://schemas.openxmlformats.org/drawingml/2006/main" noGrp="1"/>
          </p:cNvSpPr>
          <p:nvPr/>
        </p:nvSpPr>
        <p:spPr>
          <a:xfrm xmlns:a="http://schemas.openxmlformats.org/drawingml/2006/main">
            <a:off x="1028700" y="32956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Scope by unit, boot, and time before grepping</a:t>
            </a:r>
          </a:p>
        </p:txBody>
      </p:sp>
      <p:sp>
        <p:nvSpPr>
          <p:cNvPr id="11" name="">
            <a:extLst xmlns:a="http://schemas.openxmlformats.org/drawingml/2006/main">
              <a:ext uri="{FF2B5EF4-FFF2-40B4-BE49-F238E27FC236}">
                <a16:creationId xmlns:a16="http://schemas.microsoft.com/office/drawing/2014/main" id="{8E4A5C36-0417-4DF7-8743-471447C884A9}"/>
              </a:ext>
            </a:extLst>
          </p:cNvPr>
          <p:cNvSpPr>
            <a:spLocks xmlns:a="http://schemas.openxmlformats.org/drawingml/2006/main" noGrp="1"/>
          </p:cNvSpPr>
          <p:nvPr/>
        </p:nvSpPr>
        <p:spPr>
          <a:xfrm xmlns:a="http://schemas.openxmlformats.org/drawingml/2006/main">
            <a:off x="781050" y="42005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039C908-59A1-40CD-8AAC-17AEAA0B9E30}"/>
              </a:ext>
            </a:extLst>
          </p:cNvPr>
          <p:cNvSpPr>
            <a:spLocks xmlns:a="http://schemas.openxmlformats.org/drawingml/2006/main" noGrp="1"/>
          </p:cNvSpPr>
          <p:nvPr/>
        </p:nvSpPr>
        <p:spPr>
          <a:xfrm xmlns:a="http://schemas.openxmlformats.org/drawingml/2006/main">
            <a:off x="1028700" y="39433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Preserve the causal line and its exit evidence</a:t>
            </a:r>
          </a:p>
        </p:txBody>
      </p:sp>
    </p:spTree>
    <p:extLst>
      <p:ext uri="{BB962C8B-B14F-4D97-AF65-F5344CB8AC3E}">
        <p14:creationId xmlns:p14="http://schemas.microsoft.com/office/powerpoint/2010/main" val="2007437665"/>
      </p:ext>
    </p:extLst>
  </p:cSld>
</p:sld>
</file>

<file path=ppt/slides/slide75.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CEE48B1C-DB99-47C1-A761-F1C2B9615036}"/>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4C8D79D-8699-486F-8E87-26323E4EE50D}"/>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HANDS-ON · LAB 7</a:t>
            </a:r>
          </a:p>
        </p:txBody>
      </p:sp>
      <p:sp>
        <p:nvSpPr>
          <p:cNvPr id="3" name="">
            <a:extLst xmlns:a="http://schemas.openxmlformats.org/drawingml/2006/main">
              <a:ext uri="{FF2B5EF4-FFF2-40B4-BE49-F238E27FC236}">
                <a16:creationId xmlns:a16="http://schemas.microsoft.com/office/drawing/2014/main" id="{80F65B72-7CB1-430E-8733-7EB3503085B1}"/>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B673B66A-91EF-4A6F-B43E-F2E52A9BDE4F}"/>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75</a:t>
            </a:r>
          </a:p>
        </p:txBody>
      </p:sp>
      <p:sp>
        <p:nvSpPr>
          <p:cNvPr id="5" name="">
            <a:extLst xmlns:a="http://schemas.openxmlformats.org/drawingml/2006/main">
              <a:ext uri="{FF2B5EF4-FFF2-40B4-BE49-F238E27FC236}">
                <a16:creationId xmlns:a16="http://schemas.microsoft.com/office/drawing/2014/main" id="{667BE31E-CE06-47C0-9976-B49AE1D0747B}"/>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Logs, journal scope, and causal events</a:t>
            </a:r>
          </a:p>
        </p:txBody>
      </p:sp>
      <p:sp>
        <p:nvSpPr>
          <p:cNvPr id="6" name="">
            <a:extLst xmlns:a="http://schemas.openxmlformats.org/drawingml/2006/main">
              <a:ext uri="{FF2B5EF4-FFF2-40B4-BE49-F238E27FC236}">
                <a16:creationId xmlns:a16="http://schemas.microsoft.com/office/drawing/2014/main" id="{EBA1AE38-9CDD-4D1D-8559-F9A6852C56E3}"/>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Investigate a disk-threshold incident, preserve unit-scoped journal evidence, and explain why exit code 42 occurred.</a:t>
            </a:r>
          </a:p>
        </p:txBody>
      </p:sp>
      <p:sp>
        <p:nvSpPr>
          <p:cNvPr id="7" name="">
            <a:extLst xmlns:a="http://schemas.openxmlformats.org/drawingml/2006/main">
              <a:ext uri="{FF2B5EF4-FFF2-40B4-BE49-F238E27FC236}">
                <a16:creationId xmlns:a16="http://schemas.microsoft.com/office/drawing/2014/main" id="{A5459259-DBDC-4D9B-83BD-3F60505F9BE9}"/>
              </a:ext>
            </a:extLst>
          </p:cNvPr>
          <p:cNvSpPr>
            <a:spLocks xmlns:a="http://schemas.openxmlformats.org/drawingml/2006/main" noGrp="1"/>
          </p:cNvSpPr>
          <p:nvPr/>
        </p:nvSpPr>
        <p:spPr>
          <a:xfrm xmlns:a="http://schemas.openxmlformats.org/drawingml/2006/main">
            <a:off x="514350" y="2457450"/>
            <a:ext cx="6762750" cy="2286000"/>
          </a:xfrm>
          <a:prstGeom xmlns:a="http://schemas.openxmlformats.org/drawingml/2006/main" prst="roundRect">
            <a:avLst>
              <a:gd name="adj" fmla="val 5000"/>
            </a:avLst>
          </a:prstGeom>
          <a:solidFill xmlns:a="http://schemas.openxmlformats.org/drawingml/2006/main">
            <a:srgbClr val="180D2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0480D88-E1D2-498F-B8EE-5D16D1A9D764}"/>
              </a:ext>
            </a:extLst>
          </p:cNvPr>
          <p:cNvSpPr>
            <a:spLocks xmlns:a="http://schemas.openxmlformats.org/drawingml/2006/main" noGrp="1"/>
          </p:cNvSpPr>
          <p:nvPr/>
        </p:nvSpPr>
        <p:spPr>
          <a:xfrm xmlns:a="http://schemas.openxmlformats.org/drawingml/2006/main">
            <a:off x="781050" y="2647950"/>
            <a:ext cx="6238875" cy="1847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FFFFFF"/>
                </a:solidFill>
              </a:defRPr>
            </a:pPr>
            <a:r>
              <a:rPr sz="1650" b="0">
                <a:solidFill>
                  <a:srgbClr val="FFFFFF"/>
                </a:solidFill>
              </a:rPr>
              <a:t>Investigate a disk-threshold incident, preserve unit-scoped journal evidence, and explain why exit code 42 occurred.</a:t>
            </a:r>
          </a:p>
        </p:txBody>
      </p:sp>
      <p:sp>
        <p:nvSpPr>
          <p:cNvPr id="9" name="">
            <a:extLst xmlns:a="http://schemas.openxmlformats.org/drawingml/2006/main">
              <a:ext uri="{FF2B5EF4-FFF2-40B4-BE49-F238E27FC236}">
                <a16:creationId xmlns:a16="http://schemas.microsoft.com/office/drawing/2014/main" id="{1FE93BB3-DE2A-48A6-AABF-2CC65A6C292F}"/>
              </a:ext>
            </a:extLst>
          </p:cNvPr>
          <p:cNvSpPr>
            <a:spLocks xmlns:a="http://schemas.openxmlformats.org/drawingml/2006/main" noGrp="1"/>
          </p:cNvSpPr>
          <p:nvPr/>
        </p:nvSpPr>
        <p:spPr>
          <a:xfrm xmlns:a="http://schemas.openxmlformats.org/drawingml/2006/main">
            <a:off x="7762875" y="26955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816B905-ECFB-4C28-A0BB-6A7F6448D336}"/>
              </a:ext>
            </a:extLst>
          </p:cNvPr>
          <p:cNvSpPr>
            <a:spLocks xmlns:a="http://schemas.openxmlformats.org/drawingml/2006/main" noGrp="1"/>
          </p:cNvSpPr>
          <p:nvPr/>
        </p:nvSpPr>
        <p:spPr>
          <a:xfrm xmlns:a="http://schemas.openxmlformats.org/drawingml/2006/main">
            <a:off x="8010525" y="24765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20 minutes</a:t>
            </a:r>
          </a:p>
        </p:txBody>
      </p:sp>
      <p:sp>
        <p:nvSpPr>
          <p:cNvPr id="11" name="">
            <a:extLst xmlns:a="http://schemas.openxmlformats.org/drawingml/2006/main">
              <a:ext uri="{FF2B5EF4-FFF2-40B4-BE49-F238E27FC236}">
                <a16:creationId xmlns:a16="http://schemas.microsoft.com/office/drawing/2014/main" id="{538A37DA-92FE-4487-BF62-360F9BD8FF9F}"/>
              </a:ext>
            </a:extLst>
          </p:cNvPr>
          <p:cNvSpPr>
            <a:spLocks xmlns:a="http://schemas.openxmlformats.org/drawingml/2006/main" noGrp="1"/>
          </p:cNvSpPr>
          <p:nvPr/>
        </p:nvSpPr>
        <p:spPr>
          <a:xfrm xmlns:a="http://schemas.openxmlformats.org/drawingml/2006/main">
            <a:off x="7762875" y="32670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21408B4-6976-4A1A-A9BC-A589C7C289BE}"/>
              </a:ext>
            </a:extLst>
          </p:cNvPr>
          <p:cNvSpPr>
            <a:spLocks xmlns:a="http://schemas.openxmlformats.org/drawingml/2006/main" noGrp="1"/>
          </p:cNvSpPr>
          <p:nvPr/>
        </p:nvSpPr>
        <p:spPr>
          <a:xfrm xmlns:a="http://schemas.openxmlformats.org/drawingml/2006/main">
            <a:off x="8010525" y="30480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Prepare/reset only this lab</a:t>
            </a:r>
          </a:p>
        </p:txBody>
      </p:sp>
      <p:sp>
        <p:nvSpPr>
          <p:cNvPr id="13" name="">
            <a:extLst xmlns:a="http://schemas.openxmlformats.org/drawingml/2006/main">
              <a:ext uri="{FF2B5EF4-FFF2-40B4-BE49-F238E27FC236}">
                <a16:creationId xmlns:a16="http://schemas.microsoft.com/office/drawing/2014/main" id="{176DE2FD-E87E-458B-81EA-A39C2791AB42}"/>
              </a:ext>
            </a:extLst>
          </p:cNvPr>
          <p:cNvSpPr>
            <a:spLocks xmlns:a="http://schemas.openxmlformats.org/drawingml/2006/main" noGrp="1"/>
          </p:cNvSpPr>
          <p:nvPr/>
        </p:nvSpPr>
        <p:spPr>
          <a:xfrm xmlns:a="http://schemas.openxmlformats.org/drawingml/2006/main">
            <a:off x="7762875" y="38385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989CB14-C4D2-4656-AD69-F844054EB5DC}"/>
              </a:ext>
            </a:extLst>
          </p:cNvPr>
          <p:cNvSpPr>
            <a:spLocks xmlns:a="http://schemas.openxmlformats.org/drawingml/2006/main" noGrp="1"/>
          </p:cNvSpPr>
          <p:nvPr/>
        </p:nvSpPr>
        <p:spPr>
          <a:xfrm xmlns:a="http://schemas.openxmlformats.org/drawingml/2006/main">
            <a:off x="8010525" y="36195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Check observable state</a:t>
            </a:r>
          </a:p>
        </p:txBody>
      </p:sp>
      <p:sp>
        <p:nvSpPr>
          <p:cNvPr id="15" name="">
            <a:extLst xmlns:a="http://schemas.openxmlformats.org/drawingml/2006/main">
              <a:ext uri="{FF2B5EF4-FFF2-40B4-BE49-F238E27FC236}">
                <a16:creationId xmlns:a16="http://schemas.microsoft.com/office/drawing/2014/main" id="{FEE40FE8-65D7-4D16-8504-7721336EBE3D}"/>
              </a:ext>
            </a:extLst>
          </p:cNvPr>
          <p:cNvSpPr>
            <a:spLocks xmlns:a="http://schemas.openxmlformats.org/drawingml/2006/main" noGrp="1"/>
          </p:cNvSpPr>
          <p:nvPr/>
        </p:nvSpPr>
        <p:spPr>
          <a:xfrm xmlns:a="http://schemas.openxmlformats.org/drawingml/2006/main">
            <a:off x="7762875" y="44100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E948C8A9-1A71-4F04-BF94-495784173F68}"/>
              </a:ext>
            </a:extLst>
          </p:cNvPr>
          <p:cNvSpPr>
            <a:spLocks xmlns:a="http://schemas.openxmlformats.org/drawingml/2006/main" noGrp="1"/>
          </p:cNvSpPr>
          <p:nvPr/>
        </p:nvSpPr>
        <p:spPr>
          <a:xfrm xmlns:a="http://schemas.openxmlformats.org/drawingml/2006/main">
            <a:off x="8010525" y="41910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Explain why the result follows</a:t>
            </a:r>
          </a:p>
        </p:txBody>
      </p:sp>
      <p:sp>
        <p:nvSpPr>
          <p:cNvPr id="17" name="">
            <a:extLst xmlns:a="http://schemas.openxmlformats.org/drawingml/2006/main">
              <a:ext uri="{FF2B5EF4-FFF2-40B4-BE49-F238E27FC236}">
                <a16:creationId xmlns:a16="http://schemas.microsoft.com/office/drawing/2014/main" id="{F4D6D58D-3FFB-48EE-AAA0-F1435D4C0427}"/>
              </a:ext>
            </a:extLst>
          </p:cNvPr>
          <p:cNvSpPr>
            <a:spLocks xmlns:a="http://schemas.openxmlformats.org/drawingml/2006/main" noGrp="1"/>
          </p:cNvSpPr>
          <p:nvPr/>
        </p:nvSpPr>
        <p:spPr>
          <a:xfrm xmlns:a="http://schemas.openxmlformats.org/drawingml/2006/main">
            <a:off x="514350" y="5391150"/>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350" b="1">
                <a:solidFill>
                  <a:srgbClr val="7650F8"/>
                </a:solidFill>
              </a:defRPr>
            </a:pPr>
            <a:r>
              <a:rPr sz="1350" b="1">
                <a:solidFill>
                  <a:srgbClr val="7650F8"/>
                </a:solidFill>
              </a:rPr>
              <a:t>Open the lab guide for exact tasks, hints, recovery, and checker criteria.</a:t>
            </a:r>
          </a:p>
        </p:txBody>
      </p:sp>
    </p:spTree>
    <p:extLst>
      <p:ext uri="{BB962C8B-B14F-4D97-AF65-F5344CB8AC3E}">
        <p14:creationId xmlns:p14="http://schemas.microsoft.com/office/powerpoint/2010/main" val="2139143086"/>
      </p:ext>
    </p:extLst>
  </p:cSld>
</p:sld>
</file>

<file path=ppt/slides/slide76.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428E28B-038E-4D11-BC39-CBD423EA58F2}"/>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579B96D-2B0D-4741-8087-B548FF6ADA62}"/>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7 · DEBRIEF</a:t>
            </a:r>
          </a:p>
        </p:txBody>
      </p:sp>
      <p:sp>
        <p:nvSpPr>
          <p:cNvPr id="3" name="">
            <a:extLst xmlns:a="http://schemas.openxmlformats.org/drawingml/2006/main">
              <a:ext uri="{FF2B5EF4-FFF2-40B4-BE49-F238E27FC236}">
                <a16:creationId xmlns:a16="http://schemas.microsoft.com/office/drawing/2014/main" id="{70EEC99F-E945-4A63-BC56-2508F6DAB157}"/>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13FE856F-0691-4B34-A320-59182682D62C}"/>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76</a:t>
            </a:r>
          </a:p>
        </p:txBody>
      </p:sp>
      <p:sp>
        <p:nvSpPr>
          <p:cNvPr id="5" name="">
            <a:extLst xmlns:a="http://schemas.openxmlformats.org/drawingml/2006/main">
              <a:ext uri="{FF2B5EF4-FFF2-40B4-BE49-F238E27FC236}">
                <a16:creationId xmlns:a16="http://schemas.microsoft.com/office/drawing/2014/main" id="{11B8A261-61C7-4C11-BD75-C4B62636EF3D}"/>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Connect the result to the model</a:t>
            </a:r>
          </a:p>
        </p:txBody>
      </p:sp>
      <p:sp>
        <p:nvSpPr>
          <p:cNvPr id="6" name="">
            <a:extLst xmlns:a="http://schemas.openxmlformats.org/drawingml/2006/main">
              <a:ext uri="{FF2B5EF4-FFF2-40B4-BE49-F238E27FC236}">
                <a16:creationId xmlns:a16="http://schemas.microsoft.com/office/drawing/2014/main" id="{82C4F096-934E-41A8-9EC3-D2179661D30C}"/>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The journal connects state to a causal sequence. Next, systemd declarations and relationships explain what the manager attempted to do.</a:t>
            </a:r>
          </a:p>
        </p:txBody>
      </p:sp>
      <p:sp>
        <p:nvSpPr>
          <p:cNvPr id="7" name="">
            <a:extLst xmlns:a="http://schemas.openxmlformats.org/drawingml/2006/main">
              <a:ext uri="{FF2B5EF4-FFF2-40B4-BE49-F238E27FC236}">
                <a16:creationId xmlns:a16="http://schemas.microsoft.com/office/drawing/2014/main" id="{A7F4D90F-DEA9-4BD0-BBAE-A9993DE78454}"/>
              </a:ext>
            </a:extLst>
          </p:cNvPr>
          <p:cNvSpPr>
            <a:spLocks xmlns:a="http://schemas.openxmlformats.org/drawingml/2006/main" noGrp="1"/>
          </p:cNvSpPr>
          <p:nvPr/>
        </p:nvSpPr>
        <p:spPr>
          <a:xfrm xmlns:a="http://schemas.openxmlformats.org/drawingml/2006/main">
            <a:off x="514350" y="2524125"/>
            <a:ext cx="10668000" cy="1219200"/>
          </a:xfrm>
          <a:prstGeom xmlns:a="http://schemas.openxmlformats.org/drawingml/2006/main" prst="roundRect">
            <a:avLst>
              <a:gd name="adj" fmla="val 9375"/>
            </a:avLst>
          </a:prstGeom>
          <a:solidFill xmlns:a="http://schemas.openxmlformats.org/drawingml/2006/main">
            <a:srgbClr val="F0E7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44667C8-EE00-49E2-A71C-051F24D96253}"/>
              </a:ext>
            </a:extLst>
          </p:cNvPr>
          <p:cNvSpPr>
            <a:spLocks xmlns:a="http://schemas.openxmlformats.org/drawingml/2006/main" noGrp="1"/>
          </p:cNvSpPr>
          <p:nvPr/>
        </p:nvSpPr>
        <p:spPr>
          <a:xfrm xmlns:a="http://schemas.openxmlformats.org/drawingml/2006/main">
            <a:off x="762000" y="2686050"/>
            <a:ext cx="10191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1">
                <a:solidFill>
                  <a:srgbClr val="211729"/>
                </a:solidFill>
              </a:defRPr>
            </a:pPr>
            <a:r>
              <a:rPr sz="1725" b="1">
                <a:solidFill>
                  <a:srgbClr val="211729"/>
                </a:solidFill>
              </a:rPr>
              <a:t>The journal connects state to a causal sequence. Next, systemd declarations and relationships explain what the manager attempted to do.</a:t>
            </a:r>
          </a:p>
        </p:txBody>
      </p:sp>
      <p:sp>
        <p:nvSpPr>
          <p:cNvPr id="9" name="">
            <a:extLst xmlns:a="http://schemas.openxmlformats.org/drawingml/2006/main">
              <a:ext uri="{FF2B5EF4-FFF2-40B4-BE49-F238E27FC236}">
                <a16:creationId xmlns:a16="http://schemas.microsoft.com/office/drawing/2014/main" id="{63FDEA9A-F136-4653-B0CF-843953D32466}"/>
              </a:ext>
            </a:extLst>
          </p:cNvPr>
          <p:cNvSpPr>
            <a:spLocks xmlns:a="http://schemas.openxmlformats.org/drawingml/2006/main" noGrp="1"/>
          </p:cNvSpPr>
          <p:nvPr/>
        </p:nvSpPr>
        <p:spPr>
          <a:xfrm xmlns:a="http://schemas.openxmlformats.org/drawingml/2006/main">
            <a:off x="762000" y="43243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3247F1A-EE5F-433D-83F0-648C9CA49111}"/>
              </a:ext>
            </a:extLst>
          </p:cNvPr>
          <p:cNvSpPr>
            <a:spLocks xmlns:a="http://schemas.openxmlformats.org/drawingml/2006/main" noGrp="1"/>
          </p:cNvSpPr>
          <p:nvPr/>
        </p:nvSpPr>
        <p:spPr>
          <a:xfrm xmlns:a="http://schemas.openxmlformats.org/drawingml/2006/main">
            <a:off x="1009650" y="4095750"/>
            <a:ext cx="9658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What was declared or expected?</a:t>
            </a:r>
          </a:p>
        </p:txBody>
      </p:sp>
      <p:sp>
        <p:nvSpPr>
          <p:cNvPr id="11" name="">
            <a:extLst xmlns:a="http://schemas.openxmlformats.org/drawingml/2006/main">
              <a:ext uri="{FF2B5EF4-FFF2-40B4-BE49-F238E27FC236}">
                <a16:creationId xmlns:a16="http://schemas.microsoft.com/office/drawing/2014/main" id="{AAA22C2E-5354-4AF4-9294-90367225E3B8}"/>
              </a:ext>
            </a:extLst>
          </p:cNvPr>
          <p:cNvSpPr>
            <a:spLocks xmlns:a="http://schemas.openxmlformats.org/drawingml/2006/main" noGrp="1"/>
          </p:cNvSpPr>
          <p:nvPr/>
        </p:nvSpPr>
        <p:spPr>
          <a:xfrm xmlns:a="http://schemas.openxmlformats.org/drawingml/2006/main">
            <a:off x="762000" y="49149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501BCB3-EB69-4D97-8A11-1ED5E19FBFAE}"/>
              </a:ext>
            </a:extLst>
          </p:cNvPr>
          <p:cNvSpPr>
            <a:spLocks xmlns:a="http://schemas.openxmlformats.org/drawingml/2006/main" noGrp="1"/>
          </p:cNvSpPr>
          <p:nvPr/>
        </p:nvSpPr>
        <p:spPr>
          <a:xfrm xmlns:a="http://schemas.openxmlformats.org/drawingml/2006/main">
            <a:off x="1009650" y="4686300"/>
            <a:ext cx="9658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What runtime state did you observe?</a:t>
            </a:r>
          </a:p>
        </p:txBody>
      </p:sp>
      <p:sp>
        <p:nvSpPr>
          <p:cNvPr id="13" name="">
            <a:extLst xmlns:a="http://schemas.openxmlformats.org/drawingml/2006/main">
              <a:ext uri="{FF2B5EF4-FFF2-40B4-BE49-F238E27FC236}">
                <a16:creationId xmlns:a16="http://schemas.microsoft.com/office/drawing/2014/main" id="{5122DE64-3BE5-4E2D-A31F-37AE80E9F42E}"/>
              </a:ext>
            </a:extLst>
          </p:cNvPr>
          <p:cNvSpPr>
            <a:spLocks xmlns:a="http://schemas.openxmlformats.org/drawingml/2006/main" noGrp="1"/>
          </p:cNvSpPr>
          <p:nvPr/>
        </p:nvSpPr>
        <p:spPr>
          <a:xfrm xmlns:a="http://schemas.openxmlformats.org/drawingml/2006/main">
            <a:off x="762000" y="55054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65F915F-1FDA-4F0E-A36B-A63AF0E40CB7}"/>
              </a:ext>
            </a:extLst>
          </p:cNvPr>
          <p:cNvSpPr>
            <a:spLocks xmlns:a="http://schemas.openxmlformats.org/drawingml/2006/main" noGrp="1"/>
          </p:cNvSpPr>
          <p:nvPr/>
        </p:nvSpPr>
        <p:spPr>
          <a:xfrm xmlns:a="http://schemas.openxmlformats.org/drawingml/2006/main">
            <a:off x="1009650" y="5276850"/>
            <a:ext cx="9658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Which independent evidence closed the claim?</a:t>
            </a:r>
          </a:p>
        </p:txBody>
      </p:sp>
    </p:spTree>
    <p:extLst>
      <p:ext uri="{BB962C8B-B14F-4D97-AF65-F5344CB8AC3E}">
        <p14:creationId xmlns:p14="http://schemas.microsoft.com/office/powerpoint/2010/main" val="1133865878"/>
      </p:ext>
    </p:extLst>
  </p:cSld>
</p:sld>
</file>

<file path=ppt/slides/slide77.xml><?xml version="1.0" encoding="utf-8"?>
<p:sld xmlns:p="http://schemas.openxmlformats.org/presentationml/2006/main">
  <p:cSld>
    <p:bg>
      <p:bgPr>
        <a:solidFill xmlns:a="http://schemas.openxmlformats.org/drawingml/2006/main">
          <a:srgbClr val="180D2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692C065-1AF0-408B-9A99-16C92C8A8BA3}"/>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FF6F6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5CE862A-1E7E-4A6E-84C4-70E161CD3B19}"/>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FF6F61"/>
                </a:solidFill>
              </a:defRPr>
            </a:pPr>
            <a:r>
              <a:rPr sz="900" b="1">
                <a:solidFill>
                  <a:srgbClr val="FF6F61"/>
                </a:solidFill>
              </a:rPr>
              <a:t>MODULE 8</a:t>
            </a:r>
          </a:p>
        </p:txBody>
      </p:sp>
      <p:sp>
        <p:nvSpPr>
          <p:cNvPr id="3" name="">
            <a:extLst xmlns:a="http://schemas.openxmlformats.org/drawingml/2006/main">
              <a:ext uri="{FF2B5EF4-FFF2-40B4-BE49-F238E27FC236}">
                <a16:creationId xmlns:a16="http://schemas.microsoft.com/office/drawing/2014/main" id="{DD23F5B5-5685-49F5-BB06-0381986B1CAC}"/>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CFC5D5"/>
                </a:solidFill>
              </a:defRPr>
            </a:pPr>
            <a:r>
              <a:rPr sz="825" b="1">
                <a:solidFill>
                  <a:srgbClr val="CFC5D5"/>
                </a:solidFill>
              </a:rPr>
              <a:t>LINUX FOUNDATIONS</a:t>
            </a:r>
          </a:p>
        </p:txBody>
      </p:sp>
      <p:sp>
        <p:nvSpPr>
          <p:cNvPr id="4" name="">
            <a:extLst xmlns:a="http://schemas.openxmlformats.org/drawingml/2006/main">
              <a:ext uri="{FF2B5EF4-FFF2-40B4-BE49-F238E27FC236}">
                <a16:creationId xmlns:a16="http://schemas.microsoft.com/office/drawing/2014/main" id="{0FB0EBC9-6794-48F6-8E9B-96311C0F3D5A}"/>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AFA2B8"/>
                </a:solidFill>
              </a:defRPr>
            </a:pPr>
            <a:r>
              <a:rPr sz="825" b="0">
                <a:solidFill>
                  <a:srgbClr val="AFA2B8"/>
                </a:solidFill>
              </a:rPr>
              <a:t>77</a:t>
            </a:r>
          </a:p>
        </p:txBody>
      </p:sp>
      <p:sp>
        <p:nvSpPr>
          <p:cNvPr id="5" name="">
            <a:extLst xmlns:a="http://schemas.openxmlformats.org/drawingml/2006/main">
              <a:ext uri="{FF2B5EF4-FFF2-40B4-BE49-F238E27FC236}">
                <a16:creationId xmlns:a16="http://schemas.microsoft.com/office/drawing/2014/main" id="{CE886B44-0FCB-4D2A-BDA0-9C5D16FEC863}"/>
              </a:ext>
            </a:extLst>
          </p:cNvPr>
          <p:cNvSpPr>
            <a:spLocks xmlns:a="http://schemas.openxmlformats.org/drawingml/2006/main" noGrp="1"/>
          </p:cNvSpPr>
          <p:nvPr/>
        </p:nvSpPr>
        <p:spPr>
          <a:xfrm xmlns:a="http://schemas.openxmlformats.org/drawingml/2006/main">
            <a:off x="666750" y="1123950"/>
            <a:ext cx="1524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5400" b="1">
                <a:solidFill>
                  <a:srgbClr val="FF6F61"/>
                </a:solidFill>
              </a:defRPr>
            </a:pPr>
            <a:r>
              <a:rPr sz="5400" b="1">
                <a:solidFill>
                  <a:srgbClr val="FF6F61"/>
                </a:solidFill>
              </a:rPr>
              <a:t>08</a:t>
            </a:r>
          </a:p>
        </p:txBody>
      </p:sp>
      <p:sp>
        <p:nvSpPr>
          <p:cNvPr id="6" name="">
            <a:extLst xmlns:a="http://schemas.openxmlformats.org/drawingml/2006/main">
              <a:ext uri="{FF2B5EF4-FFF2-40B4-BE49-F238E27FC236}">
                <a16:creationId xmlns:a16="http://schemas.microsoft.com/office/drawing/2014/main" id="{7CEA7454-D09C-4B69-95B5-D9912A2E3A35}"/>
              </a:ext>
            </a:extLst>
          </p:cNvPr>
          <p:cNvSpPr>
            <a:spLocks xmlns:a="http://schemas.openxmlformats.org/drawingml/2006/main" noGrp="1"/>
          </p:cNvSpPr>
          <p:nvPr/>
        </p:nvSpPr>
        <p:spPr>
          <a:xfrm xmlns:a="http://schemas.openxmlformats.org/drawingml/2006/main">
            <a:off x="2381250" y="1123950"/>
            <a:ext cx="8096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150" b="1">
                <a:solidFill>
                  <a:srgbClr val="FFFFFF"/>
                </a:solidFill>
              </a:defRPr>
            </a:pPr>
            <a:r>
              <a:rPr sz="3150" b="1">
                <a:solidFill>
                  <a:srgbClr val="FFFFFF"/>
                </a:solidFill>
              </a:rPr>
              <a:t>systemd declarations, dependencies, ordering, and diagnosis</a:t>
            </a:r>
          </a:p>
        </p:txBody>
      </p:sp>
      <p:sp>
        <p:nvSpPr>
          <p:cNvPr id="7" name="">
            <a:extLst xmlns:a="http://schemas.openxmlformats.org/drawingml/2006/main">
              <a:ext uri="{FF2B5EF4-FFF2-40B4-BE49-F238E27FC236}">
                <a16:creationId xmlns:a16="http://schemas.microsoft.com/office/drawing/2014/main" id="{B4902DF2-CF1B-4533-9164-C5BF91136453}"/>
              </a:ext>
            </a:extLst>
          </p:cNvPr>
          <p:cNvSpPr>
            <a:spLocks xmlns:a="http://schemas.openxmlformats.org/drawingml/2006/main" noGrp="1"/>
          </p:cNvSpPr>
          <p:nvPr/>
        </p:nvSpPr>
        <p:spPr>
          <a:xfrm xmlns:a="http://schemas.openxmlformats.org/drawingml/2006/main">
            <a:off x="2381250" y="2400300"/>
            <a:ext cx="7810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950" b="0">
                <a:solidFill>
                  <a:srgbClr val="E9DFED"/>
                </a:solidFill>
              </a:defRPr>
            </a:pPr>
            <a:r>
              <a:rPr sz="1950" b="0">
                <a:solidFill>
                  <a:srgbClr val="E9DFED"/>
                </a:solidFill>
              </a:rPr>
              <a:t>How does systemd turn a unit declaration into runtime behavior?</a:t>
            </a:r>
          </a:p>
        </p:txBody>
      </p:sp>
      <p:sp>
        <p:nvSpPr>
          <p:cNvPr id="8" name="">
            <a:extLst xmlns:a="http://schemas.openxmlformats.org/drawingml/2006/main">
              <a:ext uri="{FF2B5EF4-FFF2-40B4-BE49-F238E27FC236}">
                <a16:creationId xmlns:a16="http://schemas.microsoft.com/office/drawing/2014/main" id="{97A40D4E-B688-4966-BCF9-DCA95BECC621}"/>
              </a:ext>
            </a:extLst>
          </p:cNvPr>
          <p:cNvSpPr>
            <a:spLocks xmlns:a="http://schemas.openxmlformats.org/drawingml/2006/main" noGrp="1"/>
          </p:cNvSpPr>
          <p:nvPr/>
        </p:nvSpPr>
        <p:spPr>
          <a:xfrm xmlns:a="http://schemas.openxmlformats.org/drawingml/2006/main">
            <a:off x="2381250" y="3790950"/>
            <a:ext cx="6858000" cy="381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D4251D86-4BAD-475F-A1FF-39B85401ABCA}"/>
              </a:ext>
            </a:extLst>
          </p:cNvPr>
          <p:cNvSpPr>
            <a:spLocks xmlns:a="http://schemas.openxmlformats.org/drawingml/2006/main" noGrp="1"/>
          </p:cNvSpPr>
          <p:nvPr/>
        </p:nvSpPr>
        <p:spPr>
          <a:xfrm xmlns:a="http://schemas.openxmlformats.org/drawingml/2006/main">
            <a:off x="2381250" y="400050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0">
                <a:solidFill>
                  <a:srgbClr val="BFB1C7"/>
                </a:solidFill>
              </a:defRPr>
            </a:pPr>
            <a:r>
              <a:rPr sz="1275" b="0">
                <a:solidFill>
                  <a:srgbClr val="BFB1C7"/>
                </a:solidFill>
              </a:rPr>
              <a:t>systemd · Ubuntu 24.04</a:t>
            </a:r>
          </a:p>
        </p:txBody>
      </p:sp>
    </p:spTree>
    <p:extLst>
      <p:ext uri="{BB962C8B-B14F-4D97-AF65-F5344CB8AC3E}">
        <p14:creationId xmlns:p14="http://schemas.microsoft.com/office/powerpoint/2010/main" val="1062907142"/>
      </p:ext>
    </p:extLst>
  </p:cSld>
</p:sld>
</file>

<file path=ppt/slides/slide78.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1A195EF-07A2-4371-8F4C-35D270C4EAB6}"/>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E8B94E3-7768-4217-BFAF-EBC815ACDABE}"/>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8 · MODEL</a:t>
            </a:r>
          </a:p>
        </p:txBody>
      </p:sp>
      <p:sp>
        <p:nvSpPr>
          <p:cNvPr id="3" name="">
            <a:extLst xmlns:a="http://schemas.openxmlformats.org/drawingml/2006/main">
              <a:ext uri="{FF2B5EF4-FFF2-40B4-BE49-F238E27FC236}">
                <a16:creationId xmlns:a16="http://schemas.microsoft.com/office/drawing/2014/main" id="{4F6A5D6B-0119-44B0-9533-4DE2AD6D83E9}"/>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9714CE73-920E-415F-8B42-3D06B144645B}"/>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78</a:t>
            </a:r>
          </a:p>
        </p:txBody>
      </p:sp>
      <p:sp>
        <p:nvSpPr>
          <p:cNvPr id="5" name="">
            <a:extLst xmlns:a="http://schemas.openxmlformats.org/drawingml/2006/main">
              <a:ext uri="{FF2B5EF4-FFF2-40B4-BE49-F238E27FC236}">
                <a16:creationId xmlns:a16="http://schemas.microsoft.com/office/drawing/2014/main" id="{074D1FB3-85D1-42A3-8699-60FF7B8D1162}"/>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A unit declaration is not runtime state</a:t>
            </a:r>
          </a:p>
        </p:txBody>
      </p:sp>
      <p:sp>
        <p:nvSpPr>
          <p:cNvPr id="6" name="">
            <a:extLst xmlns:a="http://schemas.openxmlformats.org/drawingml/2006/main">
              <a:ext uri="{FF2B5EF4-FFF2-40B4-BE49-F238E27FC236}">
                <a16:creationId xmlns:a16="http://schemas.microsoft.com/office/drawing/2014/main" id="{8ABA3042-D7BB-4E9C-91B1-6402D668D30A}"/>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Loaded, enabled, active, and successful are independent facts. status is a useful symptom summary, not a complete diagnosis.</a:t>
            </a:r>
          </a:p>
        </p:txBody>
      </p:sp>
      <p:sp>
        <p:nvSpPr>
          <p:cNvPr id="7" name="">
            <a:extLst xmlns:a="http://schemas.openxmlformats.org/drawingml/2006/main">
              <a:ext uri="{FF2B5EF4-FFF2-40B4-BE49-F238E27FC236}">
                <a16:creationId xmlns:a16="http://schemas.microsoft.com/office/drawing/2014/main" id="{527F61FE-C3BC-4A0A-ABB4-F8EA7DA5404D}"/>
              </a:ext>
            </a:extLst>
          </p:cNvPr>
          <p:cNvSpPr>
            <a:spLocks xmlns:a="http://schemas.openxmlformats.org/drawingml/2006/main" noGrp="1"/>
          </p:cNvSpPr>
          <p:nvPr/>
        </p:nvSpPr>
        <p:spPr>
          <a:xfrm xmlns:a="http://schemas.openxmlformats.org/drawingml/2006/main">
            <a:off x="781050" y="31051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C2409F2-C8A4-4B21-9AC6-98DAB5060AEB}"/>
              </a:ext>
            </a:extLst>
          </p:cNvPr>
          <p:cNvSpPr>
            <a:spLocks xmlns:a="http://schemas.openxmlformats.org/drawingml/2006/main" noGrp="1"/>
          </p:cNvSpPr>
          <p:nvPr/>
        </p:nvSpPr>
        <p:spPr>
          <a:xfrm xmlns:a="http://schemas.openxmlformats.org/drawingml/2006/main">
            <a:off x="1028700" y="272415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A unit file declares command, identity, working directory, dependencies, environment, and restart behavior. The manager tries to reach a state and records transitions.</a:t>
            </a:r>
          </a:p>
        </p:txBody>
      </p:sp>
      <p:sp>
        <p:nvSpPr>
          <p:cNvPr id="9" name="">
            <a:extLst xmlns:a="http://schemas.openxmlformats.org/drawingml/2006/main">
              <a:ext uri="{FF2B5EF4-FFF2-40B4-BE49-F238E27FC236}">
                <a16:creationId xmlns:a16="http://schemas.microsoft.com/office/drawing/2014/main" id="{057DFDF2-2CEB-46A8-BAA2-5115149A1285}"/>
              </a:ext>
            </a:extLst>
          </p:cNvPr>
          <p:cNvSpPr>
            <a:spLocks xmlns:a="http://schemas.openxmlformats.org/drawingml/2006/main" noGrp="1"/>
          </p:cNvSpPr>
          <p:nvPr/>
        </p:nvSpPr>
        <p:spPr>
          <a:xfrm xmlns:a="http://schemas.openxmlformats.org/drawingml/2006/main">
            <a:off x="781050" y="40005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9B8B669-23CA-41A7-A410-0E6F2886B10E}"/>
              </a:ext>
            </a:extLst>
          </p:cNvPr>
          <p:cNvSpPr>
            <a:spLocks xmlns:a="http://schemas.openxmlformats.org/drawingml/2006/main" noGrp="1"/>
          </p:cNvSpPr>
          <p:nvPr/>
        </p:nvSpPr>
        <p:spPr>
          <a:xfrm xmlns:a="http://schemas.openxmlformats.org/drawingml/2006/main">
            <a:off x="1028700" y="361950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Loaded, enabled, active, and successful are independent facts. status is a useful symptom summary, not a complete diagnosis.</a:t>
            </a:r>
          </a:p>
        </p:txBody>
      </p:sp>
    </p:spTree>
    <p:extLst>
      <p:ext uri="{BB962C8B-B14F-4D97-AF65-F5344CB8AC3E}">
        <p14:creationId xmlns:p14="http://schemas.microsoft.com/office/powerpoint/2010/main" val="1397470558"/>
      </p:ext>
    </p:extLst>
  </p:cSld>
</p:sld>
</file>

<file path=ppt/slides/slide79.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9E46139-BEE1-41CA-A739-0D5BC7C89CA5}"/>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86037DC-292B-44B7-819E-96F6343206D2}"/>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8 · MODEL</a:t>
            </a:r>
          </a:p>
        </p:txBody>
      </p:sp>
      <p:sp>
        <p:nvSpPr>
          <p:cNvPr id="3" name="">
            <a:extLst xmlns:a="http://schemas.openxmlformats.org/drawingml/2006/main">
              <a:ext uri="{FF2B5EF4-FFF2-40B4-BE49-F238E27FC236}">
                <a16:creationId xmlns:a16="http://schemas.microsoft.com/office/drawing/2014/main" id="{F1F60B23-C9FE-49D8-9CF4-C2214D857467}"/>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00E5A0D5-4522-4364-BB1B-006EC11D8D5F}"/>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79</a:t>
            </a:r>
          </a:p>
        </p:txBody>
      </p:sp>
      <p:sp>
        <p:nvSpPr>
          <p:cNvPr id="5" name="">
            <a:extLst xmlns:a="http://schemas.openxmlformats.org/drawingml/2006/main">
              <a:ext uri="{FF2B5EF4-FFF2-40B4-BE49-F238E27FC236}">
                <a16:creationId xmlns:a16="http://schemas.microsoft.com/office/drawing/2014/main" id="{DB3CAE84-9D24-4DDB-855A-F00E4E5E60F2}"/>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Requirement and ordering are separate relationships</a:t>
            </a:r>
          </a:p>
        </p:txBody>
      </p:sp>
      <p:sp>
        <p:nvSpPr>
          <p:cNvPr id="6" name="">
            <a:extLst xmlns:a="http://schemas.openxmlformats.org/drawingml/2006/main">
              <a:ext uri="{FF2B5EF4-FFF2-40B4-BE49-F238E27FC236}">
                <a16:creationId xmlns:a16="http://schemas.microsoft.com/office/drawing/2014/main" id="{43243ED5-68A7-4D2E-A57E-949149F72F56}"/>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After=network.target does not guarantee an application-ready network. Inspect the actual unit graph and the service’s behavior instead of inferring readiness from a target name.</a:t>
            </a:r>
          </a:p>
        </p:txBody>
      </p:sp>
      <p:sp>
        <p:nvSpPr>
          <p:cNvPr id="7" name="">
            <a:extLst xmlns:a="http://schemas.openxmlformats.org/drawingml/2006/main">
              <a:ext uri="{FF2B5EF4-FFF2-40B4-BE49-F238E27FC236}">
                <a16:creationId xmlns:a16="http://schemas.microsoft.com/office/drawing/2014/main" id="{58C10962-691A-404E-883D-7CBE39FA2907}"/>
              </a:ext>
            </a:extLst>
          </p:cNvPr>
          <p:cNvSpPr>
            <a:spLocks xmlns:a="http://schemas.openxmlformats.org/drawingml/2006/main" noGrp="1"/>
          </p:cNvSpPr>
          <p:nvPr/>
        </p:nvSpPr>
        <p:spPr>
          <a:xfrm xmlns:a="http://schemas.openxmlformats.org/drawingml/2006/main">
            <a:off x="781050" y="31051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F3D09BE-CF60-4CD2-8918-EA04ECE1D7B9}"/>
              </a:ext>
            </a:extLst>
          </p:cNvPr>
          <p:cNvSpPr>
            <a:spLocks xmlns:a="http://schemas.openxmlformats.org/drawingml/2006/main" noGrp="1"/>
          </p:cNvSpPr>
          <p:nvPr/>
        </p:nvSpPr>
        <p:spPr>
          <a:xfrm xmlns:a="http://schemas.openxmlformats.org/drawingml/2006/main">
            <a:off x="1028700" y="272415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Requires= and Wants= express activation and failure relationships. After= and Before= express ordering only. Ordering does not pull a missing unit into the transaction.</a:t>
            </a:r>
          </a:p>
        </p:txBody>
      </p:sp>
      <p:sp>
        <p:nvSpPr>
          <p:cNvPr id="9" name="">
            <a:extLst xmlns:a="http://schemas.openxmlformats.org/drawingml/2006/main">
              <a:ext uri="{FF2B5EF4-FFF2-40B4-BE49-F238E27FC236}">
                <a16:creationId xmlns:a16="http://schemas.microsoft.com/office/drawing/2014/main" id="{A453634E-7019-415E-BDC9-D728B42AB901}"/>
              </a:ext>
            </a:extLst>
          </p:cNvPr>
          <p:cNvSpPr>
            <a:spLocks xmlns:a="http://schemas.openxmlformats.org/drawingml/2006/main" noGrp="1"/>
          </p:cNvSpPr>
          <p:nvPr/>
        </p:nvSpPr>
        <p:spPr>
          <a:xfrm xmlns:a="http://schemas.openxmlformats.org/drawingml/2006/main">
            <a:off x="781050" y="40005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C4BF430-707F-4222-BCD1-1256286DAA00}"/>
              </a:ext>
            </a:extLst>
          </p:cNvPr>
          <p:cNvSpPr>
            <a:spLocks xmlns:a="http://schemas.openxmlformats.org/drawingml/2006/main" noGrp="1"/>
          </p:cNvSpPr>
          <p:nvPr/>
        </p:nvSpPr>
        <p:spPr>
          <a:xfrm xmlns:a="http://schemas.openxmlformats.org/drawingml/2006/main">
            <a:off x="1028700" y="361950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After=network.target does not guarantee an application-ready network. Inspect the actual unit graph and the service’s behavior instead of inferring readiness from a target name.</a:t>
            </a:r>
          </a:p>
        </p:txBody>
      </p:sp>
    </p:spTree>
    <p:extLst>
      <p:ext uri="{BB962C8B-B14F-4D97-AF65-F5344CB8AC3E}">
        <p14:creationId xmlns:p14="http://schemas.microsoft.com/office/powerpoint/2010/main" val="1610753815"/>
      </p:ext>
    </p:extLst>
  </p:cSld>
</p:sld>
</file>

<file path=ppt/slides/slide80.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6B99706-F4AB-47B7-B2A9-E8EB5A1B526A}"/>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2FCE8AB-16F0-4897-9F5B-9E4C257E5237}"/>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8 · BUILD THE MODEL</a:t>
            </a:r>
          </a:p>
        </p:txBody>
      </p:sp>
      <p:sp>
        <p:nvSpPr>
          <p:cNvPr id="3" name="">
            <a:extLst xmlns:a="http://schemas.openxmlformats.org/drawingml/2006/main">
              <a:ext uri="{FF2B5EF4-FFF2-40B4-BE49-F238E27FC236}">
                <a16:creationId xmlns:a16="http://schemas.microsoft.com/office/drawing/2014/main" id="{D7D0E0E6-D02A-4DA6-B618-E165A1C05A84}"/>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16672937-BC4C-467C-9B12-915A432AA7C7}"/>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80</a:t>
            </a:r>
          </a:p>
        </p:txBody>
      </p:sp>
      <p:sp>
        <p:nvSpPr>
          <p:cNvPr id="5" name="">
            <a:extLst xmlns:a="http://schemas.openxmlformats.org/drawingml/2006/main">
              <a:ext uri="{FF2B5EF4-FFF2-40B4-BE49-F238E27FC236}">
                <a16:creationId xmlns:a16="http://schemas.microsoft.com/office/drawing/2014/main" id="{43FAB1DF-4B66-4B4A-93DF-6DC3A5BEAFA2}"/>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systemd builds a transaction before starting processes</a:t>
            </a:r>
          </a:p>
        </p:txBody>
      </p:sp>
      <p:sp>
        <p:nvSpPr>
          <p:cNvPr id="6" name="">
            <a:extLst xmlns:a="http://schemas.openxmlformats.org/drawingml/2006/main">
              <a:ext uri="{FF2B5EF4-FFF2-40B4-BE49-F238E27FC236}">
                <a16:creationId xmlns:a16="http://schemas.microsoft.com/office/drawing/2014/main" id="{4DF3420A-8442-439E-B9AD-F6EC1A35C11B}"/>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Requires= does not mean “run first”; After= does not mean “start it”.</a:t>
            </a:r>
          </a:p>
        </p:txBody>
      </p:sp>
      <p:sp>
        <p:nvSpPr>
          <p:cNvPr id="7" name="">
            <a:extLst xmlns:a="http://schemas.openxmlformats.org/drawingml/2006/main">
              <a:ext uri="{FF2B5EF4-FFF2-40B4-BE49-F238E27FC236}">
                <a16:creationId xmlns:a16="http://schemas.microsoft.com/office/drawing/2014/main" id="{DE2BFDEB-5CAF-4D71-9F46-2B906848928F}"/>
              </a:ext>
            </a:extLst>
          </p:cNvPr>
          <p:cNvSpPr>
            <a:spLocks xmlns:a="http://schemas.openxmlformats.org/drawingml/2006/main" noGrp="1"/>
          </p:cNvSpPr>
          <p:nvPr/>
        </p:nvSpPr>
        <p:spPr>
          <a:xfrm xmlns:a="http://schemas.openxmlformats.org/drawingml/2006/main">
            <a:off x="781050" y="29622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49158EC-B8DF-4F66-B865-C99903AF2DED}"/>
              </a:ext>
            </a:extLst>
          </p:cNvPr>
          <p:cNvSpPr>
            <a:spLocks xmlns:a="http://schemas.openxmlformats.org/drawingml/2006/main" noGrp="1"/>
          </p:cNvSpPr>
          <p:nvPr/>
        </p:nvSpPr>
        <p:spPr>
          <a:xfrm xmlns:a="http://schemas.openxmlformats.org/drawingml/2006/main">
            <a:off x="1028700" y="27241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Activation relationships decide which units join the transaction</a:t>
            </a:r>
          </a:p>
        </p:txBody>
      </p:sp>
      <p:sp>
        <p:nvSpPr>
          <p:cNvPr id="9" name="">
            <a:extLst xmlns:a="http://schemas.openxmlformats.org/drawingml/2006/main">
              <a:ext uri="{FF2B5EF4-FFF2-40B4-BE49-F238E27FC236}">
                <a16:creationId xmlns:a16="http://schemas.microsoft.com/office/drawing/2014/main" id="{7BC54945-893B-496E-892D-3909AD8A68D8}"/>
              </a:ext>
            </a:extLst>
          </p:cNvPr>
          <p:cNvSpPr>
            <a:spLocks xmlns:a="http://schemas.openxmlformats.org/drawingml/2006/main" noGrp="1"/>
          </p:cNvSpPr>
          <p:nvPr/>
        </p:nvSpPr>
        <p:spPr>
          <a:xfrm xmlns:a="http://schemas.openxmlformats.org/drawingml/2006/main">
            <a:off x="781050" y="35718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7F76B5D-0495-4DE3-B880-0E02030C38A6}"/>
              </a:ext>
            </a:extLst>
          </p:cNvPr>
          <p:cNvSpPr>
            <a:spLocks xmlns:a="http://schemas.openxmlformats.org/drawingml/2006/main" noGrp="1"/>
          </p:cNvSpPr>
          <p:nvPr/>
        </p:nvSpPr>
        <p:spPr>
          <a:xfrm xmlns:a="http://schemas.openxmlformats.org/drawingml/2006/main">
            <a:off x="1028700" y="33337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Ordering relationships decide which job runs before another</a:t>
            </a:r>
          </a:p>
        </p:txBody>
      </p:sp>
      <p:sp>
        <p:nvSpPr>
          <p:cNvPr id="11" name="">
            <a:extLst xmlns:a="http://schemas.openxmlformats.org/drawingml/2006/main">
              <a:ext uri="{FF2B5EF4-FFF2-40B4-BE49-F238E27FC236}">
                <a16:creationId xmlns:a16="http://schemas.microsoft.com/office/drawing/2014/main" id="{EBABE690-363D-406B-B476-510233B96F19}"/>
              </a:ext>
            </a:extLst>
          </p:cNvPr>
          <p:cNvSpPr>
            <a:spLocks xmlns:a="http://schemas.openxmlformats.org/drawingml/2006/main" noGrp="1"/>
          </p:cNvSpPr>
          <p:nvPr/>
        </p:nvSpPr>
        <p:spPr>
          <a:xfrm xmlns:a="http://schemas.openxmlformats.org/drawingml/2006/main">
            <a:off x="781050" y="41814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5E6D4D5-7F67-4DF8-BCF1-6A96D27A05D2}"/>
              </a:ext>
            </a:extLst>
          </p:cNvPr>
          <p:cNvSpPr>
            <a:spLocks xmlns:a="http://schemas.openxmlformats.org/drawingml/2006/main" noGrp="1"/>
          </p:cNvSpPr>
          <p:nvPr/>
        </p:nvSpPr>
        <p:spPr>
          <a:xfrm xmlns:a="http://schemas.openxmlformats.org/drawingml/2006/main">
            <a:off x="1028700" y="39433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Conditions and prerequisites can stop execution before ExecStart</a:t>
            </a:r>
          </a:p>
        </p:txBody>
      </p:sp>
      <p:sp>
        <p:nvSpPr>
          <p:cNvPr id="13" name="">
            <a:extLst xmlns:a="http://schemas.openxmlformats.org/drawingml/2006/main">
              <a:ext uri="{FF2B5EF4-FFF2-40B4-BE49-F238E27FC236}">
                <a16:creationId xmlns:a16="http://schemas.microsoft.com/office/drawing/2014/main" id="{90A02905-43A6-4652-8005-CBDE8DFDE7D1}"/>
              </a:ext>
            </a:extLst>
          </p:cNvPr>
          <p:cNvSpPr>
            <a:spLocks xmlns:a="http://schemas.openxmlformats.org/drawingml/2006/main" noGrp="1"/>
          </p:cNvSpPr>
          <p:nvPr/>
        </p:nvSpPr>
        <p:spPr>
          <a:xfrm xmlns:a="http://schemas.openxmlformats.org/drawingml/2006/main">
            <a:off x="781050" y="47910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145BC3B-1A0F-4BB8-A83F-03069460E2AB}"/>
              </a:ext>
            </a:extLst>
          </p:cNvPr>
          <p:cNvSpPr>
            <a:spLocks xmlns:a="http://schemas.openxmlformats.org/drawingml/2006/main" noGrp="1"/>
          </p:cNvSpPr>
          <p:nvPr/>
        </p:nvSpPr>
        <p:spPr>
          <a:xfrm xmlns:a="http://schemas.openxmlformats.org/drawingml/2006/main">
            <a:off x="1028700" y="45529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Every transition leaves manager and application evidence</a:t>
            </a:r>
          </a:p>
        </p:txBody>
      </p:sp>
    </p:spTree>
    <p:extLst>
      <p:ext uri="{BB962C8B-B14F-4D97-AF65-F5344CB8AC3E}">
        <p14:creationId xmlns:p14="http://schemas.microsoft.com/office/powerpoint/2010/main" val="1426036261"/>
      </p:ext>
    </p:extLst>
  </p:cSld>
</p:sld>
</file>

<file path=ppt/slides/slide81.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FEE9BE1-4D50-4CAB-982A-F55878378BF6}"/>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A1BBF85-D004-45BB-9613-9E2C9897DF93}"/>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8 · WORKED EXAMPLE</a:t>
            </a:r>
          </a:p>
        </p:txBody>
      </p:sp>
      <p:sp>
        <p:nvSpPr>
          <p:cNvPr id="3" name="">
            <a:extLst xmlns:a="http://schemas.openxmlformats.org/drawingml/2006/main">
              <a:ext uri="{FF2B5EF4-FFF2-40B4-BE49-F238E27FC236}">
                <a16:creationId xmlns:a16="http://schemas.microsoft.com/office/drawing/2014/main" id="{5F662202-9FA9-4AB0-AED2-A0D65A10469A}"/>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4CC7DD16-74AC-43DE-8878-FD397FA49563}"/>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81</a:t>
            </a:r>
          </a:p>
        </p:txBody>
      </p:sp>
      <p:sp>
        <p:nvSpPr>
          <p:cNvPr id="5" name="">
            <a:extLst xmlns:a="http://schemas.openxmlformats.org/drawingml/2006/main">
              <a:ext uri="{FF2B5EF4-FFF2-40B4-BE49-F238E27FC236}">
                <a16:creationId xmlns:a16="http://schemas.microsoft.com/office/drawing/2014/main" id="{D816E424-DB18-483E-862C-4DFDC9891F14}"/>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Read diagnosis from declaration to behavior</a:t>
            </a:r>
          </a:p>
        </p:txBody>
      </p:sp>
      <p:sp>
        <p:nvSpPr>
          <p:cNvPr id="6" name="">
            <a:extLst xmlns:a="http://schemas.openxmlformats.org/drawingml/2006/main">
              <a:ext uri="{FF2B5EF4-FFF2-40B4-BE49-F238E27FC236}">
                <a16:creationId xmlns:a16="http://schemas.microsoft.com/office/drawing/2014/main" id="{4DB3AC08-FBDC-4EED-9CDF-CE7986986358}"/>
              </a:ext>
            </a:extLst>
          </p:cNvPr>
          <p:cNvSpPr>
            <a:spLocks xmlns:a="http://schemas.openxmlformats.org/drawingml/2006/main" noGrp="1"/>
          </p:cNvSpPr>
          <p:nvPr/>
        </p:nvSpPr>
        <p:spPr>
          <a:xfrm xmlns:a="http://schemas.openxmlformats.org/drawingml/2006/main">
            <a:off x="514350" y="2400300"/>
            <a:ext cx="6191250" cy="2857500"/>
          </a:xfrm>
          <a:prstGeom xmlns:a="http://schemas.openxmlformats.org/drawingml/2006/main" prst="roundRect">
            <a:avLst>
              <a:gd name="adj" fmla="val 4000"/>
            </a:avLst>
          </a:prstGeom>
          <a:solidFill xmlns:a="http://schemas.openxmlformats.org/drawingml/2006/main">
            <a:srgbClr val="180D25"/>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C4015769-795A-461C-9771-82CEDE43350E}"/>
              </a:ext>
            </a:extLst>
          </p:cNvPr>
          <p:cNvSpPr>
            <a:spLocks xmlns:a="http://schemas.openxmlformats.org/drawingml/2006/main" noGrp="1"/>
          </p:cNvSpPr>
          <p:nvPr/>
        </p:nvSpPr>
        <p:spPr>
          <a:xfrm xmlns:a="http://schemas.openxmlformats.org/drawingml/2006/main">
            <a:off x="781050" y="2647950"/>
            <a:ext cx="5667375" cy="2333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F7F1FA"/>
                </a:solidFill>
              </a:defRPr>
            </a:pPr>
            <a:r>
              <a:rPr sz="1575" b="0">
                <a:solidFill>
                  <a:srgbClr val="F7F1FA"/>
                </a:solidFill>
              </a:rPr>
              <a:t>systemctl status demo-api --no-pager</a:t>
            </a:r>
          </a:p>
          <a:p xmlns:a="http://schemas.openxmlformats.org/drawingml/2006/main">
            <a:pPr algn="l">
              <a:buNone/>
              <a:defRPr sz="1575" b="0">
                <a:solidFill>
                  <a:srgbClr val="F7F1FA"/>
                </a:solidFill>
              </a:defRPr>
            </a:pPr>
            <a:r>
              <a:rPr sz="1575" b="0">
                <a:solidFill>
                  <a:srgbClr val="F7F1FA"/>
                </a:solidFill>
              </a:rPr>
              <a:t>journalctl -u demo-api -b --no-pager</a:t>
            </a:r>
          </a:p>
          <a:p xmlns:a="http://schemas.openxmlformats.org/drawingml/2006/main">
            <a:pPr algn="l">
              <a:buNone/>
              <a:defRPr sz="1575" b="0">
                <a:solidFill>
                  <a:srgbClr val="F7F1FA"/>
                </a:solidFill>
              </a:defRPr>
            </a:pPr>
            <a:r>
              <a:rPr sz="1575" b="0">
                <a:solidFill>
                  <a:srgbClr val="F7F1FA"/>
                </a:solidFill>
              </a:rPr>
              <a:t>systemctl cat demo-api</a:t>
            </a:r>
          </a:p>
          <a:p xmlns:a="http://schemas.openxmlformats.org/drawingml/2006/main">
            <a:pPr algn="l">
              <a:buNone/>
              <a:defRPr sz="1575" b="0">
                <a:solidFill>
                  <a:srgbClr val="F7F1FA"/>
                </a:solidFill>
              </a:defRPr>
            </a:pPr>
            <a:r>
              <a:rPr sz="1575" b="0">
                <a:solidFill>
                  <a:srgbClr val="F7F1FA"/>
                </a:solidFill>
              </a:rPr>
              <a:t>systemctl show demo-api -p Wants -p Requires -p After</a:t>
            </a:r>
          </a:p>
        </p:txBody>
      </p:sp>
      <p:sp>
        <p:nvSpPr>
          <p:cNvPr id="8" name="">
            <a:extLst xmlns:a="http://schemas.openxmlformats.org/drawingml/2006/main">
              <a:ext uri="{FF2B5EF4-FFF2-40B4-BE49-F238E27FC236}">
                <a16:creationId xmlns:a16="http://schemas.microsoft.com/office/drawing/2014/main" id="{29CB96AA-172F-4654-8F2B-F0344ED40B87}"/>
              </a:ext>
            </a:extLst>
          </p:cNvPr>
          <p:cNvSpPr>
            <a:spLocks xmlns:a="http://schemas.openxmlformats.org/drawingml/2006/main" noGrp="1"/>
          </p:cNvSpPr>
          <p:nvPr/>
        </p:nvSpPr>
        <p:spPr>
          <a:xfrm xmlns:a="http://schemas.openxmlformats.org/drawingml/2006/main">
            <a:off x="7143750" y="27336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FAABFDE7-FCB6-4B1A-AF13-A68C918CA272}"/>
              </a:ext>
            </a:extLst>
          </p:cNvPr>
          <p:cNvSpPr>
            <a:spLocks xmlns:a="http://schemas.openxmlformats.org/drawingml/2006/main" noGrp="1"/>
          </p:cNvSpPr>
          <p:nvPr/>
        </p:nvSpPr>
        <p:spPr>
          <a:xfrm xmlns:a="http://schemas.openxmlformats.org/drawingml/2006/main">
            <a:off x="7391400" y="2428875"/>
            <a:ext cx="3848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Status identifies the symptom and recent context.</a:t>
            </a:r>
          </a:p>
        </p:txBody>
      </p:sp>
      <p:sp>
        <p:nvSpPr>
          <p:cNvPr id="10" name="">
            <a:extLst xmlns:a="http://schemas.openxmlformats.org/drawingml/2006/main">
              <a:ext uri="{FF2B5EF4-FFF2-40B4-BE49-F238E27FC236}">
                <a16:creationId xmlns:a16="http://schemas.microsoft.com/office/drawing/2014/main" id="{36F418A3-BDFE-4EB0-A453-872A1A611481}"/>
              </a:ext>
            </a:extLst>
          </p:cNvPr>
          <p:cNvSpPr>
            <a:spLocks xmlns:a="http://schemas.openxmlformats.org/drawingml/2006/main" noGrp="1"/>
          </p:cNvSpPr>
          <p:nvPr/>
        </p:nvSpPr>
        <p:spPr>
          <a:xfrm xmlns:a="http://schemas.openxmlformats.org/drawingml/2006/main">
            <a:off x="7143750" y="347662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CB596BF-A525-4C1A-B2CD-453E976D54D5}"/>
              </a:ext>
            </a:extLst>
          </p:cNvPr>
          <p:cNvSpPr>
            <a:spLocks xmlns:a="http://schemas.openxmlformats.org/drawingml/2006/main" noGrp="1"/>
          </p:cNvSpPr>
          <p:nvPr/>
        </p:nvSpPr>
        <p:spPr>
          <a:xfrm xmlns:a="http://schemas.openxmlformats.org/drawingml/2006/main">
            <a:off x="7391400" y="3171825"/>
            <a:ext cx="3848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The journal shows transition and failure evidence.</a:t>
            </a:r>
          </a:p>
        </p:txBody>
      </p:sp>
      <p:sp>
        <p:nvSpPr>
          <p:cNvPr id="12" name="">
            <a:extLst xmlns:a="http://schemas.openxmlformats.org/drawingml/2006/main">
              <a:ext uri="{FF2B5EF4-FFF2-40B4-BE49-F238E27FC236}">
                <a16:creationId xmlns:a16="http://schemas.microsoft.com/office/drawing/2014/main" id="{80851119-2908-400C-AF20-B568657ED3DB}"/>
              </a:ext>
            </a:extLst>
          </p:cNvPr>
          <p:cNvSpPr>
            <a:spLocks xmlns:a="http://schemas.openxmlformats.org/drawingml/2006/main" noGrp="1"/>
          </p:cNvSpPr>
          <p:nvPr/>
        </p:nvSpPr>
        <p:spPr>
          <a:xfrm xmlns:a="http://schemas.openxmlformats.org/drawingml/2006/main">
            <a:off x="7143750" y="42195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26BD2B2-49E2-4FC2-8F69-DAC0A93A9765}"/>
              </a:ext>
            </a:extLst>
          </p:cNvPr>
          <p:cNvSpPr>
            <a:spLocks xmlns:a="http://schemas.openxmlformats.org/drawingml/2006/main" noGrp="1"/>
          </p:cNvSpPr>
          <p:nvPr/>
        </p:nvSpPr>
        <p:spPr>
          <a:xfrm xmlns:a="http://schemas.openxmlformats.org/drawingml/2006/main">
            <a:off x="7391400" y="3914775"/>
            <a:ext cx="3848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cat and show reveal effective declaration and relationships.</a:t>
            </a:r>
          </a:p>
        </p:txBody>
      </p:sp>
    </p:spTree>
    <p:extLst>
      <p:ext uri="{BB962C8B-B14F-4D97-AF65-F5344CB8AC3E}">
        <p14:creationId xmlns:p14="http://schemas.microsoft.com/office/powerpoint/2010/main" val="202686907"/>
      </p:ext>
    </p:extLst>
  </p:cSld>
</p:sld>
</file>

<file path=ppt/slides/slide82.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EFD2E904-DF0F-489E-AFC0-3872F7243769}"/>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C066DF7-2285-49A7-8D8E-D5B044E8006F}"/>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8 · GUIDED COMMANDS</a:t>
            </a:r>
          </a:p>
        </p:txBody>
      </p:sp>
      <p:sp>
        <p:nvSpPr>
          <p:cNvPr id="3" name="">
            <a:extLst xmlns:a="http://schemas.openxmlformats.org/drawingml/2006/main">
              <a:ext uri="{FF2B5EF4-FFF2-40B4-BE49-F238E27FC236}">
                <a16:creationId xmlns:a16="http://schemas.microsoft.com/office/drawing/2014/main" id="{D07547F8-1B56-4AFB-A353-9F5FDE921334}"/>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50A2840C-899A-4246-BFDE-5636DFBA520D}"/>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82</a:t>
            </a:r>
          </a:p>
        </p:txBody>
      </p:sp>
      <p:sp>
        <p:nvSpPr>
          <p:cNvPr id="5" name="">
            <a:extLst xmlns:a="http://schemas.openxmlformats.org/drawingml/2006/main">
              <a:ext uri="{FF2B5EF4-FFF2-40B4-BE49-F238E27FC236}">
                <a16:creationId xmlns:a16="http://schemas.microsoft.com/office/drawing/2014/main" id="{9C943982-5CB8-4850-8200-605B8B3F7016}"/>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These commands are tools for specific questions</a:t>
            </a:r>
          </a:p>
        </p:txBody>
      </p:sp>
      <p:sp>
        <p:nvSpPr>
          <p:cNvPr id="6" name="">
            <a:extLst xmlns:a="http://schemas.openxmlformats.org/drawingml/2006/main">
              <a:ext uri="{FF2B5EF4-FFF2-40B4-BE49-F238E27FC236}">
                <a16:creationId xmlns:a16="http://schemas.microsoft.com/office/drawing/2014/main" id="{22F7F022-A190-4672-9ACB-2F6C7CFBEA4C}"/>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The lab guide repeats syntax and expected evidence; memorization is not required.</a:t>
            </a:r>
          </a:p>
        </p:txBody>
      </p:sp>
      <p:sp>
        <p:nvSpPr>
          <p:cNvPr id="7" name="">
            <a:extLst xmlns:a="http://schemas.openxmlformats.org/drawingml/2006/main">
              <a:ext uri="{FF2B5EF4-FFF2-40B4-BE49-F238E27FC236}">
                <a16:creationId xmlns:a16="http://schemas.microsoft.com/office/drawing/2014/main" id="{003D7DD5-393C-4C9E-85E3-3A352A698A6D}"/>
              </a:ext>
            </a:extLst>
          </p:cNvPr>
          <p:cNvSpPr>
            <a:spLocks xmlns:a="http://schemas.openxmlformats.org/drawingml/2006/main" noGrp="1"/>
          </p:cNvSpPr>
          <p:nvPr/>
        </p:nvSpPr>
        <p:spPr>
          <a:xfrm xmlns:a="http://schemas.openxmlformats.org/drawingml/2006/main">
            <a:off x="685800" y="24003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status/is-active</a:t>
            </a:r>
          </a:p>
        </p:txBody>
      </p:sp>
      <p:sp>
        <p:nvSpPr>
          <p:cNvPr id="8" name="">
            <a:extLst xmlns:a="http://schemas.openxmlformats.org/drawingml/2006/main">
              <a:ext uri="{FF2B5EF4-FFF2-40B4-BE49-F238E27FC236}">
                <a16:creationId xmlns:a16="http://schemas.microsoft.com/office/drawing/2014/main" id="{55D72038-109B-4B8A-BFCA-BE958689B0AA}"/>
              </a:ext>
            </a:extLst>
          </p:cNvPr>
          <p:cNvSpPr>
            <a:spLocks xmlns:a="http://schemas.openxmlformats.org/drawingml/2006/main" noGrp="1"/>
          </p:cNvSpPr>
          <p:nvPr/>
        </p:nvSpPr>
        <p:spPr>
          <a:xfrm xmlns:a="http://schemas.openxmlformats.org/drawingml/2006/main">
            <a:off x="3810000" y="24003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observe current runtime state</a:t>
            </a:r>
          </a:p>
        </p:txBody>
      </p:sp>
      <p:sp>
        <p:nvSpPr>
          <p:cNvPr id="9" name="">
            <a:extLst xmlns:a="http://schemas.openxmlformats.org/drawingml/2006/main">
              <a:ext uri="{FF2B5EF4-FFF2-40B4-BE49-F238E27FC236}">
                <a16:creationId xmlns:a16="http://schemas.microsoft.com/office/drawing/2014/main" id="{14496D71-BB83-4F4B-B2F8-B1A071D2D059}"/>
              </a:ext>
            </a:extLst>
          </p:cNvPr>
          <p:cNvSpPr>
            <a:spLocks xmlns:a="http://schemas.openxmlformats.org/drawingml/2006/main" noGrp="1"/>
          </p:cNvSpPr>
          <p:nvPr/>
        </p:nvSpPr>
        <p:spPr>
          <a:xfrm xmlns:a="http://schemas.openxmlformats.org/drawingml/2006/main">
            <a:off x="685800" y="29527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B2FF08B-0FD1-4F40-B29C-7233D50AD164}"/>
              </a:ext>
            </a:extLst>
          </p:cNvPr>
          <p:cNvSpPr>
            <a:spLocks xmlns:a="http://schemas.openxmlformats.org/drawingml/2006/main" noGrp="1"/>
          </p:cNvSpPr>
          <p:nvPr/>
        </p:nvSpPr>
        <p:spPr>
          <a:xfrm xmlns:a="http://schemas.openxmlformats.org/drawingml/2006/main">
            <a:off x="685800" y="30480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is-enabled</a:t>
            </a:r>
          </a:p>
        </p:txBody>
      </p:sp>
      <p:sp>
        <p:nvSpPr>
          <p:cNvPr id="11" name="">
            <a:extLst xmlns:a="http://schemas.openxmlformats.org/drawingml/2006/main">
              <a:ext uri="{FF2B5EF4-FFF2-40B4-BE49-F238E27FC236}">
                <a16:creationId xmlns:a16="http://schemas.microsoft.com/office/drawing/2014/main" id="{A4207AF8-8944-4116-980C-A6BEDD10C81B}"/>
              </a:ext>
            </a:extLst>
          </p:cNvPr>
          <p:cNvSpPr>
            <a:spLocks xmlns:a="http://schemas.openxmlformats.org/drawingml/2006/main" noGrp="1"/>
          </p:cNvSpPr>
          <p:nvPr/>
        </p:nvSpPr>
        <p:spPr>
          <a:xfrm xmlns:a="http://schemas.openxmlformats.org/drawingml/2006/main">
            <a:off x="3810000" y="30480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observe boot policy</a:t>
            </a:r>
          </a:p>
        </p:txBody>
      </p:sp>
      <p:sp>
        <p:nvSpPr>
          <p:cNvPr id="12" name="">
            <a:extLst xmlns:a="http://schemas.openxmlformats.org/drawingml/2006/main">
              <a:ext uri="{FF2B5EF4-FFF2-40B4-BE49-F238E27FC236}">
                <a16:creationId xmlns:a16="http://schemas.microsoft.com/office/drawing/2014/main" id="{10B251F9-36CA-4019-AF76-50A28912DD36}"/>
              </a:ext>
            </a:extLst>
          </p:cNvPr>
          <p:cNvSpPr>
            <a:spLocks xmlns:a="http://schemas.openxmlformats.org/drawingml/2006/main" noGrp="1"/>
          </p:cNvSpPr>
          <p:nvPr/>
        </p:nvSpPr>
        <p:spPr>
          <a:xfrm xmlns:a="http://schemas.openxmlformats.org/drawingml/2006/main">
            <a:off x="685800" y="36004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9A213421-6F71-46EE-BF4A-B7D53CEED6B8}"/>
              </a:ext>
            </a:extLst>
          </p:cNvPr>
          <p:cNvSpPr>
            <a:spLocks xmlns:a="http://schemas.openxmlformats.org/drawingml/2006/main" noGrp="1"/>
          </p:cNvSpPr>
          <p:nvPr/>
        </p:nvSpPr>
        <p:spPr>
          <a:xfrm xmlns:a="http://schemas.openxmlformats.org/drawingml/2006/main">
            <a:off x="685800" y="36957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cat/show</a:t>
            </a:r>
          </a:p>
        </p:txBody>
      </p:sp>
      <p:sp>
        <p:nvSpPr>
          <p:cNvPr id="14" name="">
            <a:extLst xmlns:a="http://schemas.openxmlformats.org/drawingml/2006/main">
              <a:ext uri="{FF2B5EF4-FFF2-40B4-BE49-F238E27FC236}">
                <a16:creationId xmlns:a16="http://schemas.microsoft.com/office/drawing/2014/main" id="{1B612868-BDB2-4A9B-87D4-9236A41C7478}"/>
              </a:ext>
            </a:extLst>
          </p:cNvPr>
          <p:cNvSpPr>
            <a:spLocks xmlns:a="http://schemas.openxmlformats.org/drawingml/2006/main" noGrp="1"/>
          </p:cNvSpPr>
          <p:nvPr/>
        </p:nvSpPr>
        <p:spPr>
          <a:xfrm xmlns:a="http://schemas.openxmlformats.org/drawingml/2006/main">
            <a:off x="3810000" y="36957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inspect effective declaration and normalized properties</a:t>
            </a:r>
          </a:p>
        </p:txBody>
      </p:sp>
      <p:sp>
        <p:nvSpPr>
          <p:cNvPr id="15" name="">
            <a:extLst xmlns:a="http://schemas.openxmlformats.org/drawingml/2006/main">
              <a:ext uri="{FF2B5EF4-FFF2-40B4-BE49-F238E27FC236}">
                <a16:creationId xmlns:a16="http://schemas.microsoft.com/office/drawing/2014/main" id="{EFEB5305-987F-4912-AE01-B4AA27E27150}"/>
              </a:ext>
            </a:extLst>
          </p:cNvPr>
          <p:cNvSpPr>
            <a:spLocks xmlns:a="http://schemas.openxmlformats.org/drawingml/2006/main" noGrp="1"/>
          </p:cNvSpPr>
          <p:nvPr/>
        </p:nvSpPr>
        <p:spPr>
          <a:xfrm xmlns:a="http://schemas.openxmlformats.org/drawingml/2006/main">
            <a:off x="685800" y="42481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78CB7285-8F18-4E0D-AB94-81F6B99F49A1}"/>
              </a:ext>
            </a:extLst>
          </p:cNvPr>
          <p:cNvSpPr>
            <a:spLocks xmlns:a="http://schemas.openxmlformats.org/drawingml/2006/main" noGrp="1"/>
          </p:cNvSpPr>
          <p:nvPr/>
        </p:nvSpPr>
        <p:spPr>
          <a:xfrm xmlns:a="http://schemas.openxmlformats.org/drawingml/2006/main">
            <a:off x="685800" y="43434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daemon-reload</a:t>
            </a:r>
          </a:p>
        </p:txBody>
      </p:sp>
      <p:sp>
        <p:nvSpPr>
          <p:cNvPr id="17" name="">
            <a:extLst xmlns:a="http://schemas.openxmlformats.org/drawingml/2006/main">
              <a:ext uri="{FF2B5EF4-FFF2-40B4-BE49-F238E27FC236}">
                <a16:creationId xmlns:a16="http://schemas.microsoft.com/office/drawing/2014/main" id="{13AB8289-AA5D-4A38-9D84-EC1E114ADE94}"/>
              </a:ext>
            </a:extLst>
          </p:cNvPr>
          <p:cNvSpPr>
            <a:spLocks xmlns:a="http://schemas.openxmlformats.org/drawingml/2006/main" noGrp="1"/>
          </p:cNvSpPr>
          <p:nvPr/>
        </p:nvSpPr>
        <p:spPr>
          <a:xfrm xmlns:a="http://schemas.openxmlformats.org/drawingml/2006/main">
            <a:off x="3810000" y="43434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reread changed unit definitions</a:t>
            </a:r>
          </a:p>
        </p:txBody>
      </p:sp>
      <p:sp>
        <p:nvSpPr>
          <p:cNvPr id="18" name="">
            <a:extLst xmlns:a="http://schemas.openxmlformats.org/drawingml/2006/main">
              <a:ext uri="{FF2B5EF4-FFF2-40B4-BE49-F238E27FC236}">
                <a16:creationId xmlns:a16="http://schemas.microsoft.com/office/drawing/2014/main" id="{AB6CB1DE-D2EF-4A3E-B370-C289F58DD307}"/>
              </a:ext>
            </a:extLst>
          </p:cNvPr>
          <p:cNvSpPr>
            <a:spLocks xmlns:a="http://schemas.openxmlformats.org/drawingml/2006/main" noGrp="1"/>
          </p:cNvSpPr>
          <p:nvPr/>
        </p:nvSpPr>
        <p:spPr>
          <a:xfrm xmlns:a="http://schemas.openxmlformats.org/drawingml/2006/main">
            <a:off x="685800" y="48958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9AF4D04-BE30-4709-A45A-D2C7747335A2}"/>
              </a:ext>
            </a:extLst>
          </p:cNvPr>
          <p:cNvSpPr>
            <a:spLocks xmlns:a="http://schemas.openxmlformats.org/drawingml/2006/main" noGrp="1"/>
          </p:cNvSpPr>
          <p:nvPr/>
        </p:nvSpPr>
        <p:spPr>
          <a:xfrm xmlns:a="http://schemas.openxmlformats.org/drawingml/2006/main">
            <a:off x="685800" y="49911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restart</a:t>
            </a:r>
          </a:p>
        </p:txBody>
      </p:sp>
      <p:sp>
        <p:nvSpPr>
          <p:cNvPr id="20" name="">
            <a:extLst xmlns:a="http://schemas.openxmlformats.org/drawingml/2006/main">
              <a:ext uri="{FF2B5EF4-FFF2-40B4-BE49-F238E27FC236}">
                <a16:creationId xmlns:a16="http://schemas.microsoft.com/office/drawing/2014/main" id="{43DC8EF1-FC67-4938-A464-D2814057DA0A}"/>
              </a:ext>
            </a:extLst>
          </p:cNvPr>
          <p:cNvSpPr>
            <a:spLocks xmlns:a="http://schemas.openxmlformats.org/drawingml/2006/main" noGrp="1"/>
          </p:cNvSpPr>
          <p:nvPr/>
        </p:nvSpPr>
        <p:spPr>
          <a:xfrm xmlns:a="http://schemas.openxmlformats.org/drawingml/2006/main">
            <a:off x="3810000" y="49911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create a new execution from the effective definition</a:t>
            </a:r>
          </a:p>
        </p:txBody>
      </p:sp>
    </p:spTree>
    <p:extLst>
      <p:ext uri="{BB962C8B-B14F-4D97-AF65-F5344CB8AC3E}">
        <p14:creationId xmlns:p14="http://schemas.microsoft.com/office/powerpoint/2010/main" val="1207807037"/>
      </p:ext>
    </p:extLst>
  </p:cSld>
</p:sld>
</file>

<file path=ppt/slides/slide83.xml><?xml version="1.0" encoding="utf-8"?>
<p:sld xmlns:p="http://schemas.openxmlformats.org/presentationml/2006/main">
  <p:cSld>
    <p:bg>
      <p:bgPr>
        <a:solidFill xmlns:a="http://schemas.openxmlformats.org/drawingml/2006/main">
          <a:srgbClr val="180D25"/>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02B8EF06-5A04-4132-B23A-483BC59FA288}"/>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FF6F6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CE94DE1-8943-442E-8D76-8747AA59431D}"/>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FF6F61"/>
                </a:solidFill>
              </a:defRPr>
            </a:pPr>
            <a:r>
              <a:rPr sz="900" b="1">
                <a:solidFill>
                  <a:srgbClr val="FF6F61"/>
                </a:solidFill>
              </a:rPr>
              <a:t>MODULE 8 · LIVE DEMO</a:t>
            </a:r>
          </a:p>
        </p:txBody>
      </p:sp>
      <p:sp>
        <p:nvSpPr>
          <p:cNvPr id="3" name="">
            <a:extLst xmlns:a="http://schemas.openxmlformats.org/drawingml/2006/main">
              <a:ext uri="{FF2B5EF4-FFF2-40B4-BE49-F238E27FC236}">
                <a16:creationId xmlns:a16="http://schemas.microsoft.com/office/drawing/2014/main" id="{4763A16E-3799-4E6D-B770-2F297EBC0E02}"/>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CFC5D5"/>
                </a:solidFill>
              </a:defRPr>
            </a:pPr>
            <a:r>
              <a:rPr sz="825" b="1">
                <a:solidFill>
                  <a:srgbClr val="CFC5D5"/>
                </a:solidFill>
              </a:rPr>
              <a:t>LINUX FOUNDATIONS</a:t>
            </a:r>
          </a:p>
        </p:txBody>
      </p:sp>
      <p:sp>
        <p:nvSpPr>
          <p:cNvPr id="4" name="">
            <a:extLst xmlns:a="http://schemas.openxmlformats.org/drawingml/2006/main">
              <a:ext uri="{FF2B5EF4-FFF2-40B4-BE49-F238E27FC236}">
                <a16:creationId xmlns:a16="http://schemas.microsoft.com/office/drawing/2014/main" id="{C672234D-4B8F-410D-8E78-FF6A37BE35C7}"/>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AFA2B8"/>
                </a:solidFill>
              </a:defRPr>
            </a:pPr>
            <a:r>
              <a:rPr sz="825" b="0">
                <a:solidFill>
                  <a:srgbClr val="AFA2B8"/>
                </a:solidFill>
              </a:rPr>
              <a:t>83</a:t>
            </a:r>
          </a:p>
        </p:txBody>
      </p:sp>
      <p:sp>
        <p:nvSpPr>
          <p:cNvPr id="5" name="">
            <a:extLst xmlns:a="http://schemas.openxmlformats.org/drawingml/2006/main">
              <a:ext uri="{FF2B5EF4-FFF2-40B4-BE49-F238E27FC236}">
                <a16:creationId xmlns:a16="http://schemas.microsoft.com/office/drawing/2014/main" id="{50BF5608-9664-4DA4-8429-16CF271D5A2B}"/>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FFFFFF"/>
                </a:solidFill>
              </a:defRPr>
            </a:pPr>
            <a:r>
              <a:rPr sz="2850" b="1">
                <a:solidFill>
                  <a:srgbClr val="FFFFFF"/>
                </a:solidFill>
              </a:rPr>
              <a:t>Predict the evidence before Demo 8</a:t>
            </a:r>
          </a:p>
        </p:txBody>
      </p:sp>
      <p:sp>
        <p:nvSpPr>
          <p:cNvPr id="6" name="">
            <a:extLst xmlns:a="http://schemas.openxmlformats.org/drawingml/2006/main">
              <a:ext uri="{FF2B5EF4-FFF2-40B4-BE49-F238E27FC236}">
                <a16:creationId xmlns:a16="http://schemas.microsoft.com/office/drawing/2014/main" id="{277D1D98-0A1C-4F2D-8AC6-D61C00CA721D}"/>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E6DDEB"/>
                </a:solidFill>
              </a:defRPr>
            </a:pPr>
            <a:r>
              <a:rPr sz="1650" b="0">
                <a:solidFill>
                  <a:srgbClr val="E6DDEB"/>
                </a:solidFill>
              </a:rPr>
              <a:t>Diagnose demo-api.service whose required EnvironmentFile is missing; create only the missing prerequisite, restart, then verify its endpoint.</a:t>
            </a:r>
          </a:p>
        </p:txBody>
      </p:sp>
      <p:sp>
        <p:nvSpPr>
          <p:cNvPr id="7" name="">
            <a:extLst xmlns:a="http://schemas.openxmlformats.org/drawingml/2006/main">
              <a:ext uri="{FF2B5EF4-FFF2-40B4-BE49-F238E27FC236}">
                <a16:creationId xmlns:a16="http://schemas.microsoft.com/office/drawing/2014/main" id="{FB8546A1-E95B-44E6-95A8-496B44CEB2C8}"/>
              </a:ext>
            </a:extLst>
          </p:cNvPr>
          <p:cNvSpPr>
            <a:spLocks xmlns:a="http://schemas.openxmlformats.org/drawingml/2006/main" noGrp="1"/>
          </p:cNvSpPr>
          <p:nvPr/>
        </p:nvSpPr>
        <p:spPr>
          <a:xfrm xmlns:a="http://schemas.openxmlformats.org/drawingml/2006/main">
            <a:off x="666750" y="2476500"/>
            <a:ext cx="10096500" cy="781050"/>
          </a:xfrm>
          <a:prstGeom xmlns:a="http://schemas.openxmlformats.org/drawingml/2006/main" prst="roundRect">
            <a:avLst>
              <a:gd name="adj" fmla="val 14634"/>
            </a:avLst>
          </a:prstGeom>
          <a:solidFill xmlns:a="http://schemas.openxmlformats.org/drawingml/2006/main">
            <a:srgbClr val="2C173E"/>
          </a:solidFill>
          <a:ln xmlns:a="http://schemas.openxmlformats.org/drawingml/2006/main" w="9525">
            <a:solidFill>
              <a:srgbClr val="7650F8"/>
            </a:solidFill>
            <a:prstDash val="solid"/>
          </a:ln>
        </p:spPr>
      </p:sp>
      <p:sp>
        <p:nvSpPr>
          <p:cNvPr id="8" name="">
            <a:extLst xmlns:a="http://schemas.openxmlformats.org/drawingml/2006/main">
              <a:ext uri="{FF2B5EF4-FFF2-40B4-BE49-F238E27FC236}">
                <a16:creationId xmlns:a16="http://schemas.microsoft.com/office/drawing/2014/main" id="{CFCA3AF7-E6A1-4EA2-9816-D711DF724F7A}"/>
              </a:ext>
            </a:extLst>
          </p:cNvPr>
          <p:cNvSpPr>
            <a:spLocks xmlns:a="http://schemas.openxmlformats.org/drawingml/2006/main" noGrp="1"/>
          </p:cNvSpPr>
          <p:nvPr/>
        </p:nvSpPr>
        <p:spPr>
          <a:xfrm xmlns:a="http://schemas.openxmlformats.org/drawingml/2006/main">
            <a:off x="895350" y="2590800"/>
            <a:ext cx="9620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FFFFFF"/>
                </a:solidFill>
              </a:defRPr>
            </a:pPr>
            <a:r>
              <a:rPr sz="1575" b="0">
                <a:solidFill>
                  <a:srgbClr val="FFFFFF"/>
                </a:solidFill>
              </a:rPr>
              <a:t>Diagnose demo-api.service whose required EnvironmentFile is missing; create only the missing prerequisite, restart, then verify its endpoint.</a:t>
            </a:r>
          </a:p>
        </p:txBody>
      </p:sp>
      <p:sp>
        <p:nvSpPr>
          <p:cNvPr id="9" name="">
            <a:extLst xmlns:a="http://schemas.openxmlformats.org/drawingml/2006/main">
              <a:ext uri="{FF2B5EF4-FFF2-40B4-BE49-F238E27FC236}">
                <a16:creationId xmlns:a16="http://schemas.microsoft.com/office/drawing/2014/main" id="{20CD95A5-303D-4E08-B3EF-D624B837B803}"/>
              </a:ext>
            </a:extLst>
          </p:cNvPr>
          <p:cNvSpPr>
            <a:spLocks xmlns:a="http://schemas.openxmlformats.org/drawingml/2006/main" noGrp="1"/>
          </p:cNvSpPr>
          <p:nvPr/>
        </p:nvSpPr>
        <p:spPr>
          <a:xfrm xmlns:a="http://schemas.openxmlformats.org/drawingml/2006/main">
            <a:off x="904875" y="38195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E2D0CC5-E4D8-478F-98C5-90CC9568FD2F}"/>
              </a:ext>
            </a:extLst>
          </p:cNvPr>
          <p:cNvSpPr>
            <a:spLocks xmlns:a="http://schemas.openxmlformats.org/drawingml/2006/main" noGrp="1"/>
          </p:cNvSpPr>
          <p:nvPr/>
        </p:nvSpPr>
        <p:spPr>
          <a:xfrm xmlns:a="http://schemas.openxmlformats.org/drawingml/2006/main">
            <a:off x="1152525" y="3619500"/>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State the operating question</a:t>
            </a:r>
          </a:p>
        </p:txBody>
      </p:sp>
      <p:sp>
        <p:nvSpPr>
          <p:cNvPr id="11" name="">
            <a:extLst xmlns:a="http://schemas.openxmlformats.org/drawingml/2006/main">
              <a:ext uri="{FF2B5EF4-FFF2-40B4-BE49-F238E27FC236}">
                <a16:creationId xmlns:a16="http://schemas.microsoft.com/office/drawing/2014/main" id="{5F88B8CA-8FD7-4D6D-8065-6B465EB847CC}"/>
              </a:ext>
            </a:extLst>
          </p:cNvPr>
          <p:cNvSpPr>
            <a:spLocks xmlns:a="http://schemas.openxmlformats.org/drawingml/2006/main" noGrp="1"/>
          </p:cNvSpPr>
          <p:nvPr/>
        </p:nvSpPr>
        <p:spPr>
          <a:xfrm xmlns:a="http://schemas.openxmlformats.org/drawingml/2006/main">
            <a:off x="904875" y="43434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E963989-B763-4027-80EE-52364CD48FCF}"/>
              </a:ext>
            </a:extLst>
          </p:cNvPr>
          <p:cNvSpPr>
            <a:spLocks xmlns:a="http://schemas.openxmlformats.org/drawingml/2006/main" noGrp="1"/>
          </p:cNvSpPr>
          <p:nvPr/>
        </p:nvSpPr>
        <p:spPr>
          <a:xfrm xmlns:a="http://schemas.openxmlformats.org/drawingml/2006/main">
            <a:off x="1152525" y="4143375"/>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Ask for one prediction</a:t>
            </a:r>
          </a:p>
        </p:txBody>
      </p:sp>
      <p:sp>
        <p:nvSpPr>
          <p:cNvPr id="13" name="">
            <a:extLst xmlns:a="http://schemas.openxmlformats.org/drawingml/2006/main">
              <a:ext uri="{FF2B5EF4-FFF2-40B4-BE49-F238E27FC236}">
                <a16:creationId xmlns:a16="http://schemas.microsoft.com/office/drawing/2014/main" id="{0B174156-1009-481F-AFD2-FC6FF44250F7}"/>
              </a:ext>
            </a:extLst>
          </p:cNvPr>
          <p:cNvSpPr>
            <a:spLocks xmlns:a="http://schemas.openxmlformats.org/drawingml/2006/main" noGrp="1"/>
          </p:cNvSpPr>
          <p:nvPr/>
        </p:nvSpPr>
        <p:spPr>
          <a:xfrm xmlns:a="http://schemas.openxmlformats.org/drawingml/2006/main">
            <a:off x="904875" y="48672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E959622-987E-46C5-B991-9D214321572F}"/>
              </a:ext>
            </a:extLst>
          </p:cNvPr>
          <p:cNvSpPr>
            <a:spLocks xmlns:a="http://schemas.openxmlformats.org/drawingml/2006/main" noGrp="1"/>
          </p:cNvSpPr>
          <p:nvPr/>
        </p:nvSpPr>
        <p:spPr>
          <a:xfrm xmlns:a="http://schemas.openxmlformats.org/drawingml/2006/main">
            <a:off x="1152525" y="4667250"/>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Run one command at a time</a:t>
            </a:r>
          </a:p>
        </p:txBody>
      </p:sp>
      <p:sp>
        <p:nvSpPr>
          <p:cNvPr id="15" name="">
            <a:extLst xmlns:a="http://schemas.openxmlformats.org/drawingml/2006/main">
              <a:ext uri="{FF2B5EF4-FFF2-40B4-BE49-F238E27FC236}">
                <a16:creationId xmlns:a16="http://schemas.microsoft.com/office/drawing/2014/main" id="{FDB99496-A2C0-4FA9-9170-45084441AA59}"/>
              </a:ext>
            </a:extLst>
          </p:cNvPr>
          <p:cNvSpPr>
            <a:spLocks xmlns:a="http://schemas.openxmlformats.org/drawingml/2006/main" noGrp="1"/>
          </p:cNvSpPr>
          <p:nvPr/>
        </p:nvSpPr>
        <p:spPr>
          <a:xfrm xmlns:a="http://schemas.openxmlformats.org/drawingml/2006/main">
            <a:off x="904875" y="539115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0A1ACCB2-6EB2-45C6-B43C-A57C1FB22BEB}"/>
              </a:ext>
            </a:extLst>
          </p:cNvPr>
          <p:cNvSpPr>
            <a:spLocks xmlns:a="http://schemas.openxmlformats.org/drawingml/2006/main" noGrp="1"/>
          </p:cNvSpPr>
          <p:nvPr/>
        </p:nvSpPr>
        <p:spPr>
          <a:xfrm xmlns:a="http://schemas.openxmlformats.org/drawingml/2006/main">
            <a:off x="1152525" y="5191125"/>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Verify through a different interface</a:t>
            </a:r>
          </a:p>
        </p:txBody>
      </p:sp>
      <p:sp>
        <p:nvSpPr>
          <p:cNvPr id="17" name="">
            <a:extLst xmlns:a="http://schemas.openxmlformats.org/drawingml/2006/main">
              <a:ext uri="{FF2B5EF4-FFF2-40B4-BE49-F238E27FC236}">
                <a16:creationId xmlns:a16="http://schemas.microsoft.com/office/drawing/2014/main" id="{D133DEE6-51A1-4E13-B315-4953923DE9DD}"/>
              </a:ext>
            </a:extLst>
          </p:cNvPr>
          <p:cNvSpPr>
            <a:spLocks xmlns:a="http://schemas.openxmlformats.org/drawingml/2006/main" noGrp="1"/>
          </p:cNvSpPr>
          <p:nvPr/>
        </p:nvSpPr>
        <p:spPr>
          <a:xfrm xmlns:a="http://schemas.openxmlformats.org/drawingml/2006/main">
            <a:off x="904875" y="5886450"/>
            <a:ext cx="962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00" b="1">
                <a:solidFill>
                  <a:srgbClr val="71D6B3"/>
                </a:solidFill>
              </a:defRPr>
            </a:pPr>
            <a:r>
              <a:rPr sz="1200" b="1">
                <a:solidFill>
                  <a:srgbClr val="71D6B3"/>
                </a:solidFill>
              </a:rPr>
              <a:t>Instructor seat only · predict before typing · verify through another interface</a:t>
            </a:r>
          </a:p>
        </p:txBody>
      </p:sp>
    </p:spTree>
    <p:extLst>
      <p:ext uri="{BB962C8B-B14F-4D97-AF65-F5344CB8AC3E}">
        <p14:creationId xmlns:p14="http://schemas.microsoft.com/office/powerpoint/2010/main" val="1392555825"/>
      </p:ext>
    </p:extLst>
  </p:cSld>
</p:sld>
</file>

<file path=ppt/slides/slide84.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246D093-3DF7-42D7-AA64-85657C490294}"/>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379C5DE-9FA9-49E0-B92A-F76114455826}"/>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8 · LAB READINESS</a:t>
            </a:r>
          </a:p>
        </p:txBody>
      </p:sp>
      <p:sp>
        <p:nvSpPr>
          <p:cNvPr id="3" name="">
            <a:extLst xmlns:a="http://schemas.openxmlformats.org/drawingml/2006/main">
              <a:ext uri="{FF2B5EF4-FFF2-40B4-BE49-F238E27FC236}">
                <a16:creationId xmlns:a16="http://schemas.microsoft.com/office/drawing/2014/main" id="{8123863D-EEA1-4417-BE74-2484F17B018E}"/>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6090652B-AC97-4365-81DC-D1CDEF8A680E}"/>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84</a:t>
            </a:r>
          </a:p>
        </p:txBody>
      </p:sp>
      <p:sp>
        <p:nvSpPr>
          <p:cNvPr id="5" name="">
            <a:extLst xmlns:a="http://schemas.openxmlformats.org/drawingml/2006/main">
              <a:ext uri="{FF2B5EF4-FFF2-40B4-BE49-F238E27FC236}">
                <a16:creationId xmlns:a16="http://schemas.microsoft.com/office/drawing/2014/main" id="{EC5DB7B9-FAD5-4C61-9A21-41BCD5787267}"/>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Before Lab 8, you should be able to…</a:t>
            </a:r>
          </a:p>
        </p:txBody>
      </p:sp>
      <p:sp>
        <p:nvSpPr>
          <p:cNvPr id="6" name="">
            <a:extLst xmlns:a="http://schemas.openxmlformats.org/drawingml/2006/main">
              <a:ext uri="{FF2B5EF4-FFF2-40B4-BE49-F238E27FC236}">
                <a16:creationId xmlns:a16="http://schemas.microsoft.com/office/drawing/2014/main" id="{376621FD-CD62-4395-A041-36CC3344464A}"/>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If one item is unclear, revisit the model or worked example before opening the terminal.</a:t>
            </a:r>
          </a:p>
        </p:txBody>
      </p:sp>
      <p:sp>
        <p:nvSpPr>
          <p:cNvPr id="7" name="">
            <a:extLst xmlns:a="http://schemas.openxmlformats.org/drawingml/2006/main">
              <a:ext uri="{FF2B5EF4-FFF2-40B4-BE49-F238E27FC236}">
                <a16:creationId xmlns:a16="http://schemas.microsoft.com/office/drawing/2014/main" id="{D7594A99-A8D7-4A40-901C-BC29EA2D32C8}"/>
              </a:ext>
            </a:extLst>
          </p:cNvPr>
          <p:cNvSpPr>
            <a:spLocks xmlns:a="http://schemas.openxmlformats.org/drawingml/2006/main" noGrp="1"/>
          </p:cNvSpPr>
          <p:nvPr/>
        </p:nvSpPr>
        <p:spPr>
          <a:xfrm xmlns:a="http://schemas.openxmlformats.org/drawingml/2006/main">
            <a:off x="781050" y="29051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A372D60-F874-4997-B4D3-BE8AD6C3DD80}"/>
              </a:ext>
            </a:extLst>
          </p:cNvPr>
          <p:cNvSpPr>
            <a:spLocks xmlns:a="http://schemas.openxmlformats.org/drawingml/2006/main" noGrp="1"/>
          </p:cNvSpPr>
          <p:nvPr/>
        </p:nvSpPr>
        <p:spPr>
          <a:xfrm xmlns:a="http://schemas.openxmlformats.org/drawingml/2006/main">
            <a:off x="1028700" y="26479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Separate activation requirements from ordering</a:t>
            </a:r>
          </a:p>
        </p:txBody>
      </p:sp>
      <p:sp>
        <p:nvSpPr>
          <p:cNvPr id="9" name="">
            <a:extLst xmlns:a="http://schemas.openxmlformats.org/drawingml/2006/main">
              <a:ext uri="{FF2B5EF4-FFF2-40B4-BE49-F238E27FC236}">
                <a16:creationId xmlns:a16="http://schemas.microsoft.com/office/drawing/2014/main" id="{0406290D-7CE6-4711-9DA1-2629134F38DC}"/>
              </a:ext>
            </a:extLst>
          </p:cNvPr>
          <p:cNvSpPr>
            <a:spLocks xmlns:a="http://schemas.openxmlformats.org/drawingml/2006/main" noGrp="1"/>
          </p:cNvSpPr>
          <p:nvPr/>
        </p:nvSpPr>
        <p:spPr>
          <a:xfrm xmlns:a="http://schemas.openxmlformats.org/drawingml/2006/main">
            <a:off x="781050" y="355282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2BF823A-5BB6-4F98-8487-112F2F6F10C7}"/>
              </a:ext>
            </a:extLst>
          </p:cNvPr>
          <p:cNvSpPr>
            <a:spLocks xmlns:a="http://schemas.openxmlformats.org/drawingml/2006/main" noGrp="1"/>
          </p:cNvSpPr>
          <p:nvPr/>
        </p:nvSpPr>
        <p:spPr>
          <a:xfrm xmlns:a="http://schemas.openxmlformats.org/drawingml/2006/main">
            <a:off x="1028700" y="32956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Distinguish enabled, active, loaded, and successful</a:t>
            </a:r>
          </a:p>
        </p:txBody>
      </p:sp>
      <p:sp>
        <p:nvSpPr>
          <p:cNvPr id="11" name="">
            <a:extLst xmlns:a="http://schemas.openxmlformats.org/drawingml/2006/main">
              <a:ext uri="{FF2B5EF4-FFF2-40B4-BE49-F238E27FC236}">
                <a16:creationId xmlns:a16="http://schemas.microsoft.com/office/drawing/2014/main" id="{B9E7F8FE-597E-4658-919B-633581B21574}"/>
              </a:ext>
            </a:extLst>
          </p:cNvPr>
          <p:cNvSpPr>
            <a:spLocks xmlns:a="http://schemas.openxmlformats.org/drawingml/2006/main" noGrp="1"/>
          </p:cNvSpPr>
          <p:nvPr/>
        </p:nvSpPr>
        <p:spPr>
          <a:xfrm xmlns:a="http://schemas.openxmlformats.org/drawingml/2006/main">
            <a:off x="781050" y="42005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87E261E-99E4-4DE2-9F68-E6FF3D522BBD}"/>
              </a:ext>
            </a:extLst>
          </p:cNvPr>
          <p:cNvSpPr>
            <a:spLocks xmlns:a="http://schemas.openxmlformats.org/drawingml/2006/main" noGrp="1"/>
          </p:cNvSpPr>
          <p:nvPr/>
        </p:nvSpPr>
        <p:spPr>
          <a:xfrm xmlns:a="http://schemas.openxmlformats.org/drawingml/2006/main">
            <a:off x="1028700" y="39433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Move from state to events to declaration to behavior</a:t>
            </a:r>
          </a:p>
        </p:txBody>
      </p:sp>
    </p:spTree>
    <p:extLst>
      <p:ext uri="{BB962C8B-B14F-4D97-AF65-F5344CB8AC3E}">
        <p14:creationId xmlns:p14="http://schemas.microsoft.com/office/powerpoint/2010/main" val="566236778"/>
      </p:ext>
    </p:extLst>
  </p:cSld>
</p:sld>
</file>

<file path=ppt/slides/slide85.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A0EACAA-8F9A-4FD1-8AE3-1BBE049370A2}"/>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96D6BE8-6BAF-4EA1-881B-78D63E926E4F}"/>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HANDS-ON · LAB 8</a:t>
            </a:r>
          </a:p>
        </p:txBody>
      </p:sp>
      <p:sp>
        <p:nvSpPr>
          <p:cNvPr id="3" name="">
            <a:extLst xmlns:a="http://schemas.openxmlformats.org/drawingml/2006/main">
              <a:ext uri="{FF2B5EF4-FFF2-40B4-BE49-F238E27FC236}">
                <a16:creationId xmlns:a16="http://schemas.microsoft.com/office/drawing/2014/main" id="{1C166AF3-9F27-4942-92B3-FFDC236DF373}"/>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5BD9D9D9-546E-4EEB-B0D1-FAA20B609761}"/>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85</a:t>
            </a:r>
          </a:p>
        </p:txBody>
      </p:sp>
      <p:sp>
        <p:nvSpPr>
          <p:cNvPr id="5" name="">
            <a:extLst xmlns:a="http://schemas.openxmlformats.org/drawingml/2006/main">
              <a:ext uri="{FF2B5EF4-FFF2-40B4-BE49-F238E27FC236}">
                <a16:creationId xmlns:a16="http://schemas.microsoft.com/office/drawing/2014/main" id="{1DCFC5FD-3A95-4107-8DE9-5444AB37DFE2}"/>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systemd declarations, dependencies, ordering, and diagnosis</a:t>
            </a:r>
          </a:p>
        </p:txBody>
      </p:sp>
      <p:sp>
        <p:nvSpPr>
          <p:cNvPr id="6" name="">
            <a:extLst xmlns:a="http://schemas.openxmlformats.org/drawingml/2006/main">
              <a:ext uri="{FF2B5EF4-FFF2-40B4-BE49-F238E27FC236}">
                <a16:creationId xmlns:a16="http://schemas.microsoft.com/office/drawing/2014/main" id="{7580AA9A-6141-475A-AAAD-9D7651F8B8DB}"/>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Repair course-web.service from its CHDIR failure without editing the supplied unit, then prove state, enablement, socket, and HTTP behavior.</a:t>
            </a:r>
          </a:p>
        </p:txBody>
      </p:sp>
      <p:sp>
        <p:nvSpPr>
          <p:cNvPr id="7" name="">
            <a:extLst xmlns:a="http://schemas.openxmlformats.org/drawingml/2006/main">
              <a:ext uri="{FF2B5EF4-FFF2-40B4-BE49-F238E27FC236}">
                <a16:creationId xmlns:a16="http://schemas.microsoft.com/office/drawing/2014/main" id="{FA5A7B1F-C2D2-461C-8CEA-0626770E6E5E}"/>
              </a:ext>
            </a:extLst>
          </p:cNvPr>
          <p:cNvSpPr>
            <a:spLocks xmlns:a="http://schemas.openxmlformats.org/drawingml/2006/main" noGrp="1"/>
          </p:cNvSpPr>
          <p:nvPr/>
        </p:nvSpPr>
        <p:spPr>
          <a:xfrm xmlns:a="http://schemas.openxmlformats.org/drawingml/2006/main">
            <a:off x="514350" y="2457450"/>
            <a:ext cx="6762750" cy="2286000"/>
          </a:xfrm>
          <a:prstGeom xmlns:a="http://schemas.openxmlformats.org/drawingml/2006/main" prst="roundRect">
            <a:avLst>
              <a:gd name="adj" fmla="val 5000"/>
            </a:avLst>
          </a:prstGeom>
          <a:solidFill xmlns:a="http://schemas.openxmlformats.org/drawingml/2006/main">
            <a:srgbClr val="180D2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A1141DE-BB72-43E7-95FF-D107ACDF2789}"/>
              </a:ext>
            </a:extLst>
          </p:cNvPr>
          <p:cNvSpPr>
            <a:spLocks xmlns:a="http://schemas.openxmlformats.org/drawingml/2006/main" noGrp="1"/>
          </p:cNvSpPr>
          <p:nvPr/>
        </p:nvSpPr>
        <p:spPr>
          <a:xfrm xmlns:a="http://schemas.openxmlformats.org/drawingml/2006/main">
            <a:off x="781050" y="2647950"/>
            <a:ext cx="6238875" cy="1847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FFFFFF"/>
                </a:solidFill>
              </a:defRPr>
            </a:pPr>
            <a:r>
              <a:rPr sz="1650" b="0">
                <a:solidFill>
                  <a:srgbClr val="FFFFFF"/>
                </a:solidFill>
              </a:rPr>
              <a:t>Repair course-web.service from its CHDIR failure without editing the supplied unit, then prove state, enablement, socket, and HTTP behavior.</a:t>
            </a:r>
          </a:p>
        </p:txBody>
      </p:sp>
      <p:sp>
        <p:nvSpPr>
          <p:cNvPr id="9" name="">
            <a:extLst xmlns:a="http://schemas.openxmlformats.org/drawingml/2006/main">
              <a:ext uri="{FF2B5EF4-FFF2-40B4-BE49-F238E27FC236}">
                <a16:creationId xmlns:a16="http://schemas.microsoft.com/office/drawing/2014/main" id="{AE50A4E9-F1CE-4282-A4F0-7109E36A39F6}"/>
              </a:ext>
            </a:extLst>
          </p:cNvPr>
          <p:cNvSpPr>
            <a:spLocks xmlns:a="http://schemas.openxmlformats.org/drawingml/2006/main" noGrp="1"/>
          </p:cNvSpPr>
          <p:nvPr/>
        </p:nvSpPr>
        <p:spPr>
          <a:xfrm xmlns:a="http://schemas.openxmlformats.org/drawingml/2006/main">
            <a:off x="7762875" y="26955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95D80D7-D0FA-4699-899D-12A059EA8B47}"/>
              </a:ext>
            </a:extLst>
          </p:cNvPr>
          <p:cNvSpPr>
            <a:spLocks xmlns:a="http://schemas.openxmlformats.org/drawingml/2006/main" noGrp="1"/>
          </p:cNvSpPr>
          <p:nvPr/>
        </p:nvSpPr>
        <p:spPr>
          <a:xfrm xmlns:a="http://schemas.openxmlformats.org/drawingml/2006/main">
            <a:off x="8010525" y="24765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25 minutes</a:t>
            </a:r>
          </a:p>
        </p:txBody>
      </p:sp>
      <p:sp>
        <p:nvSpPr>
          <p:cNvPr id="11" name="">
            <a:extLst xmlns:a="http://schemas.openxmlformats.org/drawingml/2006/main">
              <a:ext uri="{FF2B5EF4-FFF2-40B4-BE49-F238E27FC236}">
                <a16:creationId xmlns:a16="http://schemas.microsoft.com/office/drawing/2014/main" id="{6A4061BD-1FD0-4842-9337-6D86603CDE81}"/>
              </a:ext>
            </a:extLst>
          </p:cNvPr>
          <p:cNvSpPr>
            <a:spLocks xmlns:a="http://schemas.openxmlformats.org/drawingml/2006/main" noGrp="1"/>
          </p:cNvSpPr>
          <p:nvPr/>
        </p:nvSpPr>
        <p:spPr>
          <a:xfrm xmlns:a="http://schemas.openxmlformats.org/drawingml/2006/main">
            <a:off x="7762875" y="32670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7AC12AF-FD81-4DA0-8BCC-2B53D08CF408}"/>
              </a:ext>
            </a:extLst>
          </p:cNvPr>
          <p:cNvSpPr>
            <a:spLocks xmlns:a="http://schemas.openxmlformats.org/drawingml/2006/main" noGrp="1"/>
          </p:cNvSpPr>
          <p:nvPr/>
        </p:nvSpPr>
        <p:spPr>
          <a:xfrm xmlns:a="http://schemas.openxmlformats.org/drawingml/2006/main">
            <a:off x="8010525" y="30480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Prepare/reset only this lab</a:t>
            </a:r>
          </a:p>
        </p:txBody>
      </p:sp>
      <p:sp>
        <p:nvSpPr>
          <p:cNvPr id="13" name="">
            <a:extLst xmlns:a="http://schemas.openxmlformats.org/drawingml/2006/main">
              <a:ext uri="{FF2B5EF4-FFF2-40B4-BE49-F238E27FC236}">
                <a16:creationId xmlns:a16="http://schemas.microsoft.com/office/drawing/2014/main" id="{4218B67A-A724-4762-B556-9C7856B1DE73}"/>
              </a:ext>
            </a:extLst>
          </p:cNvPr>
          <p:cNvSpPr>
            <a:spLocks xmlns:a="http://schemas.openxmlformats.org/drawingml/2006/main" noGrp="1"/>
          </p:cNvSpPr>
          <p:nvPr/>
        </p:nvSpPr>
        <p:spPr>
          <a:xfrm xmlns:a="http://schemas.openxmlformats.org/drawingml/2006/main">
            <a:off x="7762875" y="38385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40E7512-69DA-4B83-8D6F-375A25095884}"/>
              </a:ext>
            </a:extLst>
          </p:cNvPr>
          <p:cNvSpPr>
            <a:spLocks xmlns:a="http://schemas.openxmlformats.org/drawingml/2006/main" noGrp="1"/>
          </p:cNvSpPr>
          <p:nvPr/>
        </p:nvSpPr>
        <p:spPr>
          <a:xfrm xmlns:a="http://schemas.openxmlformats.org/drawingml/2006/main">
            <a:off x="8010525" y="36195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Check observable state</a:t>
            </a:r>
          </a:p>
        </p:txBody>
      </p:sp>
      <p:sp>
        <p:nvSpPr>
          <p:cNvPr id="15" name="">
            <a:extLst xmlns:a="http://schemas.openxmlformats.org/drawingml/2006/main">
              <a:ext uri="{FF2B5EF4-FFF2-40B4-BE49-F238E27FC236}">
                <a16:creationId xmlns:a16="http://schemas.microsoft.com/office/drawing/2014/main" id="{1B05916A-B4A2-45D2-9993-5DDE8F7056D1}"/>
              </a:ext>
            </a:extLst>
          </p:cNvPr>
          <p:cNvSpPr>
            <a:spLocks xmlns:a="http://schemas.openxmlformats.org/drawingml/2006/main" noGrp="1"/>
          </p:cNvSpPr>
          <p:nvPr/>
        </p:nvSpPr>
        <p:spPr>
          <a:xfrm xmlns:a="http://schemas.openxmlformats.org/drawingml/2006/main">
            <a:off x="7762875" y="44100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96193FA7-402A-48ED-9047-1EF4DC169373}"/>
              </a:ext>
            </a:extLst>
          </p:cNvPr>
          <p:cNvSpPr>
            <a:spLocks xmlns:a="http://schemas.openxmlformats.org/drawingml/2006/main" noGrp="1"/>
          </p:cNvSpPr>
          <p:nvPr/>
        </p:nvSpPr>
        <p:spPr>
          <a:xfrm xmlns:a="http://schemas.openxmlformats.org/drawingml/2006/main">
            <a:off x="8010525" y="41910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Explain why the result follows</a:t>
            </a:r>
          </a:p>
        </p:txBody>
      </p:sp>
      <p:sp>
        <p:nvSpPr>
          <p:cNvPr id="17" name="">
            <a:extLst xmlns:a="http://schemas.openxmlformats.org/drawingml/2006/main">
              <a:ext uri="{FF2B5EF4-FFF2-40B4-BE49-F238E27FC236}">
                <a16:creationId xmlns:a16="http://schemas.microsoft.com/office/drawing/2014/main" id="{E89E28B8-3DDF-4263-9CCB-12327E855372}"/>
              </a:ext>
            </a:extLst>
          </p:cNvPr>
          <p:cNvSpPr>
            <a:spLocks xmlns:a="http://schemas.openxmlformats.org/drawingml/2006/main" noGrp="1"/>
          </p:cNvSpPr>
          <p:nvPr/>
        </p:nvSpPr>
        <p:spPr>
          <a:xfrm xmlns:a="http://schemas.openxmlformats.org/drawingml/2006/main">
            <a:off x="514350" y="5391150"/>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350" b="1">
                <a:solidFill>
                  <a:srgbClr val="7650F8"/>
                </a:solidFill>
              </a:defRPr>
            </a:pPr>
            <a:r>
              <a:rPr sz="1350" b="1">
                <a:solidFill>
                  <a:srgbClr val="7650F8"/>
                </a:solidFill>
              </a:rPr>
              <a:t>Open the lab guide for exact tasks, hints, recovery, and checker criteria.</a:t>
            </a:r>
          </a:p>
        </p:txBody>
      </p:sp>
    </p:spTree>
    <p:extLst>
      <p:ext uri="{BB962C8B-B14F-4D97-AF65-F5344CB8AC3E}">
        <p14:creationId xmlns:p14="http://schemas.microsoft.com/office/powerpoint/2010/main" val="1348947524"/>
      </p:ext>
    </p:extLst>
  </p:cSld>
</p:sld>
</file>

<file path=ppt/slides/slide86.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E064562-DE02-4770-9504-FF30A2F252F2}"/>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8976CA2-F887-40F6-9A01-31F29819061D}"/>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8 · DEBRIEF</a:t>
            </a:r>
          </a:p>
        </p:txBody>
      </p:sp>
      <p:sp>
        <p:nvSpPr>
          <p:cNvPr id="3" name="">
            <a:extLst xmlns:a="http://schemas.openxmlformats.org/drawingml/2006/main">
              <a:ext uri="{FF2B5EF4-FFF2-40B4-BE49-F238E27FC236}">
                <a16:creationId xmlns:a16="http://schemas.microsoft.com/office/drawing/2014/main" id="{9434CD99-6D6B-4885-950A-B1B205890569}"/>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CB2E5DBC-1A41-4023-9865-984E8C69FAA4}"/>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86</a:t>
            </a:r>
          </a:p>
        </p:txBody>
      </p:sp>
      <p:sp>
        <p:nvSpPr>
          <p:cNvPr id="5" name="">
            <a:extLst xmlns:a="http://schemas.openxmlformats.org/drawingml/2006/main">
              <a:ext uri="{FF2B5EF4-FFF2-40B4-BE49-F238E27FC236}">
                <a16:creationId xmlns:a16="http://schemas.microsoft.com/office/drawing/2014/main" id="{388DAC12-7F9E-4EFC-8735-D011E945E30E}"/>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Connect the result to the model</a:t>
            </a:r>
          </a:p>
        </p:txBody>
      </p:sp>
      <p:sp>
        <p:nvSpPr>
          <p:cNvPr id="6" name="">
            <a:extLst xmlns:a="http://schemas.openxmlformats.org/drawingml/2006/main">
              <a:ext uri="{FF2B5EF4-FFF2-40B4-BE49-F238E27FC236}">
                <a16:creationId xmlns:a16="http://schemas.microsoft.com/office/drawing/2014/main" id="{39FBE25A-3EA7-475A-A293-5401F2F5C8A5}"/>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The safest repair satisfies the declaration’s missing prerequisite rather than forking it. Next, processes and sockets expose the running implementation.</a:t>
            </a:r>
          </a:p>
        </p:txBody>
      </p:sp>
      <p:sp>
        <p:nvSpPr>
          <p:cNvPr id="7" name="">
            <a:extLst xmlns:a="http://schemas.openxmlformats.org/drawingml/2006/main">
              <a:ext uri="{FF2B5EF4-FFF2-40B4-BE49-F238E27FC236}">
                <a16:creationId xmlns:a16="http://schemas.microsoft.com/office/drawing/2014/main" id="{1990F66D-05D3-4654-A152-4C35D575C4B1}"/>
              </a:ext>
            </a:extLst>
          </p:cNvPr>
          <p:cNvSpPr>
            <a:spLocks xmlns:a="http://schemas.openxmlformats.org/drawingml/2006/main" noGrp="1"/>
          </p:cNvSpPr>
          <p:nvPr/>
        </p:nvSpPr>
        <p:spPr>
          <a:xfrm xmlns:a="http://schemas.openxmlformats.org/drawingml/2006/main">
            <a:off x="514350" y="2524125"/>
            <a:ext cx="10668000" cy="1219200"/>
          </a:xfrm>
          <a:prstGeom xmlns:a="http://schemas.openxmlformats.org/drawingml/2006/main" prst="roundRect">
            <a:avLst>
              <a:gd name="adj" fmla="val 9375"/>
            </a:avLst>
          </a:prstGeom>
          <a:solidFill xmlns:a="http://schemas.openxmlformats.org/drawingml/2006/main">
            <a:srgbClr val="F0E7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0F8053E-5A42-40BA-9CA6-965AC404FA40}"/>
              </a:ext>
            </a:extLst>
          </p:cNvPr>
          <p:cNvSpPr>
            <a:spLocks xmlns:a="http://schemas.openxmlformats.org/drawingml/2006/main" noGrp="1"/>
          </p:cNvSpPr>
          <p:nvPr/>
        </p:nvSpPr>
        <p:spPr>
          <a:xfrm xmlns:a="http://schemas.openxmlformats.org/drawingml/2006/main">
            <a:off x="762000" y="2686050"/>
            <a:ext cx="10191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1">
                <a:solidFill>
                  <a:srgbClr val="211729"/>
                </a:solidFill>
              </a:defRPr>
            </a:pPr>
            <a:r>
              <a:rPr sz="1725" b="1">
                <a:solidFill>
                  <a:srgbClr val="211729"/>
                </a:solidFill>
              </a:rPr>
              <a:t>The safest repair satisfies the declaration’s missing prerequisite rather than forking it. Next, processes and sockets expose the running implementation.</a:t>
            </a:r>
          </a:p>
        </p:txBody>
      </p:sp>
      <p:sp>
        <p:nvSpPr>
          <p:cNvPr id="9" name="">
            <a:extLst xmlns:a="http://schemas.openxmlformats.org/drawingml/2006/main">
              <a:ext uri="{FF2B5EF4-FFF2-40B4-BE49-F238E27FC236}">
                <a16:creationId xmlns:a16="http://schemas.microsoft.com/office/drawing/2014/main" id="{CA7DC745-7B7E-4D31-B22E-F04ECB60744E}"/>
              </a:ext>
            </a:extLst>
          </p:cNvPr>
          <p:cNvSpPr>
            <a:spLocks xmlns:a="http://schemas.openxmlformats.org/drawingml/2006/main" noGrp="1"/>
          </p:cNvSpPr>
          <p:nvPr/>
        </p:nvSpPr>
        <p:spPr>
          <a:xfrm xmlns:a="http://schemas.openxmlformats.org/drawingml/2006/main">
            <a:off x="762000" y="43243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7790C74-EF16-4139-98BB-3DC96F2563C5}"/>
              </a:ext>
            </a:extLst>
          </p:cNvPr>
          <p:cNvSpPr>
            <a:spLocks xmlns:a="http://schemas.openxmlformats.org/drawingml/2006/main" noGrp="1"/>
          </p:cNvSpPr>
          <p:nvPr/>
        </p:nvSpPr>
        <p:spPr>
          <a:xfrm xmlns:a="http://schemas.openxmlformats.org/drawingml/2006/main">
            <a:off x="1009650" y="4095750"/>
            <a:ext cx="9658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What was declared or expected?</a:t>
            </a:r>
          </a:p>
        </p:txBody>
      </p:sp>
      <p:sp>
        <p:nvSpPr>
          <p:cNvPr id="11" name="">
            <a:extLst xmlns:a="http://schemas.openxmlformats.org/drawingml/2006/main">
              <a:ext uri="{FF2B5EF4-FFF2-40B4-BE49-F238E27FC236}">
                <a16:creationId xmlns:a16="http://schemas.microsoft.com/office/drawing/2014/main" id="{D60FCBC4-F733-4EA3-90DF-57ACE4AC63A9}"/>
              </a:ext>
            </a:extLst>
          </p:cNvPr>
          <p:cNvSpPr>
            <a:spLocks xmlns:a="http://schemas.openxmlformats.org/drawingml/2006/main" noGrp="1"/>
          </p:cNvSpPr>
          <p:nvPr/>
        </p:nvSpPr>
        <p:spPr>
          <a:xfrm xmlns:a="http://schemas.openxmlformats.org/drawingml/2006/main">
            <a:off x="762000" y="49149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476052E-5F23-459F-868A-71E9F0860D05}"/>
              </a:ext>
            </a:extLst>
          </p:cNvPr>
          <p:cNvSpPr>
            <a:spLocks xmlns:a="http://schemas.openxmlformats.org/drawingml/2006/main" noGrp="1"/>
          </p:cNvSpPr>
          <p:nvPr/>
        </p:nvSpPr>
        <p:spPr>
          <a:xfrm xmlns:a="http://schemas.openxmlformats.org/drawingml/2006/main">
            <a:off x="1009650" y="4686300"/>
            <a:ext cx="9658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What runtime state did you observe?</a:t>
            </a:r>
          </a:p>
        </p:txBody>
      </p:sp>
      <p:sp>
        <p:nvSpPr>
          <p:cNvPr id="13" name="">
            <a:extLst xmlns:a="http://schemas.openxmlformats.org/drawingml/2006/main">
              <a:ext uri="{FF2B5EF4-FFF2-40B4-BE49-F238E27FC236}">
                <a16:creationId xmlns:a16="http://schemas.microsoft.com/office/drawing/2014/main" id="{1E2C2DCD-1E35-44E9-BBC4-C1E7D8BC2EE7}"/>
              </a:ext>
            </a:extLst>
          </p:cNvPr>
          <p:cNvSpPr>
            <a:spLocks xmlns:a="http://schemas.openxmlformats.org/drawingml/2006/main" noGrp="1"/>
          </p:cNvSpPr>
          <p:nvPr/>
        </p:nvSpPr>
        <p:spPr>
          <a:xfrm xmlns:a="http://schemas.openxmlformats.org/drawingml/2006/main">
            <a:off x="762000" y="55054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4AFC1D8-E7DF-4E1F-845B-F2EE2305D0DF}"/>
              </a:ext>
            </a:extLst>
          </p:cNvPr>
          <p:cNvSpPr>
            <a:spLocks xmlns:a="http://schemas.openxmlformats.org/drawingml/2006/main" noGrp="1"/>
          </p:cNvSpPr>
          <p:nvPr/>
        </p:nvSpPr>
        <p:spPr>
          <a:xfrm xmlns:a="http://schemas.openxmlformats.org/drawingml/2006/main">
            <a:off x="1009650" y="5276850"/>
            <a:ext cx="9658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Which independent evidence closed the claim?</a:t>
            </a:r>
          </a:p>
        </p:txBody>
      </p:sp>
    </p:spTree>
    <p:extLst>
      <p:ext uri="{BB962C8B-B14F-4D97-AF65-F5344CB8AC3E}">
        <p14:creationId xmlns:p14="http://schemas.microsoft.com/office/powerpoint/2010/main" val="1320575613"/>
      </p:ext>
    </p:extLst>
  </p:cSld>
</p:sld>
</file>

<file path=ppt/slides/slide87.xml><?xml version="1.0" encoding="utf-8"?>
<p:sld xmlns:p="http://schemas.openxmlformats.org/presentationml/2006/main">
  <p:cSld>
    <p:bg>
      <p:bgPr>
        <a:solidFill xmlns:a="http://schemas.openxmlformats.org/drawingml/2006/main">
          <a:srgbClr val="180D2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D212AD8-3FCD-47D1-AB20-947ABE3C720D}"/>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FF6F6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910E6D0-53B7-4892-9AFC-BED9F0B3DAC4}"/>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FF6F61"/>
                </a:solidFill>
              </a:defRPr>
            </a:pPr>
            <a:r>
              <a:rPr sz="900" b="1">
                <a:solidFill>
                  <a:srgbClr val="FF6F61"/>
                </a:solidFill>
              </a:rPr>
              <a:t>MODULE 9</a:t>
            </a:r>
          </a:p>
        </p:txBody>
      </p:sp>
      <p:sp>
        <p:nvSpPr>
          <p:cNvPr id="3" name="">
            <a:extLst xmlns:a="http://schemas.openxmlformats.org/drawingml/2006/main">
              <a:ext uri="{FF2B5EF4-FFF2-40B4-BE49-F238E27FC236}">
                <a16:creationId xmlns:a16="http://schemas.microsoft.com/office/drawing/2014/main" id="{B2BDB767-CC9D-4A1E-A58F-F3350EAA1EB0}"/>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CFC5D5"/>
                </a:solidFill>
              </a:defRPr>
            </a:pPr>
            <a:r>
              <a:rPr sz="825" b="1">
                <a:solidFill>
                  <a:srgbClr val="CFC5D5"/>
                </a:solidFill>
              </a:rPr>
              <a:t>LINUX FOUNDATIONS</a:t>
            </a:r>
          </a:p>
        </p:txBody>
      </p:sp>
      <p:sp>
        <p:nvSpPr>
          <p:cNvPr id="4" name="">
            <a:extLst xmlns:a="http://schemas.openxmlformats.org/drawingml/2006/main">
              <a:ext uri="{FF2B5EF4-FFF2-40B4-BE49-F238E27FC236}">
                <a16:creationId xmlns:a16="http://schemas.microsoft.com/office/drawing/2014/main" id="{D2E73712-C527-471A-AAA3-6A7A7E75B095}"/>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AFA2B8"/>
                </a:solidFill>
              </a:defRPr>
            </a:pPr>
            <a:r>
              <a:rPr sz="825" b="0">
                <a:solidFill>
                  <a:srgbClr val="AFA2B8"/>
                </a:solidFill>
              </a:rPr>
              <a:t>87</a:t>
            </a:r>
          </a:p>
        </p:txBody>
      </p:sp>
      <p:sp>
        <p:nvSpPr>
          <p:cNvPr id="5" name="">
            <a:extLst xmlns:a="http://schemas.openxmlformats.org/drawingml/2006/main">
              <a:ext uri="{FF2B5EF4-FFF2-40B4-BE49-F238E27FC236}">
                <a16:creationId xmlns:a16="http://schemas.microsoft.com/office/drawing/2014/main" id="{D39469CD-3BFD-4AD7-AFD3-CC947693772E}"/>
              </a:ext>
            </a:extLst>
          </p:cNvPr>
          <p:cNvSpPr>
            <a:spLocks xmlns:a="http://schemas.openxmlformats.org/drawingml/2006/main" noGrp="1"/>
          </p:cNvSpPr>
          <p:nvPr/>
        </p:nvSpPr>
        <p:spPr>
          <a:xfrm xmlns:a="http://schemas.openxmlformats.org/drawingml/2006/main">
            <a:off x="666750" y="1123950"/>
            <a:ext cx="1524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5400" b="1">
                <a:solidFill>
                  <a:srgbClr val="FF6F61"/>
                </a:solidFill>
              </a:defRPr>
            </a:pPr>
            <a:r>
              <a:rPr sz="5400" b="1">
                <a:solidFill>
                  <a:srgbClr val="FF6F61"/>
                </a:solidFill>
              </a:rPr>
              <a:t>09</a:t>
            </a:r>
          </a:p>
        </p:txBody>
      </p:sp>
      <p:sp>
        <p:nvSpPr>
          <p:cNvPr id="6" name="">
            <a:extLst xmlns:a="http://schemas.openxmlformats.org/drawingml/2006/main">
              <a:ext uri="{FF2B5EF4-FFF2-40B4-BE49-F238E27FC236}">
                <a16:creationId xmlns:a16="http://schemas.microsoft.com/office/drawing/2014/main" id="{8ECF1250-CDE5-4229-99DB-F3F24D6D9DDF}"/>
              </a:ext>
            </a:extLst>
          </p:cNvPr>
          <p:cNvSpPr>
            <a:spLocks xmlns:a="http://schemas.openxmlformats.org/drawingml/2006/main" noGrp="1"/>
          </p:cNvSpPr>
          <p:nvPr/>
        </p:nvSpPr>
        <p:spPr>
          <a:xfrm xmlns:a="http://schemas.openxmlformats.org/drawingml/2006/main">
            <a:off x="2381250" y="1123950"/>
            <a:ext cx="8096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150" b="1">
                <a:solidFill>
                  <a:srgbClr val="FFFFFF"/>
                </a:solidFill>
              </a:defRPr>
            </a:pPr>
            <a:r>
              <a:rPr sz="3150" b="1">
                <a:solidFill>
                  <a:srgbClr val="FFFFFF"/>
                </a:solidFill>
              </a:rPr>
              <a:t>Processes, sockets, and client-visible behavior</a:t>
            </a:r>
          </a:p>
        </p:txBody>
      </p:sp>
      <p:sp>
        <p:nvSpPr>
          <p:cNvPr id="7" name="">
            <a:extLst xmlns:a="http://schemas.openxmlformats.org/drawingml/2006/main">
              <a:ext uri="{FF2B5EF4-FFF2-40B4-BE49-F238E27FC236}">
                <a16:creationId xmlns:a16="http://schemas.microsoft.com/office/drawing/2014/main" id="{4156A404-6209-4C0C-B836-71EBDD88F57C}"/>
              </a:ext>
            </a:extLst>
          </p:cNvPr>
          <p:cNvSpPr>
            <a:spLocks xmlns:a="http://schemas.openxmlformats.org/drawingml/2006/main" noGrp="1"/>
          </p:cNvSpPr>
          <p:nvPr/>
        </p:nvSpPr>
        <p:spPr>
          <a:xfrm xmlns:a="http://schemas.openxmlformats.org/drawingml/2006/main">
            <a:off x="2381250" y="2400300"/>
            <a:ext cx="7810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950" b="0">
                <a:solidFill>
                  <a:srgbClr val="E9DFED"/>
                </a:solidFill>
              </a:defRPr>
            </a:pPr>
            <a:r>
              <a:rPr sz="1950" b="0">
                <a:solidFill>
                  <a:srgbClr val="E9DFED"/>
                </a:solidFill>
              </a:rPr>
              <a:t>How do unit state, process state, socket state, and useful behavior connect?</a:t>
            </a:r>
          </a:p>
        </p:txBody>
      </p:sp>
      <p:sp>
        <p:nvSpPr>
          <p:cNvPr id="8" name="">
            <a:extLst xmlns:a="http://schemas.openxmlformats.org/drawingml/2006/main">
              <a:ext uri="{FF2B5EF4-FFF2-40B4-BE49-F238E27FC236}">
                <a16:creationId xmlns:a16="http://schemas.microsoft.com/office/drawing/2014/main" id="{10DAB9D2-D9C3-444E-87FB-4D874C5CC46B}"/>
              </a:ext>
            </a:extLst>
          </p:cNvPr>
          <p:cNvSpPr>
            <a:spLocks xmlns:a="http://schemas.openxmlformats.org/drawingml/2006/main" noGrp="1"/>
          </p:cNvSpPr>
          <p:nvPr/>
        </p:nvSpPr>
        <p:spPr>
          <a:xfrm xmlns:a="http://schemas.openxmlformats.org/drawingml/2006/main">
            <a:off x="2381250" y="3790950"/>
            <a:ext cx="6858000" cy="381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FF4EA8E-60BE-456F-AA93-5D018F31CF7F}"/>
              </a:ext>
            </a:extLst>
          </p:cNvPr>
          <p:cNvSpPr>
            <a:spLocks xmlns:a="http://schemas.openxmlformats.org/drawingml/2006/main" noGrp="1"/>
          </p:cNvSpPr>
          <p:nvPr/>
        </p:nvSpPr>
        <p:spPr>
          <a:xfrm xmlns:a="http://schemas.openxmlformats.org/drawingml/2006/main">
            <a:off x="2381250" y="400050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0">
                <a:solidFill>
                  <a:srgbClr val="BFB1C7"/>
                </a:solidFill>
              </a:defRPr>
            </a:pPr>
            <a:r>
              <a:rPr sz="1275" b="0">
                <a:solidFill>
                  <a:srgbClr val="BFB1C7"/>
                </a:solidFill>
              </a:rPr>
              <a:t>General Linux processes + iproute2 + systemd</a:t>
            </a:r>
          </a:p>
        </p:txBody>
      </p:sp>
    </p:spTree>
    <p:extLst>
      <p:ext uri="{BB962C8B-B14F-4D97-AF65-F5344CB8AC3E}">
        <p14:creationId xmlns:p14="http://schemas.microsoft.com/office/powerpoint/2010/main" val="1662766074"/>
      </p:ext>
    </p:extLst>
  </p:cSld>
</p:sld>
</file>

<file path=ppt/slides/slide88.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0644FDC-4C2F-46C5-8044-D7891D8A3663}"/>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B1D240F-04CE-4A61-89DF-54AF1B249D9E}"/>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9 · MODEL</a:t>
            </a:r>
          </a:p>
        </p:txBody>
      </p:sp>
      <p:sp>
        <p:nvSpPr>
          <p:cNvPr id="3" name="">
            <a:extLst xmlns:a="http://schemas.openxmlformats.org/drawingml/2006/main">
              <a:ext uri="{FF2B5EF4-FFF2-40B4-BE49-F238E27FC236}">
                <a16:creationId xmlns:a16="http://schemas.microsoft.com/office/drawing/2014/main" id="{26D9BF3C-98FA-4E67-9A63-BAFD9692D688}"/>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7D46A529-E50C-4405-85C6-A3AEF42F6911}"/>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88</a:t>
            </a:r>
          </a:p>
        </p:txBody>
      </p:sp>
      <p:sp>
        <p:nvSpPr>
          <p:cNvPr id="5" name="">
            <a:extLst xmlns:a="http://schemas.openxmlformats.org/drawingml/2006/main">
              <a:ext uri="{FF2B5EF4-FFF2-40B4-BE49-F238E27FC236}">
                <a16:creationId xmlns:a16="http://schemas.microsoft.com/office/drawing/2014/main" id="{C2B493E2-C991-4405-9DDB-6D644E936D49}"/>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A process is a running program with context</a:t>
            </a:r>
          </a:p>
        </p:txBody>
      </p:sp>
      <p:sp>
        <p:nvSpPr>
          <p:cNvPr id="6" name="">
            <a:extLst xmlns:a="http://schemas.openxmlformats.org/drawingml/2006/main">
              <a:ext uri="{FF2B5EF4-FFF2-40B4-BE49-F238E27FC236}">
                <a16:creationId xmlns:a16="http://schemas.microsoft.com/office/drawing/2014/main" id="{4D5DFB6C-95B1-468F-B02E-D58A560281BF}"/>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systemd exposes MainPID for a service. ps shows process context; /proc/PID offers supporting kernel views whose values can change while you inspect them.</a:t>
            </a:r>
          </a:p>
        </p:txBody>
      </p:sp>
      <p:sp>
        <p:nvSpPr>
          <p:cNvPr id="7" name="">
            <a:extLst xmlns:a="http://schemas.openxmlformats.org/drawingml/2006/main">
              <a:ext uri="{FF2B5EF4-FFF2-40B4-BE49-F238E27FC236}">
                <a16:creationId xmlns:a16="http://schemas.microsoft.com/office/drawing/2014/main" id="{455EAD67-0AA7-48CE-BD80-6374E5300B5E}"/>
              </a:ext>
            </a:extLst>
          </p:cNvPr>
          <p:cNvSpPr>
            <a:spLocks xmlns:a="http://schemas.openxmlformats.org/drawingml/2006/main" noGrp="1"/>
          </p:cNvSpPr>
          <p:nvPr/>
        </p:nvSpPr>
        <p:spPr>
          <a:xfrm xmlns:a="http://schemas.openxmlformats.org/drawingml/2006/main">
            <a:off x="781050" y="31051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7CF640C-90D1-4FDC-9DA2-E1D4354D2F1F}"/>
              </a:ext>
            </a:extLst>
          </p:cNvPr>
          <p:cNvSpPr>
            <a:spLocks xmlns:a="http://schemas.openxmlformats.org/drawingml/2006/main" noGrp="1"/>
          </p:cNvSpPr>
          <p:nvPr/>
        </p:nvSpPr>
        <p:spPr>
          <a:xfrm xmlns:a="http://schemas.openxmlformats.org/drawingml/2006/main">
            <a:off x="1028700" y="272415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A process is a running program with a PID, parent, identity, environment, memory, and open descriptors. The executable file is only its recipe.</a:t>
            </a:r>
          </a:p>
        </p:txBody>
      </p:sp>
      <p:sp>
        <p:nvSpPr>
          <p:cNvPr id="9" name="">
            <a:extLst xmlns:a="http://schemas.openxmlformats.org/drawingml/2006/main">
              <a:ext uri="{FF2B5EF4-FFF2-40B4-BE49-F238E27FC236}">
                <a16:creationId xmlns:a16="http://schemas.microsoft.com/office/drawing/2014/main" id="{56B171BB-3EAA-45AF-A074-243D08FC1E5E}"/>
              </a:ext>
            </a:extLst>
          </p:cNvPr>
          <p:cNvSpPr>
            <a:spLocks xmlns:a="http://schemas.openxmlformats.org/drawingml/2006/main" noGrp="1"/>
          </p:cNvSpPr>
          <p:nvPr/>
        </p:nvSpPr>
        <p:spPr>
          <a:xfrm xmlns:a="http://schemas.openxmlformats.org/drawingml/2006/main">
            <a:off x="781050" y="40005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E668778-2D6A-4A16-85B0-9619E4195A19}"/>
              </a:ext>
            </a:extLst>
          </p:cNvPr>
          <p:cNvSpPr>
            <a:spLocks xmlns:a="http://schemas.openxmlformats.org/drawingml/2006/main" noGrp="1"/>
          </p:cNvSpPr>
          <p:nvPr/>
        </p:nvSpPr>
        <p:spPr>
          <a:xfrm xmlns:a="http://schemas.openxmlformats.org/drawingml/2006/main">
            <a:off x="1028700" y="361950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systemd exposes MainPID for a service. ps shows process context; /proc/PID offers supporting kernel views whose values can change while you inspect them.</a:t>
            </a:r>
          </a:p>
        </p:txBody>
      </p:sp>
    </p:spTree>
    <p:extLst>
      <p:ext uri="{BB962C8B-B14F-4D97-AF65-F5344CB8AC3E}">
        <p14:creationId xmlns:p14="http://schemas.microsoft.com/office/powerpoint/2010/main" val="1420754673"/>
      </p:ext>
    </p:extLst>
  </p:cSld>
</p:sld>
</file>

<file path=ppt/slides/slide89.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AEC1265-2325-4BCD-B09C-5CFE93BF1AE0}"/>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DAC1365-21D6-462A-9C86-CB535D914D97}"/>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9 · MODEL</a:t>
            </a:r>
          </a:p>
        </p:txBody>
      </p:sp>
      <p:sp>
        <p:nvSpPr>
          <p:cNvPr id="3" name="">
            <a:extLst xmlns:a="http://schemas.openxmlformats.org/drawingml/2006/main">
              <a:ext uri="{FF2B5EF4-FFF2-40B4-BE49-F238E27FC236}">
                <a16:creationId xmlns:a16="http://schemas.microsoft.com/office/drawing/2014/main" id="{5FCF22CC-2DBD-4F6E-A760-6440BF67451C}"/>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58A05C51-8623-4EAB-938E-3ED729503795}"/>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89</a:t>
            </a:r>
          </a:p>
        </p:txBody>
      </p:sp>
      <p:sp>
        <p:nvSpPr>
          <p:cNvPr id="5" name="">
            <a:extLst xmlns:a="http://schemas.openxmlformats.org/drawingml/2006/main">
              <a:ext uri="{FF2B5EF4-FFF2-40B4-BE49-F238E27FC236}">
                <a16:creationId xmlns:a16="http://schemas.microsoft.com/office/drawing/2014/main" id="{0CBFC1E9-0323-4D3A-BDD8-5B067D2C22EF}"/>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A listener is not the same as useful behavior</a:t>
            </a:r>
          </a:p>
        </p:txBody>
      </p:sp>
      <p:sp>
        <p:nvSpPr>
          <p:cNvPr id="6" name="">
            <a:extLst xmlns:a="http://schemas.openxmlformats.org/drawingml/2006/main">
              <a:ext uri="{FF2B5EF4-FFF2-40B4-BE49-F238E27FC236}">
                <a16:creationId xmlns:a16="http://schemas.microsoft.com/office/drawing/2014/main" id="{B6EF3864-6209-4CE7-B16A-B66921DB6EB0}"/>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Use ss for the listener and a real client such as curl for behavior. Stop a managed process through systemd so manager state stays consistent.</a:t>
            </a:r>
          </a:p>
        </p:txBody>
      </p:sp>
      <p:sp>
        <p:nvSpPr>
          <p:cNvPr id="7" name="">
            <a:extLst xmlns:a="http://schemas.openxmlformats.org/drawingml/2006/main">
              <a:ext uri="{FF2B5EF4-FFF2-40B4-BE49-F238E27FC236}">
                <a16:creationId xmlns:a16="http://schemas.microsoft.com/office/drawing/2014/main" id="{F0171877-72DD-4A16-B1D6-6A19A20C1C0F}"/>
              </a:ext>
            </a:extLst>
          </p:cNvPr>
          <p:cNvSpPr>
            <a:spLocks xmlns:a="http://schemas.openxmlformats.org/drawingml/2006/main" noGrp="1"/>
          </p:cNvSpPr>
          <p:nvPr/>
        </p:nvSpPr>
        <p:spPr>
          <a:xfrm xmlns:a="http://schemas.openxmlformats.org/drawingml/2006/main">
            <a:off x="781050" y="31051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6386325-D5B2-4B4C-8AAC-2F2FDCA38A8D}"/>
              </a:ext>
            </a:extLst>
          </p:cNvPr>
          <p:cNvSpPr>
            <a:spLocks xmlns:a="http://schemas.openxmlformats.org/drawingml/2006/main" noGrp="1"/>
          </p:cNvSpPr>
          <p:nvPr/>
        </p:nvSpPr>
        <p:spPr>
          <a:xfrm xmlns:a="http://schemas.openxmlformats.org/drawingml/2006/main">
            <a:off x="1028700" y="272415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A listening socket proves a process is accepting connections at a transport endpoint. It does not prove that the application returns a correct response.</a:t>
            </a:r>
          </a:p>
        </p:txBody>
      </p:sp>
      <p:sp>
        <p:nvSpPr>
          <p:cNvPr id="9" name="">
            <a:extLst xmlns:a="http://schemas.openxmlformats.org/drawingml/2006/main">
              <a:ext uri="{FF2B5EF4-FFF2-40B4-BE49-F238E27FC236}">
                <a16:creationId xmlns:a16="http://schemas.microsoft.com/office/drawing/2014/main" id="{56801D3E-157D-488B-B987-9E7A24C02F42}"/>
              </a:ext>
            </a:extLst>
          </p:cNvPr>
          <p:cNvSpPr>
            <a:spLocks xmlns:a="http://schemas.openxmlformats.org/drawingml/2006/main" noGrp="1"/>
          </p:cNvSpPr>
          <p:nvPr/>
        </p:nvSpPr>
        <p:spPr>
          <a:xfrm xmlns:a="http://schemas.openxmlformats.org/drawingml/2006/main">
            <a:off x="781050" y="40005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35F379F-24D3-4810-8702-4A9EBE7568B7}"/>
              </a:ext>
            </a:extLst>
          </p:cNvPr>
          <p:cNvSpPr>
            <a:spLocks xmlns:a="http://schemas.openxmlformats.org/drawingml/2006/main" noGrp="1"/>
          </p:cNvSpPr>
          <p:nvPr/>
        </p:nvSpPr>
        <p:spPr>
          <a:xfrm xmlns:a="http://schemas.openxmlformats.org/drawingml/2006/main">
            <a:off x="1028700" y="361950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Use ss for the listener and a real client such as curl for behavior. Stop a managed process through systemd so manager state stays consistent.</a:t>
            </a:r>
          </a:p>
        </p:txBody>
      </p:sp>
    </p:spTree>
    <p:extLst>
      <p:ext uri="{BB962C8B-B14F-4D97-AF65-F5344CB8AC3E}">
        <p14:creationId xmlns:p14="http://schemas.microsoft.com/office/powerpoint/2010/main" val="2135255440"/>
      </p:ext>
    </p:extLst>
  </p:cSld>
</p:sld>
</file>

<file path=ppt/slides/slide90.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AEC1DB9-5C2C-4889-8696-71ED13A58B11}"/>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4CE8B52-1BC2-458D-8B66-1AE55C6FF569}"/>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9 · BUILD THE MODEL</a:t>
            </a:r>
          </a:p>
        </p:txBody>
      </p:sp>
      <p:sp>
        <p:nvSpPr>
          <p:cNvPr id="3" name="">
            <a:extLst xmlns:a="http://schemas.openxmlformats.org/drawingml/2006/main">
              <a:ext uri="{FF2B5EF4-FFF2-40B4-BE49-F238E27FC236}">
                <a16:creationId xmlns:a16="http://schemas.microsoft.com/office/drawing/2014/main" id="{0C8ECD6D-C617-4C11-86FD-766E56E6AA53}"/>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ACD62257-470C-4D7C-BB2C-4DEEC2DFF096}"/>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90</a:t>
            </a:r>
          </a:p>
        </p:txBody>
      </p:sp>
      <p:sp>
        <p:nvSpPr>
          <p:cNvPr id="5" name="">
            <a:extLst xmlns:a="http://schemas.openxmlformats.org/drawingml/2006/main">
              <a:ext uri="{FF2B5EF4-FFF2-40B4-BE49-F238E27FC236}">
                <a16:creationId xmlns:a16="http://schemas.microsoft.com/office/drawing/2014/main" id="{5A553437-B1D4-409C-AF7A-23157F2B1B6C}"/>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A service claim crosses four observable layers</a:t>
            </a:r>
          </a:p>
        </p:txBody>
      </p:sp>
      <p:sp>
        <p:nvSpPr>
          <p:cNvPr id="6" name="">
            <a:extLst xmlns:a="http://schemas.openxmlformats.org/drawingml/2006/main">
              <a:ext uri="{FF2B5EF4-FFF2-40B4-BE49-F238E27FC236}">
                <a16:creationId xmlns:a16="http://schemas.microsoft.com/office/drawing/2014/main" id="{729525CB-8D94-4DF6-B858-A8D42D8B91F7}"/>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Each layer can succeed while the next one still fails.</a:t>
            </a:r>
          </a:p>
        </p:txBody>
      </p:sp>
      <p:sp>
        <p:nvSpPr>
          <p:cNvPr id="7" name="">
            <a:extLst xmlns:a="http://schemas.openxmlformats.org/drawingml/2006/main">
              <a:ext uri="{FF2B5EF4-FFF2-40B4-BE49-F238E27FC236}">
                <a16:creationId xmlns:a16="http://schemas.microsoft.com/office/drawing/2014/main" id="{10FA94EE-CF84-435D-8B03-8B588F5B0672}"/>
              </a:ext>
            </a:extLst>
          </p:cNvPr>
          <p:cNvSpPr>
            <a:spLocks xmlns:a="http://schemas.openxmlformats.org/drawingml/2006/main" noGrp="1"/>
          </p:cNvSpPr>
          <p:nvPr/>
        </p:nvSpPr>
        <p:spPr>
          <a:xfrm xmlns:a="http://schemas.openxmlformats.org/drawingml/2006/main">
            <a:off x="781050" y="29622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49A56B7-E675-463D-A79D-280F6DC1C056}"/>
              </a:ext>
            </a:extLst>
          </p:cNvPr>
          <p:cNvSpPr>
            <a:spLocks xmlns:a="http://schemas.openxmlformats.org/drawingml/2006/main" noGrp="1"/>
          </p:cNvSpPr>
          <p:nvPr/>
        </p:nvSpPr>
        <p:spPr>
          <a:xfrm xmlns:a="http://schemas.openxmlformats.org/drawingml/2006/main">
            <a:off x="1028700" y="27241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Manager state connects the unit to MainPID</a:t>
            </a:r>
          </a:p>
        </p:txBody>
      </p:sp>
      <p:sp>
        <p:nvSpPr>
          <p:cNvPr id="9" name="">
            <a:extLst xmlns:a="http://schemas.openxmlformats.org/drawingml/2006/main">
              <a:ext uri="{FF2B5EF4-FFF2-40B4-BE49-F238E27FC236}">
                <a16:creationId xmlns:a16="http://schemas.microsoft.com/office/drawing/2014/main" id="{3EA5E262-0D6E-4F67-9109-D089EF64AB4B}"/>
              </a:ext>
            </a:extLst>
          </p:cNvPr>
          <p:cNvSpPr>
            <a:spLocks xmlns:a="http://schemas.openxmlformats.org/drawingml/2006/main" noGrp="1"/>
          </p:cNvSpPr>
          <p:nvPr/>
        </p:nvSpPr>
        <p:spPr>
          <a:xfrm xmlns:a="http://schemas.openxmlformats.org/drawingml/2006/main">
            <a:off x="781050" y="35718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F2EC2FE-6D11-4F02-A3D6-28E6FCA43B43}"/>
              </a:ext>
            </a:extLst>
          </p:cNvPr>
          <p:cNvSpPr>
            <a:spLocks xmlns:a="http://schemas.openxmlformats.org/drawingml/2006/main" noGrp="1"/>
          </p:cNvSpPr>
          <p:nvPr/>
        </p:nvSpPr>
        <p:spPr>
          <a:xfrm xmlns:a="http://schemas.openxmlformats.org/drawingml/2006/main">
            <a:off x="1028700" y="33337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Process evidence shows identity and command context</a:t>
            </a:r>
          </a:p>
        </p:txBody>
      </p:sp>
      <p:sp>
        <p:nvSpPr>
          <p:cNvPr id="11" name="">
            <a:extLst xmlns:a="http://schemas.openxmlformats.org/drawingml/2006/main">
              <a:ext uri="{FF2B5EF4-FFF2-40B4-BE49-F238E27FC236}">
                <a16:creationId xmlns:a16="http://schemas.microsoft.com/office/drawing/2014/main" id="{565F8917-90D2-481D-A470-DE940CD197F7}"/>
              </a:ext>
            </a:extLst>
          </p:cNvPr>
          <p:cNvSpPr>
            <a:spLocks xmlns:a="http://schemas.openxmlformats.org/drawingml/2006/main" noGrp="1"/>
          </p:cNvSpPr>
          <p:nvPr/>
        </p:nvSpPr>
        <p:spPr>
          <a:xfrm xmlns:a="http://schemas.openxmlformats.org/drawingml/2006/main">
            <a:off x="781050" y="41814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014445E-89B2-42C8-B698-A96886666446}"/>
              </a:ext>
            </a:extLst>
          </p:cNvPr>
          <p:cNvSpPr>
            <a:spLocks xmlns:a="http://schemas.openxmlformats.org/drawingml/2006/main" noGrp="1"/>
          </p:cNvSpPr>
          <p:nvPr/>
        </p:nvSpPr>
        <p:spPr>
          <a:xfrm xmlns:a="http://schemas.openxmlformats.org/drawingml/2006/main">
            <a:off x="1028700" y="39433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Socket evidence shows whether a transport endpoint is listening</a:t>
            </a:r>
          </a:p>
        </p:txBody>
      </p:sp>
      <p:sp>
        <p:nvSpPr>
          <p:cNvPr id="13" name="">
            <a:extLst xmlns:a="http://schemas.openxmlformats.org/drawingml/2006/main">
              <a:ext uri="{FF2B5EF4-FFF2-40B4-BE49-F238E27FC236}">
                <a16:creationId xmlns:a16="http://schemas.microsoft.com/office/drawing/2014/main" id="{4A114E63-7F64-4E9E-82EC-D1151B8512F9}"/>
              </a:ext>
            </a:extLst>
          </p:cNvPr>
          <p:cNvSpPr>
            <a:spLocks xmlns:a="http://schemas.openxmlformats.org/drawingml/2006/main" noGrp="1"/>
          </p:cNvSpPr>
          <p:nvPr/>
        </p:nvSpPr>
        <p:spPr>
          <a:xfrm xmlns:a="http://schemas.openxmlformats.org/drawingml/2006/main">
            <a:off x="781050" y="47910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C7E7F01-CED6-45B9-B53E-B4FE85F3BE74}"/>
              </a:ext>
            </a:extLst>
          </p:cNvPr>
          <p:cNvSpPr>
            <a:spLocks xmlns:a="http://schemas.openxmlformats.org/drawingml/2006/main" noGrp="1"/>
          </p:cNvSpPr>
          <p:nvPr/>
        </p:nvSpPr>
        <p:spPr>
          <a:xfrm xmlns:a="http://schemas.openxmlformats.org/drawingml/2006/main">
            <a:off x="1028700" y="45529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A real client proves application-visible behavior</a:t>
            </a:r>
          </a:p>
        </p:txBody>
      </p:sp>
    </p:spTree>
    <p:extLst>
      <p:ext uri="{BB962C8B-B14F-4D97-AF65-F5344CB8AC3E}">
        <p14:creationId xmlns:p14="http://schemas.microsoft.com/office/powerpoint/2010/main" val="1073703719"/>
      </p:ext>
    </p:extLst>
  </p:cSld>
</p:sld>
</file>

<file path=ppt/slides/slide91.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94D0031E-5018-44CC-9C24-29D19A79390C}"/>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A5E7AD4-5039-422F-B5E3-4B27C54EC77A}"/>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9 · WORKED EXAMPLE</a:t>
            </a:r>
          </a:p>
        </p:txBody>
      </p:sp>
      <p:sp>
        <p:nvSpPr>
          <p:cNvPr id="3" name="">
            <a:extLst xmlns:a="http://schemas.openxmlformats.org/drawingml/2006/main">
              <a:ext uri="{FF2B5EF4-FFF2-40B4-BE49-F238E27FC236}">
                <a16:creationId xmlns:a16="http://schemas.microsoft.com/office/drawing/2014/main" id="{2DBB4D24-3C3A-4D9A-80C1-D7FEEE187660}"/>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7AD79A33-CF88-4E37-9E14-968F597BEC7F}"/>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91</a:t>
            </a:r>
          </a:p>
        </p:txBody>
      </p:sp>
      <p:sp>
        <p:nvSpPr>
          <p:cNvPr id="5" name="">
            <a:extLst xmlns:a="http://schemas.openxmlformats.org/drawingml/2006/main">
              <a:ext uri="{FF2B5EF4-FFF2-40B4-BE49-F238E27FC236}">
                <a16:creationId xmlns:a16="http://schemas.microsoft.com/office/drawing/2014/main" id="{D4B69D7B-95F6-4248-AA64-A72587EC178F}"/>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Trace one service through four layers</a:t>
            </a:r>
          </a:p>
        </p:txBody>
      </p:sp>
      <p:sp>
        <p:nvSpPr>
          <p:cNvPr id="6" name="">
            <a:extLst xmlns:a="http://schemas.openxmlformats.org/drawingml/2006/main">
              <a:ext uri="{FF2B5EF4-FFF2-40B4-BE49-F238E27FC236}">
                <a16:creationId xmlns:a16="http://schemas.microsoft.com/office/drawing/2014/main" id="{CCE84CB7-FDAC-443E-BF79-7872A793259F}"/>
              </a:ext>
            </a:extLst>
          </p:cNvPr>
          <p:cNvSpPr>
            <a:spLocks xmlns:a="http://schemas.openxmlformats.org/drawingml/2006/main" noGrp="1"/>
          </p:cNvSpPr>
          <p:nvPr/>
        </p:nvSpPr>
        <p:spPr>
          <a:xfrm xmlns:a="http://schemas.openxmlformats.org/drawingml/2006/main">
            <a:off x="514350" y="2400300"/>
            <a:ext cx="6191250" cy="2857500"/>
          </a:xfrm>
          <a:prstGeom xmlns:a="http://schemas.openxmlformats.org/drawingml/2006/main" prst="roundRect">
            <a:avLst>
              <a:gd name="adj" fmla="val 4000"/>
            </a:avLst>
          </a:prstGeom>
          <a:solidFill xmlns:a="http://schemas.openxmlformats.org/drawingml/2006/main">
            <a:srgbClr val="180D25"/>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85A00FD5-23D4-4BBF-BCDF-A5ECD9574BF0}"/>
              </a:ext>
            </a:extLst>
          </p:cNvPr>
          <p:cNvSpPr>
            <a:spLocks xmlns:a="http://schemas.openxmlformats.org/drawingml/2006/main" noGrp="1"/>
          </p:cNvSpPr>
          <p:nvPr/>
        </p:nvSpPr>
        <p:spPr>
          <a:xfrm xmlns:a="http://schemas.openxmlformats.org/drawingml/2006/main">
            <a:off x="781050" y="2647950"/>
            <a:ext cx="5667375" cy="2333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F7F1FA"/>
                </a:solidFill>
              </a:defRPr>
            </a:pPr>
            <a:r>
              <a:rPr sz="1575" b="0">
                <a:solidFill>
                  <a:srgbClr val="F7F1FA"/>
                </a:solidFill>
              </a:rPr>
              <a:t>pid=$(systemctl show course-probe -p MainPID --value)</a:t>
            </a:r>
          </a:p>
          <a:p xmlns:a="http://schemas.openxmlformats.org/drawingml/2006/main">
            <a:pPr algn="l">
              <a:buNone/>
              <a:defRPr sz="1575" b="0">
                <a:solidFill>
                  <a:srgbClr val="F7F1FA"/>
                </a:solidFill>
              </a:defRPr>
            </a:pPr>
            <a:r>
              <a:rPr sz="1575" b="0">
                <a:solidFill>
                  <a:srgbClr val="F7F1FA"/>
                </a:solidFill>
              </a:rPr>
              <a:t>ps -o pid,ppid,user,stat,cmd -p "$pid"</a:t>
            </a:r>
          </a:p>
          <a:p xmlns:a="http://schemas.openxmlformats.org/drawingml/2006/main">
            <a:pPr algn="l">
              <a:buNone/>
              <a:defRPr sz="1575" b="0">
                <a:solidFill>
                  <a:srgbClr val="F7F1FA"/>
                </a:solidFill>
              </a:defRPr>
            </a:pPr>
            <a:r>
              <a:rPr sz="1575" b="0">
                <a:solidFill>
                  <a:srgbClr val="F7F1FA"/>
                </a:solidFill>
              </a:rPr>
              <a:t>sudo ss -ltnp 'sport = :9099'</a:t>
            </a:r>
          </a:p>
          <a:p xmlns:a="http://schemas.openxmlformats.org/drawingml/2006/main">
            <a:pPr algn="l">
              <a:buNone/>
              <a:defRPr sz="1575" b="0">
                <a:solidFill>
                  <a:srgbClr val="F7F1FA"/>
                </a:solidFill>
              </a:defRPr>
            </a:pPr>
            <a:r>
              <a:rPr sz="1575" b="0">
                <a:solidFill>
                  <a:srgbClr val="F7F1FA"/>
                </a:solidFill>
              </a:rPr>
              <a:t>curl --fail http://127.0.0.1:9099/</a:t>
            </a:r>
          </a:p>
        </p:txBody>
      </p:sp>
      <p:sp>
        <p:nvSpPr>
          <p:cNvPr id="8" name="">
            <a:extLst xmlns:a="http://schemas.openxmlformats.org/drawingml/2006/main">
              <a:ext uri="{FF2B5EF4-FFF2-40B4-BE49-F238E27FC236}">
                <a16:creationId xmlns:a16="http://schemas.microsoft.com/office/drawing/2014/main" id="{91F1D73D-6B19-4265-AB84-1739EEC606EE}"/>
              </a:ext>
            </a:extLst>
          </p:cNvPr>
          <p:cNvSpPr>
            <a:spLocks xmlns:a="http://schemas.openxmlformats.org/drawingml/2006/main" noGrp="1"/>
          </p:cNvSpPr>
          <p:nvPr/>
        </p:nvSpPr>
        <p:spPr>
          <a:xfrm xmlns:a="http://schemas.openxmlformats.org/drawingml/2006/main">
            <a:off x="7143750" y="27336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3C0F7E1-D206-4EDA-A489-7FE2FBB368E0}"/>
              </a:ext>
            </a:extLst>
          </p:cNvPr>
          <p:cNvSpPr>
            <a:spLocks xmlns:a="http://schemas.openxmlformats.org/drawingml/2006/main" noGrp="1"/>
          </p:cNvSpPr>
          <p:nvPr/>
        </p:nvSpPr>
        <p:spPr>
          <a:xfrm xmlns:a="http://schemas.openxmlformats.org/drawingml/2006/main">
            <a:off x="7391400" y="2428875"/>
            <a:ext cx="3848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MainPID connects the manager to one process.</a:t>
            </a:r>
          </a:p>
        </p:txBody>
      </p:sp>
      <p:sp>
        <p:nvSpPr>
          <p:cNvPr id="10" name="">
            <a:extLst xmlns:a="http://schemas.openxmlformats.org/drawingml/2006/main">
              <a:ext uri="{FF2B5EF4-FFF2-40B4-BE49-F238E27FC236}">
                <a16:creationId xmlns:a16="http://schemas.microsoft.com/office/drawing/2014/main" id="{A3856B13-BC1A-4EE7-A790-BE8E82A2D2B4}"/>
              </a:ext>
            </a:extLst>
          </p:cNvPr>
          <p:cNvSpPr>
            <a:spLocks xmlns:a="http://schemas.openxmlformats.org/drawingml/2006/main" noGrp="1"/>
          </p:cNvSpPr>
          <p:nvPr/>
        </p:nvSpPr>
        <p:spPr>
          <a:xfrm xmlns:a="http://schemas.openxmlformats.org/drawingml/2006/main">
            <a:off x="7143750" y="347662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FFBA4380-0A4E-477B-9145-573AD1AB8C0B}"/>
              </a:ext>
            </a:extLst>
          </p:cNvPr>
          <p:cNvSpPr>
            <a:spLocks xmlns:a="http://schemas.openxmlformats.org/drawingml/2006/main" noGrp="1"/>
          </p:cNvSpPr>
          <p:nvPr/>
        </p:nvSpPr>
        <p:spPr>
          <a:xfrm xmlns:a="http://schemas.openxmlformats.org/drawingml/2006/main">
            <a:off x="7391400" y="3171825"/>
            <a:ext cx="3848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ss connects a listener to a port and, with privilege, a process.</a:t>
            </a:r>
          </a:p>
        </p:txBody>
      </p:sp>
      <p:sp>
        <p:nvSpPr>
          <p:cNvPr id="12" name="">
            <a:extLst xmlns:a="http://schemas.openxmlformats.org/drawingml/2006/main">
              <a:ext uri="{FF2B5EF4-FFF2-40B4-BE49-F238E27FC236}">
                <a16:creationId xmlns:a16="http://schemas.microsoft.com/office/drawing/2014/main" id="{D028093C-2BE4-403A-960C-14AE7CB0163F}"/>
              </a:ext>
            </a:extLst>
          </p:cNvPr>
          <p:cNvSpPr>
            <a:spLocks xmlns:a="http://schemas.openxmlformats.org/drawingml/2006/main" noGrp="1"/>
          </p:cNvSpPr>
          <p:nvPr/>
        </p:nvSpPr>
        <p:spPr>
          <a:xfrm xmlns:a="http://schemas.openxmlformats.org/drawingml/2006/main">
            <a:off x="7143750" y="42195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3B897D33-60DB-4F07-8994-1814C9082178}"/>
              </a:ext>
            </a:extLst>
          </p:cNvPr>
          <p:cNvSpPr>
            <a:spLocks xmlns:a="http://schemas.openxmlformats.org/drawingml/2006/main" noGrp="1"/>
          </p:cNvSpPr>
          <p:nvPr/>
        </p:nvSpPr>
        <p:spPr>
          <a:xfrm xmlns:a="http://schemas.openxmlformats.org/drawingml/2006/main">
            <a:off x="7391400" y="3914775"/>
            <a:ext cx="3848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curl proves client-visible application behavior.</a:t>
            </a:r>
          </a:p>
        </p:txBody>
      </p:sp>
    </p:spTree>
    <p:extLst>
      <p:ext uri="{BB962C8B-B14F-4D97-AF65-F5344CB8AC3E}">
        <p14:creationId xmlns:p14="http://schemas.microsoft.com/office/powerpoint/2010/main" val="408779697"/>
      </p:ext>
    </p:extLst>
  </p:cSld>
</p:sld>
</file>

<file path=ppt/slides/slide92.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EDAE3858-3F20-4883-905D-49EF14C222FF}"/>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DE71187-F119-4D23-869B-50BC59271776}"/>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9 · GUIDED COMMANDS</a:t>
            </a:r>
          </a:p>
        </p:txBody>
      </p:sp>
      <p:sp>
        <p:nvSpPr>
          <p:cNvPr id="3" name="">
            <a:extLst xmlns:a="http://schemas.openxmlformats.org/drawingml/2006/main">
              <a:ext uri="{FF2B5EF4-FFF2-40B4-BE49-F238E27FC236}">
                <a16:creationId xmlns:a16="http://schemas.microsoft.com/office/drawing/2014/main" id="{8A92790D-E988-46B0-915A-F41170BE208F}"/>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880F54F8-B303-4E60-BCB1-B767F9D71C8D}"/>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92</a:t>
            </a:r>
          </a:p>
        </p:txBody>
      </p:sp>
      <p:sp>
        <p:nvSpPr>
          <p:cNvPr id="5" name="">
            <a:extLst xmlns:a="http://schemas.openxmlformats.org/drawingml/2006/main">
              <a:ext uri="{FF2B5EF4-FFF2-40B4-BE49-F238E27FC236}">
                <a16:creationId xmlns:a16="http://schemas.microsoft.com/office/drawing/2014/main" id="{5BDE0D04-8C41-4505-A3EB-B7651BD410DE}"/>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These commands are tools for specific questions</a:t>
            </a:r>
          </a:p>
        </p:txBody>
      </p:sp>
      <p:sp>
        <p:nvSpPr>
          <p:cNvPr id="6" name="">
            <a:extLst xmlns:a="http://schemas.openxmlformats.org/drawingml/2006/main">
              <a:ext uri="{FF2B5EF4-FFF2-40B4-BE49-F238E27FC236}">
                <a16:creationId xmlns:a16="http://schemas.microsoft.com/office/drawing/2014/main" id="{6DBC315E-E26B-4875-98FF-309091826D7F}"/>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The lab guide repeats syntax and expected evidence; memorization is not required.</a:t>
            </a:r>
          </a:p>
        </p:txBody>
      </p:sp>
      <p:sp>
        <p:nvSpPr>
          <p:cNvPr id="7" name="">
            <a:extLst xmlns:a="http://schemas.openxmlformats.org/drawingml/2006/main">
              <a:ext uri="{FF2B5EF4-FFF2-40B4-BE49-F238E27FC236}">
                <a16:creationId xmlns:a16="http://schemas.microsoft.com/office/drawing/2014/main" id="{9165DD28-DDBF-4041-9E0E-F09789550C12}"/>
              </a:ext>
            </a:extLst>
          </p:cNvPr>
          <p:cNvSpPr>
            <a:spLocks xmlns:a="http://schemas.openxmlformats.org/drawingml/2006/main" noGrp="1"/>
          </p:cNvSpPr>
          <p:nvPr/>
        </p:nvSpPr>
        <p:spPr>
          <a:xfrm xmlns:a="http://schemas.openxmlformats.org/drawingml/2006/main">
            <a:off x="685800" y="24003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systemctl show -p MainPID</a:t>
            </a:r>
          </a:p>
        </p:txBody>
      </p:sp>
      <p:sp>
        <p:nvSpPr>
          <p:cNvPr id="8" name="">
            <a:extLst xmlns:a="http://schemas.openxmlformats.org/drawingml/2006/main">
              <a:ext uri="{FF2B5EF4-FFF2-40B4-BE49-F238E27FC236}">
                <a16:creationId xmlns:a16="http://schemas.microsoft.com/office/drawing/2014/main" id="{B12AF2DA-3ECD-4804-9DEC-76E2595DAC25}"/>
              </a:ext>
            </a:extLst>
          </p:cNvPr>
          <p:cNvSpPr>
            <a:spLocks xmlns:a="http://schemas.openxmlformats.org/drawingml/2006/main" noGrp="1"/>
          </p:cNvSpPr>
          <p:nvPr/>
        </p:nvSpPr>
        <p:spPr>
          <a:xfrm xmlns:a="http://schemas.openxmlformats.org/drawingml/2006/main">
            <a:off x="3810000" y="24003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obtain the manager’s PID</a:t>
            </a:r>
          </a:p>
        </p:txBody>
      </p:sp>
      <p:sp>
        <p:nvSpPr>
          <p:cNvPr id="9" name="">
            <a:extLst xmlns:a="http://schemas.openxmlformats.org/drawingml/2006/main">
              <a:ext uri="{FF2B5EF4-FFF2-40B4-BE49-F238E27FC236}">
                <a16:creationId xmlns:a16="http://schemas.microsoft.com/office/drawing/2014/main" id="{FF32F8FC-C937-4F48-A8EF-EC96F6CE690E}"/>
              </a:ext>
            </a:extLst>
          </p:cNvPr>
          <p:cNvSpPr>
            <a:spLocks xmlns:a="http://schemas.openxmlformats.org/drawingml/2006/main" noGrp="1"/>
          </p:cNvSpPr>
          <p:nvPr/>
        </p:nvSpPr>
        <p:spPr>
          <a:xfrm xmlns:a="http://schemas.openxmlformats.org/drawingml/2006/main">
            <a:off x="685800" y="29527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67DD0C5-716C-4525-8D3D-986E1A04F982}"/>
              </a:ext>
            </a:extLst>
          </p:cNvPr>
          <p:cNvSpPr>
            <a:spLocks xmlns:a="http://schemas.openxmlformats.org/drawingml/2006/main" noGrp="1"/>
          </p:cNvSpPr>
          <p:nvPr/>
        </p:nvSpPr>
        <p:spPr>
          <a:xfrm xmlns:a="http://schemas.openxmlformats.org/drawingml/2006/main">
            <a:off x="685800" y="30480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ps -p PID</a:t>
            </a:r>
          </a:p>
        </p:txBody>
      </p:sp>
      <p:sp>
        <p:nvSpPr>
          <p:cNvPr id="11" name="">
            <a:extLst xmlns:a="http://schemas.openxmlformats.org/drawingml/2006/main">
              <a:ext uri="{FF2B5EF4-FFF2-40B4-BE49-F238E27FC236}">
                <a16:creationId xmlns:a16="http://schemas.microsoft.com/office/drawing/2014/main" id="{36AB2FDC-684F-4BF3-8D10-859DC7039C79}"/>
              </a:ext>
            </a:extLst>
          </p:cNvPr>
          <p:cNvSpPr>
            <a:spLocks xmlns:a="http://schemas.openxmlformats.org/drawingml/2006/main" noGrp="1"/>
          </p:cNvSpPr>
          <p:nvPr/>
        </p:nvSpPr>
        <p:spPr>
          <a:xfrm xmlns:a="http://schemas.openxmlformats.org/drawingml/2006/main">
            <a:off x="3810000" y="30480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inspect one process</a:t>
            </a:r>
          </a:p>
        </p:txBody>
      </p:sp>
      <p:sp>
        <p:nvSpPr>
          <p:cNvPr id="12" name="">
            <a:extLst xmlns:a="http://schemas.openxmlformats.org/drawingml/2006/main">
              <a:ext uri="{FF2B5EF4-FFF2-40B4-BE49-F238E27FC236}">
                <a16:creationId xmlns:a16="http://schemas.microsoft.com/office/drawing/2014/main" id="{D9E2130D-D744-4365-899C-BE660FB2130E}"/>
              </a:ext>
            </a:extLst>
          </p:cNvPr>
          <p:cNvSpPr>
            <a:spLocks xmlns:a="http://schemas.openxmlformats.org/drawingml/2006/main" noGrp="1"/>
          </p:cNvSpPr>
          <p:nvPr/>
        </p:nvSpPr>
        <p:spPr>
          <a:xfrm xmlns:a="http://schemas.openxmlformats.org/drawingml/2006/main">
            <a:off x="685800" y="36004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A37C9685-4EDD-441E-9831-44918ED9E21D}"/>
              </a:ext>
            </a:extLst>
          </p:cNvPr>
          <p:cNvSpPr>
            <a:spLocks xmlns:a="http://schemas.openxmlformats.org/drawingml/2006/main" noGrp="1"/>
          </p:cNvSpPr>
          <p:nvPr/>
        </p:nvSpPr>
        <p:spPr>
          <a:xfrm xmlns:a="http://schemas.openxmlformats.org/drawingml/2006/main">
            <a:off x="685800" y="36957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/proc/PID/cmdline</a:t>
            </a:r>
          </a:p>
        </p:txBody>
      </p:sp>
      <p:sp>
        <p:nvSpPr>
          <p:cNvPr id="14" name="">
            <a:extLst xmlns:a="http://schemas.openxmlformats.org/drawingml/2006/main">
              <a:ext uri="{FF2B5EF4-FFF2-40B4-BE49-F238E27FC236}">
                <a16:creationId xmlns:a16="http://schemas.microsoft.com/office/drawing/2014/main" id="{FBF8B59F-C1CD-4DCC-879F-6902C265FDEF}"/>
              </a:ext>
            </a:extLst>
          </p:cNvPr>
          <p:cNvSpPr>
            <a:spLocks xmlns:a="http://schemas.openxmlformats.org/drawingml/2006/main" noGrp="1"/>
          </p:cNvSpPr>
          <p:nvPr/>
        </p:nvSpPr>
        <p:spPr>
          <a:xfrm xmlns:a="http://schemas.openxmlformats.org/drawingml/2006/main">
            <a:off x="3810000" y="36957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supporting argument evidence</a:t>
            </a:r>
          </a:p>
        </p:txBody>
      </p:sp>
      <p:sp>
        <p:nvSpPr>
          <p:cNvPr id="15" name="">
            <a:extLst xmlns:a="http://schemas.openxmlformats.org/drawingml/2006/main">
              <a:ext uri="{FF2B5EF4-FFF2-40B4-BE49-F238E27FC236}">
                <a16:creationId xmlns:a16="http://schemas.microsoft.com/office/drawing/2014/main" id="{E009C153-D5C8-4597-BE15-6C0288A13EBA}"/>
              </a:ext>
            </a:extLst>
          </p:cNvPr>
          <p:cNvSpPr>
            <a:spLocks xmlns:a="http://schemas.openxmlformats.org/drawingml/2006/main" noGrp="1"/>
          </p:cNvSpPr>
          <p:nvPr/>
        </p:nvSpPr>
        <p:spPr>
          <a:xfrm xmlns:a="http://schemas.openxmlformats.org/drawingml/2006/main">
            <a:off x="685800" y="42481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90842E1A-34A2-4F0E-A849-933A35F7E88E}"/>
              </a:ext>
            </a:extLst>
          </p:cNvPr>
          <p:cNvSpPr>
            <a:spLocks xmlns:a="http://schemas.openxmlformats.org/drawingml/2006/main" noGrp="1"/>
          </p:cNvSpPr>
          <p:nvPr/>
        </p:nvSpPr>
        <p:spPr>
          <a:xfrm xmlns:a="http://schemas.openxmlformats.org/drawingml/2006/main">
            <a:off x="685800" y="43434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ss -ltnp</a:t>
            </a:r>
          </a:p>
        </p:txBody>
      </p:sp>
      <p:sp>
        <p:nvSpPr>
          <p:cNvPr id="17" name="">
            <a:extLst xmlns:a="http://schemas.openxmlformats.org/drawingml/2006/main">
              <a:ext uri="{FF2B5EF4-FFF2-40B4-BE49-F238E27FC236}">
                <a16:creationId xmlns:a16="http://schemas.microsoft.com/office/drawing/2014/main" id="{D9092B67-F5E0-4DB9-A57A-4D7193DB79BB}"/>
              </a:ext>
            </a:extLst>
          </p:cNvPr>
          <p:cNvSpPr>
            <a:spLocks xmlns:a="http://schemas.openxmlformats.org/drawingml/2006/main" noGrp="1"/>
          </p:cNvSpPr>
          <p:nvPr/>
        </p:nvSpPr>
        <p:spPr>
          <a:xfrm xmlns:a="http://schemas.openxmlformats.org/drawingml/2006/main">
            <a:off x="3810000" y="43434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inspect numeric TCP listeners</a:t>
            </a:r>
          </a:p>
        </p:txBody>
      </p:sp>
      <p:sp>
        <p:nvSpPr>
          <p:cNvPr id="18" name="">
            <a:extLst xmlns:a="http://schemas.openxmlformats.org/drawingml/2006/main">
              <a:ext uri="{FF2B5EF4-FFF2-40B4-BE49-F238E27FC236}">
                <a16:creationId xmlns:a16="http://schemas.microsoft.com/office/drawing/2014/main" id="{945E2B72-0F7C-4084-BA54-2F9C75DEBFE7}"/>
              </a:ext>
            </a:extLst>
          </p:cNvPr>
          <p:cNvSpPr>
            <a:spLocks xmlns:a="http://schemas.openxmlformats.org/drawingml/2006/main" noGrp="1"/>
          </p:cNvSpPr>
          <p:nvPr/>
        </p:nvSpPr>
        <p:spPr>
          <a:xfrm xmlns:a="http://schemas.openxmlformats.org/drawingml/2006/main">
            <a:off x="685800" y="48958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CE319FEF-379A-41FF-931C-7D2561E2C2A0}"/>
              </a:ext>
            </a:extLst>
          </p:cNvPr>
          <p:cNvSpPr>
            <a:spLocks xmlns:a="http://schemas.openxmlformats.org/drawingml/2006/main" noGrp="1"/>
          </p:cNvSpPr>
          <p:nvPr/>
        </p:nvSpPr>
        <p:spPr>
          <a:xfrm xmlns:a="http://schemas.openxmlformats.org/drawingml/2006/main">
            <a:off x="685800" y="49911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curl --fail URL</a:t>
            </a:r>
          </a:p>
        </p:txBody>
      </p:sp>
      <p:sp>
        <p:nvSpPr>
          <p:cNvPr id="20" name="">
            <a:extLst xmlns:a="http://schemas.openxmlformats.org/drawingml/2006/main">
              <a:ext uri="{FF2B5EF4-FFF2-40B4-BE49-F238E27FC236}">
                <a16:creationId xmlns:a16="http://schemas.microsoft.com/office/drawing/2014/main" id="{99047A63-D30F-4EE5-9F9D-6EB50E71C6C5}"/>
              </a:ext>
            </a:extLst>
          </p:cNvPr>
          <p:cNvSpPr>
            <a:spLocks xmlns:a="http://schemas.openxmlformats.org/drawingml/2006/main" noGrp="1"/>
          </p:cNvSpPr>
          <p:nvPr/>
        </p:nvSpPr>
        <p:spPr>
          <a:xfrm xmlns:a="http://schemas.openxmlformats.org/drawingml/2006/main">
            <a:off x="3810000" y="49911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test behavior as a client</a:t>
            </a:r>
          </a:p>
        </p:txBody>
      </p:sp>
    </p:spTree>
    <p:extLst>
      <p:ext uri="{BB962C8B-B14F-4D97-AF65-F5344CB8AC3E}">
        <p14:creationId xmlns:p14="http://schemas.microsoft.com/office/powerpoint/2010/main" val="409890687"/>
      </p:ext>
    </p:extLst>
  </p:cSld>
</p:sld>
</file>

<file path=ppt/slides/slide93.xml><?xml version="1.0" encoding="utf-8"?>
<p:sld xmlns:p="http://schemas.openxmlformats.org/presentationml/2006/main">
  <p:cSld>
    <p:bg>
      <p:bgPr>
        <a:solidFill xmlns:a="http://schemas.openxmlformats.org/drawingml/2006/main">
          <a:srgbClr val="180D25"/>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8970757D-C934-4302-98C0-BA64D744AA61}"/>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FF6F6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F83DB8F-B158-4F3C-9998-7CB9389D2BC2}"/>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FF6F61"/>
                </a:solidFill>
              </a:defRPr>
            </a:pPr>
            <a:r>
              <a:rPr sz="900" b="1">
                <a:solidFill>
                  <a:srgbClr val="FF6F61"/>
                </a:solidFill>
              </a:rPr>
              <a:t>MODULE 9 · LIVE DEMO</a:t>
            </a:r>
          </a:p>
        </p:txBody>
      </p:sp>
      <p:sp>
        <p:nvSpPr>
          <p:cNvPr id="3" name="">
            <a:extLst xmlns:a="http://schemas.openxmlformats.org/drawingml/2006/main">
              <a:ext uri="{FF2B5EF4-FFF2-40B4-BE49-F238E27FC236}">
                <a16:creationId xmlns:a16="http://schemas.microsoft.com/office/drawing/2014/main" id="{FE5828E6-55CC-4A74-85B6-5E80248E727F}"/>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CFC5D5"/>
                </a:solidFill>
              </a:defRPr>
            </a:pPr>
            <a:r>
              <a:rPr sz="825" b="1">
                <a:solidFill>
                  <a:srgbClr val="CFC5D5"/>
                </a:solidFill>
              </a:rPr>
              <a:t>LINUX FOUNDATIONS</a:t>
            </a:r>
          </a:p>
        </p:txBody>
      </p:sp>
      <p:sp>
        <p:nvSpPr>
          <p:cNvPr id="4" name="">
            <a:extLst xmlns:a="http://schemas.openxmlformats.org/drawingml/2006/main">
              <a:ext uri="{FF2B5EF4-FFF2-40B4-BE49-F238E27FC236}">
                <a16:creationId xmlns:a16="http://schemas.microsoft.com/office/drawing/2014/main" id="{391FB8A5-B9E7-4DF0-A1D2-B4551295B76B}"/>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AFA2B8"/>
                </a:solidFill>
              </a:defRPr>
            </a:pPr>
            <a:r>
              <a:rPr sz="825" b="0">
                <a:solidFill>
                  <a:srgbClr val="AFA2B8"/>
                </a:solidFill>
              </a:rPr>
              <a:t>93</a:t>
            </a:r>
          </a:p>
        </p:txBody>
      </p:sp>
      <p:sp>
        <p:nvSpPr>
          <p:cNvPr id="5" name="">
            <a:extLst xmlns:a="http://schemas.openxmlformats.org/drawingml/2006/main">
              <a:ext uri="{FF2B5EF4-FFF2-40B4-BE49-F238E27FC236}">
                <a16:creationId xmlns:a16="http://schemas.microsoft.com/office/drawing/2014/main" id="{12F9AA0E-7902-4F4C-AF07-8D2C28168FF1}"/>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FFFFFF"/>
                </a:solidFill>
              </a:defRPr>
            </a:pPr>
            <a:r>
              <a:rPr sz="2850" b="1">
                <a:solidFill>
                  <a:srgbClr val="FFFFFF"/>
                </a:solidFill>
              </a:rPr>
              <a:t>Predict the evidence before Demo 9</a:t>
            </a:r>
          </a:p>
        </p:txBody>
      </p:sp>
      <p:sp>
        <p:nvSpPr>
          <p:cNvPr id="6" name="">
            <a:extLst xmlns:a="http://schemas.openxmlformats.org/drawingml/2006/main">
              <a:ext uri="{FF2B5EF4-FFF2-40B4-BE49-F238E27FC236}">
                <a16:creationId xmlns:a16="http://schemas.microsoft.com/office/drawing/2014/main" id="{98F334E0-6A9A-40FA-A1EB-4CCB24B3205B}"/>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E6DDEB"/>
                </a:solidFill>
              </a:defRPr>
            </a:pPr>
            <a:r>
              <a:rPr sz="1650" b="0">
                <a:solidFill>
                  <a:srgbClr val="E6DDEB"/>
                </a:solidFill>
              </a:rPr>
              <a:t>Trace demo-echo.service through MainPID, ps, command line, port 9191, and HTTP; stop it through systemd and prove the socket disappears.</a:t>
            </a:r>
          </a:p>
        </p:txBody>
      </p:sp>
      <p:sp>
        <p:nvSpPr>
          <p:cNvPr id="7" name="">
            <a:extLst xmlns:a="http://schemas.openxmlformats.org/drawingml/2006/main">
              <a:ext uri="{FF2B5EF4-FFF2-40B4-BE49-F238E27FC236}">
                <a16:creationId xmlns:a16="http://schemas.microsoft.com/office/drawing/2014/main" id="{4DEA1655-28E6-4EE0-BBC1-7C3131B452A5}"/>
              </a:ext>
            </a:extLst>
          </p:cNvPr>
          <p:cNvSpPr>
            <a:spLocks xmlns:a="http://schemas.openxmlformats.org/drawingml/2006/main" noGrp="1"/>
          </p:cNvSpPr>
          <p:nvPr/>
        </p:nvSpPr>
        <p:spPr>
          <a:xfrm xmlns:a="http://schemas.openxmlformats.org/drawingml/2006/main">
            <a:off x="666750" y="2476500"/>
            <a:ext cx="10096500" cy="781050"/>
          </a:xfrm>
          <a:prstGeom xmlns:a="http://schemas.openxmlformats.org/drawingml/2006/main" prst="roundRect">
            <a:avLst>
              <a:gd name="adj" fmla="val 14634"/>
            </a:avLst>
          </a:prstGeom>
          <a:solidFill xmlns:a="http://schemas.openxmlformats.org/drawingml/2006/main">
            <a:srgbClr val="2C173E"/>
          </a:solidFill>
          <a:ln xmlns:a="http://schemas.openxmlformats.org/drawingml/2006/main" w="9525">
            <a:solidFill>
              <a:srgbClr val="7650F8"/>
            </a:solidFill>
            <a:prstDash val="solid"/>
          </a:ln>
        </p:spPr>
      </p:sp>
      <p:sp>
        <p:nvSpPr>
          <p:cNvPr id="8" name="">
            <a:extLst xmlns:a="http://schemas.openxmlformats.org/drawingml/2006/main">
              <a:ext uri="{FF2B5EF4-FFF2-40B4-BE49-F238E27FC236}">
                <a16:creationId xmlns:a16="http://schemas.microsoft.com/office/drawing/2014/main" id="{43F5526D-C917-41DB-B8B8-245A83E69037}"/>
              </a:ext>
            </a:extLst>
          </p:cNvPr>
          <p:cNvSpPr>
            <a:spLocks xmlns:a="http://schemas.openxmlformats.org/drawingml/2006/main" noGrp="1"/>
          </p:cNvSpPr>
          <p:nvPr/>
        </p:nvSpPr>
        <p:spPr>
          <a:xfrm xmlns:a="http://schemas.openxmlformats.org/drawingml/2006/main">
            <a:off x="895350" y="2590800"/>
            <a:ext cx="9620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FFFFFF"/>
                </a:solidFill>
              </a:defRPr>
            </a:pPr>
            <a:r>
              <a:rPr sz="1575" b="0">
                <a:solidFill>
                  <a:srgbClr val="FFFFFF"/>
                </a:solidFill>
              </a:rPr>
              <a:t>Trace demo-echo.service through MainPID, ps, command line, port 9191, and HTTP; stop it through systemd and prove the socket disappears.</a:t>
            </a:r>
          </a:p>
        </p:txBody>
      </p:sp>
      <p:sp>
        <p:nvSpPr>
          <p:cNvPr id="9" name="">
            <a:extLst xmlns:a="http://schemas.openxmlformats.org/drawingml/2006/main">
              <a:ext uri="{FF2B5EF4-FFF2-40B4-BE49-F238E27FC236}">
                <a16:creationId xmlns:a16="http://schemas.microsoft.com/office/drawing/2014/main" id="{A413B190-07B2-4882-97DA-97E6BE98998B}"/>
              </a:ext>
            </a:extLst>
          </p:cNvPr>
          <p:cNvSpPr>
            <a:spLocks xmlns:a="http://schemas.openxmlformats.org/drawingml/2006/main" noGrp="1"/>
          </p:cNvSpPr>
          <p:nvPr/>
        </p:nvSpPr>
        <p:spPr>
          <a:xfrm xmlns:a="http://schemas.openxmlformats.org/drawingml/2006/main">
            <a:off x="904875" y="38195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94CF863-C796-4987-9A96-CEE7EE7EF209}"/>
              </a:ext>
            </a:extLst>
          </p:cNvPr>
          <p:cNvSpPr>
            <a:spLocks xmlns:a="http://schemas.openxmlformats.org/drawingml/2006/main" noGrp="1"/>
          </p:cNvSpPr>
          <p:nvPr/>
        </p:nvSpPr>
        <p:spPr>
          <a:xfrm xmlns:a="http://schemas.openxmlformats.org/drawingml/2006/main">
            <a:off x="1152525" y="3619500"/>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State the operating question</a:t>
            </a:r>
          </a:p>
        </p:txBody>
      </p:sp>
      <p:sp>
        <p:nvSpPr>
          <p:cNvPr id="11" name="">
            <a:extLst xmlns:a="http://schemas.openxmlformats.org/drawingml/2006/main">
              <a:ext uri="{FF2B5EF4-FFF2-40B4-BE49-F238E27FC236}">
                <a16:creationId xmlns:a16="http://schemas.microsoft.com/office/drawing/2014/main" id="{39503324-81EF-4911-8661-FE2E011E506A}"/>
              </a:ext>
            </a:extLst>
          </p:cNvPr>
          <p:cNvSpPr>
            <a:spLocks xmlns:a="http://schemas.openxmlformats.org/drawingml/2006/main" noGrp="1"/>
          </p:cNvSpPr>
          <p:nvPr/>
        </p:nvSpPr>
        <p:spPr>
          <a:xfrm xmlns:a="http://schemas.openxmlformats.org/drawingml/2006/main">
            <a:off x="904875" y="43434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88645AC-DCF9-499D-8DD2-6104EC410C9F}"/>
              </a:ext>
            </a:extLst>
          </p:cNvPr>
          <p:cNvSpPr>
            <a:spLocks xmlns:a="http://schemas.openxmlformats.org/drawingml/2006/main" noGrp="1"/>
          </p:cNvSpPr>
          <p:nvPr/>
        </p:nvSpPr>
        <p:spPr>
          <a:xfrm xmlns:a="http://schemas.openxmlformats.org/drawingml/2006/main">
            <a:off x="1152525" y="4143375"/>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Ask for one prediction</a:t>
            </a:r>
          </a:p>
        </p:txBody>
      </p:sp>
      <p:sp>
        <p:nvSpPr>
          <p:cNvPr id="13" name="">
            <a:extLst xmlns:a="http://schemas.openxmlformats.org/drawingml/2006/main">
              <a:ext uri="{FF2B5EF4-FFF2-40B4-BE49-F238E27FC236}">
                <a16:creationId xmlns:a16="http://schemas.microsoft.com/office/drawing/2014/main" id="{44C620A9-7908-467E-BA65-F750793CC32D}"/>
              </a:ext>
            </a:extLst>
          </p:cNvPr>
          <p:cNvSpPr>
            <a:spLocks xmlns:a="http://schemas.openxmlformats.org/drawingml/2006/main" noGrp="1"/>
          </p:cNvSpPr>
          <p:nvPr/>
        </p:nvSpPr>
        <p:spPr>
          <a:xfrm xmlns:a="http://schemas.openxmlformats.org/drawingml/2006/main">
            <a:off x="904875" y="48672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C8A68F-C6B9-4322-892C-F17B80952860}"/>
              </a:ext>
            </a:extLst>
          </p:cNvPr>
          <p:cNvSpPr>
            <a:spLocks xmlns:a="http://schemas.openxmlformats.org/drawingml/2006/main" noGrp="1"/>
          </p:cNvSpPr>
          <p:nvPr/>
        </p:nvSpPr>
        <p:spPr>
          <a:xfrm xmlns:a="http://schemas.openxmlformats.org/drawingml/2006/main">
            <a:off x="1152525" y="4667250"/>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Run one command at a time</a:t>
            </a:r>
          </a:p>
        </p:txBody>
      </p:sp>
      <p:sp>
        <p:nvSpPr>
          <p:cNvPr id="15" name="">
            <a:extLst xmlns:a="http://schemas.openxmlformats.org/drawingml/2006/main">
              <a:ext uri="{FF2B5EF4-FFF2-40B4-BE49-F238E27FC236}">
                <a16:creationId xmlns:a16="http://schemas.microsoft.com/office/drawing/2014/main" id="{E0D977F3-0501-4036-ACEE-11495C6BCFFB}"/>
              </a:ext>
            </a:extLst>
          </p:cNvPr>
          <p:cNvSpPr>
            <a:spLocks xmlns:a="http://schemas.openxmlformats.org/drawingml/2006/main" noGrp="1"/>
          </p:cNvSpPr>
          <p:nvPr/>
        </p:nvSpPr>
        <p:spPr>
          <a:xfrm xmlns:a="http://schemas.openxmlformats.org/drawingml/2006/main">
            <a:off x="904875" y="539115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5F696977-80EB-4456-ABBC-41D954C0C70E}"/>
              </a:ext>
            </a:extLst>
          </p:cNvPr>
          <p:cNvSpPr>
            <a:spLocks xmlns:a="http://schemas.openxmlformats.org/drawingml/2006/main" noGrp="1"/>
          </p:cNvSpPr>
          <p:nvPr/>
        </p:nvSpPr>
        <p:spPr>
          <a:xfrm xmlns:a="http://schemas.openxmlformats.org/drawingml/2006/main">
            <a:off x="1152525" y="5191125"/>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Verify through a different interface</a:t>
            </a:r>
          </a:p>
        </p:txBody>
      </p:sp>
      <p:sp>
        <p:nvSpPr>
          <p:cNvPr id="17" name="">
            <a:extLst xmlns:a="http://schemas.openxmlformats.org/drawingml/2006/main">
              <a:ext uri="{FF2B5EF4-FFF2-40B4-BE49-F238E27FC236}">
                <a16:creationId xmlns:a16="http://schemas.microsoft.com/office/drawing/2014/main" id="{1A197D07-9754-4A70-A296-D7F81087D60F}"/>
              </a:ext>
            </a:extLst>
          </p:cNvPr>
          <p:cNvSpPr>
            <a:spLocks xmlns:a="http://schemas.openxmlformats.org/drawingml/2006/main" noGrp="1"/>
          </p:cNvSpPr>
          <p:nvPr/>
        </p:nvSpPr>
        <p:spPr>
          <a:xfrm xmlns:a="http://schemas.openxmlformats.org/drawingml/2006/main">
            <a:off x="904875" y="5886450"/>
            <a:ext cx="962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00" b="1">
                <a:solidFill>
                  <a:srgbClr val="71D6B3"/>
                </a:solidFill>
              </a:defRPr>
            </a:pPr>
            <a:r>
              <a:rPr sz="1200" b="1">
                <a:solidFill>
                  <a:srgbClr val="71D6B3"/>
                </a:solidFill>
              </a:rPr>
              <a:t>Instructor seat only · predict before typing · verify through another interface</a:t>
            </a:r>
          </a:p>
        </p:txBody>
      </p:sp>
    </p:spTree>
    <p:extLst>
      <p:ext uri="{BB962C8B-B14F-4D97-AF65-F5344CB8AC3E}">
        <p14:creationId xmlns:p14="http://schemas.microsoft.com/office/powerpoint/2010/main" val="303724580"/>
      </p:ext>
    </p:extLst>
  </p:cSld>
</p:sld>
</file>

<file path=ppt/slides/slide94.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EA6DD89-EBE0-4C71-AC97-5DA528F3301F}"/>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C2B905F-862C-4997-A6BD-E4B1E1484F3C}"/>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9 · LAB READINESS</a:t>
            </a:r>
          </a:p>
        </p:txBody>
      </p:sp>
      <p:sp>
        <p:nvSpPr>
          <p:cNvPr id="3" name="">
            <a:extLst xmlns:a="http://schemas.openxmlformats.org/drawingml/2006/main">
              <a:ext uri="{FF2B5EF4-FFF2-40B4-BE49-F238E27FC236}">
                <a16:creationId xmlns:a16="http://schemas.microsoft.com/office/drawing/2014/main" id="{127AA43E-D8BE-4A2A-8E1F-4BEE2B692860}"/>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B7D94A89-617D-41E4-BD4D-AED1FD3379D6}"/>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94</a:t>
            </a:r>
          </a:p>
        </p:txBody>
      </p:sp>
      <p:sp>
        <p:nvSpPr>
          <p:cNvPr id="5" name="">
            <a:extLst xmlns:a="http://schemas.openxmlformats.org/drawingml/2006/main">
              <a:ext uri="{FF2B5EF4-FFF2-40B4-BE49-F238E27FC236}">
                <a16:creationId xmlns:a16="http://schemas.microsoft.com/office/drawing/2014/main" id="{86D7004B-8489-4267-9F0F-1CC6C0B7C2E4}"/>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Before Lab 9, you should be able to…</a:t>
            </a:r>
          </a:p>
        </p:txBody>
      </p:sp>
      <p:sp>
        <p:nvSpPr>
          <p:cNvPr id="6" name="">
            <a:extLst xmlns:a="http://schemas.openxmlformats.org/drawingml/2006/main">
              <a:ext uri="{FF2B5EF4-FFF2-40B4-BE49-F238E27FC236}">
                <a16:creationId xmlns:a16="http://schemas.microsoft.com/office/drawing/2014/main" id="{93F3B5C7-F753-4992-9C78-F7786D573611}"/>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If one item is unclear, revisit the model or worked example before opening the terminal.</a:t>
            </a:r>
          </a:p>
        </p:txBody>
      </p:sp>
      <p:sp>
        <p:nvSpPr>
          <p:cNvPr id="7" name="">
            <a:extLst xmlns:a="http://schemas.openxmlformats.org/drawingml/2006/main">
              <a:ext uri="{FF2B5EF4-FFF2-40B4-BE49-F238E27FC236}">
                <a16:creationId xmlns:a16="http://schemas.microsoft.com/office/drawing/2014/main" id="{734D876D-B4A2-4F2C-A0CF-ABC8ACCCC397}"/>
              </a:ext>
            </a:extLst>
          </p:cNvPr>
          <p:cNvSpPr>
            <a:spLocks xmlns:a="http://schemas.openxmlformats.org/drawingml/2006/main" noGrp="1"/>
          </p:cNvSpPr>
          <p:nvPr/>
        </p:nvSpPr>
        <p:spPr>
          <a:xfrm xmlns:a="http://schemas.openxmlformats.org/drawingml/2006/main">
            <a:off x="781050" y="29051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2DA20B9-512D-4279-A20F-38AB2764EA72}"/>
              </a:ext>
            </a:extLst>
          </p:cNvPr>
          <p:cNvSpPr>
            <a:spLocks xmlns:a="http://schemas.openxmlformats.org/drawingml/2006/main" noGrp="1"/>
          </p:cNvSpPr>
          <p:nvPr/>
        </p:nvSpPr>
        <p:spPr>
          <a:xfrm xmlns:a="http://schemas.openxmlformats.org/drawingml/2006/main">
            <a:off x="1028700" y="26479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Explain why a PID is temporary</a:t>
            </a:r>
          </a:p>
        </p:txBody>
      </p:sp>
      <p:sp>
        <p:nvSpPr>
          <p:cNvPr id="9" name="">
            <a:extLst xmlns:a="http://schemas.openxmlformats.org/drawingml/2006/main">
              <a:ext uri="{FF2B5EF4-FFF2-40B4-BE49-F238E27FC236}">
                <a16:creationId xmlns:a16="http://schemas.microsoft.com/office/drawing/2014/main" id="{89C872DD-76C1-4842-BF33-345C1F7DC011}"/>
              </a:ext>
            </a:extLst>
          </p:cNvPr>
          <p:cNvSpPr>
            <a:spLocks xmlns:a="http://schemas.openxmlformats.org/drawingml/2006/main" noGrp="1"/>
          </p:cNvSpPr>
          <p:nvPr/>
        </p:nvSpPr>
        <p:spPr>
          <a:xfrm xmlns:a="http://schemas.openxmlformats.org/drawingml/2006/main">
            <a:off x="781050" y="355282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1A4CF99-3074-4356-B957-E4F8BA99EF59}"/>
              </a:ext>
            </a:extLst>
          </p:cNvPr>
          <p:cNvSpPr>
            <a:spLocks xmlns:a="http://schemas.openxmlformats.org/drawingml/2006/main" noGrp="1"/>
          </p:cNvSpPr>
          <p:nvPr/>
        </p:nvSpPr>
        <p:spPr>
          <a:xfrm xmlns:a="http://schemas.openxmlformats.org/drawingml/2006/main">
            <a:off x="1028700" y="32956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Separate process, listener, and application evidence</a:t>
            </a:r>
          </a:p>
        </p:txBody>
      </p:sp>
      <p:sp>
        <p:nvSpPr>
          <p:cNvPr id="11" name="">
            <a:extLst xmlns:a="http://schemas.openxmlformats.org/drawingml/2006/main">
              <a:ext uri="{FF2B5EF4-FFF2-40B4-BE49-F238E27FC236}">
                <a16:creationId xmlns:a16="http://schemas.microsoft.com/office/drawing/2014/main" id="{8C8E939B-D60B-454C-A99C-F3D7EF1B10E0}"/>
              </a:ext>
            </a:extLst>
          </p:cNvPr>
          <p:cNvSpPr>
            <a:spLocks xmlns:a="http://schemas.openxmlformats.org/drawingml/2006/main" noGrp="1"/>
          </p:cNvSpPr>
          <p:nvPr/>
        </p:nvSpPr>
        <p:spPr>
          <a:xfrm xmlns:a="http://schemas.openxmlformats.org/drawingml/2006/main">
            <a:off x="781050" y="42005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556748A-E170-4778-9B03-0DE6A4EEF436}"/>
              </a:ext>
            </a:extLst>
          </p:cNvPr>
          <p:cNvSpPr>
            <a:spLocks xmlns:a="http://schemas.openxmlformats.org/drawingml/2006/main" noGrp="1"/>
          </p:cNvSpPr>
          <p:nvPr/>
        </p:nvSpPr>
        <p:spPr>
          <a:xfrm xmlns:a="http://schemas.openxmlformats.org/drawingml/2006/main">
            <a:off x="1028700" y="39433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Stop the service through its manager and verify every layer</a:t>
            </a:r>
          </a:p>
        </p:txBody>
      </p:sp>
    </p:spTree>
    <p:extLst>
      <p:ext uri="{BB962C8B-B14F-4D97-AF65-F5344CB8AC3E}">
        <p14:creationId xmlns:p14="http://schemas.microsoft.com/office/powerpoint/2010/main" val="1884833011"/>
      </p:ext>
    </p:extLst>
  </p:cSld>
</p:sld>
</file>

<file path=ppt/slides/slide95.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15F9E745-D567-4751-9539-8478773C4F55}"/>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2F0601D-DFE2-4270-AA77-1C39C58F72F7}"/>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HANDS-ON · LAB 9</a:t>
            </a:r>
          </a:p>
        </p:txBody>
      </p:sp>
      <p:sp>
        <p:nvSpPr>
          <p:cNvPr id="3" name="">
            <a:extLst xmlns:a="http://schemas.openxmlformats.org/drawingml/2006/main">
              <a:ext uri="{FF2B5EF4-FFF2-40B4-BE49-F238E27FC236}">
                <a16:creationId xmlns:a16="http://schemas.microsoft.com/office/drawing/2014/main" id="{E96E4C83-560D-4F6D-9F79-3C2065B0665B}"/>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6B73EB08-84BA-4AC3-8A77-AFB4671535C1}"/>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95</a:t>
            </a:r>
          </a:p>
        </p:txBody>
      </p:sp>
      <p:sp>
        <p:nvSpPr>
          <p:cNvPr id="5" name="">
            <a:extLst xmlns:a="http://schemas.openxmlformats.org/drawingml/2006/main">
              <a:ext uri="{FF2B5EF4-FFF2-40B4-BE49-F238E27FC236}">
                <a16:creationId xmlns:a16="http://schemas.microsoft.com/office/drawing/2014/main" id="{986A1F20-E62F-4B32-A199-AD76DAE80706}"/>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Processes, sockets, and client-visible behavior</a:t>
            </a:r>
          </a:p>
        </p:txBody>
      </p:sp>
      <p:sp>
        <p:nvSpPr>
          <p:cNvPr id="6" name="">
            <a:extLst xmlns:a="http://schemas.openxmlformats.org/drawingml/2006/main">
              <a:ext uri="{FF2B5EF4-FFF2-40B4-BE49-F238E27FC236}">
                <a16:creationId xmlns:a16="http://schemas.microsoft.com/office/drawing/2014/main" id="{BE430B58-4A05-45A9-BAAE-AF171969C356}"/>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Trace course-probe.service through unit, PID, user, command line, port 9099, and HTTP, then stop it and prove the listener is gone.</a:t>
            </a:r>
          </a:p>
        </p:txBody>
      </p:sp>
      <p:sp>
        <p:nvSpPr>
          <p:cNvPr id="7" name="">
            <a:extLst xmlns:a="http://schemas.openxmlformats.org/drawingml/2006/main">
              <a:ext uri="{FF2B5EF4-FFF2-40B4-BE49-F238E27FC236}">
                <a16:creationId xmlns:a16="http://schemas.microsoft.com/office/drawing/2014/main" id="{7B0148A5-D8F7-44EA-BDC4-D3D5D76A954D}"/>
              </a:ext>
            </a:extLst>
          </p:cNvPr>
          <p:cNvSpPr>
            <a:spLocks xmlns:a="http://schemas.openxmlformats.org/drawingml/2006/main" noGrp="1"/>
          </p:cNvSpPr>
          <p:nvPr/>
        </p:nvSpPr>
        <p:spPr>
          <a:xfrm xmlns:a="http://schemas.openxmlformats.org/drawingml/2006/main">
            <a:off x="514350" y="2457450"/>
            <a:ext cx="6762750" cy="2286000"/>
          </a:xfrm>
          <a:prstGeom xmlns:a="http://schemas.openxmlformats.org/drawingml/2006/main" prst="roundRect">
            <a:avLst>
              <a:gd name="adj" fmla="val 5000"/>
            </a:avLst>
          </a:prstGeom>
          <a:solidFill xmlns:a="http://schemas.openxmlformats.org/drawingml/2006/main">
            <a:srgbClr val="180D2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0D1AD6B-6810-4DE9-8CF9-50DF8CB3C153}"/>
              </a:ext>
            </a:extLst>
          </p:cNvPr>
          <p:cNvSpPr>
            <a:spLocks xmlns:a="http://schemas.openxmlformats.org/drawingml/2006/main" noGrp="1"/>
          </p:cNvSpPr>
          <p:nvPr/>
        </p:nvSpPr>
        <p:spPr>
          <a:xfrm xmlns:a="http://schemas.openxmlformats.org/drawingml/2006/main">
            <a:off x="781050" y="2647950"/>
            <a:ext cx="6238875" cy="1847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FFFFFF"/>
                </a:solidFill>
              </a:defRPr>
            </a:pPr>
            <a:r>
              <a:rPr sz="1650" b="0">
                <a:solidFill>
                  <a:srgbClr val="FFFFFF"/>
                </a:solidFill>
              </a:rPr>
              <a:t>Trace course-probe.service through unit, PID, user, command line, port 9099, and HTTP, then stop it and prove the listener is gone.</a:t>
            </a:r>
          </a:p>
        </p:txBody>
      </p:sp>
      <p:sp>
        <p:nvSpPr>
          <p:cNvPr id="9" name="">
            <a:extLst xmlns:a="http://schemas.openxmlformats.org/drawingml/2006/main">
              <a:ext uri="{FF2B5EF4-FFF2-40B4-BE49-F238E27FC236}">
                <a16:creationId xmlns:a16="http://schemas.microsoft.com/office/drawing/2014/main" id="{ABB864BF-749F-48D0-9322-097631594F6D}"/>
              </a:ext>
            </a:extLst>
          </p:cNvPr>
          <p:cNvSpPr>
            <a:spLocks xmlns:a="http://schemas.openxmlformats.org/drawingml/2006/main" noGrp="1"/>
          </p:cNvSpPr>
          <p:nvPr/>
        </p:nvSpPr>
        <p:spPr>
          <a:xfrm xmlns:a="http://schemas.openxmlformats.org/drawingml/2006/main">
            <a:off x="7762875" y="26955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427045B-8E24-44D3-99EB-1420A967FC79}"/>
              </a:ext>
            </a:extLst>
          </p:cNvPr>
          <p:cNvSpPr>
            <a:spLocks xmlns:a="http://schemas.openxmlformats.org/drawingml/2006/main" noGrp="1"/>
          </p:cNvSpPr>
          <p:nvPr/>
        </p:nvSpPr>
        <p:spPr>
          <a:xfrm xmlns:a="http://schemas.openxmlformats.org/drawingml/2006/main">
            <a:off x="8010525" y="24765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15 minutes</a:t>
            </a:r>
          </a:p>
        </p:txBody>
      </p:sp>
      <p:sp>
        <p:nvSpPr>
          <p:cNvPr id="11" name="">
            <a:extLst xmlns:a="http://schemas.openxmlformats.org/drawingml/2006/main">
              <a:ext uri="{FF2B5EF4-FFF2-40B4-BE49-F238E27FC236}">
                <a16:creationId xmlns:a16="http://schemas.microsoft.com/office/drawing/2014/main" id="{3D470EFA-7650-439F-B950-C775FC3E911A}"/>
              </a:ext>
            </a:extLst>
          </p:cNvPr>
          <p:cNvSpPr>
            <a:spLocks xmlns:a="http://schemas.openxmlformats.org/drawingml/2006/main" noGrp="1"/>
          </p:cNvSpPr>
          <p:nvPr/>
        </p:nvSpPr>
        <p:spPr>
          <a:xfrm xmlns:a="http://schemas.openxmlformats.org/drawingml/2006/main">
            <a:off x="7762875" y="32670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D388DAB-08A5-4CF6-9227-5C5FE5307D7E}"/>
              </a:ext>
            </a:extLst>
          </p:cNvPr>
          <p:cNvSpPr>
            <a:spLocks xmlns:a="http://schemas.openxmlformats.org/drawingml/2006/main" noGrp="1"/>
          </p:cNvSpPr>
          <p:nvPr/>
        </p:nvSpPr>
        <p:spPr>
          <a:xfrm xmlns:a="http://schemas.openxmlformats.org/drawingml/2006/main">
            <a:off x="8010525" y="30480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Prepare/reset only this lab</a:t>
            </a:r>
          </a:p>
        </p:txBody>
      </p:sp>
      <p:sp>
        <p:nvSpPr>
          <p:cNvPr id="13" name="">
            <a:extLst xmlns:a="http://schemas.openxmlformats.org/drawingml/2006/main">
              <a:ext uri="{FF2B5EF4-FFF2-40B4-BE49-F238E27FC236}">
                <a16:creationId xmlns:a16="http://schemas.microsoft.com/office/drawing/2014/main" id="{393F6FEF-CE63-4909-BB37-D52704BBBF6B}"/>
              </a:ext>
            </a:extLst>
          </p:cNvPr>
          <p:cNvSpPr>
            <a:spLocks xmlns:a="http://schemas.openxmlformats.org/drawingml/2006/main" noGrp="1"/>
          </p:cNvSpPr>
          <p:nvPr/>
        </p:nvSpPr>
        <p:spPr>
          <a:xfrm xmlns:a="http://schemas.openxmlformats.org/drawingml/2006/main">
            <a:off x="7762875" y="38385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1804713-D138-4C49-AA5C-5C2873AAD960}"/>
              </a:ext>
            </a:extLst>
          </p:cNvPr>
          <p:cNvSpPr>
            <a:spLocks xmlns:a="http://schemas.openxmlformats.org/drawingml/2006/main" noGrp="1"/>
          </p:cNvSpPr>
          <p:nvPr/>
        </p:nvSpPr>
        <p:spPr>
          <a:xfrm xmlns:a="http://schemas.openxmlformats.org/drawingml/2006/main">
            <a:off x="8010525" y="36195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Check observable state</a:t>
            </a:r>
          </a:p>
        </p:txBody>
      </p:sp>
      <p:sp>
        <p:nvSpPr>
          <p:cNvPr id="15" name="">
            <a:extLst xmlns:a="http://schemas.openxmlformats.org/drawingml/2006/main">
              <a:ext uri="{FF2B5EF4-FFF2-40B4-BE49-F238E27FC236}">
                <a16:creationId xmlns:a16="http://schemas.microsoft.com/office/drawing/2014/main" id="{7883D0B7-F7B8-475F-A83C-F5027EC8F3FE}"/>
              </a:ext>
            </a:extLst>
          </p:cNvPr>
          <p:cNvSpPr>
            <a:spLocks xmlns:a="http://schemas.openxmlformats.org/drawingml/2006/main" noGrp="1"/>
          </p:cNvSpPr>
          <p:nvPr/>
        </p:nvSpPr>
        <p:spPr>
          <a:xfrm xmlns:a="http://schemas.openxmlformats.org/drawingml/2006/main">
            <a:off x="7762875" y="44100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4164DC7E-88FF-4E0B-9CCD-B9F45DEF4E18}"/>
              </a:ext>
            </a:extLst>
          </p:cNvPr>
          <p:cNvSpPr>
            <a:spLocks xmlns:a="http://schemas.openxmlformats.org/drawingml/2006/main" noGrp="1"/>
          </p:cNvSpPr>
          <p:nvPr/>
        </p:nvSpPr>
        <p:spPr>
          <a:xfrm xmlns:a="http://schemas.openxmlformats.org/drawingml/2006/main">
            <a:off x="8010525" y="41910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Explain why the result follows</a:t>
            </a:r>
          </a:p>
        </p:txBody>
      </p:sp>
      <p:sp>
        <p:nvSpPr>
          <p:cNvPr id="17" name="">
            <a:extLst xmlns:a="http://schemas.openxmlformats.org/drawingml/2006/main">
              <a:ext uri="{FF2B5EF4-FFF2-40B4-BE49-F238E27FC236}">
                <a16:creationId xmlns:a16="http://schemas.microsoft.com/office/drawing/2014/main" id="{0F9B7503-F831-40D4-85B0-53B2B7146AD8}"/>
              </a:ext>
            </a:extLst>
          </p:cNvPr>
          <p:cNvSpPr>
            <a:spLocks xmlns:a="http://schemas.openxmlformats.org/drawingml/2006/main" noGrp="1"/>
          </p:cNvSpPr>
          <p:nvPr/>
        </p:nvSpPr>
        <p:spPr>
          <a:xfrm xmlns:a="http://schemas.openxmlformats.org/drawingml/2006/main">
            <a:off x="514350" y="5391150"/>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350" b="1">
                <a:solidFill>
                  <a:srgbClr val="7650F8"/>
                </a:solidFill>
              </a:defRPr>
            </a:pPr>
            <a:r>
              <a:rPr sz="1350" b="1">
                <a:solidFill>
                  <a:srgbClr val="7650F8"/>
                </a:solidFill>
              </a:rPr>
              <a:t>Open the lab guide for exact tasks, hints, recovery, and checker criteria.</a:t>
            </a:r>
          </a:p>
        </p:txBody>
      </p:sp>
    </p:spTree>
    <p:extLst>
      <p:ext uri="{BB962C8B-B14F-4D97-AF65-F5344CB8AC3E}">
        <p14:creationId xmlns:p14="http://schemas.microsoft.com/office/powerpoint/2010/main" val="1251771473"/>
      </p:ext>
    </p:extLst>
  </p:cSld>
</p:sld>
</file>

<file path=ppt/slides/slide96.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B1194263-0E34-4A61-B83F-62E501294BBF}"/>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07E9386-E333-422D-B804-987934157FF7}"/>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9 · DEBRIEF</a:t>
            </a:r>
          </a:p>
        </p:txBody>
      </p:sp>
      <p:sp>
        <p:nvSpPr>
          <p:cNvPr id="3" name="">
            <a:extLst xmlns:a="http://schemas.openxmlformats.org/drawingml/2006/main">
              <a:ext uri="{FF2B5EF4-FFF2-40B4-BE49-F238E27FC236}">
                <a16:creationId xmlns:a16="http://schemas.microsoft.com/office/drawing/2014/main" id="{B64DC267-3966-44F0-ADA7-849BF369127A}"/>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E77BE851-53EC-4351-8363-C821231677E2}"/>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96</a:t>
            </a:r>
          </a:p>
        </p:txBody>
      </p:sp>
      <p:sp>
        <p:nvSpPr>
          <p:cNvPr id="5" name="">
            <a:extLst xmlns:a="http://schemas.openxmlformats.org/drawingml/2006/main">
              <a:ext uri="{FF2B5EF4-FFF2-40B4-BE49-F238E27FC236}">
                <a16:creationId xmlns:a16="http://schemas.microsoft.com/office/drawing/2014/main" id="{777F3FF8-8CED-40CF-89B7-79FFF1D18A03}"/>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Connect the result to the model</a:t>
            </a:r>
          </a:p>
        </p:txBody>
      </p:sp>
      <p:sp>
        <p:nvSpPr>
          <p:cNvPr id="6" name="">
            <a:extLst xmlns:a="http://schemas.openxmlformats.org/drawingml/2006/main">
              <a:ext uri="{FF2B5EF4-FFF2-40B4-BE49-F238E27FC236}">
                <a16:creationId xmlns:a16="http://schemas.microsoft.com/office/drawing/2014/main" id="{A7110D86-8C74-4E0E-AAAC-FE382A98E1C6}"/>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No single interface proves the whole service. Next, unit layering will make a configuration change without editing the supplied fragment.</a:t>
            </a:r>
          </a:p>
        </p:txBody>
      </p:sp>
      <p:sp>
        <p:nvSpPr>
          <p:cNvPr id="7" name="">
            <a:extLst xmlns:a="http://schemas.openxmlformats.org/drawingml/2006/main">
              <a:ext uri="{FF2B5EF4-FFF2-40B4-BE49-F238E27FC236}">
                <a16:creationId xmlns:a16="http://schemas.microsoft.com/office/drawing/2014/main" id="{1F3215DF-9F0E-4E6D-95C6-E292CE1E72B3}"/>
              </a:ext>
            </a:extLst>
          </p:cNvPr>
          <p:cNvSpPr>
            <a:spLocks xmlns:a="http://schemas.openxmlformats.org/drawingml/2006/main" noGrp="1"/>
          </p:cNvSpPr>
          <p:nvPr/>
        </p:nvSpPr>
        <p:spPr>
          <a:xfrm xmlns:a="http://schemas.openxmlformats.org/drawingml/2006/main">
            <a:off x="514350" y="2524125"/>
            <a:ext cx="10668000" cy="1219200"/>
          </a:xfrm>
          <a:prstGeom xmlns:a="http://schemas.openxmlformats.org/drawingml/2006/main" prst="roundRect">
            <a:avLst>
              <a:gd name="adj" fmla="val 9375"/>
            </a:avLst>
          </a:prstGeom>
          <a:solidFill xmlns:a="http://schemas.openxmlformats.org/drawingml/2006/main">
            <a:srgbClr val="F0E7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7754D9B-001E-4A8B-BBF8-AE4CB8C1F906}"/>
              </a:ext>
            </a:extLst>
          </p:cNvPr>
          <p:cNvSpPr>
            <a:spLocks xmlns:a="http://schemas.openxmlformats.org/drawingml/2006/main" noGrp="1"/>
          </p:cNvSpPr>
          <p:nvPr/>
        </p:nvSpPr>
        <p:spPr>
          <a:xfrm xmlns:a="http://schemas.openxmlformats.org/drawingml/2006/main">
            <a:off x="762000" y="2686050"/>
            <a:ext cx="10191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1">
                <a:solidFill>
                  <a:srgbClr val="211729"/>
                </a:solidFill>
              </a:defRPr>
            </a:pPr>
            <a:r>
              <a:rPr sz="1725" b="1">
                <a:solidFill>
                  <a:srgbClr val="211729"/>
                </a:solidFill>
              </a:rPr>
              <a:t>No single interface proves the whole service. Next, unit layering will make a configuration change without editing the supplied fragment.</a:t>
            </a:r>
          </a:p>
        </p:txBody>
      </p:sp>
      <p:sp>
        <p:nvSpPr>
          <p:cNvPr id="9" name="">
            <a:extLst xmlns:a="http://schemas.openxmlformats.org/drawingml/2006/main">
              <a:ext uri="{FF2B5EF4-FFF2-40B4-BE49-F238E27FC236}">
                <a16:creationId xmlns:a16="http://schemas.microsoft.com/office/drawing/2014/main" id="{B3E49E4E-0920-4A21-8E8D-26D127023620}"/>
              </a:ext>
            </a:extLst>
          </p:cNvPr>
          <p:cNvSpPr>
            <a:spLocks xmlns:a="http://schemas.openxmlformats.org/drawingml/2006/main" noGrp="1"/>
          </p:cNvSpPr>
          <p:nvPr/>
        </p:nvSpPr>
        <p:spPr>
          <a:xfrm xmlns:a="http://schemas.openxmlformats.org/drawingml/2006/main">
            <a:off x="762000" y="43243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49767B6-D8BD-4B17-8F32-08F70106B691}"/>
              </a:ext>
            </a:extLst>
          </p:cNvPr>
          <p:cNvSpPr>
            <a:spLocks xmlns:a="http://schemas.openxmlformats.org/drawingml/2006/main" noGrp="1"/>
          </p:cNvSpPr>
          <p:nvPr/>
        </p:nvSpPr>
        <p:spPr>
          <a:xfrm xmlns:a="http://schemas.openxmlformats.org/drawingml/2006/main">
            <a:off x="1009650" y="4095750"/>
            <a:ext cx="9658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What was declared or expected?</a:t>
            </a:r>
          </a:p>
        </p:txBody>
      </p:sp>
      <p:sp>
        <p:nvSpPr>
          <p:cNvPr id="11" name="">
            <a:extLst xmlns:a="http://schemas.openxmlformats.org/drawingml/2006/main">
              <a:ext uri="{FF2B5EF4-FFF2-40B4-BE49-F238E27FC236}">
                <a16:creationId xmlns:a16="http://schemas.microsoft.com/office/drawing/2014/main" id="{E24128D3-2725-40C8-A47E-3EB4B5FFDBD3}"/>
              </a:ext>
            </a:extLst>
          </p:cNvPr>
          <p:cNvSpPr>
            <a:spLocks xmlns:a="http://schemas.openxmlformats.org/drawingml/2006/main" noGrp="1"/>
          </p:cNvSpPr>
          <p:nvPr/>
        </p:nvSpPr>
        <p:spPr>
          <a:xfrm xmlns:a="http://schemas.openxmlformats.org/drawingml/2006/main">
            <a:off x="762000" y="49149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A642A48-EB83-4A85-895E-2C9B44CFA376}"/>
              </a:ext>
            </a:extLst>
          </p:cNvPr>
          <p:cNvSpPr>
            <a:spLocks xmlns:a="http://schemas.openxmlformats.org/drawingml/2006/main" noGrp="1"/>
          </p:cNvSpPr>
          <p:nvPr/>
        </p:nvSpPr>
        <p:spPr>
          <a:xfrm xmlns:a="http://schemas.openxmlformats.org/drawingml/2006/main">
            <a:off x="1009650" y="4686300"/>
            <a:ext cx="9658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What runtime state did you observe?</a:t>
            </a:r>
          </a:p>
        </p:txBody>
      </p:sp>
      <p:sp>
        <p:nvSpPr>
          <p:cNvPr id="13" name="">
            <a:extLst xmlns:a="http://schemas.openxmlformats.org/drawingml/2006/main">
              <a:ext uri="{FF2B5EF4-FFF2-40B4-BE49-F238E27FC236}">
                <a16:creationId xmlns:a16="http://schemas.microsoft.com/office/drawing/2014/main" id="{614B86B9-49BE-4518-AAC8-2BA0F85AF1C0}"/>
              </a:ext>
            </a:extLst>
          </p:cNvPr>
          <p:cNvSpPr>
            <a:spLocks xmlns:a="http://schemas.openxmlformats.org/drawingml/2006/main" noGrp="1"/>
          </p:cNvSpPr>
          <p:nvPr/>
        </p:nvSpPr>
        <p:spPr>
          <a:xfrm xmlns:a="http://schemas.openxmlformats.org/drawingml/2006/main">
            <a:off x="762000" y="55054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DBB19A7-FBF9-4FDF-B22A-817A7B9AB762}"/>
              </a:ext>
            </a:extLst>
          </p:cNvPr>
          <p:cNvSpPr>
            <a:spLocks xmlns:a="http://schemas.openxmlformats.org/drawingml/2006/main" noGrp="1"/>
          </p:cNvSpPr>
          <p:nvPr/>
        </p:nvSpPr>
        <p:spPr>
          <a:xfrm xmlns:a="http://schemas.openxmlformats.org/drawingml/2006/main">
            <a:off x="1009650" y="5276850"/>
            <a:ext cx="9658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Which independent evidence closed the claim?</a:t>
            </a:r>
          </a:p>
        </p:txBody>
      </p:sp>
    </p:spTree>
    <p:extLst>
      <p:ext uri="{BB962C8B-B14F-4D97-AF65-F5344CB8AC3E}">
        <p14:creationId xmlns:p14="http://schemas.microsoft.com/office/powerpoint/2010/main" val="639289145"/>
      </p:ext>
    </p:extLst>
  </p:cSld>
</p:sld>
</file>

<file path=ppt/slides/slide97.xml><?xml version="1.0" encoding="utf-8"?>
<p:sld xmlns:p="http://schemas.openxmlformats.org/presentationml/2006/main">
  <p:cSld>
    <p:bg>
      <p:bgPr>
        <a:solidFill xmlns:a="http://schemas.openxmlformats.org/drawingml/2006/main">
          <a:srgbClr val="180D2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A95BAB7-07B5-44F9-BAF4-6A1ABB3DA88F}"/>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FF6F6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2032E93-14DA-4D78-826C-C15C3CF47BC7}"/>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FF6F61"/>
                </a:solidFill>
              </a:defRPr>
            </a:pPr>
            <a:r>
              <a:rPr sz="900" b="1">
                <a:solidFill>
                  <a:srgbClr val="FF6F61"/>
                </a:solidFill>
              </a:rPr>
              <a:t>MODULE 10</a:t>
            </a:r>
          </a:p>
        </p:txBody>
      </p:sp>
      <p:sp>
        <p:nvSpPr>
          <p:cNvPr id="3" name="">
            <a:extLst xmlns:a="http://schemas.openxmlformats.org/drawingml/2006/main">
              <a:ext uri="{FF2B5EF4-FFF2-40B4-BE49-F238E27FC236}">
                <a16:creationId xmlns:a16="http://schemas.microsoft.com/office/drawing/2014/main" id="{847152CD-FEEB-463A-9961-197594C69AAC}"/>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CFC5D5"/>
                </a:solidFill>
              </a:defRPr>
            </a:pPr>
            <a:r>
              <a:rPr sz="825" b="1">
                <a:solidFill>
                  <a:srgbClr val="CFC5D5"/>
                </a:solidFill>
              </a:rPr>
              <a:t>LINUX FOUNDATIONS</a:t>
            </a:r>
          </a:p>
        </p:txBody>
      </p:sp>
      <p:sp>
        <p:nvSpPr>
          <p:cNvPr id="4" name="">
            <a:extLst xmlns:a="http://schemas.openxmlformats.org/drawingml/2006/main">
              <a:ext uri="{FF2B5EF4-FFF2-40B4-BE49-F238E27FC236}">
                <a16:creationId xmlns:a16="http://schemas.microsoft.com/office/drawing/2014/main" id="{1D6AE864-FB8D-47F1-8020-5863CB40F9F1}"/>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AFA2B8"/>
                </a:solidFill>
              </a:defRPr>
            </a:pPr>
            <a:r>
              <a:rPr sz="825" b="0">
                <a:solidFill>
                  <a:srgbClr val="AFA2B8"/>
                </a:solidFill>
              </a:rPr>
              <a:t>97</a:t>
            </a:r>
          </a:p>
        </p:txBody>
      </p:sp>
      <p:sp>
        <p:nvSpPr>
          <p:cNvPr id="5" name="">
            <a:extLst xmlns:a="http://schemas.openxmlformats.org/drawingml/2006/main">
              <a:ext uri="{FF2B5EF4-FFF2-40B4-BE49-F238E27FC236}">
                <a16:creationId xmlns:a16="http://schemas.microsoft.com/office/drawing/2014/main" id="{8B99CF1C-1829-4046-B926-835491804A5A}"/>
              </a:ext>
            </a:extLst>
          </p:cNvPr>
          <p:cNvSpPr>
            <a:spLocks xmlns:a="http://schemas.openxmlformats.org/drawingml/2006/main" noGrp="1"/>
          </p:cNvSpPr>
          <p:nvPr/>
        </p:nvSpPr>
        <p:spPr>
          <a:xfrm xmlns:a="http://schemas.openxmlformats.org/drawingml/2006/main">
            <a:off x="666750" y="1123950"/>
            <a:ext cx="1524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5400" b="1">
                <a:solidFill>
                  <a:srgbClr val="FF6F61"/>
                </a:solidFill>
              </a:defRPr>
            </a:pPr>
            <a:r>
              <a:rPr sz="5400" b="1">
                <a:solidFill>
                  <a:srgbClr val="FF6F61"/>
                </a:solidFill>
              </a:rPr>
              <a:t>010</a:t>
            </a:r>
          </a:p>
        </p:txBody>
      </p:sp>
      <p:sp>
        <p:nvSpPr>
          <p:cNvPr id="6" name="">
            <a:extLst xmlns:a="http://schemas.openxmlformats.org/drawingml/2006/main">
              <a:ext uri="{FF2B5EF4-FFF2-40B4-BE49-F238E27FC236}">
                <a16:creationId xmlns:a16="http://schemas.microsoft.com/office/drawing/2014/main" id="{31D6EE88-8278-4310-8E90-BCFB726C42BB}"/>
              </a:ext>
            </a:extLst>
          </p:cNvPr>
          <p:cNvSpPr>
            <a:spLocks xmlns:a="http://schemas.openxmlformats.org/drawingml/2006/main" noGrp="1"/>
          </p:cNvSpPr>
          <p:nvPr/>
        </p:nvSpPr>
        <p:spPr>
          <a:xfrm xmlns:a="http://schemas.openxmlformats.org/drawingml/2006/main">
            <a:off x="2381250" y="1123950"/>
            <a:ext cx="8096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3150" b="1">
                <a:solidFill>
                  <a:srgbClr val="FFFFFF"/>
                </a:solidFill>
              </a:defRPr>
            </a:pPr>
            <a:r>
              <a:rPr sz="3150" b="1">
                <a:solidFill>
                  <a:srgbClr val="FFFFFF"/>
                </a:solidFill>
              </a:rPr>
              <a:t>Unit layering, drop-ins, reloads, and durable changes</a:t>
            </a:r>
          </a:p>
        </p:txBody>
      </p:sp>
      <p:sp>
        <p:nvSpPr>
          <p:cNvPr id="7" name="">
            <a:extLst xmlns:a="http://schemas.openxmlformats.org/drawingml/2006/main">
              <a:ext uri="{FF2B5EF4-FFF2-40B4-BE49-F238E27FC236}">
                <a16:creationId xmlns:a16="http://schemas.microsoft.com/office/drawing/2014/main" id="{807D47FA-B2CB-4E1C-B7C9-00C6AB4A5B0A}"/>
              </a:ext>
            </a:extLst>
          </p:cNvPr>
          <p:cNvSpPr>
            <a:spLocks xmlns:a="http://schemas.openxmlformats.org/drawingml/2006/main" noGrp="1"/>
          </p:cNvSpPr>
          <p:nvPr/>
        </p:nvSpPr>
        <p:spPr>
          <a:xfrm xmlns:a="http://schemas.openxmlformats.org/drawingml/2006/main">
            <a:off x="2381250" y="2400300"/>
            <a:ext cx="7810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950" b="0">
                <a:solidFill>
                  <a:srgbClr val="E9DFED"/>
                </a:solidFill>
              </a:defRPr>
            </a:pPr>
            <a:r>
              <a:rPr sz="1950" b="0">
                <a:solidFill>
                  <a:srgbClr val="E9DFED"/>
                </a:solidFill>
              </a:rPr>
              <a:t>How can an administrator override a unit without forking the vendor file?</a:t>
            </a:r>
          </a:p>
        </p:txBody>
      </p:sp>
      <p:sp>
        <p:nvSpPr>
          <p:cNvPr id="8" name="">
            <a:extLst xmlns:a="http://schemas.openxmlformats.org/drawingml/2006/main">
              <a:ext uri="{FF2B5EF4-FFF2-40B4-BE49-F238E27FC236}">
                <a16:creationId xmlns:a16="http://schemas.microsoft.com/office/drawing/2014/main" id="{7235022F-C229-4E35-AE76-C70DBB44FDAC}"/>
              </a:ext>
            </a:extLst>
          </p:cNvPr>
          <p:cNvSpPr>
            <a:spLocks xmlns:a="http://schemas.openxmlformats.org/drawingml/2006/main" noGrp="1"/>
          </p:cNvSpPr>
          <p:nvPr/>
        </p:nvSpPr>
        <p:spPr>
          <a:xfrm xmlns:a="http://schemas.openxmlformats.org/drawingml/2006/main">
            <a:off x="2381250" y="3790950"/>
            <a:ext cx="6858000" cy="381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60F2153F-95F0-4B3B-A0A1-5258A3A22785}"/>
              </a:ext>
            </a:extLst>
          </p:cNvPr>
          <p:cNvSpPr>
            <a:spLocks xmlns:a="http://schemas.openxmlformats.org/drawingml/2006/main" noGrp="1"/>
          </p:cNvSpPr>
          <p:nvPr/>
        </p:nvSpPr>
        <p:spPr>
          <a:xfrm xmlns:a="http://schemas.openxmlformats.org/drawingml/2006/main">
            <a:off x="2381250" y="4000500"/>
            <a:ext cx="685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75" b="0">
                <a:solidFill>
                  <a:srgbClr val="BFB1C7"/>
                </a:solidFill>
              </a:defRPr>
            </a:pPr>
            <a:r>
              <a:rPr sz="1275" b="0">
                <a:solidFill>
                  <a:srgbClr val="BFB1C7"/>
                </a:solidFill>
              </a:rPr>
              <a:t>systemd unit layering · Ubuntu 24.04</a:t>
            </a:r>
          </a:p>
        </p:txBody>
      </p:sp>
    </p:spTree>
    <p:extLst>
      <p:ext uri="{BB962C8B-B14F-4D97-AF65-F5344CB8AC3E}">
        <p14:creationId xmlns:p14="http://schemas.microsoft.com/office/powerpoint/2010/main" val="1912084026"/>
      </p:ext>
    </p:extLst>
  </p:cSld>
</p:sld>
</file>

<file path=ppt/slides/slide98.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67D6067-2604-44E3-B39C-4237B47980F6}"/>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B0F89BB-ADCA-4D80-9589-19964AA65FC6}"/>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10 · MODEL</a:t>
            </a:r>
          </a:p>
        </p:txBody>
      </p:sp>
      <p:sp>
        <p:nvSpPr>
          <p:cNvPr id="3" name="">
            <a:extLst xmlns:a="http://schemas.openxmlformats.org/drawingml/2006/main">
              <a:ext uri="{FF2B5EF4-FFF2-40B4-BE49-F238E27FC236}">
                <a16:creationId xmlns:a16="http://schemas.microsoft.com/office/drawing/2014/main" id="{2070D7DD-260F-4790-9876-B9967FB4AE47}"/>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C915983B-66E3-44FE-B0B6-7D9AEF1139E5}"/>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98</a:t>
            </a:r>
          </a:p>
        </p:txBody>
      </p:sp>
      <p:sp>
        <p:nvSpPr>
          <p:cNvPr id="5" name="">
            <a:extLst xmlns:a="http://schemas.openxmlformats.org/drawingml/2006/main">
              <a:ext uri="{FF2B5EF4-FFF2-40B4-BE49-F238E27FC236}">
                <a16:creationId xmlns:a16="http://schemas.microsoft.com/office/drawing/2014/main" id="{89BE9BEC-1938-4DD1-9836-410A91AD6BFE}"/>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Effective unit configuration comes from layers</a:t>
            </a:r>
          </a:p>
        </p:txBody>
      </p:sp>
      <p:sp>
        <p:nvSpPr>
          <p:cNvPr id="6" name="">
            <a:extLst xmlns:a="http://schemas.openxmlformats.org/drawingml/2006/main">
              <a:ext uri="{FF2B5EF4-FFF2-40B4-BE49-F238E27FC236}">
                <a16:creationId xmlns:a16="http://schemas.microsoft.com/office/drawing/2014/main" id="{7824DE90-E620-4DB8-AA46-83BBCC023583}"/>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A drop-in records a narrow administrator override while preserving the supplied fragment for package updates and comparison. Some list-valued directives require explicit reset semantics.</a:t>
            </a:r>
          </a:p>
        </p:txBody>
      </p:sp>
      <p:sp>
        <p:nvSpPr>
          <p:cNvPr id="7" name="">
            <a:extLst xmlns:a="http://schemas.openxmlformats.org/drawingml/2006/main">
              <a:ext uri="{FF2B5EF4-FFF2-40B4-BE49-F238E27FC236}">
                <a16:creationId xmlns:a16="http://schemas.microsoft.com/office/drawing/2014/main" id="{0CB19B82-C014-4205-917B-AFA1A6CBE7FB}"/>
              </a:ext>
            </a:extLst>
          </p:cNvPr>
          <p:cNvSpPr>
            <a:spLocks xmlns:a="http://schemas.openxmlformats.org/drawingml/2006/main" noGrp="1"/>
          </p:cNvSpPr>
          <p:nvPr/>
        </p:nvSpPr>
        <p:spPr>
          <a:xfrm xmlns:a="http://schemas.openxmlformats.org/drawingml/2006/main">
            <a:off x="781050" y="31051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D0C6B16-9886-476A-8DF1-E82CCF1CAC0B}"/>
              </a:ext>
            </a:extLst>
          </p:cNvPr>
          <p:cNvSpPr>
            <a:spLocks xmlns:a="http://schemas.openxmlformats.org/drawingml/2006/main" noGrp="1"/>
          </p:cNvSpPr>
          <p:nvPr/>
        </p:nvSpPr>
        <p:spPr>
          <a:xfrm xmlns:a="http://schemas.openxmlformats.org/drawingml/2006/main">
            <a:off x="1028700" y="272415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systemd assembles effective configuration from vendor fragments, administrator units, and drop-ins according to load-path precedence.</a:t>
            </a:r>
          </a:p>
        </p:txBody>
      </p:sp>
      <p:sp>
        <p:nvSpPr>
          <p:cNvPr id="9" name="">
            <a:extLst xmlns:a="http://schemas.openxmlformats.org/drawingml/2006/main">
              <a:ext uri="{FF2B5EF4-FFF2-40B4-BE49-F238E27FC236}">
                <a16:creationId xmlns:a16="http://schemas.microsoft.com/office/drawing/2014/main" id="{819BAD83-6D17-4491-9CC6-7248FA06B822}"/>
              </a:ext>
            </a:extLst>
          </p:cNvPr>
          <p:cNvSpPr>
            <a:spLocks xmlns:a="http://schemas.openxmlformats.org/drawingml/2006/main" noGrp="1"/>
          </p:cNvSpPr>
          <p:nvPr/>
        </p:nvSpPr>
        <p:spPr>
          <a:xfrm xmlns:a="http://schemas.openxmlformats.org/drawingml/2006/main">
            <a:off x="781050" y="40005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C5B8232-D1D6-4811-B061-802E7D2B1572}"/>
              </a:ext>
            </a:extLst>
          </p:cNvPr>
          <p:cNvSpPr>
            <a:spLocks xmlns:a="http://schemas.openxmlformats.org/drawingml/2006/main" noGrp="1"/>
          </p:cNvSpPr>
          <p:nvPr/>
        </p:nvSpPr>
        <p:spPr>
          <a:xfrm xmlns:a="http://schemas.openxmlformats.org/drawingml/2006/main">
            <a:off x="1028700" y="361950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A drop-in records a narrow administrator override while preserving the supplied fragment for package updates and comparison. Some list-valued directives require explicit reset semantics.</a:t>
            </a:r>
          </a:p>
        </p:txBody>
      </p:sp>
    </p:spTree>
    <p:extLst>
      <p:ext uri="{BB962C8B-B14F-4D97-AF65-F5344CB8AC3E}">
        <p14:creationId xmlns:p14="http://schemas.microsoft.com/office/powerpoint/2010/main" val="1903434316"/>
      </p:ext>
    </p:extLst>
  </p:cSld>
</p:sld>
</file>

<file path=ppt/slides/slide99.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DFF8576-A74E-4120-A88E-E5A12AE796AA}"/>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C5E5508-E788-403F-8DD2-87C21102C58D}"/>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10 · MODEL</a:t>
            </a:r>
          </a:p>
        </p:txBody>
      </p:sp>
      <p:sp>
        <p:nvSpPr>
          <p:cNvPr id="3" name="">
            <a:extLst xmlns:a="http://schemas.openxmlformats.org/drawingml/2006/main">
              <a:ext uri="{FF2B5EF4-FFF2-40B4-BE49-F238E27FC236}">
                <a16:creationId xmlns:a16="http://schemas.microsoft.com/office/drawing/2014/main" id="{2120EE00-6D3C-4213-9166-9433F3997BBA}"/>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D234497A-332A-4146-9BAD-15F3E880B4F7}"/>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99</a:t>
            </a:r>
          </a:p>
        </p:txBody>
      </p:sp>
      <p:sp>
        <p:nvSpPr>
          <p:cNvPr id="5" name="">
            <a:extLst xmlns:a="http://schemas.openxmlformats.org/drawingml/2006/main">
              <a:ext uri="{FF2B5EF4-FFF2-40B4-BE49-F238E27FC236}">
                <a16:creationId xmlns:a16="http://schemas.microsoft.com/office/drawing/2014/main" id="{29052779-CAD6-478D-A87A-36FFECAD6EDC}"/>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Reloading definitions is not restarting a process</a:t>
            </a:r>
          </a:p>
        </p:txBody>
      </p:sp>
      <p:sp>
        <p:nvSpPr>
          <p:cNvPr id="6" name="">
            <a:extLst xmlns:a="http://schemas.openxmlformats.org/drawingml/2006/main">
              <a:ext uri="{FF2B5EF4-FFF2-40B4-BE49-F238E27FC236}">
                <a16:creationId xmlns:a16="http://schemas.microsoft.com/office/drawing/2014/main" id="{79B44CD3-B0CB-42C5-9729-87BCFB65C69A}"/>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Enabled state, active state, reloaded definitions, restarted processes, and observed behavior must be verified separately. Environment= is configuration, not a secret store.</a:t>
            </a:r>
          </a:p>
        </p:txBody>
      </p:sp>
      <p:sp>
        <p:nvSpPr>
          <p:cNvPr id="7" name="">
            <a:extLst xmlns:a="http://schemas.openxmlformats.org/drawingml/2006/main">
              <a:ext uri="{FF2B5EF4-FFF2-40B4-BE49-F238E27FC236}">
                <a16:creationId xmlns:a16="http://schemas.microsoft.com/office/drawing/2014/main" id="{780A6FDC-7C4B-4E59-BE9E-D5A502AAF932}"/>
              </a:ext>
            </a:extLst>
          </p:cNvPr>
          <p:cNvSpPr>
            <a:spLocks xmlns:a="http://schemas.openxmlformats.org/drawingml/2006/main" noGrp="1"/>
          </p:cNvSpPr>
          <p:nvPr/>
        </p:nvSpPr>
        <p:spPr>
          <a:xfrm xmlns:a="http://schemas.openxmlformats.org/drawingml/2006/main">
            <a:off x="781050" y="31051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6A3A017-52B0-42BD-9044-C70F382295B8}"/>
              </a:ext>
            </a:extLst>
          </p:cNvPr>
          <p:cNvSpPr>
            <a:spLocks xmlns:a="http://schemas.openxmlformats.org/drawingml/2006/main" noGrp="1"/>
          </p:cNvSpPr>
          <p:nvPr/>
        </p:nvSpPr>
        <p:spPr>
          <a:xfrm xmlns:a="http://schemas.openxmlformats.org/drawingml/2006/main">
            <a:off x="1028700" y="272415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daemon-reload makes the manager reread unit definitions; it does not change an already running process. restart creates a new execution with the effective settings.</a:t>
            </a:r>
          </a:p>
        </p:txBody>
      </p:sp>
      <p:sp>
        <p:nvSpPr>
          <p:cNvPr id="9" name="">
            <a:extLst xmlns:a="http://schemas.openxmlformats.org/drawingml/2006/main">
              <a:ext uri="{FF2B5EF4-FFF2-40B4-BE49-F238E27FC236}">
                <a16:creationId xmlns:a16="http://schemas.microsoft.com/office/drawing/2014/main" id="{2371A1C8-6879-4553-98E3-8A93089C4BFD}"/>
              </a:ext>
            </a:extLst>
          </p:cNvPr>
          <p:cNvSpPr>
            <a:spLocks xmlns:a="http://schemas.openxmlformats.org/drawingml/2006/main" noGrp="1"/>
          </p:cNvSpPr>
          <p:nvPr/>
        </p:nvSpPr>
        <p:spPr>
          <a:xfrm xmlns:a="http://schemas.openxmlformats.org/drawingml/2006/main">
            <a:off x="781050" y="40005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E26EAEC-4A2D-4799-9103-7541DD58A534}"/>
              </a:ext>
            </a:extLst>
          </p:cNvPr>
          <p:cNvSpPr>
            <a:spLocks xmlns:a="http://schemas.openxmlformats.org/drawingml/2006/main" noGrp="1"/>
          </p:cNvSpPr>
          <p:nvPr/>
        </p:nvSpPr>
        <p:spPr>
          <a:xfrm xmlns:a="http://schemas.openxmlformats.org/drawingml/2006/main">
            <a:off x="1028700" y="3619500"/>
            <a:ext cx="9563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0">
                <a:solidFill>
                  <a:srgbClr val="211729"/>
                </a:solidFill>
              </a:defRPr>
            </a:pPr>
            <a:r>
              <a:rPr sz="1725" b="0">
                <a:solidFill>
                  <a:srgbClr val="211729"/>
                </a:solidFill>
              </a:rPr>
              <a:t>Enabled state, active state, reloaded definitions, restarted processes, and observed behavior must be verified separately. Environment= is configuration, not a secret store.</a:t>
            </a:r>
          </a:p>
        </p:txBody>
      </p:sp>
    </p:spTree>
    <p:extLst>
      <p:ext uri="{BB962C8B-B14F-4D97-AF65-F5344CB8AC3E}">
        <p14:creationId xmlns:p14="http://schemas.microsoft.com/office/powerpoint/2010/main" val="1582229436"/>
      </p:ext>
    </p:extLst>
  </p:cSld>
</p:sld>
</file>

<file path=ppt/slides/slide100.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1958A06-66D4-4965-BB36-860186234696}"/>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44E452C-E1A7-4085-8CC4-AF863BDD2AD1}"/>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10 · BUILD THE MODEL</a:t>
            </a:r>
          </a:p>
        </p:txBody>
      </p:sp>
      <p:sp>
        <p:nvSpPr>
          <p:cNvPr id="3" name="">
            <a:extLst xmlns:a="http://schemas.openxmlformats.org/drawingml/2006/main">
              <a:ext uri="{FF2B5EF4-FFF2-40B4-BE49-F238E27FC236}">
                <a16:creationId xmlns:a16="http://schemas.microsoft.com/office/drawing/2014/main" id="{DC642B41-E119-41E1-9FC1-4914E6E71D41}"/>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43034530-2C40-4919-BE41-74F64B7F9AE9}"/>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100</a:t>
            </a:r>
          </a:p>
        </p:txBody>
      </p:sp>
      <p:sp>
        <p:nvSpPr>
          <p:cNvPr id="5" name="">
            <a:extLst xmlns:a="http://schemas.openxmlformats.org/drawingml/2006/main">
              <a:ext uri="{FF2B5EF4-FFF2-40B4-BE49-F238E27FC236}">
                <a16:creationId xmlns:a16="http://schemas.microsoft.com/office/drawing/2014/main" id="{1DDB6F2E-0D2A-46F0-8055-A05C01DEAA4F}"/>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A drop-in changes one layer of effective configuration</a:t>
            </a:r>
          </a:p>
        </p:txBody>
      </p:sp>
      <p:sp>
        <p:nvSpPr>
          <p:cNvPr id="6" name="">
            <a:extLst xmlns:a="http://schemas.openxmlformats.org/drawingml/2006/main">
              <a:ext uri="{FF2B5EF4-FFF2-40B4-BE49-F238E27FC236}">
                <a16:creationId xmlns:a16="http://schemas.microsoft.com/office/drawing/2014/main" id="{8D6768BB-196D-4D0C-82CB-3888E2D44E15}"/>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Plan removal of the drop-in as the rollback path.</a:t>
            </a:r>
          </a:p>
        </p:txBody>
      </p:sp>
      <p:sp>
        <p:nvSpPr>
          <p:cNvPr id="7" name="">
            <a:extLst xmlns:a="http://schemas.openxmlformats.org/drawingml/2006/main">
              <a:ext uri="{FF2B5EF4-FFF2-40B4-BE49-F238E27FC236}">
                <a16:creationId xmlns:a16="http://schemas.microsoft.com/office/drawing/2014/main" id="{BBA8FB8F-B2A8-4ED8-8219-59F783617187}"/>
              </a:ext>
            </a:extLst>
          </p:cNvPr>
          <p:cNvSpPr>
            <a:spLocks xmlns:a="http://schemas.openxmlformats.org/drawingml/2006/main" noGrp="1"/>
          </p:cNvSpPr>
          <p:nvPr/>
        </p:nvSpPr>
        <p:spPr>
          <a:xfrm xmlns:a="http://schemas.openxmlformats.org/drawingml/2006/main">
            <a:off x="781050" y="29622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F06ACE3-9D65-408C-92D0-655706DD6654}"/>
              </a:ext>
            </a:extLst>
          </p:cNvPr>
          <p:cNvSpPr>
            <a:spLocks xmlns:a="http://schemas.openxmlformats.org/drawingml/2006/main" noGrp="1"/>
          </p:cNvSpPr>
          <p:nvPr/>
        </p:nvSpPr>
        <p:spPr>
          <a:xfrm xmlns:a="http://schemas.openxmlformats.org/drawingml/2006/main">
            <a:off x="1028700" y="27241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The supplied fragment remains intact</a:t>
            </a:r>
          </a:p>
        </p:txBody>
      </p:sp>
      <p:sp>
        <p:nvSpPr>
          <p:cNvPr id="9" name="">
            <a:extLst xmlns:a="http://schemas.openxmlformats.org/drawingml/2006/main">
              <a:ext uri="{FF2B5EF4-FFF2-40B4-BE49-F238E27FC236}">
                <a16:creationId xmlns:a16="http://schemas.microsoft.com/office/drawing/2014/main" id="{DDCB5E47-082C-4053-8F38-E094F265D2DD}"/>
              </a:ext>
            </a:extLst>
          </p:cNvPr>
          <p:cNvSpPr>
            <a:spLocks xmlns:a="http://schemas.openxmlformats.org/drawingml/2006/main" noGrp="1"/>
          </p:cNvSpPr>
          <p:nvPr/>
        </p:nvSpPr>
        <p:spPr>
          <a:xfrm xmlns:a="http://schemas.openxmlformats.org/drawingml/2006/main">
            <a:off x="781050" y="35718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402F030-1392-479E-8A05-26A65B078F9A}"/>
              </a:ext>
            </a:extLst>
          </p:cNvPr>
          <p:cNvSpPr>
            <a:spLocks xmlns:a="http://schemas.openxmlformats.org/drawingml/2006/main" noGrp="1"/>
          </p:cNvSpPr>
          <p:nvPr/>
        </p:nvSpPr>
        <p:spPr>
          <a:xfrm xmlns:a="http://schemas.openxmlformats.org/drawingml/2006/main">
            <a:off x="1028700" y="33337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Administrator drop-ins load with higher precedence</a:t>
            </a:r>
          </a:p>
        </p:txBody>
      </p:sp>
      <p:sp>
        <p:nvSpPr>
          <p:cNvPr id="11" name="">
            <a:extLst xmlns:a="http://schemas.openxmlformats.org/drawingml/2006/main">
              <a:ext uri="{FF2B5EF4-FFF2-40B4-BE49-F238E27FC236}">
                <a16:creationId xmlns:a16="http://schemas.microsoft.com/office/drawing/2014/main" id="{32CC194D-B1A1-4491-9368-303D6011E7FD}"/>
              </a:ext>
            </a:extLst>
          </p:cNvPr>
          <p:cNvSpPr>
            <a:spLocks xmlns:a="http://schemas.openxmlformats.org/drawingml/2006/main" noGrp="1"/>
          </p:cNvSpPr>
          <p:nvPr/>
        </p:nvSpPr>
        <p:spPr>
          <a:xfrm xmlns:a="http://schemas.openxmlformats.org/drawingml/2006/main">
            <a:off x="781050" y="41814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6AE5FCE-F2DF-42F4-9256-3E0EA690600A}"/>
              </a:ext>
            </a:extLst>
          </p:cNvPr>
          <p:cNvSpPr>
            <a:spLocks xmlns:a="http://schemas.openxmlformats.org/drawingml/2006/main" noGrp="1"/>
          </p:cNvSpPr>
          <p:nvPr/>
        </p:nvSpPr>
        <p:spPr>
          <a:xfrm xmlns:a="http://schemas.openxmlformats.org/drawingml/2006/main">
            <a:off x="1028700" y="39433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daemon-reload updates the manager’s definition</a:t>
            </a:r>
          </a:p>
        </p:txBody>
      </p:sp>
      <p:sp>
        <p:nvSpPr>
          <p:cNvPr id="13" name="">
            <a:extLst xmlns:a="http://schemas.openxmlformats.org/drawingml/2006/main">
              <a:ext uri="{FF2B5EF4-FFF2-40B4-BE49-F238E27FC236}">
                <a16:creationId xmlns:a16="http://schemas.microsoft.com/office/drawing/2014/main" id="{5400D592-0F21-40AB-839B-DFF6591D6637}"/>
              </a:ext>
            </a:extLst>
          </p:cNvPr>
          <p:cNvSpPr>
            <a:spLocks xmlns:a="http://schemas.openxmlformats.org/drawingml/2006/main" noGrp="1"/>
          </p:cNvSpPr>
          <p:nvPr/>
        </p:nvSpPr>
        <p:spPr>
          <a:xfrm xmlns:a="http://schemas.openxmlformats.org/drawingml/2006/main">
            <a:off x="781050" y="47910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4A8B92D-049C-4702-8B23-04E812EBC5FD}"/>
              </a:ext>
            </a:extLst>
          </p:cNvPr>
          <p:cNvSpPr>
            <a:spLocks xmlns:a="http://schemas.openxmlformats.org/drawingml/2006/main" noGrp="1"/>
          </p:cNvSpPr>
          <p:nvPr/>
        </p:nvSpPr>
        <p:spPr>
          <a:xfrm xmlns:a="http://schemas.openxmlformats.org/drawingml/2006/main">
            <a:off x="1028700" y="4552950"/>
            <a:ext cx="9563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restart creates a new process; behavior verifies the result</a:t>
            </a:r>
          </a:p>
        </p:txBody>
      </p:sp>
    </p:spTree>
    <p:extLst>
      <p:ext uri="{BB962C8B-B14F-4D97-AF65-F5344CB8AC3E}">
        <p14:creationId xmlns:p14="http://schemas.microsoft.com/office/powerpoint/2010/main" val="967271212"/>
      </p:ext>
    </p:extLst>
  </p:cSld>
</p:sld>
</file>

<file path=ppt/slides/slide101.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62A9289E-1A5E-4BE3-9BD1-7D524D66A660}"/>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2946D6E-99F8-442F-946B-15B05EF6DC3D}"/>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10 · WORKED EXAMPLE</a:t>
            </a:r>
          </a:p>
        </p:txBody>
      </p:sp>
      <p:sp>
        <p:nvSpPr>
          <p:cNvPr id="3" name="">
            <a:extLst xmlns:a="http://schemas.openxmlformats.org/drawingml/2006/main">
              <a:ext uri="{FF2B5EF4-FFF2-40B4-BE49-F238E27FC236}">
                <a16:creationId xmlns:a16="http://schemas.microsoft.com/office/drawing/2014/main" id="{F19F2C87-A708-499D-A64E-4CC861856881}"/>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851D4272-0918-4687-954B-51BE16AEF5E3}"/>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101</a:t>
            </a:r>
          </a:p>
        </p:txBody>
      </p:sp>
      <p:sp>
        <p:nvSpPr>
          <p:cNvPr id="5" name="">
            <a:extLst xmlns:a="http://schemas.openxmlformats.org/drawingml/2006/main">
              <a:ext uri="{FF2B5EF4-FFF2-40B4-BE49-F238E27FC236}">
                <a16:creationId xmlns:a16="http://schemas.microsoft.com/office/drawing/2014/main" id="{F66767B5-D2B7-4453-8A38-5856C584FC51}"/>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Close the loop from layer to behavior</a:t>
            </a:r>
          </a:p>
        </p:txBody>
      </p:sp>
      <p:sp>
        <p:nvSpPr>
          <p:cNvPr id="6" name="">
            <a:extLst xmlns:a="http://schemas.openxmlformats.org/drawingml/2006/main">
              <a:ext uri="{FF2B5EF4-FFF2-40B4-BE49-F238E27FC236}">
                <a16:creationId xmlns:a16="http://schemas.microsoft.com/office/drawing/2014/main" id="{36D2713B-082A-4FBF-B7F9-FBEA0998755D}"/>
              </a:ext>
            </a:extLst>
          </p:cNvPr>
          <p:cNvSpPr>
            <a:spLocks xmlns:a="http://schemas.openxmlformats.org/drawingml/2006/main" noGrp="1"/>
          </p:cNvSpPr>
          <p:nvPr/>
        </p:nvSpPr>
        <p:spPr>
          <a:xfrm xmlns:a="http://schemas.openxmlformats.org/drawingml/2006/main">
            <a:off x="514350" y="2400300"/>
            <a:ext cx="6191250" cy="2857500"/>
          </a:xfrm>
          <a:prstGeom xmlns:a="http://schemas.openxmlformats.org/drawingml/2006/main" prst="roundRect">
            <a:avLst>
              <a:gd name="adj" fmla="val 4000"/>
            </a:avLst>
          </a:prstGeom>
          <a:solidFill xmlns:a="http://schemas.openxmlformats.org/drawingml/2006/main">
            <a:srgbClr val="180D25"/>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D16EF645-8D05-481F-A1B8-23AD429B6E02}"/>
              </a:ext>
            </a:extLst>
          </p:cNvPr>
          <p:cNvSpPr>
            <a:spLocks xmlns:a="http://schemas.openxmlformats.org/drawingml/2006/main" noGrp="1"/>
          </p:cNvSpPr>
          <p:nvPr/>
        </p:nvSpPr>
        <p:spPr>
          <a:xfrm xmlns:a="http://schemas.openxmlformats.org/drawingml/2006/main">
            <a:off x="781050" y="2647950"/>
            <a:ext cx="5667375" cy="2333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F7F1FA"/>
                </a:solidFill>
              </a:defRPr>
            </a:pPr>
            <a:r>
              <a:rPr sz="1575" b="0">
                <a:solidFill>
                  <a:srgbClr val="F7F1FA"/>
                </a:solidFill>
              </a:rPr>
              <a:t>systemctl show course-banner \</a:t>
            </a:r>
          </a:p>
          <a:p xmlns:a="http://schemas.openxmlformats.org/drawingml/2006/main">
            <a:pPr algn="l">
              <a:buNone/>
              <a:defRPr sz="1575" b="0">
                <a:solidFill>
                  <a:srgbClr val="F7F1FA"/>
                </a:solidFill>
              </a:defRPr>
            </a:pPr>
            <a:r>
              <a:rPr sz="1575" b="0">
                <a:solidFill>
                  <a:srgbClr val="F7F1FA"/>
                </a:solidFill>
              </a:rPr>
              <a:t> -p FragmentPath -p DropInPaths -p Environment</a:t>
            </a:r>
          </a:p>
          <a:p xmlns:a="http://schemas.openxmlformats.org/drawingml/2006/main">
            <a:pPr algn="l">
              <a:buNone/>
              <a:defRPr sz="1575" b="0">
                <a:solidFill>
                  <a:srgbClr val="F7F1FA"/>
                </a:solidFill>
              </a:defRPr>
            </a:pPr>
            <a:r>
              <a:rPr sz="1575" b="0">
                <a:solidFill>
                  <a:srgbClr val="F7F1FA"/>
                </a:solidFill>
              </a:rPr>
              <a:t>sudo systemctl daemon-reload</a:t>
            </a:r>
          </a:p>
          <a:p xmlns:a="http://schemas.openxmlformats.org/drawingml/2006/main">
            <a:pPr algn="l">
              <a:buNone/>
              <a:defRPr sz="1575" b="0">
                <a:solidFill>
                  <a:srgbClr val="F7F1FA"/>
                </a:solidFill>
              </a:defRPr>
            </a:pPr>
            <a:r>
              <a:rPr sz="1575" b="0">
                <a:solidFill>
                  <a:srgbClr val="F7F1FA"/>
                </a:solidFill>
              </a:rPr>
              <a:t>sudo systemctl restart course-banner</a:t>
            </a:r>
          </a:p>
          <a:p xmlns:a="http://schemas.openxmlformats.org/drawingml/2006/main">
            <a:pPr algn="l">
              <a:buNone/>
              <a:defRPr sz="1575" b="0">
                <a:solidFill>
                  <a:srgbClr val="F7F1FA"/>
                </a:solidFill>
              </a:defRPr>
            </a:pPr>
            <a:r>
              <a:rPr sz="1575" b="0">
                <a:solidFill>
                  <a:srgbClr val="F7F1FA"/>
                </a:solidFill>
              </a:rPr>
              <a:t>cat /run/course-banner.txt</a:t>
            </a:r>
          </a:p>
        </p:txBody>
      </p:sp>
      <p:sp>
        <p:nvSpPr>
          <p:cNvPr id="8" name="">
            <a:extLst xmlns:a="http://schemas.openxmlformats.org/drawingml/2006/main">
              <a:ext uri="{FF2B5EF4-FFF2-40B4-BE49-F238E27FC236}">
                <a16:creationId xmlns:a16="http://schemas.microsoft.com/office/drawing/2014/main" id="{B7951B12-1024-490B-AF56-429AEB1083B6}"/>
              </a:ext>
            </a:extLst>
          </p:cNvPr>
          <p:cNvSpPr>
            <a:spLocks xmlns:a="http://schemas.openxmlformats.org/drawingml/2006/main" noGrp="1"/>
          </p:cNvSpPr>
          <p:nvPr/>
        </p:nvSpPr>
        <p:spPr>
          <a:xfrm xmlns:a="http://schemas.openxmlformats.org/drawingml/2006/main">
            <a:off x="7143750" y="27336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4B858A8-1D73-4057-8DA3-594B8579B3BE}"/>
              </a:ext>
            </a:extLst>
          </p:cNvPr>
          <p:cNvSpPr>
            <a:spLocks xmlns:a="http://schemas.openxmlformats.org/drawingml/2006/main" noGrp="1"/>
          </p:cNvSpPr>
          <p:nvPr/>
        </p:nvSpPr>
        <p:spPr>
          <a:xfrm xmlns:a="http://schemas.openxmlformats.org/drawingml/2006/main">
            <a:off x="7391400" y="2428875"/>
            <a:ext cx="3848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FragmentPath and DropInPaths show configuration provenance.</a:t>
            </a:r>
          </a:p>
        </p:txBody>
      </p:sp>
      <p:sp>
        <p:nvSpPr>
          <p:cNvPr id="10" name="">
            <a:extLst xmlns:a="http://schemas.openxmlformats.org/drawingml/2006/main">
              <a:ext uri="{FF2B5EF4-FFF2-40B4-BE49-F238E27FC236}">
                <a16:creationId xmlns:a16="http://schemas.microsoft.com/office/drawing/2014/main" id="{A32E0F5A-C8CE-49D3-B1E3-FDA2805B5241}"/>
              </a:ext>
            </a:extLst>
          </p:cNvPr>
          <p:cNvSpPr>
            <a:spLocks xmlns:a="http://schemas.openxmlformats.org/drawingml/2006/main" noGrp="1"/>
          </p:cNvSpPr>
          <p:nvPr/>
        </p:nvSpPr>
        <p:spPr>
          <a:xfrm xmlns:a="http://schemas.openxmlformats.org/drawingml/2006/main">
            <a:off x="7143750" y="347662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54127D5-483C-498B-9314-90BE7699A4D6}"/>
              </a:ext>
            </a:extLst>
          </p:cNvPr>
          <p:cNvSpPr>
            <a:spLocks xmlns:a="http://schemas.openxmlformats.org/drawingml/2006/main" noGrp="1"/>
          </p:cNvSpPr>
          <p:nvPr/>
        </p:nvSpPr>
        <p:spPr>
          <a:xfrm xmlns:a="http://schemas.openxmlformats.org/drawingml/2006/main">
            <a:off x="7391400" y="3171825"/>
            <a:ext cx="3848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daemon-reload updates the manager’s definition.</a:t>
            </a:r>
          </a:p>
        </p:txBody>
      </p:sp>
      <p:sp>
        <p:nvSpPr>
          <p:cNvPr id="12" name="">
            <a:extLst xmlns:a="http://schemas.openxmlformats.org/drawingml/2006/main">
              <a:ext uri="{FF2B5EF4-FFF2-40B4-BE49-F238E27FC236}">
                <a16:creationId xmlns:a16="http://schemas.microsoft.com/office/drawing/2014/main" id="{D57F7048-9FD5-441C-88F4-FCFBB554805C}"/>
              </a:ext>
            </a:extLst>
          </p:cNvPr>
          <p:cNvSpPr>
            <a:spLocks xmlns:a="http://schemas.openxmlformats.org/drawingml/2006/main" noGrp="1"/>
          </p:cNvSpPr>
          <p:nvPr/>
        </p:nvSpPr>
        <p:spPr>
          <a:xfrm xmlns:a="http://schemas.openxmlformats.org/drawingml/2006/main">
            <a:off x="7143750" y="42195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9A7FB88-FA98-47D5-97DD-47F7D9471F4B}"/>
              </a:ext>
            </a:extLst>
          </p:cNvPr>
          <p:cNvSpPr>
            <a:spLocks xmlns:a="http://schemas.openxmlformats.org/drawingml/2006/main" noGrp="1"/>
          </p:cNvSpPr>
          <p:nvPr/>
        </p:nvSpPr>
        <p:spPr>
          <a:xfrm xmlns:a="http://schemas.openxmlformats.org/drawingml/2006/main">
            <a:off x="7391400" y="3914775"/>
            <a:ext cx="38481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The regenerated file proves the restarted process observed the value.</a:t>
            </a:r>
          </a:p>
        </p:txBody>
      </p:sp>
    </p:spTree>
    <p:extLst>
      <p:ext uri="{BB962C8B-B14F-4D97-AF65-F5344CB8AC3E}">
        <p14:creationId xmlns:p14="http://schemas.microsoft.com/office/powerpoint/2010/main" val="1108632395"/>
      </p:ext>
    </p:extLst>
  </p:cSld>
</p:sld>
</file>

<file path=ppt/slides/slide102.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91AB4DD0-F6CF-4D9B-86B0-DEA623C7C5D3}"/>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303B08E-C397-4483-90EF-ACB41DE35034}"/>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10 · GUIDED COMMANDS</a:t>
            </a:r>
          </a:p>
        </p:txBody>
      </p:sp>
      <p:sp>
        <p:nvSpPr>
          <p:cNvPr id="3" name="">
            <a:extLst xmlns:a="http://schemas.openxmlformats.org/drawingml/2006/main">
              <a:ext uri="{FF2B5EF4-FFF2-40B4-BE49-F238E27FC236}">
                <a16:creationId xmlns:a16="http://schemas.microsoft.com/office/drawing/2014/main" id="{757F8A58-7A5B-4F47-8F0E-BED39131A044}"/>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E651E77D-DAD3-4137-9D8A-190C218B3913}"/>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102</a:t>
            </a:r>
          </a:p>
        </p:txBody>
      </p:sp>
      <p:sp>
        <p:nvSpPr>
          <p:cNvPr id="5" name="">
            <a:extLst xmlns:a="http://schemas.openxmlformats.org/drawingml/2006/main">
              <a:ext uri="{FF2B5EF4-FFF2-40B4-BE49-F238E27FC236}">
                <a16:creationId xmlns:a16="http://schemas.microsoft.com/office/drawing/2014/main" id="{949A08BF-7068-49B6-A0E4-00F2E78358BE}"/>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These commands are tools for specific questions</a:t>
            </a:r>
          </a:p>
        </p:txBody>
      </p:sp>
      <p:sp>
        <p:nvSpPr>
          <p:cNvPr id="6" name="">
            <a:extLst xmlns:a="http://schemas.openxmlformats.org/drawingml/2006/main">
              <a:ext uri="{FF2B5EF4-FFF2-40B4-BE49-F238E27FC236}">
                <a16:creationId xmlns:a16="http://schemas.microsoft.com/office/drawing/2014/main" id="{B696E746-CA8C-4A32-8DA3-1AA6856797C4}"/>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The lab guide repeats syntax and expected evidence; memorization is not required.</a:t>
            </a:r>
          </a:p>
        </p:txBody>
      </p:sp>
      <p:sp>
        <p:nvSpPr>
          <p:cNvPr id="7" name="">
            <a:extLst xmlns:a="http://schemas.openxmlformats.org/drawingml/2006/main">
              <a:ext uri="{FF2B5EF4-FFF2-40B4-BE49-F238E27FC236}">
                <a16:creationId xmlns:a16="http://schemas.microsoft.com/office/drawing/2014/main" id="{F07F1EC9-3072-4A27-AFDE-65FCE0057226}"/>
              </a:ext>
            </a:extLst>
          </p:cNvPr>
          <p:cNvSpPr>
            <a:spLocks xmlns:a="http://schemas.openxmlformats.org/drawingml/2006/main" noGrp="1"/>
          </p:cNvSpPr>
          <p:nvPr/>
        </p:nvSpPr>
        <p:spPr>
          <a:xfrm xmlns:a="http://schemas.openxmlformats.org/drawingml/2006/main">
            <a:off x="685800" y="24003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systemctl cat UNIT</a:t>
            </a:r>
          </a:p>
        </p:txBody>
      </p:sp>
      <p:sp>
        <p:nvSpPr>
          <p:cNvPr id="8" name="">
            <a:extLst xmlns:a="http://schemas.openxmlformats.org/drawingml/2006/main">
              <a:ext uri="{FF2B5EF4-FFF2-40B4-BE49-F238E27FC236}">
                <a16:creationId xmlns:a16="http://schemas.microsoft.com/office/drawing/2014/main" id="{0EEEE65F-2F9D-4B00-85DB-069A43E815A2}"/>
              </a:ext>
            </a:extLst>
          </p:cNvPr>
          <p:cNvSpPr>
            <a:spLocks xmlns:a="http://schemas.openxmlformats.org/drawingml/2006/main" noGrp="1"/>
          </p:cNvSpPr>
          <p:nvPr/>
        </p:nvSpPr>
        <p:spPr>
          <a:xfrm xmlns:a="http://schemas.openxmlformats.org/drawingml/2006/main">
            <a:off x="3810000" y="24003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display fragment and drop-ins</a:t>
            </a:r>
          </a:p>
        </p:txBody>
      </p:sp>
      <p:sp>
        <p:nvSpPr>
          <p:cNvPr id="9" name="">
            <a:extLst xmlns:a="http://schemas.openxmlformats.org/drawingml/2006/main">
              <a:ext uri="{FF2B5EF4-FFF2-40B4-BE49-F238E27FC236}">
                <a16:creationId xmlns:a16="http://schemas.microsoft.com/office/drawing/2014/main" id="{84B068BF-D7E3-45D7-8B1E-A010019CB110}"/>
              </a:ext>
            </a:extLst>
          </p:cNvPr>
          <p:cNvSpPr>
            <a:spLocks xmlns:a="http://schemas.openxmlformats.org/drawingml/2006/main" noGrp="1"/>
          </p:cNvSpPr>
          <p:nvPr/>
        </p:nvSpPr>
        <p:spPr>
          <a:xfrm xmlns:a="http://schemas.openxmlformats.org/drawingml/2006/main">
            <a:off x="685800" y="29527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3DF6C93-E36B-48D6-AADF-03C16C79EDA0}"/>
              </a:ext>
            </a:extLst>
          </p:cNvPr>
          <p:cNvSpPr>
            <a:spLocks xmlns:a="http://schemas.openxmlformats.org/drawingml/2006/main" noGrp="1"/>
          </p:cNvSpPr>
          <p:nvPr/>
        </p:nvSpPr>
        <p:spPr>
          <a:xfrm xmlns:a="http://schemas.openxmlformats.org/drawingml/2006/main">
            <a:off x="685800" y="30480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systemctl edit UNIT</a:t>
            </a:r>
          </a:p>
        </p:txBody>
      </p:sp>
      <p:sp>
        <p:nvSpPr>
          <p:cNvPr id="11" name="">
            <a:extLst xmlns:a="http://schemas.openxmlformats.org/drawingml/2006/main">
              <a:ext uri="{FF2B5EF4-FFF2-40B4-BE49-F238E27FC236}">
                <a16:creationId xmlns:a16="http://schemas.microsoft.com/office/drawing/2014/main" id="{ACEB30E9-E901-4C93-AD50-775DFBD46240}"/>
              </a:ext>
            </a:extLst>
          </p:cNvPr>
          <p:cNvSpPr>
            <a:spLocks xmlns:a="http://schemas.openxmlformats.org/drawingml/2006/main" noGrp="1"/>
          </p:cNvSpPr>
          <p:nvPr/>
        </p:nvSpPr>
        <p:spPr>
          <a:xfrm xmlns:a="http://schemas.openxmlformats.org/drawingml/2006/main">
            <a:off x="3810000" y="30480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create an administrator drop-in</a:t>
            </a:r>
          </a:p>
        </p:txBody>
      </p:sp>
      <p:sp>
        <p:nvSpPr>
          <p:cNvPr id="12" name="">
            <a:extLst xmlns:a="http://schemas.openxmlformats.org/drawingml/2006/main">
              <a:ext uri="{FF2B5EF4-FFF2-40B4-BE49-F238E27FC236}">
                <a16:creationId xmlns:a16="http://schemas.microsoft.com/office/drawing/2014/main" id="{71B4E060-EBD9-419B-AA90-265D42600B7D}"/>
              </a:ext>
            </a:extLst>
          </p:cNvPr>
          <p:cNvSpPr>
            <a:spLocks xmlns:a="http://schemas.openxmlformats.org/drawingml/2006/main" noGrp="1"/>
          </p:cNvSpPr>
          <p:nvPr/>
        </p:nvSpPr>
        <p:spPr>
          <a:xfrm xmlns:a="http://schemas.openxmlformats.org/drawingml/2006/main">
            <a:off x="685800" y="36004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89C005E-4601-464D-BDB1-0099A3484E20}"/>
              </a:ext>
            </a:extLst>
          </p:cNvPr>
          <p:cNvSpPr>
            <a:spLocks xmlns:a="http://schemas.openxmlformats.org/drawingml/2006/main" noGrp="1"/>
          </p:cNvSpPr>
          <p:nvPr/>
        </p:nvSpPr>
        <p:spPr>
          <a:xfrm xmlns:a="http://schemas.openxmlformats.org/drawingml/2006/main">
            <a:off x="685800" y="36957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FragmentPath/DropInPaths</a:t>
            </a:r>
          </a:p>
        </p:txBody>
      </p:sp>
      <p:sp>
        <p:nvSpPr>
          <p:cNvPr id="14" name="">
            <a:extLst xmlns:a="http://schemas.openxmlformats.org/drawingml/2006/main">
              <a:ext uri="{FF2B5EF4-FFF2-40B4-BE49-F238E27FC236}">
                <a16:creationId xmlns:a16="http://schemas.microsoft.com/office/drawing/2014/main" id="{E6CCE893-1D11-40D9-9353-C1DC647C517D}"/>
              </a:ext>
            </a:extLst>
          </p:cNvPr>
          <p:cNvSpPr>
            <a:spLocks xmlns:a="http://schemas.openxmlformats.org/drawingml/2006/main" noGrp="1"/>
          </p:cNvSpPr>
          <p:nvPr/>
        </p:nvSpPr>
        <p:spPr>
          <a:xfrm xmlns:a="http://schemas.openxmlformats.org/drawingml/2006/main">
            <a:off x="3810000" y="36957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inspect provenance</a:t>
            </a:r>
          </a:p>
        </p:txBody>
      </p:sp>
      <p:sp>
        <p:nvSpPr>
          <p:cNvPr id="15" name="">
            <a:extLst xmlns:a="http://schemas.openxmlformats.org/drawingml/2006/main">
              <a:ext uri="{FF2B5EF4-FFF2-40B4-BE49-F238E27FC236}">
                <a16:creationId xmlns:a16="http://schemas.microsoft.com/office/drawing/2014/main" id="{6B54DE3C-98FD-4244-8869-D7E91FF29E5D}"/>
              </a:ext>
            </a:extLst>
          </p:cNvPr>
          <p:cNvSpPr>
            <a:spLocks xmlns:a="http://schemas.openxmlformats.org/drawingml/2006/main" noGrp="1"/>
          </p:cNvSpPr>
          <p:nvPr/>
        </p:nvSpPr>
        <p:spPr>
          <a:xfrm xmlns:a="http://schemas.openxmlformats.org/drawingml/2006/main">
            <a:off x="685800" y="42481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AC5704F0-DA0A-4A8A-AA2E-0E37F751F7F0}"/>
              </a:ext>
            </a:extLst>
          </p:cNvPr>
          <p:cNvSpPr>
            <a:spLocks xmlns:a="http://schemas.openxmlformats.org/drawingml/2006/main" noGrp="1"/>
          </p:cNvSpPr>
          <p:nvPr/>
        </p:nvSpPr>
        <p:spPr>
          <a:xfrm xmlns:a="http://schemas.openxmlformats.org/drawingml/2006/main">
            <a:off x="685800" y="43434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daemon-reload</a:t>
            </a:r>
          </a:p>
        </p:txBody>
      </p:sp>
      <p:sp>
        <p:nvSpPr>
          <p:cNvPr id="17" name="">
            <a:extLst xmlns:a="http://schemas.openxmlformats.org/drawingml/2006/main">
              <a:ext uri="{FF2B5EF4-FFF2-40B4-BE49-F238E27FC236}">
                <a16:creationId xmlns:a16="http://schemas.microsoft.com/office/drawing/2014/main" id="{D6D092BE-7023-4F6B-8C66-8E711CE0AD92}"/>
              </a:ext>
            </a:extLst>
          </p:cNvPr>
          <p:cNvSpPr>
            <a:spLocks xmlns:a="http://schemas.openxmlformats.org/drawingml/2006/main" noGrp="1"/>
          </p:cNvSpPr>
          <p:nvPr/>
        </p:nvSpPr>
        <p:spPr>
          <a:xfrm xmlns:a="http://schemas.openxmlformats.org/drawingml/2006/main">
            <a:off x="3810000" y="43434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reread definitions</a:t>
            </a:r>
          </a:p>
        </p:txBody>
      </p:sp>
      <p:sp>
        <p:nvSpPr>
          <p:cNvPr id="18" name="">
            <a:extLst xmlns:a="http://schemas.openxmlformats.org/drawingml/2006/main">
              <a:ext uri="{FF2B5EF4-FFF2-40B4-BE49-F238E27FC236}">
                <a16:creationId xmlns:a16="http://schemas.microsoft.com/office/drawing/2014/main" id="{D68ACAF0-DF7A-4765-93AE-C3705DD74CC4}"/>
              </a:ext>
            </a:extLst>
          </p:cNvPr>
          <p:cNvSpPr>
            <a:spLocks xmlns:a="http://schemas.openxmlformats.org/drawingml/2006/main" noGrp="1"/>
          </p:cNvSpPr>
          <p:nvPr/>
        </p:nvSpPr>
        <p:spPr>
          <a:xfrm xmlns:a="http://schemas.openxmlformats.org/drawingml/2006/main">
            <a:off x="685800" y="4895850"/>
            <a:ext cx="9982200" cy="9525"/>
          </a:xfrm>
          <a:prstGeom xmlns:a="http://schemas.openxmlformats.org/drawingml/2006/main" prst="rect">
            <a:avLst/>
          </a:prstGeom>
          <a:solidFill xmlns:a="http://schemas.openxmlformats.org/drawingml/2006/main">
            <a:srgbClr val="E7DBE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6D3400E-1BEB-491F-AA71-B1BABE7F65B4}"/>
              </a:ext>
            </a:extLst>
          </p:cNvPr>
          <p:cNvSpPr>
            <a:spLocks xmlns:a="http://schemas.openxmlformats.org/drawingml/2006/main" noGrp="1"/>
          </p:cNvSpPr>
          <p:nvPr/>
        </p:nvSpPr>
        <p:spPr>
          <a:xfrm xmlns:a="http://schemas.openxmlformats.org/drawingml/2006/main">
            <a:off x="685800" y="499110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1">
                <a:solidFill>
                  <a:srgbClr val="7650F8"/>
                </a:solidFill>
              </a:defRPr>
            </a:pPr>
            <a:r>
              <a:rPr sz="1500" b="1">
                <a:solidFill>
                  <a:srgbClr val="7650F8"/>
                </a:solidFill>
              </a:rPr>
              <a:t>restart + behavior check</a:t>
            </a:r>
          </a:p>
        </p:txBody>
      </p:sp>
      <p:sp>
        <p:nvSpPr>
          <p:cNvPr id="20" name="">
            <a:extLst xmlns:a="http://schemas.openxmlformats.org/drawingml/2006/main">
              <a:ext uri="{FF2B5EF4-FFF2-40B4-BE49-F238E27FC236}">
                <a16:creationId xmlns:a16="http://schemas.microsoft.com/office/drawing/2014/main" id="{C1454EA1-2850-42C0-A19C-927282363E68}"/>
              </a:ext>
            </a:extLst>
          </p:cNvPr>
          <p:cNvSpPr>
            <a:spLocks xmlns:a="http://schemas.openxmlformats.org/drawingml/2006/main" noGrp="1"/>
          </p:cNvSpPr>
          <p:nvPr/>
        </p:nvSpPr>
        <p:spPr>
          <a:xfrm xmlns:a="http://schemas.openxmlformats.org/drawingml/2006/main">
            <a:off x="3810000" y="4991100"/>
            <a:ext cx="685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211729"/>
                </a:solidFill>
              </a:defRPr>
            </a:pPr>
            <a:r>
              <a:rPr sz="1500" b="0">
                <a:solidFill>
                  <a:srgbClr val="211729"/>
                </a:solidFill>
              </a:rPr>
              <a:t>apply and independently verify</a:t>
            </a:r>
          </a:p>
        </p:txBody>
      </p:sp>
    </p:spTree>
    <p:extLst>
      <p:ext uri="{BB962C8B-B14F-4D97-AF65-F5344CB8AC3E}">
        <p14:creationId xmlns:p14="http://schemas.microsoft.com/office/powerpoint/2010/main" val="1489946438"/>
      </p:ext>
    </p:extLst>
  </p:cSld>
</p:sld>
</file>

<file path=ppt/slides/slide103.xml><?xml version="1.0" encoding="utf-8"?>
<p:sld xmlns:p="http://schemas.openxmlformats.org/presentationml/2006/main">
  <p:cSld>
    <p:bg>
      <p:bgPr>
        <a:solidFill xmlns:a="http://schemas.openxmlformats.org/drawingml/2006/main">
          <a:srgbClr val="180D25"/>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4C60945B-45C0-4E97-A2C7-7B2CCBC61A32}"/>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FF6F6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F67998F-8A99-4DAD-8D55-AA8B392093FA}"/>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FF6F61"/>
                </a:solidFill>
              </a:defRPr>
            </a:pPr>
            <a:r>
              <a:rPr sz="900" b="1">
                <a:solidFill>
                  <a:srgbClr val="FF6F61"/>
                </a:solidFill>
              </a:rPr>
              <a:t>MODULE 10 · LIVE DEMO</a:t>
            </a:r>
          </a:p>
        </p:txBody>
      </p:sp>
      <p:sp>
        <p:nvSpPr>
          <p:cNvPr id="3" name="">
            <a:extLst xmlns:a="http://schemas.openxmlformats.org/drawingml/2006/main">
              <a:ext uri="{FF2B5EF4-FFF2-40B4-BE49-F238E27FC236}">
                <a16:creationId xmlns:a16="http://schemas.microsoft.com/office/drawing/2014/main" id="{33867BA8-B5A8-4F4B-A2FD-92E12192161D}"/>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CFC5D5"/>
                </a:solidFill>
              </a:defRPr>
            </a:pPr>
            <a:r>
              <a:rPr sz="825" b="1">
                <a:solidFill>
                  <a:srgbClr val="CFC5D5"/>
                </a:solidFill>
              </a:rPr>
              <a:t>LINUX FOUNDATIONS</a:t>
            </a:r>
          </a:p>
        </p:txBody>
      </p:sp>
      <p:sp>
        <p:nvSpPr>
          <p:cNvPr id="4" name="">
            <a:extLst xmlns:a="http://schemas.openxmlformats.org/drawingml/2006/main">
              <a:ext uri="{FF2B5EF4-FFF2-40B4-BE49-F238E27FC236}">
                <a16:creationId xmlns:a16="http://schemas.microsoft.com/office/drawing/2014/main" id="{A3821263-2DA2-4811-B868-214A03590B5C}"/>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AFA2B8"/>
                </a:solidFill>
              </a:defRPr>
            </a:pPr>
            <a:r>
              <a:rPr sz="825" b="0">
                <a:solidFill>
                  <a:srgbClr val="AFA2B8"/>
                </a:solidFill>
              </a:rPr>
              <a:t>103</a:t>
            </a:r>
          </a:p>
        </p:txBody>
      </p:sp>
      <p:sp>
        <p:nvSpPr>
          <p:cNvPr id="5" name="">
            <a:extLst xmlns:a="http://schemas.openxmlformats.org/drawingml/2006/main">
              <a:ext uri="{FF2B5EF4-FFF2-40B4-BE49-F238E27FC236}">
                <a16:creationId xmlns:a16="http://schemas.microsoft.com/office/drawing/2014/main" id="{7A887706-3D8F-418B-B5FD-AF96212A5AE8}"/>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850" b="1">
                <a:solidFill>
                  <a:srgbClr val="FFFFFF"/>
                </a:solidFill>
              </a:defRPr>
            </a:pPr>
            <a:r>
              <a:rPr sz="2850" b="1">
                <a:solidFill>
                  <a:srgbClr val="FFFFFF"/>
                </a:solidFill>
              </a:rPr>
              <a:t>Predict the evidence before Demo 10</a:t>
            </a:r>
          </a:p>
        </p:txBody>
      </p:sp>
      <p:sp>
        <p:nvSpPr>
          <p:cNvPr id="6" name="">
            <a:extLst xmlns:a="http://schemas.openxmlformats.org/drawingml/2006/main">
              <a:ext uri="{FF2B5EF4-FFF2-40B4-BE49-F238E27FC236}">
                <a16:creationId xmlns:a16="http://schemas.microsoft.com/office/drawing/2014/main" id="{590BF078-AFCD-47B7-84BA-BF7B25046A88}"/>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E6DDEB"/>
                </a:solidFill>
              </a:defRPr>
            </a:pPr>
            <a:r>
              <a:rPr sz="1650" b="0">
                <a:solidFill>
                  <a:srgbClr val="E6DDEB"/>
                </a:solidFill>
              </a:rPr>
              <a:t>Override DEMO_LOG_LEVEL for demo-banner.service, compare effective configuration, reload, restart, and verify generated output.</a:t>
            </a:r>
          </a:p>
        </p:txBody>
      </p:sp>
      <p:sp>
        <p:nvSpPr>
          <p:cNvPr id="7" name="">
            <a:extLst xmlns:a="http://schemas.openxmlformats.org/drawingml/2006/main">
              <a:ext uri="{FF2B5EF4-FFF2-40B4-BE49-F238E27FC236}">
                <a16:creationId xmlns:a16="http://schemas.microsoft.com/office/drawing/2014/main" id="{F2037A12-07B3-4806-99C1-29EEA40C18A3}"/>
              </a:ext>
            </a:extLst>
          </p:cNvPr>
          <p:cNvSpPr>
            <a:spLocks xmlns:a="http://schemas.openxmlformats.org/drawingml/2006/main" noGrp="1"/>
          </p:cNvSpPr>
          <p:nvPr/>
        </p:nvSpPr>
        <p:spPr>
          <a:xfrm xmlns:a="http://schemas.openxmlformats.org/drawingml/2006/main">
            <a:off x="666750" y="2476500"/>
            <a:ext cx="10096500" cy="781050"/>
          </a:xfrm>
          <a:prstGeom xmlns:a="http://schemas.openxmlformats.org/drawingml/2006/main" prst="roundRect">
            <a:avLst>
              <a:gd name="adj" fmla="val 14634"/>
            </a:avLst>
          </a:prstGeom>
          <a:solidFill xmlns:a="http://schemas.openxmlformats.org/drawingml/2006/main">
            <a:srgbClr val="2C173E"/>
          </a:solidFill>
          <a:ln xmlns:a="http://schemas.openxmlformats.org/drawingml/2006/main" w="9525">
            <a:solidFill>
              <a:srgbClr val="7650F8"/>
            </a:solidFill>
            <a:prstDash val="solid"/>
          </a:ln>
        </p:spPr>
      </p:sp>
      <p:sp>
        <p:nvSpPr>
          <p:cNvPr id="8" name="">
            <a:extLst xmlns:a="http://schemas.openxmlformats.org/drawingml/2006/main">
              <a:ext uri="{FF2B5EF4-FFF2-40B4-BE49-F238E27FC236}">
                <a16:creationId xmlns:a16="http://schemas.microsoft.com/office/drawing/2014/main" id="{B1AEF975-0AF7-49D9-BE96-C4351AAF7834}"/>
              </a:ext>
            </a:extLst>
          </p:cNvPr>
          <p:cNvSpPr>
            <a:spLocks xmlns:a="http://schemas.openxmlformats.org/drawingml/2006/main" noGrp="1"/>
          </p:cNvSpPr>
          <p:nvPr/>
        </p:nvSpPr>
        <p:spPr>
          <a:xfrm xmlns:a="http://schemas.openxmlformats.org/drawingml/2006/main">
            <a:off x="895350" y="2590800"/>
            <a:ext cx="9620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FFFFFF"/>
                </a:solidFill>
              </a:defRPr>
            </a:pPr>
            <a:r>
              <a:rPr sz="1575" b="0">
                <a:solidFill>
                  <a:srgbClr val="FFFFFF"/>
                </a:solidFill>
              </a:rPr>
              <a:t>Override DEMO_LOG_LEVEL for demo-banner.service, compare effective configuration, reload, restart, and verify generated output.</a:t>
            </a:r>
          </a:p>
        </p:txBody>
      </p:sp>
      <p:sp>
        <p:nvSpPr>
          <p:cNvPr id="9" name="">
            <a:extLst xmlns:a="http://schemas.openxmlformats.org/drawingml/2006/main">
              <a:ext uri="{FF2B5EF4-FFF2-40B4-BE49-F238E27FC236}">
                <a16:creationId xmlns:a16="http://schemas.microsoft.com/office/drawing/2014/main" id="{4171179F-49FE-477B-93F4-1EF676C60875}"/>
              </a:ext>
            </a:extLst>
          </p:cNvPr>
          <p:cNvSpPr>
            <a:spLocks xmlns:a="http://schemas.openxmlformats.org/drawingml/2006/main" noGrp="1"/>
          </p:cNvSpPr>
          <p:nvPr/>
        </p:nvSpPr>
        <p:spPr>
          <a:xfrm xmlns:a="http://schemas.openxmlformats.org/drawingml/2006/main">
            <a:off x="904875" y="38195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8796976-6CC8-4B13-9D2B-EA141242984F}"/>
              </a:ext>
            </a:extLst>
          </p:cNvPr>
          <p:cNvSpPr>
            <a:spLocks xmlns:a="http://schemas.openxmlformats.org/drawingml/2006/main" noGrp="1"/>
          </p:cNvSpPr>
          <p:nvPr/>
        </p:nvSpPr>
        <p:spPr>
          <a:xfrm xmlns:a="http://schemas.openxmlformats.org/drawingml/2006/main">
            <a:off x="1152525" y="3619500"/>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State the operating question</a:t>
            </a:r>
          </a:p>
        </p:txBody>
      </p:sp>
      <p:sp>
        <p:nvSpPr>
          <p:cNvPr id="11" name="">
            <a:extLst xmlns:a="http://schemas.openxmlformats.org/drawingml/2006/main">
              <a:ext uri="{FF2B5EF4-FFF2-40B4-BE49-F238E27FC236}">
                <a16:creationId xmlns:a16="http://schemas.microsoft.com/office/drawing/2014/main" id="{65C3D125-4B06-409F-9878-1645931FB88F}"/>
              </a:ext>
            </a:extLst>
          </p:cNvPr>
          <p:cNvSpPr>
            <a:spLocks xmlns:a="http://schemas.openxmlformats.org/drawingml/2006/main" noGrp="1"/>
          </p:cNvSpPr>
          <p:nvPr/>
        </p:nvSpPr>
        <p:spPr>
          <a:xfrm xmlns:a="http://schemas.openxmlformats.org/drawingml/2006/main">
            <a:off x="904875" y="43434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2B04B98-6424-4A62-9BBA-1E5C27D4FA01}"/>
              </a:ext>
            </a:extLst>
          </p:cNvPr>
          <p:cNvSpPr>
            <a:spLocks xmlns:a="http://schemas.openxmlformats.org/drawingml/2006/main" noGrp="1"/>
          </p:cNvSpPr>
          <p:nvPr/>
        </p:nvSpPr>
        <p:spPr>
          <a:xfrm xmlns:a="http://schemas.openxmlformats.org/drawingml/2006/main">
            <a:off x="1152525" y="4143375"/>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Ask for one prediction</a:t>
            </a:r>
          </a:p>
        </p:txBody>
      </p:sp>
      <p:sp>
        <p:nvSpPr>
          <p:cNvPr id="13" name="">
            <a:extLst xmlns:a="http://schemas.openxmlformats.org/drawingml/2006/main">
              <a:ext uri="{FF2B5EF4-FFF2-40B4-BE49-F238E27FC236}">
                <a16:creationId xmlns:a16="http://schemas.microsoft.com/office/drawing/2014/main" id="{85C5DC3B-9B6D-418E-A6F4-A09BAA38119B}"/>
              </a:ext>
            </a:extLst>
          </p:cNvPr>
          <p:cNvSpPr>
            <a:spLocks xmlns:a="http://schemas.openxmlformats.org/drawingml/2006/main" noGrp="1"/>
          </p:cNvSpPr>
          <p:nvPr/>
        </p:nvSpPr>
        <p:spPr>
          <a:xfrm xmlns:a="http://schemas.openxmlformats.org/drawingml/2006/main">
            <a:off x="904875" y="48672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310846E-8E72-49D0-84F3-B757A8D5AA8D}"/>
              </a:ext>
            </a:extLst>
          </p:cNvPr>
          <p:cNvSpPr>
            <a:spLocks xmlns:a="http://schemas.openxmlformats.org/drawingml/2006/main" noGrp="1"/>
          </p:cNvSpPr>
          <p:nvPr/>
        </p:nvSpPr>
        <p:spPr>
          <a:xfrm xmlns:a="http://schemas.openxmlformats.org/drawingml/2006/main">
            <a:off x="1152525" y="4667250"/>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Run one command at a time</a:t>
            </a:r>
          </a:p>
        </p:txBody>
      </p:sp>
      <p:sp>
        <p:nvSpPr>
          <p:cNvPr id="15" name="">
            <a:extLst xmlns:a="http://schemas.openxmlformats.org/drawingml/2006/main">
              <a:ext uri="{FF2B5EF4-FFF2-40B4-BE49-F238E27FC236}">
                <a16:creationId xmlns:a16="http://schemas.microsoft.com/office/drawing/2014/main" id="{BBB4D483-6447-45CE-8CB1-D697D4FD0A8B}"/>
              </a:ext>
            </a:extLst>
          </p:cNvPr>
          <p:cNvSpPr>
            <a:spLocks xmlns:a="http://schemas.openxmlformats.org/drawingml/2006/main" noGrp="1"/>
          </p:cNvSpPr>
          <p:nvPr/>
        </p:nvSpPr>
        <p:spPr>
          <a:xfrm xmlns:a="http://schemas.openxmlformats.org/drawingml/2006/main">
            <a:off x="904875" y="539115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89FE7BBB-6562-4CDD-8D55-016E504226C5}"/>
              </a:ext>
            </a:extLst>
          </p:cNvPr>
          <p:cNvSpPr>
            <a:spLocks xmlns:a="http://schemas.openxmlformats.org/drawingml/2006/main" noGrp="1"/>
          </p:cNvSpPr>
          <p:nvPr/>
        </p:nvSpPr>
        <p:spPr>
          <a:xfrm xmlns:a="http://schemas.openxmlformats.org/drawingml/2006/main">
            <a:off x="1152525" y="5191125"/>
            <a:ext cx="90868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00" b="0">
                <a:solidFill>
                  <a:srgbClr val="EADFF0"/>
                </a:solidFill>
              </a:defRPr>
            </a:pPr>
            <a:r>
              <a:rPr sz="1500" b="0">
                <a:solidFill>
                  <a:srgbClr val="EADFF0"/>
                </a:solidFill>
              </a:rPr>
              <a:t>Verify through a different interface</a:t>
            </a:r>
          </a:p>
        </p:txBody>
      </p:sp>
      <p:sp>
        <p:nvSpPr>
          <p:cNvPr id="17" name="">
            <a:extLst xmlns:a="http://schemas.openxmlformats.org/drawingml/2006/main">
              <a:ext uri="{FF2B5EF4-FFF2-40B4-BE49-F238E27FC236}">
                <a16:creationId xmlns:a16="http://schemas.microsoft.com/office/drawing/2014/main" id="{69624EC0-2BB5-40D4-B378-ABE8E79B7234}"/>
              </a:ext>
            </a:extLst>
          </p:cNvPr>
          <p:cNvSpPr>
            <a:spLocks xmlns:a="http://schemas.openxmlformats.org/drawingml/2006/main" noGrp="1"/>
          </p:cNvSpPr>
          <p:nvPr/>
        </p:nvSpPr>
        <p:spPr>
          <a:xfrm xmlns:a="http://schemas.openxmlformats.org/drawingml/2006/main">
            <a:off x="904875" y="5886450"/>
            <a:ext cx="962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200" b="1">
                <a:solidFill>
                  <a:srgbClr val="71D6B3"/>
                </a:solidFill>
              </a:defRPr>
            </a:pPr>
            <a:r>
              <a:rPr sz="1200" b="1">
                <a:solidFill>
                  <a:srgbClr val="71D6B3"/>
                </a:solidFill>
              </a:rPr>
              <a:t>Instructor seat only · predict before typing · verify through another interface</a:t>
            </a:r>
          </a:p>
        </p:txBody>
      </p:sp>
    </p:spTree>
    <p:extLst>
      <p:ext uri="{BB962C8B-B14F-4D97-AF65-F5344CB8AC3E}">
        <p14:creationId xmlns:p14="http://schemas.microsoft.com/office/powerpoint/2010/main" val="2097644238"/>
      </p:ext>
    </p:extLst>
  </p:cSld>
</p:sld>
</file>

<file path=ppt/slides/slide104.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585FC4A-F802-44F3-8209-3D09AF981FBD}"/>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48C0E9E-A2BD-413B-AF42-47F7A6B61B70}"/>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10 · LAB READINESS</a:t>
            </a:r>
          </a:p>
        </p:txBody>
      </p:sp>
      <p:sp>
        <p:nvSpPr>
          <p:cNvPr id="3" name="">
            <a:extLst xmlns:a="http://schemas.openxmlformats.org/drawingml/2006/main">
              <a:ext uri="{FF2B5EF4-FFF2-40B4-BE49-F238E27FC236}">
                <a16:creationId xmlns:a16="http://schemas.microsoft.com/office/drawing/2014/main" id="{696A5085-44E8-4DBB-9076-25B692FBAC9C}"/>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46B2FDCD-654B-4B73-9AF7-65F97CBC47BF}"/>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104</a:t>
            </a:r>
          </a:p>
        </p:txBody>
      </p:sp>
      <p:sp>
        <p:nvSpPr>
          <p:cNvPr id="5" name="">
            <a:extLst xmlns:a="http://schemas.openxmlformats.org/drawingml/2006/main">
              <a:ext uri="{FF2B5EF4-FFF2-40B4-BE49-F238E27FC236}">
                <a16:creationId xmlns:a16="http://schemas.microsoft.com/office/drawing/2014/main" id="{FCAE4124-FAD7-41EB-BAF9-2BC06CCD1BED}"/>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Before Lab 10, you should be able to…</a:t>
            </a:r>
          </a:p>
        </p:txBody>
      </p:sp>
      <p:sp>
        <p:nvSpPr>
          <p:cNvPr id="6" name="">
            <a:extLst xmlns:a="http://schemas.openxmlformats.org/drawingml/2006/main">
              <a:ext uri="{FF2B5EF4-FFF2-40B4-BE49-F238E27FC236}">
                <a16:creationId xmlns:a16="http://schemas.microsoft.com/office/drawing/2014/main" id="{97D6249E-2E9A-4653-907F-8C92000357D5}"/>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If one item is unclear, revisit the model or worked example before opening the terminal.</a:t>
            </a:r>
          </a:p>
        </p:txBody>
      </p:sp>
      <p:sp>
        <p:nvSpPr>
          <p:cNvPr id="7" name="">
            <a:extLst xmlns:a="http://schemas.openxmlformats.org/drawingml/2006/main">
              <a:ext uri="{FF2B5EF4-FFF2-40B4-BE49-F238E27FC236}">
                <a16:creationId xmlns:a16="http://schemas.microsoft.com/office/drawing/2014/main" id="{FE223CA4-D3AC-4BF2-AFAB-15034655D701}"/>
              </a:ext>
            </a:extLst>
          </p:cNvPr>
          <p:cNvSpPr>
            <a:spLocks xmlns:a="http://schemas.openxmlformats.org/drawingml/2006/main" noGrp="1"/>
          </p:cNvSpPr>
          <p:nvPr/>
        </p:nvSpPr>
        <p:spPr>
          <a:xfrm xmlns:a="http://schemas.openxmlformats.org/drawingml/2006/main">
            <a:off x="781050" y="29051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611BB61-893C-43A7-9B7C-4AF8F5664C75}"/>
              </a:ext>
            </a:extLst>
          </p:cNvPr>
          <p:cNvSpPr>
            <a:spLocks xmlns:a="http://schemas.openxmlformats.org/drawingml/2006/main" noGrp="1"/>
          </p:cNvSpPr>
          <p:nvPr/>
        </p:nvSpPr>
        <p:spPr>
          <a:xfrm xmlns:a="http://schemas.openxmlformats.org/drawingml/2006/main">
            <a:off x="1028700" y="26479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Explain fragment and drop-in precedence</a:t>
            </a:r>
          </a:p>
        </p:txBody>
      </p:sp>
      <p:sp>
        <p:nvSpPr>
          <p:cNvPr id="9" name="">
            <a:extLst xmlns:a="http://schemas.openxmlformats.org/drawingml/2006/main">
              <a:ext uri="{FF2B5EF4-FFF2-40B4-BE49-F238E27FC236}">
                <a16:creationId xmlns:a16="http://schemas.microsoft.com/office/drawing/2014/main" id="{0314EC2B-936D-43FC-BAD4-AE46D61191BB}"/>
              </a:ext>
            </a:extLst>
          </p:cNvPr>
          <p:cNvSpPr>
            <a:spLocks xmlns:a="http://schemas.openxmlformats.org/drawingml/2006/main" noGrp="1"/>
          </p:cNvSpPr>
          <p:nvPr/>
        </p:nvSpPr>
        <p:spPr>
          <a:xfrm xmlns:a="http://schemas.openxmlformats.org/drawingml/2006/main">
            <a:off x="781050" y="355282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6348657-E0BC-4AF2-A501-EB65FD029336}"/>
              </a:ext>
            </a:extLst>
          </p:cNvPr>
          <p:cNvSpPr>
            <a:spLocks xmlns:a="http://schemas.openxmlformats.org/drawingml/2006/main" noGrp="1"/>
          </p:cNvSpPr>
          <p:nvPr/>
        </p:nvSpPr>
        <p:spPr>
          <a:xfrm xmlns:a="http://schemas.openxmlformats.org/drawingml/2006/main">
            <a:off x="1028700" y="32956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Distinguish reload of definitions from restart of a process</a:t>
            </a:r>
          </a:p>
        </p:txBody>
      </p:sp>
      <p:sp>
        <p:nvSpPr>
          <p:cNvPr id="11" name="">
            <a:extLst xmlns:a="http://schemas.openxmlformats.org/drawingml/2006/main">
              <a:ext uri="{FF2B5EF4-FFF2-40B4-BE49-F238E27FC236}">
                <a16:creationId xmlns:a16="http://schemas.microsoft.com/office/drawing/2014/main" id="{36B34AB0-AC9F-43B4-B0F2-5CC648DC8D88}"/>
              </a:ext>
            </a:extLst>
          </p:cNvPr>
          <p:cNvSpPr>
            <a:spLocks xmlns:a="http://schemas.openxmlformats.org/drawingml/2006/main" noGrp="1"/>
          </p:cNvSpPr>
          <p:nvPr/>
        </p:nvSpPr>
        <p:spPr>
          <a:xfrm xmlns:a="http://schemas.openxmlformats.org/drawingml/2006/main">
            <a:off x="781050" y="42005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FB76544-E214-453A-A1ED-E939FB17F38A}"/>
              </a:ext>
            </a:extLst>
          </p:cNvPr>
          <p:cNvSpPr>
            <a:spLocks xmlns:a="http://schemas.openxmlformats.org/drawingml/2006/main" noGrp="1"/>
          </p:cNvSpPr>
          <p:nvPr/>
        </p:nvSpPr>
        <p:spPr>
          <a:xfrm xmlns:a="http://schemas.openxmlformats.org/drawingml/2006/main">
            <a:off x="1028700" y="39433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Design verification and rollback before changing configuration</a:t>
            </a:r>
          </a:p>
        </p:txBody>
      </p:sp>
    </p:spTree>
    <p:extLst>
      <p:ext uri="{BB962C8B-B14F-4D97-AF65-F5344CB8AC3E}">
        <p14:creationId xmlns:p14="http://schemas.microsoft.com/office/powerpoint/2010/main" val="1298574032"/>
      </p:ext>
    </p:extLst>
  </p:cSld>
</p:sld>
</file>

<file path=ppt/slides/slide105.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A6B6863-06B5-42FE-AEF6-E9AB3AA707F5}"/>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07AB39A-7ABD-4E93-865E-147B1B4D5570}"/>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HANDS-ON · LAB 10</a:t>
            </a:r>
          </a:p>
        </p:txBody>
      </p:sp>
      <p:sp>
        <p:nvSpPr>
          <p:cNvPr id="3" name="">
            <a:extLst xmlns:a="http://schemas.openxmlformats.org/drawingml/2006/main">
              <a:ext uri="{FF2B5EF4-FFF2-40B4-BE49-F238E27FC236}">
                <a16:creationId xmlns:a16="http://schemas.microsoft.com/office/drawing/2014/main" id="{B8C0395F-CADA-4FAD-8AD1-B8C361834D55}"/>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DCBE56F3-8DAD-4002-BFEE-90721674F6BF}"/>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105</a:t>
            </a:r>
          </a:p>
        </p:txBody>
      </p:sp>
      <p:sp>
        <p:nvSpPr>
          <p:cNvPr id="5" name="">
            <a:extLst xmlns:a="http://schemas.openxmlformats.org/drawingml/2006/main">
              <a:ext uri="{FF2B5EF4-FFF2-40B4-BE49-F238E27FC236}">
                <a16:creationId xmlns:a16="http://schemas.microsoft.com/office/drawing/2014/main" id="{06D6BC72-5929-4426-8B24-DE89E7B9EA2D}"/>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Unit layering, drop-ins, reloads, and durable changes</a:t>
            </a:r>
          </a:p>
        </p:txBody>
      </p:sp>
      <p:sp>
        <p:nvSpPr>
          <p:cNvPr id="6" name="">
            <a:extLst xmlns:a="http://schemas.openxmlformats.org/drawingml/2006/main">
              <a:ext uri="{FF2B5EF4-FFF2-40B4-BE49-F238E27FC236}">
                <a16:creationId xmlns:a16="http://schemas.microsoft.com/office/drawing/2014/main" id="{192B5AAB-4F71-4EB8-8750-36C1D17C2902}"/>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Set COURSE_MODE=production with a drop-in, reload definitions, restart the service, and prove effective configuration and regenerated behavior.</a:t>
            </a:r>
          </a:p>
        </p:txBody>
      </p:sp>
      <p:sp>
        <p:nvSpPr>
          <p:cNvPr id="7" name="">
            <a:extLst xmlns:a="http://schemas.openxmlformats.org/drawingml/2006/main">
              <a:ext uri="{FF2B5EF4-FFF2-40B4-BE49-F238E27FC236}">
                <a16:creationId xmlns:a16="http://schemas.microsoft.com/office/drawing/2014/main" id="{AEAF8983-DFE0-4527-ADC5-77BC85BA0C74}"/>
              </a:ext>
            </a:extLst>
          </p:cNvPr>
          <p:cNvSpPr>
            <a:spLocks xmlns:a="http://schemas.openxmlformats.org/drawingml/2006/main" noGrp="1"/>
          </p:cNvSpPr>
          <p:nvPr/>
        </p:nvSpPr>
        <p:spPr>
          <a:xfrm xmlns:a="http://schemas.openxmlformats.org/drawingml/2006/main">
            <a:off x="514350" y="2457450"/>
            <a:ext cx="6762750" cy="2286000"/>
          </a:xfrm>
          <a:prstGeom xmlns:a="http://schemas.openxmlformats.org/drawingml/2006/main" prst="roundRect">
            <a:avLst>
              <a:gd name="adj" fmla="val 5000"/>
            </a:avLst>
          </a:prstGeom>
          <a:solidFill xmlns:a="http://schemas.openxmlformats.org/drawingml/2006/main">
            <a:srgbClr val="180D2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05C0DEF-3EFE-4AE4-97CE-3F4C7F2BDA34}"/>
              </a:ext>
            </a:extLst>
          </p:cNvPr>
          <p:cNvSpPr>
            <a:spLocks xmlns:a="http://schemas.openxmlformats.org/drawingml/2006/main" noGrp="1"/>
          </p:cNvSpPr>
          <p:nvPr/>
        </p:nvSpPr>
        <p:spPr>
          <a:xfrm xmlns:a="http://schemas.openxmlformats.org/drawingml/2006/main">
            <a:off x="781050" y="2647950"/>
            <a:ext cx="6238875" cy="1847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FFFFFF"/>
                </a:solidFill>
              </a:defRPr>
            </a:pPr>
            <a:r>
              <a:rPr sz="1650" b="0">
                <a:solidFill>
                  <a:srgbClr val="FFFFFF"/>
                </a:solidFill>
              </a:rPr>
              <a:t>Set COURSE_MODE=production with a drop-in, reload definitions, restart the service, and prove effective configuration and regenerated behavior.</a:t>
            </a:r>
          </a:p>
        </p:txBody>
      </p:sp>
      <p:sp>
        <p:nvSpPr>
          <p:cNvPr id="9" name="">
            <a:extLst xmlns:a="http://schemas.openxmlformats.org/drawingml/2006/main">
              <a:ext uri="{FF2B5EF4-FFF2-40B4-BE49-F238E27FC236}">
                <a16:creationId xmlns:a16="http://schemas.microsoft.com/office/drawing/2014/main" id="{E554A992-8601-4C52-AE98-01DA0BCE478A}"/>
              </a:ext>
            </a:extLst>
          </p:cNvPr>
          <p:cNvSpPr>
            <a:spLocks xmlns:a="http://schemas.openxmlformats.org/drawingml/2006/main" noGrp="1"/>
          </p:cNvSpPr>
          <p:nvPr/>
        </p:nvSpPr>
        <p:spPr>
          <a:xfrm xmlns:a="http://schemas.openxmlformats.org/drawingml/2006/main">
            <a:off x="7762875" y="26955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2E36CE4-B32B-4FEF-B4A1-58EBA2B7349D}"/>
              </a:ext>
            </a:extLst>
          </p:cNvPr>
          <p:cNvSpPr>
            <a:spLocks xmlns:a="http://schemas.openxmlformats.org/drawingml/2006/main" noGrp="1"/>
          </p:cNvSpPr>
          <p:nvPr/>
        </p:nvSpPr>
        <p:spPr>
          <a:xfrm xmlns:a="http://schemas.openxmlformats.org/drawingml/2006/main">
            <a:off x="8010525" y="24765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15 minutes</a:t>
            </a:r>
          </a:p>
        </p:txBody>
      </p:sp>
      <p:sp>
        <p:nvSpPr>
          <p:cNvPr id="11" name="">
            <a:extLst xmlns:a="http://schemas.openxmlformats.org/drawingml/2006/main">
              <a:ext uri="{FF2B5EF4-FFF2-40B4-BE49-F238E27FC236}">
                <a16:creationId xmlns:a16="http://schemas.microsoft.com/office/drawing/2014/main" id="{CA6BD0FE-5821-49F1-B299-9046ED003755}"/>
              </a:ext>
            </a:extLst>
          </p:cNvPr>
          <p:cNvSpPr>
            <a:spLocks xmlns:a="http://schemas.openxmlformats.org/drawingml/2006/main" noGrp="1"/>
          </p:cNvSpPr>
          <p:nvPr/>
        </p:nvSpPr>
        <p:spPr>
          <a:xfrm xmlns:a="http://schemas.openxmlformats.org/drawingml/2006/main">
            <a:off x="7762875" y="32670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CD5A9B0-3E34-407C-956A-36BA928F748E}"/>
              </a:ext>
            </a:extLst>
          </p:cNvPr>
          <p:cNvSpPr>
            <a:spLocks xmlns:a="http://schemas.openxmlformats.org/drawingml/2006/main" noGrp="1"/>
          </p:cNvSpPr>
          <p:nvPr/>
        </p:nvSpPr>
        <p:spPr>
          <a:xfrm xmlns:a="http://schemas.openxmlformats.org/drawingml/2006/main">
            <a:off x="8010525" y="30480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Prepare/reset only this lab</a:t>
            </a:r>
          </a:p>
        </p:txBody>
      </p:sp>
      <p:sp>
        <p:nvSpPr>
          <p:cNvPr id="13" name="">
            <a:extLst xmlns:a="http://schemas.openxmlformats.org/drawingml/2006/main">
              <a:ext uri="{FF2B5EF4-FFF2-40B4-BE49-F238E27FC236}">
                <a16:creationId xmlns:a16="http://schemas.microsoft.com/office/drawing/2014/main" id="{CF39A512-2BF1-4F37-A344-AA8CB6B5C3E2}"/>
              </a:ext>
            </a:extLst>
          </p:cNvPr>
          <p:cNvSpPr>
            <a:spLocks xmlns:a="http://schemas.openxmlformats.org/drawingml/2006/main" noGrp="1"/>
          </p:cNvSpPr>
          <p:nvPr/>
        </p:nvSpPr>
        <p:spPr>
          <a:xfrm xmlns:a="http://schemas.openxmlformats.org/drawingml/2006/main">
            <a:off x="7762875" y="383857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13C1862-07F7-4A48-AFB4-C34947C21C5B}"/>
              </a:ext>
            </a:extLst>
          </p:cNvPr>
          <p:cNvSpPr>
            <a:spLocks xmlns:a="http://schemas.openxmlformats.org/drawingml/2006/main" noGrp="1"/>
          </p:cNvSpPr>
          <p:nvPr/>
        </p:nvSpPr>
        <p:spPr>
          <a:xfrm xmlns:a="http://schemas.openxmlformats.org/drawingml/2006/main">
            <a:off x="8010525" y="36195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Check observable state</a:t>
            </a:r>
          </a:p>
        </p:txBody>
      </p:sp>
      <p:sp>
        <p:nvSpPr>
          <p:cNvPr id="15" name="">
            <a:extLst xmlns:a="http://schemas.openxmlformats.org/drawingml/2006/main">
              <a:ext uri="{FF2B5EF4-FFF2-40B4-BE49-F238E27FC236}">
                <a16:creationId xmlns:a16="http://schemas.microsoft.com/office/drawing/2014/main" id="{EF8CBCB0-E491-4B12-BAAD-62256E871FFE}"/>
              </a:ext>
            </a:extLst>
          </p:cNvPr>
          <p:cNvSpPr>
            <a:spLocks xmlns:a="http://schemas.openxmlformats.org/drawingml/2006/main" noGrp="1"/>
          </p:cNvSpPr>
          <p:nvPr/>
        </p:nvSpPr>
        <p:spPr>
          <a:xfrm xmlns:a="http://schemas.openxmlformats.org/drawingml/2006/main">
            <a:off x="7762875" y="441007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4C5F4AE2-9B4F-41CA-A0F6-E0F224DB2F4F}"/>
              </a:ext>
            </a:extLst>
          </p:cNvPr>
          <p:cNvSpPr>
            <a:spLocks xmlns:a="http://schemas.openxmlformats.org/drawingml/2006/main" noGrp="1"/>
          </p:cNvSpPr>
          <p:nvPr/>
        </p:nvSpPr>
        <p:spPr>
          <a:xfrm xmlns:a="http://schemas.openxmlformats.org/drawingml/2006/main">
            <a:off x="8010525" y="41910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425" b="0">
                <a:solidFill>
                  <a:srgbClr val="211729"/>
                </a:solidFill>
              </a:defRPr>
            </a:pPr>
            <a:r>
              <a:rPr sz="1425" b="0">
                <a:solidFill>
                  <a:srgbClr val="211729"/>
                </a:solidFill>
              </a:rPr>
              <a:t>Explain why the result follows</a:t>
            </a:r>
          </a:p>
        </p:txBody>
      </p:sp>
      <p:sp>
        <p:nvSpPr>
          <p:cNvPr id="17" name="">
            <a:extLst xmlns:a="http://schemas.openxmlformats.org/drawingml/2006/main">
              <a:ext uri="{FF2B5EF4-FFF2-40B4-BE49-F238E27FC236}">
                <a16:creationId xmlns:a16="http://schemas.microsoft.com/office/drawing/2014/main" id="{000D03CC-1863-41CC-9C73-6C7B21EC9908}"/>
              </a:ext>
            </a:extLst>
          </p:cNvPr>
          <p:cNvSpPr>
            <a:spLocks xmlns:a="http://schemas.openxmlformats.org/drawingml/2006/main" noGrp="1"/>
          </p:cNvSpPr>
          <p:nvPr/>
        </p:nvSpPr>
        <p:spPr>
          <a:xfrm xmlns:a="http://schemas.openxmlformats.org/drawingml/2006/main">
            <a:off x="514350" y="5391150"/>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350" b="1">
                <a:solidFill>
                  <a:srgbClr val="7650F8"/>
                </a:solidFill>
              </a:defRPr>
            </a:pPr>
            <a:r>
              <a:rPr sz="1350" b="1">
                <a:solidFill>
                  <a:srgbClr val="7650F8"/>
                </a:solidFill>
              </a:rPr>
              <a:t>Open the lab guide for exact tasks, hints, recovery, and checker criteria.</a:t>
            </a:r>
          </a:p>
        </p:txBody>
      </p:sp>
    </p:spTree>
    <p:extLst>
      <p:ext uri="{BB962C8B-B14F-4D97-AF65-F5344CB8AC3E}">
        <p14:creationId xmlns:p14="http://schemas.microsoft.com/office/powerpoint/2010/main" val="712072243"/>
      </p:ext>
    </p:extLst>
  </p:cSld>
</p:sld>
</file>

<file path=ppt/slides/slide106.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6AD0CD24-89F7-4D86-B7DE-C9DA944F8D9C}"/>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E927DF5-8B1D-4590-806D-E0A4E820F03F}"/>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MODULE 10 · DEBRIEF</a:t>
            </a:r>
          </a:p>
        </p:txBody>
      </p:sp>
      <p:sp>
        <p:nvSpPr>
          <p:cNvPr id="3" name="">
            <a:extLst xmlns:a="http://schemas.openxmlformats.org/drawingml/2006/main">
              <a:ext uri="{FF2B5EF4-FFF2-40B4-BE49-F238E27FC236}">
                <a16:creationId xmlns:a16="http://schemas.microsoft.com/office/drawing/2014/main" id="{5B0BFF90-E8D9-453E-BD53-EA42EECEAD91}"/>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460B940A-30DC-431C-9ACC-14BB0204FB20}"/>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106</a:t>
            </a:r>
          </a:p>
        </p:txBody>
      </p:sp>
      <p:sp>
        <p:nvSpPr>
          <p:cNvPr id="5" name="">
            <a:extLst xmlns:a="http://schemas.openxmlformats.org/drawingml/2006/main">
              <a:ext uri="{FF2B5EF4-FFF2-40B4-BE49-F238E27FC236}">
                <a16:creationId xmlns:a16="http://schemas.microsoft.com/office/drawing/2014/main" id="{8248AB55-A802-4C05-B792-1A76524222F5}"/>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Connect the result to the model</a:t>
            </a:r>
          </a:p>
        </p:txBody>
      </p:sp>
      <p:sp>
        <p:nvSpPr>
          <p:cNvPr id="6" name="">
            <a:extLst xmlns:a="http://schemas.openxmlformats.org/drawingml/2006/main">
              <a:ext uri="{FF2B5EF4-FFF2-40B4-BE49-F238E27FC236}">
                <a16:creationId xmlns:a16="http://schemas.microsoft.com/office/drawing/2014/main" id="{2AA7CB84-30D8-4FDA-B5FA-1540BCE3BDF8}"/>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A durable change is complete only when provenance, runtime state, and behavior agree—and rollback is understood.</a:t>
            </a:r>
          </a:p>
        </p:txBody>
      </p:sp>
      <p:sp>
        <p:nvSpPr>
          <p:cNvPr id="7" name="">
            <a:extLst xmlns:a="http://schemas.openxmlformats.org/drawingml/2006/main">
              <a:ext uri="{FF2B5EF4-FFF2-40B4-BE49-F238E27FC236}">
                <a16:creationId xmlns:a16="http://schemas.microsoft.com/office/drawing/2014/main" id="{CD260BC8-3CF5-480B-8E39-430EAD9D5CBB}"/>
              </a:ext>
            </a:extLst>
          </p:cNvPr>
          <p:cNvSpPr>
            <a:spLocks xmlns:a="http://schemas.openxmlformats.org/drawingml/2006/main" noGrp="1"/>
          </p:cNvSpPr>
          <p:nvPr/>
        </p:nvSpPr>
        <p:spPr>
          <a:xfrm xmlns:a="http://schemas.openxmlformats.org/drawingml/2006/main">
            <a:off x="514350" y="2524125"/>
            <a:ext cx="10668000" cy="1219200"/>
          </a:xfrm>
          <a:prstGeom xmlns:a="http://schemas.openxmlformats.org/drawingml/2006/main" prst="roundRect">
            <a:avLst>
              <a:gd name="adj" fmla="val 9375"/>
            </a:avLst>
          </a:prstGeom>
          <a:solidFill xmlns:a="http://schemas.openxmlformats.org/drawingml/2006/main">
            <a:srgbClr val="F0E7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8D2CE6F-99D8-4D40-8870-DEC4F7DE7EBA}"/>
              </a:ext>
            </a:extLst>
          </p:cNvPr>
          <p:cNvSpPr>
            <a:spLocks xmlns:a="http://schemas.openxmlformats.org/drawingml/2006/main" noGrp="1"/>
          </p:cNvSpPr>
          <p:nvPr/>
        </p:nvSpPr>
        <p:spPr>
          <a:xfrm xmlns:a="http://schemas.openxmlformats.org/drawingml/2006/main">
            <a:off x="762000" y="2686050"/>
            <a:ext cx="10191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725" b="1">
                <a:solidFill>
                  <a:srgbClr val="211729"/>
                </a:solidFill>
              </a:defRPr>
            </a:pPr>
            <a:r>
              <a:rPr sz="1725" b="1">
                <a:solidFill>
                  <a:srgbClr val="211729"/>
                </a:solidFill>
              </a:rPr>
              <a:t>A durable change is complete only when provenance, runtime state, and behavior agree—and rollback is understood.</a:t>
            </a:r>
          </a:p>
        </p:txBody>
      </p:sp>
      <p:sp>
        <p:nvSpPr>
          <p:cNvPr id="9" name="">
            <a:extLst xmlns:a="http://schemas.openxmlformats.org/drawingml/2006/main">
              <a:ext uri="{FF2B5EF4-FFF2-40B4-BE49-F238E27FC236}">
                <a16:creationId xmlns:a16="http://schemas.microsoft.com/office/drawing/2014/main" id="{C238DEFA-2FF2-43DC-A500-F5DE99C821E0}"/>
              </a:ext>
            </a:extLst>
          </p:cNvPr>
          <p:cNvSpPr>
            <a:spLocks xmlns:a="http://schemas.openxmlformats.org/drawingml/2006/main" noGrp="1"/>
          </p:cNvSpPr>
          <p:nvPr/>
        </p:nvSpPr>
        <p:spPr>
          <a:xfrm xmlns:a="http://schemas.openxmlformats.org/drawingml/2006/main">
            <a:off x="762000" y="43243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AE761BF-9BEE-4AAD-8BB0-B8CA62524C84}"/>
              </a:ext>
            </a:extLst>
          </p:cNvPr>
          <p:cNvSpPr>
            <a:spLocks xmlns:a="http://schemas.openxmlformats.org/drawingml/2006/main" noGrp="1"/>
          </p:cNvSpPr>
          <p:nvPr/>
        </p:nvSpPr>
        <p:spPr>
          <a:xfrm xmlns:a="http://schemas.openxmlformats.org/drawingml/2006/main">
            <a:off x="1009650" y="4095750"/>
            <a:ext cx="9658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What was declared or expected?</a:t>
            </a:r>
          </a:p>
        </p:txBody>
      </p:sp>
      <p:sp>
        <p:nvSpPr>
          <p:cNvPr id="11" name="">
            <a:extLst xmlns:a="http://schemas.openxmlformats.org/drawingml/2006/main">
              <a:ext uri="{FF2B5EF4-FFF2-40B4-BE49-F238E27FC236}">
                <a16:creationId xmlns:a16="http://schemas.microsoft.com/office/drawing/2014/main" id="{C4AC2F90-97DE-47B9-9DB2-6D72428D8319}"/>
              </a:ext>
            </a:extLst>
          </p:cNvPr>
          <p:cNvSpPr>
            <a:spLocks xmlns:a="http://schemas.openxmlformats.org/drawingml/2006/main" noGrp="1"/>
          </p:cNvSpPr>
          <p:nvPr/>
        </p:nvSpPr>
        <p:spPr>
          <a:xfrm xmlns:a="http://schemas.openxmlformats.org/drawingml/2006/main">
            <a:off x="762000" y="4914900"/>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86EDDAD-BD49-4CCD-92E1-2467308FA4F4}"/>
              </a:ext>
            </a:extLst>
          </p:cNvPr>
          <p:cNvSpPr>
            <a:spLocks xmlns:a="http://schemas.openxmlformats.org/drawingml/2006/main" noGrp="1"/>
          </p:cNvSpPr>
          <p:nvPr/>
        </p:nvSpPr>
        <p:spPr>
          <a:xfrm xmlns:a="http://schemas.openxmlformats.org/drawingml/2006/main">
            <a:off x="1009650" y="4686300"/>
            <a:ext cx="9658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What runtime state did you observe?</a:t>
            </a:r>
          </a:p>
        </p:txBody>
      </p:sp>
      <p:sp>
        <p:nvSpPr>
          <p:cNvPr id="13" name="">
            <a:extLst xmlns:a="http://schemas.openxmlformats.org/drawingml/2006/main">
              <a:ext uri="{FF2B5EF4-FFF2-40B4-BE49-F238E27FC236}">
                <a16:creationId xmlns:a16="http://schemas.microsoft.com/office/drawing/2014/main" id="{9100D4CA-629B-421D-970E-92D09FA6FB9F}"/>
              </a:ext>
            </a:extLst>
          </p:cNvPr>
          <p:cNvSpPr>
            <a:spLocks xmlns:a="http://schemas.openxmlformats.org/drawingml/2006/main" noGrp="1"/>
          </p:cNvSpPr>
          <p:nvPr/>
        </p:nvSpPr>
        <p:spPr>
          <a:xfrm xmlns:a="http://schemas.openxmlformats.org/drawingml/2006/main">
            <a:off x="762000" y="5505450"/>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C70F628-399E-4F38-83F8-804B4AFC99AC}"/>
              </a:ext>
            </a:extLst>
          </p:cNvPr>
          <p:cNvSpPr>
            <a:spLocks xmlns:a="http://schemas.openxmlformats.org/drawingml/2006/main" noGrp="1"/>
          </p:cNvSpPr>
          <p:nvPr/>
        </p:nvSpPr>
        <p:spPr>
          <a:xfrm xmlns:a="http://schemas.openxmlformats.org/drawingml/2006/main">
            <a:off x="1009650" y="5276850"/>
            <a:ext cx="96583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575" b="0">
                <a:solidFill>
                  <a:srgbClr val="211729"/>
                </a:solidFill>
              </a:defRPr>
            </a:pPr>
            <a:r>
              <a:rPr sz="1575" b="0">
                <a:solidFill>
                  <a:srgbClr val="211729"/>
                </a:solidFill>
              </a:rPr>
              <a:t>Which independent evidence closed the claim?</a:t>
            </a:r>
          </a:p>
        </p:txBody>
      </p:sp>
    </p:spTree>
    <p:extLst>
      <p:ext uri="{BB962C8B-B14F-4D97-AF65-F5344CB8AC3E}">
        <p14:creationId xmlns:p14="http://schemas.microsoft.com/office/powerpoint/2010/main" val="1125484103"/>
      </p:ext>
    </p:extLst>
  </p:cSld>
</p:sld>
</file>

<file path=ppt/slides/slide107.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95FFB77-87FB-4C84-8E1C-E8EFF0493076}"/>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5E65A50-7CA8-40DB-B4EA-D213799AD576}"/>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SYNTHESIS</a:t>
            </a:r>
          </a:p>
        </p:txBody>
      </p:sp>
      <p:sp>
        <p:nvSpPr>
          <p:cNvPr id="3" name="">
            <a:extLst xmlns:a="http://schemas.openxmlformats.org/drawingml/2006/main">
              <a:ext uri="{FF2B5EF4-FFF2-40B4-BE49-F238E27FC236}">
                <a16:creationId xmlns:a16="http://schemas.microsoft.com/office/drawing/2014/main" id="{A3DC0BAE-0566-4745-B275-E8670025E93C}"/>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AFBA1DAE-1A16-4DF0-88B3-92E5B5C8AB42}"/>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107</a:t>
            </a:r>
          </a:p>
        </p:txBody>
      </p:sp>
      <p:sp>
        <p:nvSpPr>
          <p:cNvPr id="5" name="">
            <a:extLst xmlns:a="http://schemas.openxmlformats.org/drawingml/2006/main">
              <a:ext uri="{FF2B5EF4-FFF2-40B4-BE49-F238E27FC236}">
                <a16:creationId xmlns:a16="http://schemas.microsoft.com/office/drawing/2014/main" id="{B24CE7DE-5515-489F-8F5E-D9BA40FE9FB6}"/>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A safe operator closes every change with evidence</a:t>
            </a:r>
          </a:p>
        </p:txBody>
      </p:sp>
      <p:sp>
        <p:nvSpPr>
          <p:cNvPr id="6" name="">
            <a:extLst xmlns:a="http://schemas.openxmlformats.org/drawingml/2006/main">
              <a:ext uri="{FF2B5EF4-FFF2-40B4-BE49-F238E27FC236}">
                <a16:creationId xmlns:a16="http://schemas.microsoft.com/office/drawing/2014/main" id="{63A5B846-903B-4CC9-96B8-34351C480B08}"/>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Locate context → predict state → act narrowly → observe output and events → verify behavior independently.</a:t>
            </a:r>
          </a:p>
        </p:txBody>
      </p:sp>
      <p:sp>
        <p:nvSpPr>
          <p:cNvPr id="7" name="">
            <a:extLst xmlns:a="http://schemas.openxmlformats.org/drawingml/2006/main">
              <a:ext uri="{FF2B5EF4-FFF2-40B4-BE49-F238E27FC236}">
                <a16:creationId xmlns:a16="http://schemas.microsoft.com/office/drawing/2014/main" id="{BA71AEF2-EFEE-4CC6-9D87-0E06DB55200D}"/>
              </a:ext>
            </a:extLst>
          </p:cNvPr>
          <p:cNvSpPr>
            <a:spLocks xmlns:a="http://schemas.openxmlformats.org/drawingml/2006/main" noGrp="1"/>
          </p:cNvSpPr>
          <p:nvPr/>
        </p:nvSpPr>
        <p:spPr>
          <a:xfrm xmlns:a="http://schemas.openxmlformats.org/drawingml/2006/main">
            <a:off x="781050" y="29051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277B221-BF76-4AA9-93AB-57C94D857334}"/>
              </a:ext>
            </a:extLst>
          </p:cNvPr>
          <p:cNvSpPr>
            <a:spLocks xmlns:a="http://schemas.openxmlformats.org/drawingml/2006/main" noGrp="1"/>
          </p:cNvSpPr>
          <p:nvPr/>
        </p:nvSpPr>
        <p:spPr>
          <a:xfrm xmlns:a="http://schemas.openxmlformats.org/drawingml/2006/main">
            <a:off x="1028700" y="26479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Declaration is not runtime state</a:t>
            </a:r>
          </a:p>
        </p:txBody>
      </p:sp>
      <p:sp>
        <p:nvSpPr>
          <p:cNvPr id="9" name="">
            <a:extLst xmlns:a="http://schemas.openxmlformats.org/drawingml/2006/main">
              <a:ext uri="{FF2B5EF4-FFF2-40B4-BE49-F238E27FC236}">
                <a16:creationId xmlns:a16="http://schemas.microsoft.com/office/drawing/2014/main" id="{3F46FFAB-EBF2-438C-B5FC-B7DEF7645462}"/>
              </a:ext>
            </a:extLst>
          </p:cNvPr>
          <p:cNvSpPr>
            <a:spLocks xmlns:a="http://schemas.openxmlformats.org/drawingml/2006/main" noGrp="1"/>
          </p:cNvSpPr>
          <p:nvPr/>
        </p:nvSpPr>
        <p:spPr>
          <a:xfrm xmlns:a="http://schemas.openxmlformats.org/drawingml/2006/main">
            <a:off x="781050" y="355282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98473F6-BA0B-4694-8466-83B4B0D5C063}"/>
              </a:ext>
            </a:extLst>
          </p:cNvPr>
          <p:cNvSpPr>
            <a:spLocks xmlns:a="http://schemas.openxmlformats.org/drawingml/2006/main" noGrp="1"/>
          </p:cNvSpPr>
          <p:nvPr/>
        </p:nvSpPr>
        <p:spPr>
          <a:xfrm xmlns:a="http://schemas.openxmlformats.org/drawingml/2006/main">
            <a:off x="1028700" y="32956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Runtime state is not useful behavior</a:t>
            </a:r>
          </a:p>
        </p:txBody>
      </p:sp>
      <p:sp>
        <p:nvSpPr>
          <p:cNvPr id="11" name="">
            <a:extLst xmlns:a="http://schemas.openxmlformats.org/drawingml/2006/main">
              <a:ext uri="{FF2B5EF4-FFF2-40B4-BE49-F238E27FC236}">
                <a16:creationId xmlns:a16="http://schemas.microsoft.com/office/drawing/2014/main" id="{4F9D37A9-8D71-4B03-96E2-056D5D695F86}"/>
              </a:ext>
            </a:extLst>
          </p:cNvPr>
          <p:cNvSpPr>
            <a:spLocks xmlns:a="http://schemas.openxmlformats.org/drawingml/2006/main" noGrp="1"/>
          </p:cNvSpPr>
          <p:nvPr/>
        </p:nvSpPr>
        <p:spPr>
          <a:xfrm xmlns:a="http://schemas.openxmlformats.org/drawingml/2006/main">
            <a:off x="781050" y="42005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2B90638-4805-47E8-92F9-9F8F90E13D50}"/>
              </a:ext>
            </a:extLst>
          </p:cNvPr>
          <p:cNvSpPr>
            <a:spLocks xmlns:a="http://schemas.openxmlformats.org/drawingml/2006/main" noGrp="1"/>
          </p:cNvSpPr>
          <p:nvPr/>
        </p:nvSpPr>
        <p:spPr>
          <a:xfrm xmlns:a="http://schemas.openxmlformats.org/drawingml/2006/main">
            <a:off x="1028700" y="39433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One successful command is not the whole claim</a:t>
            </a:r>
          </a:p>
        </p:txBody>
      </p:sp>
    </p:spTree>
    <p:extLst>
      <p:ext uri="{BB962C8B-B14F-4D97-AF65-F5344CB8AC3E}">
        <p14:creationId xmlns:p14="http://schemas.microsoft.com/office/powerpoint/2010/main" val="585451158"/>
      </p:ext>
    </p:extLst>
  </p:cSld>
</p:sld>
</file>

<file path=ppt/slides/slide108.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D083223-63CD-44FF-B0F4-EEA24B21E3B2}"/>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4795D6C-FC9F-4C3D-90F3-FC873972ED1A}"/>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ASSESSMENT</a:t>
            </a:r>
          </a:p>
        </p:txBody>
      </p:sp>
      <p:sp>
        <p:nvSpPr>
          <p:cNvPr id="3" name="">
            <a:extLst xmlns:a="http://schemas.openxmlformats.org/drawingml/2006/main">
              <a:ext uri="{FF2B5EF4-FFF2-40B4-BE49-F238E27FC236}">
                <a16:creationId xmlns:a16="http://schemas.microsoft.com/office/drawing/2014/main" id="{478946D0-94C0-4611-A4E3-526220F9EC89}"/>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F3F5B5B5-E528-4E24-8C89-7896564B991A}"/>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108</a:t>
            </a:r>
          </a:p>
        </p:txBody>
      </p:sp>
      <p:sp>
        <p:nvSpPr>
          <p:cNvPr id="5" name="">
            <a:extLst xmlns:a="http://schemas.openxmlformats.org/drawingml/2006/main">
              <a:ext uri="{FF2B5EF4-FFF2-40B4-BE49-F238E27FC236}">
                <a16:creationId xmlns:a16="http://schemas.microsoft.com/office/drawing/2014/main" id="{6FDAD2B8-9432-471E-9B2F-1C14C73E2F11}"/>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Explain the chain when you are blocked</a:t>
            </a:r>
          </a:p>
        </p:txBody>
      </p:sp>
      <p:sp>
        <p:nvSpPr>
          <p:cNvPr id="6" name="">
            <a:extLst xmlns:a="http://schemas.openxmlformats.org/drawingml/2006/main">
              <a:ext uri="{FF2B5EF4-FFF2-40B4-BE49-F238E27FC236}">
                <a16:creationId xmlns:a16="http://schemas.microsoft.com/office/drawing/2014/main" id="{F574B786-3621-4305-9185-3AABD18869A3}"/>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A useful help request contains enough unchanged evidence for someone else to reason with you.</a:t>
            </a:r>
          </a:p>
        </p:txBody>
      </p:sp>
      <p:sp>
        <p:nvSpPr>
          <p:cNvPr id="7" name="">
            <a:extLst xmlns:a="http://schemas.openxmlformats.org/drawingml/2006/main">
              <a:ext uri="{FF2B5EF4-FFF2-40B4-BE49-F238E27FC236}">
                <a16:creationId xmlns:a16="http://schemas.microsoft.com/office/drawing/2014/main" id="{575EF999-1526-4D73-8049-DAFF2773B87D}"/>
              </a:ext>
            </a:extLst>
          </p:cNvPr>
          <p:cNvSpPr>
            <a:spLocks xmlns:a="http://schemas.openxmlformats.org/drawingml/2006/main" noGrp="1"/>
          </p:cNvSpPr>
          <p:nvPr/>
        </p:nvSpPr>
        <p:spPr>
          <a:xfrm xmlns:a="http://schemas.openxmlformats.org/drawingml/2006/main">
            <a:off x="781050" y="29051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5FADBD9-9329-4882-B78E-72C6A5D058C7}"/>
              </a:ext>
            </a:extLst>
          </p:cNvPr>
          <p:cNvSpPr>
            <a:spLocks xmlns:a="http://schemas.openxmlformats.org/drawingml/2006/main" noGrp="1"/>
          </p:cNvSpPr>
          <p:nvPr/>
        </p:nvSpPr>
        <p:spPr>
          <a:xfrm xmlns:a="http://schemas.openxmlformats.org/drawingml/2006/main">
            <a:off x="1028700" y="26479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Which user, host, and working directory?</a:t>
            </a:r>
          </a:p>
        </p:txBody>
      </p:sp>
      <p:sp>
        <p:nvSpPr>
          <p:cNvPr id="9" name="">
            <a:extLst xmlns:a="http://schemas.openxmlformats.org/drawingml/2006/main">
              <a:ext uri="{FF2B5EF4-FFF2-40B4-BE49-F238E27FC236}">
                <a16:creationId xmlns:a16="http://schemas.microsoft.com/office/drawing/2014/main" id="{FDEBCECE-F3B1-4FB1-B759-9475AC1B9275}"/>
              </a:ext>
            </a:extLst>
          </p:cNvPr>
          <p:cNvSpPr>
            <a:spLocks xmlns:a="http://schemas.openxmlformats.org/drawingml/2006/main" noGrp="1"/>
          </p:cNvSpPr>
          <p:nvPr/>
        </p:nvSpPr>
        <p:spPr>
          <a:xfrm xmlns:a="http://schemas.openxmlformats.org/drawingml/2006/main">
            <a:off x="781050" y="355282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AE9B93D-3799-4312-BF04-2A5596B69071}"/>
              </a:ext>
            </a:extLst>
          </p:cNvPr>
          <p:cNvSpPr>
            <a:spLocks xmlns:a="http://schemas.openxmlformats.org/drawingml/2006/main" noGrp="1"/>
          </p:cNvSpPr>
          <p:nvPr/>
        </p:nvSpPr>
        <p:spPr>
          <a:xfrm xmlns:a="http://schemas.openxmlformats.org/drawingml/2006/main">
            <a:off x="1028700" y="32956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What exact target state did you inspect?</a:t>
            </a:r>
          </a:p>
        </p:txBody>
      </p:sp>
      <p:sp>
        <p:nvSpPr>
          <p:cNvPr id="11" name="">
            <a:extLst xmlns:a="http://schemas.openxmlformats.org/drawingml/2006/main">
              <a:ext uri="{FF2B5EF4-FFF2-40B4-BE49-F238E27FC236}">
                <a16:creationId xmlns:a16="http://schemas.microsoft.com/office/drawing/2014/main" id="{BE885FA6-1997-4CB9-B431-72467EEF5882}"/>
              </a:ext>
            </a:extLst>
          </p:cNvPr>
          <p:cNvSpPr>
            <a:spLocks xmlns:a="http://schemas.openxmlformats.org/drawingml/2006/main" noGrp="1"/>
          </p:cNvSpPr>
          <p:nvPr/>
        </p:nvSpPr>
        <p:spPr>
          <a:xfrm xmlns:a="http://schemas.openxmlformats.org/drawingml/2006/main">
            <a:off x="781050" y="42005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063BA46-1BD5-4692-A7A7-6EEC17014EBF}"/>
              </a:ext>
            </a:extLst>
          </p:cNvPr>
          <p:cNvSpPr>
            <a:spLocks xmlns:a="http://schemas.openxmlformats.org/drawingml/2006/main" noGrp="1"/>
          </p:cNvSpPr>
          <p:nvPr/>
        </p:nvSpPr>
        <p:spPr>
          <a:xfrm xmlns:a="http://schemas.openxmlformats.org/drawingml/2006/main">
            <a:off x="1028700" y="39433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What command and unchanged output can be repeated?</a:t>
            </a:r>
          </a:p>
        </p:txBody>
      </p:sp>
      <p:sp>
        <p:nvSpPr>
          <p:cNvPr id="13" name="">
            <a:extLst xmlns:a="http://schemas.openxmlformats.org/drawingml/2006/main">
              <a:ext uri="{FF2B5EF4-FFF2-40B4-BE49-F238E27FC236}">
                <a16:creationId xmlns:a16="http://schemas.microsoft.com/office/drawing/2014/main" id="{6F7F65C4-FBBA-4198-99C4-631C46863FD3}"/>
              </a:ext>
            </a:extLst>
          </p:cNvPr>
          <p:cNvSpPr>
            <a:spLocks xmlns:a="http://schemas.openxmlformats.org/drawingml/2006/main" noGrp="1"/>
          </p:cNvSpPr>
          <p:nvPr/>
        </p:nvSpPr>
        <p:spPr>
          <a:xfrm xmlns:a="http://schemas.openxmlformats.org/drawingml/2006/main">
            <a:off x="781050" y="484822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A4752FF-4FC4-40EB-9D2E-74FAC9B61927}"/>
              </a:ext>
            </a:extLst>
          </p:cNvPr>
          <p:cNvSpPr>
            <a:spLocks xmlns:a="http://schemas.openxmlformats.org/drawingml/2006/main" noGrp="1"/>
          </p:cNvSpPr>
          <p:nvPr/>
        </p:nvSpPr>
        <p:spPr>
          <a:xfrm xmlns:a="http://schemas.openxmlformats.org/drawingml/2006/main">
            <a:off x="1028700" y="45910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What changed, and what independent check followed?</a:t>
            </a:r>
          </a:p>
        </p:txBody>
      </p:sp>
    </p:spTree>
    <p:extLst>
      <p:ext uri="{BB962C8B-B14F-4D97-AF65-F5344CB8AC3E}">
        <p14:creationId xmlns:p14="http://schemas.microsoft.com/office/powerpoint/2010/main" val="1434040424"/>
      </p:ext>
    </p:extLst>
  </p:cSld>
</p:sld>
</file>

<file path=ppt/slides/slide109.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3EFAA17-A547-4E4F-86AB-609BA4542B3C}"/>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51E8FEA-7B00-4C00-B670-C371E2533F07}"/>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DELIVERY</a:t>
            </a:r>
          </a:p>
        </p:txBody>
      </p:sp>
      <p:sp>
        <p:nvSpPr>
          <p:cNvPr id="3" name="">
            <a:extLst xmlns:a="http://schemas.openxmlformats.org/drawingml/2006/main">
              <a:ext uri="{FF2B5EF4-FFF2-40B4-BE49-F238E27FC236}">
                <a16:creationId xmlns:a16="http://schemas.microsoft.com/office/drawing/2014/main" id="{642A0638-0DCD-47CA-8F9E-B753C745BDFF}"/>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0A75D18E-1FA7-4B35-91EE-2DC0024FE054}"/>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109</a:t>
            </a:r>
          </a:p>
        </p:txBody>
      </p:sp>
      <p:sp>
        <p:nvSpPr>
          <p:cNvPr id="5" name="">
            <a:extLst xmlns:a="http://schemas.openxmlformats.org/drawingml/2006/main">
              <a:ext uri="{FF2B5EF4-FFF2-40B4-BE49-F238E27FC236}">
                <a16:creationId xmlns:a16="http://schemas.microsoft.com/office/drawing/2014/main" id="{EBDC78BD-2B48-4A39-8414-B1491C15329D}"/>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Protect the 50/50 balance when adapting delivery</a:t>
            </a:r>
          </a:p>
        </p:txBody>
      </p:sp>
      <p:sp>
        <p:nvSpPr>
          <p:cNvPr id="6" name="">
            <a:extLst xmlns:a="http://schemas.openxmlformats.org/drawingml/2006/main">
              <a:ext uri="{FF2B5EF4-FFF2-40B4-BE49-F238E27FC236}">
                <a16:creationId xmlns:a16="http://schemas.microsoft.com/office/drawing/2014/main" id="{408B16BD-D405-4C45-9EE0-999886C6DAA2}"/>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If the room schedule changes, shorten examples and discussion evenly; keep all ten labs, verification steps, and debriefs.</a:t>
            </a:r>
          </a:p>
        </p:txBody>
      </p:sp>
      <p:sp>
        <p:nvSpPr>
          <p:cNvPr id="7" name="">
            <a:extLst xmlns:a="http://schemas.openxmlformats.org/drawingml/2006/main">
              <a:ext uri="{FF2B5EF4-FFF2-40B4-BE49-F238E27FC236}">
                <a16:creationId xmlns:a16="http://schemas.microsoft.com/office/drawing/2014/main" id="{014A0208-B6BC-4307-B3B5-B49C4E127FA9}"/>
              </a:ext>
            </a:extLst>
          </p:cNvPr>
          <p:cNvSpPr>
            <a:spLocks xmlns:a="http://schemas.openxmlformats.org/drawingml/2006/main" noGrp="1"/>
          </p:cNvSpPr>
          <p:nvPr/>
        </p:nvSpPr>
        <p:spPr>
          <a:xfrm xmlns:a="http://schemas.openxmlformats.org/drawingml/2006/main">
            <a:off x="781050" y="29051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1163A4F-C3E9-4FDB-B351-71FB3A5B7198}"/>
              </a:ext>
            </a:extLst>
          </p:cNvPr>
          <p:cNvSpPr>
            <a:spLocks xmlns:a="http://schemas.openxmlformats.org/drawingml/2006/main" noGrp="1"/>
          </p:cNvSpPr>
          <p:nvPr/>
        </p:nvSpPr>
        <p:spPr>
          <a:xfrm xmlns:a="http://schemas.openxmlformats.org/drawingml/2006/main">
            <a:off x="1028700" y="26479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50% guided teaching</a:t>
            </a:r>
          </a:p>
        </p:txBody>
      </p:sp>
      <p:sp>
        <p:nvSpPr>
          <p:cNvPr id="9" name="">
            <a:extLst xmlns:a="http://schemas.openxmlformats.org/drawingml/2006/main">
              <a:ext uri="{FF2B5EF4-FFF2-40B4-BE49-F238E27FC236}">
                <a16:creationId xmlns:a16="http://schemas.microsoft.com/office/drawing/2014/main" id="{3516325E-A645-48C2-9784-9E2DE74D12E4}"/>
              </a:ext>
            </a:extLst>
          </p:cNvPr>
          <p:cNvSpPr>
            <a:spLocks xmlns:a="http://schemas.openxmlformats.org/drawingml/2006/main" noGrp="1"/>
          </p:cNvSpPr>
          <p:nvPr/>
        </p:nvSpPr>
        <p:spPr>
          <a:xfrm xmlns:a="http://schemas.openxmlformats.org/drawingml/2006/main">
            <a:off x="781050" y="355282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4C2257F-8C1D-47AA-A8A1-359018BCDEDA}"/>
              </a:ext>
            </a:extLst>
          </p:cNvPr>
          <p:cNvSpPr>
            <a:spLocks xmlns:a="http://schemas.openxmlformats.org/drawingml/2006/main" noGrp="1"/>
          </p:cNvSpPr>
          <p:nvPr/>
        </p:nvSpPr>
        <p:spPr>
          <a:xfrm xmlns:a="http://schemas.openxmlformats.org/drawingml/2006/main">
            <a:off x="1028700" y="32956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50% hands-on practice</a:t>
            </a:r>
          </a:p>
        </p:txBody>
      </p:sp>
      <p:sp>
        <p:nvSpPr>
          <p:cNvPr id="11" name="">
            <a:extLst xmlns:a="http://schemas.openxmlformats.org/drawingml/2006/main">
              <a:ext uri="{FF2B5EF4-FFF2-40B4-BE49-F238E27FC236}">
                <a16:creationId xmlns:a16="http://schemas.microsoft.com/office/drawing/2014/main" id="{3B6A82C8-B34E-4E1E-9912-14B1CA351EE0}"/>
              </a:ext>
            </a:extLst>
          </p:cNvPr>
          <p:cNvSpPr>
            <a:spLocks xmlns:a="http://schemas.openxmlformats.org/drawingml/2006/main" noGrp="1"/>
          </p:cNvSpPr>
          <p:nvPr/>
        </p:nvSpPr>
        <p:spPr>
          <a:xfrm xmlns:a="http://schemas.openxmlformats.org/drawingml/2006/main">
            <a:off x="781050" y="42005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7AE0BED-5ACD-4AF6-B1BC-7C08D74EB01C}"/>
              </a:ext>
            </a:extLst>
          </p:cNvPr>
          <p:cNvSpPr>
            <a:spLocks xmlns:a="http://schemas.openxmlformats.org/drawingml/2006/main" noGrp="1"/>
          </p:cNvSpPr>
          <p:nvPr/>
        </p:nvSpPr>
        <p:spPr>
          <a:xfrm xmlns:a="http://schemas.openxmlformats.org/drawingml/2006/main">
            <a:off x="1028700" y="39433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Do not trade learner verification for lecture time</a:t>
            </a:r>
          </a:p>
        </p:txBody>
      </p:sp>
    </p:spTree>
    <p:extLst>
      <p:ext uri="{BB962C8B-B14F-4D97-AF65-F5344CB8AC3E}">
        <p14:creationId xmlns:p14="http://schemas.microsoft.com/office/powerpoint/2010/main" val="1100774251"/>
      </p:ext>
    </p:extLst>
  </p:cSld>
</p:sld>
</file>

<file path=ppt/slides/slide110.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A762022-DAD0-4FA8-9249-7166F592F7AF}"/>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78131FF-EF1A-4F21-A703-D85066B41134}"/>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NEXT STEPS</a:t>
            </a:r>
          </a:p>
        </p:txBody>
      </p:sp>
      <p:sp>
        <p:nvSpPr>
          <p:cNvPr id="3" name="">
            <a:extLst xmlns:a="http://schemas.openxmlformats.org/drawingml/2006/main">
              <a:ext uri="{FF2B5EF4-FFF2-40B4-BE49-F238E27FC236}">
                <a16:creationId xmlns:a16="http://schemas.microsoft.com/office/drawing/2014/main" id="{0D072F31-965A-45E8-9190-538625BAD5FF}"/>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4C3E1B80-6873-49DC-8C8A-B9E218EE9490}"/>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110</a:t>
            </a:r>
          </a:p>
        </p:txBody>
      </p:sp>
      <p:sp>
        <p:nvSpPr>
          <p:cNvPr id="5" name="">
            <a:extLst xmlns:a="http://schemas.openxmlformats.org/drawingml/2006/main">
              <a:ext uri="{FF2B5EF4-FFF2-40B4-BE49-F238E27FC236}">
                <a16:creationId xmlns:a16="http://schemas.microsoft.com/office/drawing/2014/main" id="{531168FD-49A6-4F09-B01D-C654663DCF2B}"/>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Practise the loop on a reset incident</a:t>
            </a:r>
          </a:p>
        </p:txBody>
      </p:sp>
      <p:sp>
        <p:nvSpPr>
          <p:cNvPr id="6" name="">
            <a:extLst xmlns:a="http://schemas.openxmlformats.org/drawingml/2006/main">
              <a:ext uri="{FF2B5EF4-FFF2-40B4-BE49-F238E27FC236}">
                <a16:creationId xmlns:a16="http://schemas.microsoft.com/office/drawing/2014/main" id="{943E100F-BB7C-4CE1-AE87-2090AF75E10C}"/>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Reset one lab, solve it without copying the prior command sequence, and explain the evidence aloud.</a:t>
            </a:r>
          </a:p>
        </p:txBody>
      </p:sp>
      <p:sp>
        <p:nvSpPr>
          <p:cNvPr id="7" name="">
            <a:extLst xmlns:a="http://schemas.openxmlformats.org/drawingml/2006/main">
              <a:ext uri="{FF2B5EF4-FFF2-40B4-BE49-F238E27FC236}">
                <a16:creationId xmlns:a16="http://schemas.microsoft.com/office/drawing/2014/main" id="{6F45DB9A-C53C-417B-AE88-AA8098876F4B}"/>
              </a:ext>
            </a:extLst>
          </p:cNvPr>
          <p:cNvSpPr>
            <a:spLocks xmlns:a="http://schemas.openxmlformats.org/drawingml/2006/main" noGrp="1"/>
          </p:cNvSpPr>
          <p:nvPr/>
        </p:nvSpPr>
        <p:spPr>
          <a:xfrm xmlns:a="http://schemas.openxmlformats.org/drawingml/2006/main">
            <a:off x="781050" y="29051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B00A091-A6C2-41B2-8930-6807EA7B291F}"/>
              </a:ext>
            </a:extLst>
          </p:cNvPr>
          <p:cNvSpPr>
            <a:spLocks xmlns:a="http://schemas.openxmlformats.org/drawingml/2006/main" noGrp="1"/>
          </p:cNvSpPr>
          <p:nvPr/>
        </p:nvSpPr>
        <p:spPr>
          <a:xfrm xmlns:a="http://schemas.openxmlformats.org/drawingml/2006/main">
            <a:off x="1028700" y="26479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Rebuild the SSH profile from the trust model</a:t>
            </a:r>
          </a:p>
        </p:txBody>
      </p:sp>
      <p:sp>
        <p:nvSpPr>
          <p:cNvPr id="9" name="">
            <a:extLst xmlns:a="http://schemas.openxmlformats.org/drawingml/2006/main">
              <a:ext uri="{FF2B5EF4-FFF2-40B4-BE49-F238E27FC236}">
                <a16:creationId xmlns:a16="http://schemas.microsoft.com/office/drawing/2014/main" id="{7C32AD2B-16A7-4DC9-B918-A15D04812F50}"/>
              </a:ext>
            </a:extLst>
          </p:cNvPr>
          <p:cNvSpPr>
            <a:spLocks xmlns:a="http://schemas.openxmlformats.org/drawingml/2006/main" noGrp="1"/>
          </p:cNvSpPr>
          <p:nvPr/>
        </p:nvSpPr>
        <p:spPr>
          <a:xfrm xmlns:a="http://schemas.openxmlformats.org/drawingml/2006/main">
            <a:off x="781050" y="355282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AF9BFEF-152A-48C4-ACA7-DF00CE16F59C}"/>
              </a:ext>
            </a:extLst>
          </p:cNvPr>
          <p:cNvSpPr>
            <a:spLocks xmlns:a="http://schemas.openxmlformats.org/drawingml/2006/main" noGrp="1"/>
          </p:cNvSpPr>
          <p:nvPr/>
        </p:nvSpPr>
        <p:spPr>
          <a:xfrm xmlns:a="http://schemas.openxmlformats.org/drawingml/2006/main">
            <a:off x="1028700" y="32956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Explain 640 and 2770 without a lookup</a:t>
            </a:r>
          </a:p>
        </p:txBody>
      </p:sp>
      <p:sp>
        <p:nvSpPr>
          <p:cNvPr id="11" name="">
            <a:extLst xmlns:a="http://schemas.openxmlformats.org/drawingml/2006/main">
              <a:ext uri="{FF2B5EF4-FFF2-40B4-BE49-F238E27FC236}">
                <a16:creationId xmlns:a16="http://schemas.microsoft.com/office/drawing/2014/main" id="{F11B9715-658A-49F5-AD58-C488A80E815F}"/>
              </a:ext>
            </a:extLst>
          </p:cNvPr>
          <p:cNvSpPr>
            <a:spLocks xmlns:a="http://schemas.openxmlformats.org/drawingml/2006/main" noGrp="1"/>
          </p:cNvSpPr>
          <p:nvPr/>
        </p:nvSpPr>
        <p:spPr>
          <a:xfrm xmlns:a="http://schemas.openxmlformats.org/drawingml/2006/main">
            <a:off x="781050" y="42005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9790134-8FE3-49C4-91F6-AFDA7C662D7A}"/>
              </a:ext>
            </a:extLst>
          </p:cNvPr>
          <p:cNvSpPr>
            <a:spLocks xmlns:a="http://schemas.openxmlformats.org/drawingml/2006/main" noGrp="1"/>
          </p:cNvSpPr>
          <p:nvPr/>
        </p:nvSpPr>
        <p:spPr>
          <a:xfrm xmlns:a="http://schemas.openxmlformats.org/drawingml/2006/main">
            <a:off x="1028700" y="39433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Trace a service from unit to client behavior</a:t>
            </a:r>
          </a:p>
        </p:txBody>
      </p:sp>
    </p:spTree>
    <p:extLst>
      <p:ext uri="{BB962C8B-B14F-4D97-AF65-F5344CB8AC3E}">
        <p14:creationId xmlns:p14="http://schemas.microsoft.com/office/powerpoint/2010/main" val="1679419873"/>
      </p:ext>
    </p:extLst>
  </p:cSld>
</p:sld>
</file>

<file path=ppt/slides/slide111.xml><?xml version="1.0" encoding="utf-8"?>
<p:sld xmlns:p="http://schemas.openxmlformats.org/presentationml/2006/main">
  <p:cSld>
    <p:bg>
      <p:bgPr>
        <a:solidFill xmlns:a="http://schemas.openxmlformats.org/drawingml/2006/main">
          <a:srgbClr val="FFF9F1"/>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4AD2DF5-C242-4E3E-A1A1-8EDD533392F5}"/>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0525CE2-D4AD-4F77-BDE3-2D1DAB763383}"/>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7650F8"/>
                </a:solidFill>
              </a:defRPr>
            </a:pPr>
            <a:r>
              <a:rPr sz="900" b="1">
                <a:solidFill>
                  <a:srgbClr val="7650F8"/>
                </a:solidFill>
              </a:rPr>
              <a:t>SOURCES</a:t>
            </a:r>
          </a:p>
        </p:txBody>
      </p:sp>
      <p:sp>
        <p:nvSpPr>
          <p:cNvPr id="3" name="">
            <a:extLst xmlns:a="http://schemas.openxmlformats.org/drawingml/2006/main">
              <a:ext uri="{FF2B5EF4-FFF2-40B4-BE49-F238E27FC236}">
                <a16:creationId xmlns:a16="http://schemas.microsoft.com/office/drawing/2014/main" id="{3F8DA566-0B90-49BB-9E21-A59CB20D3DA3}"/>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685D70"/>
                </a:solidFill>
              </a:defRPr>
            </a:pPr>
            <a:r>
              <a:rPr sz="825" b="1">
                <a:solidFill>
                  <a:srgbClr val="685D70"/>
                </a:solidFill>
              </a:rPr>
              <a:t>LINUX FOUNDATIONS</a:t>
            </a:r>
          </a:p>
        </p:txBody>
      </p:sp>
      <p:sp>
        <p:nvSpPr>
          <p:cNvPr id="4" name="">
            <a:extLst xmlns:a="http://schemas.openxmlformats.org/drawingml/2006/main">
              <a:ext uri="{FF2B5EF4-FFF2-40B4-BE49-F238E27FC236}">
                <a16:creationId xmlns:a16="http://schemas.microsoft.com/office/drawing/2014/main" id="{053826AA-2CF2-4F30-A68B-748153C50EAC}"/>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685D70"/>
                </a:solidFill>
              </a:defRPr>
            </a:pPr>
            <a:r>
              <a:rPr sz="825" b="0">
                <a:solidFill>
                  <a:srgbClr val="685D70"/>
                </a:solidFill>
              </a:rPr>
              <a:t>111</a:t>
            </a:r>
          </a:p>
        </p:txBody>
      </p:sp>
      <p:sp>
        <p:nvSpPr>
          <p:cNvPr id="5" name="">
            <a:extLst xmlns:a="http://schemas.openxmlformats.org/drawingml/2006/main">
              <a:ext uri="{FF2B5EF4-FFF2-40B4-BE49-F238E27FC236}">
                <a16:creationId xmlns:a16="http://schemas.microsoft.com/office/drawing/2014/main" id="{EC59F34F-BC65-49E4-9E48-401FBD956A8B}"/>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Primary manuals define the claims</a:t>
            </a:r>
          </a:p>
        </p:txBody>
      </p:sp>
      <p:sp>
        <p:nvSpPr>
          <p:cNvPr id="6" name="">
            <a:extLst xmlns:a="http://schemas.openxmlformats.org/drawingml/2006/main">
              <a:ext uri="{FF2B5EF4-FFF2-40B4-BE49-F238E27FC236}">
                <a16:creationId xmlns:a16="http://schemas.microsoft.com/office/drawing/2014/main" id="{B2CCB324-21A0-417E-ACA5-80FA85A1FA93}"/>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The course claim ledger maps every module and lab to authoritative documentation.</a:t>
            </a:r>
          </a:p>
        </p:txBody>
      </p:sp>
      <p:sp>
        <p:nvSpPr>
          <p:cNvPr id="7" name="">
            <a:extLst xmlns:a="http://schemas.openxmlformats.org/drawingml/2006/main">
              <a:ext uri="{FF2B5EF4-FFF2-40B4-BE49-F238E27FC236}">
                <a16:creationId xmlns:a16="http://schemas.microsoft.com/office/drawing/2014/main" id="{CCFF0842-4949-46A0-9D5D-49EC99DDD9CC}"/>
              </a:ext>
            </a:extLst>
          </p:cNvPr>
          <p:cNvSpPr>
            <a:spLocks xmlns:a="http://schemas.openxmlformats.org/drawingml/2006/main" noGrp="1"/>
          </p:cNvSpPr>
          <p:nvPr/>
        </p:nvSpPr>
        <p:spPr>
          <a:xfrm xmlns:a="http://schemas.openxmlformats.org/drawingml/2006/main">
            <a:off x="781050" y="29051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DB0E4DA-67C6-45D7-85FF-1DD80744CEF5}"/>
              </a:ext>
            </a:extLst>
          </p:cNvPr>
          <p:cNvSpPr>
            <a:spLocks xmlns:a="http://schemas.openxmlformats.org/drawingml/2006/main" noGrp="1"/>
          </p:cNvSpPr>
          <p:nvPr/>
        </p:nvSpPr>
        <p:spPr>
          <a:xfrm xmlns:a="http://schemas.openxmlformats.org/drawingml/2006/main">
            <a:off x="1028700" y="26479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GNU Bash Reference Manual</a:t>
            </a:r>
          </a:p>
        </p:txBody>
      </p:sp>
      <p:sp>
        <p:nvSpPr>
          <p:cNvPr id="9" name="">
            <a:extLst xmlns:a="http://schemas.openxmlformats.org/drawingml/2006/main">
              <a:ext uri="{FF2B5EF4-FFF2-40B4-BE49-F238E27FC236}">
                <a16:creationId xmlns:a16="http://schemas.microsoft.com/office/drawing/2014/main" id="{FDA75DE8-FA47-4A8F-9791-42F08212F2EA}"/>
              </a:ext>
            </a:extLst>
          </p:cNvPr>
          <p:cNvSpPr>
            <a:spLocks xmlns:a="http://schemas.openxmlformats.org/drawingml/2006/main" noGrp="1"/>
          </p:cNvSpPr>
          <p:nvPr/>
        </p:nvSpPr>
        <p:spPr>
          <a:xfrm xmlns:a="http://schemas.openxmlformats.org/drawingml/2006/main">
            <a:off x="781050" y="355282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EF01D95-CA74-4F8C-A153-B3CF0496B92B}"/>
              </a:ext>
            </a:extLst>
          </p:cNvPr>
          <p:cNvSpPr>
            <a:spLocks xmlns:a="http://schemas.openxmlformats.org/drawingml/2006/main" noGrp="1"/>
          </p:cNvSpPr>
          <p:nvPr/>
        </p:nvSpPr>
        <p:spPr>
          <a:xfrm xmlns:a="http://schemas.openxmlformats.org/drawingml/2006/main">
            <a:off x="1028700" y="32956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Ubuntu Server documentation</a:t>
            </a:r>
          </a:p>
        </p:txBody>
      </p:sp>
      <p:sp>
        <p:nvSpPr>
          <p:cNvPr id="11" name="">
            <a:extLst xmlns:a="http://schemas.openxmlformats.org/drawingml/2006/main">
              <a:ext uri="{FF2B5EF4-FFF2-40B4-BE49-F238E27FC236}">
                <a16:creationId xmlns:a16="http://schemas.microsoft.com/office/drawing/2014/main" id="{026B1B84-72D4-49D6-8656-EBA19C41651B}"/>
              </a:ext>
            </a:extLst>
          </p:cNvPr>
          <p:cNvSpPr>
            <a:spLocks xmlns:a="http://schemas.openxmlformats.org/drawingml/2006/main" noGrp="1"/>
          </p:cNvSpPr>
          <p:nvPr/>
        </p:nvSpPr>
        <p:spPr>
          <a:xfrm xmlns:a="http://schemas.openxmlformats.org/drawingml/2006/main">
            <a:off x="781050" y="42005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0F3CAA3-6632-430C-A6C3-1FEF3D9CEFE9}"/>
              </a:ext>
            </a:extLst>
          </p:cNvPr>
          <p:cNvSpPr>
            <a:spLocks xmlns:a="http://schemas.openxmlformats.org/drawingml/2006/main" noGrp="1"/>
          </p:cNvSpPr>
          <p:nvPr/>
        </p:nvSpPr>
        <p:spPr>
          <a:xfrm xmlns:a="http://schemas.openxmlformats.org/drawingml/2006/main">
            <a:off x="1028700" y="39433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systemd manuals</a:t>
            </a:r>
          </a:p>
        </p:txBody>
      </p:sp>
      <p:sp>
        <p:nvSpPr>
          <p:cNvPr id="13" name="">
            <a:extLst xmlns:a="http://schemas.openxmlformats.org/drawingml/2006/main">
              <a:ext uri="{FF2B5EF4-FFF2-40B4-BE49-F238E27FC236}">
                <a16:creationId xmlns:a16="http://schemas.microsoft.com/office/drawing/2014/main" id="{638EDA38-911B-49A2-90E7-F05DCDD7B79B}"/>
              </a:ext>
            </a:extLst>
          </p:cNvPr>
          <p:cNvSpPr>
            <a:spLocks xmlns:a="http://schemas.openxmlformats.org/drawingml/2006/main" noGrp="1"/>
          </p:cNvSpPr>
          <p:nvPr/>
        </p:nvSpPr>
        <p:spPr>
          <a:xfrm xmlns:a="http://schemas.openxmlformats.org/drawingml/2006/main">
            <a:off x="781050" y="484822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BE4B5B8-C90F-45A9-B38A-443E29DA230B}"/>
              </a:ext>
            </a:extLst>
          </p:cNvPr>
          <p:cNvSpPr>
            <a:spLocks xmlns:a="http://schemas.openxmlformats.org/drawingml/2006/main" noGrp="1"/>
          </p:cNvSpPr>
          <p:nvPr/>
        </p:nvSpPr>
        <p:spPr>
          <a:xfrm xmlns:a="http://schemas.openxmlformats.org/drawingml/2006/main">
            <a:off x="1028700" y="45910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OpenSSH manuals</a:t>
            </a:r>
          </a:p>
        </p:txBody>
      </p:sp>
      <p:sp>
        <p:nvSpPr>
          <p:cNvPr id="15" name="">
            <a:extLst xmlns:a="http://schemas.openxmlformats.org/drawingml/2006/main">
              <a:ext uri="{FF2B5EF4-FFF2-40B4-BE49-F238E27FC236}">
                <a16:creationId xmlns:a16="http://schemas.microsoft.com/office/drawing/2014/main" id="{7D3705FA-E289-480D-9D21-C83CAB3C79E2}"/>
              </a:ext>
            </a:extLst>
          </p:cNvPr>
          <p:cNvSpPr>
            <a:spLocks xmlns:a="http://schemas.openxmlformats.org/drawingml/2006/main" noGrp="1"/>
          </p:cNvSpPr>
          <p:nvPr/>
        </p:nvSpPr>
        <p:spPr>
          <a:xfrm xmlns:a="http://schemas.openxmlformats.org/drawingml/2006/main">
            <a:off x="781050" y="5495925"/>
            <a:ext cx="95250" cy="95250"/>
          </a:xfrm>
          <a:prstGeom xmlns:a="http://schemas.openxmlformats.org/drawingml/2006/main" prst="roundRect">
            <a:avLst>
              <a:gd name="adj" fmla="val 50000"/>
            </a:avLst>
          </a:prstGeom>
          <a:solidFill xmlns:a="http://schemas.openxmlformats.org/drawingml/2006/main">
            <a:srgbClr val="7650F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A167A381-E37D-4E2D-922C-420C65E6CEC9}"/>
              </a:ext>
            </a:extLst>
          </p:cNvPr>
          <p:cNvSpPr>
            <a:spLocks xmlns:a="http://schemas.openxmlformats.org/drawingml/2006/main" noGrp="1"/>
          </p:cNvSpPr>
          <p:nvPr/>
        </p:nvSpPr>
        <p:spPr>
          <a:xfrm xmlns:a="http://schemas.openxmlformats.org/drawingml/2006/main">
            <a:off x="1028700" y="52387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Linux man-pages and FHS</a:t>
            </a:r>
          </a:p>
        </p:txBody>
      </p:sp>
      <p:sp>
        <p:nvSpPr>
          <p:cNvPr id="17" name="">
            <a:extLst xmlns:a="http://schemas.openxmlformats.org/drawingml/2006/main">
              <a:ext uri="{FF2B5EF4-FFF2-40B4-BE49-F238E27FC236}">
                <a16:creationId xmlns:a16="http://schemas.microsoft.com/office/drawing/2014/main" id="{D9ED14FE-4507-4E35-9F71-3559F9DE173F}"/>
              </a:ext>
            </a:extLst>
          </p:cNvPr>
          <p:cNvSpPr>
            <a:spLocks xmlns:a="http://schemas.openxmlformats.org/drawingml/2006/main" noGrp="1"/>
          </p:cNvSpPr>
          <p:nvPr/>
        </p:nvSpPr>
        <p:spPr>
          <a:xfrm xmlns:a="http://schemas.openxmlformats.org/drawingml/2006/main">
            <a:off x="781050" y="6143625"/>
            <a:ext cx="95250" cy="95250"/>
          </a:xfrm>
          <a:prstGeom xmlns:a="http://schemas.openxmlformats.org/drawingml/2006/main" prst="roundRect">
            <a:avLst>
              <a:gd name="adj" fmla="val 50000"/>
            </a:avLst>
          </a:prstGeom>
          <a:solidFill xmlns:a="http://schemas.openxmlformats.org/drawingml/2006/main">
            <a:srgbClr val="FF6F61"/>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DE6EA180-B979-40D2-B3D1-29C92631E9BE}"/>
              </a:ext>
            </a:extLst>
          </p:cNvPr>
          <p:cNvSpPr>
            <a:spLocks xmlns:a="http://schemas.openxmlformats.org/drawingml/2006/main" noGrp="1"/>
          </p:cNvSpPr>
          <p:nvPr/>
        </p:nvSpPr>
        <p:spPr>
          <a:xfrm xmlns:a="http://schemas.openxmlformats.org/drawingml/2006/main">
            <a:off x="1028700" y="5886450"/>
            <a:ext cx="9563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211729"/>
                </a:solidFill>
              </a:defRPr>
            </a:pPr>
            <a:r>
              <a:rPr sz="1650" b="0">
                <a:solidFill>
                  <a:srgbClr val="211729"/>
                </a:solidFill>
              </a:rPr>
              <a:t>Incus instance documentation</a:t>
            </a:r>
          </a:p>
        </p:txBody>
      </p:sp>
    </p:spTree>
    <p:extLst>
      <p:ext uri="{BB962C8B-B14F-4D97-AF65-F5344CB8AC3E}">
        <p14:creationId xmlns:p14="http://schemas.microsoft.com/office/powerpoint/2010/main" val="818550314"/>
      </p:ext>
    </p:extLst>
  </p:cSld>
</p:sld>
</file>

<file path=ppt/slides/slide112.xml><?xml version="1.0" encoding="utf-8"?>
<p:sld xmlns:p="http://schemas.openxmlformats.org/presentationml/2006/main">
  <p:cSld>
    <p:bg>
      <p:bgPr>
        <a:solidFill xmlns:a="http://schemas.openxmlformats.org/drawingml/2006/main">
          <a:srgbClr val="180D25"/>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0A00316-47B5-4CBD-AF99-0323A041EA28}"/>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FF6F6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D7C4146-7811-46CA-A05A-6069AA929160}"/>
              </a:ext>
            </a:extLst>
          </p:cNvPr>
          <p:cNvSpPr>
            <a:spLocks xmlns:a="http://schemas.openxmlformats.org/drawingml/2006/main" noGrp="1"/>
          </p:cNvSpPr>
          <p:nvPr/>
        </p:nvSpPr>
        <p:spPr>
          <a:xfrm xmlns:a="http://schemas.openxmlformats.org/drawingml/2006/main">
            <a:off x="514350" y="2667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900" b="1">
                <a:solidFill>
                  <a:srgbClr val="FF6F61"/>
                </a:solidFill>
              </a:defRPr>
            </a:pPr>
            <a:r>
              <a:rPr sz="900" b="1">
                <a:solidFill>
                  <a:srgbClr val="FF6F61"/>
                </a:solidFill>
              </a:rPr>
              <a:t>LINUX FOUNDATIONS</a:t>
            </a:r>
          </a:p>
        </p:txBody>
      </p:sp>
      <p:sp>
        <p:nvSpPr>
          <p:cNvPr id="3" name="">
            <a:extLst xmlns:a="http://schemas.openxmlformats.org/drawingml/2006/main">
              <a:ext uri="{FF2B5EF4-FFF2-40B4-BE49-F238E27FC236}">
                <a16:creationId xmlns:a16="http://schemas.microsoft.com/office/drawing/2014/main" id="{AAEBEF0A-B870-4651-B37D-DA382FBA4A94}"/>
              </a:ext>
            </a:extLst>
          </p:cNvPr>
          <p:cNvSpPr>
            <a:spLocks xmlns:a="http://schemas.openxmlformats.org/drawingml/2006/main" noGrp="1"/>
          </p:cNvSpPr>
          <p:nvPr/>
        </p:nvSpPr>
        <p:spPr>
          <a:xfrm xmlns:a="http://schemas.openxmlformats.org/drawingml/2006/main">
            <a:off x="9715500" y="26670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1">
                <a:solidFill>
                  <a:srgbClr val="CFC5D5"/>
                </a:solidFill>
              </a:defRPr>
            </a:pPr>
            <a:r>
              <a:rPr sz="825" b="1">
                <a:solidFill>
                  <a:srgbClr val="CFC5D5"/>
                </a:solidFill>
              </a:rPr>
              <a:t>LINUX FOUNDATIONS</a:t>
            </a:r>
          </a:p>
        </p:txBody>
      </p:sp>
      <p:sp>
        <p:nvSpPr>
          <p:cNvPr id="4" name="">
            <a:extLst xmlns:a="http://schemas.openxmlformats.org/drawingml/2006/main">
              <a:ext uri="{FF2B5EF4-FFF2-40B4-BE49-F238E27FC236}">
                <a16:creationId xmlns:a16="http://schemas.microsoft.com/office/drawing/2014/main" id="{0616C9E2-B985-42CD-9DF9-3A919A71C032}"/>
              </a:ext>
            </a:extLst>
          </p:cNvPr>
          <p:cNvSpPr>
            <a:spLocks xmlns:a="http://schemas.openxmlformats.org/drawingml/2006/main" noGrp="1"/>
          </p:cNvSpPr>
          <p:nvPr/>
        </p:nvSpPr>
        <p:spPr>
          <a:xfrm xmlns:a="http://schemas.openxmlformats.org/drawingml/2006/main">
            <a:off x="10953750" y="638175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825" b="0">
                <a:solidFill>
                  <a:srgbClr val="AFA2B8"/>
                </a:solidFill>
              </a:defRPr>
            </a:pPr>
            <a:r>
              <a:rPr sz="825" b="0">
                <a:solidFill>
                  <a:srgbClr val="AFA2B8"/>
                </a:solidFill>
              </a:rPr>
              <a:t>112</a:t>
            </a:r>
          </a:p>
        </p:txBody>
      </p:sp>
      <p:sp>
        <p:nvSpPr>
          <p:cNvPr id="5" name="">
            <a:extLst xmlns:a="http://schemas.openxmlformats.org/drawingml/2006/main">
              <a:ext uri="{FF2B5EF4-FFF2-40B4-BE49-F238E27FC236}">
                <a16:creationId xmlns:a16="http://schemas.microsoft.com/office/drawing/2014/main" id="{84F581F1-BFF7-485C-9009-DC152A817EE0}"/>
              </a:ext>
            </a:extLst>
          </p:cNvPr>
          <p:cNvSpPr>
            <a:spLocks xmlns:a="http://schemas.openxmlformats.org/drawingml/2006/main" noGrp="1"/>
          </p:cNvSpPr>
          <p:nvPr/>
        </p:nvSpPr>
        <p:spPr>
          <a:xfrm xmlns:a="http://schemas.openxmlformats.org/drawingml/2006/main">
            <a:off x="514350" y="6667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2700" b="1">
                <a:solidFill>
                  <a:srgbClr val="211729"/>
                </a:solidFill>
              </a:defRPr>
            </a:pPr>
            <a:r>
              <a:rPr sz="2700" b="1">
                <a:solidFill>
                  <a:srgbClr val="211729"/>
                </a:solidFill>
              </a:rPr>
              <a:t>Operate the system. Trust the evidence.</a:t>
            </a:r>
          </a:p>
        </p:txBody>
      </p:sp>
      <p:sp>
        <p:nvSpPr>
          <p:cNvPr id="6" name="">
            <a:extLst xmlns:a="http://schemas.openxmlformats.org/drawingml/2006/main">
              <a:ext uri="{FF2B5EF4-FFF2-40B4-BE49-F238E27FC236}">
                <a16:creationId xmlns:a16="http://schemas.microsoft.com/office/drawing/2014/main" id="{50DF7B23-CD78-47C4-9A08-7D5D2C2F1014}"/>
              </a:ext>
            </a:extLst>
          </p:cNvPr>
          <p:cNvSpPr>
            <a:spLocks xmlns:a="http://schemas.openxmlformats.org/drawingml/2006/main" noGrp="1"/>
          </p:cNvSpPr>
          <p:nvPr/>
        </p:nvSpPr>
        <p:spPr>
          <a:xfrm xmlns:a="http://schemas.openxmlformats.org/drawingml/2006/main">
            <a:off x="514350" y="1504950"/>
            <a:ext cx="10668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buNone/>
              <a:defRPr sz="1650" b="0">
                <a:solidFill>
                  <a:srgbClr val="685D70"/>
                </a:solidFill>
              </a:defRPr>
            </a:pPr>
            <a:r>
              <a:rPr sz="1650" b="0">
                <a:solidFill>
                  <a:srgbClr val="685D70"/>
                </a:solidFill>
              </a:rPr>
              <a:t>You do not need to remember every command. You need to know what question to ask, what changed, and what would prove it.</a:t>
            </a:r>
          </a:p>
        </p:txBody>
      </p:sp>
      <p:sp>
        <p:nvSpPr>
          <p:cNvPr id="7" name="">
            <a:extLst xmlns:a="http://schemas.openxmlformats.org/drawingml/2006/main">
              <a:ext uri="{FF2B5EF4-FFF2-40B4-BE49-F238E27FC236}">
                <a16:creationId xmlns:a16="http://schemas.microsoft.com/office/drawing/2014/main" id="{6F6CB4A1-CC3C-4AEC-883B-FA42F728D698}"/>
              </a:ext>
            </a:extLst>
          </p:cNvPr>
          <p:cNvSpPr>
            <a:spLocks xmlns:a="http://schemas.openxmlformats.org/drawingml/2006/main" noGrp="1"/>
          </p:cNvSpPr>
          <p:nvPr/>
        </p:nvSpPr>
        <p:spPr>
          <a:xfrm xmlns:a="http://schemas.openxmlformats.org/drawingml/2006/main">
            <a:off x="666750" y="2667000"/>
            <a:ext cx="10096500" cy="38100"/>
          </a:xfrm>
          <a:prstGeom xmlns:a="http://schemas.openxmlformats.org/drawingml/2006/main" prst="rect">
            <a:avLst/>
          </a:prstGeom>
          <a:solidFill xmlns:a="http://schemas.openxmlformats.org/drawingml/2006/main">
            <a:srgbClr val="7650F8"/>
          </a:solidFill>
          <a:ln xmlns:a="http://schemas.openxmlformats.org/drawingml/2006/main" w="0">
            <a:noFill/>
            <a:prstDash val="solid"/>
          </a:ln>
        </p:spPr>
      </p:sp>
    </p:spTree>
    <p:extLst>
      <p:ext uri="{BB962C8B-B14F-4D97-AF65-F5344CB8AC3E}">
        <p14:creationId xmlns:p14="http://schemas.microsoft.com/office/powerpoint/2010/main" val="126919737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2026-07-21T09:47:24.9920000Z</dcterms:created>
  <dcterms:modified xsi:type="dcterms:W3CDTF">2026-07-21T09:47:24.9920000Z</dcterms:modified>
</coreProperties>
</file>