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c2ec4d678d14939" /><Relationship Type="http://schemas.openxmlformats.org/officeDocument/2006/relationships/extended-properties" Target="/docProps/app.xml" Id="Rb24fb5c7aa354928" /><Relationship Type="http://schemas.openxmlformats.org/officeDocument/2006/relationships/officeDocument" Target="/ppt/presentation.xml" Id="Red31f28068014ab7" /></Relationships>
</file>

<file path=ppt/presentation.xml><?xml version="1.0" encoding="utf-8"?>
<p:presentation xmlns:p="http://schemas.openxmlformats.org/presentationml/2006/main">
  <p:sldMasterIdLst>
    <p:sldMasterId xmlns:r="http://schemas.openxmlformats.org/officeDocument/2006/relationships" id="2147483648" r:id="R8719352c821d4ec4"/>
  </p:sldMasterIdLst>
  <p:notesMasterIdLst>
    <p:notesMasterId xmlns:r="http://schemas.openxmlformats.org/officeDocument/2006/relationships" r:id="R35867552aee14651"/>
  </p:notesMasterIdLst>
  <p:sldIdLst>
    <p:sldId xmlns:r="http://schemas.openxmlformats.org/officeDocument/2006/relationships" id="256" r:id="R2e00355324c542a3"/>
    <p:sldId xmlns:r="http://schemas.openxmlformats.org/officeDocument/2006/relationships" id="257" r:id="R5a4a8e331e7e47df"/>
    <p:sldId xmlns:r="http://schemas.openxmlformats.org/officeDocument/2006/relationships" id="258" r:id="R6ca86aea995240cd"/>
    <p:sldId xmlns:r="http://schemas.openxmlformats.org/officeDocument/2006/relationships" id="259" r:id="Rb30926bde5084533"/>
    <p:sldId xmlns:r="http://schemas.openxmlformats.org/officeDocument/2006/relationships" id="260" r:id="R17d16dbac379443b"/>
    <p:sldId xmlns:r="http://schemas.openxmlformats.org/officeDocument/2006/relationships" id="261" r:id="R6c2840f5fbe84a5b"/>
    <p:sldId xmlns:r="http://schemas.openxmlformats.org/officeDocument/2006/relationships" id="262" r:id="Ref111e6f677d4905"/>
    <p:sldId xmlns:r="http://schemas.openxmlformats.org/officeDocument/2006/relationships" id="263" r:id="Rf69553a14de14d95"/>
    <p:sldId xmlns:r="http://schemas.openxmlformats.org/officeDocument/2006/relationships" id="264" r:id="Rd0617ce4038547ff"/>
    <p:sldId xmlns:r="http://schemas.openxmlformats.org/officeDocument/2006/relationships" id="265" r:id="Ra944b737dd49478d"/>
    <p:sldId xmlns:r="http://schemas.openxmlformats.org/officeDocument/2006/relationships" id="266" r:id="R264e411971614939"/>
    <p:sldId xmlns:r="http://schemas.openxmlformats.org/officeDocument/2006/relationships" id="267" r:id="R608065ec0c52418b"/>
    <p:sldId xmlns:r="http://schemas.openxmlformats.org/officeDocument/2006/relationships" id="268" r:id="R1e09fdac595d4dd7"/>
    <p:sldId xmlns:r="http://schemas.openxmlformats.org/officeDocument/2006/relationships" id="269" r:id="R88db7a1801af4530"/>
    <p:sldId xmlns:r="http://schemas.openxmlformats.org/officeDocument/2006/relationships" id="270" r:id="Ra6cc5979b29f40c3"/>
    <p:sldId xmlns:r="http://schemas.openxmlformats.org/officeDocument/2006/relationships" id="271" r:id="R3ff9e6cae2454979"/>
    <p:sldId xmlns:r="http://schemas.openxmlformats.org/officeDocument/2006/relationships" id="272" r:id="Rc5199defa0fe4525"/>
    <p:sldId xmlns:r="http://schemas.openxmlformats.org/officeDocument/2006/relationships" id="273" r:id="R3b87203a2fa74f44"/>
    <p:sldId xmlns:r="http://schemas.openxmlformats.org/officeDocument/2006/relationships" id="274" r:id="Rfab9e056a64d4e33"/>
    <p:sldId xmlns:r="http://schemas.openxmlformats.org/officeDocument/2006/relationships" id="275" r:id="R33eef268ef894da7"/>
    <p:sldId xmlns:r="http://schemas.openxmlformats.org/officeDocument/2006/relationships" id="276" r:id="R4efcda1a7a534499"/>
    <p:sldId xmlns:r="http://schemas.openxmlformats.org/officeDocument/2006/relationships" id="277" r:id="Re4703a19f19843e1"/>
    <p:sldId xmlns:r="http://schemas.openxmlformats.org/officeDocument/2006/relationships" id="278" r:id="R966ae48b56cf41e9"/>
    <p:sldId xmlns:r="http://schemas.openxmlformats.org/officeDocument/2006/relationships" id="279" r:id="Raf320df27c4c48d1"/>
    <p:sldId xmlns:r="http://schemas.openxmlformats.org/officeDocument/2006/relationships" id="280" r:id="Re4da1ac3a5854339"/>
    <p:sldId xmlns:r="http://schemas.openxmlformats.org/officeDocument/2006/relationships" id="281" r:id="Rd7d5a43409e446d8"/>
    <p:sldId xmlns:r="http://schemas.openxmlformats.org/officeDocument/2006/relationships" id="282" r:id="Rb2926673a42246f6"/>
    <p:sldId xmlns:r="http://schemas.openxmlformats.org/officeDocument/2006/relationships" id="283" r:id="R113c5a67b9e74740"/>
    <p:sldId xmlns:r="http://schemas.openxmlformats.org/officeDocument/2006/relationships" id="284" r:id="Rb29c6dfebe624f68"/>
    <p:sldId xmlns:r="http://schemas.openxmlformats.org/officeDocument/2006/relationships" id="285" r:id="R68d1490ce6fc43e9"/>
    <p:sldId xmlns:r="http://schemas.openxmlformats.org/officeDocument/2006/relationships" id="286" r:id="Rdf1793daa7724b27"/>
    <p:sldId xmlns:r="http://schemas.openxmlformats.org/officeDocument/2006/relationships" id="287" r:id="Rffccd2ed63464b02"/>
    <p:sldId xmlns:r="http://schemas.openxmlformats.org/officeDocument/2006/relationships" id="288" r:id="R244d9ca3503543cf"/>
    <p:sldId xmlns:r="http://schemas.openxmlformats.org/officeDocument/2006/relationships" id="289" r:id="Re6f14bef332f40e0"/>
    <p:sldId xmlns:r="http://schemas.openxmlformats.org/officeDocument/2006/relationships" id="290" r:id="R6119546054ed412d"/>
    <p:sldId xmlns:r="http://schemas.openxmlformats.org/officeDocument/2006/relationships" id="291" r:id="R120435ffc07447e7"/>
    <p:sldId xmlns:r="http://schemas.openxmlformats.org/officeDocument/2006/relationships" id="292" r:id="R8bd48463a8df4ed3"/>
    <p:sldId xmlns:r="http://schemas.openxmlformats.org/officeDocument/2006/relationships" id="293" r:id="Reb03c5768cf140d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2895df82af84c0e" /><Relationship Type="http://schemas.openxmlformats.org/officeDocument/2006/relationships/slideMaster" Target="/ppt/slideMasters/slideMaster1.xml" Id="R8719352c821d4ec4" /><Relationship Type="http://schemas.openxmlformats.org/officeDocument/2006/relationships/notesMaster" Target="/ppt/notesMasters/notesMaster1.xml" Id="R35867552aee14651" /><Relationship Type="http://schemas.openxmlformats.org/officeDocument/2006/relationships/presProps" Target="/ppt/presProps.xml" Id="R8f78d20bfd4241e2" /><Relationship Type="http://schemas.openxmlformats.org/officeDocument/2006/relationships/tableStyles" Target="/ppt/tableStyles.xml" Id="Rc20caf2115054ae4" /><Relationship Type="http://schemas.openxmlformats.org/officeDocument/2006/relationships/slide" Target="/ppt/slides/slide1.xml" Id="R2e00355324c542a3" /><Relationship Type="http://schemas.openxmlformats.org/officeDocument/2006/relationships/slide" Target="/ppt/slides/slide2.xml" Id="R5a4a8e331e7e47df" /><Relationship Type="http://schemas.openxmlformats.org/officeDocument/2006/relationships/slide" Target="/ppt/slides/slide3.xml" Id="R6ca86aea995240cd" /><Relationship Type="http://schemas.openxmlformats.org/officeDocument/2006/relationships/slide" Target="/ppt/slides/slide4.xml" Id="Rb30926bde5084533" /><Relationship Type="http://schemas.openxmlformats.org/officeDocument/2006/relationships/slide" Target="/ppt/slides/slide5.xml" Id="R17d16dbac379443b" /><Relationship Type="http://schemas.openxmlformats.org/officeDocument/2006/relationships/slide" Target="/ppt/slides/slide6.xml" Id="R6c2840f5fbe84a5b" /><Relationship Type="http://schemas.openxmlformats.org/officeDocument/2006/relationships/slide" Target="/ppt/slides/slide7.xml" Id="Ref111e6f677d4905" /><Relationship Type="http://schemas.openxmlformats.org/officeDocument/2006/relationships/slide" Target="/ppt/slides/slide8.xml" Id="Rf69553a14de14d95" /><Relationship Type="http://schemas.openxmlformats.org/officeDocument/2006/relationships/slide" Target="/ppt/slides/slide9.xml" Id="Rd0617ce4038547ff" /><Relationship Type="http://schemas.openxmlformats.org/officeDocument/2006/relationships/slide" Target="/ppt/slides/slide10.xml" Id="Ra944b737dd49478d" /><Relationship Type="http://schemas.openxmlformats.org/officeDocument/2006/relationships/slide" Target="/ppt/slides/slide11.xml" Id="R264e411971614939" /><Relationship Type="http://schemas.openxmlformats.org/officeDocument/2006/relationships/slide" Target="/ppt/slides/slide12.xml" Id="R608065ec0c52418b" /><Relationship Type="http://schemas.openxmlformats.org/officeDocument/2006/relationships/slide" Target="/ppt/slides/slide13.xml" Id="R1e09fdac595d4dd7" /><Relationship Type="http://schemas.openxmlformats.org/officeDocument/2006/relationships/slide" Target="/ppt/slides/slide14.xml" Id="R88db7a1801af4530" /><Relationship Type="http://schemas.openxmlformats.org/officeDocument/2006/relationships/slide" Target="/ppt/slides/slide15.xml" Id="Ra6cc5979b29f40c3" /><Relationship Type="http://schemas.openxmlformats.org/officeDocument/2006/relationships/slide" Target="/ppt/slides/slide16.xml" Id="R3ff9e6cae2454979" /><Relationship Type="http://schemas.openxmlformats.org/officeDocument/2006/relationships/slide" Target="/ppt/slides/slide17.xml" Id="Rc5199defa0fe4525" /><Relationship Type="http://schemas.openxmlformats.org/officeDocument/2006/relationships/slide" Target="/ppt/slides/slide18.xml" Id="R3b87203a2fa74f44" /><Relationship Type="http://schemas.openxmlformats.org/officeDocument/2006/relationships/slide" Target="/ppt/slides/slide19.xml" Id="Rfab9e056a64d4e33" /><Relationship Type="http://schemas.openxmlformats.org/officeDocument/2006/relationships/slide" Target="/ppt/slides/slide20.xml" Id="R33eef268ef894da7" /><Relationship Type="http://schemas.openxmlformats.org/officeDocument/2006/relationships/slide" Target="/ppt/slides/slide21.xml" Id="R4efcda1a7a534499" /><Relationship Type="http://schemas.openxmlformats.org/officeDocument/2006/relationships/slide" Target="/ppt/slides/slide22.xml" Id="Re4703a19f19843e1" /><Relationship Type="http://schemas.openxmlformats.org/officeDocument/2006/relationships/slide" Target="/ppt/slides/slide23.xml" Id="R966ae48b56cf41e9" /><Relationship Type="http://schemas.openxmlformats.org/officeDocument/2006/relationships/slide" Target="/ppt/slides/slide24.xml" Id="Raf320df27c4c48d1" /><Relationship Type="http://schemas.openxmlformats.org/officeDocument/2006/relationships/slide" Target="/ppt/slides/slide25.xml" Id="Re4da1ac3a5854339" /><Relationship Type="http://schemas.openxmlformats.org/officeDocument/2006/relationships/slide" Target="/ppt/slides/slide26.xml" Id="Rd7d5a43409e446d8" /><Relationship Type="http://schemas.openxmlformats.org/officeDocument/2006/relationships/slide" Target="/ppt/slides/slide27.xml" Id="Rb2926673a42246f6" /><Relationship Type="http://schemas.openxmlformats.org/officeDocument/2006/relationships/slide" Target="/ppt/slides/slide28.xml" Id="R113c5a67b9e74740" /><Relationship Type="http://schemas.openxmlformats.org/officeDocument/2006/relationships/slide" Target="/ppt/slides/slide29.xml" Id="Rb29c6dfebe624f68" /><Relationship Type="http://schemas.openxmlformats.org/officeDocument/2006/relationships/slide" Target="/ppt/slides/slide30.xml" Id="R68d1490ce6fc43e9" /><Relationship Type="http://schemas.openxmlformats.org/officeDocument/2006/relationships/slide" Target="/ppt/slides/slide31.xml" Id="Rdf1793daa7724b27" /><Relationship Type="http://schemas.openxmlformats.org/officeDocument/2006/relationships/slide" Target="/ppt/slides/slide32.xml" Id="Rffccd2ed63464b02" /><Relationship Type="http://schemas.openxmlformats.org/officeDocument/2006/relationships/slide" Target="/ppt/slides/slide33.xml" Id="R244d9ca3503543cf" /><Relationship Type="http://schemas.openxmlformats.org/officeDocument/2006/relationships/slide" Target="/ppt/slides/slide34.xml" Id="Re6f14bef332f40e0" /><Relationship Type="http://schemas.openxmlformats.org/officeDocument/2006/relationships/slide" Target="/ppt/slides/slide35.xml" Id="R6119546054ed412d" /><Relationship Type="http://schemas.openxmlformats.org/officeDocument/2006/relationships/slide" Target="/ppt/slides/slide36.xml" Id="R120435ffc07447e7" /><Relationship Type="http://schemas.openxmlformats.org/officeDocument/2006/relationships/slide" Target="/ppt/slides/slide37.xml" Id="R8bd48463a8df4ed3" /><Relationship Type="http://schemas.openxmlformats.org/officeDocument/2006/relationships/slide" Target="/ppt/slides/slide38.xml" Id="Reb03c5768cf140d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966417827c14fc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a0cbbbc77084a9f" /><Relationship Type="http://schemas.openxmlformats.org/officeDocument/2006/relationships/notesMaster" Target="/ppt/notesMasters/notesMaster1.xml" Id="Rea39d982e6104d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a4ecd8bc320f42f3" /><Relationship Type="http://schemas.openxmlformats.org/officeDocument/2006/relationships/notesMaster" Target="/ppt/notesMasters/notesMaster1.xml" Id="R427d83c097fa42d3"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8cda2718d74351" /><Relationship Type="http://schemas.openxmlformats.org/officeDocument/2006/relationships/notesMaster" Target="/ppt/notesMasters/notesMaster1.xml" Id="R533a5784461d4e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e55c6491a7ae4567" /><Relationship Type="http://schemas.openxmlformats.org/officeDocument/2006/relationships/notesMaster" Target="/ppt/notesMasters/notesMaster1.xml" Id="Re8750a3466544dd5"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199b7aa264477e" /><Relationship Type="http://schemas.openxmlformats.org/officeDocument/2006/relationships/notesMaster" Target="/ppt/notesMasters/notesMaster1.xml" Id="R2589833f95734140" /></Relationships>
</file>

<file path=ppt/notesSlides/_rels/notesSlide6.xml.rels>&#65279;<?xml version="1.0" encoding="utf-8"?><Relationships xmlns="http://schemas.openxmlformats.org/package/2006/relationships"><Relationship Type="http://schemas.openxmlformats.org/officeDocument/2006/relationships/slide" Target="/ppt/slides/slide6.xml" Id="Rfc53d1840ddf48dd" /><Relationship Type="http://schemas.openxmlformats.org/officeDocument/2006/relationships/notesMaster" Target="/ppt/notesMasters/notesMaster1.xml" Id="R41f793d878054bab" /></Relationships>
</file>

<file path=ppt/notesSlides/_rels/notesSlide7.xml.rels>&#65279;<?xml version="1.0" encoding="utf-8"?><Relationships xmlns="http://schemas.openxmlformats.org/package/2006/relationships"><Relationship Type="http://schemas.openxmlformats.org/officeDocument/2006/relationships/slide" Target="/ppt/slides/slide7.xml" Id="Rd981b53de2324195" /><Relationship Type="http://schemas.openxmlformats.org/officeDocument/2006/relationships/notesMaster" Target="/ppt/notesMasters/notesMaster1.xml" Id="R427447eba1d4484c" /></Relationships>
</file>

<file path=ppt/notesSlides/_rels/notesSlide8.xml.rels>&#65279;<?xml version="1.0" encoding="utf-8"?><Relationships xmlns="http://schemas.openxmlformats.org/package/2006/relationships"><Relationship Type="http://schemas.openxmlformats.org/officeDocument/2006/relationships/slide" Target="/ppt/slides/slide8.xml" Id="R9ead38be86ef4810" /><Relationship Type="http://schemas.openxmlformats.org/officeDocument/2006/relationships/notesMaster" Target="/ppt/notesMasters/notesMaster1.xml" Id="Rbf51278ca9c446af" /></Relationships>
</file>

<file path=ppt/notesSlides/_rels/notesSlide9.xml.rels>&#65279;<?xml version="1.0" encoding="utf-8"?><Relationships xmlns="http://schemas.openxmlformats.org/package/2006/relationships"><Relationship Type="http://schemas.openxmlformats.org/officeDocument/2006/relationships/slide" Target="/ppt/slides/slide9.xml" Id="R64e135d2ba6e4415" /><Relationship Type="http://schemas.openxmlformats.org/officeDocument/2006/relationships/notesMaster" Target="/ppt/notesMasters/notesMaster1.xml" Id="R7a750bb70b224ed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9e75e80694e477a" /><Relationship Type="http://schemas.openxmlformats.org/officeDocument/2006/relationships/notesMaster" Target="/ppt/notesMasters/notesMaster1.xml" Id="Radc1ded823a148e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29faa884076448b" /><Relationship Type="http://schemas.openxmlformats.org/officeDocument/2006/relationships/notesMaster" Target="/ppt/notesMasters/notesMaster1.xml" Id="Re691d0acd9f848b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c8040152aa848e9" /><Relationship Type="http://schemas.openxmlformats.org/officeDocument/2006/relationships/notesMaster" Target="/ppt/notesMasters/notesMaster1.xml" Id="Ra24263734c844e0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1e65156080c414c" /><Relationship Type="http://schemas.openxmlformats.org/officeDocument/2006/relationships/notesMaster" Target="/ppt/notesMasters/notesMaster1.xml" Id="R38beae2ce0ea419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ace053710c843a8" /><Relationship Type="http://schemas.openxmlformats.org/officeDocument/2006/relationships/notesMaster" Target="/ppt/notesMasters/notesMaster1.xml" Id="Rda5d81b61cdf484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4f5f464df704350" /><Relationship Type="http://schemas.openxmlformats.org/officeDocument/2006/relationships/notesMaster" Target="/ppt/notesMasters/notesMaster1.xml" Id="R1ea5ee7bce6d405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bed17230ef84924" /><Relationship Type="http://schemas.openxmlformats.org/officeDocument/2006/relationships/notesMaster" Target="/ppt/notesMasters/notesMaster1.xml" Id="R44cc2c424eff4be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04d6d18a57d4a30" /><Relationship Type="http://schemas.openxmlformats.org/officeDocument/2006/relationships/notesMaster" Target="/ppt/notesMasters/notesMaster1.xml" Id="R071335d6042a44e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fe6cc6b96ab40c6" /><Relationship Type="http://schemas.openxmlformats.org/officeDocument/2006/relationships/notesMaster" Target="/ppt/notesMasters/notesMaster1.xml" Id="R925fc564c4b84d6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769915b34d54879" /><Relationship Type="http://schemas.openxmlformats.org/officeDocument/2006/relationships/notesMaster" Target="/ppt/notesMasters/notesMaster1.xml" Id="R031c567f51ee449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f10ae9f2b3443ab" /><Relationship Type="http://schemas.openxmlformats.org/officeDocument/2006/relationships/notesMaster" Target="/ppt/notesMasters/notesMaster1.xml" Id="R496edc54262e46c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2bf96834c504ab1" /><Relationship Type="http://schemas.openxmlformats.org/officeDocument/2006/relationships/notesMaster" Target="/ppt/notesMasters/notesMaster1.xml" Id="R30bd4e91e4ee467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e60a3ae7a81483c" /><Relationship Type="http://schemas.openxmlformats.org/officeDocument/2006/relationships/notesMaster" Target="/ppt/notesMasters/notesMaster1.xml" Id="Re9d4380a21b7496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a51f8b223c447dd" /><Relationship Type="http://schemas.openxmlformats.org/officeDocument/2006/relationships/notesMaster" Target="/ppt/notesMasters/notesMaster1.xml" Id="Rf7b2b2f5d5f84ef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c5ba6bfcc68454f" /><Relationship Type="http://schemas.openxmlformats.org/officeDocument/2006/relationships/notesMaster" Target="/ppt/notesMasters/notesMaster1.xml" Id="Ra4c3548169254b4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6ae37fd248a4194" /><Relationship Type="http://schemas.openxmlformats.org/officeDocument/2006/relationships/notesMaster" Target="/ppt/notesMasters/notesMaster1.xml" Id="Rad14932f8f4943d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3939c8f251947ba" /><Relationship Type="http://schemas.openxmlformats.org/officeDocument/2006/relationships/notesMaster" Target="/ppt/notesMasters/notesMaster1.xml" Id="Rb05f5f925e06470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4490ab1de0e4c9f" /><Relationship Type="http://schemas.openxmlformats.org/officeDocument/2006/relationships/notesMaster" Target="/ppt/notesMasters/notesMaster1.xml" Id="Rf191a62e13654f9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54c19485e144052" /><Relationship Type="http://schemas.openxmlformats.org/officeDocument/2006/relationships/notesMaster" Target="/ppt/notesMasters/notesMaster1.xml" Id="R3ee266628c26457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6e4d4805e3c405c" /><Relationship Type="http://schemas.openxmlformats.org/officeDocument/2006/relationships/notesMaster" Target="/ppt/notesMasters/notesMaster1.xml" Id="R9e682395d3984c3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f2bf7ea91b74df2" /><Relationship Type="http://schemas.openxmlformats.org/officeDocument/2006/relationships/notesMaster" Target="/ppt/notesMasters/notesMaster1.xml" Id="Rf057b787794e46c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02b34cfc8344e94" /><Relationship Type="http://schemas.openxmlformats.org/officeDocument/2006/relationships/notesMaster" Target="/ppt/notesMasters/notesMaster1.xml" Id="R961dd964fa64441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e7f9007efbf426b" /><Relationship Type="http://schemas.openxmlformats.org/officeDocument/2006/relationships/notesMaster" Target="/ppt/notesMasters/notesMaster1.xml" Id="R0ba8a0f75e6a475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de7eca4a75e4944" /><Relationship Type="http://schemas.openxmlformats.org/officeDocument/2006/relationships/notesMaster" Target="/ppt/notesMasters/notesMaster1.xml" Id="R0ef6649fdbe0486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7c7305b3d234a90" /><Relationship Type="http://schemas.openxmlformats.org/officeDocument/2006/relationships/notesMaster" Target="/ppt/notesMasters/notesMaster1.xml" Id="Ra27ee9e650384bb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e3737adcbb84d89" /><Relationship Type="http://schemas.openxmlformats.org/officeDocument/2006/relationships/notesMaster" Target="/ppt/notesMasters/notesMaster1.xml" Id="R1f90f5ada7af41b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530ac500fae4fcc" /><Relationship Type="http://schemas.openxmlformats.org/officeDocument/2006/relationships/notesMaster" Target="/ppt/notesMasters/notesMaster1.xml" Id="R3d1e14af17c54a7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8d2f1421e2f421f" /><Relationship Type="http://schemas.openxmlformats.org/officeDocument/2006/relationships/notesMaster" Target="/ppt/notesMasters/notesMaster1.xml" Id="R17916fd9486f45d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153ce71e2494aff" /><Relationship Type="http://schemas.openxmlformats.org/officeDocument/2006/relationships/notesMaster" Target="/ppt/notesMasters/notesMaster1.xml" Id="Rff4ddd735a1543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Say: “Today is not about memorising a wall of commands. It is about building a reliable operating model: know which Linux session you are in, predict what a command will change, read the resulting state, and use logs as evidence.”</a:t>
            </a:r>
          </a:p>
          <a:p xmlns:a="http://schemas.openxmlformats.org/drawingml/2006/main">
            <a:r>
              <a:t/>
            </a:r>
          </a:p>
          <a:p xmlns:a="http://schemas.openxmlformats.org/drawingml/2006/main">
            <a:r>
              <a:t>Everyone uses the same isolated Ubuntu 24.04 environment through a browser, whether the physical laptop runs macOS or Windows. The first half builds the mental models and demonstrates them; the second half turns those models into muscle memory.</a:t>
            </a:r>
          </a:p>
          <a:p xmlns:a="http://schemas.openxmlformats.org/drawingml/2006/main">
            <a:r>
              <a:t/>
            </a:r>
          </a:p>
          <a:p xmlns:a="http://schemas.openxmlformats.org/drawingml/2006/main">
            <a:r>
              <a:t>Set expectations: each container is disposable, but the safety habits are production habits. Invite questions, but park deep distribution debates so the class reaches the service-diagnosis lab.</a:t>
            </a:r>
          </a:p>
          <a:p xmlns:a="http://schemas.openxmlformats.org/drawingml/2006/main">
            <a:r>
              <a:t/>
            </a:r>
          </a:p>
          <a:p xmlns:a="http://schemas.openxmlformats.org/drawingml/2006/main">
            <a:r>
              <a:t>Transition: “Let’s define what success looks like six hours from now.”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p>
          <a:p xmlns:a="http://schemas.openxmlformats.org/drawingml/2006/main">
            <a:r>
              <a:t>Say: “These are operational outcomes, not trivia outcomes.” Expand each verb. Navigate means you can always answer where you are and what a path refers to. Control access means you can explain why access succeeds or fails before reaching for chmod 777. Diagnose means you can move from a service symptom to unit-specific evidence and prove the fix at the behavior level.</a:t>
            </a:r>
          </a:p>
          <a:p xmlns:a="http://schemas.openxmlformats.org/drawingml/2006/main">
            <a:r>
              <a:t/>
            </a:r>
          </a:p>
          <a:p xmlns:a="http://schemas.openxmlformats.org/drawingml/2006/main">
            <a:r>
              <a:t>Ask for a quick show of hands: who has used a terminal, who has used SSH, who has read systemd logs? Use the answer only to adjust examples—not scope.</a:t>
            </a:r>
          </a:p>
          <a:p xmlns:a="http://schemas.openxmlformats.org/drawingml/2006/main">
            <a:r>
              <a:t/>
            </a:r>
          </a:p>
          <a:p xmlns:a="http://schemas.openxmlformats.org/drawingml/2006/main">
            <a:r>
              <a:t>Transition: “First, one distinction prevents half the mistakes in a mixed-laptop room.”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p>
          <a:p xmlns:a="http://schemas.openxmlformats.org/drawingml/2006/main">
            <a:r>
              <a:t>Say: “The browser is only the window. Each learner works in a real, isolated Ubuntu 24.04 system container behind it.” Point out that Safari, Edge, and Chrome all reach the same terminal; the host operating system no longer changes the lab commands.</a:t>
            </a:r>
          </a:p>
          <a:p xmlns:a="http://schemas.openxmlformats.org/drawingml/2006/main">
            <a:r>
              <a:t/>
            </a:r>
          </a:p>
          <a:p xmlns:a="http://schemas.openxmlformats.org/drawingml/2006/main">
            <a:r>
              <a:t>Give the class a rule: before sudo, rm, chmod, or systemctl, read the prompt and run pwd or hostname if uncertain. The portal labels the current lab and lets the learner reset it to a known state.</a:t>
            </a:r>
          </a:p>
          <a:p xmlns:a="http://schemas.openxmlformats.org/drawingml/2006/main">
            <a:r>
              <a:t/>
            </a:r>
          </a:p>
          <a:p xmlns:a="http://schemas.openxmlformats.org/drawingml/2006/main">
            <a:r>
              <a:t>Ask: “If I close the browser tab, does the Linux session disappear?” Answer: no; it remains on the peer controller until it is reset or destroyed.</a:t>
            </a:r>
          </a:p>
          <a:p xmlns:a="http://schemas.openxmlformats.org/drawingml/2006/main">
            <a:r>
              <a:t/>
            </a:r>
          </a:p>
          <a:p xmlns:a="http://schemas.openxmlformats.org/drawingml/2006/main">
            <a:r>
              <a:t>Transition: “Now we can place six hours of work on a simple 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Explain the exact split: 180 minutes of concepts and instructor demonstrations, then 180 minutes of guided participant work. Demonstrations belong to the teaching half because learners are predicting and observing rather than driving.</a:t>
            </a:r>
          </a:p>
          <a:p xmlns:a="http://schemas.openxmlformats.org/drawingml/2006/main">
            <a:r>
              <a:t/>
            </a:r>
          </a:p>
          <a:p xmlns:a="http://schemas.openxmlformats.org/drawingml/2006/main">
            <a:r>
              <a:t>The six labs are independent, resettable scenarios in isolated Incus containers. Learners enter through a browser terminal, make real system changes, and use “Check my work” to verify state.</a:t>
            </a:r>
          </a:p>
          <a:p xmlns:a="http://schemas.openxmlformats.org/drawingml/2006/main">
            <a:r>
              <a:t/>
            </a:r>
          </a:p>
          <a:p xmlns:a="http://schemas.openxmlformats.org/drawingml/2006/main">
            <a:r>
              <a:t>If the venue gives only six wall-clock hours including breaks, use the compressed option in the instructor runbook: 165 minutes on each side and remove optional discussion prompts equally. Do not cut lab verification steps.</a:t>
            </a:r>
          </a:p>
          <a:p xmlns:a="http://schemas.openxmlformats.org/drawingml/2006/main">
            <a:r>
              <a:t/>
            </a:r>
          </a:p>
          <a:p xmlns:a="http://schemas.openxmlformats.org/drawingml/2006/main">
            <a:r>
              <a:t>Transition: “With the operating boundary and schedule clear, what exactly do we mean by Linux?”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 minutes.</a:t>
            </a:r>
          </a:p>
          <a:p xmlns:a="http://schemas.openxmlformats.org/drawingml/2006/main">
            <a:r>
              <a:t/>
            </a:r>
          </a:p>
          <a:p xmlns:a="http://schemas.openxmlformats.org/drawingml/2006/main">
            <a:r>
              <a:t>Say: “Linux strictly names the kernel. The system you operate combines that kernel with user-space tools, libraries, an init system, packaging, and applications.” Walk from the platform boundary upward. The controller VM supplies virtual hardware; each Incus system container shares the controller kernel while keeping its own user space, processes, filesystem, network, and systemd.</a:t>
            </a:r>
          </a:p>
          <a:p xmlns:a="http://schemas.openxmlformats.org/drawingml/2006/main">
            <a:r>
              <a:t/>
            </a:r>
          </a:p>
          <a:p xmlns:a="http://schemas.openxmlformats.org/drawingml/2006/main">
            <a:r>
              <a:t>Use uname -r as the kernel question and /etc/os-release as the distribution question. This distinction explains why two distributions can share a kernel yet differ in packages, defaults, and support.</a:t>
            </a:r>
          </a:p>
          <a:p xmlns:a="http://schemas.openxmlformats.org/drawingml/2006/main">
            <a:r>
              <a:t/>
            </a:r>
          </a:p>
          <a:p xmlns:a="http://schemas.openxmlformats.org/drawingml/2006/main">
            <a:r>
              <a:t>Avoid a history lecture. The useful model is: when troubleshooting, locate the failing layer.</a:t>
            </a:r>
          </a:p>
          <a:p xmlns:a="http://schemas.openxmlformats.org/drawingml/2006/main">
            <a:r>
              <a:t/>
            </a:r>
          </a:p>
          <a:p xmlns:a="http://schemas.openxmlformats.org/drawingml/2006/main">
            <a:r>
              <a:t>Transition: “A distribution chooses and maintains the pieces above the kernel.”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 minutes.</a:t>
            </a:r>
          </a:p>
          <a:p xmlns:a="http://schemas.openxmlformats.org/drawingml/2006/main">
            <a:r>
              <a:t/>
            </a:r>
          </a:p>
          <a:p xmlns:a="http://schemas.openxmlformats.org/drawingml/2006/main">
            <a:r>
              <a:t>Frame distributions as maintained choices, not competing religions. They bundle a kernel, user space, repositories, defaults, updates, and a support promise. Command families transfer, but package names, paths, service names, and security defaults can differ. For example, Debian-family systems use APT, while RHEL-family systems use DNF.</a:t>
            </a:r>
          </a:p>
          <a:p xmlns:a="http://schemas.openxmlformats.org/drawingml/2006/main">
            <a:r>
              <a:t/>
            </a:r>
          </a:p>
          <a:p xmlns:a="http://schemas.openxmlformats.org/drawingml/2006/main">
            <a:r>
              <a:t>Explain why the workshop standardises on Ubuntu 24.04 LTS: one long-term-supported image, APT, OpenSSH, and systemd, cloned into isolated Incus lab sessions. The browser makes that same Linux environment available from macOS and Windows.</a:t>
            </a:r>
          </a:p>
          <a:p xmlns:a="http://schemas.openxmlformats.org/drawingml/2006/main">
            <a:r>
              <a:t/>
            </a:r>
          </a:p>
          <a:p xmlns:a="http://schemas.openxmlformats.org/drawingml/2006/main">
            <a:r>
              <a:t>Ask: “What should you record before following a web tutorial?” Expected: distribution, version, and command context.</a:t>
            </a:r>
          </a:p>
          <a:p xmlns:a="http://schemas.openxmlformats.org/drawingml/2006/main">
            <a:r>
              <a:t/>
            </a:r>
          </a:p>
          <a:p xmlns:a="http://schemas.openxmlformats.org/drawingml/2006/main">
            <a:r>
              <a:t>Transition: “Across distributions, the filesystem gives us a shared 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 minutes.</a:t>
            </a:r>
          </a:p>
          <a:p xmlns:a="http://schemas.openxmlformats.org/drawingml/2006/main">
            <a:r>
              <a:t/>
            </a:r>
          </a:p>
          <a:p xmlns:a="http://schemas.openxmlformats.org/drawingml/2006/main">
            <a:r>
              <a:t>Anchor the filesystem in operational questions. Slash is the single root, not a drive letter. /etc answers “where is host configuration?” /home answers “where are human-owned files?” /var answers “where does changing runtime data live?” /usr contains installed programs and shared read-only data. Mention /tmp for temporary data and /srv for service data as secondary anchors.</a:t>
            </a:r>
          </a:p>
          <a:p xmlns:a="http://schemas.openxmlformats.org/drawingml/2006/main">
            <a:r>
              <a:t/>
            </a:r>
          </a:p>
          <a:p xmlns:a="http://schemas.openxmlformats.org/drawingml/2006/main">
            <a:r>
              <a:t>Connect to the Filesystem Hierarchy Standard, but note that modern distributions may merge /bin into /usr/bin through symbolic links. Teach intent rather than assuming every directory is a separate disk.</a:t>
            </a:r>
          </a:p>
          <a:p xmlns:a="http://schemas.openxmlformats.org/drawingml/2006/main">
            <a:r>
              <a:t/>
            </a:r>
          </a:p>
          <a:p xmlns:a="http://schemas.openxmlformats.org/drawingml/2006/main">
            <a:r>
              <a:t>Ask learners to predict where SSH server configuration and package logs belong.</a:t>
            </a:r>
          </a:p>
          <a:p xmlns:a="http://schemas.openxmlformats.org/drawingml/2006/main">
            <a:r>
              <a:t/>
            </a:r>
          </a:p>
          <a:p xmlns:a="http://schemas.openxmlformats.org/drawingml/2006/main">
            <a:r>
              <a:t>Transition: “The map becomes useful when paths behave like coordinates.”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 minutes.</a:t>
            </a:r>
          </a:p>
          <a:p xmlns:a="http://schemas.openxmlformats.org/drawingml/2006/main">
            <a:r>
              <a:t/>
            </a:r>
          </a:p>
          <a:p xmlns:a="http://schemas.openxmlformats.org/drawingml/2006/main">
            <a:r>
              <a:t>Use the coordinate analogy. An absolute path starts at slash and is stable across working directories. A relative path starts at pwd. Dot means here; dot-dot means parent; tilde is the current user’s home expansion performed by the shell.</a:t>
            </a:r>
          </a:p>
          <a:p xmlns:a="http://schemas.openxmlformats.org/drawingml/2006/main">
            <a:r>
              <a:t/>
            </a:r>
          </a:p>
          <a:p xmlns:a="http://schemas.openxmlformats.org/drawingml/2006/main">
            <a:r>
              <a:t>Call out spaces and quoting briefly: quote a path when it contains spaces. Avoid teaching backslash escaping in detail; the labs use simple Linux paths.</a:t>
            </a:r>
          </a:p>
          <a:p xmlns:a="http://schemas.openxmlformats.org/drawingml/2006/main">
            <a:r>
              <a:t/>
            </a:r>
          </a:p>
          <a:p xmlns:a="http://schemas.openxmlformats.org/drawingml/2006/main">
            <a:r>
              <a:t>Model the safety loop aloud: pwd, ls -ld target, perform one change, then ls or stat to verify. This is especially important before recursive operations.</a:t>
            </a:r>
          </a:p>
          <a:p xmlns:a="http://schemas.openxmlformats.org/drawingml/2006/main">
            <a:r>
              <a:t/>
            </a:r>
          </a:p>
          <a:p xmlns:a="http://schemas.openxmlformats.org/drawingml/2006/main">
            <a:r>
              <a:t>Transition: “The terminal is where we express that intent—and where small symbols compose powerful 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 minutes.</a:t>
            </a:r>
          </a:p>
          <a:p xmlns:a="http://schemas.openxmlformats.org/drawingml/2006/main">
            <a:r>
              <a:t/>
            </a:r>
          </a:p>
          <a:p xmlns:a="http://schemas.openxmlformats.org/drawingml/2006/main">
            <a:r>
              <a:t>Parse the example left to right. The prompt is context, not part of the command. The shell tokenises the command, expands paths or variables, locates grep through PATH, starts a process, and returns an exit status. Options modify behavior; arguments identify data.</a:t>
            </a:r>
          </a:p>
          <a:p xmlns:a="http://schemas.openxmlformats.org/drawingml/2006/main">
            <a:r>
              <a:t/>
            </a:r>
          </a:p>
          <a:p xmlns:a="http://schemas.openxmlformats.org/drawingml/2006/main">
            <a:r>
              <a:t>Mention help discovery: command --help for a summary, man command for the manual, and q to leave the manual pager. Explain that non-zero does not always mean catastrophe—grep returns 1 when no line matches.</a:t>
            </a:r>
          </a:p>
          <a:p xmlns:a="http://schemas.openxmlformats.org/drawingml/2006/main">
            <a:r>
              <a:t/>
            </a:r>
          </a:p>
          <a:p xmlns:a="http://schemas.openxmlformats.org/drawingml/2006/main">
            <a:r>
              <a:t>Do not dive into shell implementation. The practical point is that punctuation and whitespace carry meaning.</a:t>
            </a:r>
          </a:p>
          <a:p xmlns:a="http://schemas.openxmlformats.org/drawingml/2006/main">
            <a:r>
              <a:t/>
            </a:r>
          </a:p>
          <a:p xmlns:a="http://schemas.openxmlformats.org/drawingml/2006/main">
            <a:r>
              <a:t>Transition: “A compact navigation vocabulary covers most daily movement.”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 minutes.</a:t>
            </a:r>
          </a:p>
          <a:p xmlns:a="http://schemas.openxmlformats.org/drawingml/2006/main">
            <a:r>
              <a:t/>
            </a:r>
          </a:p>
          <a:p xmlns:a="http://schemas.openxmlformats.org/drawingml/2006/main">
            <a:r>
              <a:t>Teach commands as questions. pwd asks location. ls asks directory contents. cd changes only shell working directory. mkdir -p creates a path safely when parents are missing. cat is for short files; less is for exploration; head and tail sample edges. find locates filesystem entries; grep selects matching text.</a:t>
            </a:r>
          </a:p>
          <a:p xmlns:a="http://schemas.openxmlformats.org/drawingml/2006/main">
            <a:r>
              <a:t/>
            </a:r>
          </a:p>
          <a:p xmlns:a="http://schemas.openxmlformats.org/drawingml/2006/main">
            <a:r>
              <a:t>Point out flags used in labs: ls -l for details, -a for hidden names, -h for human-readable sizes; rm -i and cp -i for interactive confirmation. State clearly that Linux deletion has no guaranteed recycle bin.</a:t>
            </a:r>
          </a:p>
          <a:p xmlns:a="http://schemas.openxmlformats.org/drawingml/2006/main">
            <a:r>
              <a:t/>
            </a:r>
          </a:p>
          <a:p xmlns:a="http://schemas.openxmlformats.org/drawingml/2006/main">
            <a:r>
              <a:t>Transition: “Let’s see the browser/session boundary, paths, and a pipe in one live sequence.”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 minutes.</a:t>
            </a:r>
          </a:p>
          <a:p xmlns:a="http://schemas.openxmlformats.org/drawingml/2006/main">
            <a:r>
              <a:t/>
            </a:r>
          </a:p>
          <a:p xmlns:a="http://schemas.openxmlformats.org/drawingml/2006/main">
            <a:r>
              <a:t>Live demo. Open the instructor demo seat in the browser and prepare Lab 1. Before each command, ask or state the expected session and state change. Start with whoami, hostname, and pwd; move to /var/log, then return home and create the demo tree.</a:t>
            </a:r>
          </a:p>
          <a:p xmlns:a="http://schemas.openxmlformats.org/drawingml/2006/main">
            <a:r>
              <a:t/>
            </a:r>
          </a:p>
          <a:p xmlns:a="http://schemas.openxmlformats.org/drawingml/2006/main">
            <a:r>
              <a:t>For the pipeline, explain that grep writes matching lines to standard output, the pipe carries that stream, and tee both displays and saves it. Verify with cat.</a:t>
            </a:r>
          </a:p>
          <a:p xmlns:a="http://schemas.openxmlformats.org/drawingml/2006/main">
            <a:r>
              <a:t/>
            </a:r>
          </a:p>
          <a:p xmlns:a="http://schemas.openxmlformats.org/drawingml/2006/main">
            <a:r>
              <a:t>If typing takes too long, use the prepared printf command. Do not paste the whole block—the point is reading state changes.</a:t>
            </a:r>
          </a:p>
          <a:p xmlns:a="http://schemas.openxmlformats.org/drawingml/2006/main">
            <a:r>
              <a:t/>
            </a:r>
          </a:p>
          <a:p xmlns:a="http://schemas.openxmlformats.org/drawingml/2006/main">
            <a:r>
              <a:t>Transition: “That pipe is one of three stream operators worth memorising.”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p>
          <a:p xmlns:a="http://schemas.openxmlformats.org/drawingml/2006/main">
            <a:r>
              <a:t>Describe standard input, standard output, and standard error in plain language: data in, normal data out, diagnostic data out. A pipe connects normal output to the next program. Greater-than truncates or creates a file before the command executes; double greater-than appends. That is why a typo with &gt; can destroy content even if the program later fails.</a:t>
            </a:r>
          </a:p>
          <a:p xmlns:a="http://schemas.openxmlformats.org/drawingml/2006/main">
            <a:r>
              <a:t/>
            </a:r>
          </a:p>
          <a:p xmlns:a="http://schemas.openxmlformats.org/drawingml/2006/main">
            <a:r>
              <a:t>Use tee when learners need both screen visibility and a saved copy. Mention 2&gt; only as an advanced pointer.</a:t>
            </a:r>
          </a:p>
          <a:p xmlns:a="http://schemas.openxmlformats.org/drawingml/2006/main">
            <a:r>
              <a:t/>
            </a:r>
          </a:p>
          <a:p xmlns:a="http://schemas.openxmlformats.org/drawingml/2006/main">
            <a:r>
              <a:t>Connect this to journalctl: filter at the source first, then use grep only when helpful.</a:t>
            </a:r>
          </a:p>
          <a:p xmlns:a="http://schemas.openxmlformats.org/drawingml/2006/main">
            <a:r>
              <a:t/>
            </a:r>
          </a:p>
          <a:p xmlns:a="http://schemas.openxmlformats.org/drawingml/2006/main">
            <a:r>
              <a:t>Transition: “Files also carry identity and access rules, so we need to understand users before chmod.”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 minutes.</a:t>
            </a:r>
          </a:p>
          <a:p xmlns:a="http://schemas.openxmlformats.org/drawingml/2006/main">
            <a:r>
              <a:t/>
            </a:r>
          </a:p>
          <a:p xmlns:a="http://schemas.openxmlformats.org/drawingml/2006/main">
            <a:r>
              <a:t>Explain that Linux internally uses numeric UIDs and GIDs; names are mappings for humans. A process has an effective user and groups. A file has one owner and one group. The kernel evaluates access with these identities and the permission bits.</a:t>
            </a:r>
          </a:p>
          <a:p xmlns:a="http://schemas.openxmlformats.org/drawingml/2006/main">
            <a:r>
              <a:t/>
            </a:r>
          </a:p>
          <a:p xmlns:a="http://schemas.openxmlformats.org/drawingml/2006/main">
            <a:r>
              <a:t>Show the difference between /etc/passwd and /etc/shadow conceptually: passwd account metadata is readable; password hashes are protected. Do not display hashes. Use id as the fastest identity summary and getent because it also works when identities come from a directory service.</a:t>
            </a:r>
          </a:p>
          <a:p xmlns:a="http://schemas.openxmlformats.org/drawingml/2006/main">
            <a:r>
              <a:t/>
            </a:r>
          </a:p>
          <a:p xmlns:a="http://schemas.openxmlformats.org/drawingml/2006/main">
            <a:r>
              <a:t>Mention that group membership changes usually require a new login session.</a:t>
            </a:r>
          </a:p>
          <a:p xmlns:a="http://schemas.openxmlformats.org/drawingml/2006/main">
            <a:r>
              <a:t/>
            </a:r>
          </a:p>
          <a:p xmlns:a="http://schemas.openxmlformats.org/drawingml/2006/main">
            <a:r>
              <a:t>Transition: “Administrative work temporarily changes authority; sudo makes that change explicit.”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p>
          <a:p xmlns:a="http://schemas.openxmlformats.org/drawingml/2006/main">
            <a:r>
              <a:t>Say: “sudo is not a magic fix for permission errors. It is an audited request to run a command with another identity, usually root.” Keep the learner in a normal shell, use sudo only when the target requires it, and read the command again before Enter.</a:t>
            </a:r>
          </a:p>
          <a:p xmlns:a="http://schemas.openxmlformats.org/drawingml/2006/main">
            <a:r>
              <a:t/>
            </a:r>
          </a:p>
          <a:p xmlns:a="http://schemas.openxmlformats.org/drawingml/2006/main">
            <a:r>
              <a:t>Contrast sudo command with sudo -i. Root shells are sometimes appropriate for controlled maintenance but make accidental changes easier and attribution weaker. Recommend sudoedit for protected configuration because it edits a temporary copy as the user and installs it safely.</a:t>
            </a:r>
          </a:p>
          <a:p xmlns:a="http://schemas.openxmlformats.org/drawingml/2006/main">
            <a:r>
              <a:t/>
            </a:r>
          </a:p>
          <a:p xmlns:a="http://schemas.openxmlformats.org/drawingml/2006/main">
            <a:r>
              <a:t>Transition: “Now we can decode the rule that combines identity with read, write, and execute.”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 minutes.</a:t>
            </a:r>
          </a:p>
          <a:p xmlns:a="http://schemas.openxmlformats.org/drawingml/2006/main">
            <a:r>
              <a:t/>
            </a:r>
          </a:p>
          <a:p xmlns:a="http://schemas.openxmlformats.org/drawingml/2006/main">
            <a:r>
              <a:t>Decode the first character as object type, then owner, group, and others. The kernel chooses one matching class—it does not add owner and group permissions together. If the process user owns the file, only the owner triplet applies. Otherwise a matching group triplet applies; otherwise others.</a:t>
            </a:r>
          </a:p>
          <a:p xmlns:a="http://schemas.openxmlformats.org/drawingml/2006/main">
            <a:r>
              <a:t/>
            </a:r>
          </a:p>
          <a:p xmlns:a="http://schemas.openxmlformats.org/drawingml/2006/main">
            <a:r>
              <a:t>Distinguish file and directory meaning. Execute on a file permits execution; execute on a directory permits traversal. Write on a directory controls creating and removing names, which surprises beginners. Access to a file also requires traversal through every parent directory.</a:t>
            </a:r>
          </a:p>
          <a:p xmlns:a="http://schemas.openxmlformats.org/drawingml/2006/main">
            <a:r>
              <a:t/>
            </a:r>
          </a:p>
          <a:p xmlns:a="http://schemas.openxmlformats.org/drawingml/2006/main">
            <a:r>
              <a:t>Use namei -l as a powerful path-permission diagnostic.</a:t>
            </a:r>
          </a:p>
          <a:p xmlns:a="http://schemas.openxmlformats.org/drawingml/2006/main">
            <a:r>
              <a:t/>
            </a:r>
          </a:p>
          <a:p xmlns:a="http://schemas.openxmlformats.org/drawingml/2006/main">
            <a:r>
              <a:t>Transition: “Numeric modes are just compact arithmetic for those same three triplets.”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 minutes.</a:t>
            </a:r>
          </a:p>
          <a:p xmlns:a="http://schemas.openxmlformats.org/drawingml/2006/main">
            <a:r>
              <a:t/>
            </a:r>
          </a:p>
          <a:p xmlns:a="http://schemas.openxmlformats.org/drawingml/2006/main">
            <a:r>
              <a:t>Build 640 aloud: owner 4+2, group 4, others 0. Then connect numeric and symbolic forms. Numeric mode is concise when setting the whole policy. Symbolic mode can be clearer for a targeted change, such as chmod g+w.</a:t>
            </a:r>
          </a:p>
          <a:p xmlns:a="http://schemas.openxmlformats.org/drawingml/2006/main">
            <a:r>
              <a:t/>
            </a:r>
          </a:p>
          <a:p xmlns:a="http://schemas.openxmlformats.org/drawingml/2006/main">
            <a:r>
              <a:t>Warn against chmod 777: it grants every user read, write, and execute and usually hides an ownership or group-design problem. Teach the use case first, then the mode.</a:t>
            </a:r>
          </a:p>
          <a:p xmlns:a="http://schemas.openxmlformats.org/drawingml/2006/main">
            <a:r>
              <a:t/>
            </a:r>
          </a:p>
          <a:p xmlns:a="http://schemas.openxmlformats.org/drawingml/2006/main">
            <a:r>
              <a:t>Mention umask only as the default mask for new files; it is not required for today’s lab. Use stat to verify both human and numeric representations.</a:t>
            </a:r>
          </a:p>
          <a:p xmlns:a="http://schemas.openxmlformats.org/drawingml/2006/main">
            <a:r>
              <a:t/>
            </a:r>
          </a:p>
          <a:p xmlns:a="http://schemas.openxmlformats.org/drawingml/2006/main">
            <a:r>
              <a:t>Transition: “Mode answers what; ownership answers who.”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 minutes.</a:t>
            </a:r>
          </a:p>
          <a:p xmlns:a="http://schemas.openxmlformats.org/drawingml/2006/main">
            <a:r>
              <a:t/>
            </a:r>
          </a:p>
          <a:p xmlns:a="http://schemas.openxmlformats.org/drawingml/2006/main">
            <a:r>
              <a:t>Present the real use case: Alice and Bob need a shared directory, everyone else needs no access. The solution is a team group, group-owned directory, 2770 mode, and setgid inheritance. This is better than 777 because it expresses who should collaborate.</a:t>
            </a:r>
          </a:p>
          <a:p xmlns:a="http://schemas.openxmlformats.org/drawingml/2006/main">
            <a:r>
              <a:t/>
            </a:r>
          </a:p>
          <a:p xmlns:a="http://schemas.openxmlformats.org/drawingml/2006/main">
            <a:r>
              <a:t>Explain chown owner:group and chgrp. The leading 2 in 2770 activates setgid on the directory; new content inherits courseops as its group. Default file modes may still restrict group write, so production shares often add a suitable umask or default ACL—mention, do not teach today.</a:t>
            </a:r>
          </a:p>
          <a:p xmlns:a="http://schemas.openxmlformats.org/drawingml/2006/main">
            <a:r>
              <a:t/>
            </a:r>
          </a:p>
          <a:p xmlns:a="http://schemas.openxmlformats.org/drawingml/2006/main">
            <a:r>
              <a:t>Transition: “Configuration is text, so we also need one terminal editor we can reliably exit.”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p>
          <a:p xmlns:a="http://schemas.openxmlformats.org/drawingml/2006/main">
            <a:r>
              <a:t>Demonstrate Nano’s bottom-line hints: caret means Ctrl. The minimum path is open, edit, Ctrl+O, Enter, Ctrl+X, then cat or grep the result. Explain that saving a file proves only that bytes changed, not that syntax or behavior is correct. Protected configuration should be edited with sudoedit when possible.</a:t>
            </a:r>
          </a:p>
          <a:p xmlns:a="http://schemas.openxmlformats.org/drawingml/2006/main">
            <a:r>
              <a:t/>
            </a:r>
          </a:p>
          <a:p xmlns:a="http://schemas.openxmlformats.org/drawingml/2006/main">
            <a:r>
              <a:t>Mention Vim as an important operational editor, but avoid a mode tutorial in a six-hour beginner workshop. Learners can choose Vim later; today everyone needs one editor with a dependable exit path.</a:t>
            </a:r>
          </a:p>
          <a:p xmlns:a="http://schemas.openxmlformats.org/drawingml/2006/main">
            <a:r>
              <a:t/>
            </a:r>
          </a:p>
          <a:p xmlns:a="http://schemas.openxmlformats.org/drawingml/2006/main">
            <a:r>
              <a:t>Transition: “Let’s combine identity, ownership, mode, and path traversal in a repair.”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 minutes.</a:t>
            </a:r>
          </a:p>
          <a:p xmlns:a="http://schemas.openxmlformats.org/drawingml/2006/main">
            <a:r>
              <a:t/>
            </a:r>
          </a:p>
          <a:p xmlns:a="http://schemas.openxmlformats.org/drawingml/2006/main">
            <a:r>
              <a:t>Live demo. Use resources/LIVE_DEMOS.md, Demo 2. Set up the team group and directory, create a file as Alice, then show stat. Break access deliberately. Before fixing, ask the room which identity class applies and what permission is missing. Use id, stat, and namei -l to gather evidence.</a:t>
            </a:r>
          </a:p>
          <a:p xmlns:a="http://schemas.openxmlformats.org/drawingml/2006/main">
            <a:r>
              <a:t/>
            </a:r>
          </a:p>
          <a:p xmlns:a="http://schemas.openxmlformats.org/drawingml/2006/main">
            <a:r>
              <a:t>Make the narrow repair: correct group ownership and mode 640. Retest using the same command and identity that failed. Point out that sudo cat succeeding would not prove the intended user can read.</a:t>
            </a:r>
          </a:p>
          <a:p xmlns:a="http://schemas.openxmlformats.org/drawingml/2006/main">
            <a:r>
              <a:t/>
            </a:r>
          </a:p>
          <a:p xmlns:a="http://schemas.openxmlformats.org/drawingml/2006/main">
            <a:r>
              <a:t>If time slips, skip the initial directory construction and begin from the broken file.</a:t>
            </a:r>
          </a:p>
          <a:p xmlns:a="http://schemas.openxmlformats.org/drawingml/2006/main">
            <a:r>
              <a:t/>
            </a:r>
          </a:p>
          <a:p xmlns:a="http://schemas.openxmlformats.org/drawingml/2006/main">
            <a:r>
              <a:t>Transition: “Local identity is one half of remote access; SSH adds server identity and cryptographic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 minutes.</a:t>
            </a:r>
          </a:p>
          <a:p xmlns:a="http://schemas.openxmlformats.org/drawingml/2006/main">
            <a:r>
              <a:t/>
            </a:r>
          </a:p>
          <a:p xmlns:a="http://schemas.openxmlformats.org/drawingml/2006/main">
            <a:r>
              <a:t>Separate the two authentications. The client validates the server host key to prevent a man-in-the-middle. The server validates the user through a password, public key signature, certificate, or other method. Encryption alone is not enough if the client accepts the wrong server identity.</a:t>
            </a:r>
          </a:p>
          <a:p xmlns:a="http://schemas.openxmlformats.org/drawingml/2006/main">
            <a:r>
              <a:t/>
            </a:r>
          </a:p>
          <a:p xmlns:a="http://schemas.openxmlformats.org/drawingml/2006/main">
            <a:r>
              <a:t>Explain the first-connection fingerprint prompt. The correct workflow is to obtain the expected fingerprint through a trusted channel and compare it before accepting. known_hosts remembers the association; a changed key is a security event or a legitimate rebuild that still needs verification.</a:t>
            </a:r>
          </a:p>
          <a:p xmlns:a="http://schemas.openxmlformats.org/drawingml/2006/main">
            <a:r>
              <a:t/>
            </a:r>
          </a:p>
          <a:p xmlns:a="http://schemas.openxmlformats.org/drawingml/2006/main">
            <a:r>
              <a:t>Transition: “User key authentication works because the secret half never travels.”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 minutes.</a:t>
            </a:r>
          </a:p>
          <a:p xmlns:a="http://schemas.openxmlformats.org/drawingml/2006/main">
            <a:r>
              <a:t/>
            </a:r>
          </a:p>
          <a:p xmlns:a="http://schemas.openxmlformats.org/drawingml/2006/main">
            <a:r>
              <a:t>Use a signing analogy, not encryption of the session. The private key signs a challenge; the server checks the signature with the stored public key. The private key does not travel. The .pub file is intentionally shareable.</a:t>
            </a:r>
          </a:p>
          <a:p xmlns:a="http://schemas.openxmlformats.org/drawingml/2006/main">
            <a:r>
              <a:t/>
            </a:r>
          </a:p>
          <a:p xmlns:a="http://schemas.openxmlformats.org/drawingml/2006/main">
            <a:r>
              <a:t>Use Ed25519 for the workshop because current OpenSSH supports it and the command is compact. The -a value increases password-based key derivation work when encrypting the private key file. A passphrase protects a stolen key file; an agent can cache access during a session.</a:t>
            </a:r>
          </a:p>
          <a:p xmlns:a="http://schemas.openxmlformats.org/drawingml/2006/main">
            <a:r>
              <a:t/>
            </a:r>
          </a:p>
          <a:p xmlns:a="http://schemas.openxmlformats.org/drawingml/2006/main">
            <a:r>
              <a:t>Mention that enterprise policy may require hardware-backed keys or certificates.</a:t>
            </a:r>
          </a:p>
          <a:p xmlns:a="http://schemas.openxmlformats.org/drawingml/2006/main">
            <a:r>
              <a:t/>
            </a:r>
          </a:p>
          <a:p xmlns:a="http://schemas.openxmlformats.org/drawingml/2006/main">
            <a:r>
              <a:t>Transition: “A client profile makes the safe choice repeatable.”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p>
          <a:p xmlns:a="http://schemas.openxmlformats.org/drawingml/2006/main">
            <a:r>
              <a:t>Walk line by line. Host is the alias. HostName and Port identify the server. User and IdentityFile remove ambiguity. IdentitiesOnly prevents an agent from offering many unrelated keys and hitting server limits. ServerAliveInterval helps detect dead sessions.</a:t>
            </a:r>
          </a:p>
          <a:p xmlns:a="http://schemas.openxmlformats.org/drawingml/2006/main">
            <a:r>
              <a:t/>
            </a:r>
          </a:p>
          <a:p xmlns:a="http://schemas.openxmlformats.org/drawingml/2006/main">
            <a:r>
              <a:t>In Lab 4 the training server is localhost on port 2222 because both SSH endpoints live inside the isolated learner container. For production, the same profile points to a remote DNS name or address.</a:t>
            </a:r>
          </a:p>
          <a:p xmlns:a="http://schemas.openxmlformats.org/drawingml/2006/main">
            <a:r>
              <a:t/>
            </a:r>
          </a:p>
          <a:p xmlns:a="http://schemas.openxmlformats.org/drawingml/2006/main">
            <a:r>
              <a:t>Explain StrictHostKeyChecking carefully: accept-new is convenient in a disposable lab but still rejects changed keys. Managed environments should pre-provision known_hosts or use yes with a trusted onboarding process.</a:t>
            </a:r>
          </a:p>
          <a:p xmlns:a="http://schemas.openxmlformats.org/drawingml/2006/main">
            <a:r>
              <a:t/>
            </a:r>
          </a:p>
          <a:p xmlns:a="http://schemas.openxmlformats.org/drawingml/2006/main">
            <a:r>
              <a:t>Transition: “Now we’ll build the key path end to end and verify both identities.”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 minutes.</a:t>
            </a:r>
          </a:p>
          <a:p xmlns:a="http://schemas.openxmlformats.org/drawingml/2006/main">
            <a:r>
              <a:t/>
            </a:r>
          </a:p>
          <a:p xmlns:a="http://schemas.openxmlformats.org/drawingml/2006/main">
            <a:r>
              <a:t>Live demo. Prepare Lab 4 in the instructor demo seat. Generate a dedicated Ed25519 client key inside the learner session, record the training server host key for port 2222, and show the bracketed known_hosts entry.</a:t>
            </a:r>
          </a:p>
          <a:p xmlns:a="http://schemas.openxmlformats.org/drawingml/2006/main">
            <a:r>
              <a:t/>
            </a:r>
          </a:p>
          <a:p xmlns:a="http://schemas.openxmlformats.org/drawingml/2006/main">
            <a:r>
              <a:t>Use ssh-copy-id with the temporary bootstrap password training. Emphasise that only the public key is installed. Then connect with BatchMode enabled; success proves no password prompt was required. Run id and hostname to verify the remote identity.</a:t>
            </a:r>
          </a:p>
          <a:p xmlns:a="http://schemas.openxmlformats.org/drawingml/2006/main">
            <a:r>
              <a:t/>
            </a:r>
          </a:p>
          <a:p xmlns:a="http://schemas.openxmlformats.org/drawingml/2006/main">
            <a:r>
              <a:t>Never display a real personal key or reuse a production credential.</a:t>
            </a:r>
          </a:p>
          <a:p xmlns:a="http://schemas.openxmlformats.org/drawingml/2006/main">
            <a:r>
              <a:t/>
            </a:r>
          </a:p>
          <a:p xmlns:a="http://schemas.openxmlformats.org/drawingml/2006/main">
            <a:r>
              <a:t>Transition: “Remote access gives us a shell; logs tell us what happened before we arrived.”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 minutes.</a:t>
            </a:r>
          </a:p>
          <a:p xmlns:a="http://schemas.openxmlformats.org/drawingml/2006/main">
            <a:r>
              <a:t/>
            </a:r>
          </a:p>
          <a:p xmlns:a="http://schemas.openxmlformats.org/drawingml/2006/main">
            <a:r>
              <a:t>Explain coexistence. Traditional and application logs often live under /var/log. systemd-journald collects structured entries from services, the kernel, and system components. Depending on configuration, journal data may persist under /var/log/journal or live in /run/log/journal until reboot.</a:t>
            </a:r>
          </a:p>
          <a:p xmlns:a="http://schemas.openxmlformats.org/drawingml/2006/main">
            <a:r>
              <a:t/>
            </a:r>
          </a:p>
          <a:p xmlns:a="http://schemas.openxmlformats.org/drawingml/2006/main">
            <a:r>
              <a:t>Show that package actions have useful logs, such as /var/log/apt/history.log and /var/log/dpkg.log. Mention rotation: today’s file may become .1 or compressed.</a:t>
            </a:r>
          </a:p>
          <a:p xmlns:a="http://schemas.openxmlformats.org/drawingml/2006/main">
            <a:r>
              <a:t/>
            </a:r>
          </a:p>
          <a:p xmlns:a="http://schemas.openxmlformats.org/drawingml/2006/main">
            <a:r>
              <a:t>The investigative rule is to frame a question first: which unit, which boot, which time window, which severity?</a:t>
            </a:r>
          </a:p>
          <a:p xmlns:a="http://schemas.openxmlformats.org/drawingml/2006/main">
            <a:r>
              <a:t/>
            </a:r>
          </a:p>
          <a:p xmlns:a="http://schemas.openxmlformats.org/drawingml/2006/main">
            <a:r>
              <a:t>Transition: “journalctl turns those questions into filters.”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 minutes.</a:t>
            </a:r>
          </a:p>
          <a:p xmlns:a="http://schemas.openxmlformats.org/drawingml/2006/main">
            <a:r>
              <a:t/>
            </a:r>
          </a:p>
          <a:p xmlns:a="http://schemas.openxmlformats.org/drawingml/2006/main">
            <a:r>
              <a:t>Build the command incrementally. -u chooses a systemd unit, --since narrows time, -p chooses priority and above, -n limits count, --no-pager makes captured output stable, and -f follows new messages. Mention -b for the current boot and -b -1 for the previous boot.</a:t>
            </a:r>
          </a:p>
          <a:p xmlns:a="http://schemas.openxmlformats.org/drawingml/2006/main">
            <a:r>
              <a:t/>
            </a:r>
          </a:p>
          <a:p xmlns:a="http://schemas.openxmlformats.org/drawingml/2006/main">
            <a:r>
              <a:t>Warn that filtering too aggressively can hide context. Start narrow enough to be usable, then widen time or severity if needed. Read timestamps, unit names, exit status, and the earliest causal message—not only the final cascade.</a:t>
            </a:r>
          </a:p>
          <a:p xmlns:a="http://schemas.openxmlformats.org/drawingml/2006/main">
            <a:r>
              <a:t/>
            </a:r>
          </a:p>
          <a:p xmlns:a="http://schemas.openxmlformats.org/drawingml/2006/main">
            <a:r>
              <a:t>Point out access: normal users may see only their own journal; sudo may be required for system units.</a:t>
            </a:r>
          </a:p>
          <a:p xmlns:a="http://schemas.openxmlformats.org/drawingml/2006/main">
            <a:r>
              <a:t/>
            </a:r>
          </a:p>
          <a:p xmlns:a="http://schemas.openxmlformats.org/drawingml/2006/main">
            <a:r>
              <a:t>Transition: “We’ll now restart SSH and watch the relevant evidence appear.”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 minutes.</a:t>
            </a:r>
          </a:p>
          <a:p xmlns:a="http://schemas.openxmlformats.org/drawingml/2006/main">
            <a:r>
              <a:t/>
            </a:r>
          </a:p>
          <a:p xmlns:a="http://schemas.openxmlformats.org/drawingml/2006/main">
            <a:r>
              <a:t>Live demo. Use resources/LIVE_DEMOS.md, Demo 4. Restart SSH to create a known event. Run status first and distinguish the current summary from historical journal entries. Query the last ten entries. Add a five-minute window and warning priority; explain that an empty result can be good news, not a broken command. Enter follow mode, create a connection event from another terminal if convenient, then stop with Ctrl+C.</a:t>
            </a:r>
          </a:p>
          <a:p xmlns:a="http://schemas.openxmlformats.org/drawingml/2006/main">
            <a:r>
              <a:t/>
            </a:r>
          </a:p>
          <a:p xmlns:a="http://schemas.openxmlformats.org/drawingml/2006/main">
            <a:r>
              <a:t>Read one entry aloud: timestamp, host, process/unit, message. Model evidence extraction rather than scrolling.</a:t>
            </a:r>
          </a:p>
          <a:p xmlns:a="http://schemas.openxmlformats.org/drawingml/2006/main">
            <a:r>
              <a:t/>
            </a:r>
          </a:p>
          <a:p xmlns:a="http://schemas.openxmlformats.org/drawingml/2006/main">
            <a:r>
              <a:t>Transition: “Logs describe services managed by systemd, so next we need the unit lifecycle.”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 minutes.</a:t>
            </a:r>
          </a:p>
          <a:p xmlns:a="http://schemas.openxmlformats.org/drawingml/2006/main">
            <a:r>
              <a:t/>
            </a:r>
          </a:p>
          <a:p xmlns:a="http://schemas.openxmlformats.org/drawingml/2006/main">
            <a:r>
              <a:t>Define a unit as a resource systemd knows how to manage. Services are one unit type; sockets, timers, mounts, and targets are others. Unit files declare the command, identity, working directory, dependencies, and restart behavior. The manager attempts to reach state and records events in the journal.</a:t>
            </a:r>
          </a:p>
          <a:p xmlns:a="http://schemas.openxmlformats.org/drawingml/2006/main">
            <a:r>
              <a:t/>
            </a:r>
          </a:p>
          <a:p xmlns:a="http://schemas.openxmlformats.org/drawingml/2006/main">
            <a:r>
              <a:t>Make enabled versus active explicit. A service can be active now but not enabled for boot, enabled but currently failed, both, or neither. systemctl status shows current state and recent logs, not a complete diagnosis.</a:t>
            </a:r>
          </a:p>
          <a:p xmlns:a="http://schemas.openxmlformats.org/drawingml/2006/main">
            <a:r>
              <a:t/>
            </a:r>
          </a:p>
          <a:p xmlns:a="http://schemas.openxmlformats.org/drawingml/2006/main">
            <a:r>
              <a:t>Transition: “A small verb set handles most daily service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 minutes.</a:t>
            </a:r>
          </a:p>
          <a:p xmlns:a="http://schemas.openxmlformats.org/drawingml/2006/main">
            <a:r>
              <a:t/>
            </a:r>
          </a:p>
          <a:p xmlns:a="http://schemas.openxmlformats.org/drawingml/2006/main">
            <a:r>
              <a:t>Group verbs by job. Observe before change. start and stop affect runtime; restart combines both and may hide transient evidence. reload asks a capable service to reread configuration without a full restart. enable and disable affect boot relationships, not necessarily immediate state unless --now is added. systemctl cat shows the effective unit and drop-ins. daemon-reload makes the manager reread unit definitions; it does not restart services.</a:t>
            </a:r>
          </a:p>
          <a:p xmlns:a="http://schemas.openxmlformats.org/drawingml/2006/main">
            <a:r>
              <a:t/>
            </a:r>
          </a:p>
          <a:p xmlns:a="http://schemas.openxmlformats.org/drawingml/2006/main">
            <a:r>
              <a:t>Teach the operational sequence: capture status and logs, inspect configuration, make one change, daemon-reload if the unit changed, restart, then verify state and behavior.</a:t>
            </a:r>
          </a:p>
          <a:p xmlns:a="http://schemas.openxmlformats.org/drawingml/2006/main">
            <a:r>
              <a:t/>
            </a:r>
          </a:p>
          <a:p xmlns:a="http://schemas.openxmlformats.org/drawingml/2006/main">
            <a:r>
              <a:t>Transition: “The final demo turns that sequence into a real repair.”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 minutes.</a:t>
            </a:r>
          </a:p>
          <a:p xmlns:a="http://schemas.openxmlformats.org/drawingml/2006/main">
            <a:r>
              <a:t/>
            </a:r>
          </a:p>
          <a:p xmlns:a="http://schemas.openxmlformats.org/drawingml/2006/main">
            <a:r>
              <a:t>Live demo. Use resources/LIVE_DEMOS.md, Demo 5. Install the unit with a missing User and WorkingDirectory. Start it and resist fixing immediately. Run status, then journalctl for the unit and time window. Identify the credential/user error and connect it to systemctl cat output.</a:t>
            </a:r>
          </a:p>
          <a:p xmlns:a="http://schemas.openxmlformats.org/drawingml/2006/main">
            <a:r>
              <a:t/>
            </a:r>
          </a:p>
          <a:p xmlns:a="http://schemas.openxmlformats.org/drawingml/2006/main">
            <a:r>
              <a:t>Create the system user and service directory with explicit owner and mode. Add an index file, restart, and verify systemctl is-active. Finally use curl. Emphasise that active only proves the process is running; curl proves the intended behavior.</a:t>
            </a:r>
          </a:p>
          <a:p xmlns:a="http://schemas.openxmlformats.org/drawingml/2006/main">
            <a:r>
              <a:t/>
            </a:r>
          </a:p>
          <a:p xmlns:a="http://schemas.openxmlformats.org/drawingml/2006/main">
            <a:r>
              <a:t>If the service unexpectedly starts, use a new nonexistent username. If the demo stalls, switch to the backup VM or show the prepared commands and outcomes.</a:t>
            </a:r>
          </a:p>
          <a:p xmlns:a="http://schemas.openxmlformats.org/drawingml/2006/main">
            <a:r>
              <a:t/>
            </a:r>
          </a:p>
          <a:p xmlns:a="http://schemas.openxmlformats.org/drawingml/2006/main">
            <a:r>
              <a:t>Transition: “You now have one repeatable loop for unfamiliar Linux systems.”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p>
          <a:p xmlns:a="http://schemas.openxmlformats.org/drawingml/2006/main">
            <a:r>
              <a:t>This is the theory-half synthesis. Give pairs 60 seconds to apply the five steps to the failed-service demo. Ask one pair to report. Listen for browser versus Linux session, identity, working directory, predicted state, one cause, and behavior verification.</a:t>
            </a:r>
          </a:p>
          <a:p xmlns:a="http://schemas.openxmlformats.org/drawingml/2006/main">
            <a:r>
              <a:t/>
            </a:r>
          </a:p>
          <a:p xmlns:a="http://schemas.openxmlformats.org/drawingml/2006/main">
            <a:r>
              <a:t>Reinforce that commands are replaceable; the loop is transferable. A different distribution may use a different package manager, but the operator still locates context, predicts, acts narrowly, observes, and verifies.</a:t>
            </a:r>
          </a:p>
          <a:p xmlns:a="http://schemas.openxmlformats.org/drawingml/2006/main">
            <a:r>
              <a:t/>
            </a:r>
          </a:p>
          <a:p xmlns:a="http://schemas.openxmlformats.org/drawingml/2006/main">
            <a:r>
              <a:t>Announce the lab transition. Learners will now own the keyboard for exactly three hours.</a:t>
            </a:r>
          </a:p>
          <a:p xmlns:a="http://schemas.openxmlformats.org/drawingml/2006/main">
            <a:r>
              <a:t/>
            </a:r>
          </a:p>
          <a:p xmlns:a="http://schemas.openxmlformats.org/drawingml/2006/main">
            <a:r>
              <a:t>Transition: “Keep this loop visible; every lab checkpoint uses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 of lab-block orientation; this time is included in Lab 1.</a:t>
            </a:r>
          </a:p>
          <a:p xmlns:a="http://schemas.openxmlformats.org/drawingml/2006/main">
            <a:r>
              <a:t/>
            </a:r>
          </a:p>
          <a:p xmlns:a="http://schemas.openxmlformats.org/drawingml/2006/main">
            <a:r>
              <a:t>Give each learner or pair the assigned seat link. The page contains the task brief, a real ttyd terminal, Reset, and Check my work. The seat token prevents accidental cross-seat access.</a:t>
            </a:r>
          </a:p>
          <a:p xmlns:a="http://schemas.openxmlformats.org/drawingml/2006/main">
            <a:r>
              <a:t/>
            </a:r>
          </a:p>
          <a:p xmlns:a="http://schemas.openxmlformats.org/drawingml/2006/main">
            <a:r>
              <a:t>Pairing is optional but recommended: one driver types, one navigator reads the next step and predicts outcomes; swap after each lab.</a:t>
            </a:r>
          </a:p>
          <a:p xmlns:a="http://schemas.openxmlformats.org/drawingml/2006/main">
            <a:r>
              <a:t/>
            </a:r>
          </a:p>
          <a:p xmlns:a="http://schemas.openxmlformats.org/drawingml/2006/main">
            <a:r>
              <a:t>State the support rule: when blocked, show pwd, whoami, recent history, and the exact repeated failing command. Reset only when the task calls for a fresh baseline.</a:t>
            </a:r>
          </a:p>
          <a:p xmlns:a="http://schemas.openxmlformats.org/drawingml/2006/main">
            <a:r>
              <a:t/>
            </a:r>
          </a:p>
          <a:p xmlns:a="http://schemas.openxmlformats.org/drawingml/2006/main">
            <a:r>
              <a:t>Start the 25-minute Lab 1 timer now.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facilitation: 50 minutes total.</a:t>
            </a:r>
          </a:p>
          <a:p xmlns:a="http://schemas.openxmlformats.org/drawingml/2006/main">
            <a:r>
              <a:t/>
            </a:r>
          </a:p>
          <a:p xmlns:a="http://schemas.openxmlformats.org/drawingml/2006/main">
            <a:r>
              <a:t>Lab 1 is filesystem fieldwork. Learners orient with pwd and whoami, inspect the prepared inbox, then create, copy, and move files into the required tree. The checker verifies paths and file content.</a:t>
            </a:r>
          </a:p>
          <a:p xmlns:a="http://schemas.openxmlformats.org/drawingml/2006/main">
            <a:r>
              <a:t/>
            </a:r>
          </a:p>
          <a:p xmlns:a="http://schemas.openxmlformats.org/drawingml/2006/main">
            <a:r>
              <a:t>Lab 2 installs tree with APT and turns an access log into status-code counts. Ask learners to explain each pipeline stage before they run it. The final evidence must show exactly three 404 responses.</a:t>
            </a:r>
          </a:p>
          <a:p xmlns:a="http://schemas.openxmlformats.org/drawingml/2006/main">
            <a:r>
              <a:t/>
            </a:r>
          </a:p>
          <a:p xmlns:a="http://schemas.openxmlformats.org/drawingml/2006/main">
            <a:r>
              <a:t>At minute 20 and minute 45, give a five-minute warning. Fast finishers should produce the same counts with a different pipeline and compare readability.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facilitation: 65 minutes total.</a:t>
            </a:r>
          </a:p>
          <a:p xmlns:a="http://schemas.openxmlformats.org/drawingml/2006/main">
            <a:r>
              <a:t/>
            </a:r>
          </a:p>
          <a:p xmlns:a="http://schemas.openxmlformats.org/drawingml/2006/main">
            <a:r>
              <a:t>Lab 3 is a permission incident. The target is deliberate: Alice and Bob can write, outsider cannot, and new files inherit webteam. Require both the positive and negative test; a single successful write does not prove least privilege.</a:t>
            </a:r>
          </a:p>
          <a:p xmlns:a="http://schemas.openxmlformats.org/drawingml/2006/main">
            <a:r>
              <a:t/>
            </a:r>
          </a:p>
          <a:p xmlns:a="http://schemas.openxmlformats.org/drawingml/2006/main">
            <a:r>
              <a:t>Lab 4 builds SSH trust entirely inside the learner container. Learners generate an Ed25519 key, record the host key, authorize only the public key, and connect through a named client profile. The first password is training; the verified outcome is key-only login.</a:t>
            </a:r>
          </a:p>
          <a:p xmlns:a="http://schemas.openxmlformats.org/drawingml/2006/main">
            <a:r>
              <a:t/>
            </a:r>
          </a:p>
          <a:p xmlns:a="http://schemas.openxmlformats.org/drawingml/2006/main">
            <a:r>
              <a:t>At minute 55, give ten minutes remaining. Use namei -l or ssh -vv only after the basic ownership, mode, and identity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facilitation: 65 minutes total.</a:t>
            </a:r>
          </a:p>
          <a:p xmlns:a="http://schemas.openxmlformats.org/drawingml/2006/main">
            <a:r>
              <a:t/>
            </a:r>
          </a:p>
          <a:p xmlns:a="http://schemas.openxmlformats.org/drawingml/2006/main">
            <a:r>
              <a:t>Lab 5 begins with service status, then narrows the journal by unit and current boot. The learner records the first causal event and the non-zero exit code in lab-answer.txt. Do not reward random repair attempts; this lab is about evidence.</a:t>
            </a:r>
          </a:p>
          <a:p xmlns:a="http://schemas.openxmlformats.org/drawingml/2006/main">
            <a:r>
              <a:t/>
            </a:r>
          </a:p>
          <a:p xmlns:a="http://schemas.openxmlformats.org/drawingml/2006/main">
            <a:r>
              <a:t>Lab 6 is the capstone. Learners inspect course-web, read the journal and unit definition, repair the missing document root, then enable and start the service. The final verification is threefold: is-active, is-enabled, and an HTTP response on port 8088.</a:t>
            </a:r>
          </a:p>
          <a:p xmlns:a="http://schemas.openxmlformats.org/drawingml/2006/main">
            <a:r>
              <a:t/>
            </a:r>
          </a:p>
          <a:p xmlns:a="http://schemas.openxmlformats.org/drawingml/2006/main">
            <a:r>
              <a:t>At minute 55, give ten minutes remaining. Fast finishers should reset Lab 6 and explain the diagnosis before typing the repair.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keep visible during support or use for a 3-minute regroup.</a:t>
            </a:r>
          </a:p>
          <a:p xmlns:a="http://schemas.openxmlformats.org/drawingml/2006/main">
            <a:r>
              <a:t/>
            </a:r>
          </a:p>
          <a:p xmlns:a="http://schemas.openxmlformats.org/drawingml/2006/main">
            <a:r>
              <a:t>If several learners hit different failures, pause and apply the ladder to one example. Context first prevents solving the wrong machine, user, or directory. Inspect the target and effective configuration. Reproduce once to capture the symptom. Gather logs and status. Only then change one cause and repeat the same verification.</a:t>
            </a:r>
          </a:p>
          <a:p xmlns:a="http://schemas.openxmlformats.org/drawingml/2006/main">
            <a:r>
              <a:t/>
            </a:r>
          </a:p>
          <a:p xmlns:a="http://schemas.openxmlformats.org/drawingml/2006/main">
            <a:r>
              <a:t>The phrase “before widening privilege” matters: sudo can bypass the intended identity and produce a false success. Likewise chmod 777 can erase the evidence of a group-design problem.</a:t>
            </a:r>
          </a:p>
          <a:p xmlns:a="http://schemas.openxmlformats.org/drawingml/2006/main">
            <a:r>
              <a:t/>
            </a:r>
          </a:p>
          <a:p xmlns:a="http://schemas.openxmlformats.org/drawingml/2006/main">
            <a:r>
              <a:t>Transition: return learners to their current lab with one requested evidence item.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 minutes at the end of labs.</a:t>
            </a:r>
          </a:p>
          <a:p xmlns:a="http://schemas.openxmlformats.org/drawingml/2006/main">
            <a:r>
              <a:t/>
            </a:r>
          </a:p>
          <a:p xmlns:a="http://schemas.openxmlformats.org/drawingml/2006/main">
            <a:r>
              <a:t>Use this as a peer assessment. Give pairs four minutes: Partner A explains the SSH chain, Partner B explains the service diagnosis, then each asks one question from the slide. Invite two concise reports.</a:t>
            </a:r>
          </a:p>
          <a:p xmlns:a="http://schemas.openxmlformats.org/drawingml/2006/main">
            <a:r>
              <a:t/>
            </a:r>
          </a:p>
          <a:p xmlns:a="http://schemas.openxmlformats.org/drawingml/2006/main">
            <a:r>
              <a:t>Correct misconceptions directly: successful sudo access does not prove normal-user access; accepting an SSH fingerprint without comparison is trust-on-first-use, not verification; active service state does not prove application behavior; changing several things at once prevents causal confidence.</a:t>
            </a:r>
          </a:p>
          <a:p xmlns:a="http://schemas.openxmlformats.org/drawingml/2006/main">
            <a:r>
              <a:t/>
            </a:r>
          </a:p>
          <a:p xmlns:a="http://schemas.openxmlformats.org/drawingml/2006/main">
            <a:r>
              <a:t>Transition: “You do not need every command in memory—you need a map and a repeatable loop.”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p>
          <a:p xmlns:a="http://schemas.openxmlformats.org/drawingml/2006/main">
            <a:r>
              <a:t>Close by resolving the opening promise. Learners can now orient themselves, control access, establish remote trust, and diagnose a service with evidence. Encourage immediate repetition while the command path is fresh.</a:t>
            </a:r>
          </a:p>
          <a:p xmlns:a="http://schemas.openxmlformats.org/drawingml/2006/main">
            <a:r>
              <a:t/>
            </a:r>
          </a:p>
          <a:p xmlns:a="http://schemas.openxmlformats.org/drawingml/2006/main">
            <a:r>
              <a:t>The browser seat may be retired after the course, so keep the public course repository and solution-video links. Reset and solve Lab 6 again while the controller is still available. The Linux Upskill Challenge provides a free, open sequence for continued server practice.</a:t>
            </a:r>
          </a:p>
          <a:p xmlns:a="http://schemas.openxmlformats.org/drawingml/2006/main">
            <a:r>
              <a:t/>
            </a:r>
          </a:p>
          <a:p xmlns:a="http://schemas.openxmlformats.org/drawingml/2006/main">
            <a:r>
              <a:t>Final sentence: “The command you forget can be looked up; the habit of verifying state is what makes you safe.”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repository SOURCES.md for full links, licenses, and retrieval dates. The delivery platform is built from Ubuntu Server, Incus system containers, ttyd browser terminals, Nginx, and a small Flask control API.</a:t>
            </a:r>
          </a:p>
          <a:p xmlns:a="http://schemas.openxmlformats.org/drawingml/2006/main">
            <a:r>
              <a:t/>
            </a:r>
          </a:p>
          <a:p xmlns:a="http://schemas.openxmlformats.org/drawingml/2006/main">
            <a:r>
              <a:t>The slide system uses an original CodeRabbit-inspired palette and an original generated title illustration; it does not copy the CodeRabbit logo or product interface.</a:t>
            </a:r>
          </a:p>
          <a:p xmlns:a="http://schemas.openxmlformats.org/drawingml/2006/main">
            <a:r>
              <a:t/>
            </a:r>
          </a:p>
          <a:p xmlns:a="http://schemas.openxmlformats.org/drawingml/2006/main">
            <a:r>
              <a:t>The platform source, operational runbooks, six lab setup/check scripts, Playwright solution recordings, and narration scripts live under browser-lab-platform/.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4ef3610d7f40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b0b2ac73f14781" /><Relationship Type="http://schemas.openxmlformats.org/officeDocument/2006/relationships/slideLayout" Target="/ppt/slideLayouts/slideLayout1.xml" Id="Rcd3506f76e0b4a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d3506f76e0b4a9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7553a35a54c40bd" /><Relationship Type="http://schemas.openxmlformats.org/officeDocument/2006/relationships/image" Target="/ppt/media/image.png" Id="Re79173fef7b44126" /><Relationship Type="http://schemas.openxmlformats.org/officeDocument/2006/relationships/notesSlide" Target="/ppt/notesSlides/notesSlide1.xml" Id="R702f1608a70346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a75ae82c5db4dd7" /><Relationship Type="http://schemas.openxmlformats.org/officeDocument/2006/relationships/notesSlide" Target="/ppt/notesSlides/notesSlide2.xml" Id="Rf1d8a68874bb4d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4bcf693bb9e4e4b" /><Relationship Type="http://schemas.openxmlformats.org/officeDocument/2006/relationships/notesSlide" Target="/ppt/notesSlides/notesSlide3.xml" Id="Rf05890b0e4e44c7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f8e892ec9fc4d1c" /><Relationship Type="http://schemas.openxmlformats.org/officeDocument/2006/relationships/notesSlide" Target="/ppt/notesSlides/notesSlide4.xml" Id="Rb233a015c6cb48a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1b2cfa65c024dcf" /><Relationship Type="http://schemas.openxmlformats.org/officeDocument/2006/relationships/notesSlide" Target="/ppt/notesSlides/notesSlide5.xml" Id="R12df95ca0de74c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9f1706e8c0d4e9d" /><Relationship Type="http://schemas.openxmlformats.org/officeDocument/2006/relationships/notesSlide" Target="/ppt/notesSlides/notesSlide6.xml" Id="R8adcc87c834c4a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90229e1c3094065" /><Relationship Type="http://schemas.openxmlformats.org/officeDocument/2006/relationships/notesSlide" Target="/ppt/notesSlides/notesSlide7.xml" Id="R1ac0185d9ed2472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96de758251548a0" /><Relationship Type="http://schemas.openxmlformats.org/officeDocument/2006/relationships/notesSlide" Target="/ppt/notesSlides/notesSlide8.xml" Id="R098cac4f0eef4f8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896c498b8784ead" /><Relationship Type="http://schemas.openxmlformats.org/officeDocument/2006/relationships/notesSlide" Target="/ppt/notesSlides/notesSlide9.xml" Id="R0a064d1a96f5469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01cdbdad074408a" /><Relationship Type="http://schemas.openxmlformats.org/officeDocument/2006/relationships/notesSlide" Target="/ppt/notesSlides/notesSlide10.xml" Id="R50172e65602b4ce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15d3844de97469d" /><Relationship Type="http://schemas.openxmlformats.org/officeDocument/2006/relationships/notesSlide" Target="/ppt/notesSlides/notesSlide11.xml" Id="R0a987c46f2254a1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015e33baae14a83" /><Relationship Type="http://schemas.openxmlformats.org/officeDocument/2006/relationships/notesSlide" Target="/ppt/notesSlides/notesSlide12.xml" Id="Rcb3b173548214e0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f7680f2f1b841f9" /><Relationship Type="http://schemas.openxmlformats.org/officeDocument/2006/relationships/notesSlide" Target="/ppt/notesSlides/notesSlide13.xml" Id="Rbf9578946524475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d8a510b77674ad2" /><Relationship Type="http://schemas.openxmlformats.org/officeDocument/2006/relationships/notesSlide" Target="/ppt/notesSlides/notesSlide14.xml" Id="Rc59782d3157840b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319bef3df0946e2" /><Relationship Type="http://schemas.openxmlformats.org/officeDocument/2006/relationships/notesSlide" Target="/ppt/notesSlides/notesSlide15.xml" Id="R1d95fad3b5004c0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e307632a94d413b" /><Relationship Type="http://schemas.openxmlformats.org/officeDocument/2006/relationships/notesSlide" Target="/ppt/notesSlides/notesSlide16.xml" Id="R9d0e7258770c43a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36df6d644824e65" /><Relationship Type="http://schemas.openxmlformats.org/officeDocument/2006/relationships/notesSlide" Target="/ppt/notesSlides/notesSlide17.xml" Id="R93bbe5fd2b1a47f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0b6fdd7c5ff42ac" /><Relationship Type="http://schemas.openxmlformats.org/officeDocument/2006/relationships/notesSlide" Target="/ppt/notesSlides/notesSlide18.xml" Id="Rea7069c50a22462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079b93a905e4018" /><Relationship Type="http://schemas.openxmlformats.org/officeDocument/2006/relationships/notesSlide" Target="/ppt/notesSlides/notesSlide19.xml" Id="Rb373dca7f37b49f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484976b4dd14f1c" /><Relationship Type="http://schemas.openxmlformats.org/officeDocument/2006/relationships/notesSlide" Target="/ppt/notesSlides/notesSlide20.xml" Id="R5f98c562ea1449a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6dfcc98cd82457a" /><Relationship Type="http://schemas.openxmlformats.org/officeDocument/2006/relationships/notesSlide" Target="/ppt/notesSlides/notesSlide21.xml" Id="R68370d7775c64a8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cd9d3923e474812" /><Relationship Type="http://schemas.openxmlformats.org/officeDocument/2006/relationships/notesSlide" Target="/ppt/notesSlides/notesSlide22.xml" Id="R3a74a7481b1243f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faf43165d564bd9" /><Relationship Type="http://schemas.openxmlformats.org/officeDocument/2006/relationships/notesSlide" Target="/ppt/notesSlides/notesSlide23.xml" Id="R8a35c48ef01b4f8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b96b4361cb643ed" /><Relationship Type="http://schemas.openxmlformats.org/officeDocument/2006/relationships/notesSlide" Target="/ppt/notesSlides/notesSlide24.xml" Id="Ra9e384232f1c468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e547b957a38487a" /><Relationship Type="http://schemas.openxmlformats.org/officeDocument/2006/relationships/notesSlide" Target="/ppt/notesSlides/notesSlide25.xml" Id="R544ee476cf6b4ef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456fe900c8d449c" /><Relationship Type="http://schemas.openxmlformats.org/officeDocument/2006/relationships/notesSlide" Target="/ppt/notesSlides/notesSlide26.xml" Id="R010c5b15765a434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1806b647dfd4974" /><Relationship Type="http://schemas.openxmlformats.org/officeDocument/2006/relationships/notesSlide" Target="/ppt/notesSlides/notesSlide27.xml" Id="Rc9fce41c1821486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e955e253a114224" /><Relationship Type="http://schemas.openxmlformats.org/officeDocument/2006/relationships/notesSlide" Target="/ppt/notesSlides/notesSlide28.xml" Id="Rda8bf4deb011468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4a1d15cbda2442c" /><Relationship Type="http://schemas.openxmlformats.org/officeDocument/2006/relationships/notesSlide" Target="/ppt/notesSlides/notesSlide29.xml" Id="R25ffee893d65405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48c35ebf09224ad6" /><Relationship Type="http://schemas.openxmlformats.org/officeDocument/2006/relationships/notesSlide" Target="/ppt/notesSlides/notesSlide30.xml" Id="R8f60c22024fc406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28ad2caf0c74450e" /><Relationship Type="http://schemas.openxmlformats.org/officeDocument/2006/relationships/notesSlide" Target="/ppt/notesSlides/notesSlide31.xml" Id="R4598b654262f4fa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4fd11e7cb1047d8" /><Relationship Type="http://schemas.openxmlformats.org/officeDocument/2006/relationships/notesSlide" Target="/ppt/notesSlides/notesSlide32.xml" Id="R9c298a6044d4425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e62cf70068c34dc2" /><Relationship Type="http://schemas.openxmlformats.org/officeDocument/2006/relationships/notesSlide" Target="/ppt/notesSlides/notesSlide33.xml" Id="Rf4e9d74ded7248c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7320734636db4a76" /><Relationship Type="http://schemas.openxmlformats.org/officeDocument/2006/relationships/notesSlide" Target="/ppt/notesSlides/notesSlide34.xml" Id="R877af31566794a3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ea58ddd5d9a84203" /><Relationship Type="http://schemas.openxmlformats.org/officeDocument/2006/relationships/notesSlide" Target="/ppt/notesSlides/notesSlide35.xml" Id="Rb2613498e49a401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4e3398507d234eb3" /><Relationship Type="http://schemas.openxmlformats.org/officeDocument/2006/relationships/notesSlide" Target="/ppt/notesSlides/notesSlide36.xml" Id="Rcfaddb63b160462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df53e6754f864853" /><Relationship Type="http://schemas.openxmlformats.org/officeDocument/2006/relationships/notesSlide" Target="/ppt/notesSlides/notesSlide37.xml" Id="R70ff7a27fa29429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fe7b790b0c9949c5" /><Relationship Type="http://schemas.openxmlformats.org/officeDocument/2006/relationships/notesSlide" Target="/ppt/notesSlides/notesSlide38.xml" Id="Re30de274ad5b4be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79173fef7b4412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122E705-8981-411D-91DF-5DDE9D86E02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80D24">
                  <a:alpha val="35000"/>
                </a:srgbClr>
              </a:gs>
              <a:gs pos="70000">
                <a:srgbClr val="180D24">
                  <a:alpha val="92000"/>
                </a:srgbClr>
              </a:gs>
              <a:gs pos="100000">
                <a:srgbClr val="180D24"/>
              </a:gs>
            </a:gsLst>
            <a:lin ang="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FCB9812-E354-4F3D-8058-083585458250}"/>
              </a:ext>
            </a:extLst>
          </p:cNvPr>
          <p:cNvSpPr>
            <a:spLocks xmlns:a="http://schemas.openxmlformats.org/drawingml/2006/main" noGrp="1"/>
          </p:cNvSpPr>
          <p:nvPr/>
        </p:nvSpPr>
        <p:spPr>
          <a:xfrm xmlns:a="http://schemas.openxmlformats.org/drawingml/2006/main">
            <a:off x="609600" y="5143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125" b="1" i="0">
                <a:solidFill>
                  <a:srgbClr val="FF6B4A"/>
                </a:solidFill>
                <a:latin typeface="Aptos"/>
                <a:ea typeface="Aptos"/>
                <a:cs typeface="Aptos"/>
              </a:defRPr>
            </a:pPr>
            <a:r>
              <a:rPr sz="1125" b="1" i="0">
                <a:solidFill>
                  <a:srgbClr val="FF6B4A"/>
                </a:solidFill>
                <a:latin typeface="Aptos"/>
                <a:ea typeface="Aptos"/>
                <a:cs typeface="Aptos"/>
              </a:rPr>
              <a:t>LINUX FOUNDATIONS</a:t>
            </a:r>
          </a:p>
        </p:txBody>
      </p:sp>
      <p:sp>
        <p:nvSpPr>
          <p:cNvPr id="4" name="">
            <a:extLst xmlns:a="http://schemas.openxmlformats.org/drawingml/2006/main">
              <a:ext uri="{FF2B5EF4-FFF2-40B4-BE49-F238E27FC236}">
                <a16:creationId xmlns:a16="http://schemas.microsoft.com/office/drawing/2014/main" id="{5FFD08DA-3400-4C32-BA65-DDB24C439070}"/>
              </a:ext>
            </a:extLst>
          </p:cNvPr>
          <p:cNvSpPr>
            <a:spLocks xmlns:a="http://schemas.openxmlformats.org/drawingml/2006/main" noGrp="1"/>
          </p:cNvSpPr>
          <p:nvPr/>
        </p:nvSpPr>
        <p:spPr>
          <a:xfrm xmlns:a="http://schemas.openxmlformats.org/drawingml/2006/main">
            <a:off x="609600" y="1600200"/>
            <a:ext cx="6000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742"/>
          </a:bodyPr>
          <a:lstStyle xmlns:a="http://schemas.openxmlformats.org/drawingml/2006/main"/>
          <a:p xmlns:a="http://schemas.openxmlformats.org/drawingml/2006/main">
            <a:pPr algn="l">
              <a:lnSpc>
                <a:spcPct val="90000"/>
              </a:lnSpc>
              <a:buNone/>
              <a:defRPr sz="5400" b="1" i="0">
                <a:solidFill>
                  <a:srgbClr val="FFF8EE"/>
                </a:solidFill>
                <a:latin typeface="Aptos"/>
                <a:ea typeface="Aptos"/>
                <a:cs typeface="Aptos"/>
              </a:defRPr>
            </a:pPr>
            <a:r>
              <a:rPr sz="5400" b="1" i="0">
                <a:solidFill>
                  <a:srgbClr val="FFF8EE"/>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74FECC40-4DE1-4AC4-9AC3-1B2BEF45376B}"/>
              </a:ext>
            </a:extLst>
          </p:cNvPr>
          <p:cNvSpPr>
            <a:spLocks xmlns:a="http://schemas.openxmlformats.org/drawingml/2006/main" noGrp="1"/>
          </p:cNvSpPr>
          <p:nvPr/>
        </p:nvSpPr>
        <p:spPr>
          <a:xfrm xmlns:a="http://schemas.openxmlformats.org/drawingml/2006/main">
            <a:off x="609600" y="2571750"/>
            <a:ext cx="590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325" b="1" i="0">
                <a:solidFill>
                  <a:srgbClr val="C9B6FF"/>
                </a:solidFill>
                <a:latin typeface="Aptos"/>
                <a:ea typeface="Aptos"/>
                <a:cs typeface="Aptos"/>
              </a:defRPr>
            </a:pPr>
            <a:r>
              <a:rPr sz="2325" b="1" i="0">
                <a:solidFill>
                  <a:srgbClr val="C9B6FF"/>
                </a:solidFill>
                <a:latin typeface="Aptos"/>
                <a:ea typeface="Aptos"/>
                <a:cs typeface="Aptos"/>
              </a:rPr>
              <a:t>Operate the system. Trust the evidence.</a:t>
            </a:r>
          </a:p>
        </p:txBody>
      </p:sp>
      <p:sp>
        <p:nvSpPr>
          <p:cNvPr id="6" name="">
            <a:extLst xmlns:a="http://schemas.openxmlformats.org/drawingml/2006/main">
              <a:ext uri="{FF2B5EF4-FFF2-40B4-BE49-F238E27FC236}">
                <a16:creationId xmlns:a16="http://schemas.microsoft.com/office/drawing/2014/main" id="{D2339507-6500-4A45-8950-CE4A7E199822}"/>
              </a:ext>
            </a:extLst>
          </p:cNvPr>
          <p:cNvSpPr>
            <a:spLocks xmlns:a="http://schemas.openxmlformats.org/drawingml/2006/main" noGrp="1"/>
          </p:cNvSpPr>
          <p:nvPr/>
        </p:nvSpPr>
        <p:spPr>
          <a:xfrm xmlns:a="http://schemas.openxmlformats.org/drawingml/2006/main">
            <a:off x="609600" y="3524250"/>
            <a:ext cx="571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725" b="0" i="0">
                <a:solidFill>
                  <a:srgbClr val="FFF8EE"/>
                </a:solidFill>
                <a:latin typeface="Aptos"/>
                <a:ea typeface="Aptos"/>
                <a:cs typeface="Aptos"/>
              </a:defRPr>
            </a:pPr>
            <a:r>
              <a:rPr sz="1725" b="0" i="0">
                <a:solidFill>
                  <a:srgbClr val="FFF8EE"/>
                </a:solidFill>
                <a:latin typeface="Aptos"/>
                <a:ea typeface="Aptos"/>
                <a:cs typeface="Aptos"/>
              </a:rPr>
              <a:t>Terminal · permissions · SSH · logs · systemd</a:t>
            </a:r>
          </a:p>
        </p:txBody>
      </p:sp>
      <p:sp>
        <p:nvSpPr>
          <p:cNvPr id="7" name="">
            <a:extLst xmlns:a="http://schemas.openxmlformats.org/drawingml/2006/main">
              <a:ext uri="{FF2B5EF4-FFF2-40B4-BE49-F238E27FC236}">
                <a16:creationId xmlns:a16="http://schemas.microsoft.com/office/drawing/2014/main" id="{5A19B6A6-46EB-42D9-8FD3-DE46E955CC1F}"/>
              </a:ext>
            </a:extLst>
          </p:cNvPr>
          <p:cNvSpPr>
            <a:spLocks xmlns:a="http://schemas.openxmlformats.org/drawingml/2006/main" noGrp="1"/>
          </p:cNvSpPr>
          <p:nvPr/>
        </p:nvSpPr>
        <p:spPr>
          <a:xfrm xmlns:a="http://schemas.openxmlformats.org/drawingml/2006/main">
            <a:off x="609600" y="4533900"/>
            <a:ext cx="47625" cy="990600"/>
          </a:xfrm>
          <a:prstGeom xmlns:a="http://schemas.openxmlformats.org/drawingml/2006/main" prst="rect">
            <a:avLst/>
          </a:prstGeom>
          <a:solidFill xmlns:a="http://schemas.openxmlformats.org/drawingml/2006/main">
            <a:srgbClr val="FF6B4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3DF6487-EE34-4A97-872D-096582D42314}"/>
              </a:ext>
            </a:extLst>
          </p:cNvPr>
          <p:cNvSpPr>
            <a:spLocks xmlns:a="http://schemas.openxmlformats.org/drawingml/2006/main" noGrp="1"/>
          </p:cNvSpPr>
          <p:nvPr/>
        </p:nvSpPr>
        <p:spPr>
          <a:xfrm xmlns:a="http://schemas.openxmlformats.org/drawingml/2006/main">
            <a:off x="838200" y="4552950"/>
            <a:ext cx="476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0000"/>
              </a:lnSpc>
              <a:buNone/>
              <a:defRPr sz="1650" b="0" i="0">
                <a:solidFill>
                  <a:srgbClr val="BFAFCB"/>
                </a:solidFill>
                <a:latin typeface="Aptos"/>
                <a:ea typeface="Aptos"/>
                <a:cs typeface="Aptos"/>
              </a:defRPr>
            </a:pPr>
            <a:r>
              <a:rPr sz="1650" b="0" i="0">
                <a:solidFill>
                  <a:srgbClr val="BFAFCB"/>
                </a:solidFill>
                <a:latin typeface="Aptos"/>
                <a:ea typeface="Aptos"/>
                <a:cs typeface="Aptos"/>
              </a:rPr>
              <a:t>6-hour workshop</a:t>
            </a:r>
          </a:p>
          <a:p xmlns:a="http://schemas.openxmlformats.org/drawingml/2006/main">
            <a:pPr algn="l">
              <a:lnSpc>
                <a:spcPct val="110000"/>
              </a:lnSpc>
              <a:buNone/>
              <a:defRPr sz="1650" b="0" i="0">
                <a:solidFill>
                  <a:srgbClr val="BFAFCB"/>
                </a:solidFill>
                <a:latin typeface="Aptos"/>
                <a:ea typeface="Aptos"/>
                <a:cs typeface="Aptos"/>
              </a:defRPr>
            </a:pPr>
            <a:r>
              <a:rPr sz="1650" b="0" i="0">
                <a:solidFill>
                  <a:srgbClr val="BFAFCB"/>
                </a:solidFill>
                <a:latin typeface="Aptos"/>
                <a:ea typeface="Aptos"/>
                <a:cs typeface="Aptos"/>
              </a:rPr>
              <a:t>50% theory + demos · 50% hands-on labs</a:t>
            </a:r>
          </a:p>
        </p:txBody>
      </p:sp>
      <p:sp>
        <p:nvSpPr>
          <p:cNvPr id="9" name="">
            <a:extLst xmlns:a="http://schemas.openxmlformats.org/drawingml/2006/main">
              <a:ext uri="{FF2B5EF4-FFF2-40B4-BE49-F238E27FC236}">
                <a16:creationId xmlns:a16="http://schemas.microsoft.com/office/drawing/2014/main" id="{01437EDB-A435-4FA4-BD14-90AF76D302FC}"/>
              </a:ext>
            </a:extLst>
          </p:cNvPr>
          <p:cNvSpPr>
            <a:spLocks xmlns:a="http://schemas.openxmlformats.org/drawingml/2006/main" noGrp="1"/>
          </p:cNvSpPr>
          <p:nvPr/>
        </p:nvSpPr>
        <p:spPr>
          <a:xfrm xmlns:a="http://schemas.openxmlformats.org/drawingml/2006/main">
            <a:off x="609600" y="6238875"/>
            <a:ext cx="514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BFAFCB"/>
                </a:solidFill>
                <a:latin typeface="Aptos"/>
                <a:ea typeface="Aptos"/>
                <a:cs typeface="Aptos"/>
              </a:defRPr>
            </a:pPr>
            <a:r>
              <a:rPr sz="1050" b="1" i="0">
                <a:solidFill>
                  <a:srgbClr val="BFAFCB"/>
                </a:solidFill>
                <a:latin typeface="Aptos"/>
                <a:ea typeface="Aptos"/>
                <a:cs typeface="Aptos"/>
              </a:rPr>
              <a:t>Ubuntu 24.04 browser labs · macOS + Windows</a:t>
            </a:r>
          </a:p>
        </p:txBody>
      </p:sp>
    </p:spTree>
    <p:extLst>
      <p:ext uri="{BB962C8B-B14F-4D97-AF65-F5344CB8AC3E}">
        <p14:creationId xmlns:p14="http://schemas.microsoft.com/office/powerpoint/2010/main" val="264966427"/>
      </p:ext>
    </p:extLst>
  </p:cSld>
</p:sld>
</file>

<file path=ppt/slides/slide2.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51C76B9-8B7D-484F-A1D3-0AFA8DB36984}"/>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OUTCOMES</a:t>
            </a:r>
          </a:p>
        </p:txBody>
      </p:sp>
      <p:sp>
        <p:nvSpPr>
          <p:cNvPr id="2" name="">
            <a:extLst xmlns:a="http://schemas.openxmlformats.org/drawingml/2006/main">
              <a:ext uri="{FF2B5EF4-FFF2-40B4-BE49-F238E27FC236}">
                <a16:creationId xmlns:a16="http://schemas.microsoft.com/office/drawing/2014/main" id="{1E33F574-238B-4AB5-9535-9E1C2B4A6643}"/>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160B20"/>
                </a:solidFill>
                <a:latin typeface="Aptos"/>
                <a:ea typeface="Aptos"/>
                <a:cs typeface="Aptos"/>
              </a:defRPr>
            </a:pPr>
            <a:r>
              <a:rPr sz="3750" b="1" i="0">
                <a:solidFill>
                  <a:srgbClr val="160B20"/>
                </a:solidFill>
                <a:latin typeface="Aptos"/>
                <a:ea typeface="Aptos"/>
                <a:cs typeface="Aptos"/>
              </a:rPr>
              <a:t>By the end, you can recover your bearings</a:t>
            </a:r>
          </a:p>
        </p:txBody>
      </p:sp>
      <p:sp>
        <p:nvSpPr>
          <p:cNvPr id="3" name="">
            <a:extLst xmlns:a="http://schemas.openxmlformats.org/drawingml/2006/main">
              <a:ext uri="{FF2B5EF4-FFF2-40B4-BE49-F238E27FC236}">
                <a16:creationId xmlns:a16="http://schemas.microsoft.com/office/drawing/2014/main" id="{B3C33312-6E0C-4022-A4FB-3379B80D13AB}"/>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E7DC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25B5845-6CE7-4A7F-8393-0540D362E261}"/>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6F6277"/>
                </a:solidFill>
                <a:latin typeface="Aptos"/>
                <a:ea typeface="Aptos"/>
                <a:cs typeface="Aptos"/>
              </a:defRPr>
            </a:pPr>
            <a:r>
              <a:rPr sz="900" b="1" i="0">
                <a:solidFill>
                  <a:srgbClr val="6F6277"/>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560CB852-8342-4285-BB18-7B4DFB3A4B57}"/>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8B5CF6"/>
                </a:solidFill>
                <a:latin typeface="Aptos"/>
                <a:ea typeface="Aptos"/>
                <a:cs typeface="Aptos"/>
              </a:defRPr>
            </a:pPr>
            <a:r>
              <a:rPr sz="1050" b="1" i="0">
                <a:solidFill>
                  <a:srgbClr val="8B5CF6"/>
                </a:solidFill>
                <a:latin typeface="Aptos"/>
                <a:ea typeface="Aptos"/>
                <a:cs typeface="Aptos"/>
              </a:rPr>
              <a:t>02</a:t>
            </a:r>
          </a:p>
        </p:txBody>
      </p:sp>
      <p:sp>
        <p:nvSpPr>
          <p:cNvPr id="6" name="">
            <a:extLst xmlns:a="http://schemas.openxmlformats.org/drawingml/2006/main">
              <a:ext uri="{FF2B5EF4-FFF2-40B4-BE49-F238E27FC236}">
                <a16:creationId xmlns:a16="http://schemas.microsoft.com/office/drawing/2014/main" id="{2F2AEA1D-D17D-45F6-92BA-A4B9B2429D09}"/>
              </a:ext>
            </a:extLst>
          </p:cNvPr>
          <p:cNvSpPr>
            <a:spLocks xmlns:a="http://schemas.openxmlformats.org/drawingml/2006/main" noGrp="1"/>
          </p:cNvSpPr>
          <p:nvPr/>
        </p:nvSpPr>
        <p:spPr>
          <a:xfrm xmlns:a="http://schemas.openxmlformats.org/drawingml/2006/main">
            <a:off x="666750" y="1714500"/>
            <a:ext cx="114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4050" b="1" i="0">
                <a:solidFill>
                  <a:srgbClr val="8B5CF6"/>
                </a:solidFill>
                <a:latin typeface="Aptos"/>
                <a:ea typeface="Aptos"/>
                <a:cs typeface="Aptos"/>
              </a:defRPr>
            </a:pPr>
            <a:r>
              <a:rPr sz="4050" b="1" i="0">
                <a:solidFill>
                  <a:srgbClr val="8B5CF6"/>
                </a:solidFill>
                <a:latin typeface="Aptos"/>
                <a:ea typeface="Aptos"/>
                <a:cs typeface="Aptos"/>
              </a:rPr>
              <a:t>01</a:t>
            </a:r>
          </a:p>
        </p:txBody>
      </p:sp>
      <p:sp>
        <p:nvSpPr>
          <p:cNvPr id="7" name="">
            <a:extLst xmlns:a="http://schemas.openxmlformats.org/drawingml/2006/main">
              <a:ext uri="{FF2B5EF4-FFF2-40B4-BE49-F238E27FC236}">
                <a16:creationId xmlns:a16="http://schemas.microsoft.com/office/drawing/2014/main" id="{9D3B7DF3-99D7-49C5-A820-F2DEF769CE47}"/>
              </a:ext>
            </a:extLst>
          </p:cNvPr>
          <p:cNvSpPr>
            <a:spLocks xmlns:a="http://schemas.openxmlformats.org/drawingml/2006/main" noGrp="1"/>
          </p:cNvSpPr>
          <p:nvPr/>
        </p:nvSpPr>
        <p:spPr>
          <a:xfrm xmlns:a="http://schemas.openxmlformats.org/drawingml/2006/main">
            <a:off x="1619250" y="171450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325" b="1" i="0">
                <a:solidFill>
                  <a:srgbClr val="160B20"/>
                </a:solidFill>
                <a:latin typeface="Aptos"/>
                <a:ea typeface="Aptos"/>
                <a:cs typeface="Aptos"/>
              </a:defRPr>
            </a:pPr>
            <a:r>
              <a:rPr sz="2325" b="1" i="0">
                <a:solidFill>
                  <a:srgbClr val="160B20"/>
                </a:solidFill>
                <a:latin typeface="Aptos"/>
                <a:ea typeface="Aptos"/>
                <a:cs typeface="Aptos"/>
              </a:rPr>
              <a:t>Navigate</a:t>
            </a:r>
          </a:p>
        </p:txBody>
      </p:sp>
      <p:sp>
        <p:nvSpPr>
          <p:cNvPr id="8" name="">
            <a:extLst xmlns:a="http://schemas.openxmlformats.org/drawingml/2006/main">
              <a:ext uri="{FF2B5EF4-FFF2-40B4-BE49-F238E27FC236}">
                <a16:creationId xmlns:a16="http://schemas.microsoft.com/office/drawing/2014/main" id="{67540705-72D9-48F0-8CDA-503E9F3DA063}"/>
              </a:ext>
            </a:extLst>
          </p:cNvPr>
          <p:cNvSpPr>
            <a:spLocks xmlns:a="http://schemas.openxmlformats.org/drawingml/2006/main" noGrp="1"/>
          </p:cNvSpPr>
          <p:nvPr/>
        </p:nvSpPr>
        <p:spPr>
          <a:xfrm xmlns:a="http://schemas.openxmlformats.org/drawingml/2006/main">
            <a:off x="1619250" y="2238375"/>
            <a:ext cx="809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800" b="0" i="0">
                <a:solidFill>
                  <a:srgbClr val="514658"/>
                </a:solidFill>
                <a:latin typeface="Aptos"/>
                <a:ea typeface="Aptos"/>
                <a:cs typeface="Aptos"/>
              </a:defRPr>
            </a:pPr>
            <a:r>
              <a:rPr sz="1800" b="0" i="0">
                <a:solidFill>
                  <a:srgbClr val="514658"/>
                </a:solidFill>
                <a:latin typeface="Aptos"/>
                <a:ea typeface="Aptos"/>
                <a:cs typeface="Aptos"/>
              </a:rPr>
              <a:t>Move through Linux, manipulate files, and use pipes without losing track of location.</a:t>
            </a:r>
          </a:p>
        </p:txBody>
      </p:sp>
      <p:sp>
        <p:nvSpPr>
          <p:cNvPr id="9" name="">
            <a:extLst xmlns:a="http://schemas.openxmlformats.org/drawingml/2006/main">
              <a:ext uri="{FF2B5EF4-FFF2-40B4-BE49-F238E27FC236}">
                <a16:creationId xmlns:a16="http://schemas.microsoft.com/office/drawing/2014/main" id="{A507697E-D5E6-4895-9969-663F35D049FE}"/>
              </a:ext>
            </a:extLst>
          </p:cNvPr>
          <p:cNvSpPr>
            <a:spLocks xmlns:a="http://schemas.openxmlformats.org/drawingml/2006/main" noGrp="1"/>
          </p:cNvSpPr>
          <p:nvPr/>
        </p:nvSpPr>
        <p:spPr>
          <a:xfrm xmlns:a="http://schemas.openxmlformats.org/drawingml/2006/main">
            <a:off x="666750" y="3162300"/>
            <a:ext cx="114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4050" b="1" i="0">
                <a:solidFill>
                  <a:srgbClr val="FF6B4A"/>
                </a:solidFill>
                <a:latin typeface="Aptos"/>
                <a:ea typeface="Aptos"/>
                <a:cs typeface="Aptos"/>
              </a:defRPr>
            </a:pPr>
            <a:r>
              <a:rPr sz="4050" b="1" i="0">
                <a:solidFill>
                  <a:srgbClr val="FF6B4A"/>
                </a:solidFill>
                <a:latin typeface="Aptos"/>
                <a:ea typeface="Aptos"/>
                <a:cs typeface="Aptos"/>
              </a:rPr>
              <a:t>02</a:t>
            </a:r>
          </a:p>
        </p:txBody>
      </p:sp>
      <p:sp>
        <p:nvSpPr>
          <p:cNvPr id="10" name="">
            <a:extLst xmlns:a="http://schemas.openxmlformats.org/drawingml/2006/main">
              <a:ext uri="{FF2B5EF4-FFF2-40B4-BE49-F238E27FC236}">
                <a16:creationId xmlns:a16="http://schemas.microsoft.com/office/drawing/2014/main" id="{6BF1F6DA-18DA-4EF6-87ED-6B21DE989600}"/>
              </a:ext>
            </a:extLst>
          </p:cNvPr>
          <p:cNvSpPr>
            <a:spLocks xmlns:a="http://schemas.openxmlformats.org/drawingml/2006/main" noGrp="1"/>
          </p:cNvSpPr>
          <p:nvPr/>
        </p:nvSpPr>
        <p:spPr>
          <a:xfrm xmlns:a="http://schemas.openxmlformats.org/drawingml/2006/main">
            <a:off x="1619250" y="3162300"/>
            <a:ext cx="323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325" b="1" i="0">
                <a:solidFill>
                  <a:srgbClr val="160B20"/>
                </a:solidFill>
                <a:latin typeface="Aptos"/>
                <a:ea typeface="Aptos"/>
                <a:cs typeface="Aptos"/>
              </a:defRPr>
            </a:pPr>
            <a:r>
              <a:rPr sz="2325" b="1" i="0">
                <a:solidFill>
                  <a:srgbClr val="160B20"/>
                </a:solidFill>
                <a:latin typeface="Aptos"/>
                <a:ea typeface="Aptos"/>
                <a:cs typeface="Aptos"/>
              </a:rPr>
              <a:t>Control access</a:t>
            </a:r>
          </a:p>
        </p:txBody>
      </p:sp>
      <p:sp>
        <p:nvSpPr>
          <p:cNvPr id="11" name="">
            <a:extLst xmlns:a="http://schemas.openxmlformats.org/drawingml/2006/main">
              <a:ext uri="{FF2B5EF4-FFF2-40B4-BE49-F238E27FC236}">
                <a16:creationId xmlns:a16="http://schemas.microsoft.com/office/drawing/2014/main" id="{71E29FE4-E379-4CDF-B760-483EA68A2423}"/>
              </a:ext>
            </a:extLst>
          </p:cNvPr>
          <p:cNvSpPr>
            <a:spLocks xmlns:a="http://schemas.openxmlformats.org/drawingml/2006/main" noGrp="1"/>
          </p:cNvSpPr>
          <p:nvPr/>
        </p:nvSpPr>
        <p:spPr>
          <a:xfrm xmlns:a="http://schemas.openxmlformats.org/drawingml/2006/main">
            <a:off x="1619250" y="3686175"/>
            <a:ext cx="809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800" b="0" i="0">
                <a:solidFill>
                  <a:srgbClr val="514658"/>
                </a:solidFill>
                <a:latin typeface="Aptos"/>
                <a:ea typeface="Aptos"/>
                <a:cs typeface="Aptos"/>
              </a:defRPr>
            </a:pPr>
            <a:r>
              <a:rPr sz="1800" b="0" i="0">
                <a:solidFill>
                  <a:srgbClr val="514658"/>
                </a:solidFill>
                <a:latin typeface="Aptos"/>
                <a:ea typeface="Aptos"/>
                <a:cs typeface="Aptos"/>
              </a:rPr>
              <a:t>Reason about users, groups, ownership, modes, sudo, and SSH keys.</a:t>
            </a:r>
          </a:p>
        </p:txBody>
      </p:sp>
      <p:sp>
        <p:nvSpPr>
          <p:cNvPr id="12" name="">
            <a:extLst xmlns:a="http://schemas.openxmlformats.org/drawingml/2006/main">
              <a:ext uri="{FF2B5EF4-FFF2-40B4-BE49-F238E27FC236}">
                <a16:creationId xmlns:a16="http://schemas.microsoft.com/office/drawing/2014/main" id="{A44D37D9-CF9B-46D8-92D7-562A5B99E3C2}"/>
              </a:ext>
            </a:extLst>
          </p:cNvPr>
          <p:cNvSpPr>
            <a:spLocks xmlns:a="http://schemas.openxmlformats.org/drawingml/2006/main" noGrp="1"/>
          </p:cNvSpPr>
          <p:nvPr/>
        </p:nvSpPr>
        <p:spPr>
          <a:xfrm xmlns:a="http://schemas.openxmlformats.org/drawingml/2006/main">
            <a:off x="666750" y="4610100"/>
            <a:ext cx="114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4050" b="1" i="0">
                <a:solidFill>
                  <a:srgbClr val="70D6A6"/>
                </a:solidFill>
                <a:latin typeface="Aptos"/>
                <a:ea typeface="Aptos"/>
                <a:cs typeface="Aptos"/>
              </a:defRPr>
            </a:pPr>
            <a:r>
              <a:rPr sz="4050" b="1" i="0">
                <a:solidFill>
                  <a:srgbClr val="70D6A6"/>
                </a:solidFill>
                <a:latin typeface="Aptos"/>
                <a:ea typeface="Aptos"/>
                <a:cs typeface="Aptos"/>
              </a:rPr>
              <a:t>03</a:t>
            </a:r>
          </a:p>
        </p:txBody>
      </p:sp>
      <p:sp>
        <p:nvSpPr>
          <p:cNvPr id="13" name="">
            <a:extLst xmlns:a="http://schemas.openxmlformats.org/drawingml/2006/main">
              <a:ext uri="{FF2B5EF4-FFF2-40B4-BE49-F238E27FC236}">
                <a16:creationId xmlns:a16="http://schemas.microsoft.com/office/drawing/2014/main" id="{433C00D6-12D4-4152-B830-6DFE7531A681}"/>
              </a:ext>
            </a:extLst>
          </p:cNvPr>
          <p:cNvSpPr>
            <a:spLocks xmlns:a="http://schemas.openxmlformats.org/drawingml/2006/main" noGrp="1"/>
          </p:cNvSpPr>
          <p:nvPr/>
        </p:nvSpPr>
        <p:spPr>
          <a:xfrm xmlns:a="http://schemas.openxmlformats.org/drawingml/2006/main">
            <a:off x="1619250" y="461010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325" b="1" i="0">
                <a:solidFill>
                  <a:srgbClr val="160B20"/>
                </a:solidFill>
                <a:latin typeface="Aptos"/>
                <a:ea typeface="Aptos"/>
                <a:cs typeface="Aptos"/>
              </a:defRPr>
            </a:pPr>
            <a:r>
              <a:rPr sz="2325" b="1" i="0">
                <a:solidFill>
                  <a:srgbClr val="160B20"/>
                </a:solidFill>
                <a:latin typeface="Aptos"/>
                <a:ea typeface="Aptos"/>
                <a:cs typeface="Aptos"/>
              </a:rPr>
              <a:t>Diagnose</a:t>
            </a:r>
          </a:p>
        </p:txBody>
      </p:sp>
      <p:sp>
        <p:nvSpPr>
          <p:cNvPr id="14" name="">
            <a:extLst xmlns:a="http://schemas.openxmlformats.org/drawingml/2006/main">
              <a:ext uri="{FF2B5EF4-FFF2-40B4-BE49-F238E27FC236}">
                <a16:creationId xmlns:a16="http://schemas.microsoft.com/office/drawing/2014/main" id="{9DC1140D-E328-4E04-AD0F-76C35B908A6D}"/>
              </a:ext>
            </a:extLst>
          </p:cNvPr>
          <p:cNvSpPr>
            <a:spLocks xmlns:a="http://schemas.openxmlformats.org/drawingml/2006/main" noGrp="1"/>
          </p:cNvSpPr>
          <p:nvPr/>
        </p:nvSpPr>
        <p:spPr>
          <a:xfrm xmlns:a="http://schemas.openxmlformats.org/drawingml/2006/main">
            <a:off x="1619250" y="5133975"/>
            <a:ext cx="809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800" b="0" i="0">
                <a:solidFill>
                  <a:srgbClr val="514658"/>
                </a:solidFill>
                <a:latin typeface="Aptos"/>
                <a:ea typeface="Aptos"/>
                <a:cs typeface="Aptos"/>
              </a:defRPr>
            </a:pPr>
            <a:r>
              <a:rPr sz="1800" b="0" i="0">
                <a:solidFill>
                  <a:srgbClr val="514658"/>
                </a:solidFill>
                <a:latin typeface="Aptos"/>
                <a:ea typeface="Aptos"/>
                <a:cs typeface="Aptos"/>
              </a:rPr>
              <a:t>Start and stop services, filter logs, identify a cause, and verify the repair.</a:t>
            </a:r>
          </a:p>
        </p:txBody>
      </p:sp>
    </p:spTree>
    <p:extLst>
      <p:ext uri="{BB962C8B-B14F-4D97-AF65-F5344CB8AC3E}">
        <p14:creationId xmlns:p14="http://schemas.microsoft.com/office/powerpoint/2010/main" val="1169979995"/>
      </p:ext>
    </p:extLst>
  </p:cSld>
</p:sld>
</file>

<file path=ppt/slides/slide3.xml><?xml version="1.0" encoding="utf-8"?>
<p:sld xmlns:p="http://schemas.openxmlformats.org/presentationml/2006/main">
  <p:cSld>
    <p:bg>
      <p:bgPr>
        <a:solidFill xmlns:a="http://schemas.openxmlformats.org/drawingml/2006/main">
          <a:srgbClr val="180D24"/>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E865C37-C0DB-486B-B06A-B3F83434045E}"/>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ENVIRONMENT</a:t>
            </a:r>
          </a:p>
        </p:txBody>
      </p:sp>
      <p:sp>
        <p:nvSpPr>
          <p:cNvPr id="2" name="">
            <a:extLst xmlns:a="http://schemas.openxmlformats.org/drawingml/2006/main">
              <a:ext uri="{FF2B5EF4-FFF2-40B4-BE49-F238E27FC236}">
                <a16:creationId xmlns:a16="http://schemas.microsoft.com/office/drawing/2014/main" id="{AC868452-45FA-4E2F-A59F-AC736E7D53D0}"/>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275"/>
          </a:bodyPr>
          <a:lstStyle xmlns:a="http://schemas.openxmlformats.org/drawingml/2006/main"/>
          <a:p xmlns:a="http://schemas.openxmlformats.org/drawingml/2006/main">
            <a:pPr algn="l">
              <a:lnSpc>
                <a:spcPct val="94000"/>
              </a:lnSpc>
              <a:buNone/>
              <a:defRPr sz="3750" b="1" i="0">
                <a:solidFill>
                  <a:srgbClr val="FFF8EE"/>
                </a:solidFill>
                <a:latin typeface="Aptos"/>
                <a:ea typeface="Aptos"/>
                <a:cs typeface="Aptos"/>
              </a:defRPr>
            </a:pPr>
            <a:r>
              <a:rPr sz="3750" b="1" i="0">
                <a:solidFill>
                  <a:srgbClr val="FFF8EE"/>
                </a:solidFill>
                <a:latin typeface="Aptos"/>
                <a:ea typeface="Aptos"/>
                <a:cs typeface="Aptos"/>
              </a:rPr>
              <a:t>Your browser is a window into another Linux system</a:t>
            </a:r>
          </a:p>
        </p:txBody>
      </p:sp>
      <p:sp>
        <p:nvSpPr>
          <p:cNvPr id="3" name="">
            <a:extLst xmlns:a="http://schemas.openxmlformats.org/drawingml/2006/main">
              <a:ext uri="{FF2B5EF4-FFF2-40B4-BE49-F238E27FC236}">
                <a16:creationId xmlns:a16="http://schemas.microsoft.com/office/drawing/2014/main" id="{1741412F-62BD-493D-804A-663817A32F61}"/>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3520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DD2CAF3-35B4-49B8-82B3-64FBAEE4CEC1}"/>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BFAFCB"/>
                </a:solidFill>
                <a:latin typeface="Aptos"/>
                <a:ea typeface="Aptos"/>
                <a:cs typeface="Aptos"/>
              </a:defRPr>
            </a:pPr>
            <a:r>
              <a:rPr sz="900" b="1" i="0">
                <a:solidFill>
                  <a:srgbClr val="BFAFCB"/>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F5A23C24-4413-4D8E-A892-5D9891FA3F4D}"/>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C9B6FF"/>
                </a:solidFill>
                <a:latin typeface="Aptos"/>
                <a:ea typeface="Aptos"/>
                <a:cs typeface="Aptos"/>
              </a:defRPr>
            </a:pPr>
            <a:r>
              <a:rPr sz="1050" b="1" i="0">
                <a:solidFill>
                  <a:srgbClr val="C9B6FF"/>
                </a:solidFill>
                <a:latin typeface="Aptos"/>
                <a:ea typeface="Aptos"/>
                <a:cs typeface="Aptos"/>
              </a:rPr>
              <a:t>03</a:t>
            </a:r>
          </a:p>
        </p:txBody>
      </p:sp>
      <p:sp>
        <p:nvSpPr>
          <p:cNvPr id="6" name="">
            <a:extLst xmlns:a="http://schemas.openxmlformats.org/drawingml/2006/main">
              <a:ext uri="{FF2B5EF4-FFF2-40B4-BE49-F238E27FC236}">
                <a16:creationId xmlns:a16="http://schemas.microsoft.com/office/drawing/2014/main" id="{17E24F84-62D9-4EF3-AD0E-B3E31F3DBF17}"/>
              </a:ext>
            </a:extLst>
          </p:cNvPr>
          <p:cNvSpPr>
            <a:spLocks xmlns:a="http://schemas.openxmlformats.org/drawingml/2006/main" noGrp="1"/>
          </p:cNvSpPr>
          <p:nvPr/>
        </p:nvSpPr>
        <p:spPr>
          <a:xfrm xmlns:a="http://schemas.openxmlformats.org/drawingml/2006/main">
            <a:off x="857250" y="180975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200" b="1" i="0">
                <a:solidFill>
                  <a:srgbClr val="FF6B4A"/>
                </a:solidFill>
                <a:latin typeface="Aptos"/>
                <a:ea typeface="Aptos"/>
                <a:cs typeface="Aptos"/>
              </a:defRPr>
            </a:pPr>
            <a:r>
              <a:rPr sz="1200" b="1" i="0">
                <a:solidFill>
                  <a:srgbClr val="FF6B4A"/>
                </a:solidFill>
                <a:latin typeface="Aptos"/>
                <a:ea typeface="Aptos"/>
                <a:cs typeface="Aptos"/>
              </a:rPr>
              <a:t>BROWSER</a:t>
            </a:r>
          </a:p>
        </p:txBody>
      </p:sp>
      <p:sp>
        <p:nvSpPr>
          <p:cNvPr id="7" name="">
            <a:extLst xmlns:a="http://schemas.openxmlformats.org/drawingml/2006/main">
              <a:ext uri="{FF2B5EF4-FFF2-40B4-BE49-F238E27FC236}">
                <a16:creationId xmlns:a16="http://schemas.microsoft.com/office/drawing/2014/main" id="{7B6EB020-D19B-4D33-8943-47132D2469B1}"/>
              </a:ext>
            </a:extLst>
          </p:cNvPr>
          <p:cNvSpPr>
            <a:spLocks xmlns:a="http://schemas.openxmlformats.org/drawingml/2006/main" noGrp="1"/>
          </p:cNvSpPr>
          <p:nvPr/>
        </p:nvSpPr>
        <p:spPr>
          <a:xfrm xmlns:a="http://schemas.openxmlformats.org/drawingml/2006/main">
            <a:off x="857250" y="2266950"/>
            <a:ext cx="3619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819"/>
          </a:bodyPr>
          <a:lstStyle xmlns:a="http://schemas.openxmlformats.org/drawingml/2006/main"/>
          <a:p xmlns:a="http://schemas.openxmlformats.org/drawingml/2006/main">
            <a:pPr algn="l">
              <a:lnSpc>
                <a:spcPct val="96000"/>
              </a:lnSpc>
              <a:buNone/>
              <a:defRPr sz="2550" b="1" i="0">
                <a:solidFill>
                  <a:srgbClr val="FFF8EE"/>
                </a:solidFill>
                <a:latin typeface="Aptos"/>
                <a:ea typeface="Aptos"/>
                <a:cs typeface="Aptos"/>
              </a:defRPr>
            </a:pPr>
            <a:r>
              <a:rPr sz="2550" b="1" i="0">
                <a:solidFill>
                  <a:srgbClr val="FFF8EE"/>
                </a:solidFill>
                <a:latin typeface="Aptos"/>
                <a:ea typeface="Aptos"/>
                <a:cs typeface="Aptos"/>
              </a:rPr>
              <a:t>Safari, Edge, or Chrome</a:t>
            </a:r>
          </a:p>
          <a:p xmlns:a="http://schemas.openxmlformats.org/drawingml/2006/main">
            <a:pPr algn="l">
              <a:lnSpc>
                <a:spcPct val="96000"/>
              </a:lnSpc>
              <a:buNone/>
              <a:defRPr sz="2550" b="1" i="0">
                <a:solidFill>
                  <a:srgbClr val="FFF8EE"/>
                </a:solidFill>
                <a:latin typeface="Aptos"/>
                <a:ea typeface="Aptos"/>
                <a:cs typeface="Aptos"/>
              </a:defRPr>
            </a:pPr>
            <a:r>
              <a:rPr sz="2550" b="1" i="0">
                <a:solidFill>
                  <a:srgbClr val="FFF8EE"/>
                </a:solidFill>
                <a:latin typeface="Aptos"/>
                <a:ea typeface="Aptos"/>
                <a:cs typeface="Aptos"/>
              </a:rPr>
              <a:t>on macOS or Windows</a:t>
            </a:r>
          </a:p>
        </p:txBody>
      </p:sp>
      <p:sp>
        <p:nvSpPr>
          <p:cNvPr id="8" name="">
            <a:extLst xmlns:a="http://schemas.openxmlformats.org/drawingml/2006/main">
              <a:ext uri="{FF2B5EF4-FFF2-40B4-BE49-F238E27FC236}">
                <a16:creationId xmlns:a16="http://schemas.microsoft.com/office/drawing/2014/main" id="{808C2215-FE23-49AB-A6FD-FD6BD4038F6F}"/>
              </a:ext>
            </a:extLst>
          </p:cNvPr>
          <p:cNvSpPr>
            <a:spLocks xmlns:a="http://schemas.openxmlformats.org/drawingml/2006/main" noGrp="1"/>
          </p:cNvSpPr>
          <p:nvPr/>
        </p:nvSpPr>
        <p:spPr>
          <a:xfrm xmlns:a="http://schemas.openxmlformats.org/drawingml/2006/main">
            <a:off x="857250" y="35433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575" b="0" i="0">
                <a:solidFill>
                  <a:srgbClr val="BFAFCB"/>
                </a:solidFill>
                <a:latin typeface="Aptos"/>
                <a:ea typeface="Aptos"/>
                <a:cs typeface="Aptos"/>
              </a:defRPr>
            </a:pPr>
            <a:r>
              <a:rPr sz="1575" b="0" i="0">
                <a:solidFill>
                  <a:srgbClr val="BFAFCB"/>
                </a:solidFill>
                <a:latin typeface="Aptos"/>
                <a:ea typeface="Aptos"/>
                <a:cs typeface="Aptos"/>
              </a:rPr>
              <a:t>Shows instructions + terminal</a:t>
            </a:r>
          </a:p>
        </p:txBody>
      </p:sp>
      <p:sp>
        <p:nvSpPr>
          <p:cNvPr id="9" name="">
            <a:extLst xmlns:a="http://schemas.openxmlformats.org/drawingml/2006/main">
              <a:ext uri="{FF2B5EF4-FFF2-40B4-BE49-F238E27FC236}">
                <a16:creationId xmlns:a16="http://schemas.microsoft.com/office/drawing/2014/main" id="{10D506F0-7BC8-4E12-81DE-A6C0878997C9}"/>
              </a:ext>
            </a:extLst>
          </p:cNvPr>
          <p:cNvSpPr>
            <a:spLocks xmlns:a="http://schemas.openxmlformats.org/drawingml/2006/main" noGrp="1"/>
          </p:cNvSpPr>
          <p:nvPr/>
        </p:nvSpPr>
        <p:spPr>
          <a:xfrm xmlns:a="http://schemas.openxmlformats.org/drawingml/2006/main">
            <a:off x="857250" y="41148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500" b="0" i="0">
                <a:solidFill>
                  <a:srgbClr val="C9B6FF"/>
                </a:solidFill>
                <a:latin typeface="Courier New"/>
                <a:ea typeface="Courier New"/>
                <a:cs typeface="Courier New"/>
              </a:defRPr>
            </a:pPr>
            <a:r>
              <a:rPr sz="1500" b="0" i="0">
                <a:solidFill>
                  <a:srgbClr val="C9B6FF"/>
                </a:solidFill>
                <a:latin typeface="Courier New"/>
                <a:ea typeface="Courier New"/>
                <a:cs typeface="Courier New"/>
              </a:rPr>
              <a:t>http://linux-lab.local</a:t>
            </a:r>
          </a:p>
        </p:txBody>
      </p:sp>
      <p:sp>
        <p:nvSpPr>
          <p:cNvPr id="10" name="">
            <a:extLst xmlns:a="http://schemas.openxmlformats.org/drawingml/2006/main">
              <a:ext uri="{FF2B5EF4-FFF2-40B4-BE49-F238E27FC236}">
                <a16:creationId xmlns:a16="http://schemas.microsoft.com/office/drawing/2014/main" id="{F0218F21-A3A4-48B6-ABCB-1AA79D589C99}"/>
              </a:ext>
            </a:extLst>
          </p:cNvPr>
          <p:cNvSpPr>
            <a:spLocks xmlns:a="http://schemas.openxmlformats.org/drawingml/2006/main" noGrp="1"/>
          </p:cNvSpPr>
          <p:nvPr/>
        </p:nvSpPr>
        <p:spPr>
          <a:xfrm xmlns:a="http://schemas.openxmlformats.org/drawingml/2006/main">
            <a:off x="5562600" y="2714625"/>
            <a:ext cx="95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4500" b="1" i="0">
                <a:solidFill>
                  <a:srgbClr val="FF6B4A"/>
                </a:solidFill>
                <a:latin typeface="Aptos"/>
                <a:ea typeface="Aptos"/>
                <a:cs typeface="Aptos"/>
              </a:defRPr>
            </a:pPr>
            <a:r>
              <a:rPr sz="4500" b="1" i="0">
                <a:solidFill>
                  <a:srgbClr val="FF6B4A"/>
                </a:solidFill>
                <a:latin typeface="Aptos"/>
                <a:ea typeface="Aptos"/>
                <a:cs typeface="Aptos"/>
              </a:rPr>
              <a:t>→</a:t>
            </a:r>
          </a:p>
        </p:txBody>
      </p:sp>
      <p:sp>
        <p:nvSpPr>
          <p:cNvPr id="11" name="">
            <a:extLst xmlns:a="http://schemas.openxmlformats.org/drawingml/2006/main">
              <a:ext uri="{FF2B5EF4-FFF2-40B4-BE49-F238E27FC236}">
                <a16:creationId xmlns:a16="http://schemas.microsoft.com/office/drawing/2014/main" id="{20202489-0559-4A7E-A86A-E8AF704B33E3}"/>
              </a:ext>
            </a:extLst>
          </p:cNvPr>
          <p:cNvSpPr>
            <a:spLocks xmlns:a="http://schemas.openxmlformats.org/drawingml/2006/main" noGrp="1"/>
          </p:cNvSpPr>
          <p:nvPr/>
        </p:nvSpPr>
        <p:spPr>
          <a:xfrm xmlns:a="http://schemas.openxmlformats.org/drawingml/2006/main">
            <a:off x="7239000" y="180975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200" b="1" i="0">
                <a:solidFill>
                  <a:srgbClr val="FF6B4A"/>
                </a:solidFill>
                <a:latin typeface="Aptos"/>
                <a:ea typeface="Aptos"/>
                <a:cs typeface="Aptos"/>
              </a:defRPr>
            </a:pPr>
            <a:r>
              <a:rPr sz="1200" b="1" i="0">
                <a:solidFill>
                  <a:srgbClr val="FF6B4A"/>
                </a:solidFill>
                <a:latin typeface="Aptos"/>
                <a:ea typeface="Aptos"/>
                <a:cs typeface="Aptos"/>
              </a:rPr>
              <a:t>SESSION</a:t>
            </a:r>
          </a:p>
        </p:txBody>
      </p:sp>
      <p:sp>
        <p:nvSpPr>
          <p:cNvPr id="12" name="">
            <a:extLst xmlns:a="http://schemas.openxmlformats.org/drawingml/2006/main">
              <a:ext uri="{FF2B5EF4-FFF2-40B4-BE49-F238E27FC236}">
                <a16:creationId xmlns:a16="http://schemas.microsoft.com/office/drawing/2014/main" id="{0F0C0B64-84C0-480D-9709-EDE77A9FE624}"/>
              </a:ext>
            </a:extLst>
          </p:cNvPr>
          <p:cNvSpPr>
            <a:spLocks xmlns:a="http://schemas.openxmlformats.org/drawingml/2006/main" noGrp="1"/>
          </p:cNvSpPr>
          <p:nvPr/>
        </p:nvSpPr>
        <p:spPr>
          <a:xfrm xmlns:a="http://schemas.openxmlformats.org/drawingml/2006/main">
            <a:off x="7239000" y="2266950"/>
            <a:ext cx="3619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2550" b="1" i="0">
                <a:solidFill>
                  <a:srgbClr val="FFF8EE"/>
                </a:solidFill>
                <a:latin typeface="Aptos"/>
                <a:ea typeface="Aptos"/>
                <a:cs typeface="Aptos"/>
              </a:defRPr>
            </a:pPr>
            <a:r>
              <a:rPr sz="2550" b="1" i="0">
                <a:solidFill>
                  <a:srgbClr val="FFF8EE"/>
                </a:solidFill>
                <a:latin typeface="Aptos"/>
                <a:ea typeface="Aptos"/>
                <a:cs typeface="Aptos"/>
              </a:rPr>
              <a:t>Ubuntu 24.04</a:t>
            </a:r>
          </a:p>
          <a:p xmlns:a="http://schemas.openxmlformats.org/drawingml/2006/main">
            <a:pPr algn="l">
              <a:lnSpc>
                <a:spcPct val="96000"/>
              </a:lnSpc>
              <a:buNone/>
              <a:defRPr sz="2550" b="1" i="0">
                <a:solidFill>
                  <a:srgbClr val="FFF8EE"/>
                </a:solidFill>
                <a:latin typeface="Aptos"/>
                <a:ea typeface="Aptos"/>
                <a:cs typeface="Aptos"/>
              </a:defRPr>
            </a:pPr>
            <a:r>
              <a:rPr sz="2550" b="1" i="0">
                <a:solidFill>
                  <a:srgbClr val="FFF8EE"/>
                </a:solidFill>
                <a:latin typeface="Aptos"/>
                <a:ea typeface="Aptos"/>
                <a:cs typeface="Aptos"/>
              </a:rPr>
              <a:t>in an Incus container</a:t>
            </a:r>
          </a:p>
        </p:txBody>
      </p:sp>
      <p:sp>
        <p:nvSpPr>
          <p:cNvPr id="13" name="">
            <a:extLst xmlns:a="http://schemas.openxmlformats.org/drawingml/2006/main">
              <a:ext uri="{FF2B5EF4-FFF2-40B4-BE49-F238E27FC236}">
                <a16:creationId xmlns:a16="http://schemas.microsoft.com/office/drawing/2014/main" id="{5D56707B-327C-463C-B311-A2A766F56325}"/>
              </a:ext>
            </a:extLst>
          </p:cNvPr>
          <p:cNvSpPr>
            <a:spLocks xmlns:a="http://schemas.openxmlformats.org/drawingml/2006/main" noGrp="1"/>
          </p:cNvSpPr>
          <p:nvPr/>
        </p:nvSpPr>
        <p:spPr>
          <a:xfrm xmlns:a="http://schemas.openxmlformats.org/drawingml/2006/main">
            <a:off x="7239000" y="3543300"/>
            <a:ext cx="361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575" b="0" i="0">
                <a:solidFill>
                  <a:srgbClr val="BFAFCB"/>
                </a:solidFill>
                <a:latin typeface="Aptos"/>
                <a:ea typeface="Aptos"/>
                <a:cs typeface="Aptos"/>
              </a:defRPr>
            </a:pPr>
            <a:r>
              <a:rPr sz="1575" b="0" i="0">
                <a:solidFill>
                  <a:srgbClr val="BFAFCB"/>
                </a:solidFill>
                <a:latin typeface="Aptos"/>
                <a:ea typeface="Aptos"/>
                <a:cs typeface="Aptos"/>
              </a:rPr>
              <a:t>Runs ls, sudo, apt, systemctl</a:t>
            </a:r>
          </a:p>
        </p:txBody>
      </p:sp>
      <p:sp>
        <p:nvSpPr>
          <p:cNvPr id="14" name="">
            <a:extLst xmlns:a="http://schemas.openxmlformats.org/drawingml/2006/main">
              <a:ext uri="{FF2B5EF4-FFF2-40B4-BE49-F238E27FC236}">
                <a16:creationId xmlns:a16="http://schemas.microsoft.com/office/drawing/2014/main" id="{826E4CD0-D290-455F-99E5-7016A3A0E59B}"/>
              </a:ext>
            </a:extLst>
          </p:cNvPr>
          <p:cNvSpPr>
            <a:spLocks xmlns:a="http://schemas.openxmlformats.org/drawingml/2006/main" noGrp="1"/>
          </p:cNvSpPr>
          <p:nvPr/>
        </p:nvSpPr>
        <p:spPr>
          <a:xfrm xmlns:a="http://schemas.openxmlformats.org/drawingml/2006/main">
            <a:off x="7239000" y="41148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500" b="0" i="0">
                <a:solidFill>
                  <a:srgbClr val="C9B6FF"/>
                </a:solidFill>
                <a:latin typeface="Courier New"/>
                <a:ea typeface="Courier New"/>
                <a:cs typeface="Courier New"/>
              </a:defRPr>
            </a:pPr>
            <a:r>
              <a:rPr sz="1500" b="0" i="0">
                <a:solidFill>
                  <a:srgbClr val="C9B6FF"/>
                </a:solidFill>
                <a:latin typeface="Courier New"/>
                <a:ea typeface="Courier New"/>
                <a:cs typeface="Courier New"/>
              </a:rPr>
              <a:t>learner@linux-lab:~$</a:t>
            </a:r>
          </a:p>
        </p:txBody>
      </p:sp>
      <p:sp>
        <p:nvSpPr>
          <p:cNvPr id="15" name="">
            <a:extLst xmlns:a="http://schemas.openxmlformats.org/drawingml/2006/main">
              <a:ext uri="{FF2B5EF4-FFF2-40B4-BE49-F238E27FC236}">
                <a16:creationId xmlns:a16="http://schemas.microsoft.com/office/drawing/2014/main" id="{62BAAC6F-638A-4C89-947B-4BE2B97429A1}"/>
              </a:ext>
            </a:extLst>
          </p:cNvPr>
          <p:cNvSpPr>
            <a:spLocks xmlns:a="http://schemas.openxmlformats.org/drawingml/2006/main" noGrp="1"/>
          </p:cNvSpPr>
          <p:nvPr/>
        </p:nvSpPr>
        <p:spPr>
          <a:xfrm xmlns:a="http://schemas.openxmlformats.org/drawingml/2006/main">
            <a:off x="857250" y="4953000"/>
            <a:ext cx="10001250" cy="9525"/>
          </a:xfrm>
          <a:prstGeom xmlns:a="http://schemas.openxmlformats.org/drawingml/2006/main" prst="rect">
            <a:avLst/>
          </a:prstGeom>
          <a:solidFill xmlns:a="http://schemas.openxmlformats.org/drawingml/2006/main">
            <a:srgbClr val="4A335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1328C8B-8CA4-4B75-A646-ED5831AC9A68}"/>
              </a:ext>
            </a:extLst>
          </p:cNvPr>
          <p:cNvSpPr>
            <a:spLocks xmlns:a="http://schemas.openxmlformats.org/drawingml/2006/main" noGrp="1"/>
          </p:cNvSpPr>
          <p:nvPr/>
        </p:nvSpPr>
        <p:spPr>
          <a:xfrm xmlns:a="http://schemas.openxmlformats.org/drawingml/2006/main">
            <a:off x="857250" y="5238750"/>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2475" b="1" i="0">
                <a:solidFill>
                  <a:srgbClr val="70D6A6"/>
                </a:solidFill>
                <a:latin typeface="Aptos"/>
                <a:ea typeface="Aptos"/>
                <a:cs typeface="Aptos"/>
              </a:defRPr>
            </a:pPr>
            <a:r>
              <a:rPr sz="2475" b="1" i="0">
                <a:solidFill>
                  <a:srgbClr val="70D6A6"/>
                </a:solidFill>
                <a:latin typeface="Aptos"/>
                <a:ea typeface="Aptos"/>
                <a:cs typeface="Aptos"/>
              </a:rPr>
              <a:t>Browser outside. Linux inside.</a:t>
            </a:r>
          </a:p>
        </p:txBody>
      </p:sp>
    </p:spTree>
    <p:extLst>
      <p:ext uri="{BB962C8B-B14F-4D97-AF65-F5344CB8AC3E}">
        <p14:creationId xmlns:p14="http://schemas.microsoft.com/office/powerpoint/2010/main" val="232557199"/>
      </p:ext>
    </p:extLst>
  </p:cSld>
</p:sld>
</file>

<file path=ppt/slides/slide4.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D4792258-158F-4DED-87A0-81631E855EB0}"/>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COURSE MAP</a:t>
            </a:r>
          </a:p>
        </p:txBody>
      </p:sp>
      <p:sp>
        <p:nvSpPr>
          <p:cNvPr id="2" name="">
            <a:extLst xmlns:a="http://schemas.openxmlformats.org/drawingml/2006/main">
              <a:ext uri="{FF2B5EF4-FFF2-40B4-BE49-F238E27FC236}">
                <a16:creationId xmlns:a16="http://schemas.microsoft.com/office/drawing/2014/main" id="{C49FB11A-CD6B-43D6-92D6-5D1E3759DD6E}"/>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160B20"/>
                </a:solidFill>
                <a:latin typeface="Aptos"/>
                <a:ea typeface="Aptos"/>
                <a:cs typeface="Aptos"/>
              </a:defRPr>
            </a:pPr>
            <a:r>
              <a:rPr sz="3750" b="1" i="0">
                <a:solidFill>
                  <a:srgbClr val="160B20"/>
                </a:solidFill>
                <a:latin typeface="Aptos"/>
                <a:ea typeface="Aptos"/>
                <a:cs typeface="Aptos"/>
              </a:rPr>
              <a:t>Practice gets exactly half of the workshop</a:t>
            </a:r>
          </a:p>
        </p:txBody>
      </p:sp>
      <p:sp>
        <p:nvSpPr>
          <p:cNvPr id="3" name="">
            <a:extLst xmlns:a="http://schemas.openxmlformats.org/drawingml/2006/main">
              <a:ext uri="{FF2B5EF4-FFF2-40B4-BE49-F238E27FC236}">
                <a16:creationId xmlns:a16="http://schemas.microsoft.com/office/drawing/2014/main" id="{E1D7DB64-4949-463C-BFB5-93E3B664136E}"/>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E7DC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75054DC-48AE-4DDA-A39A-9809D0CC37C9}"/>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6F6277"/>
                </a:solidFill>
                <a:latin typeface="Aptos"/>
                <a:ea typeface="Aptos"/>
                <a:cs typeface="Aptos"/>
              </a:defRPr>
            </a:pPr>
            <a:r>
              <a:rPr sz="900" b="1" i="0">
                <a:solidFill>
                  <a:srgbClr val="6F6277"/>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39F41572-8C6B-44B9-A89A-835867046E9B}"/>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8B5CF6"/>
                </a:solidFill>
                <a:latin typeface="Aptos"/>
                <a:ea typeface="Aptos"/>
                <a:cs typeface="Aptos"/>
              </a:defRPr>
            </a:pPr>
            <a:r>
              <a:rPr sz="1050" b="1" i="0">
                <a:solidFill>
                  <a:srgbClr val="8B5CF6"/>
                </a:solidFill>
                <a:latin typeface="Aptos"/>
                <a:ea typeface="Aptos"/>
                <a:cs typeface="Aptos"/>
              </a:rPr>
              <a:t>04</a:t>
            </a:r>
          </a:p>
        </p:txBody>
      </p:sp>
      <p:sp>
        <p:nvSpPr>
          <p:cNvPr id="6" name="">
            <a:extLst xmlns:a="http://schemas.openxmlformats.org/drawingml/2006/main">
              <a:ext uri="{FF2B5EF4-FFF2-40B4-BE49-F238E27FC236}">
                <a16:creationId xmlns:a16="http://schemas.microsoft.com/office/drawing/2014/main" id="{004A022F-3A44-4425-9BC5-DD3BAFBEA3D7}"/>
              </a:ext>
            </a:extLst>
          </p:cNvPr>
          <p:cNvSpPr>
            <a:spLocks xmlns:a="http://schemas.openxmlformats.org/drawingml/2006/main" noGrp="1"/>
          </p:cNvSpPr>
          <p:nvPr/>
        </p:nvSpPr>
        <p:spPr>
          <a:xfrm xmlns:a="http://schemas.openxmlformats.org/drawingml/2006/main">
            <a:off x="723900" y="1809750"/>
            <a:ext cx="5143500" cy="3143250"/>
          </a:xfrm>
          <a:prstGeom xmlns:a="http://schemas.openxmlformats.org/drawingml/2006/main" prst="roundRect">
            <a:avLst>
              <a:gd name="adj" fmla="val 4848"/>
            </a:avLst>
          </a:prstGeom>
          <a:solidFill xmlns:a="http://schemas.openxmlformats.org/drawingml/2006/main">
            <a:srgbClr val="160B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39172CC-C322-47A0-A847-9FBCC22D3FBA}"/>
              </a:ext>
            </a:extLst>
          </p:cNvPr>
          <p:cNvSpPr>
            <a:spLocks xmlns:a="http://schemas.openxmlformats.org/drawingml/2006/main" noGrp="1"/>
          </p:cNvSpPr>
          <p:nvPr/>
        </p:nvSpPr>
        <p:spPr>
          <a:xfrm xmlns:a="http://schemas.openxmlformats.org/drawingml/2006/main">
            <a:off x="1066800" y="2095500"/>
            <a:ext cx="4095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3900" b="1" i="0">
                <a:solidFill>
                  <a:srgbClr val="FFF8EE"/>
                </a:solidFill>
                <a:latin typeface="Aptos"/>
                <a:ea typeface="Aptos"/>
                <a:cs typeface="Aptos"/>
              </a:defRPr>
            </a:pPr>
            <a:r>
              <a:rPr sz="3900" b="1" i="0">
                <a:solidFill>
                  <a:srgbClr val="FFF8EE"/>
                </a:solidFill>
                <a:latin typeface="Aptos"/>
                <a:ea typeface="Aptos"/>
                <a:cs typeface="Aptos"/>
              </a:rPr>
              <a:t>180 min</a:t>
            </a:r>
          </a:p>
        </p:txBody>
      </p:sp>
      <p:sp>
        <p:nvSpPr>
          <p:cNvPr id="8" name="">
            <a:extLst xmlns:a="http://schemas.openxmlformats.org/drawingml/2006/main">
              <a:ext uri="{FF2B5EF4-FFF2-40B4-BE49-F238E27FC236}">
                <a16:creationId xmlns:a16="http://schemas.microsoft.com/office/drawing/2014/main" id="{1737D142-B2DF-406F-BB79-AB73FC24E566}"/>
              </a:ext>
            </a:extLst>
          </p:cNvPr>
          <p:cNvSpPr>
            <a:spLocks xmlns:a="http://schemas.openxmlformats.org/drawingml/2006/main" noGrp="1"/>
          </p:cNvSpPr>
          <p:nvPr/>
        </p:nvSpPr>
        <p:spPr>
          <a:xfrm xmlns:a="http://schemas.openxmlformats.org/drawingml/2006/main">
            <a:off x="1066800" y="2914650"/>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250" b="1" i="0">
                <a:solidFill>
                  <a:srgbClr val="C9B6FF"/>
                </a:solidFill>
                <a:latin typeface="Aptos"/>
                <a:ea typeface="Aptos"/>
                <a:cs typeface="Aptos"/>
              </a:defRPr>
            </a:pPr>
            <a:r>
              <a:rPr sz="2250" b="1" i="0">
                <a:solidFill>
                  <a:srgbClr val="C9B6FF"/>
                </a:solidFill>
                <a:latin typeface="Aptos"/>
                <a:ea typeface="Aptos"/>
                <a:cs typeface="Aptos"/>
              </a:rPr>
              <a:t>Theory + live demos</a:t>
            </a:r>
          </a:p>
        </p:txBody>
      </p:sp>
      <p:sp>
        <p:nvSpPr>
          <p:cNvPr id="9" name="">
            <a:extLst xmlns:a="http://schemas.openxmlformats.org/drawingml/2006/main">
              <a:ext uri="{FF2B5EF4-FFF2-40B4-BE49-F238E27FC236}">
                <a16:creationId xmlns:a16="http://schemas.microsoft.com/office/drawing/2014/main" id="{4B855418-E5F8-40B9-A38B-60D429D561B0}"/>
              </a:ext>
            </a:extLst>
          </p:cNvPr>
          <p:cNvSpPr>
            <a:spLocks xmlns:a="http://schemas.openxmlformats.org/drawingml/2006/main" noGrp="1"/>
          </p:cNvSpPr>
          <p:nvPr/>
        </p:nvSpPr>
        <p:spPr>
          <a:xfrm xmlns:a="http://schemas.openxmlformats.org/drawingml/2006/main">
            <a:off x="1066800" y="3667125"/>
            <a:ext cx="95250" cy="95250"/>
          </a:xfrm>
          <a:prstGeom xmlns:a="http://schemas.openxmlformats.org/drawingml/2006/main" prst="roundRect">
            <a:avLst>
              <a:gd name="adj" fmla="val 50000"/>
            </a:avLst>
          </a:prstGeom>
          <a:solidFill xmlns:a="http://schemas.openxmlformats.org/drawingml/2006/main">
            <a:srgbClr val="FF6B4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AA1DA5A-67B9-49C4-8F71-F1AF932F3E27}"/>
              </a:ext>
            </a:extLst>
          </p:cNvPr>
          <p:cNvSpPr>
            <a:spLocks xmlns:a="http://schemas.openxmlformats.org/drawingml/2006/main" noGrp="1"/>
          </p:cNvSpPr>
          <p:nvPr/>
        </p:nvSpPr>
        <p:spPr>
          <a:xfrm xmlns:a="http://schemas.openxmlformats.org/drawingml/2006/main">
            <a:off x="1333500" y="3600450"/>
            <a:ext cx="3829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575" b="0" i="0">
                <a:solidFill>
                  <a:srgbClr val="FFF8EE"/>
                </a:solidFill>
                <a:latin typeface="Aptos"/>
                <a:ea typeface="Aptos"/>
                <a:cs typeface="Aptos"/>
              </a:defRPr>
            </a:pPr>
            <a:r>
              <a:rPr sz="1575" b="0" i="0">
                <a:solidFill>
                  <a:srgbClr val="FFF8EE"/>
                </a:solidFill>
                <a:latin typeface="Aptos"/>
                <a:ea typeface="Aptos"/>
                <a:cs typeface="Aptos"/>
              </a:rPr>
              <a:t>Linux, filesystems, terminal</a:t>
            </a:r>
          </a:p>
        </p:txBody>
      </p:sp>
      <p:sp>
        <p:nvSpPr>
          <p:cNvPr id="11" name="">
            <a:extLst xmlns:a="http://schemas.openxmlformats.org/drawingml/2006/main">
              <a:ext uri="{FF2B5EF4-FFF2-40B4-BE49-F238E27FC236}">
                <a16:creationId xmlns:a16="http://schemas.microsoft.com/office/drawing/2014/main" id="{FEA18695-46BE-48ED-B9B7-3ED54B2C251F}"/>
              </a:ext>
            </a:extLst>
          </p:cNvPr>
          <p:cNvSpPr>
            <a:spLocks xmlns:a="http://schemas.openxmlformats.org/drawingml/2006/main" noGrp="1"/>
          </p:cNvSpPr>
          <p:nvPr/>
        </p:nvSpPr>
        <p:spPr>
          <a:xfrm xmlns:a="http://schemas.openxmlformats.org/drawingml/2006/main">
            <a:off x="1066800" y="4181475"/>
            <a:ext cx="95250" cy="95250"/>
          </a:xfrm>
          <a:prstGeom xmlns:a="http://schemas.openxmlformats.org/drawingml/2006/main" prst="roundRect">
            <a:avLst>
              <a:gd name="adj" fmla="val 50000"/>
            </a:avLst>
          </a:prstGeom>
          <a:solidFill xmlns:a="http://schemas.openxmlformats.org/drawingml/2006/main">
            <a:srgbClr val="FF6B4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EBC9BAD-BBBF-4234-8462-8F295B189A42}"/>
              </a:ext>
            </a:extLst>
          </p:cNvPr>
          <p:cNvSpPr>
            <a:spLocks xmlns:a="http://schemas.openxmlformats.org/drawingml/2006/main" noGrp="1"/>
          </p:cNvSpPr>
          <p:nvPr/>
        </p:nvSpPr>
        <p:spPr>
          <a:xfrm xmlns:a="http://schemas.openxmlformats.org/drawingml/2006/main">
            <a:off x="1333500" y="4114800"/>
            <a:ext cx="3829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575" b="0" i="0">
                <a:solidFill>
                  <a:srgbClr val="FFF8EE"/>
                </a:solidFill>
                <a:latin typeface="Aptos"/>
                <a:ea typeface="Aptos"/>
                <a:cs typeface="Aptos"/>
              </a:defRPr>
            </a:pPr>
            <a:r>
              <a:rPr sz="1575" b="0" i="0">
                <a:solidFill>
                  <a:srgbClr val="FFF8EE"/>
                </a:solidFill>
                <a:latin typeface="Aptos"/>
                <a:ea typeface="Aptos"/>
                <a:cs typeface="Aptos"/>
              </a:rPr>
              <a:t>Identity, permissions, editor</a:t>
            </a:r>
          </a:p>
        </p:txBody>
      </p:sp>
      <p:sp>
        <p:nvSpPr>
          <p:cNvPr id="13" name="">
            <a:extLst xmlns:a="http://schemas.openxmlformats.org/drawingml/2006/main">
              <a:ext uri="{FF2B5EF4-FFF2-40B4-BE49-F238E27FC236}">
                <a16:creationId xmlns:a16="http://schemas.microsoft.com/office/drawing/2014/main" id="{7AFB10D3-2A4C-4185-94E4-C5A93252716D}"/>
              </a:ext>
            </a:extLst>
          </p:cNvPr>
          <p:cNvSpPr>
            <a:spLocks xmlns:a="http://schemas.openxmlformats.org/drawingml/2006/main" noGrp="1"/>
          </p:cNvSpPr>
          <p:nvPr/>
        </p:nvSpPr>
        <p:spPr>
          <a:xfrm xmlns:a="http://schemas.openxmlformats.org/drawingml/2006/main">
            <a:off x="1066800" y="4695825"/>
            <a:ext cx="95250" cy="95250"/>
          </a:xfrm>
          <a:prstGeom xmlns:a="http://schemas.openxmlformats.org/drawingml/2006/main" prst="roundRect">
            <a:avLst>
              <a:gd name="adj" fmla="val 50000"/>
            </a:avLst>
          </a:prstGeom>
          <a:solidFill xmlns:a="http://schemas.openxmlformats.org/drawingml/2006/main">
            <a:srgbClr val="FF6B4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7CA19D9-8406-450B-9C91-078A16D07485}"/>
              </a:ext>
            </a:extLst>
          </p:cNvPr>
          <p:cNvSpPr>
            <a:spLocks xmlns:a="http://schemas.openxmlformats.org/drawingml/2006/main" noGrp="1"/>
          </p:cNvSpPr>
          <p:nvPr/>
        </p:nvSpPr>
        <p:spPr>
          <a:xfrm xmlns:a="http://schemas.openxmlformats.org/drawingml/2006/main">
            <a:off x="1333500" y="4629150"/>
            <a:ext cx="3829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575" b="0" i="0">
                <a:solidFill>
                  <a:srgbClr val="FFF8EE"/>
                </a:solidFill>
                <a:latin typeface="Aptos"/>
                <a:ea typeface="Aptos"/>
                <a:cs typeface="Aptos"/>
              </a:defRPr>
            </a:pPr>
            <a:r>
              <a:rPr sz="1575" b="0" i="0">
                <a:solidFill>
                  <a:srgbClr val="FFF8EE"/>
                </a:solidFill>
                <a:latin typeface="Aptos"/>
                <a:ea typeface="Aptos"/>
                <a:cs typeface="Aptos"/>
              </a:rPr>
              <a:t>SSH, logs, systemd</a:t>
            </a:r>
          </a:p>
        </p:txBody>
      </p:sp>
      <p:sp>
        <p:nvSpPr>
          <p:cNvPr id="15" name="">
            <a:extLst xmlns:a="http://schemas.openxmlformats.org/drawingml/2006/main">
              <a:ext uri="{FF2B5EF4-FFF2-40B4-BE49-F238E27FC236}">
                <a16:creationId xmlns:a16="http://schemas.microsoft.com/office/drawing/2014/main" id="{3B00D99D-623B-4755-9E18-9C49F83E9FD3}"/>
              </a:ext>
            </a:extLst>
          </p:cNvPr>
          <p:cNvSpPr>
            <a:spLocks xmlns:a="http://schemas.openxmlformats.org/drawingml/2006/main" noGrp="1"/>
          </p:cNvSpPr>
          <p:nvPr/>
        </p:nvSpPr>
        <p:spPr>
          <a:xfrm xmlns:a="http://schemas.openxmlformats.org/drawingml/2006/main">
            <a:off x="6324600" y="1809750"/>
            <a:ext cx="5143500" cy="3143250"/>
          </a:xfrm>
          <a:prstGeom xmlns:a="http://schemas.openxmlformats.org/drawingml/2006/main" prst="roundRect">
            <a:avLst>
              <a:gd name="adj" fmla="val 4848"/>
            </a:avLst>
          </a:prstGeom>
          <a:solidFill xmlns:a="http://schemas.openxmlformats.org/drawingml/2006/main">
            <a:srgbClr val="EEE4F3"/>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1CF73A7-6A42-4362-83E5-4AD8D2026358}"/>
              </a:ext>
            </a:extLst>
          </p:cNvPr>
          <p:cNvSpPr>
            <a:spLocks xmlns:a="http://schemas.openxmlformats.org/drawingml/2006/main" noGrp="1"/>
          </p:cNvSpPr>
          <p:nvPr/>
        </p:nvSpPr>
        <p:spPr>
          <a:xfrm xmlns:a="http://schemas.openxmlformats.org/drawingml/2006/main">
            <a:off x="6667500" y="2095500"/>
            <a:ext cx="4095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3900" b="1" i="0">
                <a:solidFill>
                  <a:srgbClr val="8B5CF6"/>
                </a:solidFill>
                <a:latin typeface="Aptos"/>
                <a:ea typeface="Aptos"/>
                <a:cs typeface="Aptos"/>
              </a:defRPr>
            </a:pPr>
            <a:r>
              <a:rPr sz="3900" b="1" i="0">
                <a:solidFill>
                  <a:srgbClr val="8B5CF6"/>
                </a:solidFill>
                <a:latin typeface="Aptos"/>
                <a:ea typeface="Aptos"/>
                <a:cs typeface="Aptos"/>
              </a:rPr>
              <a:t>180 min</a:t>
            </a:r>
          </a:p>
        </p:txBody>
      </p:sp>
      <p:sp>
        <p:nvSpPr>
          <p:cNvPr id="17" name="">
            <a:extLst xmlns:a="http://schemas.openxmlformats.org/drawingml/2006/main">
              <a:ext uri="{FF2B5EF4-FFF2-40B4-BE49-F238E27FC236}">
                <a16:creationId xmlns:a16="http://schemas.microsoft.com/office/drawing/2014/main" id="{D9650EA9-DB0C-4A82-93F5-E0130CDEFDC6}"/>
              </a:ext>
            </a:extLst>
          </p:cNvPr>
          <p:cNvSpPr>
            <a:spLocks xmlns:a="http://schemas.openxmlformats.org/drawingml/2006/main" noGrp="1"/>
          </p:cNvSpPr>
          <p:nvPr/>
        </p:nvSpPr>
        <p:spPr>
          <a:xfrm xmlns:a="http://schemas.openxmlformats.org/drawingml/2006/main">
            <a:off x="6667500" y="2914650"/>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250" b="1" i="0">
                <a:solidFill>
                  <a:srgbClr val="160B20"/>
                </a:solidFill>
                <a:latin typeface="Aptos"/>
                <a:ea typeface="Aptos"/>
                <a:cs typeface="Aptos"/>
              </a:defRPr>
            </a:pPr>
            <a:r>
              <a:rPr sz="2250" b="1" i="0">
                <a:solidFill>
                  <a:srgbClr val="160B20"/>
                </a:solidFill>
                <a:latin typeface="Aptos"/>
                <a:ea typeface="Aptos"/>
                <a:cs typeface="Aptos"/>
              </a:rPr>
              <a:t>Six participant labs</a:t>
            </a:r>
          </a:p>
        </p:txBody>
      </p:sp>
      <p:sp>
        <p:nvSpPr>
          <p:cNvPr id="18" name="">
            <a:extLst xmlns:a="http://schemas.openxmlformats.org/drawingml/2006/main">
              <a:ext uri="{FF2B5EF4-FFF2-40B4-BE49-F238E27FC236}">
                <a16:creationId xmlns:a16="http://schemas.microsoft.com/office/drawing/2014/main" id="{3F72730E-C570-42EF-A698-CB6D30861C47}"/>
              </a:ext>
            </a:extLst>
          </p:cNvPr>
          <p:cNvSpPr>
            <a:spLocks xmlns:a="http://schemas.openxmlformats.org/drawingml/2006/main" noGrp="1"/>
          </p:cNvSpPr>
          <p:nvPr/>
        </p:nvSpPr>
        <p:spPr>
          <a:xfrm xmlns:a="http://schemas.openxmlformats.org/drawingml/2006/main">
            <a:off x="6667500" y="366712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F5AA57C-C3D8-4B8C-A99E-E541116B51AB}"/>
              </a:ext>
            </a:extLst>
          </p:cNvPr>
          <p:cNvSpPr>
            <a:spLocks xmlns:a="http://schemas.openxmlformats.org/drawingml/2006/main" noGrp="1"/>
          </p:cNvSpPr>
          <p:nvPr/>
        </p:nvSpPr>
        <p:spPr>
          <a:xfrm xmlns:a="http://schemas.openxmlformats.org/drawingml/2006/main">
            <a:off x="6934200" y="3600450"/>
            <a:ext cx="3829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575" b="0" i="0">
                <a:solidFill>
                  <a:srgbClr val="160B20"/>
                </a:solidFill>
                <a:latin typeface="Aptos"/>
                <a:ea typeface="Aptos"/>
                <a:cs typeface="Aptos"/>
              </a:defRPr>
            </a:pPr>
            <a:r>
              <a:rPr sz="1575" b="0" i="0">
                <a:solidFill>
                  <a:srgbClr val="160B20"/>
                </a:solidFill>
                <a:latin typeface="Aptos"/>
                <a:ea typeface="Aptos"/>
                <a:cs typeface="Aptos"/>
              </a:rPr>
              <a:t>Open an isolated lab</a:t>
            </a:r>
          </a:p>
        </p:txBody>
      </p:sp>
      <p:sp>
        <p:nvSpPr>
          <p:cNvPr id="20" name="">
            <a:extLst xmlns:a="http://schemas.openxmlformats.org/drawingml/2006/main">
              <a:ext uri="{FF2B5EF4-FFF2-40B4-BE49-F238E27FC236}">
                <a16:creationId xmlns:a16="http://schemas.microsoft.com/office/drawing/2014/main" id="{1578B045-B4AC-4729-9293-6CBF0708A94A}"/>
              </a:ext>
            </a:extLst>
          </p:cNvPr>
          <p:cNvSpPr>
            <a:spLocks xmlns:a="http://schemas.openxmlformats.org/drawingml/2006/main" noGrp="1"/>
          </p:cNvSpPr>
          <p:nvPr/>
        </p:nvSpPr>
        <p:spPr>
          <a:xfrm xmlns:a="http://schemas.openxmlformats.org/drawingml/2006/main">
            <a:off x="6667500" y="418147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23C9809-863D-434C-B138-F815AC63F0F2}"/>
              </a:ext>
            </a:extLst>
          </p:cNvPr>
          <p:cNvSpPr>
            <a:spLocks xmlns:a="http://schemas.openxmlformats.org/drawingml/2006/main" noGrp="1"/>
          </p:cNvSpPr>
          <p:nvPr/>
        </p:nvSpPr>
        <p:spPr>
          <a:xfrm xmlns:a="http://schemas.openxmlformats.org/drawingml/2006/main">
            <a:off x="6934200" y="4114800"/>
            <a:ext cx="3829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575" b="0" i="0">
                <a:solidFill>
                  <a:srgbClr val="160B20"/>
                </a:solidFill>
                <a:latin typeface="Aptos"/>
                <a:ea typeface="Aptos"/>
                <a:cs typeface="Aptos"/>
              </a:defRPr>
            </a:pPr>
            <a:r>
              <a:rPr sz="1575" b="0" i="0">
                <a:solidFill>
                  <a:srgbClr val="160B20"/>
                </a:solidFill>
                <a:latin typeface="Aptos"/>
                <a:ea typeface="Aptos"/>
                <a:cs typeface="Aptos"/>
              </a:rPr>
              <a:t>Reset, solve, verify state</a:t>
            </a:r>
          </a:p>
        </p:txBody>
      </p:sp>
      <p:sp>
        <p:nvSpPr>
          <p:cNvPr id="22" name="">
            <a:extLst xmlns:a="http://schemas.openxmlformats.org/drawingml/2006/main">
              <a:ext uri="{FF2B5EF4-FFF2-40B4-BE49-F238E27FC236}">
                <a16:creationId xmlns:a16="http://schemas.microsoft.com/office/drawing/2014/main" id="{DAE67C2B-BD67-4EAF-8AE9-D446BC3E6C21}"/>
              </a:ext>
            </a:extLst>
          </p:cNvPr>
          <p:cNvSpPr>
            <a:spLocks xmlns:a="http://schemas.openxmlformats.org/drawingml/2006/main" noGrp="1"/>
          </p:cNvSpPr>
          <p:nvPr/>
        </p:nvSpPr>
        <p:spPr>
          <a:xfrm xmlns:a="http://schemas.openxmlformats.org/drawingml/2006/main">
            <a:off x="6667500" y="469582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9189197-E532-491A-A46F-FD06A24F26EE}"/>
              </a:ext>
            </a:extLst>
          </p:cNvPr>
          <p:cNvSpPr>
            <a:spLocks xmlns:a="http://schemas.openxmlformats.org/drawingml/2006/main" noGrp="1"/>
          </p:cNvSpPr>
          <p:nvPr/>
        </p:nvSpPr>
        <p:spPr>
          <a:xfrm xmlns:a="http://schemas.openxmlformats.org/drawingml/2006/main">
            <a:off x="6934200" y="4629150"/>
            <a:ext cx="3829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575" b="0" i="0">
                <a:solidFill>
                  <a:srgbClr val="160B20"/>
                </a:solidFill>
                <a:latin typeface="Aptos"/>
                <a:ea typeface="Aptos"/>
                <a:cs typeface="Aptos"/>
              </a:defRPr>
            </a:pPr>
            <a:r>
              <a:rPr sz="1575" b="0" i="0">
                <a:solidFill>
                  <a:srgbClr val="160B20"/>
                </a:solidFill>
                <a:latin typeface="Aptos"/>
                <a:ea typeface="Aptos"/>
                <a:cs typeface="Aptos"/>
              </a:rPr>
              <a:t>Repair a failed service</a:t>
            </a:r>
          </a:p>
        </p:txBody>
      </p:sp>
      <p:sp>
        <p:nvSpPr>
          <p:cNvPr id="24" name="">
            <a:extLst xmlns:a="http://schemas.openxmlformats.org/drawingml/2006/main">
              <a:ext uri="{FF2B5EF4-FFF2-40B4-BE49-F238E27FC236}">
                <a16:creationId xmlns:a16="http://schemas.microsoft.com/office/drawing/2014/main" id="{11B33409-BFE3-42B3-8F06-9F1C06EEB742}"/>
              </a:ext>
            </a:extLst>
          </p:cNvPr>
          <p:cNvSpPr>
            <a:spLocks xmlns:a="http://schemas.openxmlformats.org/drawingml/2006/main" noGrp="1"/>
          </p:cNvSpPr>
          <p:nvPr/>
        </p:nvSpPr>
        <p:spPr>
          <a:xfrm xmlns:a="http://schemas.openxmlformats.org/drawingml/2006/main">
            <a:off x="1524000" y="5391150"/>
            <a:ext cx="914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650" b="0" i="0">
                <a:solidFill>
                  <a:srgbClr val="6F6277"/>
                </a:solidFill>
                <a:latin typeface="Aptos"/>
                <a:ea typeface="Aptos"/>
                <a:cs typeface="Aptos"/>
              </a:defRPr>
            </a:pPr>
            <a:r>
              <a:rPr sz="1650" b="0" i="0">
                <a:solidFill>
                  <a:srgbClr val="6F6277"/>
                </a:solidFill>
                <a:latin typeface="Aptos"/>
                <a:ea typeface="Aptos"/>
                <a:cs typeface="Aptos"/>
              </a:rPr>
              <a:t>Breaks can sit around the blocks; the instructional split stays 50 / 50.</a:t>
            </a:r>
          </a:p>
        </p:txBody>
      </p:sp>
    </p:spTree>
    <p:extLst>
      <p:ext uri="{BB962C8B-B14F-4D97-AF65-F5344CB8AC3E}">
        <p14:creationId xmlns:p14="http://schemas.microsoft.com/office/powerpoint/2010/main" val="92499099"/>
      </p:ext>
    </p:extLst>
  </p:cSld>
</p:sld>
</file>

<file path=ppt/slides/slide5.xml><?xml version="1.0" encoding="utf-8"?>
<p:sld xmlns:p="http://schemas.openxmlformats.org/presentationml/2006/main">
  <p:cSld>
    <p:bg>
      <p:bgPr>
        <a:solidFill xmlns:a="http://schemas.openxmlformats.org/drawingml/2006/main">
          <a:srgbClr val="180D24"/>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FDAECD3-22D8-41BA-9F13-DAEA0EAA9F55}"/>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LINUX</a:t>
            </a:r>
          </a:p>
        </p:txBody>
      </p:sp>
      <p:sp>
        <p:nvSpPr>
          <p:cNvPr id="2" name="">
            <a:extLst xmlns:a="http://schemas.openxmlformats.org/drawingml/2006/main">
              <a:ext uri="{FF2B5EF4-FFF2-40B4-BE49-F238E27FC236}">
                <a16:creationId xmlns:a16="http://schemas.microsoft.com/office/drawing/2014/main" id="{A67182FD-A26E-46B8-B3BF-43ACCE53F627}"/>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8EE"/>
                </a:solidFill>
                <a:latin typeface="Aptos"/>
                <a:ea typeface="Aptos"/>
                <a:cs typeface="Aptos"/>
              </a:defRPr>
            </a:pPr>
            <a:r>
              <a:rPr sz="3750" b="1" i="0">
                <a:solidFill>
                  <a:srgbClr val="FFF8EE"/>
                </a:solidFill>
                <a:latin typeface="Aptos"/>
                <a:ea typeface="Aptos"/>
                <a:cs typeface="Aptos"/>
              </a:rPr>
              <a:t>Linux is the kernel; a usable system is a stack</a:t>
            </a:r>
          </a:p>
        </p:txBody>
      </p:sp>
      <p:sp>
        <p:nvSpPr>
          <p:cNvPr id="3" name="">
            <a:extLst xmlns:a="http://schemas.openxmlformats.org/drawingml/2006/main">
              <a:ext uri="{FF2B5EF4-FFF2-40B4-BE49-F238E27FC236}">
                <a16:creationId xmlns:a16="http://schemas.microsoft.com/office/drawing/2014/main" id="{A1845CAD-54BE-4C75-B8A9-7860054BC40C}"/>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3520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BE7DEC6-3276-4E2F-8039-230809FC1935}"/>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BFAFCB"/>
                </a:solidFill>
                <a:latin typeface="Aptos"/>
                <a:ea typeface="Aptos"/>
                <a:cs typeface="Aptos"/>
              </a:defRPr>
            </a:pPr>
            <a:r>
              <a:rPr sz="900" b="1" i="0">
                <a:solidFill>
                  <a:srgbClr val="BFAFCB"/>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5E8F79BD-AE2C-436E-925F-0A41212143D7}"/>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C9B6FF"/>
                </a:solidFill>
                <a:latin typeface="Aptos"/>
                <a:ea typeface="Aptos"/>
                <a:cs typeface="Aptos"/>
              </a:defRPr>
            </a:pPr>
            <a:r>
              <a:rPr sz="1050" b="1" i="0">
                <a:solidFill>
                  <a:srgbClr val="C9B6FF"/>
                </a:solidFill>
                <a:latin typeface="Aptos"/>
                <a:ea typeface="Aptos"/>
                <a:cs typeface="Aptos"/>
              </a:rPr>
              <a:t>05</a:t>
            </a:r>
          </a:p>
        </p:txBody>
      </p:sp>
      <p:sp>
        <p:nvSpPr>
          <p:cNvPr id="6" name="">
            <a:extLst xmlns:a="http://schemas.openxmlformats.org/drawingml/2006/main">
              <a:ext uri="{FF2B5EF4-FFF2-40B4-BE49-F238E27FC236}">
                <a16:creationId xmlns:a16="http://schemas.microsoft.com/office/drawing/2014/main" id="{F722DC2D-9A1A-425F-931F-5D79F2201373}"/>
              </a:ext>
            </a:extLst>
          </p:cNvPr>
          <p:cNvSpPr>
            <a:spLocks xmlns:a="http://schemas.openxmlformats.org/drawingml/2006/main" noGrp="1"/>
          </p:cNvSpPr>
          <p:nvPr/>
        </p:nvSpPr>
        <p:spPr>
          <a:xfrm xmlns:a="http://schemas.openxmlformats.org/drawingml/2006/main">
            <a:off x="1143000" y="1809750"/>
            <a:ext cx="9906000" cy="685800"/>
          </a:xfrm>
          <a:prstGeom xmlns:a="http://schemas.openxmlformats.org/drawingml/2006/main" prst="roundRect">
            <a:avLst>
              <a:gd name="adj" fmla="val 22222"/>
            </a:avLst>
          </a:prstGeom>
          <a:solidFill xmlns:a="http://schemas.openxmlformats.org/drawingml/2006/main">
            <a:srgbClr val="FF6B4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DF70B14-E299-4D23-8D5F-E5EBFA6EE690}"/>
              </a:ext>
            </a:extLst>
          </p:cNvPr>
          <p:cNvSpPr>
            <a:spLocks xmlns:a="http://schemas.openxmlformats.org/drawingml/2006/main" noGrp="1"/>
          </p:cNvSpPr>
          <p:nvPr/>
        </p:nvSpPr>
        <p:spPr>
          <a:xfrm xmlns:a="http://schemas.openxmlformats.org/drawingml/2006/main">
            <a:off x="1428750" y="198120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875" b="1" i="0">
                <a:solidFill>
                  <a:srgbClr val="160B20"/>
                </a:solidFill>
                <a:latin typeface="Aptos"/>
                <a:ea typeface="Aptos"/>
                <a:cs typeface="Aptos"/>
              </a:defRPr>
            </a:pPr>
            <a:r>
              <a:rPr sz="1875" b="1" i="0">
                <a:solidFill>
                  <a:srgbClr val="160B20"/>
                </a:solidFill>
                <a:latin typeface="Aptos"/>
                <a:ea typeface="Aptos"/>
                <a:cs typeface="Aptos"/>
              </a:rPr>
              <a:t>Applications</a:t>
            </a:r>
          </a:p>
        </p:txBody>
      </p:sp>
      <p:sp>
        <p:nvSpPr>
          <p:cNvPr id="8" name="">
            <a:extLst xmlns:a="http://schemas.openxmlformats.org/drawingml/2006/main">
              <a:ext uri="{FF2B5EF4-FFF2-40B4-BE49-F238E27FC236}">
                <a16:creationId xmlns:a16="http://schemas.microsoft.com/office/drawing/2014/main" id="{52C3A398-E47C-433B-B9EB-D3DA075BFED2}"/>
              </a:ext>
            </a:extLst>
          </p:cNvPr>
          <p:cNvSpPr>
            <a:spLocks xmlns:a="http://schemas.openxmlformats.org/drawingml/2006/main" noGrp="1"/>
          </p:cNvSpPr>
          <p:nvPr/>
        </p:nvSpPr>
        <p:spPr>
          <a:xfrm xmlns:a="http://schemas.openxmlformats.org/drawingml/2006/main">
            <a:off x="4095750" y="200025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500" b="0" i="0">
                <a:solidFill>
                  <a:srgbClr val="160B20"/>
                </a:solidFill>
                <a:latin typeface="Aptos"/>
                <a:ea typeface="Aptos"/>
                <a:cs typeface="Aptos"/>
              </a:defRPr>
            </a:pPr>
            <a:r>
              <a:rPr sz="1500" b="0" i="0">
                <a:solidFill>
                  <a:srgbClr val="160B20"/>
                </a:solidFill>
                <a:latin typeface="Aptos"/>
                <a:ea typeface="Aptos"/>
                <a:cs typeface="Aptos"/>
              </a:rPr>
              <a:t>ssh · apt · nano · your services</a:t>
            </a:r>
          </a:p>
        </p:txBody>
      </p:sp>
      <p:sp>
        <p:nvSpPr>
          <p:cNvPr id="9" name="">
            <a:extLst xmlns:a="http://schemas.openxmlformats.org/drawingml/2006/main">
              <a:ext uri="{FF2B5EF4-FFF2-40B4-BE49-F238E27FC236}">
                <a16:creationId xmlns:a16="http://schemas.microsoft.com/office/drawing/2014/main" id="{D20DF45F-205D-40C2-B5D5-D401E8341FF2}"/>
              </a:ext>
            </a:extLst>
          </p:cNvPr>
          <p:cNvSpPr>
            <a:spLocks xmlns:a="http://schemas.openxmlformats.org/drawingml/2006/main" noGrp="1"/>
          </p:cNvSpPr>
          <p:nvPr/>
        </p:nvSpPr>
        <p:spPr>
          <a:xfrm xmlns:a="http://schemas.openxmlformats.org/drawingml/2006/main">
            <a:off x="1428750" y="2686050"/>
            <a:ext cx="9334500" cy="685800"/>
          </a:xfrm>
          <a:prstGeom xmlns:a="http://schemas.openxmlformats.org/drawingml/2006/main" prst="roundRect">
            <a:avLst>
              <a:gd name="adj" fmla="val 22222"/>
            </a:avLst>
          </a:prstGeom>
          <a:solidFill xmlns:a="http://schemas.openxmlformats.org/drawingml/2006/main">
            <a:srgbClr val="8B5CF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D74E8BC-8BAA-42AC-846A-B6031831B94C}"/>
              </a:ext>
            </a:extLst>
          </p:cNvPr>
          <p:cNvSpPr>
            <a:spLocks xmlns:a="http://schemas.openxmlformats.org/drawingml/2006/main" noGrp="1"/>
          </p:cNvSpPr>
          <p:nvPr/>
        </p:nvSpPr>
        <p:spPr>
          <a:xfrm xmlns:a="http://schemas.openxmlformats.org/drawingml/2006/main">
            <a:off x="1714500" y="285750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875" b="1" i="0">
                <a:solidFill>
                  <a:srgbClr val="160B20"/>
                </a:solidFill>
                <a:latin typeface="Aptos"/>
                <a:ea typeface="Aptos"/>
                <a:cs typeface="Aptos"/>
              </a:defRPr>
            </a:pPr>
            <a:r>
              <a:rPr sz="1875" b="1" i="0">
                <a:solidFill>
                  <a:srgbClr val="160B20"/>
                </a:solidFill>
                <a:latin typeface="Aptos"/>
                <a:ea typeface="Aptos"/>
                <a:cs typeface="Aptos"/>
              </a:rPr>
              <a:t>User space</a:t>
            </a:r>
          </a:p>
        </p:txBody>
      </p:sp>
      <p:sp>
        <p:nvSpPr>
          <p:cNvPr id="11" name="">
            <a:extLst xmlns:a="http://schemas.openxmlformats.org/drawingml/2006/main">
              <a:ext uri="{FF2B5EF4-FFF2-40B4-BE49-F238E27FC236}">
                <a16:creationId xmlns:a16="http://schemas.microsoft.com/office/drawing/2014/main" id="{B058A218-64C9-4ED1-956A-DB1C0415F2DB}"/>
              </a:ext>
            </a:extLst>
          </p:cNvPr>
          <p:cNvSpPr>
            <a:spLocks xmlns:a="http://schemas.openxmlformats.org/drawingml/2006/main" noGrp="1"/>
          </p:cNvSpPr>
          <p:nvPr/>
        </p:nvSpPr>
        <p:spPr>
          <a:xfrm xmlns:a="http://schemas.openxmlformats.org/drawingml/2006/main">
            <a:off x="4381500" y="2876550"/>
            <a:ext cx="552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500" b="0" i="0">
                <a:solidFill>
                  <a:srgbClr val="160B20"/>
                </a:solidFill>
                <a:latin typeface="Aptos"/>
                <a:ea typeface="Aptos"/>
                <a:cs typeface="Aptos"/>
              </a:defRPr>
            </a:pPr>
            <a:r>
              <a:rPr sz="1500" b="0" i="0">
                <a:solidFill>
                  <a:srgbClr val="160B20"/>
                </a:solidFill>
                <a:latin typeface="Aptos"/>
                <a:ea typeface="Aptos"/>
                <a:cs typeface="Aptos"/>
              </a:rPr>
              <a:t>shells · libraries · GNU tools · systemd</a:t>
            </a:r>
          </a:p>
        </p:txBody>
      </p:sp>
      <p:sp>
        <p:nvSpPr>
          <p:cNvPr id="12" name="">
            <a:extLst xmlns:a="http://schemas.openxmlformats.org/drawingml/2006/main">
              <a:ext uri="{FF2B5EF4-FFF2-40B4-BE49-F238E27FC236}">
                <a16:creationId xmlns:a16="http://schemas.microsoft.com/office/drawing/2014/main" id="{7872E4C6-4422-49A1-95C5-C642C376D1CF}"/>
              </a:ext>
            </a:extLst>
          </p:cNvPr>
          <p:cNvSpPr>
            <a:spLocks xmlns:a="http://schemas.openxmlformats.org/drawingml/2006/main" noGrp="1"/>
          </p:cNvSpPr>
          <p:nvPr/>
        </p:nvSpPr>
        <p:spPr>
          <a:xfrm xmlns:a="http://schemas.openxmlformats.org/drawingml/2006/main">
            <a:off x="1714500" y="3562350"/>
            <a:ext cx="8763000" cy="685800"/>
          </a:xfrm>
          <a:prstGeom xmlns:a="http://schemas.openxmlformats.org/drawingml/2006/main" prst="roundRect">
            <a:avLst>
              <a:gd name="adj" fmla="val 22222"/>
            </a:avLst>
          </a:prstGeom>
          <a:solidFill xmlns:a="http://schemas.openxmlformats.org/drawingml/2006/main">
            <a:srgbClr val="70D6A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A20284B-303E-4527-B4A9-DFA3FDC88B95}"/>
              </a:ext>
            </a:extLst>
          </p:cNvPr>
          <p:cNvSpPr>
            <a:spLocks xmlns:a="http://schemas.openxmlformats.org/drawingml/2006/main" noGrp="1"/>
          </p:cNvSpPr>
          <p:nvPr/>
        </p:nvSpPr>
        <p:spPr>
          <a:xfrm xmlns:a="http://schemas.openxmlformats.org/drawingml/2006/main">
            <a:off x="2000250" y="373380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875" b="1" i="0">
                <a:solidFill>
                  <a:srgbClr val="160B20"/>
                </a:solidFill>
                <a:latin typeface="Aptos"/>
                <a:ea typeface="Aptos"/>
                <a:cs typeface="Aptos"/>
              </a:defRPr>
            </a:pPr>
            <a:r>
              <a:rPr sz="1875" b="1" i="0">
                <a:solidFill>
                  <a:srgbClr val="160B20"/>
                </a:solidFill>
                <a:latin typeface="Aptos"/>
                <a:ea typeface="Aptos"/>
                <a:cs typeface="Aptos"/>
              </a:rPr>
              <a:t>Linux kernel</a:t>
            </a:r>
          </a:p>
        </p:txBody>
      </p:sp>
      <p:sp>
        <p:nvSpPr>
          <p:cNvPr id="14" name="">
            <a:extLst xmlns:a="http://schemas.openxmlformats.org/drawingml/2006/main">
              <a:ext uri="{FF2B5EF4-FFF2-40B4-BE49-F238E27FC236}">
                <a16:creationId xmlns:a16="http://schemas.microsoft.com/office/drawing/2014/main" id="{8A9946F9-4AEF-41D8-8D19-5846C4B4B40A}"/>
              </a:ext>
            </a:extLst>
          </p:cNvPr>
          <p:cNvSpPr>
            <a:spLocks xmlns:a="http://schemas.openxmlformats.org/drawingml/2006/main" noGrp="1"/>
          </p:cNvSpPr>
          <p:nvPr/>
        </p:nvSpPr>
        <p:spPr>
          <a:xfrm xmlns:a="http://schemas.openxmlformats.org/drawingml/2006/main">
            <a:off x="4667250" y="37528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500" b="0" i="0">
                <a:solidFill>
                  <a:srgbClr val="160B20"/>
                </a:solidFill>
                <a:latin typeface="Aptos"/>
                <a:ea typeface="Aptos"/>
                <a:cs typeface="Aptos"/>
              </a:defRPr>
            </a:pPr>
            <a:r>
              <a:rPr sz="1500" b="0" i="0">
                <a:solidFill>
                  <a:srgbClr val="160B20"/>
                </a:solidFill>
                <a:latin typeface="Aptos"/>
                <a:ea typeface="Aptos"/>
                <a:cs typeface="Aptos"/>
              </a:rPr>
              <a:t>processes · memory · networking · devices</a:t>
            </a:r>
          </a:p>
        </p:txBody>
      </p:sp>
      <p:sp>
        <p:nvSpPr>
          <p:cNvPr id="15" name="">
            <a:extLst xmlns:a="http://schemas.openxmlformats.org/drawingml/2006/main">
              <a:ext uri="{FF2B5EF4-FFF2-40B4-BE49-F238E27FC236}">
                <a16:creationId xmlns:a16="http://schemas.microsoft.com/office/drawing/2014/main" id="{B2150697-CD7D-4326-99A8-92EE0432FC33}"/>
              </a:ext>
            </a:extLst>
          </p:cNvPr>
          <p:cNvSpPr>
            <a:spLocks xmlns:a="http://schemas.openxmlformats.org/drawingml/2006/main" noGrp="1"/>
          </p:cNvSpPr>
          <p:nvPr/>
        </p:nvSpPr>
        <p:spPr>
          <a:xfrm xmlns:a="http://schemas.openxmlformats.org/drawingml/2006/main">
            <a:off x="2000250" y="4438650"/>
            <a:ext cx="8191500" cy="685800"/>
          </a:xfrm>
          <a:prstGeom xmlns:a="http://schemas.openxmlformats.org/drawingml/2006/main" prst="roundRect">
            <a:avLst>
              <a:gd name="adj" fmla="val 22222"/>
            </a:avLst>
          </a:prstGeom>
          <a:solidFill xmlns:a="http://schemas.openxmlformats.org/drawingml/2006/main">
            <a:srgbClr val="6B5A7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F232903-3DFF-4CEB-8108-DCFD181279AE}"/>
              </a:ext>
            </a:extLst>
          </p:cNvPr>
          <p:cNvSpPr>
            <a:spLocks xmlns:a="http://schemas.openxmlformats.org/drawingml/2006/main" noGrp="1"/>
          </p:cNvSpPr>
          <p:nvPr/>
        </p:nvSpPr>
        <p:spPr>
          <a:xfrm xmlns:a="http://schemas.openxmlformats.org/drawingml/2006/main">
            <a:off x="2286000" y="461010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010"/>
          </a:bodyPr>
          <a:lstStyle xmlns:a="http://schemas.openxmlformats.org/drawingml/2006/main"/>
          <a:p xmlns:a="http://schemas.openxmlformats.org/drawingml/2006/main">
            <a:pPr algn="l">
              <a:lnSpc>
                <a:spcPct val="102000"/>
              </a:lnSpc>
              <a:buNone/>
              <a:defRPr sz="1875" b="1" i="0">
                <a:solidFill>
                  <a:srgbClr val="FFF8EE"/>
                </a:solidFill>
                <a:latin typeface="Aptos"/>
                <a:ea typeface="Aptos"/>
                <a:cs typeface="Aptos"/>
              </a:defRPr>
            </a:pPr>
            <a:r>
              <a:rPr sz="1875" b="1" i="0">
                <a:solidFill>
                  <a:srgbClr val="FFF8EE"/>
                </a:solidFill>
                <a:latin typeface="Aptos"/>
                <a:ea typeface="Aptos"/>
                <a:cs typeface="Aptos"/>
              </a:rPr>
              <a:t>Hardware / VM / container</a:t>
            </a:r>
          </a:p>
        </p:txBody>
      </p:sp>
      <p:sp>
        <p:nvSpPr>
          <p:cNvPr id="17" name="">
            <a:extLst xmlns:a="http://schemas.openxmlformats.org/drawingml/2006/main">
              <a:ext uri="{FF2B5EF4-FFF2-40B4-BE49-F238E27FC236}">
                <a16:creationId xmlns:a16="http://schemas.microsoft.com/office/drawing/2014/main" id="{697BD168-8535-4EFF-99EB-7CE8B67DFB36}"/>
              </a:ext>
            </a:extLst>
          </p:cNvPr>
          <p:cNvSpPr>
            <a:spLocks xmlns:a="http://schemas.openxmlformats.org/drawingml/2006/main" noGrp="1"/>
          </p:cNvSpPr>
          <p:nvPr/>
        </p:nvSpPr>
        <p:spPr>
          <a:xfrm xmlns:a="http://schemas.openxmlformats.org/drawingml/2006/main">
            <a:off x="4953000" y="462915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500" b="0" i="0">
                <a:solidFill>
                  <a:srgbClr val="FFF8EE"/>
                </a:solidFill>
                <a:latin typeface="Aptos"/>
                <a:ea typeface="Aptos"/>
                <a:cs typeface="Aptos"/>
              </a:defRPr>
            </a:pPr>
            <a:r>
              <a:rPr sz="1500" b="0" i="0">
                <a:solidFill>
                  <a:srgbClr val="FFF8EE"/>
                </a:solidFill>
                <a:latin typeface="Aptos"/>
                <a:ea typeface="Aptos"/>
                <a:cs typeface="Aptos"/>
              </a:rPr>
              <a:t>CPU · RAM · disks · virtual devices</a:t>
            </a:r>
          </a:p>
        </p:txBody>
      </p:sp>
    </p:spTree>
    <p:extLst>
      <p:ext uri="{BB962C8B-B14F-4D97-AF65-F5344CB8AC3E}">
        <p14:creationId xmlns:p14="http://schemas.microsoft.com/office/powerpoint/2010/main" val="1344552368"/>
      </p:ext>
    </p:extLst>
  </p:cSld>
</p:sld>
</file>

<file path=ppt/slides/slide6.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3279729C-B42B-4891-911B-5A49BF5F54E8}"/>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DISTRIBUTIONS</a:t>
            </a:r>
          </a:p>
        </p:txBody>
      </p:sp>
      <p:sp>
        <p:nvSpPr>
          <p:cNvPr id="2" name="">
            <a:extLst xmlns:a="http://schemas.openxmlformats.org/drawingml/2006/main">
              <a:ext uri="{FF2B5EF4-FFF2-40B4-BE49-F238E27FC236}">
                <a16:creationId xmlns:a16="http://schemas.microsoft.com/office/drawing/2014/main" id="{6DEF307A-FA81-4B65-AE79-F121D8BF981E}"/>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559"/>
          </a:bodyPr>
          <a:lstStyle xmlns:a="http://schemas.openxmlformats.org/drawingml/2006/main"/>
          <a:p xmlns:a="http://schemas.openxmlformats.org/drawingml/2006/main">
            <a:pPr algn="l">
              <a:lnSpc>
                <a:spcPct val="94000"/>
              </a:lnSpc>
              <a:buNone/>
              <a:defRPr sz="3750" b="1" i="0">
                <a:solidFill>
                  <a:srgbClr val="160B20"/>
                </a:solidFill>
                <a:latin typeface="Aptos"/>
                <a:ea typeface="Aptos"/>
                <a:cs typeface="Aptos"/>
              </a:defRPr>
            </a:pPr>
            <a:r>
              <a:rPr sz="3750" b="1" i="0">
                <a:solidFill>
                  <a:srgbClr val="160B20"/>
                </a:solidFill>
                <a:latin typeface="Aptos"/>
                <a:ea typeface="Aptos"/>
                <a:cs typeface="Aptos"/>
              </a:rPr>
              <a:t>A distribution is a curated operating agreement</a:t>
            </a:r>
          </a:p>
        </p:txBody>
      </p:sp>
      <p:sp>
        <p:nvSpPr>
          <p:cNvPr id="3" name="">
            <a:extLst xmlns:a="http://schemas.openxmlformats.org/drawingml/2006/main">
              <a:ext uri="{FF2B5EF4-FFF2-40B4-BE49-F238E27FC236}">
                <a16:creationId xmlns:a16="http://schemas.microsoft.com/office/drawing/2014/main" id="{E6CDD786-C0B0-469D-8089-E1F58BEB56C9}"/>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E7DC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ECFDADA-1B05-41C0-9736-EE0362842F49}"/>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6F6277"/>
                </a:solidFill>
                <a:latin typeface="Aptos"/>
                <a:ea typeface="Aptos"/>
                <a:cs typeface="Aptos"/>
              </a:defRPr>
            </a:pPr>
            <a:r>
              <a:rPr sz="900" b="1" i="0">
                <a:solidFill>
                  <a:srgbClr val="6F6277"/>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D5C7B2E9-9CA8-4E30-89C6-B9E07DCEAC68}"/>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8B5CF6"/>
                </a:solidFill>
                <a:latin typeface="Aptos"/>
                <a:ea typeface="Aptos"/>
                <a:cs typeface="Aptos"/>
              </a:defRPr>
            </a:pPr>
            <a:r>
              <a:rPr sz="1050" b="1" i="0">
                <a:solidFill>
                  <a:srgbClr val="8B5CF6"/>
                </a:solidFill>
                <a:latin typeface="Aptos"/>
                <a:ea typeface="Aptos"/>
                <a:cs typeface="Aptos"/>
              </a:rPr>
              <a:t>06</a:t>
            </a:r>
          </a:p>
        </p:txBody>
      </p:sp>
      <p:sp>
        <p:nvSpPr>
          <p:cNvPr id="6" name="">
            <a:extLst xmlns:a="http://schemas.openxmlformats.org/drawingml/2006/main">
              <a:ext uri="{FF2B5EF4-FFF2-40B4-BE49-F238E27FC236}">
                <a16:creationId xmlns:a16="http://schemas.microsoft.com/office/drawing/2014/main" id="{7CA05B72-E906-49B0-B60A-A0CA92DB389E}"/>
              </a:ext>
            </a:extLst>
          </p:cNvPr>
          <p:cNvSpPr>
            <a:spLocks xmlns:a="http://schemas.openxmlformats.org/drawingml/2006/main" noGrp="1"/>
          </p:cNvSpPr>
          <p:nvPr/>
        </p:nvSpPr>
        <p:spPr>
          <a:xfrm xmlns:a="http://schemas.openxmlformats.org/drawingml/2006/main">
            <a:off x="704850" y="18097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175" b="1" i="0">
                <a:solidFill>
                  <a:srgbClr val="160B20"/>
                </a:solidFill>
                <a:latin typeface="Aptos"/>
                <a:ea typeface="Aptos"/>
                <a:cs typeface="Aptos"/>
              </a:defRPr>
            </a:pPr>
            <a:r>
              <a:rPr sz="2175" b="1" i="0">
                <a:solidFill>
                  <a:srgbClr val="160B20"/>
                </a:solidFill>
                <a:latin typeface="Aptos"/>
                <a:ea typeface="Aptos"/>
                <a:cs typeface="Aptos"/>
              </a:rPr>
              <a:t>Same fundamentals</a:t>
            </a:r>
          </a:p>
        </p:txBody>
      </p:sp>
      <p:sp>
        <p:nvSpPr>
          <p:cNvPr id="7" name="">
            <a:extLst xmlns:a="http://schemas.openxmlformats.org/drawingml/2006/main">
              <a:ext uri="{FF2B5EF4-FFF2-40B4-BE49-F238E27FC236}">
                <a16:creationId xmlns:a16="http://schemas.microsoft.com/office/drawing/2014/main" id="{CD08B334-2461-4877-A879-49D730F7FCF7}"/>
              </a:ext>
            </a:extLst>
          </p:cNvPr>
          <p:cNvSpPr>
            <a:spLocks xmlns:a="http://schemas.openxmlformats.org/drawingml/2006/main" noGrp="1"/>
          </p:cNvSpPr>
          <p:nvPr/>
        </p:nvSpPr>
        <p:spPr>
          <a:xfrm xmlns:a="http://schemas.openxmlformats.org/drawingml/2006/main">
            <a:off x="4514850" y="18097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175" b="1" i="0">
                <a:solidFill>
                  <a:srgbClr val="160B20"/>
                </a:solidFill>
                <a:latin typeface="Aptos"/>
                <a:ea typeface="Aptos"/>
                <a:cs typeface="Aptos"/>
              </a:defRPr>
            </a:pPr>
            <a:r>
              <a:rPr sz="2175" b="1" i="0">
                <a:solidFill>
                  <a:srgbClr val="160B20"/>
                </a:solidFill>
                <a:latin typeface="Aptos"/>
                <a:ea typeface="Aptos"/>
                <a:cs typeface="Aptos"/>
              </a:rPr>
              <a:t>Different choices</a:t>
            </a:r>
          </a:p>
        </p:txBody>
      </p:sp>
      <p:sp>
        <p:nvSpPr>
          <p:cNvPr id="8" name="">
            <a:extLst xmlns:a="http://schemas.openxmlformats.org/drawingml/2006/main">
              <a:ext uri="{FF2B5EF4-FFF2-40B4-BE49-F238E27FC236}">
                <a16:creationId xmlns:a16="http://schemas.microsoft.com/office/drawing/2014/main" id="{C38CBB37-2FB8-409F-BC27-ACE63698CC11}"/>
              </a:ext>
            </a:extLst>
          </p:cNvPr>
          <p:cNvSpPr>
            <a:spLocks xmlns:a="http://schemas.openxmlformats.org/drawingml/2006/main" noGrp="1"/>
          </p:cNvSpPr>
          <p:nvPr/>
        </p:nvSpPr>
        <p:spPr>
          <a:xfrm xmlns:a="http://schemas.openxmlformats.org/drawingml/2006/main">
            <a:off x="8324850" y="18097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175" b="1" i="0">
                <a:solidFill>
                  <a:srgbClr val="160B20"/>
                </a:solidFill>
                <a:latin typeface="Aptos"/>
                <a:ea typeface="Aptos"/>
                <a:cs typeface="Aptos"/>
              </a:defRPr>
            </a:pPr>
            <a:r>
              <a:rPr sz="2175" b="1" i="0">
                <a:solidFill>
                  <a:srgbClr val="160B20"/>
                </a:solidFill>
                <a:latin typeface="Aptos"/>
                <a:ea typeface="Aptos"/>
                <a:cs typeface="Aptos"/>
              </a:rPr>
              <a:t>Choose for context</a:t>
            </a:r>
          </a:p>
        </p:txBody>
      </p:sp>
      <p:sp>
        <p:nvSpPr>
          <p:cNvPr id="9" name="">
            <a:extLst xmlns:a="http://schemas.openxmlformats.org/drawingml/2006/main">
              <a:ext uri="{FF2B5EF4-FFF2-40B4-BE49-F238E27FC236}">
                <a16:creationId xmlns:a16="http://schemas.microsoft.com/office/drawing/2014/main" id="{F329101E-9843-4036-ADFD-E8F657871931}"/>
              </a:ext>
            </a:extLst>
          </p:cNvPr>
          <p:cNvSpPr>
            <a:spLocks xmlns:a="http://schemas.openxmlformats.org/drawingml/2006/main" noGrp="1"/>
          </p:cNvSpPr>
          <p:nvPr/>
        </p:nvSpPr>
        <p:spPr>
          <a:xfrm xmlns:a="http://schemas.openxmlformats.org/drawingml/2006/main">
            <a:off x="4095750" y="1752600"/>
            <a:ext cx="19050" cy="3429000"/>
          </a:xfrm>
          <a:prstGeom xmlns:a="http://schemas.openxmlformats.org/drawingml/2006/main" prst="rect">
            <a:avLst/>
          </a:prstGeom>
          <a:solidFill xmlns:a="http://schemas.openxmlformats.org/drawingml/2006/main">
            <a:srgbClr val="DDD0E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2E4A58D-8B1E-46AA-B4BD-1AD45CECAC96}"/>
              </a:ext>
            </a:extLst>
          </p:cNvPr>
          <p:cNvSpPr>
            <a:spLocks xmlns:a="http://schemas.openxmlformats.org/drawingml/2006/main" noGrp="1"/>
          </p:cNvSpPr>
          <p:nvPr/>
        </p:nvSpPr>
        <p:spPr>
          <a:xfrm xmlns:a="http://schemas.openxmlformats.org/drawingml/2006/main">
            <a:off x="7905750" y="1752600"/>
            <a:ext cx="19050" cy="3429000"/>
          </a:xfrm>
          <a:prstGeom xmlns:a="http://schemas.openxmlformats.org/drawingml/2006/main" prst="rect">
            <a:avLst/>
          </a:prstGeom>
          <a:solidFill xmlns:a="http://schemas.openxmlformats.org/drawingml/2006/main">
            <a:srgbClr val="DDD0E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45907A4-2164-4E16-AB67-4899E4433533}"/>
              </a:ext>
            </a:extLst>
          </p:cNvPr>
          <p:cNvSpPr>
            <a:spLocks xmlns:a="http://schemas.openxmlformats.org/drawingml/2006/main" noGrp="1"/>
          </p:cNvSpPr>
          <p:nvPr/>
        </p:nvSpPr>
        <p:spPr>
          <a:xfrm xmlns:a="http://schemas.openxmlformats.org/drawingml/2006/main">
            <a:off x="704850" y="2543175"/>
            <a:ext cx="95250" cy="95250"/>
          </a:xfrm>
          <a:prstGeom xmlns:a="http://schemas.openxmlformats.org/drawingml/2006/main" prst="roundRect">
            <a:avLst>
              <a:gd name="adj" fmla="val 50000"/>
            </a:avLst>
          </a:prstGeom>
          <a:solidFill xmlns:a="http://schemas.openxmlformats.org/drawingml/2006/main">
            <a:srgbClr val="70D6A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787FEB3-E35C-49FF-867D-03FF735EBD49}"/>
              </a:ext>
            </a:extLst>
          </p:cNvPr>
          <p:cNvSpPr>
            <a:spLocks xmlns:a="http://schemas.openxmlformats.org/drawingml/2006/main" noGrp="1"/>
          </p:cNvSpPr>
          <p:nvPr/>
        </p:nvSpPr>
        <p:spPr>
          <a:xfrm xmlns:a="http://schemas.openxmlformats.org/drawingml/2006/main">
            <a:off x="971550" y="2476500"/>
            <a:ext cx="2686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575" b="0" i="0">
                <a:solidFill>
                  <a:srgbClr val="160B20"/>
                </a:solidFill>
                <a:latin typeface="Aptos"/>
                <a:ea typeface="Aptos"/>
                <a:cs typeface="Aptos"/>
              </a:defRPr>
            </a:pPr>
            <a:r>
              <a:rPr sz="1575" b="0" i="0">
                <a:solidFill>
                  <a:srgbClr val="160B20"/>
                </a:solidFill>
                <a:latin typeface="Aptos"/>
                <a:ea typeface="Aptos"/>
                <a:cs typeface="Aptos"/>
              </a:rPr>
              <a:t>Kernel interface</a:t>
            </a:r>
          </a:p>
        </p:txBody>
      </p:sp>
      <p:sp>
        <p:nvSpPr>
          <p:cNvPr id="13" name="">
            <a:extLst xmlns:a="http://schemas.openxmlformats.org/drawingml/2006/main">
              <a:ext uri="{FF2B5EF4-FFF2-40B4-BE49-F238E27FC236}">
                <a16:creationId xmlns:a16="http://schemas.microsoft.com/office/drawing/2014/main" id="{21A9B0BE-0AA6-4908-B5B0-0236F219F980}"/>
              </a:ext>
            </a:extLst>
          </p:cNvPr>
          <p:cNvSpPr>
            <a:spLocks xmlns:a="http://schemas.openxmlformats.org/drawingml/2006/main" noGrp="1"/>
          </p:cNvSpPr>
          <p:nvPr/>
        </p:nvSpPr>
        <p:spPr>
          <a:xfrm xmlns:a="http://schemas.openxmlformats.org/drawingml/2006/main">
            <a:off x="704850" y="3095625"/>
            <a:ext cx="95250" cy="95250"/>
          </a:xfrm>
          <a:prstGeom xmlns:a="http://schemas.openxmlformats.org/drawingml/2006/main" prst="roundRect">
            <a:avLst>
              <a:gd name="adj" fmla="val 50000"/>
            </a:avLst>
          </a:prstGeom>
          <a:solidFill xmlns:a="http://schemas.openxmlformats.org/drawingml/2006/main">
            <a:srgbClr val="70D6A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BBE0586-3344-48B8-9F22-7D69AE0C658A}"/>
              </a:ext>
            </a:extLst>
          </p:cNvPr>
          <p:cNvSpPr>
            <a:spLocks xmlns:a="http://schemas.openxmlformats.org/drawingml/2006/main" noGrp="1"/>
          </p:cNvSpPr>
          <p:nvPr/>
        </p:nvSpPr>
        <p:spPr>
          <a:xfrm xmlns:a="http://schemas.openxmlformats.org/drawingml/2006/main">
            <a:off x="971550" y="3028950"/>
            <a:ext cx="2686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575" b="0" i="0">
                <a:solidFill>
                  <a:srgbClr val="160B20"/>
                </a:solidFill>
                <a:latin typeface="Aptos"/>
                <a:ea typeface="Aptos"/>
                <a:cs typeface="Aptos"/>
              </a:defRPr>
            </a:pPr>
            <a:r>
              <a:rPr sz="1575" b="0" i="0">
                <a:solidFill>
                  <a:srgbClr val="160B20"/>
                </a:solidFill>
                <a:latin typeface="Aptos"/>
                <a:ea typeface="Aptos"/>
                <a:cs typeface="Aptos"/>
              </a:rPr>
              <a:t>Filesystem concepts</a:t>
            </a:r>
          </a:p>
        </p:txBody>
      </p:sp>
      <p:sp>
        <p:nvSpPr>
          <p:cNvPr id="15" name="">
            <a:extLst xmlns:a="http://schemas.openxmlformats.org/drawingml/2006/main">
              <a:ext uri="{FF2B5EF4-FFF2-40B4-BE49-F238E27FC236}">
                <a16:creationId xmlns:a16="http://schemas.microsoft.com/office/drawing/2014/main" id="{528989DC-6B7E-447C-92B3-A24ED378BB08}"/>
              </a:ext>
            </a:extLst>
          </p:cNvPr>
          <p:cNvSpPr>
            <a:spLocks xmlns:a="http://schemas.openxmlformats.org/drawingml/2006/main" noGrp="1"/>
          </p:cNvSpPr>
          <p:nvPr/>
        </p:nvSpPr>
        <p:spPr>
          <a:xfrm xmlns:a="http://schemas.openxmlformats.org/drawingml/2006/main">
            <a:off x="704850" y="3648075"/>
            <a:ext cx="95250" cy="95250"/>
          </a:xfrm>
          <a:prstGeom xmlns:a="http://schemas.openxmlformats.org/drawingml/2006/main" prst="roundRect">
            <a:avLst>
              <a:gd name="adj" fmla="val 50000"/>
            </a:avLst>
          </a:prstGeom>
          <a:solidFill xmlns:a="http://schemas.openxmlformats.org/drawingml/2006/main">
            <a:srgbClr val="70D6A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145D293-2311-4913-BA2D-4A12EDCB3761}"/>
              </a:ext>
            </a:extLst>
          </p:cNvPr>
          <p:cNvSpPr>
            <a:spLocks xmlns:a="http://schemas.openxmlformats.org/drawingml/2006/main" noGrp="1"/>
          </p:cNvSpPr>
          <p:nvPr/>
        </p:nvSpPr>
        <p:spPr>
          <a:xfrm xmlns:a="http://schemas.openxmlformats.org/drawingml/2006/main">
            <a:off x="971550" y="3581400"/>
            <a:ext cx="2686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575" b="0" i="0">
                <a:solidFill>
                  <a:srgbClr val="160B20"/>
                </a:solidFill>
                <a:latin typeface="Aptos"/>
                <a:ea typeface="Aptos"/>
                <a:cs typeface="Aptos"/>
              </a:defRPr>
            </a:pPr>
            <a:r>
              <a:rPr sz="1575" b="0" i="0">
                <a:solidFill>
                  <a:srgbClr val="160B20"/>
                </a:solidFill>
                <a:latin typeface="Aptos"/>
                <a:ea typeface="Aptos"/>
                <a:cs typeface="Aptos"/>
              </a:rPr>
              <a:t>Users and permissions</a:t>
            </a:r>
          </a:p>
        </p:txBody>
      </p:sp>
      <p:sp>
        <p:nvSpPr>
          <p:cNvPr id="17" name="">
            <a:extLst xmlns:a="http://schemas.openxmlformats.org/drawingml/2006/main">
              <a:ext uri="{FF2B5EF4-FFF2-40B4-BE49-F238E27FC236}">
                <a16:creationId xmlns:a16="http://schemas.microsoft.com/office/drawing/2014/main" id="{83940D6C-4774-45C4-98C3-EB1DDFCB82DA}"/>
              </a:ext>
            </a:extLst>
          </p:cNvPr>
          <p:cNvSpPr>
            <a:spLocks xmlns:a="http://schemas.openxmlformats.org/drawingml/2006/main" noGrp="1"/>
          </p:cNvSpPr>
          <p:nvPr/>
        </p:nvSpPr>
        <p:spPr>
          <a:xfrm xmlns:a="http://schemas.openxmlformats.org/drawingml/2006/main">
            <a:off x="704850" y="4200525"/>
            <a:ext cx="95250" cy="95250"/>
          </a:xfrm>
          <a:prstGeom xmlns:a="http://schemas.openxmlformats.org/drawingml/2006/main" prst="roundRect">
            <a:avLst>
              <a:gd name="adj" fmla="val 50000"/>
            </a:avLst>
          </a:prstGeom>
          <a:solidFill xmlns:a="http://schemas.openxmlformats.org/drawingml/2006/main">
            <a:srgbClr val="70D6A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9C6AF47-ACF6-40C7-80A5-3F4AE90CC763}"/>
              </a:ext>
            </a:extLst>
          </p:cNvPr>
          <p:cNvSpPr>
            <a:spLocks xmlns:a="http://schemas.openxmlformats.org/drawingml/2006/main" noGrp="1"/>
          </p:cNvSpPr>
          <p:nvPr/>
        </p:nvSpPr>
        <p:spPr>
          <a:xfrm xmlns:a="http://schemas.openxmlformats.org/drawingml/2006/main">
            <a:off x="971550" y="4133850"/>
            <a:ext cx="2686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575" b="0" i="0">
                <a:solidFill>
                  <a:srgbClr val="160B20"/>
                </a:solidFill>
                <a:latin typeface="Aptos"/>
                <a:ea typeface="Aptos"/>
                <a:cs typeface="Aptos"/>
              </a:defRPr>
            </a:pPr>
            <a:r>
              <a:rPr sz="1575" b="0" i="0">
                <a:solidFill>
                  <a:srgbClr val="160B20"/>
                </a:solidFill>
                <a:latin typeface="Aptos"/>
                <a:ea typeface="Aptos"/>
                <a:cs typeface="Aptos"/>
              </a:rPr>
              <a:t>OpenSSH + systemd</a:t>
            </a:r>
          </a:p>
        </p:txBody>
      </p:sp>
      <p:sp>
        <p:nvSpPr>
          <p:cNvPr id="19" name="">
            <a:extLst xmlns:a="http://schemas.openxmlformats.org/drawingml/2006/main">
              <a:ext uri="{FF2B5EF4-FFF2-40B4-BE49-F238E27FC236}">
                <a16:creationId xmlns:a16="http://schemas.microsoft.com/office/drawing/2014/main" id="{AE0BA275-0590-4C57-A1B7-348723CBB409}"/>
              </a:ext>
            </a:extLst>
          </p:cNvPr>
          <p:cNvSpPr>
            <a:spLocks xmlns:a="http://schemas.openxmlformats.org/drawingml/2006/main" noGrp="1"/>
          </p:cNvSpPr>
          <p:nvPr/>
        </p:nvSpPr>
        <p:spPr>
          <a:xfrm xmlns:a="http://schemas.openxmlformats.org/drawingml/2006/main">
            <a:off x="4514850" y="2543175"/>
            <a:ext cx="95250" cy="95250"/>
          </a:xfrm>
          <a:prstGeom xmlns:a="http://schemas.openxmlformats.org/drawingml/2006/main" prst="roundRect">
            <a:avLst>
              <a:gd name="adj" fmla="val 50000"/>
            </a:avLst>
          </a:prstGeom>
          <a:solidFill xmlns:a="http://schemas.openxmlformats.org/drawingml/2006/main">
            <a:srgbClr val="FF6B4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F16B966-46F4-4BCF-9088-8228CA0D83C6}"/>
              </a:ext>
            </a:extLst>
          </p:cNvPr>
          <p:cNvSpPr>
            <a:spLocks xmlns:a="http://schemas.openxmlformats.org/drawingml/2006/main" noGrp="1"/>
          </p:cNvSpPr>
          <p:nvPr/>
        </p:nvSpPr>
        <p:spPr>
          <a:xfrm xmlns:a="http://schemas.openxmlformats.org/drawingml/2006/main">
            <a:off x="4781550" y="2476500"/>
            <a:ext cx="2686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575" b="0" i="0">
                <a:solidFill>
                  <a:srgbClr val="160B20"/>
                </a:solidFill>
                <a:latin typeface="Aptos"/>
                <a:ea typeface="Aptos"/>
                <a:cs typeface="Aptos"/>
              </a:defRPr>
            </a:pPr>
            <a:r>
              <a:rPr sz="1575" b="0" i="0">
                <a:solidFill>
                  <a:srgbClr val="160B20"/>
                </a:solidFill>
                <a:latin typeface="Aptos"/>
                <a:ea typeface="Aptos"/>
                <a:cs typeface="Aptos"/>
              </a:rPr>
              <a:t>Package format</a:t>
            </a:r>
          </a:p>
        </p:txBody>
      </p:sp>
      <p:sp>
        <p:nvSpPr>
          <p:cNvPr id="21" name="">
            <a:extLst xmlns:a="http://schemas.openxmlformats.org/drawingml/2006/main">
              <a:ext uri="{FF2B5EF4-FFF2-40B4-BE49-F238E27FC236}">
                <a16:creationId xmlns:a16="http://schemas.microsoft.com/office/drawing/2014/main" id="{429B6B8E-0D76-45B9-934D-43DDE8169209}"/>
              </a:ext>
            </a:extLst>
          </p:cNvPr>
          <p:cNvSpPr>
            <a:spLocks xmlns:a="http://schemas.openxmlformats.org/drawingml/2006/main" noGrp="1"/>
          </p:cNvSpPr>
          <p:nvPr/>
        </p:nvSpPr>
        <p:spPr>
          <a:xfrm xmlns:a="http://schemas.openxmlformats.org/drawingml/2006/main">
            <a:off x="4514850" y="3095625"/>
            <a:ext cx="95250" cy="95250"/>
          </a:xfrm>
          <a:prstGeom xmlns:a="http://schemas.openxmlformats.org/drawingml/2006/main" prst="roundRect">
            <a:avLst>
              <a:gd name="adj" fmla="val 50000"/>
            </a:avLst>
          </a:prstGeom>
          <a:solidFill xmlns:a="http://schemas.openxmlformats.org/drawingml/2006/main">
            <a:srgbClr val="FF6B4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AECF732-859D-473B-8737-126FC97F7492}"/>
              </a:ext>
            </a:extLst>
          </p:cNvPr>
          <p:cNvSpPr>
            <a:spLocks xmlns:a="http://schemas.openxmlformats.org/drawingml/2006/main" noGrp="1"/>
          </p:cNvSpPr>
          <p:nvPr/>
        </p:nvSpPr>
        <p:spPr>
          <a:xfrm xmlns:a="http://schemas.openxmlformats.org/drawingml/2006/main">
            <a:off x="4781550" y="3028950"/>
            <a:ext cx="2686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575" b="0" i="0">
                <a:solidFill>
                  <a:srgbClr val="160B20"/>
                </a:solidFill>
                <a:latin typeface="Aptos"/>
                <a:ea typeface="Aptos"/>
                <a:cs typeface="Aptos"/>
              </a:defRPr>
            </a:pPr>
            <a:r>
              <a:rPr sz="1575" b="0" i="0">
                <a:solidFill>
                  <a:srgbClr val="160B20"/>
                </a:solidFill>
                <a:latin typeface="Aptos"/>
                <a:ea typeface="Aptos"/>
                <a:cs typeface="Aptos"/>
              </a:rPr>
              <a:t>Release cadence</a:t>
            </a:r>
          </a:p>
        </p:txBody>
      </p:sp>
      <p:sp>
        <p:nvSpPr>
          <p:cNvPr id="23" name="">
            <a:extLst xmlns:a="http://schemas.openxmlformats.org/drawingml/2006/main">
              <a:ext uri="{FF2B5EF4-FFF2-40B4-BE49-F238E27FC236}">
                <a16:creationId xmlns:a16="http://schemas.microsoft.com/office/drawing/2014/main" id="{F10AD9D9-0B3A-4566-A840-2A4E02E13AB4}"/>
              </a:ext>
            </a:extLst>
          </p:cNvPr>
          <p:cNvSpPr>
            <a:spLocks xmlns:a="http://schemas.openxmlformats.org/drawingml/2006/main" noGrp="1"/>
          </p:cNvSpPr>
          <p:nvPr/>
        </p:nvSpPr>
        <p:spPr>
          <a:xfrm xmlns:a="http://schemas.openxmlformats.org/drawingml/2006/main">
            <a:off x="4514850" y="3648075"/>
            <a:ext cx="95250" cy="95250"/>
          </a:xfrm>
          <a:prstGeom xmlns:a="http://schemas.openxmlformats.org/drawingml/2006/main" prst="roundRect">
            <a:avLst>
              <a:gd name="adj" fmla="val 50000"/>
            </a:avLst>
          </a:prstGeom>
          <a:solidFill xmlns:a="http://schemas.openxmlformats.org/drawingml/2006/main">
            <a:srgbClr val="FF6B4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B0B6D73-70CF-4F9A-8EE2-DE53E7EC42BA}"/>
              </a:ext>
            </a:extLst>
          </p:cNvPr>
          <p:cNvSpPr>
            <a:spLocks xmlns:a="http://schemas.openxmlformats.org/drawingml/2006/main" noGrp="1"/>
          </p:cNvSpPr>
          <p:nvPr/>
        </p:nvSpPr>
        <p:spPr>
          <a:xfrm xmlns:a="http://schemas.openxmlformats.org/drawingml/2006/main">
            <a:off x="4781550" y="3581400"/>
            <a:ext cx="2686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575" b="0" i="0">
                <a:solidFill>
                  <a:srgbClr val="160B20"/>
                </a:solidFill>
                <a:latin typeface="Aptos"/>
                <a:ea typeface="Aptos"/>
                <a:cs typeface="Aptos"/>
              </a:defRPr>
            </a:pPr>
            <a:r>
              <a:rPr sz="1575" b="0" i="0">
                <a:solidFill>
                  <a:srgbClr val="160B20"/>
                </a:solidFill>
                <a:latin typeface="Aptos"/>
                <a:ea typeface="Aptos"/>
                <a:cs typeface="Aptos"/>
              </a:rPr>
              <a:t>Default configuration</a:t>
            </a:r>
          </a:p>
        </p:txBody>
      </p:sp>
      <p:sp>
        <p:nvSpPr>
          <p:cNvPr id="25" name="">
            <a:extLst xmlns:a="http://schemas.openxmlformats.org/drawingml/2006/main">
              <a:ext uri="{FF2B5EF4-FFF2-40B4-BE49-F238E27FC236}">
                <a16:creationId xmlns:a16="http://schemas.microsoft.com/office/drawing/2014/main" id="{DF7F68EF-BF40-439F-8C87-B3595C542290}"/>
              </a:ext>
            </a:extLst>
          </p:cNvPr>
          <p:cNvSpPr>
            <a:spLocks xmlns:a="http://schemas.openxmlformats.org/drawingml/2006/main" noGrp="1"/>
          </p:cNvSpPr>
          <p:nvPr/>
        </p:nvSpPr>
        <p:spPr>
          <a:xfrm xmlns:a="http://schemas.openxmlformats.org/drawingml/2006/main">
            <a:off x="4514850" y="4200525"/>
            <a:ext cx="95250" cy="95250"/>
          </a:xfrm>
          <a:prstGeom xmlns:a="http://schemas.openxmlformats.org/drawingml/2006/main" prst="roundRect">
            <a:avLst>
              <a:gd name="adj" fmla="val 50000"/>
            </a:avLst>
          </a:prstGeom>
          <a:solidFill xmlns:a="http://schemas.openxmlformats.org/drawingml/2006/main">
            <a:srgbClr val="FF6B4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E32866C-9C94-45B7-8A70-E2E8287CBDA4}"/>
              </a:ext>
            </a:extLst>
          </p:cNvPr>
          <p:cNvSpPr>
            <a:spLocks xmlns:a="http://schemas.openxmlformats.org/drawingml/2006/main" noGrp="1"/>
          </p:cNvSpPr>
          <p:nvPr/>
        </p:nvSpPr>
        <p:spPr>
          <a:xfrm xmlns:a="http://schemas.openxmlformats.org/drawingml/2006/main">
            <a:off x="4781550" y="4133850"/>
            <a:ext cx="2686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575" b="0" i="0">
                <a:solidFill>
                  <a:srgbClr val="160B20"/>
                </a:solidFill>
                <a:latin typeface="Aptos"/>
                <a:ea typeface="Aptos"/>
                <a:cs typeface="Aptos"/>
              </a:defRPr>
            </a:pPr>
            <a:r>
              <a:rPr sz="1575" b="0" i="0">
                <a:solidFill>
                  <a:srgbClr val="160B20"/>
                </a:solidFill>
                <a:latin typeface="Aptos"/>
                <a:ea typeface="Aptos"/>
                <a:cs typeface="Aptos"/>
              </a:rPr>
              <a:t>Support lifecycle</a:t>
            </a:r>
          </a:p>
        </p:txBody>
      </p:sp>
      <p:sp>
        <p:nvSpPr>
          <p:cNvPr id="27" name="">
            <a:extLst xmlns:a="http://schemas.openxmlformats.org/drawingml/2006/main">
              <a:ext uri="{FF2B5EF4-FFF2-40B4-BE49-F238E27FC236}">
                <a16:creationId xmlns:a16="http://schemas.microsoft.com/office/drawing/2014/main" id="{EA2CD34C-BE60-4308-9054-BBBD4F71F94F}"/>
              </a:ext>
            </a:extLst>
          </p:cNvPr>
          <p:cNvSpPr>
            <a:spLocks xmlns:a="http://schemas.openxmlformats.org/drawingml/2006/main" noGrp="1"/>
          </p:cNvSpPr>
          <p:nvPr/>
        </p:nvSpPr>
        <p:spPr>
          <a:xfrm xmlns:a="http://schemas.openxmlformats.org/drawingml/2006/main">
            <a:off x="8324850" y="254317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CEA22A9-9B51-42E6-BE58-D99701C61C08}"/>
              </a:ext>
            </a:extLst>
          </p:cNvPr>
          <p:cNvSpPr>
            <a:spLocks xmlns:a="http://schemas.openxmlformats.org/drawingml/2006/main" noGrp="1"/>
          </p:cNvSpPr>
          <p:nvPr/>
        </p:nvSpPr>
        <p:spPr>
          <a:xfrm xmlns:a="http://schemas.openxmlformats.org/drawingml/2006/main">
            <a:off x="8591550" y="2476500"/>
            <a:ext cx="2686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575" b="0" i="0">
                <a:solidFill>
                  <a:srgbClr val="160B20"/>
                </a:solidFill>
                <a:latin typeface="Aptos"/>
                <a:ea typeface="Aptos"/>
                <a:cs typeface="Aptos"/>
              </a:defRPr>
            </a:pPr>
            <a:r>
              <a:rPr sz="1575" b="0" i="0">
                <a:solidFill>
                  <a:srgbClr val="160B20"/>
                </a:solidFill>
                <a:latin typeface="Aptos"/>
                <a:ea typeface="Aptos"/>
                <a:cs typeface="Aptos"/>
              </a:rPr>
              <a:t>Ubuntu / Debian</a:t>
            </a:r>
          </a:p>
        </p:txBody>
      </p:sp>
      <p:sp>
        <p:nvSpPr>
          <p:cNvPr id="29" name="">
            <a:extLst xmlns:a="http://schemas.openxmlformats.org/drawingml/2006/main">
              <a:ext uri="{FF2B5EF4-FFF2-40B4-BE49-F238E27FC236}">
                <a16:creationId xmlns:a16="http://schemas.microsoft.com/office/drawing/2014/main" id="{7E7A84D4-213A-4307-A20B-E5A1DD8917C0}"/>
              </a:ext>
            </a:extLst>
          </p:cNvPr>
          <p:cNvSpPr>
            <a:spLocks xmlns:a="http://schemas.openxmlformats.org/drawingml/2006/main" noGrp="1"/>
          </p:cNvSpPr>
          <p:nvPr/>
        </p:nvSpPr>
        <p:spPr>
          <a:xfrm xmlns:a="http://schemas.openxmlformats.org/drawingml/2006/main">
            <a:off x="8324850" y="309562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9EAA5C5D-C2C1-4380-96BA-9F79DDB29C60}"/>
              </a:ext>
            </a:extLst>
          </p:cNvPr>
          <p:cNvSpPr>
            <a:spLocks xmlns:a="http://schemas.openxmlformats.org/drawingml/2006/main" noGrp="1"/>
          </p:cNvSpPr>
          <p:nvPr/>
        </p:nvSpPr>
        <p:spPr>
          <a:xfrm xmlns:a="http://schemas.openxmlformats.org/drawingml/2006/main">
            <a:off x="8591550" y="3028950"/>
            <a:ext cx="2686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575" b="0" i="0">
                <a:solidFill>
                  <a:srgbClr val="160B20"/>
                </a:solidFill>
                <a:latin typeface="Aptos"/>
                <a:ea typeface="Aptos"/>
                <a:cs typeface="Aptos"/>
              </a:defRPr>
            </a:pPr>
            <a:r>
              <a:rPr sz="1575" b="0" i="0">
                <a:solidFill>
                  <a:srgbClr val="160B20"/>
                </a:solidFill>
                <a:latin typeface="Aptos"/>
                <a:ea typeface="Aptos"/>
                <a:cs typeface="Aptos"/>
              </a:rPr>
              <a:t>RHEL / Rocky / Alma</a:t>
            </a:r>
          </a:p>
        </p:txBody>
      </p:sp>
      <p:sp>
        <p:nvSpPr>
          <p:cNvPr id="31" name="">
            <a:extLst xmlns:a="http://schemas.openxmlformats.org/drawingml/2006/main">
              <a:ext uri="{FF2B5EF4-FFF2-40B4-BE49-F238E27FC236}">
                <a16:creationId xmlns:a16="http://schemas.microsoft.com/office/drawing/2014/main" id="{B531AF50-2185-4FE8-A92B-3B3BA150E45D}"/>
              </a:ext>
            </a:extLst>
          </p:cNvPr>
          <p:cNvSpPr>
            <a:spLocks xmlns:a="http://schemas.openxmlformats.org/drawingml/2006/main" noGrp="1"/>
          </p:cNvSpPr>
          <p:nvPr/>
        </p:nvSpPr>
        <p:spPr>
          <a:xfrm xmlns:a="http://schemas.openxmlformats.org/drawingml/2006/main">
            <a:off x="8324850" y="364807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2394C29E-35E8-43C1-9C20-746A0B6E373B}"/>
              </a:ext>
            </a:extLst>
          </p:cNvPr>
          <p:cNvSpPr>
            <a:spLocks xmlns:a="http://schemas.openxmlformats.org/drawingml/2006/main" noGrp="1"/>
          </p:cNvSpPr>
          <p:nvPr/>
        </p:nvSpPr>
        <p:spPr>
          <a:xfrm xmlns:a="http://schemas.openxmlformats.org/drawingml/2006/main">
            <a:off x="8591550" y="3581400"/>
            <a:ext cx="2686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575" b="0" i="0">
                <a:solidFill>
                  <a:srgbClr val="160B20"/>
                </a:solidFill>
                <a:latin typeface="Aptos"/>
                <a:ea typeface="Aptos"/>
                <a:cs typeface="Aptos"/>
              </a:defRPr>
            </a:pPr>
            <a:r>
              <a:rPr sz="1575" b="0" i="0">
                <a:solidFill>
                  <a:srgbClr val="160B20"/>
                </a:solidFill>
                <a:latin typeface="Aptos"/>
                <a:ea typeface="Aptos"/>
                <a:cs typeface="Aptos"/>
              </a:rPr>
              <a:t>Fedora</a:t>
            </a:r>
          </a:p>
        </p:txBody>
      </p:sp>
      <p:sp>
        <p:nvSpPr>
          <p:cNvPr id="33" name="">
            <a:extLst xmlns:a="http://schemas.openxmlformats.org/drawingml/2006/main">
              <a:ext uri="{FF2B5EF4-FFF2-40B4-BE49-F238E27FC236}">
                <a16:creationId xmlns:a16="http://schemas.microsoft.com/office/drawing/2014/main" id="{3D2B077B-0835-464B-868A-D71491591826}"/>
              </a:ext>
            </a:extLst>
          </p:cNvPr>
          <p:cNvSpPr>
            <a:spLocks xmlns:a="http://schemas.openxmlformats.org/drawingml/2006/main" noGrp="1"/>
          </p:cNvSpPr>
          <p:nvPr/>
        </p:nvSpPr>
        <p:spPr>
          <a:xfrm xmlns:a="http://schemas.openxmlformats.org/drawingml/2006/main">
            <a:off x="8324850" y="420052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7DAD8CD2-3A0D-42A7-8537-B983A8709284}"/>
              </a:ext>
            </a:extLst>
          </p:cNvPr>
          <p:cNvSpPr>
            <a:spLocks xmlns:a="http://schemas.openxmlformats.org/drawingml/2006/main" noGrp="1"/>
          </p:cNvSpPr>
          <p:nvPr/>
        </p:nvSpPr>
        <p:spPr>
          <a:xfrm xmlns:a="http://schemas.openxmlformats.org/drawingml/2006/main">
            <a:off x="8591550" y="4133850"/>
            <a:ext cx="2686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575" b="0" i="0">
                <a:solidFill>
                  <a:srgbClr val="160B20"/>
                </a:solidFill>
                <a:latin typeface="Aptos"/>
                <a:ea typeface="Aptos"/>
                <a:cs typeface="Aptos"/>
              </a:defRPr>
            </a:pPr>
            <a:r>
              <a:rPr sz="1575" b="0" i="0">
                <a:solidFill>
                  <a:srgbClr val="160B20"/>
                </a:solidFill>
                <a:latin typeface="Aptos"/>
                <a:ea typeface="Aptos"/>
                <a:cs typeface="Aptos"/>
              </a:rPr>
              <a:t>Cloud/vendor images</a:t>
            </a:r>
          </a:p>
        </p:txBody>
      </p:sp>
      <p:sp>
        <p:nvSpPr>
          <p:cNvPr id="35" name="">
            <a:extLst xmlns:a="http://schemas.openxmlformats.org/drawingml/2006/main">
              <a:ext uri="{FF2B5EF4-FFF2-40B4-BE49-F238E27FC236}">
                <a16:creationId xmlns:a16="http://schemas.microsoft.com/office/drawing/2014/main" id="{422B01CC-6C7D-465C-970C-4ACC51AF3223}"/>
              </a:ext>
            </a:extLst>
          </p:cNvPr>
          <p:cNvSpPr>
            <a:spLocks xmlns:a="http://schemas.openxmlformats.org/drawingml/2006/main" noGrp="1"/>
          </p:cNvSpPr>
          <p:nvPr/>
        </p:nvSpPr>
        <p:spPr>
          <a:xfrm xmlns:a="http://schemas.openxmlformats.org/drawingml/2006/main">
            <a:off x="704850" y="552450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800" b="1" i="0">
                <a:solidFill>
                  <a:srgbClr val="8B5CF6"/>
                </a:solidFill>
                <a:latin typeface="Aptos"/>
                <a:ea typeface="Aptos"/>
                <a:cs typeface="Aptos"/>
              </a:defRPr>
            </a:pPr>
            <a:r>
              <a:rPr sz="1800" b="1" i="0">
                <a:solidFill>
                  <a:srgbClr val="8B5CF6"/>
                </a:solidFill>
                <a:latin typeface="Aptos"/>
                <a:ea typeface="Aptos"/>
                <a:cs typeface="Aptos"/>
              </a:rPr>
              <a:t>Today: Ubuntu 24.04 LTS keeps every lab consistent.</a:t>
            </a:r>
          </a:p>
        </p:txBody>
      </p:sp>
    </p:spTree>
    <p:extLst>
      <p:ext uri="{BB962C8B-B14F-4D97-AF65-F5344CB8AC3E}">
        <p14:creationId xmlns:p14="http://schemas.microsoft.com/office/powerpoint/2010/main" val="281690250"/>
      </p:ext>
    </p:extLst>
  </p:cSld>
</p:sld>
</file>

<file path=ppt/slides/slide7.xml><?xml version="1.0" encoding="utf-8"?>
<p:sld xmlns:p="http://schemas.openxmlformats.org/presentationml/2006/main">
  <p:cSld>
    <p:bg>
      <p:bgPr>
        <a:solidFill xmlns:a="http://schemas.openxmlformats.org/drawingml/2006/main">
          <a:srgbClr val="180D24"/>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7015AA0-2C6B-4E6C-83FF-35B19C0FA31B}"/>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FILESYSTEM</a:t>
            </a:r>
          </a:p>
        </p:txBody>
      </p:sp>
      <p:sp>
        <p:nvSpPr>
          <p:cNvPr id="2" name="">
            <a:extLst xmlns:a="http://schemas.openxmlformats.org/drawingml/2006/main">
              <a:ext uri="{FF2B5EF4-FFF2-40B4-BE49-F238E27FC236}">
                <a16:creationId xmlns:a16="http://schemas.microsoft.com/office/drawing/2014/main" id="{9F675FFB-C12F-4898-B3EC-3BEF38D68774}"/>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595"/>
          </a:bodyPr>
          <a:lstStyle xmlns:a="http://schemas.openxmlformats.org/drawingml/2006/main"/>
          <a:p xmlns:a="http://schemas.openxmlformats.org/drawingml/2006/main">
            <a:pPr algn="l">
              <a:lnSpc>
                <a:spcPct val="94000"/>
              </a:lnSpc>
              <a:buNone/>
              <a:defRPr sz="3750" b="1" i="0">
                <a:solidFill>
                  <a:srgbClr val="FFF8EE"/>
                </a:solidFill>
                <a:latin typeface="Aptos"/>
                <a:ea typeface="Aptos"/>
                <a:cs typeface="Aptos"/>
              </a:defRPr>
            </a:pPr>
            <a:r>
              <a:rPr sz="3750" b="1" i="0">
                <a:solidFill>
                  <a:srgbClr val="FFF8EE"/>
                </a:solidFill>
                <a:latin typeface="Aptos"/>
                <a:ea typeface="Aptos"/>
                <a:cs typeface="Aptos"/>
              </a:rPr>
              <a:t>Most investigations begin at five filesystem anchors</a:t>
            </a:r>
          </a:p>
        </p:txBody>
      </p:sp>
      <p:sp>
        <p:nvSpPr>
          <p:cNvPr id="3" name="">
            <a:extLst xmlns:a="http://schemas.openxmlformats.org/drawingml/2006/main">
              <a:ext uri="{FF2B5EF4-FFF2-40B4-BE49-F238E27FC236}">
                <a16:creationId xmlns:a16="http://schemas.microsoft.com/office/drawing/2014/main" id="{74BE67A4-BB6C-453D-9CC5-2FF52C023303}"/>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3520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7772AE1-9E02-4134-BB45-E3FAB5BB063D}"/>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BFAFCB"/>
                </a:solidFill>
                <a:latin typeface="Aptos"/>
                <a:ea typeface="Aptos"/>
                <a:cs typeface="Aptos"/>
              </a:defRPr>
            </a:pPr>
            <a:r>
              <a:rPr sz="900" b="1" i="0">
                <a:solidFill>
                  <a:srgbClr val="BFAFCB"/>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71BC0A6B-8976-4D9D-95B9-6211C7F9D741}"/>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C9B6FF"/>
                </a:solidFill>
                <a:latin typeface="Aptos"/>
                <a:ea typeface="Aptos"/>
                <a:cs typeface="Aptos"/>
              </a:defRPr>
            </a:pPr>
            <a:r>
              <a:rPr sz="1050" b="1" i="0">
                <a:solidFill>
                  <a:srgbClr val="C9B6FF"/>
                </a:solidFill>
                <a:latin typeface="Aptos"/>
                <a:ea typeface="Aptos"/>
                <a:cs typeface="Aptos"/>
              </a:rPr>
              <a:t>07</a:t>
            </a:r>
          </a:p>
        </p:txBody>
      </p:sp>
      <p:sp>
        <p:nvSpPr>
          <p:cNvPr id="6" name="">
            <a:extLst xmlns:a="http://schemas.openxmlformats.org/drawingml/2006/main">
              <a:ext uri="{FF2B5EF4-FFF2-40B4-BE49-F238E27FC236}">
                <a16:creationId xmlns:a16="http://schemas.microsoft.com/office/drawing/2014/main" id="{DA10D030-843E-46D4-A550-E00223A5F57B}"/>
              </a:ext>
            </a:extLst>
          </p:cNvPr>
          <p:cNvSpPr>
            <a:spLocks xmlns:a="http://schemas.openxmlformats.org/drawingml/2006/main" noGrp="1"/>
          </p:cNvSpPr>
          <p:nvPr/>
        </p:nvSpPr>
        <p:spPr>
          <a:xfrm xmlns:a="http://schemas.openxmlformats.org/drawingml/2006/main">
            <a:off x="819150" y="1762125"/>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850" b="1" i="0">
                <a:solidFill>
                  <a:srgbClr val="FF6B4A"/>
                </a:solidFill>
                <a:latin typeface="Courier New"/>
                <a:ea typeface="Courier New"/>
                <a:cs typeface="Courier New"/>
              </a:defRPr>
            </a:pPr>
            <a:r>
              <a:rPr sz="2850" b="1" i="0">
                <a:solidFill>
                  <a:srgbClr val="FF6B4A"/>
                </a:solidFill>
                <a:latin typeface="Courier New"/>
                <a:ea typeface="Courier New"/>
                <a:cs typeface="Courier New"/>
              </a:rPr>
              <a:t>/</a:t>
            </a:r>
          </a:p>
        </p:txBody>
      </p:sp>
      <p:sp>
        <p:nvSpPr>
          <p:cNvPr id="7" name="">
            <a:extLst xmlns:a="http://schemas.openxmlformats.org/drawingml/2006/main">
              <a:ext uri="{FF2B5EF4-FFF2-40B4-BE49-F238E27FC236}">
                <a16:creationId xmlns:a16="http://schemas.microsoft.com/office/drawing/2014/main" id="{B6FA0E06-30A7-4889-AD87-D73996CDC081}"/>
              </a:ext>
            </a:extLst>
          </p:cNvPr>
          <p:cNvSpPr>
            <a:spLocks xmlns:a="http://schemas.openxmlformats.org/drawingml/2006/main" noGrp="1"/>
          </p:cNvSpPr>
          <p:nvPr/>
        </p:nvSpPr>
        <p:spPr>
          <a:xfrm xmlns:a="http://schemas.openxmlformats.org/drawingml/2006/main">
            <a:off x="2857500" y="1847850"/>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800" b="0" i="0">
                <a:solidFill>
                  <a:srgbClr val="FFF8EE"/>
                </a:solidFill>
                <a:latin typeface="Aptos"/>
                <a:ea typeface="Aptos"/>
                <a:cs typeface="Aptos"/>
              </a:defRPr>
            </a:pPr>
            <a:r>
              <a:rPr sz="1800" b="0" i="0">
                <a:solidFill>
                  <a:srgbClr val="FFF8EE"/>
                </a:solidFill>
                <a:latin typeface="Aptos"/>
                <a:ea typeface="Aptos"/>
                <a:cs typeface="Aptos"/>
              </a:rPr>
              <a:t>one root; every absolute path starts here</a:t>
            </a:r>
          </a:p>
        </p:txBody>
      </p:sp>
      <p:sp>
        <p:nvSpPr>
          <p:cNvPr id="8" name="">
            <a:extLst xmlns:a="http://schemas.openxmlformats.org/drawingml/2006/main">
              <a:ext uri="{FF2B5EF4-FFF2-40B4-BE49-F238E27FC236}">
                <a16:creationId xmlns:a16="http://schemas.microsoft.com/office/drawing/2014/main" id="{6A4C3731-7F65-4621-9EC6-37BFB58F4E85}"/>
              </a:ext>
            </a:extLst>
          </p:cNvPr>
          <p:cNvSpPr>
            <a:spLocks xmlns:a="http://schemas.openxmlformats.org/drawingml/2006/main" noGrp="1"/>
          </p:cNvSpPr>
          <p:nvPr/>
        </p:nvSpPr>
        <p:spPr>
          <a:xfrm xmlns:a="http://schemas.openxmlformats.org/drawingml/2006/main">
            <a:off x="2857500" y="2381250"/>
            <a:ext cx="7810500" cy="9525"/>
          </a:xfrm>
          <a:prstGeom xmlns:a="http://schemas.openxmlformats.org/drawingml/2006/main" prst="rect">
            <a:avLst/>
          </a:prstGeom>
          <a:solidFill xmlns:a="http://schemas.openxmlformats.org/drawingml/2006/main">
            <a:srgbClr val="4A335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559840B-A7FB-404E-94E6-AD38B39E4645}"/>
              </a:ext>
            </a:extLst>
          </p:cNvPr>
          <p:cNvSpPr>
            <a:spLocks xmlns:a="http://schemas.openxmlformats.org/drawingml/2006/main" noGrp="1"/>
          </p:cNvSpPr>
          <p:nvPr/>
        </p:nvSpPr>
        <p:spPr>
          <a:xfrm xmlns:a="http://schemas.openxmlformats.org/drawingml/2006/main">
            <a:off x="819150" y="2581275"/>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850" b="1" i="0">
                <a:solidFill>
                  <a:srgbClr val="C9B6FF"/>
                </a:solidFill>
                <a:latin typeface="Courier New"/>
                <a:ea typeface="Courier New"/>
                <a:cs typeface="Courier New"/>
              </a:defRPr>
            </a:pPr>
            <a:r>
              <a:rPr sz="2850" b="1" i="0">
                <a:solidFill>
                  <a:srgbClr val="C9B6FF"/>
                </a:solidFill>
                <a:latin typeface="Courier New"/>
                <a:ea typeface="Courier New"/>
                <a:cs typeface="Courier New"/>
              </a:rPr>
              <a:t>/etc</a:t>
            </a:r>
          </a:p>
        </p:txBody>
      </p:sp>
      <p:sp>
        <p:nvSpPr>
          <p:cNvPr id="10" name="">
            <a:extLst xmlns:a="http://schemas.openxmlformats.org/drawingml/2006/main">
              <a:ext uri="{FF2B5EF4-FFF2-40B4-BE49-F238E27FC236}">
                <a16:creationId xmlns:a16="http://schemas.microsoft.com/office/drawing/2014/main" id="{3BCDDC35-403B-4C3C-AC4D-86BC66B592B8}"/>
              </a:ext>
            </a:extLst>
          </p:cNvPr>
          <p:cNvSpPr>
            <a:spLocks xmlns:a="http://schemas.openxmlformats.org/drawingml/2006/main" noGrp="1"/>
          </p:cNvSpPr>
          <p:nvPr/>
        </p:nvSpPr>
        <p:spPr>
          <a:xfrm xmlns:a="http://schemas.openxmlformats.org/drawingml/2006/main">
            <a:off x="2857500" y="2667000"/>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800" b="0" i="0">
                <a:solidFill>
                  <a:srgbClr val="FFF8EE"/>
                </a:solidFill>
                <a:latin typeface="Aptos"/>
                <a:ea typeface="Aptos"/>
                <a:cs typeface="Aptos"/>
              </a:defRPr>
            </a:pPr>
            <a:r>
              <a:rPr sz="1800" b="0" i="0">
                <a:solidFill>
                  <a:srgbClr val="FFF8EE"/>
                </a:solidFill>
                <a:latin typeface="Aptos"/>
                <a:ea typeface="Aptos"/>
                <a:cs typeface="Aptos"/>
              </a:rPr>
              <a:t>host-specific configuration</a:t>
            </a:r>
          </a:p>
        </p:txBody>
      </p:sp>
      <p:sp>
        <p:nvSpPr>
          <p:cNvPr id="11" name="">
            <a:extLst xmlns:a="http://schemas.openxmlformats.org/drawingml/2006/main">
              <a:ext uri="{FF2B5EF4-FFF2-40B4-BE49-F238E27FC236}">
                <a16:creationId xmlns:a16="http://schemas.microsoft.com/office/drawing/2014/main" id="{12D99050-11D6-4CB3-82CE-15C5C08A0DBB}"/>
              </a:ext>
            </a:extLst>
          </p:cNvPr>
          <p:cNvSpPr>
            <a:spLocks xmlns:a="http://schemas.openxmlformats.org/drawingml/2006/main" noGrp="1"/>
          </p:cNvSpPr>
          <p:nvPr/>
        </p:nvSpPr>
        <p:spPr>
          <a:xfrm xmlns:a="http://schemas.openxmlformats.org/drawingml/2006/main">
            <a:off x="2857500" y="3200400"/>
            <a:ext cx="7810500" cy="9525"/>
          </a:xfrm>
          <a:prstGeom xmlns:a="http://schemas.openxmlformats.org/drawingml/2006/main" prst="rect">
            <a:avLst/>
          </a:prstGeom>
          <a:solidFill xmlns:a="http://schemas.openxmlformats.org/drawingml/2006/main">
            <a:srgbClr val="4A335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703D62E-70AA-4ECF-8C74-8627778C4CEF}"/>
              </a:ext>
            </a:extLst>
          </p:cNvPr>
          <p:cNvSpPr>
            <a:spLocks xmlns:a="http://schemas.openxmlformats.org/drawingml/2006/main" noGrp="1"/>
          </p:cNvSpPr>
          <p:nvPr/>
        </p:nvSpPr>
        <p:spPr>
          <a:xfrm xmlns:a="http://schemas.openxmlformats.org/drawingml/2006/main">
            <a:off x="819150" y="3400425"/>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850" b="1" i="0">
                <a:solidFill>
                  <a:srgbClr val="C9B6FF"/>
                </a:solidFill>
                <a:latin typeface="Courier New"/>
                <a:ea typeface="Courier New"/>
                <a:cs typeface="Courier New"/>
              </a:defRPr>
            </a:pPr>
            <a:r>
              <a:rPr sz="2850" b="1" i="0">
                <a:solidFill>
                  <a:srgbClr val="C9B6FF"/>
                </a:solidFill>
                <a:latin typeface="Courier New"/>
                <a:ea typeface="Courier New"/>
                <a:cs typeface="Courier New"/>
              </a:rPr>
              <a:t>/home</a:t>
            </a:r>
          </a:p>
        </p:txBody>
      </p:sp>
      <p:sp>
        <p:nvSpPr>
          <p:cNvPr id="13" name="">
            <a:extLst xmlns:a="http://schemas.openxmlformats.org/drawingml/2006/main">
              <a:ext uri="{FF2B5EF4-FFF2-40B4-BE49-F238E27FC236}">
                <a16:creationId xmlns:a16="http://schemas.microsoft.com/office/drawing/2014/main" id="{01AB284F-3932-495A-9E76-34D38E9077D3}"/>
              </a:ext>
            </a:extLst>
          </p:cNvPr>
          <p:cNvSpPr>
            <a:spLocks xmlns:a="http://schemas.openxmlformats.org/drawingml/2006/main" noGrp="1"/>
          </p:cNvSpPr>
          <p:nvPr/>
        </p:nvSpPr>
        <p:spPr>
          <a:xfrm xmlns:a="http://schemas.openxmlformats.org/drawingml/2006/main">
            <a:off x="2857500" y="3486150"/>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800" b="0" i="0">
                <a:solidFill>
                  <a:srgbClr val="FFF8EE"/>
                </a:solidFill>
                <a:latin typeface="Aptos"/>
                <a:ea typeface="Aptos"/>
                <a:cs typeface="Aptos"/>
              </a:defRPr>
            </a:pPr>
            <a:r>
              <a:rPr sz="1800" b="0" i="0">
                <a:solidFill>
                  <a:srgbClr val="FFF8EE"/>
                </a:solidFill>
                <a:latin typeface="Aptos"/>
                <a:ea typeface="Aptos"/>
                <a:cs typeface="Aptos"/>
              </a:rPr>
              <a:t>human users’ files</a:t>
            </a:r>
          </a:p>
        </p:txBody>
      </p:sp>
      <p:sp>
        <p:nvSpPr>
          <p:cNvPr id="14" name="">
            <a:extLst xmlns:a="http://schemas.openxmlformats.org/drawingml/2006/main">
              <a:ext uri="{FF2B5EF4-FFF2-40B4-BE49-F238E27FC236}">
                <a16:creationId xmlns:a16="http://schemas.microsoft.com/office/drawing/2014/main" id="{956685C4-4813-4874-A59B-159E98BC2542}"/>
              </a:ext>
            </a:extLst>
          </p:cNvPr>
          <p:cNvSpPr>
            <a:spLocks xmlns:a="http://schemas.openxmlformats.org/drawingml/2006/main" noGrp="1"/>
          </p:cNvSpPr>
          <p:nvPr/>
        </p:nvSpPr>
        <p:spPr>
          <a:xfrm xmlns:a="http://schemas.openxmlformats.org/drawingml/2006/main">
            <a:off x="2857500" y="4019550"/>
            <a:ext cx="7810500" cy="9525"/>
          </a:xfrm>
          <a:prstGeom xmlns:a="http://schemas.openxmlformats.org/drawingml/2006/main" prst="rect">
            <a:avLst/>
          </a:prstGeom>
          <a:solidFill xmlns:a="http://schemas.openxmlformats.org/drawingml/2006/main">
            <a:srgbClr val="4A335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D56E3DA-C9CF-42C7-8560-C06CA0BF55D0}"/>
              </a:ext>
            </a:extLst>
          </p:cNvPr>
          <p:cNvSpPr>
            <a:spLocks xmlns:a="http://schemas.openxmlformats.org/drawingml/2006/main" noGrp="1"/>
          </p:cNvSpPr>
          <p:nvPr/>
        </p:nvSpPr>
        <p:spPr>
          <a:xfrm xmlns:a="http://schemas.openxmlformats.org/drawingml/2006/main">
            <a:off x="819150" y="4219575"/>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850" b="1" i="0">
                <a:solidFill>
                  <a:srgbClr val="C9B6FF"/>
                </a:solidFill>
                <a:latin typeface="Courier New"/>
                <a:ea typeface="Courier New"/>
                <a:cs typeface="Courier New"/>
              </a:defRPr>
            </a:pPr>
            <a:r>
              <a:rPr sz="2850" b="1" i="0">
                <a:solidFill>
                  <a:srgbClr val="C9B6FF"/>
                </a:solidFill>
                <a:latin typeface="Courier New"/>
                <a:ea typeface="Courier New"/>
                <a:cs typeface="Courier New"/>
              </a:rPr>
              <a:t>/var</a:t>
            </a:r>
          </a:p>
        </p:txBody>
      </p:sp>
      <p:sp>
        <p:nvSpPr>
          <p:cNvPr id="16" name="">
            <a:extLst xmlns:a="http://schemas.openxmlformats.org/drawingml/2006/main">
              <a:ext uri="{FF2B5EF4-FFF2-40B4-BE49-F238E27FC236}">
                <a16:creationId xmlns:a16="http://schemas.microsoft.com/office/drawing/2014/main" id="{8673AB08-2F74-42C1-B715-E5CFDDB20D97}"/>
              </a:ext>
            </a:extLst>
          </p:cNvPr>
          <p:cNvSpPr>
            <a:spLocks xmlns:a="http://schemas.openxmlformats.org/drawingml/2006/main" noGrp="1"/>
          </p:cNvSpPr>
          <p:nvPr/>
        </p:nvSpPr>
        <p:spPr>
          <a:xfrm xmlns:a="http://schemas.openxmlformats.org/drawingml/2006/main">
            <a:off x="2857500" y="4305300"/>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800" b="0" i="0">
                <a:solidFill>
                  <a:srgbClr val="FFF8EE"/>
                </a:solidFill>
                <a:latin typeface="Aptos"/>
                <a:ea typeface="Aptos"/>
                <a:cs typeface="Aptos"/>
              </a:defRPr>
            </a:pPr>
            <a:r>
              <a:rPr sz="1800" b="0" i="0">
                <a:solidFill>
                  <a:srgbClr val="FFF8EE"/>
                </a:solidFill>
                <a:latin typeface="Aptos"/>
                <a:ea typeface="Aptos"/>
                <a:cs typeface="Aptos"/>
              </a:rPr>
              <a:t>changing data: logs, caches, queues</a:t>
            </a:r>
          </a:p>
        </p:txBody>
      </p:sp>
      <p:sp>
        <p:nvSpPr>
          <p:cNvPr id="17" name="">
            <a:extLst xmlns:a="http://schemas.openxmlformats.org/drawingml/2006/main">
              <a:ext uri="{FF2B5EF4-FFF2-40B4-BE49-F238E27FC236}">
                <a16:creationId xmlns:a16="http://schemas.microsoft.com/office/drawing/2014/main" id="{A5725446-D624-445B-9F32-ADF327A9B2FF}"/>
              </a:ext>
            </a:extLst>
          </p:cNvPr>
          <p:cNvSpPr>
            <a:spLocks xmlns:a="http://schemas.openxmlformats.org/drawingml/2006/main" noGrp="1"/>
          </p:cNvSpPr>
          <p:nvPr/>
        </p:nvSpPr>
        <p:spPr>
          <a:xfrm xmlns:a="http://schemas.openxmlformats.org/drawingml/2006/main">
            <a:off x="2857500" y="4838700"/>
            <a:ext cx="7810500" cy="9525"/>
          </a:xfrm>
          <a:prstGeom xmlns:a="http://schemas.openxmlformats.org/drawingml/2006/main" prst="rect">
            <a:avLst/>
          </a:prstGeom>
          <a:solidFill xmlns:a="http://schemas.openxmlformats.org/drawingml/2006/main">
            <a:srgbClr val="4A335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19205F8-44A1-4885-B86C-3425DBD6FE25}"/>
              </a:ext>
            </a:extLst>
          </p:cNvPr>
          <p:cNvSpPr>
            <a:spLocks xmlns:a="http://schemas.openxmlformats.org/drawingml/2006/main" noGrp="1"/>
          </p:cNvSpPr>
          <p:nvPr/>
        </p:nvSpPr>
        <p:spPr>
          <a:xfrm xmlns:a="http://schemas.openxmlformats.org/drawingml/2006/main">
            <a:off x="819150" y="5038725"/>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850" b="1" i="0">
                <a:solidFill>
                  <a:srgbClr val="C9B6FF"/>
                </a:solidFill>
                <a:latin typeface="Courier New"/>
                <a:ea typeface="Courier New"/>
                <a:cs typeface="Courier New"/>
              </a:defRPr>
            </a:pPr>
            <a:r>
              <a:rPr sz="2850" b="1" i="0">
                <a:solidFill>
                  <a:srgbClr val="C9B6FF"/>
                </a:solidFill>
                <a:latin typeface="Courier New"/>
                <a:ea typeface="Courier New"/>
                <a:cs typeface="Courier New"/>
              </a:rPr>
              <a:t>/usr</a:t>
            </a:r>
          </a:p>
        </p:txBody>
      </p:sp>
      <p:sp>
        <p:nvSpPr>
          <p:cNvPr id="19" name="">
            <a:extLst xmlns:a="http://schemas.openxmlformats.org/drawingml/2006/main">
              <a:ext uri="{FF2B5EF4-FFF2-40B4-BE49-F238E27FC236}">
                <a16:creationId xmlns:a16="http://schemas.microsoft.com/office/drawing/2014/main" id="{DA706470-D14F-4F3E-A6F5-2C3BCF06E134}"/>
              </a:ext>
            </a:extLst>
          </p:cNvPr>
          <p:cNvSpPr>
            <a:spLocks xmlns:a="http://schemas.openxmlformats.org/drawingml/2006/main" noGrp="1"/>
          </p:cNvSpPr>
          <p:nvPr/>
        </p:nvSpPr>
        <p:spPr>
          <a:xfrm xmlns:a="http://schemas.openxmlformats.org/drawingml/2006/main">
            <a:off x="2857500" y="5124450"/>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800" b="0" i="0">
                <a:solidFill>
                  <a:srgbClr val="FFF8EE"/>
                </a:solidFill>
                <a:latin typeface="Aptos"/>
                <a:ea typeface="Aptos"/>
                <a:cs typeface="Aptos"/>
              </a:defRPr>
            </a:pPr>
            <a:r>
              <a:rPr sz="1800" b="0" i="0">
                <a:solidFill>
                  <a:srgbClr val="FFF8EE"/>
                </a:solidFill>
                <a:latin typeface="Aptos"/>
                <a:ea typeface="Aptos"/>
                <a:cs typeface="Aptos"/>
              </a:rPr>
              <a:t>installed programs, libraries, shared data</a:t>
            </a:r>
          </a:p>
        </p:txBody>
      </p:sp>
    </p:spTree>
    <p:extLst>
      <p:ext uri="{BB962C8B-B14F-4D97-AF65-F5344CB8AC3E}">
        <p14:creationId xmlns:p14="http://schemas.microsoft.com/office/powerpoint/2010/main" val="1018217464"/>
      </p:ext>
    </p:extLst>
  </p:cSld>
</p:sld>
</file>

<file path=ppt/slides/slide8.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CC5768E-45BE-41F0-B539-1072BB5C3F55}"/>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FILESYSTEM</a:t>
            </a:r>
          </a:p>
        </p:txBody>
      </p:sp>
      <p:sp>
        <p:nvSpPr>
          <p:cNvPr id="2" name="">
            <a:extLst xmlns:a="http://schemas.openxmlformats.org/drawingml/2006/main">
              <a:ext uri="{FF2B5EF4-FFF2-40B4-BE49-F238E27FC236}">
                <a16:creationId xmlns:a16="http://schemas.microsoft.com/office/drawing/2014/main" id="{67086554-197A-4FF7-A820-2F233BF52FE6}"/>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0981"/>
          </a:bodyPr>
          <a:lstStyle xmlns:a="http://schemas.openxmlformats.org/drawingml/2006/main"/>
          <a:p xmlns:a="http://schemas.openxmlformats.org/drawingml/2006/main">
            <a:pPr algn="l">
              <a:lnSpc>
                <a:spcPct val="94000"/>
              </a:lnSpc>
              <a:buNone/>
              <a:defRPr sz="3750" b="1" i="0">
                <a:solidFill>
                  <a:srgbClr val="160B20"/>
                </a:solidFill>
                <a:latin typeface="Aptos"/>
                <a:ea typeface="Aptos"/>
                <a:cs typeface="Aptos"/>
              </a:defRPr>
            </a:pPr>
            <a:r>
              <a:rPr sz="3750" b="1" i="0">
                <a:solidFill>
                  <a:srgbClr val="160B20"/>
                </a:solidFill>
                <a:latin typeface="Aptos"/>
                <a:ea typeface="Aptos"/>
                <a:cs typeface="Aptos"/>
              </a:rPr>
              <a:t>Paths are coordinates; your working directory is the origin</a:t>
            </a:r>
          </a:p>
        </p:txBody>
      </p:sp>
      <p:sp>
        <p:nvSpPr>
          <p:cNvPr id="3" name="">
            <a:extLst xmlns:a="http://schemas.openxmlformats.org/drawingml/2006/main">
              <a:ext uri="{FF2B5EF4-FFF2-40B4-BE49-F238E27FC236}">
                <a16:creationId xmlns:a16="http://schemas.microsoft.com/office/drawing/2014/main" id="{2FE6E035-9B4C-404A-8BF9-EE20C98A3B2C}"/>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E7DC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AC941DF-DA7B-4EB5-9303-8C9E63C135EE}"/>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6F6277"/>
                </a:solidFill>
                <a:latin typeface="Aptos"/>
                <a:ea typeface="Aptos"/>
                <a:cs typeface="Aptos"/>
              </a:defRPr>
            </a:pPr>
            <a:r>
              <a:rPr sz="900" b="1" i="0">
                <a:solidFill>
                  <a:srgbClr val="6F6277"/>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D09B0D4B-1F03-464F-A167-63296133DF80}"/>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8B5CF6"/>
                </a:solidFill>
                <a:latin typeface="Aptos"/>
                <a:ea typeface="Aptos"/>
                <a:cs typeface="Aptos"/>
              </a:defRPr>
            </a:pPr>
            <a:r>
              <a:rPr sz="1050" b="1" i="0">
                <a:solidFill>
                  <a:srgbClr val="8B5CF6"/>
                </a:solidFill>
                <a:latin typeface="Aptos"/>
                <a:ea typeface="Aptos"/>
                <a:cs typeface="Aptos"/>
              </a:rPr>
              <a:t>08</a:t>
            </a:r>
          </a:p>
        </p:txBody>
      </p:sp>
      <p:sp>
        <p:nvSpPr>
          <p:cNvPr id="6" name="">
            <a:extLst xmlns:a="http://schemas.openxmlformats.org/drawingml/2006/main">
              <a:ext uri="{FF2B5EF4-FFF2-40B4-BE49-F238E27FC236}">
                <a16:creationId xmlns:a16="http://schemas.microsoft.com/office/drawing/2014/main" id="{C4F5740A-02D3-46A0-9699-235184023C1F}"/>
              </a:ext>
            </a:extLst>
          </p:cNvPr>
          <p:cNvSpPr>
            <a:spLocks xmlns:a="http://schemas.openxmlformats.org/drawingml/2006/main" noGrp="1"/>
          </p:cNvSpPr>
          <p:nvPr/>
        </p:nvSpPr>
        <p:spPr>
          <a:xfrm xmlns:a="http://schemas.openxmlformats.org/drawingml/2006/main">
            <a:off x="800100" y="18288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125" b="1" i="0">
                <a:solidFill>
                  <a:srgbClr val="FF6B4A"/>
                </a:solidFill>
                <a:latin typeface="Aptos"/>
                <a:ea typeface="Aptos"/>
                <a:cs typeface="Aptos"/>
              </a:defRPr>
            </a:pPr>
            <a:r>
              <a:rPr sz="1125" b="1" i="0">
                <a:solidFill>
                  <a:srgbClr val="FF6B4A"/>
                </a:solidFill>
                <a:latin typeface="Aptos"/>
                <a:ea typeface="Aptos"/>
                <a:cs typeface="Aptos"/>
              </a:rPr>
              <a:t>ABSOLUTE</a:t>
            </a:r>
          </a:p>
        </p:txBody>
      </p:sp>
      <p:sp>
        <p:nvSpPr>
          <p:cNvPr id="7" name="">
            <a:extLst xmlns:a="http://schemas.openxmlformats.org/drawingml/2006/main">
              <a:ext uri="{FF2B5EF4-FFF2-40B4-BE49-F238E27FC236}">
                <a16:creationId xmlns:a16="http://schemas.microsoft.com/office/drawing/2014/main" id="{B293A1B5-A92E-4BF4-B61E-07406452A339}"/>
              </a:ext>
            </a:extLst>
          </p:cNvPr>
          <p:cNvSpPr>
            <a:spLocks xmlns:a="http://schemas.openxmlformats.org/drawingml/2006/main" noGrp="1"/>
          </p:cNvSpPr>
          <p:nvPr/>
        </p:nvSpPr>
        <p:spPr>
          <a:xfrm xmlns:a="http://schemas.openxmlformats.org/drawingml/2006/main">
            <a:off x="800100" y="2238375"/>
            <a:ext cx="4762500" cy="1428750"/>
          </a:xfrm>
          <a:prstGeom xmlns:a="http://schemas.openxmlformats.org/drawingml/2006/main" prst="roundRect">
            <a:avLst>
              <a:gd name="adj" fmla="val 10667"/>
            </a:avLst>
          </a:prstGeom>
          <a:solidFill xmlns:a="http://schemas.openxmlformats.org/drawingml/2006/main">
            <a:srgbClr val="28183A"/>
          </a:solidFill>
          <a:ln xmlns:a="http://schemas.openxmlformats.org/drawingml/2006/main" w="9525">
            <a:solidFill>
              <a:srgbClr val="4A335D"/>
            </a:solidFill>
            <a:prstDash val="solid"/>
          </a:ln>
        </p:spPr>
      </p:sp>
      <p:sp>
        <p:nvSpPr>
          <p:cNvPr id="8" name="">
            <a:extLst xmlns:a="http://schemas.openxmlformats.org/drawingml/2006/main">
              <a:ext uri="{FF2B5EF4-FFF2-40B4-BE49-F238E27FC236}">
                <a16:creationId xmlns:a16="http://schemas.microsoft.com/office/drawing/2014/main" id="{D72EC62E-CA73-4AC0-853C-99CB22C21876}"/>
              </a:ext>
            </a:extLst>
          </p:cNvPr>
          <p:cNvSpPr>
            <a:spLocks xmlns:a="http://schemas.openxmlformats.org/drawingml/2006/main" noGrp="1"/>
          </p:cNvSpPr>
          <p:nvPr/>
        </p:nvSpPr>
        <p:spPr>
          <a:xfrm xmlns:a="http://schemas.openxmlformats.org/drawingml/2006/main">
            <a:off x="800100" y="2238375"/>
            <a:ext cx="4762500" cy="400050"/>
          </a:xfrm>
          <a:prstGeom xmlns:a="http://schemas.openxmlformats.org/drawingml/2006/main" prst="roundRect">
            <a:avLst>
              <a:gd name="adj" fmla="val 38095"/>
            </a:avLst>
          </a:prstGeom>
          <a:solidFill xmlns:a="http://schemas.openxmlformats.org/drawingml/2006/main">
            <a:srgbClr val="21122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B8632EA-168C-4CED-9D7D-0F7CFA23BADA}"/>
              </a:ext>
            </a:extLst>
          </p:cNvPr>
          <p:cNvSpPr>
            <a:spLocks xmlns:a="http://schemas.openxmlformats.org/drawingml/2006/main" noGrp="1"/>
          </p:cNvSpPr>
          <p:nvPr/>
        </p:nvSpPr>
        <p:spPr>
          <a:xfrm xmlns:a="http://schemas.openxmlformats.org/drawingml/2006/main">
            <a:off x="800100" y="2505075"/>
            <a:ext cx="4762500" cy="133350"/>
          </a:xfrm>
          <a:prstGeom xmlns:a="http://schemas.openxmlformats.org/drawingml/2006/main" prst="rect">
            <a:avLst/>
          </a:prstGeom>
          <a:solidFill xmlns:a="http://schemas.openxmlformats.org/drawingml/2006/main">
            <a:srgbClr val="21122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58493A0-0D8E-40E6-80E6-0543388FB4F7}"/>
              </a:ext>
            </a:extLst>
          </p:cNvPr>
          <p:cNvSpPr>
            <a:spLocks xmlns:a="http://schemas.openxmlformats.org/drawingml/2006/main" noGrp="1"/>
          </p:cNvSpPr>
          <p:nvPr/>
        </p:nvSpPr>
        <p:spPr>
          <a:xfrm xmlns:a="http://schemas.openxmlformats.org/drawingml/2006/main">
            <a:off x="971550" y="2390775"/>
            <a:ext cx="95250" cy="95250"/>
          </a:xfrm>
          <a:prstGeom xmlns:a="http://schemas.openxmlformats.org/drawingml/2006/main" prst="roundRect">
            <a:avLst>
              <a:gd name="adj" fmla="val 50000"/>
            </a:avLst>
          </a:prstGeom>
          <a:solidFill xmlns:a="http://schemas.openxmlformats.org/drawingml/2006/main">
            <a:srgbClr val="FF7B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AEAF90B-5BE5-40D3-938F-CACB66A24160}"/>
              </a:ext>
            </a:extLst>
          </p:cNvPr>
          <p:cNvSpPr>
            <a:spLocks xmlns:a="http://schemas.openxmlformats.org/drawingml/2006/main" noGrp="1"/>
          </p:cNvSpPr>
          <p:nvPr/>
        </p:nvSpPr>
        <p:spPr>
          <a:xfrm xmlns:a="http://schemas.openxmlformats.org/drawingml/2006/main">
            <a:off x="1143000" y="2390775"/>
            <a:ext cx="95250" cy="95250"/>
          </a:xfrm>
          <a:prstGeom xmlns:a="http://schemas.openxmlformats.org/drawingml/2006/main" prst="roundRect">
            <a:avLst>
              <a:gd name="adj" fmla="val 50000"/>
            </a:avLst>
          </a:prstGeom>
          <a:solidFill xmlns:a="http://schemas.openxmlformats.org/drawingml/2006/main">
            <a:srgbClr val="FFC66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C536AC3-7FF9-47F9-88C4-E41C6E54BC72}"/>
              </a:ext>
            </a:extLst>
          </p:cNvPr>
          <p:cNvSpPr>
            <a:spLocks xmlns:a="http://schemas.openxmlformats.org/drawingml/2006/main" noGrp="1"/>
          </p:cNvSpPr>
          <p:nvPr/>
        </p:nvSpPr>
        <p:spPr>
          <a:xfrm xmlns:a="http://schemas.openxmlformats.org/drawingml/2006/main">
            <a:off x="1314450" y="2390775"/>
            <a:ext cx="95250" cy="95250"/>
          </a:xfrm>
          <a:prstGeom xmlns:a="http://schemas.openxmlformats.org/drawingml/2006/main" prst="roundRect">
            <a:avLst>
              <a:gd name="adj" fmla="val 50000"/>
            </a:avLst>
          </a:prstGeom>
          <a:solidFill xmlns:a="http://schemas.openxmlformats.org/drawingml/2006/main">
            <a:srgbClr val="70D6A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C7D457F-7464-40C0-AF46-5AFA4F091ACD}"/>
              </a:ext>
            </a:extLst>
          </p:cNvPr>
          <p:cNvSpPr>
            <a:spLocks xmlns:a="http://schemas.openxmlformats.org/drawingml/2006/main" noGrp="1"/>
          </p:cNvSpPr>
          <p:nvPr/>
        </p:nvSpPr>
        <p:spPr>
          <a:xfrm xmlns:a="http://schemas.openxmlformats.org/drawingml/2006/main">
            <a:off x="1581150" y="2352675"/>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FF6B4A"/>
                </a:solidFill>
                <a:latin typeface="Aptos"/>
                <a:ea typeface="Aptos"/>
                <a:cs typeface="Aptos"/>
              </a:defRPr>
            </a:pPr>
            <a:r>
              <a:rPr sz="900" b="1" i="0">
                <a:solidFill>
                  <a:srgbClr val="FF6B4A"/>
                </a:solidFill>
                <a:latin typeface="Aptos"/>
                <a:ea typeface="Aptos"/>
                <a:cs typeface="Aptos"/>
              </a:rPr>
              <a:t>STARTS AT /</a:t>
            </a:r>
          </a:p>
        </p:txBody>
      </p:sp>
      <p:sp>
        <p:nvSpPr>
          <p:cNvPr id="14" name="">
            <a:extLst xmlns:a="http://schemas.openxmlformats.org/drawingml/2006/main">
              <a:ext uri="{FF2B5EF4-FFF2-40B4-BE49-F238E27FC236}">
                <a16:creationId xmlns:a16="http://schemas.microsoft.com/office/drawing/2014/main" id="{5757AA32-49CE-4508-8F40-5D929DDD8266}"/>
              </a:ext>
            </a:extLst>
          </p:cNvPr>
          <p:cNvSpPr>
            <a:spLocks xmlns:a="http://schemas.openxmlformats.org/drawingml/2006/main" noGrp="1"/>
          </p:cNvSpPr>
          <p:nvPr/>
        </p:nvSpPr>
        <p:spPr>
          <a:xfrm xmlns:a="http://schemas.openxmlformats.org/drawingml/2006/main">
            <a:off x="1028700" y="2809875"/>
            <a:ext cx="4305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/var/log/syslog</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/etc/ssh/sshd_config</a:t>
            </a:r>
          </a:p>
        </p:txBody>
      </p:sp>
      <p:sp>
        <p:nvSpPr>
          <p:cNvPr id="15" name="">
            <a:extLst xmlns:a="http://schemas.openxmlformats.org/drawingml/2006/main">
              <a:ext uri="{FF2B5EF4-FFF2-40B4-BE49-F238E27FC236}">
                <a16:creationId xmlns:a16="http://schemas.microsoft.com/office/drawing/2014/main" id="{DA2CA41D-B5B5-4EC2-AE36-D073541D80D8}"/>
              </a:ext>
            </a:extLst>
          </p:cNvPr>
          <p:cNvSpPr>
            <a:spLocks xmlns:a="http://schemas.openxmlformats.org/drawingml/2006/main" noGrp="1"/>
          </p:cNvSpPr>
          <p:nvPr/>
        </p:nvSpPr>
        <p:spPr>
          <a:xfrm xmlns:a="http://schemas.openxmlformats.org/drawingml/2006/main">
            <a:off x="800100" y="3886200"/>
            <a:ext cx="476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i="0">
                <a:solidFill>
                  <a:srgbClr val="514658"/>
                </a:solidFill>
                <a:latin typeface="Aptos"/>
                <a:ea typeface="Aptos"/>
                <a:cs typeface="Aptos"/>
              </a:defRPr>
            </a:pPr>
            <a:r>
              <a:rPr sz="1650" b="0" i="0">
                <a:solidFill>
                  <a:srgbClr val="514658"/>
                </a:solidFill>
                <a:latin typeface="Aptos"/>
                <a:ea typeface="Aptos"/>
                <a:cs typeface="Aptos"/>
              </a:rPr>
              <a:t>Works from anywhere because it begins at the root.</a:t>
            </a:r>
          </a:p>
        </p:txBody>
      </p:sp>
      <p:sp>
        <p:nvSpPr>
          <p:cNvPr id="16" name="">
            <a:extLst xmlns:a="http://schemas.openxmlformats.org/drawingml/2006/main">
              <a:ext uri="{FF2B5EF4-FFF2-40B4-BE49-F238E27FC236}">
                <a16:creationId xmlns:a16="http://schemas.microsoft.com/office/drawing/2014/main" id="{7D9B4C44-6B35-4F7A-A9FB-1DC868590F6E}"/>
              </a:ext>
            </a:extLst>
          </p:cNvPr>
          <p:cNvSpPr>
            <a:spLocks xmlns:a="http://schemas.openxmlformats.org/drawingml/2006/main" noGrp="1"/>
          </p:cNvSpPr>
          <p:nvPr/>
        </p:nvSpPr>
        <p:spPr>
          <a:xfrm xmlns:a="http://schemas.openxmlformats.org/drawingml/2006/main">
            <a:off x="6629400" y="18288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125" b="1" i="0">
                <a:solidFill>
                  <a:srgbClr val="8B5CF6"/>
                </a:solidFill>
                <a:latin typeface="Aptos"/>
                <a:ea typeface="Aptos"/>
                <a:cs typeface="Aptos"/>
              </a:defRPr>
            </a:pPr>
            <a:r>
              <a:rPr sz="1125" b="1" i="0">
                <a:solidFill>
                  <a:srgbClr val="8B5CF6"/>
                </a:solidFill>
                <a:latin typeface="Aptos"/>
                <a:ea typeface="Aptos"/>
                <a:cs typeface="Aptos"/>
              </a:rPr>
              <a:t>RELATIVE</a:t>
            </a:r>
          </a:p>
        </p:txBody>
      </p:sp>
      <p:sp>
        <p:nvSpPr>
          <p:cNvPr id="17" name="">
            <a:extLst xmlns:a="http://schemas.openxmlformats.org/drawingml/2006/main">
              <a:ext uri="{FF2B5EF4-FFF2-40B4-BE49-F238E27FC236}">
                <a16:creationId xmlns:a16="http://schemas.microsoft.com/office/drawing/2014/main" id="{CF0F774C-3ACB-449E-B2AF-551A0404D266}"/>
              </a:ext>
            </a:extLst>
          </p:cNvPr>
          <p:cNvSpPr>
            <a:spLocks xmlns:a="http://schemas.openxmlformats.org/drawingml/2006/main" noGrp="1"/>
          </p:cNvSpPr>
          <p:nvPr/>
        </p:nvSpPr>
        <p:spPr>
          <a:xfrm xmlns:a="http://schemas.openxmlformats.org/drawingml/2006/main">
            <a:off x="6629400" y="2238375"/>
            <a:ext cx="4762500" cy="1428750"/>
          </a:xfrm>
          <a:prstGeom xmlns:a="http://schemas.openxmlformats.org/drawingml/2006/main" prst="roundRect">
            <a:avLst>
              <a:gd name="adj" fmla="val 10667"/>
            </a:avLst>
          </a:prstGeom>
          <a:solidFill xmlns:a="http://schemas.openxmlformats.org/drawingml/2006/main">
            <a:srgbClr val="28183A"/>
          </a:solidFill>
          <a:ln xmlns:a="http://schemas.openxmlformats.org/drawingml/2006/main" w="9525">
            <a:solidFill>
              <a:srgbClr val="4A335D"/>
            </a:solidFill>
            <a:prstDash val="solid"/>
          </a:ln>
        </p:spPr>
      </p:sp>
      <p:sp>
        <p:nvSpPr>
          <p:cNvPr id="18" name="">
            <a:extLst xmlns:a="http://schemas.openxmlformats.org/drawingml/2006/main">
              <a:ext uri="{FF2B5EF4-FFF2-40B4-BE49-F238E27FC236}">
                <a16:creationId xmlns:a16="http://schemas.microsoft.com/office/drawing/2014/main" id="{3A628D2D-90D8-4BB6-BEE8-51306E5198D8}"/>
              </a:ext>
            </a:extLst>
          </p:cNvPr>
          <p:cNvSpPr>
            <a:spLocks xmlns:a="http://schemas.openxmlformats.org/drawingml/2006/main" noGrp="1"/>
          </p:cNvSpPr>
          <p:nvPr/>
        </p:nvSpPr>
        <p:spPr>
          <a:xfrm xmlns:a="http://schemas.openxmlformats.org/drawingml/2006/main">
            <a:off x="6629400" y="2238375"/>
            <a:ext cx="4762500" cy="400050"/>
          </a:xfrm>
          <a:prstGeom xmlns:a="http://schemas.openxmlformats.org/drawingml/2006/main" prst="roundRect">
            <a:avLst>
              <a:gd name="adj" fmla="val 38095"/>
            </a:avLst>
          </a:prstGeom>
          <a:solidFill xmlns:a="http://schemas.openxmlformats.org/drawingml/2006/main">
            <a:srgbClr val="21122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92150E5-3D4A-43D3-8768-B3D1AC1F6B4F}"/>
              </a:ext>
            </a:extLst>
          </p:cNvPr>
          <p:cNvSpPr>
            <a:spLocks xmlns:a="http://schemas.openxmlformats.org/drawingml/2006/main" noGrp="1"/>
          </p:cNvSpPr>
          <p:nvPr/>
        </p:nvSpPr>
        <p:spPr>
          <a:xfrm xmlns:a="http://schemas.openxmlformats.org/drawingml/2006/main">
            <a:off x="6629400" y="2505075"/>
            <a:ext cx="4762500" cy="133350"/>
          </a:xfrm>
          <a:prstGeom xmlns:a="http://schemas.openxmlformats.org/drawingml/2006/main" prst="rect">
            <a:avLst/>
          </a:prstGeom>
          <a:solidFill xmlns:a="http://schemas.openxmlformats.org/drawingml/2006/main">
            <a:srgbClr val="21122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0E8506D-19FB-4C70-A2CC-8561DCD87BC1}"/>
              </a:ext>
            </a:extLst>
          </p:cNvPr>
          <p:cNvSpPr>
            <a:spLocks xmlns:a="http://schemas.openxmlformats.org/drawingml/2006/main" noGrp="1"/>
          </p:cNvSpPr>
          <p:nvPr/>
        </p:nvSpPr>
        <p:spPr>
          <a:xfrm xmlns:a="http://schemas.openxmlformats.org/drawingml/2006/main">
            <a:off x="6800850" y="2390775"/>
            <a:ext cx="95250" cy="95250"/>
          </a:xfrm>
          <a:prstGeom xmlns:a="http://schemas.openxmlformats.org/drawingml/2006/main" prst="roundRect">
            <a:avLst>
              <a:gd name="adj" fmla="val 50000"/>
            </a:avLst>
          </a:prstGeom>
          <a:solidFill xmlns:a="http://schemas.openxmlformats.org/drawingml/2006/main">
            <a:srgbClr val="FF7B7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75F0F48-468F-4446-81A3-B51CB1D2E630}"/>
              </a:ext>
            </a:extLst>
          </p:cNvPr>
          <p:cNvSpPr>
            <a:spLocks xmlns:a="http://schemas.openxmlformats.org/drawingml/2006/main" noGrp="1"/>
          </p:cNvSpPr>
          <p:nvPr/>
        </p:nvSpPr>
        <p:spPr>
          <a:xfrm xmlns:a="http://schemas.openxmlformats.org/drawingml/2006/main">
            <a:off x="6972300" y="2390775"/>
            <a:ext cx="95250" cy="95250"/>
          </a:xfrm>
          <a:prstGeom xmlns:a="http://schemas.openxmlformats.org/drawingml/2006/main" prst="roundRect">
            <a:avLst>
              <a:gd name="adj" fmla="val 50000"/>
            </a:avLst>
          </a:prstGeom>
          <a:solidFill xmlns:a="http://schemas.openxmlformats.org/drawingml/2006/main">
            <a:srgbClr val="FFC66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4CF8A68-86A9-44D8-A0DF-DBAE68A7F5A3}"/>
              </a:ext>
            </a:extLst>
          </p:cNvPr>
          <p:cNvSpPr>
            <a:spLocks xmlns:a="http://schemas.openxmlformats.org/drawingml/2006/main" noGrp="1"/>
          </p:cNvSpPr>
          <p:nvPr/>
        </p:nvSpPr>
        <p:spPr>
          <a:xfrm xmlns:a="http://schemas.openxmlformats.org/drawingml/2006/main">
            <a:off x="7143750" y="2390775"/>
            <a:ext cx="95250" cy="95250"/>
          </a:xfrm>
          <a:prstGeom xmlns:a="http://schemas.openxmlformats.org/drawingml/2006/main" prst="roundRect">
            <a:avLst>
              <a:gd name="adj" fmla="val 50000"/>
            </a:avLst>
          </a:prstGeom>
          <a:solidFill xmlns:a="http://schemas.openxmlformats.org/drawingml/2006/main">
            <a:srgbClr val="70D6A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0551AED-C225-436D-A0F2-ED717F590AED}"/>
              </a:ext>
            </a:extLst>
          </p:cNvPr>
          <p:cNvSpPr>
            <a:spLocks xmlns:a="http://schemas.openxmlformats.org/drawingml/2006/main" noGrp="1"/>
          </p:cNvSpPr>
          <p:nvPr/>
        </p:nvSpPr>
        <p:spPr>
          <a:xfrm xmlns:a="http://schemas.openxmlformats.org/drawingml/2006/main">
            <a:off x="7410450" y="2352675"/>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8B5CF6"/>
                </a:solidFill>
                <a:latin typeface="Aptos"/>
                <a:ea typeface="Aptos"/>
                <a:cs typeface="Aptos"/>
              </a:defRPr>
            </a:pPr>
            <a:r>
              <a:rPr sz="900" b="1" i="0">
                <a:solidFill>
                  <a:srgbClr val="8B5CF6"/>
                </a:solidFill>
                <a:latin typeface="Aptos"/>
                <a:ea typeface="Aptos"/>
                <a:cs typeface="Aptos"/>
              </a:rPr>
              <a:t>STARTS AT pwd</a:t>
            </a:r>
          </a:p>
        </p:txBody>
      </p:sp>
      <p:sp>
        <p:nvSpPr>
          <p:cNvPr id="24" name="">
            <a:extLst xmlns:a="http://schemas.openxmlformats.org/drawingml/2006/main">
              <a:ext uri="{FF2B5EF4-FFF2-40B4-BE49-F238E27FC236}">
                <a16:creationId xmlns:a16="http://schemas.microsoft.com/office/drawing/2014/main" id="{545E76AD-DEBA-415B-8C4E-D2054B5B26B1}"/>
              </a:ext>
            </a:extLst>
          </p:cNvPr>
          <p:cNvSpPr>
            <a:spLocks xmlns:a="http://schemas.openxmlformats.org/drawingml/2006/main" noGrp="1"/>
          </p:cNvSpPr>
          <p:nvPr/>
        </p:nvSpPr>
        <p:spPr>
          <a:xfrm xmlns:a="http://schemas.openxmlformats.org/drawingml/2006/main">
            <a:off x="6858000" y="2809875"/>
            <a:ext cx="4305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../archive/report.txt</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./scripts/check.sh</a:t>
            </a:r>
          </a:p>
        </p:txBody>
      </p:sp>
      <p:sp>
        <p:nvSpPr>
          <p:cNvPr id="25" name="">
            <a:extLst xmlns:a="http://schemas.openxmlformats.org/drawingml/2006/main">
              <a:ext uri="{FF2B5EF4-FFF2-40B4-BE49-F238E27FC236}">
                <a16:creationId xmlns:a16="http://schemas.microsoft.com/office/drawing/2014/main" id="{30713A14-539B-4595-B4D0-294A2D581E3E}"/>
              </a:ext>
            </a:extLst>
          </p:cNvPr>
          <p:cNvSpPr>
            <a:spLocks xmlns:a="http://schemas.openxmlformats.org/drawingml/2006/main" noGrp="1"/>
          </p:cNvSpPr>
          <p:nvPr/>
        </p:nvSpPr>
        <p:spPr>
          <a:xfrm xmlns:a="http://schemas.openxmlformats.org/drawingml/2006/main">
            <a:off x="6629400" y="3886200"/>
            <a:ext cx="476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i="0">
                <a:solidFill>
                  <a:srgbClr val="514658"/>
                </a:solidFill>
                <a:latin typeface="Aptos"/>
                <a:ea typeface="Aptos"/>
                <a:cs typeface="Aptos"/>
              </a:defRPr>
            </a:pPr>
            <a:r>
              <a:rPr sz="1650" b="0" i="0">
                <a:solidFill>
                  <a:srgbClr val="514658"/>
                </a:solidFill>
                <a:latin typeface="Aptos"/>
                <a:ea typeface="Aptos"/>
                <a:cs typeface="Aptos"/>
              </a:rPr>
              <a:t>Meaning changes when your working directory changes.</a:t>
            </a:r>
          </a:p>
        </p:txBody>
      </p:sp>
      <p:sp>
        <p:nvSpPr>
          <p:cNvPr id="26" name="">
            <a:extLst xmlns:a="http://schemas.openxmlformats.org/drawingml/2006/main">
              <a:ext uri="{FF2B5EF4-FFF2-40B4-BE49-F238E27FC236}">
                <a16:creationId xmlns:a16="http://schemas.microsoft.com/office/drawing/2014/main" id="{3492CAE8-C60A-4AA9-B289-84B66A75A25A}"/>
              </a:ext>
            </a:extLst>
          </p:cNvPr>
          <p:cNvSpPr>
            <a:spLocks xmlns:a="http://schemas.openxmlformats.org/drawingml/2006/main" noGrp="1"/>
          </p:cNvSpPr>
          <p:nvPr/>
        </p:nvSpPr>
        <p:spPr>
          <a:xfrm xmlns:a="http://schemas.openxmlformats.org/drawingml/2006/main">
            <a:off x="800100" y="4953000"/>
            <a:ext cx="10591800" cy="704850"/>
          </a:xfrm>
          <a:prstGeom xmlns:a="http://schemas.openxmlformats.org/drawingml/2006/main" prst="roundRect">
            <a:avLst>
              <a:gd name="adj" fmla="val 10811"/>
            </a:avLst>
          </a:prstGeom>
          <a:solidFill xmlns:a="http://schemas.openxmlformats.org/drawingml/2006/main">
            <a:srgbClr val="EEE4F3"/>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D5E2258-4AB1-4050-BA67-A9CEEDC12658}"/>
              </a:ext>
            </a:extLst>
          </p:cNvPr>
          <p:cNvSpPr>
            <a:spLocks xmlns:a="http://schemas.openxmlformats.org/drawingml/2006/main" noGrp="1"/>
          </p:cNvSpPr>
          <p:nvPr/>
        </p:nvSpPr>
        <p:spPr>
          <a:xfrm xmlns:a="http://schemas.openxmlformats.org/drawingml/2006/main">
            <a:off x="1066800" y="5162550"/>
            <a:ext cx="10058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875" b="1" i="0">
                <a:solidFill>
                  <a:srgbClr val="160B20"/>
                </a:solidFill>
                <a:latin typeface="Aptos"/>
                <a:ea typeface="Aptos"/>
                <a:cs typeface="Aptos"/>
              </a:defRPr>
            </a:pPr>
            <a:r>
              <a:rPr sz="1875" b="1" i="0">
                <a:solidFill>
                  <a:srgbClr val="160B20"/>
                </a:solidFill>
                <a:latin typeface="Aptos"/>
                <a:ea typeface="Aptos"/>
                <a:cs typeface="Aptos"/>
              </a:rPr>
              <a:t>Safety check: pwd → inspect the target → change it → verify the result</a:t>
            </a:r>
          </a:p>
        </p:txBody>
      </p:sp>
    </p:spTree>
    <p:extLst>
      <p:ext uri="{BB962C8B-B14F-4D97-AF65-F5344CB8AC3E}">
        <p14:creationId xmlns:p14="http://schemas.microsoft.com/office/powerpoint/2010/main" val="1478727912"/>
      </p:ext>
    </p:extLst>
  </p:cSld>
</p:sld>
</file>

<file path=ppt/slides/slide9.xml><?xml version="1.0" encoding="utf-8"?>
<p:sld xmlns:p="http://schemas.openxmlformats.org/presentationml/2006/main">
  <p:cSld>
    <p:bg>
      <p:bgPr>
        <a:solidFill xmlns:a="http://schemas.openxmlformats.org/drawingml/2006/main">
          <a:srgbClr val="180D24"/>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A5F9742-359C-4FFC-AD91-47EC4D25DBAB}"/>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TERMINAL</a:t>
            </a:r>
          </a:p>
        </p:txBody>
      </p:sp>
      <p:sp>
        <p:nvSpPr>
          <p:cNvPr id="2" name="">
            <a:extLst xmlns:a="http://schemas.openxmlformats.org/drawingml/2006/main">
              <a:ext uri="{FF2B5EF4-FFF2-40B4-BE49-F238E27FC236}">
                <a16:creationId xmlns:a16="http://schemas.microsoft.com/office/drawing/2014/main" id="{DCDB1276-51BA-43DE-8EFC-8323B800A2C6}"/>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8EE"/>
                </a:solidFill>
                <a:latin typeface="Aptos"/>
                <a:ea typeface="Aptos"/>
                <a:cs typeface="Aptos"/>
              </a:defRPr>
            </a:pPr>
            <a:r>
              <a:rPr sz="3750" b="1" i="0">
                <a:solidFill>
                  <a:srgbClr val="FFF8EE"/>
                </a:solidFill>
                <a:latin typeface="Aptos"/>
                <a:ea typeface="Aptos"/>
                <a:cs typeface="Aptos"/>
              </a:rPr>
              <a:t>The shell turns text into a process request</a:t>
            </a:r>
          </a:p>
        </p:txBody>
      </p:sp>
      <p:sp>
        <p:nvSpPr>
          <p:cNvPr id="3" name="">
            <a:extLst xmlns:a="http://schemas.openxmlformats.org/drawingml/2006/main">
              <a:ext uri="{FF2B5EF4-FFF2-40B4-BE49-F238E27FC236}">
                <a16:creationId xmlns:a16="http://schemas.microsoft.com/office/drawing/2014/main" id="{F56A2CA0-EF8B-4300-9B96-A407676B2EBE}"/>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3520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BD3EF29-8B75-4333-93CE-009E910679F8}"/>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BFAFCB"/>
                </a:solidFill>
                <a:latin typeface="Aptos"/>
                <a:ea typeface="Aptos"/>
                <a:cs typeface="Aptos"/>
              </a:defRPr>
            </a:pPr>
            <a:r>
              <a:rPr sz="900" b="1" i="0">
                <a:solidFill>
                  <a:srgbClr val="BFAFCB"/>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EA2F31A0-A7E2-4CD4-8C05-5AA793EE77E2}"/>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C9B6FF"/>
                </a:solidFill>
                <a:latin typeface="Aptos"/>
                <a:ea typeface="Aptos"/>
                <a:cs typeface="Aptos"/>
              </a:defRPr>
            </a:pPr>
            <a:r>
              <a:rPr sz="1050" b="1" i="0">
                <a:solidFill>
                  <a:srgbClr val="C9B6FF"/>
                </a:solidFill>
                <a:latin typeface="Aptos"/>
                <a:ea typeface="Aptos"/>
                <a:cs typeface="Aptos"/>
              </a:rPr>
              <a:t>09</a:t>
            </a:r>
          </a:p>
        </p:txBody>
      </p:sp>
      <p:sp>
        <p:nvSpPr>
          <p:cNvPr id="6" name="">
            <a:extLst xmlns:a="http://schemas.openxmlformats.org/drawingml/2006/main">
              <a:ext uri="{FF2B5EF4-FFF2-40B4-BE49-F238E27FC236}">
                <a16:creationId xmlns:a16="http://schemas.microsoft.com/office/drawing/2014/main" id="{3465DE98-D2FE-4BBB-9512-8523D1BA9990}"/>
              </a:ext>
            </a:extLst>
          </p:cNvPr>
          <p:cNvSpPr>
            <a:spLocks xmlns:a="http://schemas.openxmlformats.org/drawingml/2006/main" noGrp="1"/>
          </p:cNvSpPr>
          <p:nvPr/>
        </p:nvSpPr>
        <p:spPr>
          <a:xfrm xmlns:a="http://schemas.openxmlformats.org/drawingml/2006/main">
            <a:off x="762000" y="1809750"/>
            <a:ext cx="10668000" cy="1143000"/>
          </a:xfrm>
          <a:prstGeom xmlns:a="http://schemas.openxmlformats.org/drawingml/2006/main" prst="roundRect">
            <a:avLst>
              <a:gd name="adj" fmla="val 13333"/>
            </a:avLst>
          </a:prstGeom>
          <a:solidFill xmlns:a="http://schemas.openxmlformats.org/drawingml/2006/main">
            <a:srgbClr val="28183A"/>
          </a:solidFill>
          <a:ln xmlns:a="http://schemas.openxmlformats.org/drawingml/2006/main" w="9525">
            <a:solidFill>
              <a:srgbClr val="4A335D"/>
            </a:solidFill>
            <a:prstDash val="solid"/>
          </a:ln>
        </p:spPr>
      </p:sp>
      <p:sp>
        <p:nvSpPr>
          <p:cNvPr id="7" name="">
            <a:extLst xmlns:a="http://schemas.openxmlformats.org/drawingml/2006/main">
              <a:ext uri="{FF2B5EF4-FFF2-40B4-BE49-F238E27FC236}">
                <a16:creationId xmlns:a16="http://schemas.microsoft.com/office/drawing/2014/main" id="{3CA94744-DF89-4990-8028-4C5F00BE7032}"/>
              </a:ext>
            </a:extLst>
          </p:cNvPr>
          <p:cNvSpPr>
            <a:spLocks xmlns:a="http://schemas.openxmlformats.org/drawingml/2006/main" noGrp="1"/>
          </p:cNvSpPr>
          <p:nvPr/>
        </p:nvSpPr>
        <p:spPr>
          <a:xfrm xmlns:a="http://schemas.openxmlformats.org/drawingml/2006/main">
            <a:off x="762000" y="1809750"/>
            <a:ext cx="10668000" cy="400050"/>
          </a:xfrm>
          <a:prstGeom xmlns:a="http://schemas.openxmlformats.org/drawingml/2006/main" prst="roundRect">
            <a:avLst>
              <a:gd name="adj" fmla="val 38095"/>
            </a:avLst>
          </a:prstGeom>
          <a:solidFill xmlns:a="http://schemas.openxmlformats.org/drawingml/2006/main">
            <a:srgbClr val="21122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CDD752E-4B15-4A4A-A8D7-1F79CB0BF760}"/>
              </a:ext>
            </a:extLst>
          </p:cNvPr>
          <p:cNvSpPr>
            <a:spLocks xmlns:a="http://schemas.openxmlformats.org/drawingml/2006/main" noGrp="1"/>
          </p:cNvSpPr>
          <p:nvPr/>
        </p:nvSpPr>
        <p:spPr>
          <a:xfrm xmlns:a="http://schemas.openxmlformats.org/drawingml/2006/main">
            <a:off x="762000" y="2076450"/>
            <a:ext cx="10668000" cy="133350"/>
          </a:xfrm>
          <a:prstGeom xmlns:a="http://schemas.openxmlformats.org/drawingml/2006/main" prst="rect">
            <a:avLst/>
          </a:prstGeom>
          <a:solidFill xmlns:a="http://schemas.openxmlformats.org/drawingml/2006/main">
            <a:srgbClr val="21122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9579E92-B749-4384-9555-376E266DEC8F}"/>
              </a:ext>
            </a:extLst>
          </p:cNvPr>
          <p:cNvSpPr>
            <a:spLocks xmlns:a="http://schemas.openxmlformats.org/drawingml/2006/main" noGrp="1"/>
          </p:cNvSpPr>
          <p:nvPr/>
        </p:nvSpPr>
        <p:spPr>
          <a:xfrm xmlns:a="http://schemas.openxmlformats.org/drawingml/2006/main">
            <a:off x="933450" y="1962150"/>
            <a:ext cx="95250" cy="95250"/>
          </a:xfrm>
          <a:prstGeom xmlns:a="http://schemas.openxmlformats.org/drawingml/2006/main" prst="roundRect">
            <a:avLst>
              <a:gd name="adj" fmla="val 50000"/>
            </a:avLst>
          </a:prstGeom>
          <a:solidFill xmlns:a="http://schemas.openxmlformats.org/drawingml/2006/main">
            <a:srgbClr val="FF7B7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3752973-28FF-4529-BAB1-3F3D0C036B56}"/>
              </a:ext>
            </a:extLst>
          </p:cNvPr>
          <p:cNvSpPr>
            <a:spLocks xmlns:a="http://schemas.openxmlformats.org/drawingml/2006/main" noGrp="1"/>
          </p:cNvSpPr>
          <p:nvPr/>
        </p:nvSpPr>
        <p:spPr>
          <a:xfrm xmlns:a="http://schemas.openxmlformats.org/drawingml/2006/main">
            <a:off x="1104900" y="1962150"/>
            <a:ext cx="95250" cy="95250"/>
          </a:xfrm>
          <a:prstGeom xmlns:a="http://schemas.openxmlformats.org/drawingml/2006/main" prst="roundRect">
            <a:avLst>
              <a:gd name="adj" fmla="val 50000"/>
            </a:avLst>
          </a:prstGeom>
          <a:solidFill xmlns:a="http://schemas.openxmlformats.org/drawingml/2006/main">
            <a:srgbClr val="FFC66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13DE292-DFAB-4932-83D3-5ED36D1B172E}"/>
              </a:ext>
            </a:extLst>
          </p:cNvPr>
          <p:cNvSpPr>
            <a:spLocks xmlns:a="http://schemas.openxmlformats.org/drawingml/2006/main" noGrp="1"/>
          </p:cNvSpPr>
          <p:nvPr/>
        </p:nvSpPr>
        <p:spPr>
          <a:xfrm xmlns:a="http://schemas.openxmlformats.org/drawingml/2006/main">
            <a:off x="1276350" y="1962150"/>
            <a:ext cx="95250" cy="95250"/>
          </a:xfrm>
          <a:prstGeom xmlns:a="http://schemas.openxmlformats.org/drawingml/2006/main" prst="roundRect">
            <a:avLst>
              <a:gd name="adj" fmla="val 50000"/>
            </a:avLst>
          </a:prstGeom>
          <a:solidFill xmlns:a="http://schemas.openxmlformats.org/drawingml/2006/main">
            <a:srgbClr val="70D6A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97F4768-B44A-4C97-8FF8-6B7D8FF7D20A}"/>
              </a:ext>
            </a:extLst>
          </p:cNvPr>
          <p:cNvSpPr>
            <a:spLocks xmlns:a="http://schemas.openxmlformats.org/drawingml/2006/main" noGrp="1"/>
          </p:cNvSpPr>
          <p:nvPr/>
        </p:nvSpPr>
        <p:spPr>
          <a:xfrm xmlns:a="http://schemas.openxmlformats.org/drawingml/2006/main">
            <a:off x="1543050" y="1924050"/>
            <a:ext cx="971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FF6B4A"/>
                </a:solidFill>
                <a:latin typeface="Aptos"/>
                <a:ea typeface="Aptos"/>
                <a:cs typeface="Aptos"/>
              </a:defRPr>
            </a:pPr>
            <a:r>
              <a:rPr sz="900" b="1" i="0">
                <a:solidFill>
                  <a:srgbClr val="FF6B4A"/>
                </a:solidFill>
                <a:latin typeface="Aptos"/>
                <a:ea typeface="Aptos"/>
                <a:cs typeface="Aptos"/>
              </a:rPr>
              <a:t>PROMPT + COMMAND</a:t>
            </a:r>
          </a:p>
        </p:txBody>
      </p:sp>
      <p:sp>
        <p:nvSpPr>
          <p:cNvPr id="13" name="">
            <a:extLst xmlns:a="http://schemas.openxmlformats.org/drawingml/2006/main">
              <a:ext uri="{FF2B5EF4-FFF2-40B4-BE49-F238E27FC236}">
                <a16:creationId xmlns:a16="http://schemas.microsoft.com/office/drawing/2014/main" id="{39D1F0F6-BA51-4D89-9352-96D501725266}"/>
              </a:ext>
            </a:extLst>
          </p:cNvPr>
          <p:cNvSpPr>
            <a:spLocks xmlns:a="http://schemas.openxmlformats.org/drawingml/2006/main" noGrp="1"/>
          </p:cNvSpPr>
          <p:nvPr/>
        </p:nvSpPr>
        <p:spPr>
          <a:xfrm xmlns:a="http://schemas.openxmlformats.org/drawingml/2006/main">
            <a:off x="990600" y="2381250"/>
            <a:ext cx="1021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ubuntu@linux-course:~/demo$ grep -i error app.log</a:t>
            </a:r>
          </a:p>
        </p:txBody>
      </p:sp>
      <p:sp>
        <p:nvSpPr>
          <p:cNvPr id="14" name="">
            <a:extLst xmlns:a="http://schemas.openxmlformats.org/drawingml/2006/main">
              <a:ext uri="{FF2B5EF4-FFF2-40B4-BE49-F238E27FC236}">
                <a16:creationId xmlns:a16="http://schemas.microsoft.com/office/drawing/2014/main" id="{DFCD27EB-5172-4F40-9EA3-A8F8CE7EAE85}"/>
              </a:ext>
            </a:extLst>
          </p:cNvPr>
          <p:cNvSpPr>
            <a:spLocks xmlns:a="http://schemas.openxmlformats.org/drawingml/2006/main" noGrp="1"/>
          </p:cNvSpPr>
          <p:nvPr/>
        </p:nvSpPr>
        <p:spPr>
          <a:xfrm xmlns:a="http://schemas.openxmlformats.org/drawingml/2006/main">
            <a:off x="952500" y="352425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2550" b="1" i="0">
                <a:solidFill>
                  <a:srgbClr val="FF6B4A"/>
                </a:solidFill>
                <a:latin typeface="Courier New"/>
                <a:ea typeface="Courier New"/>
                <a:cs typeface="Courier New"/>
              </a:defRPr>
            </a:pPr>
            <a:r>
              <a:rPr sz="2550" b="1" i="0">
                <a:solidFill>
                  <a:srgbClr val="FF6B4A"/>
                </a:solidFill>
                <a:latin typeface="Courier New"/>
                <a:ea typeface="Courier New"/>
                <a:cs typeface="Courier New"/>
              </a:rPr>
              <a:t>grep</a:t>
            </a:r>
          </a:p>
        </p:txBody>
      </p:sp>
      <p:sp>
        <p:nvSpPr>
          <p:cNvPr id="15" name="">
            <a:extLst xmlns:a="http://schemas.openxmlformats.org/drawingml/2006/main">
              <a:ext uri="{FF2B5EF4-FFF2-40B4-BE49-F238E27FC236}">
                <a16:creationId xmlns:a16="http://schemas.microsoft.com/office/drawing/2014/main" id="{7EF5C5A7-9F2B-44D9-9970-9B59801C98CA}"/>
              </a:ext>
            </a:extLst>
          </p:cNvPr>
          <p:cNvSpPr>
            <a:spLocks xmlns:a="http://schemas.openxmlformats.org/drawingml/2006/main" noGrp="1"/>
          </p:cNvSpPr>
          <p:nvPr/>
        </p:nvSpPr>
        <p:spPr>
          <a:xfrm xmlns:a="http://schemas.openxmlformats.org/drawingml/2006/main">
            <a:off x="952500" y="4038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350" b="0" i="0">
                <a:solidFill>
                  <a:srgbClr val="BFAFCB"/>
                </a:solidFill>
                <a:latin typeface="Aptos"/>
                <a:ea typeface="Aptos"/>
                <a:cs typeface="Aptos"/>
              </a:defRPr>
            </a:pPr>
            <a:r>
              <a:rPr sz="1350" b="0" i="0">
                <a:solidFill>
                  <a:srgbClr val="BFAFCB"/>
                </a:solidFill>
                <a:latin typeface="Aptos"/>
                <a:ea typeface="Aptos"/>
                <a:cs typeface="Aptos"/>
              </a:rPr>
              <a:t>program</a:t>
            </a:r>
          </a:p>
        </p:txBody>
      </p:sp>
      <p:sp>
        <p:nvSpPr>
          <p:cNvPr id="16" name="">
            <a:extLst xmlns:a="http://schemas.openxmlformats.org/drawingml/2006/main">
              <a:ext uri="{FF2B5EF4-FFF2-40B4-BE49-F238E27FC236}">
                <a16:creationId xmlns:a16="http://schemas.microsoft.com/office/drawing/2014/main" id="{D70E7938-B3CE-4326-AFA2-5A9F81F4D8B2}"/>
              </a:ext>
            </a:extLst>
          </p:cNvPr>
          <p:cNvSpPr>
            <a:spLocks xmlns:a="http://schemas.openxmlformats.org/drawingml/2006/main" noGrp="1"/>
          </p:cNvSpPr>
          <p:nvPr/>
        </p:nvSpPr>
        <p:spPr>
          <a:xfrm xmlns:a="http://schemas.openxmlformats.org/drawingml/2006/main">
            <a:off x="3619500" y="352425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2550" b="1" i="0">
                <a:solidFill>
                  <a:srgbClr val="C9B6FF"/>
                </a:solidFill>
                <a:latin typeface="Courier New"/>
                <a:ea typeface="Courier New"/>
                <a:cs typeface="Courier New"/>
              </a:defRPr>
            </a:pPr>
            <a:r>
              <a:rPr sz="2550" b="1" i="0">
                <a:solidFill>
                  <a:srgbClr val="C9B6FF"/>
                </a:solidFill>
                <a:latin typeface="Courier New"/>
                <a:ea typeface="Courier New"/>
                <a:cs typeface="Courier New"/>
              </a:rPr>
              <a:t>-i</a:t>
            </a:r>
          </a:p>
        </p:txBody>
      </p:sp>
      <p:sp>
        <p:nvSpPr>
          <p:cNvPr id="17" name="">
            <a:extLst xmlns:a="http://schemas.openxmlformats.org/drawingml/2006/main">
              <a:ext uri="{FF2B5EF4-FFF2-40B4-BE49-F238E27FC236}">
                <a16:creationId xmlns:a16="http://schemas.microsoft.com/office/drawing/2014/main" id="{5EAB4307-354E-4E38-AAC1-94373093C07F}"/>
              </a:ext>
            </a:extLst>
          </p:cNvPr>
          <p:cNvSpPr>
            <a:spLocks xmlns:a="http://schemas.openxmlformats.org/drawingml/2006/main" noGrp="1"/>
          </p:cNvSpPr>
          <p:nvPr/>
        </p:nvSpPr>
        <p:spPr>
          <a:xfrm xmlns:a="http://schemas.openxmlformats.org/drawingml/2006/main">
            <a:off x="3619500" y="4038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350" b="0" i="0">
                <a:solidFill>
                  <a:srgbClr val="BFAFCB"/>
                </a:solidFill>
                <a:latin typeface="Aptos"/>
                <a:ea typeface="Aptos"/>
                <a:cs typeface="Aptos"/>
              </a:defRPr>
            </a:pPr>
            <a:r>
              <a:rPr sz="1350" b="0" i="0">
                <a:solidFill>
                  <a:srgbClr val="BFAFCB"/>
                </a:solidFill>
                <a:latin typeface="Aptos"/>
                <a:ea typeface="Aptos"/>
                <a:cs typeface="Aptos"/>
              </a:rPr>
              <a:t>option</a:t>
            </a:r>
          </a:p>
        </p:txBody>
      </p:sp>
      <p:sp>
        <p:nvSpPr>
          <p:cNvPr id="18" name="">
            <a:extLst xmlns:a="http://schemas.openxmlformats.org/drawingml/2006/main">
              <a:ext uri="{FF2B5EF4-FFF2-40B4-BE49-F238E27FC236}">
                <a16:creationId xmlns:a16="http://schemas.microsoft.com/office/drawing/2014/main" id="{11238831-DAC3-451B-BFD6-48CA1D9DBB19}"/>
              </a:ext>
            </a:extLst>
          </p:cNvPr>
          <p:cNvSpPr>
            <a:spLocks xmlns:a="http://schemas.openxmlformats.org/drawingml/2006/main" noGrp="1"/>
          </p:cNvSpPr>
          <p:nvPr/>
        </p:nvSpPr>
        <p:spPr>
          <a:xfrm xmlns:a="http://schemas.openxmlformats.org/drawingml/2006/main">
            <a:off x="6286500" y="352425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2550" b="1" i="0">
                <a:solidFill>
                  <a:srgbClr val="C9B6FF"/>
                </a:solidFill>
                <a:latin typeface="Courier New"/>
                <a:ea typeface="Courier New"/>
                <a:cs typeface="Courier New"/>
              </a:defRPr>
            </a:pPr>
            <a:r>
              <a:rPr sz="2550" b="1" i="0">
                <a:solidFill>
                  <a:srgbClr val="C9B6FF"/>
                </a:solidFill>
                <a:latin typeface="Courier New"/>
                <a:ea typeface="Courier New"/>
                <a:cs typeface="Courier New"/>
              </a:rPr>
              <a:t>error</a:t>
            </a:r>
          </a:p>
        </p:txBody>
      </p:sp>
      <p:sp>
        <p:nvSpPr>
          <p:cNvPr id="19" name="">
            <a:extLst xmlns:a="http://schemas.openxmlformats.org/drawingml/2006/main">
              <a:ext uri="{FF2B5EF4-FFF2-40B4-BE49-F238E27FC236}">
                <a16:creationId xmlns:a16="http://schemas.microsoft.com/office/drawing/2014/main" id="{A91BAC18-CE0B-4145-A383-A6FE80F623D0}"/>
              </a:ext>
            </a:extLst>
          </p:cNvPr>
          <p:cNvSpPr>
            <a:spLocks xmlns:a="http://schemas.openxmlformats.org/drawingml/2006/main" noGrp="1"/>
          </p:cNvSpPr>
          <p:nvPr/>
        </p:nvSpPr>
        <p:spPr>
          <a:xfrm xmlns:a="http://schemas.openxmlformats.org/drawingml/2006/main">
            <a:off x="6286500" y="4038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350" b="0" i="0">
                <a:solidFill>
                  <a:srgbClr val="BFAFCB"/>
                </a:solidFill>
                <a:latin typeface="Aptos"/>
                <a:ea typeface="Aptos"/>
                <a:cs typeface="Aptos"/>
              </a:defRPr>
            </a:pPr>
            <a:r>
              <a:rPr sz="1350" b="0" i="0">
                <a:solidFill>
                  <a:srgbClr val="BFAFCB"/>
                </a:solidFill>
                <a:latin typeface="Aptos"/>
                <a:ea typeface="Aptos"/>
                <a:cs typeface="Aptos"/>
              </a:rPr>
              <a:t>argument</a:t>
            </a:r>
          </a:p>
        </p:txBody>
      </p:sp>
      <p:sp>
        <p:nvSpPr>
          <p:cNvPr id="20" name="">
            <a:extLst xmlns:a="http://schemas.openxmlformats.org/drawingml/2006/main">
              <a:ext uri="{FF2B5EF4-FFF2-40B4-BE49-F238E27FC236}">
                <a16:creationId xmlns:a16="http://schemas.microsoft.com/office/drawing/2014/main" id="{E9438BFC-E1EB-46A7-B271-05E2A6B09632}"/>
              </a:ext>
            </a:extLst>
          </p:cNvPr>
          <p:cNvSpPr>
            <a:spLocks xmlns:a="http://schemas.openxmlformats.org/drawingml/2006/main" noGrp="1"/>
          </p:cNvSpPr>
          <p:nvPr/>
        </p:nvSpPr>
        <p:spPr>
          <a:xfrm xmlns:a="http://schemas.openxmlformats.org/drawingml/2006/main">
            <a:off x="8953500" y="352425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2550" b="1" i="0">
                <a:solidFill>
                  <a:srgbClr val="C9B6FF"/>
                </a:solidFill>
                <a:latin typeface="Courier New"/>
                <a:ea typeface="Courier New"/>
                <a:cs typeface="Courier New"/>
              </a:defRPr>
            </a:pPr>
            <a:r>
              <a:rPr sz="2550" b="1" i="0">
                <a:solidFill>
                  <a:srgbClr val="C9B6FF"/>
                </a:solidFill>
                <a:latin typeface="Courier New"/>
                <a:ea typeface="Courier New"/>
                <a:cs typeface="Courier New"/>
              </a:rPr>
              <a:t>app.log</a:t>
            </a:r>
          </a:p>
        </p:txBody>
      </p:sp>
      <p:sp>
        <p:nvSpPr>
          <p:cNvPr id="21" name="">
            <a:extLst xmlns:a="http://schemas.openxmlformats.org/drawingml/2006/main">
              <a:ext uri="{FF2B5EF4-FFF2-40B4-BE49-F238E27FC236}">
                <a16:creationId xmlns:a16="http://schemas.microsoft.com/office/drawing/2014/main" id="{F2128882-3578-42EF-A279-B19D7A1B6F0D}"/>
              </a:ext>
            </a:extLst>
          </p:cNvPr>
          <p:cNvSpPr>
            <a:spLocks xmlns:a="http://schemas.openxmlformats.org/drawingml/2006/main" noGrp="1"/>
          </p:cNvSpPr>
          <p:nvPr/>
        </p:nvSpPr>
        <p:spPr>
          <a:xfrm xmlns:a="http://schemas.openxmlformats.org/drawingml/2006/main">
            <a:off x="8953500" y="4038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350" b="0" i="0">
                <a:solidFill>
                  <a:srgbClr val="BFAFCB"/>
                </a:solidFill>
                <a:latin typeface="Aptos"/>
                <a:ea typeface="Aptos"/>
                <a:cs typeface="Aptos"/>
              </a:defRPr>
            </a:pPr>
            <a:r>
              <a:rPr sz="1350" b="0" i="0">
                <a:solidFill>
                  <a:srgbClr val="BFAFCB"/>
                </a:solidFill>
                <a:latin typeface="Aptos"/>
                <a:ea typeface="Aptos"/>
                <a:cs typeface="Aptos"/>
              </a:rPr>
              <a:t>argument</a:t>
            </a:r>
          </a:p>
        </p:txBody>
      </p:sp>
      <p:sp>
        <p:nvSpPr>
          <p:cNvPr id="22" name="">
            <a:extLst xmlns:a="http://schemas.openxmlformats.org/drawingml/2006/main">
              <a:ext uri="{FF2B5EF4-FFF2-40B4-BE49-F238E27FC236}">
                <a16:creationId xmlns:a16="http://schemas.microsoft.com/office/drawing/2014/main" id="{647B7C88-B988-497F-99FA-70CC96121181}"/>
              </a:ext>
            </a:extLst>
          </p:cNvPr>
          <p:cNvSpPr>
            <a:spLocks xmlns:a="http://schemas.openxmlformats.org/drawingml/2006/main" noGrp="1"/>
          </p:cNvSpPr>
          <p:nvPr/>
        </p:nvSpPr>
        <p:spPr>
          <a:xfrm xmlns:a="http://schemas.openxmlformats.org/drawingml/2006/main">
            <a:off x="952500" y="5010150"/>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875" b="1" i="0">
                <a:solidFill>
                  <a:srgbClr val="70D6A6"/>
                </a:solidFill>
                <a:latin typeface="Aptos"/>
                <a:ea typeface="Aptos"/>
                <a:cs typeface="Aptos"/>
              </a:defRPr>
            </a:pPr>
            <a:r>
              <a:rPr sz="1875" b="1" i="0">
                <a:solidFill>
                  <a:srgbClr val="70D6A6"/>
                </a:solidFill>
                <a:latin typeface="Aptos"/>
                <a:ea typeface="Aptos"/>
                <a:cs typeface="Aptos"/>
              </a:rPr>
              <a:t>Exit status 0 = success · non-zero = a condition or failure</a:t>
            </a:r>
          </a:p>
        </p:txBody>
      </p:sp>
    </p:spTree>
    <p:extLst>
      <p:ext uri="{BB962C8B-B14F-4D97-AF65-F5344CB8AC3E}">
        <p14:creationId xmlns:p14="http://schemas.microsoft.com/office/powerpoint/2010/main" val="926063270"/>
      </p:ext>
    </p:extLst>
  </p:cSld>
</p:sld>
</file>

<file path=ppt/slides/slide10.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3ACC813-B4E4-41FD-AA2C-2403C8795F47}"/>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TERMINAL</a:t>
            </a:r>
          </a:p>
        </p:txBody>
      </p:sp>
      <p:sp>
        <p:nvSpPr>
          <p:cNvPr id="2" name="">
            <a:extLst xmlns:a="http://schemas.openxmlformats.org/drawingml/2006/main">
              <a:ext uri="{FF2B5EF4-FFF2-40B4-BE49-F238E27FC236}">
                <a16:creationId xmlns:a16="http://schemas.microsoft.com/office/drawing/2014/main" id="{F2A27FAB-F29E-4702-A3F8-6CBC84B70BFA}"/>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160B20"/>
                </a:solidFill>
                <a:latin typeface="Aptos"/>
                <a:ea typeface="Aptos"/>
                <a:cs typeface="Aptos"/>
              </a:defRPr>
            </a:pPr>
            <a:r>
              <a:rPr sz="3750" b="1" i="0">
                <a:solidFill>
                  <a:srgbClr val="160B20"/>
                </a:solidFill>
                <a:latin typeface="Aptos"/>
                <a:ea typeface="Aptos"/>
                <a:cs typeface="Aptos"/>
              </a:rPr>
              <a:t>Navigate by asking, moving, then confirming</a:t>
            </a:r>
          </a:p>
        </p:txBody>
      </p:sp>
      <p:sp>
        <p:nvSpPr>
          <p:cNvPr id="3" name="">
            <a:extLst xmlns:a="http://schemas.openxmlformats.org/drawingml/2006/main">
              <a:ext uri="{FF2B5EF4-FFF2-40B4-BE49-F238E27FC236}">
                <a16:creationId xmlns:a16="http://schemas.microsoft.com/office/drawing/2014/main" id="{01FA3C0D-8047-4BC9-8449-B76FAFCCB843}"/>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E7DC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25EA03B-EE5C-44B5-8F52-C50F8BCA3EE5}"/>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6F6277"/>
                </a:solidFill>
                <a:latin typeface="Aptos"/>
                <a:ea typeface="Aptos"/>
                <a:cs typeface="Aptos"/>
              </a:defRPr>
            </a:pPr>
            <a:r>
              <a:rPr sz="900" b="1" i="0">
                <a:solidFill>
                  <a:srgbClr val="6F6277"/>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24F8978F-F45F-45DC-AF94-ED4B4D83223D}"/>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8B5CF6"/>
                </a:solidFill>
                <a:latin typeface="Aptos"/>
                <a:ea typeface="Aptos"/>
                <a:cs typeface="Aptos"/>
              </a:defRPr>
            </a:pPr>
            <a:r>
              <a:rPr sz="1050" b="1" i="0">
                <a:solidFill>
                  <a:srgbClr val="8B5CF6"/>
                </a:solidFill>
                <a:latin typeface="Aptos"/>
                <a:ea typeface="Aptos"/>
                <a:cs typeface="Aptos"/>
              </a:rPr>
              <a:t>10</a:t>
            </a:r>
          </a:p>
        </p:txBody>
      </p:sp>
      <p:sp>
        <p:nvSpPr>
          <p:cNvPr id="6" name="">
            <a:extLst xmlns:a="http://schemas.openxmlformats.org/drawingml/2006/main">
              <a:ext uri="{FF2B5EF4-FFF2-40B4-BE49-F238E27FC236}">
                <a16:creationId xmlns:a16="http://schemas.microsoft.com/office/drawing/2014/main" id="{4B38969B-12CB-4EEA-8D33-79D1E1BEB9C4}"/>
              </a:ext>
            </a:extLst>
          </p:cNvPr>
          <p:cNvSpPr>
            <a:spLocks xmlns:a="http://schemas.openxmlformats.org/drawingml/2006/main" noGrp="1"/>
          </p:cNvSpPr>
          <p:nvPr/>
        </p:nvSpPr>
        <p:spPr>
          <a:xfrm xmlns:a="http://schemas.openxmlformats.org/drawingml/2006/main">
            <a:off x="857250" y="171450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514658"/>
                </a:solidFill>
                <a:latin typeface="Aptos"/>
                <a:ea typeface="Aptos"/>
                <a:cs typeface="Aptos"/>
              </a:defRPr>
            </a:pPr>
            <a:r>
              <a:rPr sz="1725" b="1" i="0">
                <a:solidFill>
                  <a:srgbClr val="514658"/>
                </a:solidFill>
                <a:latin typeface="Aptos"/>
                <a:ea typeface="Aptos"/>
                <a:cs typeface="Aptos"/>
              </a:rPr>
              <a:t>Where am I?</a:t>
            </a:r>
          </a:p>
        </p:txBody>
      </p:sp>
      <p:sp>
        <p:nvSpPr>
          <p:cNvPr id="7" name="">
            <a:extLst xmlns:a="http://schemas.openxmlformats.org/drawingml/2006/main">
              <a:ext uri="{FF2B5EF4-FFF2-40B4-BE49-F238E27FC236}">
                <a16:creationId xmlns:a16="http://schemas.microsoft.com/office/drawing/2014/main" id="{026A4E6A-AA08-4691-9703-9220ACADB526}"/>
              </a:ext>
            </a:extLst>
          </p:cNvPr>
          <p:cNvSpPr>
            <a:spLocks xmlns:a="http://schemas.openxmlformats.org/drawingml/2006/main" noGrp="1"/>
          </p:cNvSpPr>
          <p:nvPr/>
        </p:nvSpPr>
        <p:spPr>
          <a:xfrm xmlns:a="http://schemas.openxmlformats.org/drawingml/2006/main">
            <a:off x="4286250" y="1714500"/>
            <a:ext cx="619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025" b="1" i="0">
                <a:solidFill>
                  <a:srgbClr val="8B5CF6"/>
                </a:solidFill>
                <a:latin typeface="Courier New"/>
                <a:ea typeface="Courier New"/>
                <a:cs typeface="Courier New"/>
              </a:defRPr>
            </a:pPr>
            <a:r>
              <a:rPr sz="2025" b="1" i="0">
                <a:solidFill>
                  <a:srgbClr val="8B5CF6"/>
                </a:solidFill>
                <a:latin typeface="Courier New"/>
                <a:ea typeface="Courier New"/>
                <a:cs typeface="Courier New"/>
              </a:rPr>
              <a:t>pwd</a:t>
            </a:r>
          </a:p>
        </p:txBody>
      </p:sp>
      <p:sp>
        <p:nvSpPr>
          <p:cNvPr id="8" name="">
            <a:extLst xmlns:a="http://schemas.openxmlformats.org/drawingml/2006/main">
              <a:ext uri="{FF2B5EF4-FFF2-40B4-BE49-F238E27FC236}">
                <a16:creationId xmlns:a16="http://schemas.microsoft.com/office/drawing/2014/main" id="{C7AEADAF-A249-4A09-9FA1-A3668A0C53BB}"/>
              </a:ext>
            </a:extLst>
          </p:cNvPr>
          <p:cNvSpPr>
            <a:spLocks xmlns:a="http://schemas.openxmlformats.org/drawingml/2006/main" noGrp="1"/>
          </p:cNvSpPr>
          <p:nvPr/>
        </p:nvSpPr>
        <p:spPr>
          <a:xfrm xmlns:a="http://schemas.openxmlformats.org/drawingml/2006/main">
            <a:off x="857250" y="2209800"/>
            <a:ext cx="9906000" cy="9525"/>
          </a:xfrm>
          <a:prstGeom xmlns:a="http://schemas.openxmlformats.org/drawingml/2006/main" prst="rect">
            <a:avLst/>
          </a:prstGeom>
          <a:solidFill xmlns:a="http://schemas.openxmlformats.org/drawingml/2006/main">
            <a:srgbClr val="E2D7E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2928208-B6DE-431D-96D5-035CE4D3DF71}"/>
              </a:ext>
            </a:extLst>
          </p:cNvPr>
          <p:cNvSpPr>
            <a:spLocks xmlns:a="http://schemas.openxmlformats.org/drawingml/2006/main" noGrp="1"/>
          </p:cNvSpPr>
          <p:nvPr/>
        </p:nvSpPr>
        <p:spPr>
          <a:xfrm xmlns:a="http://schemas.openxmlformats.org/drawingml/2006/main">
            <a:off x="857250" y="23812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514658"/>
                </a:solidFill>
                <a:latin typeface="Aptos"/>
                <a:ea typeface="Aptos"/>
                <a:cs typeface="Aptos"/>
              </a:defRPr>
            </a:pPr>
            <a:r>
              <a:rPr sz="1725" b="1" i="0">
                <a:solidFill>
                  <a:srgbClr val="514658"/>
                </a:solidFill>
                <a:latin typeface="Aptos"/>
                <a:ea typeface="Aptos"/>
                <a:cs typeface="Aptos"/>
              </a:rPr>
              <a:t>What is here?</a:t>
            </a:r>
          </a:p>
        </p:txBody>
      </p:sp>
      <p:sp>
        <p:nvSpPr>
          <p:cNvPr id="10" name="">
            <a:extLst xmlns:a="http://schemas.openxmlformats.org/drawingml/2006/main">
              <a:ext uri="{FF2B5EF4-FFF2-40B4-BE49-F238E27FC236}">
                <a16:creationId xmlns:a16="http://schemas.microsoft.com/office/drawing/2014/main" id="{41EB7C67-D4FF-4648-9026-5B5FB854A0EB}"/>
              </a:ext>
            </a:extLst>
          </p:cNvPr>
          <p:cNvSpPr>
            <a:spLocks xmlns:a="http://schemas.openxmlformats.org/drawingml/2006/main" noGrp="1"/>
          </p:cNvSpPr>
          <p:nvPr/>
        </p:nvSpPr>
        <p:spPr>
          <a:xfrm xmlns:a="http://schemas.openxmlformats.org/drawingml/2006/main">
            <a:off x="4286250" y="2381250"/>
            <a:ext cx="619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025" b="1" i="0">
                <a:solidFill>
                  <a:srgbClr val="8B5CF6"/>
                </a:solidFill>
                <a:latin typeface="Courier New"/>
                <a:ea typeface="Courier New"/>
                <a:cs typeface="Courier New"/>
              </a:defRPr>
            </a:pPr>
            <a:r>
              <a:rPr sz="2025" b="1" i="0">
                <a:solidFill>
                  <a:srgbClr val="8B5CF6"/>
                </a:solidFill>
                <a:latin typeface="Courier New"/>
                <a:ea typeface="Courier New"/>
                <a:cs typeface="Courier New"/>
              </a:rPr>
              <a:t>ls -la</a:t>
            </a:r>
          </a:p>
        </p:txBody>
      </p:sp>
      <p:sp>
        <p:nvSpPr>
          <p:cNvPr id="11" name="">
            <a:extLst xmlns:a="http://schemas.openxmlformats.org/drawingml/2006/main">
              <a:ext uri="{FF2B5EF4-FFF2-40B4-BE49-F238E27FC236}">
                <a16:creationId xmlns:a16="http://schemas.microsoft.com/office/drawing/2014/main" id="{54233327-5164-4487-BC26-38A5350736B3}"/>
              </a:ext>
            </a:extLst>
          </p:cNvPr>
          <p:cNvSpPr>
            <a:spLocks xmlns:a="http://schemas.openxmlformats.org/drawingml/2006/main" noGrp="1"/>
          </p:cNvSpPr>
          <p:nvPr/>
        </p:nvSpPr>
        <p:spPr>
          <a:xfrm xmlns:a="http://schemas.openxmlformats.org/drawingml/2006/main">
            <a:off x="857250" y="2876550"/>
            <a:ext cx="9906000" cy="9525"/>
          </a:xfrm>
          <a:prstGeom xmlns:a="http://schemas.openxmlformats.org/drawingml/2006/main" prst="rect">
            <a:avLst/>
          </a:prstGeom>
          <a:solidFill xmlns:a="http://schemas.openxmlformats.org/drawingml/2006/main">
            <a:srgbClr val="E2D7E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68526B1-686B-45A1-8A16-26E497B78761}"/>
              </a:ext>
            </a:extLst>
          </p:cNvPr>
          <p:cNvSpPr>
            <a:spLocks xmlns:a="http://schemas.openxmlformats.org/drawingml/2006/main" noGrp="1"/>
          </p:cNvSpPr>
          <p:nvPr/>
        </p:nvSpPr>
        <p:spPr>
          <a:xfrm xmlns:a="http://schemas.openxmlformats.org/drawingml/2006/main">
            <a:off x="857250" y="304800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514658"/>
                </a:solidFill>
                <a:latin typeface="Aptos"/>
                <a:ea typeface="Aptos"/>
                <a:cs typeface="Aptos"/>
              </a:defRPr>
            </a:pPr>
            <a:r>
              <a:rPr sz="1725" b="1" i="0">
                <a:solidFill>
                  <a:srgbClr val="514658"/>
                </a:solidFill>
                <a:latin typeface="Aptos"/>
                <a:ea typeface="Aptos"/>
                <a:cs typeface="Aptos"/>
              </a:rPr>
              <a:t>Move</a:t>
            </a:r>
          </a:p>
        </p:txBody>
      </p:sp>
      <p:sp>
        <p:nvSpPr>
          <p:cNvPr id="13" name="">
            <a:extLst xmlns:a="http://schemas.openxmlformats.org/drawingml/2006/main">
              <a:ext uri="{FF2B5EF4-FFF2-40B4-BE49-F238E27FC236}">
                <a16:creationId xmlns:a16="http://schemas.microsoft.com/office/drawing/2014/main" id="{A797090E-69F5-4E11-B7BD-372EE524A6B7}"/>
              </a:ext>
            </a:extLst>
          </p:cNvPr>
          <p:cNvSpPr>
            <a:spLocks xmlns:a="http://schemas.openxmlformats.org/drawingml/2006/main" noGrp="1"/>
          </p:cNvSpPr>
          <p:nvPr/>
        </p:nvSpPr>
        <p:spPr>
          <a:xfrm xmlns:a="http://schemas.openxmlformats.org/drawingml/2006/main">
            <a:off x="4286250" y="3048000"/>
            <a:ext cx="619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025" b="1" i="0">
                <a:solidFill>
                  <a:srgbClr val="8B5CF6"/>
                </a:solidFill>
                <a:latin typeface="Courier New"/>
                <a:ea typeface="Courier New"/>
                <a:cs typeface="Courier New"/>
              </a:defRPr>
            </a:pPr>
            <a:r>
              <a:rPr sz="2025" b="1" i="0">
                <a:solidFill>
                  <a:srgbClr val="8B5CF6"/>
                </a:solidFill>
                <a:latin typeface="Courier New"/>
                <a:ea typeface="Courier New"/>
                <a:cs typeface="Courier New"/>
              </a:rPr>
              <a:t>cd /var/log</a:t>
            </a:r>
          </a:p>
        </p:txBody>
      </p:sp>
      <p:sp>
        <p:nvSpPr>
          <p:cNvPr id="14" name="">
            <a:extLst xmlns:a="http://schemas.openxmlformats.org/drawingml/2006/main">
              <a:ext uri="{FF2B5EF4-FFF2-40B4-BE49-F238E27FC236}">
                <a16:creationId xmlns:a16="http://schemas.microsoft.com/office/drawing/2014/main" id="{7C654BD7-4478-4397-BADE-B218C39CDE00}"/>
              </a:ext>
            </a:extLst>
          </p:cNvPr>
          <p:cNvSpPr>
            <a:spLocks xmlns:a="http://schemas.openxmlformats.org/drawingml/2006/main" noGrp="1"/>
          </p:cNvSpPr>
          <p:nvPr/>
        </p:nvSpPr>
        <p:spPr>
          <a:xfrm xmlns:a="http://schemas.openxmlformats.org/drawingml/2006/main">
            <a:off x="857250" y="3543300"/>
            <a:ext cx="9906000" cy="9525"/>
          </a:xfrm>
          <a:prstGeom xmlns:a="http://schemas.openxmlformats.org/drawingml/2006/main" prst="rect">
            <a:avLst/>
          </a:prstGeom>
          <a:solidFill xmlns:a="http://schemas.openxmlformats.org/drawingml/2006/main">
            <a:srgbClr val="E2D7E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738AF5D-E225-43EE-8B2C-25A718662917}"/>
              </a:ext>
            </a:extLst>
          </p:cNvPr>
          <p:cNvSpPr>
            <a:spLocks xmlns:a="http://schemas.openxmlformats.org/drawingml/2006/main" noGrp="1"/>
          </p:cNvSpPr>
          <p:nvPr/>
        </p:nvSpPr>
        <p:spPr>
          <a:xfrm xmlns:a="http://schemas.openxmlformats.org/drawingml/2006/main">
            <a:off x="857250" y="37147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514658"/>
                </a:solidFill>
                <a:latin typeface="Aptos"/>
                <a:ea typeface="Aptos"/>
                <a:cs typeface="Aptos"/>
              </a:defRPr>
            </a:pPr>
            <a:r>
              <a:rPr sz="1725" b="1" i="0">
                <a:solidFill>
                  <a:srgbClr val="514658"/>
                </a:solidFill>
                <a:latin typeface="Aptos"/>
                <a:ea typeface="Aptos"/>
                <a:cs typeface="Aptos"/>
              </a:rPr>
              <a:t>Create</a:t>
            </a:r>
          </a:p>
        </p:txBody>
      </p:sp>
      <p:sp>
        <p:nvSpPr>
          <p:cNvPr id="16" name="">
            <a:extLst xmlns:a="http://schemas.openxmlformats.org/drawingml/2006/main">
              <a:ext uri="{FF2B5EF4-FFF2-40B4-BE49-F238E27FC236}">
                <a16:creationId xmlns:a16="http://schemas.microsoft.com/office/drawing/2014/main" id="{8826C513-B1FC-44AB-9F7C-60FF63D0DE43}"/>
              </a:ext>
            </a:extLst>
          </p:cNvPr>
          <p:cNvSpPr>
            <a:spLocks xmlns:a="http://schemas.openxmlformats.org/drawingml/2006/main" noGrp="1"/>
          </p:cNvSpPr>
          <p:nvPr/>
        </p:nvSpPr>
        <p:spPr>
          <a:xfrm xmlns:a="http://schemas.openxmlformats.org/drawingml/2006/main">
            <a:off x="4286250" y="3714750"/>
            <a:ext cx="619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025" b="1" i="0">
                <a:solidFill>
                  <a:srgbClr val="FF6B4A"/>
                </a:solidFill>
                <a:latin typeface="Courier New"/>
                <a:ea typeface="Courier New"/>
                <a:cs typeface="Courier New"/>
              </a:defRPr>
            </a:pPr>
            <a:r>
              <a:rPr sz="2025" b="1" i="0">
                <a:solidFill>
                  <a:srgbClr val="FF6B4A"/>
                </a:solidFill>
                <a:latin typeface="Courier New"/>
                <a:ea typeface="Courier New"/>
                <a:cs typeface="Courier New"/>
              </a:rPr>
              <a:t>mkdir -p notes/archive</a:t>
            </a:r>
          </a:p>
        </p:txBody>
      </p:sp>
      <p:sp>
        <p:nvSpPr>
          <p:cNvPr id="17" name="">
            <a:extLst xmlns:a="http://schemas.openxmlformats.org/drawingml/2006/main">
              <a:ext uri="{FF2B5EF4-FFF2-40B4-BE49-F238E27FC236}">
                <a16:creationId xmlns:a16="http://schemas.microsoft.com/office/drawing/2014/main" id="{B66AB4E8-1137-4B10-A710-133A7056B594}"/>
              </a:ext>
            </a:extLst>
          </p:cNvPr>
          <p:cNvSpPr>
            <a:spLocks xmlns:a="http://schemas.openxmlformats.org/drawingml/2006/main" noGrp="1"/>
          </p:cNvSpPr>
          <p:nvPr/>
        </p:nvSpPr>
        <p:spPr>
          <a:xfrm xmlns:a="http://schemas.openxmlformats.org/drawingml/2006/main">
            <a:off x="857250" y="4210050"/>
            <a:ext cx="9906000" cy="9525"/>
          </a:xfrm>
          <a:prstGeom xmlns:a="http://schemas.openxmlformats.org/drawingml/2006/main" prst="rect">
            <a:avLst/>
          </a:prstGeom>
          <a:solidFill xmlns:a="http://schemas.openxmlformats.org/drawingml/2006/main">
            <a:srgbClr val="E2D7E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C710873-EF5F-4B34-A681-75D2841E12F9}"/>
              </a:ext>
            </a:extLst>
          </p:cNvPr>
          <p:cNvSpPr>
            <a:spLocks xmlns:a="http://schemas.openxmlformats.org/drawingml/2006/main" noGrp="1"/>
          </p:cNvSpPr>
          <p:nvPr/>
        </p:nvSpPr>
        <p:spPr>
          <a:xfrm xmlns:a="http://schemas.openxmlformats.org/drawingml/2006/main">
            <a:off x="857250" y="438150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514658"/>
                </a:solidFill>
                <a:latin typeface="Aptos"/>
                <a:ea typeface="Aptos"/>
                <a:cs typeface="Aptos"/>
              </a:defRPr>
            </a:pPr>
            <a:r>
              <a:rPr sz="1725" b="1" i="0">
                <a:solidFill>
                  <a:srgbClr val="514658"/>
                </a:solidFill>
                <a:latin typeface="Aptos"/>
                <a:ea typeface="Aptos"/>
                <a:cs typeface="Aptos"/>
              </a:rPr>
              <a:t>Inspect</a:t>
            </a:r>
          </a:p>
        </p:txBody>
      </p:sp>
      <p:sp>
        <p:nvSpPr>
          <p:cNvPr id="19" name="">
            <a:extLst xmlns:a="http://schemas.openxmlformats.org/drawingml/2006/main">
              <a:ext uri="{FF2B5EF4-FFF2-40B4-BE49-F238E27FC236}">
                <a16:creationId xmlns:a16="http://schemas.microsoft.com/office/drawing/2014/main" id="{EDFAEF1C-C9D0-4B50-99B5-A35586122E3C}"/>
              </a:ext>
            </a:extLst>
          </p:cNvPr>
          <p:cNvSpPr>
            <a:spLocks xmlns:a="http://schemas.openxmlformats.org/drawingml/2006/main" noGrp="1"/>
          </p:cNvSpPr>
          <p:nvPr/>
        </p:nvSpPr>
        <p:spPr>
          <a:xfrm xmlns:a="http://schemas.openxmlformats.org/drawingml/2006/main">
            <a:off x="4286250" y="4381500"/>
            <a:ext cx="619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025" b="1" i="0">
                <a:solidFill>
                  <a:srgbClr val="FF6B4A"/>
                </a:solidFill>
                <a:latin typeface="Courier New"/>
                <a:ea typeface="Courier New"/>
                <a:cs typeface="Courier New"/>
              </a:defRPr>
            </a:pPr>
            <a:r>
              <a:rPr sz="2025" b="1" i="0">
                <a:solidFill>
                  <a:srgbClr val="FF6B4A"/>
                </a:solidFill>
                <a:latin typeface="Courier New"/>
                <a:ea typeface="Courier New"/>
                <a:cs typeface="Courier New"/>
              </a:rPr>
              <a:t>cat · less · head · tail</a:t>
            </a:r>
          </a:p>
        </p:txBody>
      </p:sp>
      <p:sp>
        <p:nvSpPr>
          <p:cNvPr id="20" name="">
            <a:extLst xmlns:a="http://schemas.openxmlformats.org/drawingml/2006/main">
              <a:ext uri="{FF2B5EF4-FFF2-40B4-BE49-F238E27FC236}">
                <a16:creationId xmlns:a16="http://schemas.microsoft.com/office/drawing/2014/main" id="{64E6D7BB-A063-4197-90D8-922A3157D8BB}"/>
              </a:ext>
            </a:extLst>
          </p:cNvPr>
          <p:cNvSpPr>
            <a:spLocks xmlns:a="http://schemas.openxmlformats.org/drawingml/2006/main" noGrp="1"/>
          </p:cNvSpPr>
          <p:nvPr/>
        </p:nvSpPr>
        <p:spPr>
          <a:xfrm xmlns:a="http://schemas.openxmlformats.org/drawingml/2006/main">
            <a:off x="857250" y="4876800"/>
            <a:ext cx="9906000" cy="9525"/>
          </a:xfrm>
          <a:prstGeom xmlns:a="http://schemas.openxmlformats.org/drawingml/2006/main" prst="rect">
            <a:avLst/>
          </a:prstGeom>
          <a:solidFill xmlns:a="http://schemas.openxmlformats.org/drawingml/2006/main">
            <a:srgbClr val="E2D7E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CB146CC-72F5-46A2-A081-A37C7B8C30A5}"/>
              </a:ext>
            </a:extLst>
          </p:cNvPr>
          <p:cNvSpPr>
            <a:spLocks xmlns:a="http://schemas.openxmlformats.org/drawingml/2006/main" noGrp="1"/>
          </p:cNvSpPr>
          <p:nvPr/>
        </p:nvSpPr>
        <p:spPr>
          <a:xfrm xmlns:a="http://schemas.openxmlformats.org/drawingml/2006/main">
            <a:off x="857250" y="50482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514658"/>
                </a:solidFill>
                <a:latin typeface="Aptos"/>
                <a:ea typeface="Aptos"/>
                <a:cs typeface="Aptos"/>
              </a:defRPr>
            </a:pPr>
            <a:r>
              <a:rPr sz="1725" b="1" i="0">
                <a:solidFill>
                  <a:srgbClr val="514658"/>
                </a:solidFill>
                <a:latin typeface="Aptos"/>
                <a:ea typeface="Aptos"/>
                <a:cs typeface="Aptos"/>
              </a:rPr>
              <a:t>Find</a:t>
            </a:r>
          </a:p>
        </p:txBody>
      </p:sp>
      <p:sp>
        <p:nvSpPr>
          <p:cNvPr id="22" name="">
            <a:extLst xmlns:a="http://schemas.openxmlformats.org/drawingml/2006/main">
              <a:ext uri="{FF2B5EF4-FFF2-40B4-BE49-F238E27FC236}">
                <a16:creationId xmlns:a16="http://schemas.microsoft.com/office/drawing/2014/main" id="{498FDECF-5517-4D50-8C8D-4741CFFB22A5}"/>
              </a:ext>
            </a:extLst>
          </p:cNvPr>
          <p:cNvSpPr>
            <a:spLocks xmlns:a="http://schemas.openxmlformats.org/drawingml/2006/main" noGrp="1"/>
          </p:cNvSpPr>
          <p:nvPr/>
        </p:nvSpPr>
        <p:spPr>
          <a:xfrm xmlns:a="http://schemas.openxmlformats.org/drawingml/2006/main">
            <a:off x="4286250" y="5048250"/>
            <a:ext cx="619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025" b="1" i="0">
                <a:solidFill>
                  <a:srgbClr val="FF6B4A"/>
                </a:solidFill>
                <a:latin typeface="Courier New"/>
                <a:ea typeface="Courier New"/>
                <a:cs typeface="Courier New"/>
              </a:defRPr>
            </a:pPr>
            <a:r>
              <a:rPr sz="2025" b="1" i="0">
                <a:solidFill>
                  <a:srgbClr val="FF6B4A"/>
                </a:solidFill>
                <a:latin typeface="Courier New"/>
                <a:ea typeface="Courier New"/>
                <a:cs typeface="Courier New"/>
              </a:rPr>
              <a:t>find · grep</a:t>
            </a:r>
          </a:p>
        </p:txBody>
      </p:sp>
      <p:sp>
        <p:nvSpPr>
          <p:cNvPr id="23" name="">
            <a:extLst xmlns:a="http://schemas.openxmlformats.org/drawingml/2006/main">
              <a:ext uri="{FF2B5EF4-FFF2-40B4-BE49-F238E27FC236}">
                <a16:creationId xmlns:a16="http://schemas.microsoft.com/office/drawing/2014/main" id="{6E6FE7CC-5B3C-49A4-83F0-7F322028D917}"/>
              </a:ext>
            </a:extLst>
          </p:cNvPr>
          <p:cNvSpPr>
            <a:spLocks xmlns:a="http://schemas.openxmlformats.org/drawingml/2006/main" noGrp="1"/>
          </p:cNvSpPr>
          <p:nvPr/>
        </p:nvSpPr>
        <p:spPr>
          <a:xfrm xmlns:a="http://schemas.openxmlformats.org/drawingml/2006/main">
            <a:off x="857250" y="5543550"/>
            <a:ext cx="9906000" cy="9525"/>
          </a:xfrm>
          <a:prstGeom xmlns:a="http://schemas.openxmlformats.org/drawingml/2006/main" prst="rect">
            <a:avLst/>
          </a:prstGeom>
          <a:solidFill xmlns:a="http://schemas.openxmlformats.org/drawingml/2006/main">
            <a:srgbClr val="E2D7E4"/>
          </a:solidFill>
          <a:ln xmlns:a="http://schemas.openxmlformats.org/drawingml/2006/main" w="0">
            <a:noFill/>
            <a:prstDash val="solid"/>
          </a:ln>
        </p:spPr>
      </p:sp>
    </p:spTree>
    <p:extLst>
      <p:ext uri="{BB962C8B-B14F-4D97-AF65-F5344CB8AC3E}">
        <p14:creationId xmlns:p14="http://schemas.microsoft.com/office/powerpoint/2010/main" val="1424001655"/>
      </p:ext>
    </p:extLst>
  </p:cSld>
</p:sld>
</file>

<file path=ppt/slides/slide11.xml><?xml version="1.0" encoding="utf-8"?>
<p:sld xmlns:p="http://schemas.openxmlformats.org/presentationml/2006/main">
  <p:cSld>
    <p:bg>
      <p:bgPr>
        <a:solidFill xmlns:a="http://schemas.openxmlformats.org/drawingml/2006/main">
          <a:srgbClr val="180D24"/>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D3EC027-DBDF-4617-BA18-14262B0A74D4}"/>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DEMO 1</a:t>
            </a:r>
          </a:p>
        </p:txBody>
      </p:sp>
      <p:sp>
        <p:nvSpPr>
          <p:cNvPr id="2" name="">
            <a:extLst xmlns:a="http://schemas.openxmlformats.org/drawingml/2006/main">
              <a:ext uri="{FF2B5EF4-FFF2-40B4-BE49-F238E27FC236}">
                <a16:creationId xmlns:a16="http://schemas.microsoft.com/office/drawing/2014/main" id="{14BF0B22-E65F-4DC1-91D6-D681B52760C3}"/>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8EE"/>
                </a:solidFill>
                <a:latin typeface="Aptos"/>
                <a:ea typeface="Aptos"/>
                <a:cs typeface="Aptos"/>
              </a:defRPr>
            </a:pPr>
            <a:r>
              <a:rPr sz="3750" b="1" i="0">
                <a:solidFill>
                  <a:srgbClr val="FFF8EE"/>
                </a:solidFill>
                <a:latin typeface="Aptos"/>
                <a:ea typeface="Aptos"/>
                <a:cs typeface="Aptos"/>
              </a:rPr>
              <a:t>Live demo: narrate state, not keystrokes</a:t>
            </a:r>
          </a:p>
        </p:txBody>
      </p:sp>
      <p:sp>
        <p:nvSpPr>
          <p:cNvPr id="3" name="">
            <a:extLst xmlns:a="http://schemas.openxmlformats.org/drawingml/2006/main">
              <a:ext uri="{FF2B5EF4-FFF2-40B4-BE49-F238E27FC236}">
                <a16:creationId xmlns:a16="http://schemas.microsoft.com/office/drawing/2014/main" id="{FF1053F3-6C0A-402A-A846-6E35A6A1D933}"/>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3520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7221C33-5CAC-4B74-81AB-4A80530F6D48}"/>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BFAFCB"/>
                </a:solidFill>
                <a:latin typeface="Aptos"/>
                <a:ea typeface="Aptos"/>
                <a:cs typeface="Aptos"/>
              </a:defRPr>
            </a:pPr>
            <a:r>
              <a:rPr sz="900" b="1" i="0">
                <a:solidFill>
                  <a:srgbClr val="BFAFCB"/>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C4DE9BD8-9B2C-4DA9-B386-375C89C59E47}"/>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C9B6FF"/>
                </a:solidFill>
                <a:latin typeface="Aptos"/>
                <a:ea typeface="Aptos"/>
                <a:cs typeface="Aptos"/>
              </a:defRPr>
            </a:pPr>
            <a:r>
              <a:rPr sz="1050" b="1" i="0">
                <a:solidFill>
                  <a:srgbClr val="C9B6FF"/>
                </a:solidFill>
                <a:latin typeface="Aptos"/>
                <a:ea typeface="Aptos"/>
                <a:cs typeface="Aptos"/>
              </a:rPr>
              <a:t>11</a:t>
            </a:r>
          </a:p>
        </p:txBody>
      </p:sp>
      <p:sp>
        <p:nvSpPr>
          <p:cNvPr id="6" name="">
            <a:extLst xmlns:a="http://schemas.openxmlformats.org/drawingml/2006/main">
              <a:ext uri="{FF2B5EF4-FFF2-40B4-BE49-F238E27FC236}">
                <a16:creationId xmlns:a16="http://schemas.microsoft.com/office/drawing/2014/main" id="{D7BF475F-C704-4D84-A6DD-FE05602D7BE1}"/>
              </a:ext>
            </a:extLst>
          </p:cNvPr>
          <p:cNvSpPr>
            <a:spLocks xmlns:a="http://schemas.openxmlformats.org/drawingml/2006/main" noGrp="1"/>
          </p:cNvSpPr>
          <p:nvPr/>
        </p:nvSpPr>
        <p:spPr>
          <a:xfrm xmlns:a="http://schemas.openxmlformats.org/drawingml/2006/main">
            <a:off x="952500" y="1733550"/>
            <a:ext cx="10287000" cy="3638550"/>
          </a:xfrm>
          <a:prstGeom xmlns:a="http://schemas.openxmlformats.org/drawingml/2006/main" prst="roundRect">
            <a:avLst>
              <a:gd name="adj" fmla="val 4188"/>
            </a:avLst>
          </a:prstGeom>
          <a:solidFill xmlns:a="http://schemas.openxmlformats.org/drawingml/2006/main">
            <a:srgbClr val="28183A"/>
          </a:solidFill>
          <a:ln xmlns:a="http://schemas.openxmlformats.org/drawingml/2006/main" w="9525">
            <a:solidFill>
              <a:srgbClr val="4A335D"/>
            </a:solidFill>
            <a:prstDash val="solid"/>
          </a:ln>
        </p:spPr>
      </p:sp>
      <p:sp>
        <p:nvSpPr>
          <p:cNvPr id="7" name="">
            <a:extLst xmlns:a="http://schemas.openxmlformats.org/drawingml/2006/main">
              <a:ext uri="{FF2B5EF4-FFF2-40B4-BE49-F238E27FC236}">
                <a16:creationId xmlns:a16="http://schemas.microsoft.com/office/drawing/2014/main" id="{1A73946E-109A-4648-9A64-BB72C508626B}"/>
              </a:ext>
            </a:extLst>
          </p:cNvPr>
          <p:cNvSpPr>
            <a:spLocks xmlns:a="http://schemas.openxmlformats.org/drawingml/2006/main" noGrp="1"/>
          </p:cNvSpPr>
          <p:nvPr/>
        </p:nvSpPr>
        <p:spPr>
          <a:xfrm xmlns:a="http://schemas.openxmlformats.org/drawingml/2006/main">
            <a:off x="952500" y="1733550"/>
            <a:ext cx="10287000" cy="400050"/>
          </a:xfrm>
          <a:prstGeom xmlns:a="http://schemas.openxmlformats.org/drawingml/2006/main" prst="roundRect">
            <a:avLst>
              <a:gd name="adj" fmla="val 38095"/>
            </a:avLst>
          </a:prstGeom>
          <a:solidFill xmlns:a="http://schemas.openxmlformats.org/drawingml/2006/main">
            <a:srgbClr val="21122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E98DF47-7106-44F2-9C04-D652349EFD84}"/>
              </a:ext>
            </a:extLst>
          </p:cNvPr>
          <p:cNvSpPr>
            <a:spLocks xmlns:a="http://schemas.openxmlformats.org/drawingml/2006/main" noGrp="1"/>
          </p:cNvSpPr>
          <p:nvPr/>
        </p:nvSpPr>
        <p:spPr>
          <a:xfrm xmlns:a="http://schemas.openxmlformats.org/drawingml/2006/main">
            <a:off x="952500" y="2000250"/>
            <a:ext cx="10287000" cy="133350"/>
          </a:xfrm>
          <a:prstGeom xmlns:a="http://schemas.openxmlformats.org/drawingml/2006/main" prst="rect">
            <a:avLst/>
          </a:prstGeom>
          <a:solidFill xmlns:a="http://schemas.openxmlformats.org/drawingml/2006/main">
            <a:srgbClr val="21122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86F70EA-1FBC-42ED-98FD-B7BBF40310E7}"/>
              </a:ext>
            </a:extLst>
          </p:cNvPr>
          <p:cNvSpPr>
            <a:spLocks xmlns:a="http://schemas.openxmlformats.org/drawingml/2006/main" noGrp="1"/>
          </p:cNvSpPr>
          <p:nvPr/>
        </p:nvSpPr>
        <p:spPr>
          <a:xfrm xmlns:a="http://schemas.openxmlformats.org/drawingml/2006/main">
            <a:off x="1123950" y="1885950"/>
            <a:ext cx="95250" cy="95250"/>
          </a:xfrm>
          <a:prstGeom xmlns:a="http://schemas.openxmlformats.org/drawingml/2006/main" prst="roundRect">
            <a:avLst>
              <a:gd name="adj" fmla="val 50000"/>
            </a:avLst>
          </a:prstGeom>
          <a:solidFill xmlns:a="http://schemas.openxmlformats.org/drawingml/2006/main">
            <a:srgbClr val="FF7B7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4C9F1AE-3A06-4A6D-9D81-5C96B71174C3}"/>
              </a:ext>
            </a:extLst>
          </p:cNvPr>
          <p:cNvSpPr>
            <a:spLocks xmlns:a="http://schemas.openxmlformats.org/drawingml/2006/main" noGrp="1"/>
          </p:cNvSpPr>
          <p:nvPr/>
        </p:nvSpPr>
        <p:spPr>
          <a:xfrm xmlns:a="http://schemas.openxmlformats.org/drawingml/2006/main">
            <a:off x="1295400" y="1885950"/>
            <a:ext cx="95250" cy="95250"/>
          </a:xfrm>
          <a:prstGeom xmlns:a="http://schemas.openxmlformats.org/drawingml/2006/main" prst="roundRect">
            <a:avLst>
              <a:gd name="adj" fmla="val 50000"/>
            </a:avLst>
          </a:prstGeom>
          <a:solidFill xmlns:a="http://schemas.openxmlformats.org/drawingml/2006/main">
            <a:srgbClr val="FFC66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1D630A9-A77F-4C74-B406-DCF51A76EB90}"/>
              </a:ext>
            </a:extLst>
          </p:cNvPr>
          <p:cNvSpPr>
            <a:spLocks xmlns:a="http://schemas.openxmlformats.org/drawingml/2006/main" noGrp="1"/>
          </p:cNvSpPr>
          <p:nvPr/>
        </p:nvSpPr>
        <p:spPr>
          <a:xfrm xmlns:a="http://schemas.openxmlformats.org/drawingml/2006/main">
            <a:off x="1466850" y="1885950"/>
            <a:ext cx="95250" cy="95250"/>
          </a:xfrm>
          <a:prstGeom xmlns:a="http://schemas.openxmlformats.org/drawingml/2006/main" prst="roundRect">
            <a:avLst>
              <a:gd name="adj" fmla="val 50000"/>
            </a:avLst>
          </a:prstGeom>
          <a:solidFill xmlns:a="http://schemas.openxmlformats.org/drawingml/2006/main">
            <a:srgbClr val="70D6A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AD5B70C-5E7E-405F-9661-03C199CD992C}"/>
              </a:ext>
            </a:extLst>
          </p:cNvPr>
          <p:cNvSpPr>
            <a:spLocks xmlns:a="http://schemas.openxmlformats.org/drawingml/2006/main" noGrp="1"/>
          </p:cNvSpPr>
          <p:nvPr/>
        </p:nvSpPr>
        <p:spPr>
          <a:xfrm xmlns:a="http://schemas.openxmlformats.org/drawingml/2006/main">
            <a:off x="1733550" y="1847850"/>
            <a:ext cx="933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FF6B4A"/>
                </a:solidFill>
                <a:latin typeface="Aptos"/>
                <a:ea typeface="Aptos"/>
                <a:cs typeface="Aptos"/>
              </a:defRPr>
            </a:pPr>
            <a:r>
              <a:rPr sz="900" b="1" i="0">
                <a:solidFill>
                  <a:srgbClr val="FF6B4A"/>
                </a:solidFill>
                <a:latin typeface="Aptos"/>
                <a:ea typeface="Aptos"/>
                <a:cs typeface="Aptos"/>
              </a:rPr>
              <a:t>BROWSER → SESSION → PIPELINE</a:t>
            </a:r>
          </a:p>
        </p:txBody>
      </p:sp>
      <p:sp>
        <p:nvSpPr>
          <p:cNvPr id="13" name="">
            <a:extLst xmlns:a="http://schemas.openxmlformats.org/drawingml/2006/main">
              <a:ext uri="{FF2B5EF4-FFF2-40B4-BE49-F238E27FC236}">
                <a16:creationId xmlns:a16="http://schemas.microsoft.com/office/drawing/2014/main" id="{1BAB4BA9-0778-4E8F-878A-B659872B8D27}"/>
              </a:ext>
            </a:extLst>
          </p:cNvPr>
          <p:cNvSpPr>
            <a:spLocks xmlns:a="http://schemas.openxmlformats.org/drawingml/2006/main" noGrp="1"/>
          </p:cNvSpPr>
          <p:nvPr/>
        </p:nvSpPr>
        <p:spPr>
          <a:xfrm xmlns:a="http://schemas.openxmlformats.org/drawingml/2006/main">
            <a:off x="1181100" y="2305050"/>
            <a:ext cx="9829800" cy="2876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whoami; hostname; pwd</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ls /</a:t>
            </a:r>
          </a:p>
          <a:p xmlns:a="http://schemas.openxmlformats.org/drawingml/2006/main">
            <a:r>
              <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ls /; cd /var/log; pwd</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mkdir -p ~/demo/{in,out}</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printf 'ok\nerror: disk\n' &gt; ~/demo/in/app.log</a:t>
            </a:r>
          </a:p>
          <a:p xmlns:a="http://schemas.openxmlformats.org/drawingml/2006/main">
            <a:r>
              <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grep "error" ~/demo/in/app.log \</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  | tee ~/demo/out/errors.txt</a:t>
            </a:r>
          </a:p>
        </p:txBody>
      </p:sp>
      <p:sp>
        <p:nvSpPr>
          <p:cNvPr id="14" name="">
            <a:extLst xmlns:a="http://schemas.openxmlformats.org/drawingml/2006/main">
              <a:ext uri="{FF2B5EF4-FFF2-40B4-BE49-F238E27FC236}">
                <a16:creationId xmlns:a16="http://schemas.microsoft.com/office/drawing/2014/main" id="{C79234DC-739F-4960-B431-15C06ABB8D92}"/>
              </a:ext>
            </a:extLst>
          </p:cNvPr>
          <p:cNvSpPr>
            <a:spLocks xmlns:a="http://schemas.openxmlformats.org/drawingml/2006/main" noGrp="1"/>
          </p:cNvSpPr>
          <p:nvPr/>
        </p:nvSpPr>
        <p:spPr>
          <a:xfrm xmlns:a="http://schemas.openxmlformats.org/drawingml/2006/main">
            <a:off x="952500" y="5619750"/>
            <a:ext cx="1028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2025" b="1" i="0">
                <a:solidFill>
                  <a:srgbClr val="70D6A6"/>
                </a:solidFill>
                <a:latin typeface="Aptos"/>
                <a:ea typeface="Aptos"/>
                <a:cs typeface="Aptos"/>
              </a:defRPr>
            </a:pPr>
            <a:r>
              <a:rPr sz="2025" b="1" i="0">
                <a:solidFill>
                  <a:srgbClr val="70D6A6"/>
                </a:solidFill>
                <a:latin typeface="Aptos"/>
                <a:ea typeface="Aptos"/>
                <a:cs typeface="Aptos"/>
              </a:rPr>
              <a:t>Predict → run → read output → verify state</a:t>
            </a:r>
          </a:p>
        </p:txBody>
      </p:sp>
    </p:spTree>
    <p:extLst>
      <p:ext uri="{BB962C8B-B14F-4D97-AF65-F5344CB8AC3E}">
        <p14:creationId xmlns:p14="http://schemas.microsoft.com/office/powerpoint/2010/main" val="1765259028"/>
      </p:ext>
    </p:extLst>
  </p:cSld>
</p:sld>
</file>

<file path=ppt/slides/slide12.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4CFBF8F-CB57-4C26-B92E-5333B24D5E55}"/>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TERMINAL</a:t>
            </a:r>
          </a:p>
        </p:txBody>
      </p:sp>
      <p:sp>
        <p:nvSpPr>
          <p:cNvPr id="2" name="">
            <a:extLst xmlns:a="http://schemas.openxmlformats.org/drawingml/2006/main">
              <a:ext uri="{FF2B5EF4-FFF2-40B4-BE49-F238E27FC236}">
                <a16:creationId xmlns:a16="http://schemas.microsoft.com/office/drawing/2014/main" id="{B7D27E0A-5BA5-43BE-916D-8FC20D5222C1}"/>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160B20"/>
                </a:solidFill>
                <a:latin typeface="Aptos"/>
                <a:ea typeface="Aptos"/>
                <a:cs typeface="Aptos"/>
              </a:defRPr>
            </a:pPr>
            <a:r>
              <a:rPr sz="3750" b="1" i="0">
                <a:solidFill>
                  <a:srgbClr val="160B20"/>
                </a:solidFill>
                <a:latin typeface="Aptos"/>
                <a:ea typeface="Aptos"/>
                <a:cs typeface="Aptos"/>
              </a:rPr>
              <a:t>Pipes connect small tools into an investigation</a:t>
            </a:r>
          </a:p>
        </p:txBody>
      </p:sp>
      <p:sp>
        <p:nvSpPr>
          <p:cNvPr id="3" name="">
            <a:extLst xmlns:a="http://schemas.openxmlformats.org/drawingml/2006/main">
              <a:ext uri="{FF2B5EF4-FFF2-40B4-BE49-F238E27FC236}">
                <a16:creationId xmlns:a16="http://schemas.microsoft.com/office/drawing/2014/main" id="{523436D0-7D9F-4172-B758-5DE61162800A}"/>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E7DC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F6D975B-1453-4BDD-A9CA-FE11F5E040C3}"/>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6F6277"/>
                </a:solidFill>
                <a:latin typeface="Aptos"/>
                <a:ea typeface="Aptos"/>
                <a:cs typeface="Aptos"/>
              </a:defRPr>
            </a:pPr>
            <a:r>
              <a:rPr sz="900" b="1" i="0">
                <a:solidFill>
                  <a:srgbClr val="6F6277"/>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40CB42B6-5EF7-4DBB-8E27-AC6D54535520}"/>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8B5CF6"/>
                </a:solidFill>
                <a:latin typeface="Aptos"/>
                <a:ea typeface="Aptos"/>
                <a:cs typeface="Aptos"/>
              </a:defRPr>
            </a:pPr>
            <a:r>
              <a:rPr sz="1050" b="1" i="0">
                <a:solidFill>
                  <a:srgbClr val="8B5CF6"/>
                </a:solidFill>
                <a:latin typeface="Aptos"/>
                <a:ea typeface="Aptos"/>
                <a:cs typeface="Aptos"/>
              </a:rPr>
              <a:t>12</a:t>
            </a:r>
          </a:p>
        </p:txBody>
      </p:sp>
      <p:sp>
        <p:nvSpPr>
          <p:cNvPr id="6" name="">
            <a:extLst xmlns:a="http://schemas.openxmlformats.org/drawingml/2006/main">
              <a:ext uri="{FF2B5EF4-FFF2-40B4-BE49-F238E27FC236}">
                <a16:creationId xmlns:a16="http://schemas.microsoft.com/office/drawing/2014/main" id="{39B4D714-BEA4-4D62-B0F7-B7CF25708126}"/>
              </a:ext>
            </a:extLst>
          </p:cNvPr>
          <p:cNvSpPr>
            <a:spLocks xmlns:a="http://schemas.openxmlformats.org/drawingml/2006/main" noGrp="1"/>
          </p:cNvSpPr>
          <p:nvPr/>
        </p:nvSpPr>
        <p:spPr>
          <a:xfrm xmlns:a="http://schemas.openxmlformats.org/drawingml/2006/main">
            <a:off x="781050" y="1790700"/>
            <a:ext cx="10629900" cy="1066800"/>
          </a:xfrm>
          <a:prstGeom xmlns:a="http://schemas.openxmlformats.org/drawingml/2006/main" prst="roundRect">
            <a:avLst>
              <a:gd name="adj" fmla="val 14286"/>
            </a:avLst>
          </a:prstGeom>
          <a:solidFill xmlns:a="http://schemas.openxmlformats.org/drawingml/2006/main">
            <a:srgbClr val="28183A"/>
          </a:solidFill>
          <a:ln xmlns:a="http://schemas.openxmlformats.org/drawingml/2006/main" w="9525">
            <a:solidFill>
              <a:srgbClr val="4A335D"/>
            </a:solidFill>
            <a:prstDash val="solid"/>
          </a:ln>
        </p:spPr>
      </p:sp>
      <p:sp>
        <p:nvSpPr>
          <p:cNvPr id="7" name="">
            <a:extLst xmlns:a="http://schemas.openxmlformats.org/drawingml/2006/main">
              <a:ext uri="{FF2B5EF4-FFF2-40B4-BE49-F238E27FC236}">
                <a16:creationId xmlns:a16="http://schemas.microsoft.com/office/drawing/2014/main" id="{60195E11-41DE-467D-B482-4DDE450250B1}"/>
              </a:ext>
            </a:extLst>
          </p:cNvPr>
          <p:cNvSpPr>
            <a:spLocks xmlns:a="http://schemas.openxmlformats.org/drawingml/2006/main" noGrp="1"/>
          </p:cNvSpPr>
          <p:nvPr/>
        </p:nvSpPr>
        <p:spPr>
          <a:xfrm xmlns:a="http://schemas.openxmlformats.org/drawingml/2006/main">
            <a:off x="781050" y="1790700"/>
            <a:ext cx="10629900" cy="400050"/>
          </a:xfrm>
          <a:prstGeom xmlns:a="http://schemas.openxmlformats.org/drawingml/2006/main" prst="roundRect">
            <a:avLst>
              <a:gd name="adj" fmla="val 38095"/>
            </a:avLst>
          </a:prstGeom>
          <a:solidFill xmlns:a="http://schemas.openxmlformats.org/drawingml/2006/main">
            <a:srgbClr val="21122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CA7935C-8CAB-4B79-BD59-FA3205D415C5}"/>
              </a:ext>
            </a:extLst>
          </p:cNvPr>
          <p:cNvSpPr>
            <a:spLocks xmlns:a="http://schemas.openxmlformats.org/drawingml/2006/main" noGrp="1"/>
          </p:cNvSpPr>
          <p:nvPr/>
        </p:nvSpPr>
        <p:spPr>
          <a:xfrm xmlns:a="http://schemas.openxmlformats.org/drawingml/2006/main">
            <a:off x="781050" y="2057400"/>
            <a:ext cx="10629900" cy="133350"/>
          </a:xfrm>
          <a:prstGeom xmlns:a="http://schemas.openxmlformats.org/drawingml/2006/main" prst="rect">
            <a:avLst/>
          </a:prstGeom>
          <a:solidFill xmlns:a="http://schemas.openxmlformats.org/drawingml/2006/main">
            <a:srgbClr val="21122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9E2EE90-F62C-4E22-870A-DA9B977B8164}"/>
              </a:ext>
            </a:extLst>
          </p:cNvPr>
          <p:cNvSpPr>
            <a:spLocks xmlns:a="http://schemas.openxmlformats.org/drawingml/2006/main" noGrp="1"/>
          </p:cNvSpPr>
          <p:nvPr/>
        </p:nvSpPr>
        <p:spPr>
          <a:xfrm xmlns:a="http://schemas.openxmlformats.org/drawingml/2006/main">
            <a:off x="952500" y="1943100"/>
            <a:ext cx="95250" cy="95250"/>
          </a:xfrm>
          <a:prstGeom xmlns:a="http://schemas.openxmlformats.org/drawingml/2006/main" prst="roundRect">
            <a:avLst>
              <a:gd name="adj" fmla="val 50000"/>
            </a:avLst>
          </a:prstGeom>
          <a:solidFill xmlns:a="http://schemas.openxmlformats.org/drawingml/2006/main">
            <a:srgbClr val="FF7B7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16C8D02-4926-4E47-84C9-5E9946A8E35F}"/>
              </a:ext>
            </a:extLst>
          </p:cNvPr>
          <p:cNvSpPr>
            <a:spLocks xmlns:a="http://schemas.openxmlformats.org/drawingml/2006/main" noGrp="1"/>
          </p:cNvSpPr>
          <p:nvPr/>
        </p:nvSpPr>
        <p:spPr>
          <a:xfrm xmlns:a="http://schemas.openxmlformats.org/drawingml/2006/main">
            <a:off x="1123950" y="1943100"/>
            <a:ext cx="95250" cy="95250"/>
          </a:xfrm>
          <a:prstGeom xmlns:a="http://schemas.openxmlformats.org/drawingml/2006/main" prst="roundRect">
            <a:avLst>
              <a:gd name="adj" fmla="val 50000"/>
            </a:avLst>
          </a:prstGeom>
          <a:solidFill xmlns:a="http://schemas.openxmlformats.org/drawingml/2006/main">
            <a:srgbClr val="FFC66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6B43021-06DD-4B80-914B-76A749102B20}"/>
              </a:ext>
            </a:extLst>
          </p:cNvPr>
          <p:cNvSpPr>
            <a:spLocks xmlns:a="http://schemas.openxmlformats.org/drawingml/2006/main" noGrp="1"/>
          </p:cNvSpPr>
          <p:nvPr/>
        </p:nvSpPr>
        <p:spPr>
          <a:xfrm xmlns:a="http://schemas.openxmlformats.org/drawingml/2006/main">
            <a:off x="1295400" y="1943100"/>
            <a:ext cx="95250" cy="95250"/>
          </a:xfrm>
          <a:prstGeom xmlns:a="http://schemas.openxmlformats.org/drawingml/2006/main" prst="roundRect">
            <a:avLst>
              <a:gd name="adj" fmla="val 50000"/>
            </a:avLst>
          </a:prstGeom>
          <a:solidFill xmlns:a="http://schemas.openxmlformats.org/drawingml/2006/main">
            <a:srgbClr val="70D6A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8626E2F-4826-434D-8FE3-C0F1D7D33E6C}"/>
              </a:ext>
            </a:extLst>
          </p:cNvPr>
          <p:cNvSpPr>
            <a:spLocks xmlns:a="http://schemas.openxmlformats.org/drawingml/2006/main" noGrp="1"/>
          </p:cNvSpPr>
          <p:nvPr/>
        </p:nvSpPr>
        <p:spPr>
          <a:xfrm xmlns:a="http://schemas.openxmlformats.org/drawingml/2006/main">
            <a:off x="1562100" y="1905000"/>
            <a:ext cx="9677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FF6B4A"/>
                </a:solidFill>
                <a:latin typeface="Aptos"/>
                <a:ea typeface="Aptos"/>
                <a:cs typeface="Aptos"/>
              </a:defRPr>
            </a:pPr>
            <a:r>
              <a:rPr sz="900" b="1" i="0">
                <a:solidFill>
                  <a:srgbClr val="FF6B4A"/>
                </a:solidFill>
                <a:latin typeface="Aptos"/>
                <a:ea typeface="Aptos"/>
                <a:cs typeface="Aptos"/>
              </a:rPr>
              <a:t>ONE QUESTION, THREE FILTERS</a:t>
            </a:r>
          </a:p>
        </p:txBody>
      </p:sp>
      <p:sp>
        <p:nvSpPr>
          <p:cNvPr id="13" name="">
            <a:extLst xmlns:a="http://schemas.openxmlformats.org/drawingml/2006/main">
              <a:ext uri="{FF2B5EF4-FFF2-40B4-BE49-F238E27FC236}">
                <a16:creationId xmlns:a16="http://schemas.microsoft.com/office/drawing/2014/main" id="{97842B58-CB68-4779-8761-78AED87BEC0C}"/>
              </a:ext>
            </a:extLst>
          </p:cNvPr>
          <p:cNvSpPr>
            <a:spLocks xmlns:a="http://schemas.openxmlformats.org/drawingml/2006/main" noGrp="1"/>
          </p:cNvSpPr>
          <p:nvPr/>
        </p:nvSpPr>
        <p:spPr>
          <a:xfrm xmlns:a="http://schemas.openxmlformats.org/drawingml/2006/main">
            <a:off x="1009650" y="2362200"/>
            <a:ext cx="10172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journalctl -u ssh --since today | grep -i failed | tail -n 20</a:t>
            </a:r>
          </a:p>
        </p:txBody>
      </p:sp>
      <p:sp>
        <p:nvSpPr>
          <p:cNvPr id="14" name="">
            <a:extLst xmlns:a="http://schemas.openxmlformats.org/drawingml/2006/main">
              <a:ext uri="{FF2B5EF4-FFF2-40B4-BE49-F238E27FC236}">
                <a16:creationId xmlns:a16="http://schemas.microsoft.com/office/drawing/2014/main" id="{69074CA0-4E94-4CDB-B454-EE5F1E47A7DE}"/>
              </a:ext>
            </a:extLst>
          </p:cNvPr>
          <p:cNvSpPr>
            <a:spLocks xmlns:a="http://schemas.openxmlformats.org/drawingml/2006/main" noGrp="1"/>
          </p:cNvSpPr>
          <p:nvPr/>
        </p:nvSpPr>
        <p:spPr>
          <a:xfrm xmlns:a="http://schemas.openxmlformats.org/drawingml/2006/main">
            <a:off x="914400" y="3429000"/>
            <a:ext cx="1238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3000" b="1" i="0">
                <a:solidFill>
                  <a:srgbClr val="8B5CF6"/>
                </a:solidFill>
                <a:latin typeface="Courier New"/>
                <a:ea typeface="Courier New"/>
                <a:cs typeface="Courier New"/>
              </a:defRPr>
            </a:pPr>
            <a:r>
              <a:rPr sz="3000" b="1" i="0">
                <a:solidFill>
                  <a:srgbClr val="8B5CF6"/>
                </a:solidFill>
                <a:latin typeface="Courier New"/>
                <a:ea typeface="Courier New"/>
                <a:cs typeface="Courier New"/>
              </a:rPr>
              <a:t>|</a:t>
            </a:r>
          </a:p>
        </p:txBody>
      </p:sp>
      <p:sp>
        <p:nvSpPr>
          <p:cNvPr id="15" name="">
            <a:extLst xmlns:a="http://schemas.openxmlformats.org/drawingml/2006/main">
              <a:ext uri="{FF2B5EF4-FFF2-40B4-BE49-F238E27FC236}">
                <a16:creationId xmlns:a16="http://schemas.microsoft.com/office/drawing/2014/main" id="{9D402DDF-9ED6-4ADD-A85F-4B59D4C41674}"/>
              </a:ext>
            </a:extLst>
          </p:cNvPr>
          <p:cNvSpPr>
            <a:spLocks xmlns:a="http://schemas.openxmlformats.org/drawingml/2006/main" noGrp="1"/>
          </p:cNvSpPr>
          <p:nvPr/>
        </p:nvSpPr>
        <p:spPr>
          <a:xfrm xmlns:a="http://schemas.openxmlformats.org/drawingml/2006/main">
            <a:off x="2476500" y="3524250"/>
            <a:ext cx="781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800" b="0" i="0">
                <a:solidFill>
                  <a:srgbClr val="160B20"/>
                </a:solidFill>
                <a:latin typeface="Aptos"/>
                <a:ea typeface="Aptos"/>
                <a:cs typeface="Aptos"/>
              </a:defRPr>
            </a:pPr>
            <a:r>
              <a:rPr sz="1800" b="0" i="0">
                <a:solidFill>
                  <a:srgbClr val="160B20"/>
                </a:solidFill>
                <a:latin typeface="Aptos"/>
                <a:ea typeface="Aptos"/>
                <a:cs typeface="Aptos"/>
              </a:rPr>
              <a:t>send output to the next command</a:t>
            </a:r>
          </a:p>
        </p:txBody>
      </p:sp>
      <p:sp>
        <p:nvSpPr>
          <p:cNvPr id="16" name="">
            <a:extLst xmlns:a="http://schemas.openxmlformats.org/drawingml/2006/main">
              <a:ext uri="{FF2B5EF4-FFF2-40B4-BE49-F238E27FC236}">
                <a16:creationId xmlns:a16="http://schemas.microsoft.com/office/drawing/2014/main" id="{4D9F659D-16DA-4CB0-B241-E9F4F4AC1EDD}"/>
              </a:ext>
            </a:extLst>
          </p:cNvPr>
          <p:cNvSpPr>
            <a:spLocks xmlns:a="http://schemas.openxmlformats.org/drawingml/2006/main" noGrp="1"/>
          </p:cNvSpPr>
          <p:nvPr/>
        </p:nvSpPr>
        <p:spPr>
          <a:xfrm xmlns:a="http://schemas.openxmlformats.org/drawingml/2006/main">
            <a:off x="914400" y="4171950"/>
            <a:ext cx="1238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3000" b="1" i="0">
                <a:solidFill>
                  <a:srgbClr val="FF6B4A"/>
                </a:solidFill>
                <a:latin typeface="Courier New"/>
                <a:ea typeface="Courier New"/>
                <a:cs typeface="Courier New"/>
              </a:defRPr>
            </a:pPr>
            <a:r>
              <a:rPr sz="3000" b="1" i="0">
                <a:solidFill>
                  <a:srgbClr val="FF6B4A"/>
                </a:solidFill>
                <a:latin typeface="Courier New"/>
                <a:ea typeface="Courier New"/>
                <a:cs typeface="Courier New"/>
              </a:rPr>
              <a:t>&gt;</a:t>
            </a:r>
          </a:p>
        </p:txBody>
      </p:sp>
      <p:sp>
        <p:nvSpPr>
          <p:cNvPr id="17" name="">
            <a:extLst xmlns:a="http://schemas.openxmlformats.org/drawingml/2006/main">
              <a:ext uri="{FF2B5EF4-FFF2-40B4-BE49-F238E27FC236}">
                <a16:creationId xmlns:a16="http://schemas.microsoft.com/office/drawing/2014/main" id="{8A84CFF3-4702-433F-9877-647DA52856C9}"/>
              </a:ext>
            </a:extLst>
          </p:cNvPr>
          <p:cNvSpPr>
            <a:spLocks xmlns:a="http://schemas.openxmlformats.org/drawingml/2006/main" noGrp="1"/>
          </p:cNvSpPr>
          <p:nvPr/>
        </p:nvSpPr>
        <p:spPr>
          <a:xfrm xmlns:a="http://schemas.openxmlformats.org/drawingml/2006/main">
            <a:off x="2476500" y="4267200"/>
            <a:ext cx="781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800" b="0" i="0">
                <a:solidFill>
                  <a:srgbClr val="160B20"/>
                </a:solidFill>
                <a:latin typeface="Aptos"/>
                <a:ea typeface="Aptos"/>
                <a:cs typeface="Aptos"/>
              </a:defRPr>
            </a:pPr>
            <a:r>
              <a:rPr sz="1800" b="0" i="0">
                <a:solidFill>
                  <a:srgbClr val="160B20"/>
                </a:solidFill>
                <a:latin typeface="Aptos"/>
                <a:ea typeface="Aptos"/>
                <a:cs typeface="Aptos"/>
              </a:rPr>
              <a:t>replace a file with output</a:t>
            </a:r>
          </a:p>
        </p:txBody>
      </p:sp>
      <p:sp>
        <p:nvSpPr>
          <p:cNvPr id="18" name="">
            <a:extLst xmlns:a="http://schemas.openxmlformats.org/drawingml/2006/main">
              <a:ext uri="{FF2B5EF4-FFF2-40B4-BE49-F238E27FC236}">
                <a16:creationId xmlns:a16="http://schemas.microsoft.com/office/drawing/2014/main" id="{7BA17690-0F90-4E7E-8423-F98ED7208C50}"/>
              </a:ext>
            </a:extLst>
          </p:cNvPr>
          <p:cNvSpPr>
            <a:spLocks xmlns:a="http://schemas.openxmlformats.org/drawingml/2006/main" noGrp="1"/>
          </p:cNvSpPr>
          <p:nvPr/>
        </p:nvSpPr>
        <p:spPr>
          <a:xfrm xmlns:a="http://schemas.openxmlformats.org/drawingml/2006/main">
            <a:off x="914400" y="4914900"/>
            <a:ext cx="1238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3000" b="1" i="0">
                <a:solidFill>
                  <a:srgbClr val="FF6B4A"/>
                </a:solidFill>
                <a:latin typeface="Courier New"/>
                <a:ea typeface="Courier New"/>
                <a:cs typeface="Courier New"/>
              </a:defRPr>
            </a:pPr>
            <a:r>
              <a:rPr sz="3000" b="1" i="0">
                <a:solidFill>
                  <a:srgbClr val="FF6B4A"/>
                </a:solidFill>
                <a:latin typeface="Courier New"/>
                <a:ea typeface="Courier New"/>
                <a:cs typeface="Courier New"/>
              </a:rPr>
              <a:t>&gt;&gt;</a:t>
            </a:r>
          </a:p>
        </p:txBody>
      </p:sp>
      <p:sp>
        <p:nvSpPr>
          <p:cNvPr id="19" name="">
            <a:extLst xmlns:a="http://schemas.openxmlformats.org/drawingml/2006/main">
              <a:ext uri="{FF2B5EF4-FFF2-40B4-BE49-F238E27FC236}">
                <a16:creationId xmlns:a16="http://schemas.microsoft.com/office/drawing/2014/main" id="{90187D4F-8298-49BE-9C9C-1C64EEE0BB62}"/>
              </a:ext>
            </a:extLst>
          </p:cNvPr>
          <p:cNvSpPr>
            <a:spLocks xmlns:a="http://schemas.openxmlformats.org/drawingml/2006/main" noGrp="1"/>
          </p:cNvSpPr>
          <p:nvPr/>
        </p:nvSpPr>
        <p:spPr>
          <a:xfrm xmlns:a="http://schemas.openxmlformats.org/drawingml/2006/main">
            <a:off x="2476500" y="5010150"/>
            <a:ext cx="781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800" b="0" i="0">
                <a:solidFill>
                  <a:srgbClr val="160B20"/>
                </a:solidFill>
                <a:latin typeface="Aptos"/>
                <a:ea typeface="Aptos"/>
                <a:cs typeface="Aptos"/>
              </a:defRPr>
            </a:pPr>
            <a:r>
              <a:rPr sz="1800" b="0" i="0">
                <a:solidFill>
                  <a:srgbClr val="160B20"/>
                </a:solidFill>
                <a:latin typeface="Aptos"/>
                <a:ea typeface="Aptos"/>
                <a:cs typeface="Aptos"/>
              </a:rPr>
              <a:t>append output to a file</a:t>
            </a:r>
          </a:p>
        </p:txBody>
      </p:sp>
      <p:sp>
        <p:nvSpPr>
          <p:cNvPr id="20" name="">
            <a:extLst xmlns:a="http://schemas.openxmlformats.org/drawingml/2006/main">
              <a:ext uri="{FF2B5EF4-FFF2-40B4-BE49-F238E27FC236}">
                <a16:creationId xmlns:a16="http://schemas.microsoft.com/office/drawing/2014/main" id="{E50ECEE6-A788-4533-AC9E-87EB4A01344D}"/>
              </a:ext>
            </a:extLst>
          </p:cNvPr>
          <p:cNvSpPr>
            <a:spLocks xmlns:a="http://schemas.openxmlformats.org/drawingml/2006/main" noGrp="1"/>
          </p:cNvSpPr>
          <p:nvPr/>
        </p:nvSpPr>
        <p:spPr>
          <a:xfrm xmlns:a="http://schemas.openxmlformats.org/drawingml/2006/main">
            <a:off x="914400" y="5734050"/>
            <a:ext cx="1009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650" b="1" i="0">
                <a:solidFill>
                  <a:srgbClr val="6F6277"/>
                </a:solidFill>
                <a:latin typeface="Aptos"/>
                <a:ea typeface="Aptos"/>
                <a:cs typeface="Aptos"/>
              </a:defRPr>
            </a:pPr>
            <a:r>
              <a:rPr sz="1650" b="1" i="0">
                <a:solidFill>
                  <a:srgbClr val="6F6277"/>
                </a:solidFill>
                <a:latin typeface="Aptos"/>
                <a:ea typeface="Aptos"/>
                <a:cs typeface="Aptos"/>
              </a:rPr>
              <a:t>Rule: inspect before &gt; — redirection happens before the command runs.</a:t>
            </a:r>
          </a:p>
        </p:txBody>
      </p:sp>
    </p:spTree>
    <p:extLst>
      <p:ext uri="{BB962C8B-B14F-4D97-AF65-F5344CB8AC3E}">
        <p14:creationId xmlns:p14="http://schemas.microsoft.com/office/powerpoint/2010/main" val="972863495"/>
      </p:ext>
    </p:extLst>
  </p:cSld>
</p:sld>
</file>

<file path=ppt/slides/slide13.xml><?xml version="1.0" encoding="utf-8"?>
<p:sld xmlns:p="http://schemas.openxmlformats.org/presentationml/2006/main">
  <p:cSld>
    <p:bg>
      <p:bgPr>
        <a:solidFill xmlns:a="http://schemas.openxmlformats.org/drawingml/2006/main">
          <a:srgbClr val="180D24"/>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CB4F8FE-CDF3-4C1E-A8BC-80B7E3693586}"/>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USERS &amp; GROUPS</a:t>
            </a:r>
          </a:p>
        </p:txBody>
      </p:sp>
      <p:sp>
        <p:nvSpPr>
          <p:cNvPr id="2" name="">
            <a:extLst xmlns:a="http://schemas.openxmlformats.org/drawingml/2006/main">
              <a:ext uri="{FF2B5EF4-FFF2-40B4-BE49-F238E27FC236}">
                <a16:creationId xmlns:a16="http://schemas.microsoft.com/office/drawing/2014/main" id="{DF7AA674-01B6-4310-94A2-500DFA70D75E}"/>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8EE"/>
                </a:solidFill>
                <a:latin typeface="Aptos"/>
                <a:ea typeface="Aptos"/>
                <a:cs typeface="Aptos"/>
              </a:defRPr>
            </a:pPr>
            <a:r>
              <a:rPr sz="3750" b="1" i="0">
                <a:solidFill>
                  <a:srgbClr val="FFF8EE"/>
                </a:solidFill>
                <a:latin typeface="Aptos"/>
                <a:ea typeface="Aptos"/>
                <a:cs typeface="Aptos"/>
              </a:rPr>
              <a:t>Linux authorizes identities, not job titles</a:t>
            </a:r>
          </a:p>
        </p:txBody>
      </p:sp>
      <p:sp>
        <p:nvSpPr>
          <p:cNvPr id="3" name="">
            <a:extLst xmlns:a="http://schemas.openxmlformats.org/drawingml/2006/main">
              <a:ext uri="{FF2B5EF4-FFF2-40B4-BE49-F238E27FC236}">
                <a16:creationId xmlns:a16="http://schemas.microsoft.com/office/drawing/2014/main" id="{8C7B56FA-7FEE-42C7-8D6E-1B4D1531DF0E}"/>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3520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A67FAF5-C709-4C4D-8E1B-D58EDD85F2A0}"/>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BFAFCB"/>
                </a:solidFill>
                <a:latin typeface="Aptos"/>
                <a:ea typeface="Aptos"/>
                <a:cs typeface="Aptos"/>
              </a:defRPr>
            </a:pPr>
            <a:r>
              <a:rPr sz="900" b="1" i="0">
                <a:solidFill>
                  <a:srgbClr val="BFAFCB"/>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86A92B6B-54A9-44F7-BF12-9471DFBBE2FD}"/>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C9B6FF"/>
                </a:solidFill>
                <a:latin typeface="Aptos"/>
                <a:ea typeface="Aptos"/>
                <a:cs typeface="Aptos"/>
              </a:defRPr>
            </a:pPr>
            <a:r>
              <a:rPr sz="1050" b="1" i="0">
                <a:solidFill>
                  <a:srgbClr val="C9B6FF"/>
                </a:solidFill>
                <a:latin typeface="Aptos"/>
                <a:ea typeface="Aptos"/>
                <a:cs typeface="Aptos"/>
              </a:rPr>
              <a:t>13</a:t>
            </a:r>
          </a:p>
        </p:txBody>
      </p:sp>
      <p:sp>
        <p:nvSpPr>
          <p:cNvPr id="6" name="">
            <a:extLst xmlns:a="http://schemas.openxmlformats.org/drawingml/2006/main">
              <a:ext uri="{FF2B5EF4-FFF2-40B4-BE49-F238E27FC236}">
                <a16:creationId xmlns:a16="http://schemas.microsoft.com/office/drawing/2014/main" id="{50B4E707-2116-480F-8842-2D3D8DC7904B}"/>
              </a:ext>
            </a:extLst>
          </p:cNvPr>
          <p:cNvSpPr>
            <a:spLocks xmlns:a="http://schemas.openxmlformats.org/drawingml/2006/main" noGrp="1"/>
          </p:cNvSpPr>
          <p:nvPr/>
        </p:nvSpPr>
        <p:spPr>
          <a:xfrm xmlns:a="http://schemas.openxmlformats.org/drawingml/2006/main">
            <a:off x="857250" y="1809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125" b="1" i="0">
                <a:solidFill>
                  <a:srgbClr val="FF6B4A"/>
                </a:solidFill>
                <a:latin typeface="Aptos"/>
                <a:ea typeface="Aptos"/>
                <a:cs typeface="Aptos"/>
              </a:defRPr>
            </a:pPr>
            <a:r>
              <a:rPr sz="1125" b="1" i="0">
                <a:solidFill>
                  <a:srgbClr val="FF6B4A"/>
                </a:solidFill>
                <a:latin typeface="Aptos"/>
                <a:ea typeface="Aptos"/>
                <a:cs typeface="Aptos"/>
              </a:rPr>
              <a:t>USER</a:t>
            </a:r>
          </a:p>
        </p:txBody>
      </p:sp>
      <p:sp>
        <p:nvSpPr>
          <p:cNvPr id="7" name="">
            <a:extLst xmlns:a="http://schemas.openxmlformats.org/drawingml/2006/main">
              <a:ext uri="{FF2B5EF4-FFF2-40B4-BE49-F238E27FC236}">
                <a16:creationId xmlns:a16="http://schemas.microsoft.com/office/drawing/2014/main" id="{B710EE2B-21DF-4924-910A-8CB5C15EF22E}"/>
              </a:ext>
            </a:extLst>
          </p:cNvPr>
          <p:cNvSpPr>
            <a:spLocks xmlns:a="http://schemas.openxmlformats.org/drawingml/2006/main" noGrp="1"/>
          </p:cNvSpPr>
          <p:nvPr/>
        </p:nvSpPr>
        <p:spPr>
          <a:xfrm xmlns:a="http://schemas.openxmlformats.org/drawingml/2006/main">
            <a:off x="857250" y="2238375"/>
            <a:ext cx="2571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2700" b="1" i="0">
                <a:solidFill>
                  <a:srgbClr val="FFF8EE"/>
                </a:solidFill>
                <a:latin typeface="Aptos"/>
                <a:ea typeface="Aptos"/>
                <a:cs typeface="Aptos"/>
              </a:defRPr>
            </a:pPr>
            <a:r>
              <a:rPr sz="2700" b="1" i="0">
                <a:solidFill>
                  <a:srgbClr val="FFF8EE"/>
                </a:solidFill>
                <a:latin typeface="Aptos"/>
                <a:ea typeface="Aptos"/>
                <a:cs typeface="Aptos"/>
              </a:rPr>
              <a:t>UID 1001</a:t>
            </a:r>
          </a:p>
          <a:p xmlns:a="http://schemas.openxmlformats.org/drawingml/2006/main">
            <a:pPr algn="l">
              <a:lnSpc>
                <a:spcPct val="95000"/>
              </a:lnSpc>
              <a:buNone/>
              <a:defRPr sz="2700" b="1" i="0">
                <a:solidFill>
                  <a:srgbClr val="FFF8EE"/>
                </a:solidFill>
                <a:latin typeface="Aptos"/>
                <a:ea typeface="Aptos"/>
                <a:cs typeface="Aptos"/>
              </a:defRPr>
            </a:pPr>
            <a:r>
              <a:rPr sz="2700" b="1" i="0">
                <a:solidFill>
                  <a:srgbClr val="FFF8EE"/>
                </a:solidFill>
                <a:latin typeface="Aptos"/>
                <a:ea typeface="Aptos"/>
                <a:cs typeface="Aptos"/>
              </a:rPr>
              <a:t>alice</a:t>
            </a:r>
          </a:p>
        </p:txBody>
      </p:sp>
      <p:sp>
        <p:nvSpPr>
          <p:cNvPr id="8" name="">
            <a:extLst xmlns:a="http://schemas.openxmlformats.org/drawingml/2006/main">
              <a:ext uri="{FF2B5EF4-FFF2-40B4-BE49-F238E27FC236}">
                <a16:creationId xmlns:a16="http://schemas.microsoft.com/office/drawing/2014/main" id="{5BC36914-98B3-48DD-9C4B-83BCAF967B7C}"/>
              </a:ext>
            </a:extLst>
          </p:cNvPr>
          <p:cNvSpPr>
            <a:spLocks xmlns:a="http://schemas.openxmlformats.org/drawingml/2006/main" noGrp="1"/>
          </p:cNvSpPr>
          <p:nvPr/>
        </p:nvSpPr>
        <p:spPr>
          <a:xfrm xmlns:a="http://schemas.openxmlformats.org/drawingml/2006/main">
            <a:off x="4286250" y="18097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125" b="1" i="0">
                <a:solidFill>
                  <a:srgbClr val="FF6B4A"/>
                </a:solidFill>
                <a:latin typeface="Aptos"/>
                <a:ea typeface="Aptos"/>
                <a:cs typeface="Aptos"/>
              </a:defRPr>
            </a:pPr>
            <a:r>
              <a:rPr sz="1125" b="1" i="0">
                <a:solidFill>
                  <a:srgbClr val="FF6B4A"/>
                </a:solidFill>
                <a:latin typeface="Aptos"/>
                <a:ea typeface="Aptos"/>
                <a:cs typeface="Aptos"/>
              </a:rPr>
              <a:t>PRIMARY + SUPPLEMENTARY GROUPS</a:t>
            </a:r>
          </a:p>
        </p:txBody>
      </p:sp>
      <p:sp>
        <p:nvSpPr>
          <p:cNvPr id="9" name="">
            <a:extLst xmlns:a="http://schemas.openxmlformats.org/drawingml/2006/main">
              <a:ext uri="{FF2B5EF4-FFF2-40B4-BE49-F238E27FC236}">
                <a16:creationId xmlns:a16="http://schemas.microsoft.com/office/drawing/2014/main" id="{DBF4AABC-C008-4AB7-B8C0-601DCD2CECEF}"/>
              </a:ext>
            </a:extLst>
          </p:cNvPr>
          <p:cNvSpPr>
            <a:spLocks xmlns:a="http://schemas.openxmlformats.org/drawingml/2006/main" noGrp="1"/>
          </p:cNvSpPr>
          <p:nvPr/>
        </p:nvSpPr>
        <p:spPr>
          <a:xfrm xmlns:a="http://schemas.openxmlformats.org/drawingml/2006/main">
            <a:off x="4286250" y="2324100"/>
            <a:ext cx="619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475" b="1" i="0">
                <a:solidFill>
                  <a:srgbClr val="C9B6FF"/>
                </a:solidFill>
                <a:latin typeface="Aptos"/>
                <a:ea typeface="Aptos"/>
                <a:cs typeface="Aptos"/>
              </a:defRPr>
            </a:pPr>
            <a:r>
              <a:rPr sz="2475" b="1" i="0">
                <a:solidFill>
                  <a:srgbClr val="C9B6FF"/>
                </a:solidFill>
                <a:latin typeface="Aptos"/>
                <a:ea typeface="Aptos"/>
                <a:cs typeface="Aptos"/>
              </a:rPr>
              <a:t>alice · courseops · sudo</a:t>
            </a:r>
          </a:p>
        </p:txBody>
      </p:sp>
      <p:sp>
        <p:nvSpPr>
          <p:cNvPr id="10" name="">
            <a:extLst xmlns:a="http://schemas.openxmlformats.org/drawingml/2006/main">
              <a:ext uri="{FF2B5EF4-FFF2-40B4-BE49-F238E27FC236}">
                <a16:creationId xmlns:a16="http://schemas.microsoft.com/office/drawing/2014/main" id="{F57A9B53-2FCF-4BCD-8461-96C9057DE943}"/>
              </a:ext>
            </a:extLst>
          </p:cNvPr>
          <p:cNvSpPr>
            <a:spLocks xmlns:a="http://schemas.openxmlformats.org/drawingml/2006/main" noGrp="1"/>
          </p:cNvSpPr>
          <p:nvPr/>
        </p:nvSpPr>
        <p:spPr>
          <a:xfrm xmlns:a="http://schemas.openxmlformats.org/drawingml/2006/main">
            <a:off x="857250" y="3619500"/>
            <a:ext cx="6096000" cy="2000250"/>
          </a:xfrm>
          <a:prstGeom xmlns:a="http://schemas.openxmlformats.org/drawingml/2006/main" prst="roundRect">
            <a:avLst>
              <a:gd name="adj" fmla="val 7619"/>
            </a:avLst>
          </a:prstGeom>
          <a:solidFill xmlns:a="http://schemas.openxmlformats.org/drawingml/2006/main">
            <a:srgbClr val="28183A"/>
          </a:solidFill>
          <a:ln xmlns:a="http://schemas.openxmlformats.org/drawingml/2006/main" w="9525">
            <a:solidFill>
              <a:srgbClr val="4A335D"/>
            </a:solidFill>
            <a:prstDash val="solid"/>
          </a:ln>
        </p:spPr>
      </p:sp>
      <p:sp>
        <p:nvSpPr>
          <p:cNvPr id="11" name="">
            <a:extLst xmlns:a="http://schemas.openxmlformats.org/drawingml/2006/main">
              <a:ext uri="{FF2B5EF4-FFF2-40B4-BE49-F238E27FC236}">
                <a16:creationId xmlns:a16="http://schemas.microsoft.com/office/drawing/2014/main" id="{31FD42E0-698B-4B91-A17F-292E9498D006}"/>
              </a:ext>
            </a:extLst>
          </p:cNvPr>
          <p:cNvSpPr>
            <a:spLocks xmlns:a="http://schemas.openxmlformats.org/drawingml/2006/main" noGrp="1"/>
          </p:cNvSpPr>
          <p:nvPr/>
        </p:nvSpPr>
        <p:spPr>
          <a:xfrm xmlns:a="http://schemas.openxmlformats.org/drawingml/2006/main">
            <a:off x="857250" y="3619500"/>
            <a:ext cx="6096000" cy="400050"/>
          </a:xfrm>
          <a:prstGeom xmlns:a="http://schemas.openxmlformats.org/drawingml/2006/main" prst="roundRect">
            <a:avLst>
              <a:gd name="adj" fmla="val 38095"/>
            </a:avLst>
          </a:prstGeom>
          <a:solidFill xmlns:a="http://schemas.openxmlformats.org/drawingml/2006/main">
            <a:srgbClr val="21122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E1CF5AB-5D7E-4DDB-830B-CD45CDA97F7E}"/>
              </a:ext>
            </a:extLst>
          </p:cNvPr>
          <p:cNvSpPr>
            <a:spLocks xmlns:a="http://schemas.openxmlformats.org/drawingml/2006/main" noGrp="1"/>
          </p:cNvSpPr>
          <p:nvPr/>
        </p:nvSpPr>
        <p:spPr>
          <a:xfrm xmlns:a="http://schemas.openxmlformats.org/drawingml/2006/main">
            <a:off x="857250" y="3886200"/>
            <a:ext cx="6096000" cy="133350"/>
          </a:xfrm>
          <a:prstGeom xmlns:a="http://schemas.openxmlformats.org/drawingml/2006/main" prst="rect">
            <a:avLst/>
          </a:prstGeom>
          <a:solidFill xmlns:a="http://schemas.openxmlformats.org/drawingml/2006/main">
            <a:srgbClr val="21122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8D8E9D8-2D7B-494D-947E-9F7948BDE21D}"/>
              </a:ext>
            </a:extLst>
          </p:cNvPr>
          <p:cNvSpPr>
            <a:spLocks xmlns:a="http://schemas.openxmlformats.org/drawingml/2006/main" noGrp="1"/>
          </p:cNvSpPr>
          <p:nvPr/>
        </p:nvSpPr>
        <p:spPr>
          <a:xfrm xmlns:a="http://schemas.openxmlformats.org/drawingml/2006/main">
            <a:off x="1028700" y="3771900"/>
            <a:ext cx="95250" cy="95250"/>
          </a:xfrm>
          <a:prstGeom xmlns:a="http://schemas.openxmlformats.org/drawingml/2006/main" prst="roundRect">
            <a:avLst>
              <a:gd name="adj" fmla="val 50000"/>
            </a:avLst>
          </a:prstGeom>
          <a:solidFill xmlns:a="http://schemas.openxmlformats.org/drawingml/2006/main">
            <a:srgbClr val="FF7B7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9E11A43-2EF1-4A9B-99B1-264D5FAA25B4}"/>
              </a:ext>
            </a:extLst>
          </p:cNvPr>
          <p:cNvSpPr>
            <a:spLocks xmlns:a="http://schemas.openxmlformats.org/drawingml/2006/main" noGrp="1"/>
          </p:cNvSpPr>
          <p:nvPr/>
        </p:nvSpPr>
        <p:spPr>
          <a:xfrm xmlns:a="http://schemas.openxmlformats.org/drawingml/2006/main">
            <a:off x="1200150" y="3771900"/>
            <a:ext cx="95250" cy="95250"/>
          </a:xfrm>
          <a:prstGeom xmlns:a="http://schemas.openxmlformats.org/drawingml/2006/main" prst="roundRect">
            <a:avLst>
              <a:gd name="adj" fmla="val 50000"/>
            </a:avLst>
          </a:prstGeom>
          <a:solidFill xmlns:a="http://schemas.openxmlformats.org/drawingml/2006/main">
            <a:srgbClr val="FFC66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2258AB2-FDA4-4734-AABB-1FD8E593D9F6}"/>
              </a:ext>
            </a:extLst>
          </p:cNvPr>
          <p:cNvSpPr>
            <a:spLocks xmlns:a="http://schemas.openxmlformats.org/drawingml/2006/main" noGrp="1"/>
          </p:cNvSpPr>
          <p:nvPr/>
        </p:nvSpPr>
        <p:spPr>
          <a:xfrm xmlns:a="http://schemas.openxmlformats.org/drawingml/2006/main">
            <a:off x="1371600" y="3771900"/>
            <a:ext cx="95250" cy="95250"/>
          </a:xfrm>
          <a:prstGeom xmlns:a="http://schemas.openxmlformats.org/drawingml/2006/main" prst="roundRect">
            <a:avLst>
              <a:gd name="adj" fmla="val 50000"/>
            </a:avLst>
          </a:prstGeom>
          <a:solidFill xmlns:a="http://schemas.openxmlformats.org/drawingml/2006/main">
            <a:srgbClr val="70D6A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05A8449-F7B3-4B9F-B7C5-399F20CE06DA}"/>
              </a:ext>
            </a:extLst>
          </p:cNvPr>
          <p:cNvSpPr>
            <a:spLocks xmlns:a="http://schemas.openxmlformats.org/drawingml/2006/main" noGrp="1"/>
          </p:cNvSpPr>
          <p:nvPr/>
        </p:nvSpPr>
        <p:spPr>
          <a:xfrm xmlns:a="http://schemas.openxmlformats.org/drawingml/2006/main">
            <a:off x="1638300" y="3733800"/>
            <a:ext cx="514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8B5CF6"/>
                </a:solidFill>
                <a:latin typeface="Aptos"/>
                <a:ea typeface="Aptos"/>
                <a:cs typeface="Aptos"/>
              </a:defRPr>
            </a:pPr>
            <a:r>
              <a:rPr sz="900" b="1" i="0">
                <a:solidFill>
                  <a:srgbClr val="8B5CF6"/>
                </a:solidFill>
                <a:latin typeface="Aptos"/>
                <a:ea typeface="Aptos"/>
                <a:cs typeface="Aptos"/>
              </a:rPr>
              <a:t>IDENTITY CHECKS</a:t>
            </a:r>
          </a:p>
        </p:txBody>
      </p:sp>
      <p:sp>
        <p:nvSpPr>
          <p:cNvPr id="17" name="">
            <a:extLst xmlns:a="http://schemas.openxmlformats.org/drawingml/2006/main">
              <a:ext uri="{FF2B5EF4-FFF2-40B4-BE49-F238E27FC236}">
                <a16:creationId xmlns:a16="http://schemas.microsoft.com/office/drawing/2014/main" id="{9297B0E3-9956-49FB-B66E-5049ABEB83B8}"/>
              </a:ext>
            </a:extLst>
          </p:cNvPr>
          <p:cNvSpPr>
            <a:spLocks xmlns:a="http://schemas.openxmlformats.org/drawingml/2006/main" noGrp="1"/>
          </p:cNvSpPr>
          <p:nvPr/>
        </p:nvSpPr>
        <p:spPr>
          <a:xfrm xmlns:a="http://schemas.openxmlformats.org/drawingml/2006/main">
            <a:off x="1085850" y="4191000"/>
            <a:ext cx="56388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whoami</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id</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groups</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getent passwd alice</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getent group courseops</a:t>
            </a:r>
          </a:p>
        </p:txBody>
      </p:sp>
      <p:sp>
        <p:nvSpPr>
          <p:cNvPr id="18" name="">
            <a:extLst xmlns:a="http://schemas.openxmlformats.org/drawingml/2006/main">
              <a:ext uri="{FF2B5EF4-FFF2-40B4-BE49-F238E27FC236}">
                <a16:creationId xmlns:a16="http://schemas.microsoft.com/office/drawing/2014/main" id="{76628CE3-24DA-4E41-9BA0-BC752A56FC0F}"/>
              </a:ext>
            </a:extLst>
          </p:cNvPr>
          <p:cNvSpPr>
            <a:spLocks xmlns:a="http://schemas.openxmlformats.org/drawingml/2006/main" noGrp="1"/>
          </p:cNvSpPr>
          <p:nvPr/>
        </p:nvSpPr>
        <p:spPr>
          <a:xfrm xmlns:a="http://schemas.openxmlformats.org/drawingml/2006/main">
            <a:off x="7620000" y="3714750"/>
            <a:ext cx="314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75" b="1" i="0">
                <a:solidFill>
                  <a:srgbClr val="FFF8EE"/>
                </a:solidFill>
                <a:latin typeface="Aptos"/>
                <a:ea typeface="Aptos"/>
                <a:cs typeface="Aptos"/>
              </a:defRPr>
            </a:pPr>
            <a:r>
              <a:rPr sz="1875" b="1" i="0">
                <a:solidFill>
                  <a:srgbClr val="FFF8EE"/>
                </a:solidFill>
                <a:latin typeface="Aptos"/>
                <a:ea typeface="Aptos"/>
                <a:cs typeface="Aptos"/>
              </a:rPr>
              <a:t>Processes run as a user.</a:t>
            </a:r>
          </a:p>
          <a:p xmlns:a="http://schemas.openxmlformats.org/drawingml/2006/main">
            <a:pPr algn="l">
              <a:lnSpc>
                <a:spcPct val="112000"/>
              </a:lnSpc>
              <a:buNone/>
              <a:defRPr sz="1875" b="1" i="0">
                <a:solidFill>
                  <a:srgbClr val="FFF8EE"/>
                </a:solidFill>
                <a:latin typeface="Aptos"/>
                <a:ea typeface="Aptos"/>
                <a:cs typeface="Aptos"/>
              </a:defRPr>
            </a:pPr>
            <a:r>
              <a:rPr sz="1875" b="1" i="0">
                <a:solidFill>
                  <a:srgbClr val="FFF8EE"/>
                </a:solidFill>
                <a:latin typeface="Aptos"/>
                <a:ea typeface="Aptos"/>
                <a:cs typeface="Aptos"/>
              </a:rPr>
              <a:t>Files have an owner + group.</a:t>
            </a:r>
          </a:p>
          <a:p xmlns:a="http://schemas.openxmlformats.org/drawingml/2006/main">
            <a:pPr algn="l">
              <a:lnSpc>
                <a:spcPct val="112000"/>
              </a:lnSpc>
              <a:buNone/>
              <a:defRPr sz="1875" b="1" i="0">
                <a:solidFill>
                  <a:srgbClr val="FFF8EE"/>
                </a:solidFill>
                <a:latin typeface="Aptos"/>
                <a:ea typeface="Aptos"/>
                <a:cs typeface="Aptos"/>
              </a:defRPr>
            </a:pPr>
            <a:r>
              <a:rPr sz="1875" b="1" i="0">
                <a:solidFill>
                  <a:srgbClr val="FFF8EE"/>
                </a:solidFill>
                <a:latin typeface="Aptos"/>
                <a:ea typeface="Aptos"/>
                <a:cs typeface="Aptos"/>
              </a:rPr>
              <a:t>Access checks combine both.</a:t>
            </a:r>
          </a:p>
        </p:txBody>
      </p:sp>
    </p:spTree>
    <p:extLst>
      <p:ext uri="{BB962C8B-B14F-4D97-AF65-F5344CB8AC3E}">
        <p14:creationId xmlns:p14="http://schemas.microsoft.com/office/powerpoint/2010/main" val="1947721800"/>
      </p:ext>
    </p:extLst>
  </p:cSld>
</p:sld>
</file>

<file path=ppt/slides/slide14.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03ACF30-DE43-4B18-B5C4-3C1D63541C26}"/>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USERS &amp; GROUPS</a:t>
            </a:r>
          </a:p>
        </p:txBody>
      </p:sp>
      <p:sp>
        <p:nvSpPr>
          <p:cNvPr id="2" name="">
            <a:extLst xmlns:a="http://schemas.openxmlformats.org/drawingml/2006/main">
              <a:ext uri="{FF2B5EF4-FFF2-40B4-BE49-F238E27FC236}">
                <a16:creationId xmlns:a16="http://schemas.microsoft.com/office/drawing/2014/main" id="{3851E7FB-569E-45A7-87AF-D3C125A2DDAD}"/>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160B20"/>
                </a:solidFill>
                <a:latin typeface="Aptos"/>
                <a:ea typeface="Aptos"/>
                <a:cs typeface="Aptos"/>
              </a:defRPr>
            </a:pPr>
            <a:r>
              <a:rPr sz="3750" b="1" i="0">
                <a:solidFill>
                  <a:srgbClr val="160B20"/>
                </a:solidFill>
                <a:latin typeface="Aptos"/>
                <a:ea typeface="Aptos"/>
                <a:cs typeface="Aptos"/>
              </a:rPr>
              <a:t>Use sudo for one deliberate action</a:t>
            </a:r>
          </a:p>
        </p:txBody>
      </p:sp>
      <p:sp>
        <p:nvSpPr>
          <p:cNvPr id="3" name="">
            <a:extLst xmlns:a="http://schemas.openxmlformats.org/drawingml/2006/main">
              <a:ext uri="{FF2B5EF4-FFF2-40B4-BE49-F238E27FC236}">
                <a16:creationId xmlns:a16="http://schemas.microsoft.com/office/drawing/2014/main" id="{37A44FE0-0214-42DF-A812-A6B65A5E9DD7}"/>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E7DC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F5DC671-9688-4018-AD89-B18B77E9E105}"/>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6F6277"/>
                </a:solidFill>
                <a:latin typeface="Aptos"/>
                <a:ea typeface="Aptos"/>
                <a:cs typeface="Aptos"/>
              </a:defRPr>
            </a:pPr>
            <a:r>
              <a:rPr sz="900" b="1" i="0">
                <a:solidFill>
                  <a:srgbClr val="6F6277"/>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4EDA71ED-A351-4304-921D-A989C9BC230B}"/>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8B5CF6"/>
                </a:solidFill>
                <a:latin typeface="Aptos"/>
                <a:ea typeface="Aptos"/>
                <a:cs typeface="Aptos"/>
              </a:defRPr>
            </a:pPr>
            <a:r>
              <a:rPr sz="1050" b="1" i="0">
                <a:solidFill>
                  <a:srgbClr val="8B5CF6"/>
                </a:solidFill>
                <a:latin typeface="Aptos"/>
                <a:ea typeface="Aptos"/>
                <a:cs typeface="Aptos"/>
              </a:rPr>
              <a:t>14</a:t>
            </a:r>
          </a:p>
        </p:txBody>
      </p:sp>
      <p:sp>
        <p:nvSpPr>
          <p:cNvPr id="6" name="">
            <a:extLst xmlns:a="http://schemas.openxmlformats.org/drawingml/2006/main">
              <a:ext uri="{FF2B5EF4-FFF2-40B4-BE49-F238E27FC236}">
                <a16:creationId xmlns:a16="http://schemas.microsoft.com/office/drawing/2014/main" id="{9BB6D6CC-6BEC-434C-853C-29BCB94A4E56}"/>
              </a:ext>
            </a:extLst>
          </p:cNvPr>
          <p:cNvSpPr>
            <a:spLocks xmlns:a="http://schemas.openxmlformats.org/drawingml/2006/main" noGrp="1"/>
          </p:cNvSpPr>
          <p:nvPr/>
        </p:nvSpPr>
        <p:spPr>
          <a:xfrm xmlns:a="http://schemas.openxmlformats.org/drawingml/2006/main">
            <a:off x="819150" y="180975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100" b="1" i="0">
                <a:solidFill>
                  <a:srgbClr val="160B20"/>
                </a:solidFill>
                <a:latin typeface="Aptos"/>
                <a:ea typeface="Aptos"/>
                <a:cs typeface="Aptos"/>
              </a:defRPr>
            </a:pPr>
            <a:r>
              <a:rPr sz="2100" b="1" i="0">
                <a:solidFill>
                  <a:srgbClr val="160B20"/>
                </a:solidFill>
                <a:latin typeface="Aptos"/>
                <a:ea typeface="Aptos"/>
                <a:cs typeface="Aptos"/>
              </a:rPr>
              <a:t>Normal shell</a:t>
            </a:r>
          </a:p>
        </p:txBody>
      </p:sp>
      <p:sp>
        <p:nvSpPr>
          <p:cNvPr id="7" name="">
            <a:extLst xmlns:a="http://schemas.openxmlformats.org/drawingml/2006/main">
              <a:ext uri="{FF2B5EF4-FFF2-40B4-BE49-F238E27FC236}">
                <a16:creationId xmlns:a16="http://schemas.microsoft.com/office/drawing/2014/main" id="{F1EE3A8B-876D-4415-B928-47074D39266E}"/>
              </a:ext>
            </a:extLst>
          </p:cNvPr>
          <p:cNvSpPr>
            <a:spLocks xmlns:a="http://schemas.openxmlformats.org/drawingml/2006/main" noGrp="1"/>
          </p:cNvSpPr>
          <p:nvPr/>
        </p:nvSpPr>
        <p:spPr>
          <a:xfrm xmlns:a="http://schemas.openxmlformats.org/drawingml/2006/main">
            <a:off x="819150" y="2400300"/>
            <a:ext cx="32385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800" b="0" i="0">
                <a:solidFill>
                  <a:srgbClr val="514658"/>
                </a:solidFill>
                <a:latin typeface="Aptos"/>
                <a:ea typeface="Aptos"/>
                <a:cs typeface="Aptos"/>
              </a:defRPr>
            </a:pPr>
            <a:r>
              <a:rPr sz="1800" b="0" i="0">
                <a:solidFill>
                  <a:srgbClr val="514658"/>
                </a:solidFill>
                <a:latin typeface="Aptos"/>
                <a:ea typeface="Aptos"/>
                <a:cs typeface="Aptos"/>
              </a:rPr>
              <a:t>least privilege</a:t>
            </a:r>
          </a:p>
          <a:p xmlns:a="http://schemas.openxmlformats.org/drawingml/2006/main">
            <a:pPr algn="l">
              <a:lnSpc>
                <a:spcPct val="115000"/>
              </a:lnSpc>
              <a:buNone/>
              <a:defRPr sz="1800" b="0" i="0">
                <a:solidFill>
                  <a:srgbClr val="514658"/>
                </a:solidFill>
                <a:latin typeface="Aptos"/>
                <a:ea typeface="Aptos"/>
                <a:cs typeface="Aptos"/>
              </a:defRPr>
            </a:pPr>
            <a:r>
              <a:rPr sz="1800" b="0" i="0">
                <a:solidFill>
                  <a:srgbClr val="514658"/>
                </a:solidFill>
                <a:latin typeface="Aptos"/>
                <a:ea typeface="Aptos"/>
                <a:cs typeface="Aptos"/>
              </a:rPr>
              <a:t>clear ownership</a:t>
            </a:r>
          </a:p>
          <a:p xmlns:a="http://schemas.openxmlformats.org/drawingml/2006/main">
            <a:pPr algn="l">
              <a:lnSpc>
                <a:spcPct val="115000"/>
              </a:lnSpc>
              <a:buNone/>
              <a:defRPr sz="1800" b="0" i="0">
                <a:solidFill>
                  <a:srgbClr val="514658"/>
                </a:solidFill>
                <a:latin typeface="Aptos"/>
                <a:ea typeface="Aptos"/>
                <a:cs typeface="Aptos"/>
              </a:defRPr>
            </a:pPr>
            <a:r>
              <a:rPr sz="1800" b="0" i="0">
                <a:solidFill>
                  <a:srgbClr val="514658"/>
                </a:solidFill>
                <a:latin typeface="Aptos"/>
                <a:ea typeface="Aptos"/>
                <a:cs typeface="Aptos"/>
              </a:rPr>
              <a:t>smaller blast radius</a:t>
            </a:r>
          </a:p>
        </p:txBody>
      </p:sp>
      <p:sp>
        <p:nvSpPr>
          <p:cNvPr id="8" name="">
            <a:extLst xmlns:a="http://schemas.openxmlformats.org/drawingml/2006/main">
              <a:ext uri="{FF2B5EF4-FFF2-40B4-BE49-F238E27FC236}">
                <a16:creationId xmlns:a16="http://schemas.microsoft.com/office/drawing/2014/main" id="{D497CEF8-D2EE-406B-953C-5748EB8B31A1}"/>
              </a:ext>
            </a:extLst>
          </p:cNvPr>
          <p:cNvSpPr>
            <a:spLocks xmlns:a="http://schemas.openxmlformats.org/drawingml/2006/main" noGrp="1"/>
          </p:cNvSpPr>
          <p:nvPr/>
        </p:nvSpPr>
        <p:spPr>
          <a:xfrm xmlns:a="http://schemas.openxmlformats.org/drawingml/2006/main">
            <a:off x="4724400" y="2324100"/>
            <a:ext cx="209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3450" b="1" i="0">
                <a:solidFill>
                  <a:srgbClr val="FF6B4A"/>
                </a:solidFill>
                <a:latin typeface="Aptos"/>
                <a:ea typeface="Aptos"/>
                <a:cs typeface="Aptos"/>
              </a:defRPr>
            </a:pPr>
            <a:r>
              <a:rPr sz="3450" b="1" i="0">
                <a:solidFill>
                  <a:srgbClr val="FF6B4A"/>
                </a:solidFill>
                <a:latin typeface="Aptos"/>
                <a:ea typeface="Aptos"/>
                <a:cs typeface="Aptos"/>
              </a:rPr>
              <a:t>+ sudo</a:t>
            </a:r>
          </a:p>
        </p:txBody>
      </p:sp>
      <p:sp>
        <p:nvSpPr>
          <p:cNvPr id="9" name="">
            <a:extLst xmlns:a="http://schemas.openxmlformats.org/drawingml/2006/main">
              <a:ext uri="{FF2B5EF4-FFF2-40B4-BE49-F238E27FC236}">
                <a16:creationId xmlns:a16="http://schemas.microsoft.com/office/drawing/2014/main" id="{E453D80E-DC71-4532-A7EA-B5B44ABBA3D9}"/>
              </a:ext>
            </a:extLst>
          </p:cNvPr>
          <p:cNvSpPr>
            <a:spLocks xmlns:a="http://schemas.openxmlformats.org/drawingml/2006/main" noGrp="1"/>
          </p:cNvSpPr>
          <p:nvPr/>
        </p:nvSpPr>
        <p:spPr>
          <a:xfrm xmlns:a="http://schemas.openxmlformats.org/drawingml/2006/main">
            <a:off x="7524750" y="18097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100" b="1" i="0">
                <a:solidFill>
                  <a:srgbClr val="160B20"/>
                </a:solidFill>
                <a:latin typeface="Aptos"/>
                <a:ea typeface="Aptos"/>
                <a:cs typeface="Aptos"/>
              </a:defRPr>
            </a:pPr>
            <a:r>
              <a:rPr sz="2100" b="1" i="0">
                <a:solidFill>
                  <a:srgbClr val="160B20"/>
                </a:solidFill>
                <a:latin typeface="Aptos"/>
                <a:ea typeface="Aptos"/>
                <a:cs typeface="Aptos"/>
              </a:rPr>
              <a:t>One privileged command</a:t>
            </a:r>
          </a:p>
        </p:txBody>
      </p:sp>
      <p:sp>
        <p:nvSpPr>
          <p:cNvPr id="10" name="">
            <a:extLst xmlns:a="http://schemas.openxmlformats.org/drawingml/2006/main">
              <a:ext uri="{FF2B5EF4-FFF2-40B4-BE49-F238E27FC236}">
                <a16:creationId xmlns:a16="http://schemas.microsoft.com/office/drawing/2014/main" id="{5574538E-E40E-4A2D-B3B3-9226E594BCB4}"/>
              </a:ext>
            </a:extLst>
          </p:cNvPr>
          <p:cNvSpPr>
            <a:spLocks xmlns:a="http://schemas.openxmlformats.org/drawingml/2006/main" noGrp="1"/>
          </p:cNvSpPr>
          <p:nvPr/>
        </p:nvSpPr>
        <p:spPr>
          <a:xfrm xmlns:a="http://schemas.openxmlformats.org/drawingml/2006/main">
            <a:off x="7200900" y="2381250"/>
            <a:ext cx="4095750" cy="1809750"/>
          </a:xfrm>
          <a:prstGeom xmlns:a="http://schemas.openxmlformats.org/drawingml/2006/main" prst="roundRect">
            <a:avLst>
              <a:gd name="adj" fmla="val 8421"/>
            </a:avLst>
          </a:prstGeom>
          <a:solidFill xmlns:a="http://schemas.openxmlformats.org/drawingml/2006/main">
            <a:srgbClr val="28183A"/>
          </a:solidFill>
          <a:ln xmlns:a="http://schemas.openxmlformats.org/drawingml/2006/main" w="9525">
            <a:solidFill>
              <a:srgbClr val="4A335D"/>
            </a:solidFill>
            <a:prstDash val="solid"/>
          </a:ln>
        </p:spPr>
      </p:sp>
      <p:sp>
        <p:nvSpPr>
          <p:cNvPr id="11" name="">
            <a:extLst xmlns:a="http://schemas.openxmlformats.org/drawingml/2006/main">
              <a:ext uri="{FF2B5EF4-FFF2-40B4-BE49-F238E27FC236}">
                <a16:creationId xmlns:a16="http://schemas.microsoft.com/office/drawing/2014/main" id="{4E5BE6FB-13EE-43B0-BB29-4C7AF68397BB}"/>
              </a:ext>
            </a:extLst>
          </p:cNvPr>
          <p:cNvSpPr>
            <a:spLocks xmlns:a="http://schemas.openxmlformats.org/drawingml/2006/main" noGrp="1"/>
          </p:cNvSpPr>
          <p:nvPr/>
        </p:nvSpPr>
        <p:spPr>
          <a:xfrm xmlns:a="http://schemas.openxmlformats.org/drawingml/2006/main">
            <a:off x="7200900" y="2381250"/>
            <a:ext cx="4095750" cy="400050"/>
          </a:xfrm>
          <a:prstGeom xmlns:a="http://schemas.openxmlformats.org/drawingml/2006/main" prst="roundRect">
            <a:avLst>
              <a:gd name="adj" fmla="val 38095"/>
            </a:avLst>
          </a:prstGeom>
          <a:solidFill xmlns:a="http://schemas.openxmlformats.org/drawingml/2006/main">
            <a:srgbClr val="21122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5E59ACB-46C0-4C23-93CE-3DB24B36A02D}"/>
              </a:ext>
            </a:extLst>
          </p:cNvPr>
          <p:cNvSpPr>
            <a:spLocks xmlns:a="http://schemas.openxmlformats.org/drawingml/2006/main" noGrp="1"/>
          </p:cNvSpPr>
          <p:nvPr/>
        </p:nvSpPr>
        <p:spPr>
          <a:xfrm xmlns:a="http://schemas.openxmlformats.org/drawingml/2006/main">
            <a:off x="7200900" y="2647950"/>
            <a:ext cx="4095750" cy="133350"/>
          </a:xfrm>
          <a:prstGeom xmlns:a="http://schemas.openxmlformats.org/drawingml/2006/main" prst="rect">
            <a:avLst/>
          </a:prstGeom>
          <a:solidFill xmlns:a="http://schemas.openxmlformats.org/drawingml/2006/main">
            <a:srgbClr val="21122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901CC62-4AEC-4909-8905-1F071B9D7FBF}"/>
              </a:ext>
            </a:extLst>
          </p:cNvPr>
          <p:cNvSpPr>
            <a:spLocks xmlns:a="http://schemas.openxmlformats.org/drawingml/2006/main" noGrp="1"/>
          </p:cNvSpPr>
          <p:nvPr/>
        </p:nvSpPr>
        <p:spPr>
          <a:xfrm xmlns:a="http://schemas.openxmlformats.org/drawingml/2006/main">
            <a:off x="7372350" y="2533650"/>
            <a:ext cx="95250" cy="95250"/>
          </a:xfrm>
          <a:prstGeom xmlns:a="http://schemas.openxmlformats.org/drawingml/2006/main" prst="roundRect">
            <a:avLst>
              <a:gd name="adj" fmla="val 50000"/>
            </a:avLst>
          </a:prstGeom>
          <a:solidFill xmlns:a="http://schemas.openxmlformats.org/drawingml/2006/main">
            <a:srgbClr val="FF7B7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6971E61-D6C1-4D93-AAAB-165FAB67D524}"/>
              </a:ext>
            </a:extLst>
          </p:cNvPr>
          <p:cNvSpPr>
            <a:spLocks xmlns:a="http://schemas.openxmlformats.org/drawingml/2006/main" noGrp="1"/>
          </p:cNvSpPr>
          <p:nvPr/>
        </p:nvSpPr>
        <p:spPr>
          <a:xfrm xmlns:a="http://schemas.openxmlformats.org/drawingml/2006/main">
            <a:off x="7543800" y="2533650"/>
            <a:ext cx="95250" cy="95250"/>
          </a:xfrm>
          <a:prstGeom xmlns:a="http://schemas.openxmlformats.org/drawingml/2006/main" prst="roundRect">
            <a:avLst>
              <a:gd name="adj" fmla="val 50000"/>
            </a:avLst>
          </a:prstGeom>
          <a:solidFill xmlns:a="http://schemas.openxmlformats.org/drawingml/2006/main">
            <a:srgbClr val="FFC66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AE7A621-2024-4BE1-8E10-48BABEAC4CF0}"/>
              </a:ext>
            </a:extLst>
          </p:cNvPr>
          <p:cNvSpPr>
            <a:spLocks xmlns:a="http://schemas.openxmlformats.org/drawingml/2006/main" noGrp="1"/>
          </p:cNvSpPr>
          <p:nvPr/>
        </p:nvSpPr>
        <p:spPr>
          <a:xfrm xmlns:a="http://schemas.openxmlformats.org/drawingml/2006/main">
            <a:off x="7715250" y="2533650"/>
            <a:ext cx="95250" cy="95250"/>
          </a:xfrm>
          <a:prstGeom xmlns:a="http://schemas.openxmlformats.org/drawingml/2006/main" prst="roundRect">
            <a:avLst>
              <a:gd name="adj" fmla="val 50000"/>
            </a:avLst>
          </a:prstGeom>
          <a:solidFill xmlns:a="http://schemas.openxmlformats.org/drawingml/2006/main">
            <a:srgbClr val="70D6A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3CA1D3C-1C75-4D19-9F22-4DF8164914ED}"/>
              </a:ext>
            </a:extLst>
          </p:cNvPr>
          <p:cNvSpPr>
            <a:spLocks xmlns:a="http://schemas.openxmlformats.org/drawingml/2006/main" noGrp="1"/>
          </p:cNvSpPr>
          <p:nvPr/>
        </p:nvSpPr>
        <p:spPr>
          <a:xfrm xmlns:a="http://schemas.openxmlformats.org/drawingml/2006/main">
            <a:off x="7981950" y="2495550"/>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FF6B4A"/>
                </a:solidFill>
                <a:latin typeface="Aptos"/>
                <a:ea typeface="Aptos"/>
                <a:cs typeface="Aptos"/>
              </a:defRPr>
            </a:pPr>
            <a:r>
              <a:rPr sz="900" b="1" i="0">
                <a:solidFill>
                  <a:srgbClr val="FF6B4A"/>
                </a:solidFill>
                <a:latin typeface="Aptos"/>
                <a:ea typeface="Aptos"/>
                <a:cs typeface="Aptos"/>
              </a:rPr>
              <a:t>EXPLICIT INTENT</a:t>
            </a:r>
          </a:p>
        </p:txBody>
      </p:sp>
      <p:sp>
        <p:nvSpPr>
          <p:cNvPr id="17" name="">
            <a:extLst xmlns:a="http://schemas.openxmlformats.org/drawingml/2006/main">
              <a:ext uri="{FF2B5EF4-FFF2-40B4-BE49-F238E27FC236}">
                <a16:creationId xmlns:a16="http://schemas.microsoft.com/office/drawing/2014/main" id="{D8EC541C-66D9-4F62-9073-85528F8B8C46}"/>
              </a:ext>
            </a:extLst>
          </p:cNvPr>
          <p:cNvSpPr>
            <a:spLocks xmlns:a="http://schemas.openxmlformats.org/drawingml/2006/main" noGrp="1"/>
          </p:cNvSpPr>
          <p:nvPr/>
        </p:nvSpPr>
        <p:spPr>
          <a:xfrm xmlns:a="http://schemas.openxmlformats.org/drawingml/2006/main">
            <a:off x="7429500" y="2952750"/>
            <a:ext cx="36385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sudo apt install tree</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sudo systemctl restart ssh</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sudoedit /etc/ssh/sshd_config</a:t>
            </a:r>
          </a:p>
        </p:txBody>
      </p:sp>
      <p:sp>
        <p:nvSpPr>
          <p:cNvPr id="18" name="">
            <a:extLst xmlns:a="http://schemas.openxmlformats.org/drawingml/2006/main">
              <a:ext uri="{FF2B5EF4-FFF2-40B4-BE49-F238E27FC236}">
                <a16:creationId xmlns:a16="http://schemas.microsoft.com/office/drawing/2014/main" id="{9EC43A6C-65FC-44DF-99C2-F144ABE1CC98}"/>
              </a:ext>
            </a:extLst>
          </p:cNvPr>
          <p:cNvSpPr>
            <a:spLocks xmlns:a="http://schemas.openxmlformats.org/drawingml/2006/main" noGrp="1"/>
          </p:cNvSpPr>
          <p:nvPr/>
        </p:nvSpPr>
        <p:spPr>
          <a:xfrm xmlns:a="http://schemas.openxmlformats.org/drawingml/2006/main">
            <a:off x="819150" y="4857750"/>
            <a:ext cx="10477500" cy="781050"/>
          </a:xfrm>
          <a:prstGeom xmlns:a="http://schemas.openxmlformats.org/drawingml/2006/main" prst="roundRect">
            <a:avLst>
              <a:gd name="adj" fmla="val 19512"/>
            </a:avLst>
          </a:prstGeom>
          <a:solidFill xmlns:a="http://schemas.openxmlformats.org/drawingml/2006/main">
            <a:srgbClr val="EEE4F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4894096-83CA-4110-8B60-42CB47E27364}"/>
              </a:ext>
            </a:extLst>
          </p:cNvPr>
          <p:cNvSpPr>
            <a:spLocks xmlns:a="http://schemas.openxmlformats.org/drawingml/2006/main" noGrp="1"/>
          </p:cNvSpPr>
          <p:nvPr/>
        </p:nvSpPr>
        <p:spPr>
          <a:xfrm xmlns:a="http://schemas.openxmlformats.org/drawingml/2006/main">
            <a:off x="1066800" y="5086350"/>
            <a:ext cx="9982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875" b="1" i="0">
                <a:solidFill>
                  <a:srgbClr val="8B5CF6"/>
                </a:solidFill>
                <a:latin typeface="Aptos"/>
                <a:ea typeface="Aptos"/>
                <a:cs typeface="Aptos"/>
              </a:defRPr>
            </a:pPr>
            <a:r>
              <a:rPr sz="1875" b="1" i="0">
                <a:solidFill>
                  <a:srgbClr val="8B5CF6"/>
                </a:solidFill>
                <a:latin typeface="Aptos"/>
                <a:ea typeface="Aptos"/>
                <a:cs typeface="Aptos"/>
              </a:rPr>
              <a:t>Avoid living in a root shell. Ask: what exact command needs privilege?</a:t>
            </a:r>
          </a:p>
        </p:txBody>
      </p:sp>
    </p:spTree>
    <p:extLst>
      <p:ext uri="{BB962C8B-B14F-4D97-AF65-F5344CB8AC3E}">
        <p14:creationId xmlns:p14="http://schemas.microsoft.com/office/powerpoint/2010/main" val="1701672016"/>
      </p:ext>
    </p:extLst>
  </p:cSld>
</p:sld>
</file>

<file path=ppt/slides/slide15.xml><?xml version="1.0" encoding="utf-8"?>
<p:sld xmlns:p="http://schemas.openxmlformats.org/presentationml/2006/main">
  <p:cSld>
    <p:bg>
      <p:bgPr>
        <a:solidFill xmlns:a="http://schemas.openxmlformats.org/drawingml/2006/main">
          <a:srgbClr val="180D24"/>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5D8DA19-8F66-48D3-9C8D-9045D2365076}"/>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PERMISSIONS</a:t>
            </a:r>
          </a:p>
        </p:txBody>
      </p:sp>
      <p:sp>
        <p:nvSpPr>
          <p:cNvPr id="2" name="">
            <a:extLst xmlns:a="http://schemas.openxmlformats.org/drawingml/2006/main">
              <a:ext uri="{FF2B5EF4-FFF2-40B4-BE49-F238E27FC236}">
                <a16:creationId xmlns:a16="http://schemas.microsoft.com/office/drawing/2014/main" id="{BE746EF1-0218-479F-90DD-9A95CD317054}"/>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857"/>
          </a:bodyPr>
          <a:lstStyle xmlns:a="http://schemas.openxmlformats.org/drawingml/2006/main"/>
          <a:p xmlns:a="http://schemas.openxmlformats.org/drawingml/2006/main">
            <a:pPr algn="l">
              <a:lnSpc>
                <a:spcPct val="94000"/>
              </a:lnSpc>
              <a:buNone/>
              <a:defRPr sz="3750" b="1" i="0">
                <a:solidFill>
                  <a:srgbClr val="FFF8EE"/>
                </a:solidFill>
                <a:latin typeface="Aptos"/>
                <a:ea typeface="Aptos"/>
                <a:cs typeface="Aptos"/>
              </a:defRPr>
            </a:pPr>
            <a:r>
              <a:rPr sz="3750" b="1" i="0">
                <a:solidFill>
                  <a:srgbClr val="FFF8EE"/>
                </a:solidFill>
                <a:latin typeface="Aptos"/>
                <a:ea typeface="Aptos"/>
                <a:cs typeface="Aptos"/>
              </a:rPr>
              <a:t>Permissions are three triplets evaluated in order</a:t>
            </a:r>
          </a:p>
        </p:txBody>
      </p:sp>
      <p:sp>
        <p:nvSpPr>
          <p:cNvPr id="3" name="">
            <a:extLst xmlns:a="http://schemas.openxmlformats.org/drawingml/2006/main">
              <a:ext uri="{FF2B5EF4-FFF2-40B4-BE49-F238E27FC236}">
                <a16:creationId xmlns:a16="http://schemas.microsoft.com/office/drawing/2014/main" id="{4D4BFE11-C202-43E1-88E7-A964BCDBADDF}"/>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3520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8E8C806-FACB-40B9-B076-0D4A46148BE5}"/>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BFAFCB"/>
                </a:solidFill>
                <a:latin typeface="Aptos"/>
                <a:ea typeface="Aptos"/>
                <a:cs typeface="Aptos"/>
              </a:defRPr>
            </a:pPr>
            <a:r>
              <a:rPr sz="900" b="1" i="0">
                <a:solidFill>
                  <a:srgbClr val="BFAFCB"/>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6EE259C7-54BC-4DF8-8DB6-76B7F7174C9F}"/>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C9B6FF"/>
                </a:solidFill>
                <a:latin typeface="Aptos"/>
                <a:ea typeface="Aptos"/>
                <a:cs typeface="Aptos"/>
              </a:defRPr>
            </a:pPr>
            <a:r>
              <a:rPr sz="1050" b="1" i="0">
                <a:solidFill>
                  <a:srgbClr val="C9B6FF"/>
                </a:solidFill>
                <a:latin typeface="Aptos"/>
                <a:ea typeface="Aptos"/>
                <a:cs typeface="Aptos"/>
              </a:rPr>
              <a:t>15</a:t>
            </a:r>
          </a:p>
        </p:txBody>
      </p:sp>
      <p:sp>
        <p:nvSpPr>
          <p:cNvPr id="6" name="">
            <a:extLst xmlns:a="http://schemas.openxmlformats.org/drawingml/2006/main">
              <a:ext uri="{FF2B5EF4-FFF2-40B4-BE49-F238E27FC236}">
                <a16:creationId xmlns:a16="http://schemas.microsoft.com/office/drawing/2014/main" id="{93066378-BBCB-40A1-90B4-4465D85F3F82}"/>
              </a:ext>
            </a:extLst>
          </p:cNvPr>
          <p:cNvSpPr>
            <a:spLocks xmlns:a="http://schemas.openxmlformats.org/drawingml/2006/main" noGrp="1"/>
          </p:cNvSpPr>
          <p:nvPr/>
        </p:nvSpPr>
        <p:spPr>
          <a:xfrm xmlns:a="http://schemas.openxmlformats.org/drawingml/2006/main">
            <a:off x="800100" y="1790700"/>
            <a:ext cx="10591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4350" b="1" i="0">
                <a:solidFill>
                  <a:srgbClr val="FFF8EE"/>
                </a:solidFill>
                <a:latin typeface="Courier New"/>
                <a:ea typeface="Courier New"/>
                <a:cs typeface="Courier New"/>
              </a:defRPr>
            </a:pPr>
            <a:r>
              <a:rPr sz="4350" b="1" i="0">
                <a:solidFill>
                  <a:srgbClr val="FFF8EE"/>
                </a:solidFill>
                <a:latin typeface="Courier New"/>
                <a:ea typeface="Courier New"/>
                <a:cs typeface="Courier New"/>
              </a:rPr>
              <a:t>- rwx r-x ---</a:t>
            </a:r>
          </a:p>
        </p:txBody>
      </p:sp>
      <p:sp>
        <p:nvSpPr>
          <p:cNvPr id="7" name="">
            <a:extLst xmlns:a="http://schemas.openxmlformats.org/drawingml/2006/main">
              <a:ext uri="{FF2B5EF4-FFF2-40B4-BE49-F238E27FC236}">
                <a16:creationId xmlns:a16="http://schemas.microsoft.com/office/drawing/2014/main" id="{2FE25655-BE38-42C3-B220-997CD1DAAF91}"/>
              </a:ext>
            </a:extLst>
          </p:cNvPr>
          <p:cNvSpPr>
            <a:spLocks xmlns:a="http://schemas.openxmlformats.org/drawingml/2006/main" noGrp="1"/>
          </p:cNvSpPr>
          <p:nvPr/>
        </p:nvSpPr>
        <p:spPr>
          <a:xfrm xmlns:a="http://schemas.openxmlformats.org/drawingml/2006/main">
            <a:off x="1524000" y="31432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125" b="1" i="0">
                <a:solidFill>
                  <a:srgbClr val="FF6B4A"/>
                </a:solidFill>
                <a:latin typeface="Aptos"/>
                <a:ea typeface="Aptos"/>
                <a:cs typeface="Aptos"/>
              </a:defRPr>
            </a:pPr>
            <a:r>
              <a:rPr sz="1125" b="1" i="0">
                <a:solidFill>
                  <a:srgbClr val="FF6B4A"/>
                </a:solidFill>
                <a:latin typeface="Aptos"/>
                <a:ea typeface="Aptos"/>
                <a:cs typeface="Aptos"/>
              </a:rPr>
              <a:t>OWNER</a:t>
            </a:r>
          </a:p>
        </p:txBody>
      </p:sp>
      <p:sp>
        <p:nvSpPr>
          <p:cNvPr id="8" name="">
            <a:extLst xmlns:a="http://schemas.openxmlformats.org/drawingml/2006/main">
              <a:ext uri="{FF2B5EF4-FFF2-40B4-BE49-F238E27FC236}">
                <a16:creationId xmlns:a16="http://schemas.microsoft.com/office/drawing/2014/main" id="{FA8DAB7E-13EC-48D0-B93D-F5BF9CAEC58D}"/>
              </a:ext>
            </a:extLst>
          </p:cNvPr>
          <p:cNvSpPr>
            <a:spLocks xmlns:a="http://schemas.openxmlformats.org/drawingml/2006/main" noGrp="1"/>
          </p:cNvSpPr>
          <p:nvPr/>
        </p:nvSpPr>
        <p:spPr>
          <a:xfrm xmlns:a="http://schemas.openxmlformats.org/drawingml/2006/main">
            <a:off x="1524000" y="3543300"/>
            <a:ext cx="228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3300" b="1" i="0">
                <a:solidFill>
                  <a:srgbClr val="FFF8EE"/>
                </a:solidFill>
                <a:latin typeface="Courier New"/>
                <a:ea typeface="Courier New"/>
                <a:cs typeface="Courier New"/>
              </a:defRPr>
            </a:pPr>
            <a:r>
              <a:rPr sz="3300" b="1" i="0">
                <a:solidFill>
                  <a:srgbClr val="FFF8EE"/>
                </a:solidFill>
                <a:latin typeface="Courier New"/>
                <a:ea typeface="Courier New"/>
                <a:cs typeface="Courier New"/>
              </a:rPr>
              <a:t>rwx</a:t>
            </a:r>
          </a:p>
        </p:txBody>
      </p:sp>
      <p:sp>
        <p:nvSpPr>
          <p:cNvPr id="9" name="">
            <a:extLst xmlns:a="http://schemas.openxmlformats.org/drawingml/2006/main">
              <a:ext uri="{FF2B5EF4-FFF2-40B4-BE49-F238E27FC236}">
                <a16:creationId xmlns:a16="http://schemas.microsoft.com/office/drawing/2014/main" id="{D888DB92-C822-4579-AC13-E40C6EB60E7D}"/>
              </a:ext>
            </a:extLst>
          </p:cNvPr>
          <p:cNvSpPr>
            <a:spLocks xmlns:a="http://schemas.openxmlformats.org/drawingml/2006/main" noGrp="1"/>
          </p:cNvSpPr>
          <p:nvPr/>
        </p:nvSpPr>
        <p:spPr>
          <a:xfrm xmlns:a="http://schemas.openxmlformats.org/drawingml/2006/main">
            <a:off x="4953000" y="31432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125" b="1" i="0">
                <a:solidFill>
                  <a:srgbClr val="8B5CF6"/>
                </a:solidFill>
                <a:latin typeface="Aptos"/>
                <a:ea typeface="Aptos"/>
                <a:cs typeface="Aptos"/>
              </a:defRPr>
            </a:pPr>
            <a:r>
              <a:rPr sz="1125" b="1" i="0">
                <a:solidFill>
                  <a:srgbClr val="8B5CF6"/>
                </a:solidFill>
                <a:latin typeface="Aptos"/>
                <a:ea typeface="Aptos"/>
                <a:cs typeface="Aptos"/>
              </a:rPr>
              <a:t>GROUP</a:t>
            </a:r>
          </a:p>
        </p:txBody>
      </p:sp>
      <p:sp>
        <p:nvSpPr>
          <p:cNvPr id="10" name="">
            <a:extLst xmlns:a="http://schemas.openxmlformats.org/drawingml/2006/main">
              <a:ext uri="{FF2B5EF4-FFF2-40B4-BE49-F238E27FC236}">
                <a16:creationId xmlns:a16="http://schemas.microsoft.com/office/drawing/2014/main" id="{226D57F9-05AA-419F-BC34-146473B48DBD}"/>
              </a:ext>
            </a:extLst>
          </p:cNvPr>
          <p:cNvSpPr>
            <a:spLocks xmlns:a="http://schemas.openxmlformats.org/drawingml/2006/main" noGrp="1"/>
          </p:cNvSpPr>
          <p:nvPr/>
        </p:nvSpPr>
        <p:spPr>
          <a:xfrm xmlns:a="http://schemas.openxmlformats.org/drawingml/2006/main">
            <a:off x="4953000" y="3543300"/>
            <a:ext cx="228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3300" b="1" i="0">
                <a:solidFill>
                  <a:srgbClr val="FFF8EE"/>
                </a:solidFill>
                <a:latin typeface="Courier New"/>
                <a:ea typeface="Courier New"/>
                <a:cs typeface="Courier New"/>
              </a:defRPr>
            </a:pPr>
            <a:r>
              <a:rPr sz="3300" b="1" i="0">
                <a:solidFill>
                  <a:srgbClr val="FFF8EE"/>
                </a:solidFill>
                <a:latin typeface="Courier New"/>
                <a:ea typeface="Courier New"/>
                <a:cs typeface="Courier New"/>
              </a:rPr>
              <a:t>r-x</a:t>
            </a:r>
          </a:p>
        </p:txBody>
      </p:sp>
      <p:sp>
        <p:nvSpPr>
          <p:cNvPr id="11" name="">
            <a:extLst xmlns:a="http://schemas.openxmlformats.org/drawingml/2006/main">
              <a:ext uri="{FF2B5EF4-FFF2-40B4-BE49-F238E27FC236}">
                <a16:creationId xmlns:a16="http://schemas.microsoft.com/office/drawing/2014/main" id="{02C82AF0-C1C7-42FA-BEFE-B4604FA00919}"/>
              </a:ext>
            </a:extLst>
          </p:cNvPr>
          <p:cNvSpPr>
            <a:spLocks xmlns:a="http://schemas.openxmlformats.org/drawingml/2006/main" noGrp="1"/>
          </p:cNvSpPr>
          <p:nvPr/>
        </p:nvSpPr>
        <p:spPr>
          <a:xfrm xmlns:a="http://schemas.openxmlformats.org/drawingml/2006/main">
            <a:off x="8382000" y="31432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125" b="1" i="0">
                <a:solidFill>
                  <a:srgbClr val="70D6A6"/>
                </a:solidFill>
                <a:latin typeface="Aptos"/>
                <a:ea typeface="Aptos"/>
                <a:cs typeface="Aptos"/>
              </a:defRPr>
            </a:pPr>
            <a:r>
              <a:rPr sz="1125" b="1" i="0">
                <a:solidFill>
                  <a:srgbClr val="70D6A6"/>
                </a:solidFill>
                <a:latin typeface="Aptos"/>
                <a:ea typeface="Aptos"/>
                <a:cs typeface="Aptos"/>
              </a:rPr>
              <a:t>OTHERS</a:t>
            </a:r>
          </a:p>
        </p:txBody>
      </p:sp>
      <p:sp>
        <p:nvSpPr>
          <p:cNvPr id="12" name="">
            <a:extLst xmlns:a="http://schemas.openxmlformats.org/drawingml/2006/main">
              <a:ext uri="{FF2B5EF4-FFF2-40B4-BE49-F238E27FC236}">
                <a16:creationId xmlns:a16="http://schemas.microsoft.com/office/drawing/2014/main" id="{C5A1E5B4-8CB6-44C7-8DA3-AE9473F91B0F}"/>
              </a:ext>
            </a:extLst>
          </p:cNvPr>
          <p:cNvSpPr>
            <a:spLocks xmlns:a="http://schemas.openxmlformats.org/drawingml/2006/main" noGrp="1"/>
          </p:cNvSpPr>
          <p:nvPr/>
        </p:nvSpPr>
        <p:spPr>
          <a:xfrm xmlns:a="http://schemas.openxmlformats.org/drawingml/2006/main">
            <a:off x="8382000" y="3543300"/>
            <a:ext cx="228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3300" b="1" i="0">
                <a:solidFill>
                  <a:srgbClr val="FFF8EE"/>
                </a:solidFill>
                <a:latin typeface="Courier New"/>
                <a:ea typeface="Courier New"/>
                <a:cs typeface="Courier New"/>
              </a:defRPr>
            </a:pPr>
            <a:r>
              <a:rPr sz="3300" b="1" i="0">
                <a:solidFill>
                  <a:srgbClr val="FFF8EE"/>
                </a:solidFill>
                <a:latin typeface="Courier New"/>
                <a:ea typeface="Courier New"/>
                <a:cs typeface="Courier New"/>
              </a:rPr>
              <a:t>---</a:t>
            </a:r>
          </a:p>
        </p:txBody>
      </p:sp>
      <p:sp>
        <p:nvSpPr>
          <p:cNvPr id="13" name="">
            <a:extLst xmlns:a="http://schemas.openxmlformats.org/drawingml/2006/main">
              <a:ext uri="{FF2B5EF4-FFF2-40B4-BE49-F238E27FC236}">
                <a16:creationId xmlns:a16="http://schemas.microsoft.com/office/drawing/2014/main" id="{44AED367-942D-425C-80E8-9972D6BFC1D1}"/>
              </a:ext>
            </a:extLst>
          </p:cNvPr>
          <p:cNvSpPr>
            <a:spLocks xmlns:a="http://schemas.openxmlformats.org/drawingml/2006/main" noGrp="1"/>
          </p:cNvSpPr>
          <p:nvPr/>
        </p:nvSpPr>
        <p:spPr>
          <a:xfrm xmlns:a="http://schemas.openxmlformats.org/drawingml/2006/main">
            <a:off x="762000" y="49530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650" b="0" i="0">
                <a:solidFill>
                  <a:srgbClr val="BFAFCB"/>
                </a:solidFill>
                <a:latin typeface="Aptos"/>
                <a:ea typeface="Aptos"/>
                <a:cs typeface="Aptos"/>
              </a:defRPr>
            </a:pPr>
            <a:r>
              <a:rPr sz="1650" b="0" i="0">
                <a:solidFill>
                  <a:srgbClr val="BFAFCB"/>
                </a:solidFill>
                <a:latin typeface="Aptos"/>
                <a:ea typeface="Aptos"/>
                <a:cs typeface="Aptos"/>
              </a:rPr>
              <a:t>file: read · change · run     directory: list names · create/remove · enter/traverse</a:t>
            </a:r>
          </a:p>
        </p:txBody>
      </p:sp>
    </p:spTree>
    <p:extLst>
      <p:ext uri="{BB962C8B-B14F-4D97-AF65-F5344CB8AC3E}">
        <p14:creationId xmlns:p14="http://schemas.microsoft.com/office/powerpoint/2010/main" val="2111934680"/>
      </p:ext>
    </p:extLst>
  </p:cSld>
</p:sld>
</file>

<file path=ppt/slides/slide16.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C3D61F8-74F5-4C6A-8578-087AA82629C1}"/>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PERMISSIONS</a:t>
            </a:r>
          </a:p>
        </p:txBody>
      </p:sp>
      <p:sp>
        <p:nvSpPr>
          <p:cNvPr id="2" name="">
            <a:extLst xmlns:a="http://schemas.openxmlformats.org/drawingml/2006/main">
              <a:ext uri="{FF2B5EF4-FFF2-40B4-BE49-F238E27FC236}">
                <a16:creationId xmlns:a16="http://schemas.microsoft.com/office/drawing/2014/main" id="{F42A0B2F-E964-40C5-80C9-F49E1A257964}"/>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160B20"/>
                </a:solidFill>
                <a:latin typeface="Aptos"/>
                <a:ea typeface="Aptos"/>
                <a:cs typeface="Aptos"/>
              </a:defRPr>
            </a:pPr>
            <a:r>
              <a:rPr sz="3750" b="1" i="0">
                <a:solidFill>
                  <a:srgbClr val="160B20"/>
                </a:solidFill>
                <a:latin typeface="Aptos"/>
                <a:ea typeface="Aptos"/>
                <a:cs typeface="Aptos"/>
              </a:rPr>
              <a:t>4 + 2 + 1 makes numeric modes readable</a:t>
            </a:r>
          </a:p>
        </p:txBody>
      </p:sp>
      <p:sp>
        <p:nvSpPr>
          <p:cNvPr id="3" name="">
            <a:extLst xmlns:a="http://schemas.openxmlformats.org/drawingml/2006/main">
              <a:ext uri="{FF2B5EF4-FFF2-40B4-BE49-F238E27FC236}">
                <a16:creationId xmlns:a16="http://schemas.microsoft.com/office/drawing/2014/main" id="{1E570F7C-43F6-449D-811B-C804315205BF}"/>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E7DC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A2D6216-A625-4598-A178-E23EF0EB7E63}"/>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6F6277"/>
                </a:solidFill>
                <a:latin typeface="Aptos"/>
                <a:ea typeface="Aptos"/>
                <a:cs typeface="Aptos"/>
              </a:defRPr>
            </a:pPr>
            <a:r>
              <a:rPr sz="900" b="1" i="0">
                <a:solidFill>
                  <a:srgbClr val="6F6277"/>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4477A37E-E73E-4AAE-89BC-074CDB016469}"/>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8B5CF6"/>
                </a:solidFill>
                <a:latin typeface="Aptos"/>
                <a:ea typeface="Aptos"/>
                <a:cs typeface="Aptos"/>
              </a:defRPr>
            </a:pPr>
            <a:r>
              <a:rPr sz="1050" b="1" i="0">
                <a:solidFill>
                  <a:srgbClr val="8B5CF6"/>
                </a:solidFill>
                <a:latin typeface="Aptos"/>
                <a:ea typeface="Aptos"/>
                <a:cs typeface="Aptos"/>
              </a:rPr>
              <a:t>16</a:t>
            </a:r>
          </a:p>
        </p:txBody>
      </p:sp>
      <p:sp>
        <p:nvSpPr>
          <p:cNvPr id="6" name="">
            <a:extLst xmlns:a="http://schemas.openxmlformats.org/drawingml/2006/main">
              <a:ext uri="{FF2B5EF4-FFF2-40B4-BE49-F238E27FC236}">
                <a16:creationId xmlns:a16="http://schemas.microsoft.com/office/drawing/2014/main" id="{CE1E9D7C-9624-479D-9BD6-F25321CAB43B}"/>
              </a:ext>
            </a:extLst>
          </p:cNvPr>
          <p:cNvSpPr>
            <a:spLocks xmlns:a="http://schemas.openxmlformats.org/drawingml/2006/main" noGrp="1"/>
          </p:cNvSpPr>
          <p:nvPr/>
        </p:nvSpPr>
        <p:spPr>
          <a:xfrm xmlns:a="http://schemas.openxmlformats.org/drawingml/2006/main">
            <a:off x="952500" y="1790700"/>
            <a:ext cx="266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3000" b="1" i="0">
                <a:solidFill>
                  <a:srgbClr val="8B5CF6"/>
                </a:solidFill>
                <a:latin typeface="Courier New"/>
                <a:ea typeface="Courier New"/>
                <a:cs typeface="Courier New"/>
              </a:defRPr>
            </a:pPr>
            <a:r>
              <a:rPr sz="3000" b="1" i="0">
                <a:solidFill>
                  <a:srgbClr val="8B5CF6"/>
                </a:solidFill>
                <a:latin typeface="Courier New"/>
                <a:ea typeface="Courier New"/>
                <a:cs typeface="Courier New"/>
              </a:rPr>
              <a:t>r = 4</a:t>
            </a:r>
          </a:p>
        </p:txBody>
      </p:sp>
      <p:sp>
        <p:nvSpPr>
          <p:cNvPr id="7" name="">
            <a:extLst xmlns:a="http://schemas.openxmlformats.org/drawingml/2006/main">
              <a:ext uri="{FF2B5EF4-FFF2-40B4-BE49-F238E27FC236}">
                <a16:creationId xmlns:a16="http://schemas.microsoft.com/office/drawing/2014/main" id="{A518B861-C7AC-4AFC-985D-A69DC5CB3A99}"/>
              </a:ext>
            </a:extLst>
          </p:cNvPr>
          <p:cNvSpPr>
            <a:spLocks xmlns:a="http://schemas.openxmlformats.org/drawingml/2006/main" noGrp="1"/>
          </p:cNvSpPr>
          <p:nvPr/>
        </p:nvSpPr>
        <p:spPr>
          <a:xfrm xmlns:a="http://schemas.openxmlformats.org/drawingml/2006/main">
            <a:off x="4762500" y="1790700"/>
            <a:ext cx="266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3000" b="1" i="0">
                <a:solidFill>
                  <a:srgbClr val="FF6B4A"/>
                </a:solidFill>
                <a:latin typeface="Courier New"/>
                <a:ea typeface="Courier New"/>
                <a:cs typeface="Courier New"/>
              </a:defRPr>
            </a:pPr>
            <a:r>
              <a:rPr sz="3000" b="1" i="0">
                <a:solidFill>
                  <a:srgbClr val="FF6B4A"/>
                </a:solidFill>
                <a:latin typeface="Courier New"/>
                <a:ea typeface="Courier New"/>
                <a:cs typeface="Courier New"/>
              </a:rPr>
              <a:t>w = 2</a:t>
            </a:r>
          </a:p>
        </p:txBody>
      </p:sp>
      <p:sp>
        <p:nvSpPr>
          <p:cNvPr id="8" name="">
            <a:extLst xmlns:a="http://schemas.openxmlformats.org/drawingml/2006/main">
              <a:ext uri="{FF2B5EF4-FFF2-40B4-BE49-F238E27FC236}">
                <a16:creationId xmlns:a16="http://schemas.microsoft.com/office/drawing/2014/main" id="{75F8849D-E706-4418-B710-A93CBAD834F9}"/>
              </a:ext>
            </a:extLst>
          </p:cNvPr>
          <p:cNvSpPr>
            <a:spLocks xmlns:a="http://schemas.openxmlformats.org/drawingml/2006/main" noGrp="1"/>
          </p:cNvSpPr>
          <p:nvPr/>
        </p:nvSpPr>
        <p:spPr>
          <a:xfrm xmlns:a="http://schemas.openxmlformats.org/drawingml/2006/main">
            <a:off x="8572500" y="1790700"/>
            <a:ext cx="266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3000" b="1" i="0">
                <a:solidFill>
                  <a:srgbClr val="70D6A6"/>
                </a:solidFill>
                <a:latin typeface="Courier New"/>
                <a:ea typeface="Courier New"/>
                <a:cs typeface="Courier New"/>
              </a:defRPr>
            </a:pPr>
            <a:r>
              <a:rPr sz="3000" b="1" i="0">
                <a:solidFill>
                  <a:srgbClr val="70D6A6"/>
                </a:solidFill>
                <a:latin typeface="Courier New"/>
                <a:ea typeface="Courier New"/>
                <a:cs typeface="Courier New"/>
              </a:rPr>
              <a:t>x = 1</a:t>
            </a:r>
          </a:p>
        </p:txBody>
      </p:sp>
      <p:sp>
        <p:nvSpPr>
          <p:cNvPr id="9" name="">
            <a:extLst xmlns:a="http://schemas.openxmlformats.org/drawingml/2006/main">
              <a:ext uri="{FF2B5EF4-FFF2-40B4-BE49-F238E27FC236}">
                <a16:creationId xmlns:a16="http://schemas.microsoft.com/office/drawing/2014/main" id="{D4376369-2481-47FB-9880-B4EB2CF27411}"/>
              </a:ext>
            </a:extLst>
          </p:cNvPr>
          <p:cNvSpPr>
            <a:spLocks xmlns:a="http://schemas.openxmlformats.org/drawingml/2006/main" noGrp="1"/>
          </p:cNvSpPr>
          <p:nvPr/>
        </p:nvSpPr>
        <p:spPr>
          <a:xfrm xmlns:a="http://schemas.openxmlformats.org/drawingml/2006/main">
            <a:off x="952500" y="2762250"/>
            <a:ext cx="10287000" cy="19050"/>
          </a:xfrm>
          <a:prstGeom xmlns:a="http://schemas.openxmlformats.org/drawingml/2006/main" prst="rect">
            <a:avLst/>
          </a:prstGeom>
          <a:solidFill xmlns:a="http://schemas.openxmlformats.org/drawingml/2006/main">
            <a:srgbClr val="DDD0E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EF8167D-E08B-4CDE-861D-37C102781FA8}"/>
              </a:ext>
            </a:extLst>
          </p:cNvPr>
          <p:cNvSpPr>
            <a:spLocks xmlns:a="http://schemas.openxmlformats.org/drawingml/2006/main" noGrp="1"/>
          </p:cNvSpPr>
          <p:nvPr/>
        </p:nvSpPr>
        <p:spPr>
          <a:xfrm xmlns:a="http://schemas.openxmlformats.org/drawingml/2006/main">
            <a:off x="1143000" y="3219450"/>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5100" b="1" i="0">
                <a:solidFill>
                  <a:srgbClr val="160B20"/>
                </a:solidFill>
                <a:latin typeface="Courier New"/>
                <a:ea typeface="Courier New"/>
                <a:cs typeface="Courier New"/>
              </a:defRPr>
            </a:pPr>
            <a:r>
              <a:rPr sz="5100" b="1" i="0">
                <a:solidFill>
                  <a:srgbClr val="160B20"/>
                </a:solidFill>
                <a:latin typeface="Courier New"/>
                <a:ea typeface="Courier New"/>
                <a:cs typeface="Courier New"/>
              </a:rPr>
              <a:t>640</a:t>
            </a:r>
          </a:p>
        </p:txBody>
      </p:sp>
      <p:sp>
        <p:nvSpPr>
          <p:cNvPr id="11" name="">
            <a:extLst xmlns:a="http://schemas.openxmlformats.org/drawingml/2006/main">
              <a:ext uri="{FF2B5EF4-FFF2-40B4-BE49-F238E27FC236}">
                <a16:creationId xmlns:a16="http://schemas.microsoft.com/office/drawing/2014/main" id="{864FE36B-BCB4-4635-9B84-4D3E469B3899}"/>
              </a:ext>
            </a:extLst>
          </p:cNvPr>
          <p:cNvSpPr>
            <a:spLocks xmlns:a="http://schemas.openxmlformats.org/drawingml/2006/main" noGrp="1"/>
          </p:cNvSpPr>
          <p:nvPr/>
        </p:nvSpPr>
        <p:spPr>
          <a:xfrm xmlns:a="http://schemas.openxmlformats.org/drawingml/2006/main">
            <a:off x="3905250" y="3371850"/>
            <a:ext cx="666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3000" b="1" i="0">
                <a:solidFill>
                  <a:srgbClr val="8B5CF6"/>
                </a:solidFill>
                <a:latin typeface="Courier New"/>
                <a:ea typeface="Courier New"/>
                <a:cs typeface="Courier New"/>
              </a:defRPr>
            </a:pPr>
            <a:r>
              <a:rPr sz="3000" b="1" i="0">
                <a:solidFill>
                  <a:srgbClr val="8B5CF6"/>
                </a:solidFill>
                <a:latin typeface="Courier New"/>
                <a:ea typeface="Courier New"/>
                <a:cs typeface="Courier New"/>
              </a:rPr>
              <a:t>= rw-  r--  ---</a:t>
            </a:r>
          </a:p>
        </p:txBody>
      </p:sp>
      <p:sp>
        <p:nvSpPr>
          <p:cNvPr id="12" name="">
            <a:extLst xmlns:a="http://schemas.openxmlformats.org/drawingml/2006/main">
              <a:ext uri="{FF2B5EF4-FFF2-40B4-BE49-F238E27FC236}">
                <a16:creationId xmlns:a16="http://schemas.microsoft.com/office/drawing/2014/main" id="{D9750F36-6A20-4A97-9BC1-2A94A611104F}"/>
              </a:ext>
            </a:extLst>
          </p:cNvPr>
          <p:cNvSpPr>
            <a:spLocks xmlns:a="http://schemas.openxmlformats.org/drawingml/2006/main" noGrp="1"/>
          </p:cNvSpPr>
          <p:nvPr/>
        </p:nvSpPr>
        <p:spPr>
          <a:xfrm xmlns:a="http://schemas.openxmlformats.org/drawingml/2006/main">
            <a:off x="952500" y="4572000"/>
            <a:ext cx="10287000" cy="1352550"/>
          </a:xfrm>
          <a:prstGeom xmlns:a="http://schemas.openxmlformats.org/drawingml/2006/main" prst="roundRect">
            <a:avLst>
              <a:gd name="adj" fmla="val 11268"/>
            </a:avLst>
          </a:prstGeom>
          <a:solidFill xmlns:a="http://schemas.openxmlformats.org/drawingml/2006/main">
            <a:srgbClr val="28183A"/>
          </a:solidFill>
          <a:ln xmlns:a="http://schemas.openxmlformats.org/drawingml/2006/main" w="9525">
            <a:solidFill>
              <a:srgbClr val="4A335D"/>
            </a:solidFill>
            <a:prstDash val="solid"/>
          </a:ln>
        </p:spPr>
      </p:sp>
      <p:sp>
        <p:nvSpPr>
          <p:cNvPr id="13" name="">
            <a:extLst xmlns:a="http://schemas.openxmlformats.org/drawingml/2006/main">
              <a:ext uri="{FF2B5EF4-FFF2-40B4-BE49-F238E27FC236}">
                <a16:creationId xmlns:a16="http://schemas.microsoft.com/office/drawing/2014/main" id="{F97F08FC-5FB3-465D-B4E1-A6073BA6B8BB}"/>
              </a:ext>
            </a:extLst>
          </p:cNvPr>
          <p:cNvSpPr>
            <a:spLocks xmlns:a="http://schemas.openxmlformats.org/drawingml/2006/main" noGrp="1"/>
          </p:cNvSpPr>
          <p:nvPr/>
        </p:nvSpPr>
        <p:spPr>
          <a:xfrm xmlns:a="http://schemas.openxmlformats.org/drawingml/2006/main">
            <a:off x="952500" y="4572000"/>
            <a:ext cx="10287000" cy="400050"/>
          </a:xfrm>
          <a:prstGeom xmlns:a="http://schemas.openxmlformats.org/drawingml/2006/main" prst="roundRect">
            <a:avLst>
              <a:gd name="adj" fmla="val 38095"/>
            </a:avLst>
          </a:prstGeom>
          <a:solidFill xmlns:a="http://schemas.openxmlformats.org/drawingml/2006/main">
            <a:srgbClr val="21122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A708346-3B6E-4449-AAAC-9D1ECAA57A28}"/>
              </a:ext>
            </a:extLst>
          </p:cNvPr>
          <p:cNvSpPr>
            <a:spLocks xmlns:a="http://schemas.openxmlformats.org/drawingml/2006/main" noGrp="1"/>
          </p:cNvSpPr>
          <p:nvPr/>
        </p:nvSpPr>
        <p:spPr>
          <a:xfrm xmlns:a="http://schemas.openxmlformats.org/drawingml/2006/main">
            <a:off x="952500" y="4838700"/>
            <a:ext cx="10287000" cy="133350"/>
          </a:xfrm>
          <a:prstGeom xmlns:a="http://schemas.openxmlformats.org/drawingml/2006/main" prst="rect">
            <a:avLst/>
          </a:prstGeom>
          <a:solidFill xmlns:a="http://schemas.openxmlformats.org/drawingml/2006/main">
            <a:srgbClr val="21122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4EA9F54-11DD-460F-93EE-2AE43B46486E}"/>
              </a:ext>
            </a:extLst>
          </p:cNvPr>
          <p:cNvSpPr>
            <a:spLocks xmlns:a="http://schemas.openxmlformats.org/drawingml/2006/main" noGrp="1"/>
          </p:cNvSpPr>
          <p:nvPr/>
        </p:nvSpPr>
        <p:spPr>
          <a:xfrm xmlns:a="http://schemas.openxmlformats.org/drawingml/2006/main">
            <a:off x="1123950" y="4724400"/>
            <a:ext cx="95250" cy="95250"/>
          </a:xfrm>
          <a:prstGeom xmlns:a="http://schemas.openxmlformats.org/drawingml/2006/main" prst="roundRect">
            <a:avLst>
              <a:gd name="adj" fmla="val 50000"/>
            </a:avLst>
          </a:prstGeom>
          <a:solidFill xmlns:a="http://schemas.openxmlformats.org/drawingml/2006/main">
            <a:srgbClr val="FF7B7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7A898D1-8DD6-435F-B9D3-770753438A8F}"/>
              </a:ext>
            </a:extLst>
          </p:cNvPr>
          <p:cNvSpPr>
            <a:spLocks xmlns:a="http://schemas.openxmlformats.org/drawingml/2006/main" noGrp="1"/>
          </p:cNvSpPr>
          <p:nvPr/>
        </p:nvSpPr>
        <p:spPr>
          <a:xfrm xmlns:a="http://schemas.openxmlformats.org/drawingml/2006/main">
            <a:off x="1295400" y="4724400"/>
            <a:ext cx="95250" cy="95250"/>
          </a:xfrm>
          <a:prstGeom xmlns:a="http://schemas.openxmlformats.org/drawingml/2006/main" prst="roundRect">
            <a:avLst>
              <a:gd name="adj" fmla="val 50000"/>
            </a:avLst>
          </a:prstGeom>
          <a:solidFill xmlns:a="http://schemas.openxmlformats.org/drawingml/2006/main">
            <a:srgbClr val="FFC66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C7B395A-4E94-473E-9BA2-AE38F781C3A8}"/>
              </a:ext>
            </a:extLst>
          </p:cNvPr>
          <p:cNvSpPr>
            <a:spLocks xmlns:a="http://schemas.openxmlformats.org/drawingml/2006/main" noGrp="1"/>
          </p:cNvSpPr>
          <p:nvPr/>
        </p:nvSpPr>
        <p:spPr>
          <a:xfrm xmlns:a="http://schemas.openxmlformats.org/drawingml/2006/main">
            <a:off x="1466850" y="4724400"/>
            <a:ext cx="95250" cy="95250"/>
          </a:xfrm>
          <a:prstGeom xmlns:a="http://schemas.openxmlformats.org/drawingml/2006/main" prst="roundRect">
            <a:avLst>
              <a:gd name="adj" fmla="val 50000"/>
            </a:avLst>
          </a:prstGeom>
          <a:solidFill xmlns:a="http://schemas.openxmlformats.org/drawingml/2006/main">
            <a:srgbClr val="70D6A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9EB42E3-A4D8-4F19-A9E3-37309AAB6AF2}"/>
              </a:ext>
            </a:extLst>
          </p:cNvPr>
          <p:cNvSpPr>
            <a:spLocks xmlns:a="http://schemas.openxmlformats.org/drawingml/2006/main" noGrp="1"/>
          </p:cNvSpPr>
          <p:nvPr/>
        </p:nvSpPr>
        <p:spPr>
          <a:xfrm xmlns:a="http://schemas.openxmlformats.org/drawingml/2006/main">
            <a:off x="1733550" y="4686300"/>
            <a:ext cx="933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FF6B4A"/>
                </a:solidFill>
                <a:latin typeface="Aptos"/>
                <a:ea typeface="Aptos"/>
                <a:cs typeface="Aptos"/>
              </a:defRPr>
            </a:pPr>
            <a:r>
              <a:rPr sz="900" b="1" i="0">
                <a:solidFill>
                  <a:srgbClr val="FF6B4A"/>
                </a:solidFill>
                <a:latin typeface="Aptos"/>
                <a:ea typeface="Aptos"/>
                <a:cs typeface="Aptos"/>
              </a:rPr>
              <a:t>SAME INTENT, VERIFIED</a:t>
            </a:r>
          </a:p>
        </p:txBody>
      </p:sp>
      <p:sp>
        <p:nvSpPr>
          <p:cNvPr id="19" name="">
            <a:extLst xmlns:a="http://schemas.openxmlformats.org/drawingml/2006/main">
              <a:ext uri="{FF2B5EF4-FFF2-40B4-BE49-F238E27FC236}">
                <a16:creationId xmlns:a16="http://schemas.microsoft.com/office/drawing/2014/main" id="{6D9D5A75-6B5F-4E2F-87F9-F1C2B7C4D380}"/>
              </a:ext>
            </a:extLst>
          </p:cNvPr>
          <p:cNvSpPr>
            <a:spLocks xmlns:a="http://schemas.openxmlformats.org/drawingml/2006/main" noGrp="1"/>
          </p:cNvSpPr>
          <p:nvPr/>
        </p:nvSpPr>
        <p:spPr>
          <a:xfrm xmlns:a="http://schemas.openxmlformats.org/drawingml/2006/main">
            <a:off x="1181100" y="5143500"/>
            <a:ext cx="9829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2799"/>
          </a:bodyPr>
          <a:lstStyle xmlns:a="http://schemas.openxmlformats.org/drawingml/2006/main"/>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chmod 640 report.txt</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chmod u=rw,g=r,o= report.txt</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stat -c "%A %a %U:%G %n" report.txt</a:t>
            </a:r>
          </a:p>
        </p:txBody>
      </p:sp>
    </p:spTree>
    <p:extLst>
      <p:ext uri="{BB962C8B-B14F-4D97-AF65-F5344CB8AC3E}">
        <p14:creationId xmlns:p14="http://schemas.microsoft.com/office/powerpoint/2010/main" val="1444038624"/>
      </p:ext>
    </p:extLst>
  </p:cSld>
</p:sld>
</file>

<file path=ppt/slides/slide17.xml><?xml version="1.0" encoding="utf-8"?>
<p:sld xmlns:p="http://schemas.openxmlformats.org/presentationml/2006/main">
  <p:cSld>
    <p:bg>
      <p:bgPr>
        <a:solidFill xmlns:a="http://schemas.openxmlformats.org/drawingml/2006/main">
          <a:srgbClr val="180D24"/>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2BD912B-58D4-466B-8341-A28379A653B9}"/>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PERMISSIONS</a:t>
            </a:r>
          </a:p>
        </p:txBody>
      </p:sp>
      <p:sp>
        <p:nvSpPr>
          <p:cNvPr id="2" name="">
            <a:extLst xmlns:a="http://schemas.openxmlformats.org/drawingml/2006/main">
              <a:ext uri="{FF2B5EF4-FFF2-40B4-BE49-F238E27FC236}">
                <a16:creationId xmlns:a16="http://schemas.microsoft.com/office/drawing/2014/main" id="{111ED1FB-BBE6-4033-8378-DC2ECA2DC9B4}"/>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559"/>
          </a:bodyPr>
          <a:lstStyle xmlns:a="http://schemas.openxmlformats.org/drawingml/2006/main"/>
          <a:p xmlns:a="http://schemas.openxmlformats.org/drawingml/2006/main">
            <a:pPr algn="l">
              <a:lnSpc>
                <a:spcPct val="94000"/>
              </a:lnSpc>
              <a:buNone/>
              <a:defRPr sz="3750" b="1" i="0">
                <a:solidFill>
                  <a:srgbClr val="FFF8EE"/>
                </a:solidFill>
                <a:latin typeface="Aptos"/>
                <a:ea typeface="Aptos"/>
                <a:cs typeface="Aptos"/>
              </a:defRPr>
            </a:pPr>
            <a:r>
              <a:rPr sz="3750" b="1" i="0">
                <a:solidFill>
                  <a:srgbClr val="FFF8EE"/>
                </a:solidFill>
                <a:latin typeface="Aptos"/>
                <a:ea typeface="Aptos"/>
                <a:cs typeface="Aptos"/>
              </a:rPr>
              <a:t>Shared work needs the right group, not world access</a:t>
            </a:r>
          </a:p>
        </p:txBody>
      </p:sp>
      <p:sp>
        <p:nvSpPr>
          <p:cNvPr id="3" name="">
            <a:extLst xmlns:a="http://schemas.openxmlformats.org/drawingml/2006/main">
              <a:ext uri="{FF2B5EF4-FFF2-40B4-BE49-F238E27FC236}">
                <a16:creationId xmlns:a16="http://schemas.microsoft.com/office/drawing/2014/main" id="{5CA44868-BC1D-4572-A07D-B66B85298A7A}"/>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3520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56E6D21-279F-4EC5-ABAB-F16754992422}"/>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BFAFCB"/>
                </a:solidFill>
                <a:latin typeface="Aptos"/>
                <a:ea typeface="Aptos"/>
                <a:cs typeface="Aptos"/>
              </a:defRPr>
            </a:pPr>
            <a:r>
              <a:rPr sz="900" b="1" i="0">
                <a:solidFill>
                  <a:srgbClr val="BFAFCB"/>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0F6AF0AA-4F70-4EFE-B947-6F7CF8856049}"/>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C9B6FF"/>
                </a:solidFill>
                <a:latin typeface="Aptos"/>
                <a:ea typeface="Aptos"/>
                <a:cs typeface="Aptos"/>
              </a:defRPr>
            </a:pPr>
            <a:r>
              <a:rPr sz="1050" b="1" i="0">
                <a:solidFill>
                  <a:srgbClr val="C9B6FF"/>
                </a:solidFill>
                <a:latin typeface="Aptos"/>
                <a:ea typeface="Aptos"/>
                <a:cs typeface="Aptos"/>
              </a:rPr>
              <a:t>17</a:t>
            </a:r>
          </a:p>
        </p:txBody>
      </p:sp>
      <p:sp>
        <p:nvSpPr>
          <p:cNvPr id="6" name="">
            <a:extLst xmlns:a="http://schemas.openxmlformats.org/drawingml/2006/main">
              <a:ext uri="{FF2B5EF4-FFF2-40B4-BE49-F238E27FC236}">
                <a16:creationId xmlns:a16="http://schemas.microsoft.com/office/drawing/2014/main" id="{4985D1EB-6E2F-4F3E-AF24-6C6BF6E7581D}"/>
              </a:ext>
            </a:extLst>
          </p:cNvPr>
          <p:cNvSpPr>
            <a:spLocks xmlns:a="http://schemas.openxmlformats.org/drawingml/2006/main" noGrp="1"/>
          </p:cNvSpPr>
          <p:nvPr/>
        </p:nvSpPr>
        <p:spPr>
          <a:xfrm xmlns:a="http://schemas.openxmlformats.org/drawingml/2006/main">
            <a:off x="762000" y="1762125"/>
            <a:ext cx="6286500" cy="3333750"/>
          </a:xfrm>
          <a:prstGeom xmlns:a="http://schemas.openxmlformats.org/drawingml/2006/main" prst="roundRect">
            <a:avLst>
              <a:gd name="adj" fmla="val 4571"/>
            </a:avLst>
          </a:prstGeom>
          <a:solidFill xmlns:a="http://schemas.openxmlformats.org/drawingml/2006/main">
            <a:srgbClr val="28183A"/>
          </a:solidFill>
          <a:ln xmlns:a="http://schemas.openxmlformats.org/drawingml/2006/main" w="9525">
            <a:solidFill>
              <a:srgbClr val="4A335D"/>
            </a:solidFill>
            <a:prstDash val="solid"/>
          </a:ln>
        </p:spPr>
      </p:sp>
      <p:sp>
        <p:nvSpPr>
          <p:cNvPr id="7" name="">
            <a:extLst xmlns:a="http://schemas.openxmlformats.org/drawingml/2006/main">
              <a:ext uri="{FF2B5EF4-FFF2-40B4-BE49-F238E27FC236}">
                <a16:creationId xmlns:a16="http://schemas.microsoft.com/office/drawing/2014/main" id="{965D0CD8-C99A-4FB8-8C9D-7A46AE6DF8D5}"/>
              </a:ext>
            </a:extLst>
          </p:cNvPr>
          <p:cNvSpPr>
            <a:spLocks xmlns:a="http://schemas.openxmlformats.org/drawingml/2006/main" noGrp="1"/>
          </p:cNvSpPr>
          <p:nvPr/>
        </p:nvSpPr>
        <p:spPr>
          <a:xfrm xmlns:a="http://schemas.openxmlformats.org/drawingml/2006/main">
            <a:off x="762000" y="1762125"/>
            <a:ext cx="6286500" cy="400050"/>
          </a:xfrm>
          <a:prstGeom xmlns:a="http://schemas.openxmlformats.org/drawingml/2006/main" prst="roundRect">
            <a:avLst>
              <a:gd name="adj" fmla="val 38095"/>
            </a:avLst>
          </a:prstGeom>
          <a:solidFill xmlns:a="http://schemas.openxmlformats.org/drawingml/2006/main">
            <a:srgbClr val="21122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CD68871-DC80-47A1-A613-77F87E118690}"/>
              </a:ext>
            </a:extLst>
          </p:cNvPr>
          <p:cNvSpPr>
            <a:spLocks xmlns:a="http://schemas.openxmlformats.org/drawingml/2006/main" noGrp="1"/>
          </p:cNvSpPr>
          <p:nvPr/>
        </p:nvSpPr>
        <p:spPr>
          <a:xfrm xmlns:a="http://schemas.openxmlformats.org/drawingml/2006/main">
            <a:off x="762000" y="2028825"/>
            <a:ext cx="6286500" cy="133350"/>
          </a:xfrm>
          <a:prstGeom xmlns:a="http://schemas.openxmlformats.org/drawingml/2006/main" prst="rect">
            <a:avLst/>
          </a:prstGeom>
          <a:solidFill xmlns:a="http://schemas.openxmlformats.org/drawingml/2006/main">
            <a:srgbClr val="21122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CECB1B6-EBA0-4FBE-9EAB-0DDE43D0C1C3}"/>
              </a:ext>
            </a:extLst>
          </p:cNvPr>
          <p:cNvSpPr>
            <a:spLocks xmlns:a="http://schemas.openxmlformats.org/drawingml/2006/main" noGrp="1"/>
          </p:cNvSpPr>
          <p:nvPr/>
        </p:nvSpPr>
        <p:spPr>
          <a:xfrm xmlns:a="http://schemas.openxmlformats.org/drawingml/2006/main">
            <a:off x="933450" y="1914525"/>
            <a:ext cx="95250" cy="95250"/>
          </a:xfrm>
          <a:prstGeom xmlns:a="http://schemas.openxmlformats.org/drawingml/2006/main" prst="roundRect">
            <a:avLst>
              <a:gd name="adj" fmla="val 50000"/>
            </a:avLst>
          </a:prstGeom>
          <a:solidFill xmlns:a="http://schemas.openxmlformats.org/drawingml/2006/main">
            <a:srgbClr val="FF7B7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C7539B7-78A0-4C9F-BC60-5F594DD75183}"/>
              </a:ext>
            </a:extLst>
          </p:cNvPr>
          <p:cNvSpPr>
            <a:spLocks xmlns:a="http://schemas.openxmlformats.org/drawingml/2006/main" noGrp="1"/>
          </p:cNvSpPr>
          <p:nvPr/>
        </p:nvSpPr>
        <p:spPr>
          <a:xfrm xmlns:a="http://schemas.openxmlformats.org/drawingml/2006/main">
            <a:off x="1104900" y="1914525"/>
            <a:ext cx="95250" cy="95250"/>
          </a:xfrm>
          <a:prstGeom xmlns:a="http://schemas.openxmlformats.org/drawingml/2006/main" prst="roundRect">
            <a:avLst>
              <a:gd name="adj" fmla="val 50000"/>
            </a:avLst>
          </a:prstGeom>
          <a:solidFill xmlns:a="http://schemas.openxmlformats.org/drawingml/2006/main">
            <a:srgbClr val="FFC66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E3721CB-F0D1-4B96-9394-876D62593976}"/>
              </a:ext>
            </a:extLst>
          </p:cNvPr>
          <p:cNvSpPr>
            <a:spLocks xmlns:a="http://schemas.openxmlformats.org/drawingml/2006/main" noGrp="1"/>
          </p:cNvSpPr>
          <p:nvPr/>
        </p:nvSpPr>
        <p:spPr>
          <a:xfrm xmlns:a="http://schemas.openxmlformats.org/drawingml/2006/main">
            <a:off x="1276350" y="1914525"/>
            <a:ext cx="95250" cy="95250"/>
          </a:xfrm>
          <a:prstGeom xmlns:a="http://schemas.openxmlformats.org/drawingml/2006/main" prst="roundRect">
            <a:avLst>
              <a:gd name="adj" fmla="val 50000"/>
            </a:avLst>
          </a:prstGeom>
          <a:solidFill xmlns:a="http://schemas.openxmlformats.org/drawingml/2006/main">
            <a:srgbClr val="70D6A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0BB008A-ED58-4ABB-8020-17D6041703C3}"/>
              </a:ext>
            </a:extLst>
          </p:cNvPr>
          <p:cNvSpPr>
            <a:spLocks xmlns:a="http://schemas.openxmlformats.org/drawingml/2006/main" noGrp="1"/>
          </p:cNvSpPr>
          <p:nvPr/>
        </p:nvSpPr>
        <p:spPr>
          <a:xfrm xmlns:a="http://schemas.openxmlformats.org/drawingml/2006/main">
            <a:off x="1543050" y="1876425"/>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FF6B4A"/>
                </a:solidFill>
                <a:latin typeface="Aptos"/>
                <a:ea typeface="Aptos"/>
                <a:cs typeface="Aptos"/>
              </a:defRPr>
            </a:pPr>
            <a:r>
              <a:rPr sz="900" b="1" i="0">
                <a:solidFill>
                  <a:srgbClr val="FF6B4A"/>
                </a:solidFill>
                <a:latin typeface="Aptos"/>
                <a:ea typeface="Aptos"/>
                <a:cs typeface="Aptos"/>
              </a:rPr>
              <a:t>TEAM SHARE</a:t>
            </a:r>
          </a:p>
        </p:txBody>
      </p:sp>
      <p:sp>
        <p:nvSpPr>
          <p:cNvPr id="13" name="">
            <a:extLst xmlns:a="http://schemas.openxmlformats.org/drawingml/2006/main">
              <a:ext uri="{FF2B5EF4-FFF2-40B4-BE49-F238E27FC236}">
                <a16:creationId xmlns:a16="http://schemas.microsoft.com/office/drawing/2014/main" id="{254D97F9-202C-40B6-9EA1-032FD2101B4E}"/>
              </a:ext>
            </a:extLst>
          </p:cNvPr>
          <p:cNvSpPr>
            <a:spLocks xmlns:a="http://schemas.openxmlformats.org/drawingml/2006/main" noGrp="1"/>
          </p:cNvSpPr>
          <p:nvPr/>
        </p:nvSpPr>
        <p:spPr>
          <a:xfrm xmlns:a="http://schemas.openxmlformats.org/drawingml/2006/main">
            <a:off x="990600" y="2333625"/>
            <a:ext cx="58293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sudo install -d \</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  -o root -g courseops -m 2770 \</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  /srv/course-share</a:t>
            </a:r>
          </a:p>
          <a:p xmlns:a="http://schemas.openxmlformats.org/drawingml/2006/main">
            <a:r>
              <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sudo chown alice:courseops status.txt</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sudo chmod 640 status.txt</a:t>
            </a:r>
          </a:p>
        </p:txBody>
      </p:sp>
      <p:sp>
        <p:nvSpPr>
          <p:cNvPr id="14" name="">
            <a:extLst xmlns:a="http://schemas.openxmlformats.org/drawingml/2006/main">
              <a:ext uri="{FF2B5EF4-FFF2-40B4-BE49-F238E27FC236}">
                <a16:creationId xmlns:a16="http://schemas.microsoft.com/office/drawing/2014/main" id="{0132B334-4365-4B56-A9A4-735FDD4A07FC}"/>
              </a:ext>
            </a:extLst>
          </p:cNvPr>
          <p:cNvSpPr>
            <a:spLocks xmlns:a="http://schemas.openxmlformats.org/drawingml/2006/main" noGrp="1"/>
          </p:cNvSpPr>
          <p:nvPr/>
        </p:nvSpPr>
        <p:spPr>
          <a:xfrm xmlns:a="http://schemas.openxmlformats.org/drawingml/2006/main">
            <a:off x="7858125" y="2000250"/>
            <a:ext cx="1047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4800" b="1" i="0">
                <a:solidFill>
                  <a:srgbClr val="FF6B4A"/>
                </a:solidFill>
                <a:latin typeface="Courier New"/>
                <a:ea typeface="Courier New"/>
                <a:cs typeface="Courier New"/>
              </a:defRPr>
            </a:pPr>
            <a:r>
              <a:rPr sz="4800" b="1" i="0">
                <a:solidFill>
                  <a:srgbClr val="FF6B4A"/>
                </a:solidFill>
                <a:latin typeface="Courier New"/>
                <a:ea typeface="Courier New"/>
                <a:cs typeface="Courier New"/>
              </a:rPr>
              <a:t>2</a:t>
            </a:r>
          </a:p>
        </p:txBody>
      </p:sp>
      <p:sp>
        <p:nvSpPr>
          <p:cNvPr id="15" name="">
            <a:extLst xmlns:a="http://schemas.openxmlformats.org/drawingml/2006/main">
              <a:ext uri="{FF2B5EF4-FFF2-40B4-BE49-F238E27FC236}">
                <a16:creationId xmlns:a16="http://schemas.microsoft.com/office/drawing/2014/main" id="{B5C21AF1-50A4-455D-8468-A49D773874E9}"/>
              </a:ext>
            </a:extLst>
          </p:cNvPr>
          <p:cNvSpPr>
            <a:spLocks xmlns:a="http://schemas.openxmlformats.org/drawingml/2006/main" noGrp="1"/>
          </p:cNvSpPr>
          <p:nvPr/>
        </p:nvSpPr>
        <p:spPr>
          <a:xfrm xmlns:a="http://schemas.openxmlformats.org/drawingml/2006/main">
            <a:off x="7524750" y="2857500"/>
            <a:ext cx="323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875" b="1" i="0">
                <a:solidFill>
                  <a:srgbClr val="FFF8EE"/>
                </a:solidFill>
                <a:latin typeface="Aptos"/>
                <a:ea typeface="Aptos"/>
                <a:cs typeface="Aptos"/>
              </a:defRPr>
            </a:pPr>
            <a:r>
              <a:rPr sz="1875" b="1" i="0">
                <a:solidFill>
                  <a:srgbClr val="FFF8EE"/>
                </a:solidFill>
                <a:latin typeface="Aptos"/>
                <a:ea typeface="Aptos"/>
                <a:cs typeface="Aptos"/>
              </a:rPr>
              <a:t>setgid on a directory</a:t>
            </a:r>
          </a:p>
        </p:txBody>
      </p:sp>
      <p:sp>
        <p:nvSpPr>
          <p:cNvPr id="16" name="">
            <a:extLst xmlns:a="http://schemas.openxmlformats.org/drawingml/2006/main">
              <a:ext uri="{FF2B5EF4-FFF2-40B4-BE49-F238E27FC236}">
                <a16:creationId xmlns:a16="http://schemas.microsoft.com/office/drawing/2014/main" id="{320D863E-751F-4F09-AE4F-A698E28F2BFC}"/>
              </a:ext>
            </a:extLst>
          </p:cNvPr>
          <p:cNvSpPr>
            <a:spLocks xmlns:a="http://schemas.openxmlformats.org/drawingml/2006/main" noGrp="1"/>
          </p:cNvSpPr>
          <p:nvPr/>
        </p:nvSpPr>
        <p:spPr>
          <a:xfrm xmlns:a="http://schemas.openxmlformats.org/drawingml/2006/main">
            <a:off x="7524750" y="3476625"/>
            <a:ext cx="3238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1725" b="0" i="0">
                <a:solidFill>
                  <a:srgbClr val="BFAFCB"/>
                </a:solidFill>
                <a:latin typeface="Aptos"/>
                <a:ea typeface="Aptos"/>
                <a:cs typeface="Aptos"/>
              </a:defRPr>
            </a:pPr>
            <a:r>
              <a:rPr sz="1725" b="0" i="0">
                <a:solidFill>
                  <a:srgbClr val="BFAFCB"/>
                </a:solidFill>
                <a:latin typeface="Aptos"/>
                <a:ea typeface="Aptos"/>
                <a:cs typeface="Aptos"/>
              </a:rPr>
              <a:t>New files inherit the directory group, keeping collaboration predictable.</a:t>
            </a:r>
          </a:p>
        </p:txBody>
      </p:sp>
      <p:sp>
        <p:nvSpPr>
          <p:cNvPr id="17" name="">
            <a:extLst xmlns:a="http://schemas.openxmlformats.org/drawingml/2006/main">
              <a:ext uri="{FF2B5EF4-FFF2-40B4-BE49-F238E27FC236}">
                <a16:creationId xmlns:a16="http://schemas.microsoft.com/office/drawing/2014/main" id="{F163E160-F01D-4479-A9C1-39B2710CF9FF}"/>
              </a:ext>
            </a:extLst>
          </p:cNvPr>
          <p:cNvSpPr>
            <a:spLocks xmlns:a="http://schemas.openxmlformats.org/drawingml/2006/main" noGrp="1"/>
          </p:cNvSpPr>
          <p:nvPr/>
        </p:nvSpPr>
        <p:spPr>
          <a:xfrm xmlns:a="http://schemas.openxmlformats.org/drawingml/2006/main">
            <a:off x="7524750" y="4933950"/>
            <a:ext cx="3238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875" b="1" i="0">
                <a:solidFill>
                  <a:srgbClr val="70D6A6"/>
                </a:solidFill>
                <a:latin typeface="Aptos"/>
                <a:ea typeface="Aptos"/>
                <a:cs typeface="Aptos"/>
              </a:defRPr>
            </a:pPr>
            <a:r>
              <a:rPr sz="1875" b="1" i="0">
                <a:solidFill>
                  <a:srgbClr val="70D6A6"/>
                </a:solidFill>
                <a:latin typeface="Aptos"/>
                <a:ea typeface="Aptos"/>
                <a:cs typeface="Aptos"/>
              </a:rPr>
              <a:t>Owner + group + mode must tell the same story.</a:t>
            </a:r>
          </a:p>
        </p:txBody>
      </p:sp>
    </p:spTree>
    <p:extLst>
      <p:ext uri="{BB962C8B-B14F-4D97-AF65-F5344CB8AC3E}">
        <p14:creationId xmlns:p14="http://schemas.microsoft.com/office/powerpoint/2010/main" val="120615349"/>
      </p:ext>
    </p:extLst>
  </p:cSld>
</p:sld>
</file>

<file path=ppt/slides/slide18.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0FF9600-D115-447F-890A-A28F3FCBD4DB}"/>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TERMINAL EDITOR</a:t>
            </a:r>
          </a:p>
        </p:txBody>
      </p:sp>
      <p:sp>
        <p:nvSpPr>
          <p:cNvPr id="2" name="">
            <a:extLst xmlns:a="http://schemas.openxmlformats.org/drawingml/2006/main">
              <a:ext uri="{FF2B5EF4-FFF2-40B4-BE49-F238E27FC236}">
                <a16:creationId xmlns:a16="http://schemas.microsoft.com/office/drawing/2014/main" id="{7AF9E74C-2FD5-479E-A022-444729A29E43}"/>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160B20"/>
                </a:solidFill>
                <a:latin typeface="Aptos"/>
                <a:ea typeface="Aptos"/>
                <a:cs typeface="Aptos"/>
              </a:defRPr>
            </a:pPr>
            <a:r>
              <a:rPr sz="3750" b="1" i="0">
                <a:solidFill>
                  <a:srgbClr val="160B20"/>
                </a:solidFill>
                <a:latin typeface="Aptos"/>
                <a:ea typeface="Aptos"/>
                <a:cs typeface="Aptos"/>
              </a:rPr>
              <a:t>Nano is enough to make a safe first edit</a:t>
            </a:r>
          </a:p>
        </p:txBody>
      </p:sp>
      <p:sp>
        <p:nvSpPr>
          <p:cNvPr id="3" name="">
            <a:extLst xmlns:a="http://schemas.openxmlformats.org/drawingml/2006/main">
              <a:ext uri="{FF2B5EF4-FFF2-40B4-BE49-F238E27FC236}">
                <a16:creationId xmlns:a16="http://schemas.microsoft.com/office/drawing/2014/main" id="{6020DA77-DF5B-48C9-95CE-0A3DB28F8502}"/>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E7DC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7475639-225B-430C-9E14-A85AA8A7D24B}"/>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6F6277"/>
                </a:solidFill>
                <a:latin typeface="Aptos"/>
                <a:ea typeface="Aptos"/>
                <a:cs typeface="Aptos"/>
              </a:defRPr>
            </a:pPr>
            <a:r>
              <a:rPr sz="900" b="1" i="0">
                <a:solidFill>
                  <a:srgbClr val="6F6277"/>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F0FD55E3-47EB-4BBD-ACE7-74AA08E91028}"/>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8B5CF6"/>
                </a:solidFill>
                <a:latin typeface="Aptos"/>
                <a:ea typeface="Aptos"/>
                <a:cs typeface="Aptos"/>
              </a:defRPr>
            </a:pPr>
            <a:r>
              <a:rPr sz="1050" b="1" i="0">
                <a:solidFill>
                  <a:srgbClr val="8B5CF6"/>
                </a:solidFill>
                <a:latin typeface="Aptos"/>
                <a:ea typeface="Aptos"/>
                <a:cs typeface="Aptos"/>
              </a:rPr>
              <a:t>18</a:t>
            </a:r>
          </a:p>
        </p:txBody>
      </p:sp>
      <p:sp>
        <p:nvSpPr>
          <p:cNvPr id="6" name="">
            <a:extLst xmlns:a="http://schemas.openxmlformats.org/drawingml/2006/main">
              <a:ext uri="{FF2B5EF4-FFF2-40B4-BE49-F238E27FC236}">
                <a16:creationId xmlns:a16="http://schemas.microsoft.com/office/drawing/2014/main" id="{944EEA2A-E3EF-4EC5-8C66-1064BEBF4814}"/>
              </a:ext>
            </a:extLst>
          </p:cNvPr>
          <p:cNvSpPr>
            <a:spLocks xmlns:a="http://schemas.openxmlformats.org/drawingml/2006/main" noGrp="1"/>
          </p:cNvSpPr>
          <p:nvPr/>
        </p:nvSpPr>
        <p:spPr>
          <a:xfrm xmlns:a="http://schemas.openxmlformats.org/drawingml/2006/main">
            <a:off x="838200" y="1762125"/>
            <a:ext cx="5334000" cy="3448050"/>
          </a:xfrm>
          <a:prstGeom xmlns:a="http://schemas.openxmlformats.org/drawingml/2006/main" prst="roundRect">
            <a:avLst>
              <a:gd name="adj" fmla="val 4420"/>
            </a:avLst>
          </a:prstGeom>
          <a:solidFill xmlns:a="http://schemas.openxmlformats.org/drawingml/2006/main">
            <a:srgbClr val="28183A"/>
          </a:solidFill>
          <a:ln xmlns:a="http://schemas.openxmlformats.org/drawingml/2006/main" w="9525">
            <a:solidFill>
              <a:srgbClr val="4A335D"/>
            </a:solidFill>
            <a:prstDash val="solid"/>
          </a:ln>
        </p:spPr>
      </p:sp>
      <p:sp>
        <p:nvSpPr>
          <p:cNvPr id="7" name="">
            <a:extLst xmlns:a="http://schemas.openxmlformats.org/drawingml/2006/main">
              <a:ext uri="{FF2B5EF4-FFF2-40B4-BE49-F238E27FC236}">
                <a16:creationId xmlns:a16="http://schemas.microsoft.com/office/drawing/2014/main" id="{42A9B912-77FE-4D92-8CE8-A6C0143E2799}"/>
              </a:ext>
            </a:extLst>
          </p:cNvPr>
          <p:cNvSpPr>
            <a:spLocks xmlns:a="http://schemas.openxmlformats.org/drawingml/2006/main" noGrp="1"/>
          </p:cNvSpPr>
          <p:nvPr/>
        </p:nvSpPr>
        <p:spPr>
          <a:xfrm xmlns:a="http://schemas.openxmlformats.org/drawingml/2006/main">
            <a:off x="838200" y="1762125"/>
            <a:ext cx="5334000" cy="400050"/>
          </a:xfrm>
          <a:prstGeom xmlns:a="http://schemas.openxmlformats.org/drawingml/2006/main" prst="roundRect">
            <a:avLst>
              <a:gd name="adj" fmla="val 38095"/>
            </a:avLst>
          </a:prstGeom>
          <a:solidFill xmlns:a="http://schemas.openxmlformats.org/drawingml/2006/main">
            <a:srgbClr val="21122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315CC88-9D6B-44F3-97BC-0EFEA3FB47D7}"/>
              </a:ext>
            </a:extLst>
          </p:cNvPr>
          <p:cNvSpPr>
            <a:spLocks xmlns:a="http://schemas.openxmlformats.org/drawingml/2006/main" noGrp="1"/>
          </p:cNvSpPr>
          <p:nvPr/>
        </p:nvSpPr>
        <p:spPr>
          <a:xfrm xmlns:a="http://schemas.openxmlformats.org/drawingml/2006/main">
            <a:off x="838200" y="2028825"/>
            <a:ext cx="5334000" cy="133350"/>
          </a:xfrm>
          <a:prstGeom xmlns:a="http://schemas.openxmlformats.org/drawingml/2006/main" prst="rect">
            <a:avLst/>
          </a:prstGeom>
          <a:solidFill xmlns:a="http://schemas.openxmlformats.org/drawingml/2006/main">
            <a:srgbClr val="21122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1F8FCB8-D80B-4E13-B80A-03B744C4C2FA}"/>
              </a:ext>
            </a:extLst>
          </p:cNvPr>
          <p:cNvSpPr>
            <a:spLocks xmlns:a="http://schemas.openxmlformats.org/drawingml/2006/main" noGrp="1"/>
          </p:cNvSpPr>
          <p:nvPr/>
        </p:nvSpPr>
        <p:spPr>
          <a:xfrm xmlns:a="http://schemas.openxmlformats.org/drawingml/2006/main">
            <a:off x="1009650" y="1914525"/>
            <a:ext cx="95250" cy="95250"/>
          </a:xfrm>
          <a:prstGeom xmlns:a="http://schemas.openxmlformats.org/drawingml/2006/main" prst="roundRect">
            <a:avLst>
              <a:gd name="adj" fmla="val 50000"/>
            </a:avLst>
          </a:prstGeom>
          <a:solidFill xmlns:a="http://schemas.openxmlformats.org/drawingml/2006/main">
            <a:srgbClr val="FF7B7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66E2888-55BF-483E-99F3-B9E22701AE85}"/>
              </a:ext>
            </a:extLst>
          </p:cNvPr>
          <p:cNvSpPr>
            <a:spLocks xmlns:a="http://schemas.openxmlformats.org/drawingml/2006/main" noGrp="1"/>
          </p:cNvSpPr>
          <p:nvPr/>
        </p:nvSpPr>
        <p:spPr>
          <a:xfrm xmlns:a="http://schemas.openxmlformats.org/drawingml/2006/main">
            <a:off x="1181100" y="1914525"/>
            <a:ext cx="95250" cy="95250"/>
          </a:xfrm>
          <a:prstGeom xmlns:a="http://schemas.openxmlformats.org/drawingml/2006/main" prst="roundRect">
            <a:avLst>
              <a:gd name="adj" fmla="val 50000"/>
            </a:avLst>
          </a:prstGeom>
          <a:solidFill xmlns:a="http://schemas.openxmlformats.org/drawingml/2006/main">
            <a:srgbClr val="FFC66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BE9AC04-98DF-4720-BDE8-3DB65BCBB0B0}"/>
              </a:ext>
            </a:extLst>
          </p:cNvPr>
          <p:cNvSpPr>
            <a:spLocks xmlns:a="http://schemas.openxmlformats.org/drawingml/2006/main" noGrp="1"/>
          </p:cNvSpPr>
          <p:nvPr/>
        </p:nvSpPr>
        <p:spPr>
          <a:xfrm xmlns:a="http://schemas.openxmlformats.org/drawingml/2006/main">
            <a:off x="1352550" y="1914525"/>
            <a:ext cx="95250" cy="95250"/>
          </a:xfrm>
          <a:prstGeom xmlns:a="http://schemas.openxmlformats.org/drawingml/2006/main" prst="roundRect">
            <a:avLst>
              <a:gd name="adj" fmla="val 50000"/>
            </a:avLst>
          </a:prstGeom>
          <a:solidFill xmlns:a="http://schemas.openxmlformats.org/drawingml/2006/main">
            <a:srgbClr val="70D6A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7F907E8-F377-406A-A3E8-9C2F176327EE}"/>
              </a:ext>
            </a:extLst>
          </p:cNvPr>
          <p:cNvSpPr>
            <a:spLocks xmlns:a="http://schemas.openxmlformats.org/drawingml/2006/main" noGrp="1"/>
          </p:cNvSpPr>
          <p:nvPr/>
        </p:nvSpPr>
        <p:spPr>
          <a:xfrm xmlns:a="http://schemas.openxmlformats.org/drawingml/2006/main">
            <a:off x="1619250" y="1876425"/>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8B5CF6"/>
                </a:solidFill>
                <a:latin typeface="Aptos"/>
                <a:ea typeface="Aptos"/>
                <a:cs typeface="Aptos"/>
              </a:defRPr>
            </a:pPr>
            <a:r>
              <a:rPr sz="900" b="1" i="0">
                <a:solidFill>
                  <a:srgbClr val="8B5CF6"/>
                </a:solidFill>
                <a:latin typeface="Aptos"/>
                <a:ea typeface="Aptos"/>
                <a:cs typeface="Aptos"/>
              </a:rPr>
              <a:t>NANO</a:t>
            </a:r>
          </a:p>
        </p:txBody>
      </p:sp>
      <p:sp>
        <p:nvSpPr>
          <p:cNvPr id="13" name="">
            <a:extLst xmlns:a="http://schemas.openxmlformats.org/drawingml/2006/main">
              <a:ext uri="{FF2B5EF4-FFF2-40B4-BE49-F238E27FC236}">
                <a16:creationId xmlns:a16="http://schemas.microsoft.com/office/drawing/2014/main" id="{A6F30B7B-D00B-4027-B0B7-72DAB6096361}"/>
              </a:ext>
            </a:extLst>
          </p:cNvPr>
          <p:cNvSpPr>
            <a:spLocks xmlns:a="http://schemas.openxmlformats.org/drawingml/2006/main" noGrp="1"/>
          </p:cNvSpPr>
          <p:nvPr/>
        </p:nvSpPr>
        <p:spPr>
          <a:xfrm xmlns:a="http://schemas.openxmlformats.org/drawingml/2006/main">
            <a:off x="1066800" y="2333625"/>
            <a:ext cx="4876800" cy="2686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nano ~/linux-course/notes/day1.txt</a:t>
            </a:r>
          </a:p>
          <a:p xmlns:a="http://schemas.openxmlformats.org/drawingml/2006/main">
            <a:r>
              <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^O  Write Out / save</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^X  Exit</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^W  Search</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^K  Cut line</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^U  Paste line</a:t>
            </a:r>
          </a:p>
        </p:txBody>
      </p:sp>
      <p:sp>
        <p:nvSpPr>
          <p:cNvPr id="14" name="">
            <a:extLst xmlns:a="http://schemas.openxmlformats.org/drawingml/2006/main">
              <a:ext uri="{FF2B5EF4-FFF2-40B4-BE49-F238E27FC236}">
                <a16:creationId xmlns:a16="http://schemas.microsoft.com/office/drawing/2014/main" id="{AE35091D-EED6-425F-ABB5-70BF18E9265B}"/>
              </a:ext>
            </a:extLst>
          </p:cNvPr>
          <p:cNvSpPr>
            <a:spLocks xmlns:a="http://schemas.openxmlformats.org/drawingml/2006/main" noGrp="1"/>
          </p:cNvSpPr>
          <p:nvPr/>
        </p:nvSpPr>
        <p:spPr>
          <a:xfrm xmlns:a="http://schemas.openxmlformats.org/drawingml/2006/main">
            <a:off x="7239000" y="1962150"/>
            <a:ext cx="3238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2850" b="1" i="0">
                <a:solidFill>
                  <a:srgbClr val="FF6B4A"/>
                </a:solidFill>
                <a:latin typeface="Aptos"/>
                <a:ea typeface="Aptos"/>
                <a:cs typeface="Aptos"/>
              </a:defRPr>
            </a:pPr>
            <a:r>
              <a:rPr sz="2850" b="1" i="0">
                <a:solidFill>
                  <a:srgbClr val="FF6B4A"/>
                </a:solidFill>
                <a:latin typeface="Aptos"/>
                <a:ea typeface="Aptos"/>
                <a:cs typeface="Aptos"/>
              </a:rPr>
              <a:t>^ means Ctrl</a:t>
            </a:r>
          </a:p>
        </p:txBody>
      </p:sp>
      <p:sp>
        <p:nvSpPr>
          <p:cNvPr id="15" name="">
            <a:extLst xmlns:a="http://schemas.openxmlformats.org/drawingml/2006/main">
              <a:ext uri="{FF2B5EF4-FFF2-40B4-BE49-F238E27FC236}">
                <a16:creationId xmlns:a16="http://schemas.microsoft.com/office/drawing/2014/main" id="{1B55E006-728B-4159-B832-58B3D5D5D122}"/>
              </a:ext>
            </a:extLst>
          </p:cNvPr>
          <p:cNvSpPr>
            <a:spLocks xmlns:a="http://schemas.openxmlformats.org/drawingml/2006/main" noGrp="1"/>
          </p:cNvSpPr>
          <p:nvPr/>
        </p:nvSpPr>
        <p:spPr>
          <a:xfrm xmlns:a="http://schemas.openxmlformats.org/drawingml/2006/main">
            <a:off x="6953250" y="292417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FCC8E88-9A60-43A8-A394-88D5F42547C7}"/>
              </a:ext>
            </a:extLst>
          </p:cNvPr>
          <p:cNvSpPr>
            <a:spLocks xmlns:a="http://schemas.openxmlformats.org/drawingml/2006/main" noGrp="1"/>
          </p:cNvSpPr>
          <p:nvPr/>
        </p:nvSpPr>
        <p:spPr>
          <a:xfrm xmlns:a="http://schemas.openxmlformats.org/drawingml/2006/main">
            <a:off x="7219950" y="2857500"/>
            <a:ext cx="3829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60B20"/>
                </a:solidFill>
                <a:latin typeface="Aptos"/>
                <a:ea typeface="Aptos"/>
                <a:cs typeface="Aptos"/>
              </a:defRPr>
            </a:pPr>
            <a:r>
              <a:rPr sz="1650" b="0" i="0">
                <a:solidFill>
                  <a:srgbClr val="160B20"/>
                </a:solidFill>
                <a:latin typeface="Aptos"/>
                <a:ea typeface="Aptos"/>
                <a:cs typeface="Aptos"/>
              </a:rPr>
              <a:t>Open the exact path</a:t>
            </a:r>
          </a:p>
        </p:txBody>
      </p:sp>
      <p:sp>
        <p:nvSpPr>
          <p:cNvPr id="17" name="">
            <a:extLst xmlns:a="http://schemas.openxmlformats.org/drawingml/2006/main">
              <a:ext uri="{FF2B5EF4-FFF2-40B4-BE49-F238E27FC236}">
                <a16:creationId xmlns:a16="http://schemas.microsoft.com/office/drawing/2014/main" id="{9A293F35-BBA1-413F-A7B3-FECADCDCCE4B}"/>
              </a:ext>
            </a:extLst>
          </p:cNvPr>
          <p:cNvSpPr>
            <a:spLocks xmlns:a="http://schemas.openxmlformats.org/drawingml/2006/main" noGrp="1"/>
          </p:cNvSpPr>
          <p:nvPr/>
        </p:nvSpPr>
        <p:spPr>
          <a:xfrm xmlns:a="http://schemas.openxmlformats.org/drawingml/2006/main">
            <a:off x="6953250" y="351472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6797C29-AB02-451D-B8B2-C1E7FC1EA27B}"/>
              </a:ext>
            </a:extLst>
          </p:cNvPr>
          <p:cNvSpPr>
            <a:spLocks xmlns:a="http://schemas.openxmlformats.org/drawingml/2006/main" noGrp="1"/>
          </p:cNvSpPr>
          <p:nvPr/>
        </p:nvSpPr>
        <p:spPr>
          <a:xfrm xmlns:a="http://schemas.openxmlformats.org/drawingml/2006/main">
            <a:off x="7219950" y="3448050"/>
            <a:ext cx="3829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60B20"/>
                </a:solidFill>
                <a:latin typeface="Aptos"/>
                <a:ea typeface="Aptos"/>
                <a:cs typeface="Aptos"/>
              </a:defRPr>
            </a:pPr>
            <a:r>
              <a:rPr sz="1650" b="0" i="0">
                <a:solidFill>
                  <a:srgbClr val="160B20"/>
                </a:solidFill>
                <a:latin typeface="Aptos"/>
                <a:ea typeface="Aptos"/>
                <a:cs typeface="Aptos"/>
              </a:rPr>
              <a:t>Make one small change</a:t>
            </a:r>
          </a:p>
        </p:txBody>
      </p:sp>
      <p:sp>
        <p:nvSpPr>
          <p:cNvPr id="19" name="">
            <a:extLst xmlns:a="http://schemas.openxmlformats.org/drawingml/2006/main">
              <a:ext uri="{FF2B5EF4-FFF2-40B4-BE49-F238E27FC236}">
                <a16:creationId xmlns:a16="http://schemas.microsoft.com/office/drawing/2014/main" id="{B57622B9-7EBD-426D-A6FF-FBAD8ECFBA22}"/>
              </a:ext>
            </a:extLst>
          </p:cNvPr>
          <p:cNvSpPr>
            <a:spLocks xmlns:a="http://schemas.openxmlformats.org/drawingml/2006/main" noGrp="1"/>
          </p:cNvSpPr>
          <p:nvPr/>
        </p:nvSpPr>
        <p:spPr>
          <a:xfrm xmlns:a="http://schemas.openxmlformats.org/drawingml/2006/main">
            <a:off x="6953250" y="410527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03BB0D5-F572-4E55-A22E-1E2D86D9AF5F}"/>
              </a:ext>
            </a:extLst>
          </p:cNvPr>
          <p:cNvSpPr>
            <a:spLocks xmlns:a="http://schemas.openxmlformats.org/drawingml/2006/main" noGrp="1"/>
          </p:cNvSpPr>
          <p:nvPr/>
        </p:nvSpPr>
        <p:spPr>
          <a:xfrm xmlns:a="http://schemas.openxmlformats.org/drawingml/2006/main">
            <a:off x="7219950" y="4038600"/>
            <a:ext cx="3829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60B20"/>
                </a:solidFill>
                <a:latin typeface="Aptos"/>
                <a:ea typeface="Aptos"/>
                <a:cs typeface="Aptos"/>
              </a:defRPr>
            </a:pPr>
            <a:r>
              <a:rPr sz="1650" b="0" i="0">
                <a:solidFill>
                  <a:srgbClr val="160B20"/>
                </a:solidFill>
                <a:latin typeface="Aptos"/>
                <a:ea typeface="Aptos"/>
                <a:cs typeface="Aptos"/>
              </a:rPr>
              <a:t>Save, exit, then verify</a:t>
            </a:r>
          </a:p>
        </p:txBody>
      </p:sp>
      <p:sp>
        <p:nvSpPr>
          <p:cNvPr id="21" name="">
            <a:extLst xmlns:a="http://schemas.openxmlformats.org/drawingml/2006/main">
              <a:ext uri="{FF2B5EF4-FFF2-40B4-BE49-F238E27FC236}">
                <a16:creationId xmlns:a16="http://schemas.microsoft.com/office/drawing/2014/main" id="{974D9FBA-5E18-4A2C-B4A0-DF614CC83794}"/>
              </a:ext>
            </a:extLst>
          </p:cNvPr>
          <p:cNvSpPr>
            <a:spLocks xmlns:a="http://schemas.openxmlformats.org/drawingml/2006/main" noGrp="1"/>
          </p:cNvSpPr>
          <p:nvPr/>
        </p:nvSpPr>
        <p:spPr>
          <a:xfrm xmlns:a="http://schemas.openxmlformats.org/drawingml/2006/main">
            <a:off x="6953250" y="469582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2E073ED-7090-4E16-BECB-342F8D7F8638}"/>
              </a:ext>
            </a:extLst>
          </p:cNvPr>
          <p:cNvSpPr>
            <a:spLocks xmlns:a="http://schemas.openxmlformats.org/drawingml/2006/main" noGrp="1"/>
          </p:cNvSpPr>
          <p:nvPr/>
        </p:nvSpPr>
        <p:spPr>
          <a:xfrm xmlns:a="http://schemas.openxmlformats.org/drawingml/2006/main">
            <a:off x="7219950" y="4629150"/>
            <a:ext cx="3829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60B20"/>
                </a:solidFill>
                <a:latin typeface="Aptos"/>
                <a:ea typeface="Aptos"/>
                <a:cs typeface="Aptos"/>
              </a:defRPr>
            </a:pPr>
            <a:r>
              <a:rPr sz="1650" b="0" i="0">
                <a:solidFill>
                  <a:srgbClr val="160B20"/>
                </a:solidFill>
                <a:latin typeface="Aptos"/>
                <a:ea typeface="Aptos"/>
                <a:cs typeface="Aptos"/>
              </a:rPr>
              <a:t>Use sudoedit for protected files</a:t>
            </a:r>
          </a:p>
        </p:txBody>
      </p:sp>
      <p:sp>
        <p:nvSpPr>
          <p:cNvPr id="23" name="">
            <a:extLst xmlns:a="http://schemas.openxmlformats.org/drawingml/2006/main">
              <a:ext uri="{FF2B5EF4-FFF2-40B4-BE49-F238E27FC236}">
                <a16:creationId xmlns:a16="http://schemas.microsoft.com/office/drawing/2014/main" id="{DB016901-7358-4B14-B280-4DBE80FEB0F2}"/>
              </a:ext>
            </a:extLst>
          </p:cNvPr>
          <p:cNvSpPr>
            <a:spLocks xmlns:a="http://schemas.openxmlformats.org/drawingml/2006/main" noGrp="1"/>
          </p:cNvSpPr>
          <p:nvPr/>
        </p:nvSpPr>
        <p:spPr>
          <a:xfrm xmlns:a="http://schemas.openxmlformats.org/drawingml/2006/main">
            <a:off x="6953250" y="544830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875" b="1" i="0">
                <a:solidFill>
                  <a:srgbClr val="8B5CF6"/>
                </a:solidFill>
                <a:latin typeface="Aptos"/>
                <a:ea typeface="Aptos"/>
                <a:cs typeface="Aptos"/>
              </a:defRPr>
            </a:pPr>
            <a:r>
              <a:rPr sz="1875" b="1" i="0">
                <a:solidFill>
                  <a:srgbClr val="8B5CF6"/>
                </a:solidFill>
                <a:latin typeface="Aptos"/>
                <a:ea typeface="Aptos"/>
                <a:cs typeface="Aptos"/>
              </a:rPr>
              <a:t>Editing is not verification.</a:t>
            </a:r>
          </a:p>
        </p:txBody>
      </p:sp>
    </p:spTree>
    <p:extLst>
      <p:ext uri="{BB962C8B-B14F-4D97-AF65-F5344CB8AC3E}">
        <p14:creationId xmlns:p14="http://schemas.microsoft.com/office/powerpoint/2010/main" val="1063737308"/>
      </p:ext>
    </p:extLst>
  </p:cSld>
</p:sld>
</file>

<file path=ppt/slides/slide19.xml><?xml version="1.0" encoding="utf-8"?>
<p:sld xmlns:p="http://schemas.openxmlformats.org/presentationml/2006/main">
  <p:cSld>
    <p:bg>
      <p:bgPr>
        <a:solidFill xmlns:a="http://schemas.openxmlformats.org/drawingml/2006/main">
          <a:srgbClr val="180D24"/>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23C3EB8-CD64-41DC-B3FF-8EA2EAB017B4}"/>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DEMO 2</a:t>
            </a:r>
          </a:p>
        </p:txBody>
      </p:sp>
      <p:sp>
        <p:nvSpPr>
          <p:cNvPr id="2" name="">
            <a:extLst xmlns:a="http://schemas.openxmlformats.org/drawingml/2006/main">
              <a:ext uri="{FF2B5EF4-FFF2-40B4-BE49-F238E27FC236}">
                <a16:creationId xmlns:a16="http://schemas.microsoft.com/office/drawing/2014/main" id="{1C7CE9B3-B854-4324-B786-3018E7F157D6}"/>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033"/>
          </a:bodyPr>
          <a:lstStyle xmlns:a="http://schemas.openxmlformats.org/drawingml/2006/main"/>
          <a:p xmlns:a="http://schemas.openxmlformats.org/drawingml/2006/main">
            <a:pPr algn="l">
              <a:lnSpc>
                <a:spcPct val="94000"/>
              </a:lnSpc>
              <a:buNone/>
              <a:defRPr sz="3750" b="1" i="0">
                <a:solidFill>
                  <a:srgbClr val="FFF8EE"/>
                </a:solidFill>
                <a:latin typeface="Aptos"/>
                <a:ea typeface="Aptos"/>
                <a:cs typeface="Aptos"/>
              </a:defRPr>
            </a:pPr>
            <a:r>
              <a:rPr sz="3750" b="1" i="0">
                <a:solidFill>
                  <a:srgbClr val="FFF8EE"/>
                </a:solidFill>
                <a:latin typeface="Aptos"/>
                <a:ea typeface="Aptos"/>
                <a:cs typeface="Aptos"/>
              </a:rPr>
              <a:t>Live demo: repair access with the smallest change</a:t>
            </a:r>
          </a:p>
        </p:txBody>
      </p:sp>
      <p:sp>
        <p:nvSpPr>
          <p:cNvPr id="3" name="">
            <a:extLst xmlns:a="http://schemas.openxmlformats.org/drawingml/2006/main">
              <a:ext uri="{FF2B5EF4-FFF2-40B4-BE49-F238E27FC236}">
                <a16:creationId xmlns:a16="http://schemas.microsoft.com/office/drawing/2014/main" id="{65BD8E3C-8FE9-4903-9757-0689FB49E3DD}"/>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3520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B63970B-C6E4-4F05-88A9-D6D36F38B201}"/>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BFAFCB"/>
                </a:solidFill>
                <a:latin typeface="Aptos"/>
                <a:ea typeface="Aptos"/>
                <a:cs typeface="Aptos"/>
              </a:defRPr>
            </a:pPr>
            <a:r>
              <a:rPr sz="900" b="1" i="0">
                <a:solidFill>
                  <a:srgbClr val="BFAFCB"/>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5B451D8C-ED70-44A5-B46E-16952B00EC47}"/>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C9B6FF"/>
                </a:solidFill>
                <a:latin typeface="Aptos"/>
                <a:ea typeface="Aptos"/>
                <a:cs typeface="Aptos"/>
              </a:defRPr>
            </a:pPr>
            <a:r>
              <a:rPr sz="1050" b="1" i="0">
                <a:solidFill>
                  <a:srgbClr val="C9B6FF"/>
                </a:solidFill>
                <a:latin typeface="Aptos"/>
                <a:ea typeface="Aptos"/>
                <a:cs typeface="Aptos"/>
              </a:rPr>
              <a:t>19</a:t>
            </a:r>
          </a:p>
        </p:txBody>
      </p:sp>
      <p:sp>
        <p:nvSpPr>
          <p:cNvPr id="6" name="">
            <a:extLst xmlns:a="http://schemas.openxmlformats.org/drawingml/2006/main">
              <a:ext uri="{FF2B5EF4-FFF2-40B4-BE49-F238E27FC236}">
                <a16:creationId xmlns:a16="http://schemas.microsoft.com/office/drawing/2014/main" id="{DCD4C8F4-AAD4-4D72-BEEC-AB758447F4D6}"/>
              </a:ext>
            </a:extLst>
          </p:cNvPr>
          <p:cNvSpPr>
            <a:spLocks xmlns:a="http://schemas.openxmlformats.org/drawingml/2006/main" noGrp="1"/>
          </p:cNvSpPr>
          <p:nvPr/>
        </p:nvSpPr>
        <p:spPr>
          <a:xfrm xmlns:a="http://schemas.openxmlformats.org/drawingml/2006/main">
            <a:off x="895350" y="1714500"/>
            <a:ext cx="10401300" cy="3676650"/>
          </a:xfrm>
          <a:prstGeom xmlns:a="http://schemas.openxmlformats.org/drawingml/2006/main" prst="roundRect">
            <a:avLst>
              <a:gd name="adj" fmla="val 4145"/>
            </a:avLst>
          </a:prstGeom>
          <a:solidFill xmlns:a="http://schemas.openxmlformats.org/drawingml/2006/main">
            <a:srgbClr val="28183A"/>
          </a:solidFill>
          <a:ln xmlns:a="http://schemas.openxmlformats.org/drawingml/2006/main" w="9525">
            <a:solidFill>
              <a:srgbClr val="4A335D"/>
            </a:solidFill>
            <a:prstDash val="solid"/>
          </a:ln>
        </p:spPr>
      </p:sp>
      <p:sp>
        <p:nvSpPr>
          <p:cNvPr id="7" name="">
            <a:extLst xmlns:a="http://schemas.openxmlformats.org/drawingml/2006/main">
              <a:ext uri="{FF2B5EF4-FFF2-40B4-BE49-F238E27FC236}">
                <a16:creationId xmlns:a16="http://schemas.microsoft.com/office/drawing/2014/main" id="{9A2D3FC0-77EF-4A9B-A48B-00A32A4A1079}"/>
              </a:ext>
            </a:extLst>
          </p:cNvPr>
          <p:cNvSpPr>
            <a:spLocks xmlns:a="http://schemas.openxmlformats.org/drawingml/2006/main" noGrp="1"/>
          </p:cNvSpPr>
          <p:nvPr/>
        </p:nvSpPr>
        <p:spPr>
          <a:xfrm xmlns:a="http://schemas.openxmlformats.org/drawingml/2006/main">
            <a:off x="895350" y="1714500"/>
            <a:ext cx="10401300" cy="400050"/>
          </a:xfrm>
          <a:prstGeom xmlns:a="http://schemas.openxmlformats.org/drawingml/2006/main" prst="roundRect">
            <a:avLst>
              <a:gd name="adj" fmla="val 38095"/>
            </a:avLst>
          </a:prstGeom>
          <a:solidFill xmlns:a="http://schemas.openxmlformats.org/drawingml/2006/main">
            <a:srgbClr val="21122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CD8A2BF-CDA9-4F87-9912-893D3C2201EF}"/>
              </a:ext>
            </a:extLst>
          </p:cNvPr>
          <p:cNvSpPr>
            <a:spLocks xmlns:a="http://schemas.openxmlformats.org/drawingml/2006/main" noGrp="1"/>
          </p:cNvSpPr>
          <p:nvPr/>
        </p:nvSpPr>
        <p:spPr>
          <a:xfrm xmlns:a="http://schemas.openxmlformats.org/drawingml/2006/main">
            <a:off x="895350" y="1981200"/>
            <a:ext cx="10401300" cy="133350"/>
          </a:xfrm>
          <a:prstGeom xmlns:a="http://schemas.openxmlformats.org/drawingml/2006/main" prst="rect">
            <a:avLst/>
          </a:prstGeom>
          <a:solidFill xmlns:a="http://schemas.openxmlformats.org/drawingml/2006/main">
            <a:srgbClr val="21122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CBE6D08-FEE5-40BE-B681-85DFF2EF9696}"/>
              </a:ext>
            </a:extLst>
          </p:cNvPr>
          <p:cNvSpPr>
            <a:spLocks xmlns:a="http://schemas.openxmlformats.org/drawingml/2006/main" noGrp="1"/>
          </p:cNvSpPr>
          <p:nvPr/>
        </p:nvSpPr>
        <p:spPr>
          <a:xfrm xmlns:a="http://schemas.openxmlformats.org/drawingml/2006/main">
            <a:off x="1066800" y="1866900"/>
            <a:ext cx="95250" cy="95250"/>
          </a:xfrm>
          <a:prstGeom xmlns:a="http://schemas.openxmlformats.org/drawingml/2006/main" prst="roundRect">
            <a:avLst>
              <a:gd name="adj" fmla="val 50000"/>
            </a:avLst>
          </a:prstGeom>
          <a:solidFill xmlns:a="http://schemas.openxmlformats.org/drawingml/2006/main">
            <a:srgbClr val="FF7B7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6938EA2-0888-4AB7-9692-A25E2C2E931F}"/>
              </a:ext>
            </a:extLst>
          </p:cNvPr>
          <p:cNvSpPr>
            <a:spLocks xmlns:a="http://schemas.openxmlformats.org/drawingml/2006/main" noGrp="1"/>
          </p:cNvSpPr>
          <p:nvPr/>
        </p:nvSpPr>
        <p:spPr>
          <a:xfrm xmlns:a="http://schemas.openxmlformats.org/drawingml/2006/main">
            <a:off x="1238250" y="1866900"/>
            <a:ext cx="95250" cy="95250"/>
          </a:xfrm>
          <a:prstGeom xmlns:a="http://schemas.openxmlformats.org/drawingml/2006/main" prst="roundRect">
            <a:avLst>
              <a:gd name="adj" fmla="val 50000"/>
            </a:avLst>
          </a:prstGeom>
          <a:solidFill xmlns:a="http://schemas.openxmlformats.org/drawingml/2006/main">
            <a:srgbClr val="FFC66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EEE0214-2F86-4D06-9411-7CFE5776E006}"/>
              </a:ext>
            </a:extLst>
          </p:cNvPr>
          <p:cNvSpPr>
            <a:spLocks xmlns:a="http://schemas.openxmlformats.org/drawingml/2006/main" noGrp="1"/>
          </p:cNvSpPr>
          <p:nvPr/>
        </p:nvSpPr>
        <p:spPr>
          <a:xfrm xmlns:a="http://schemas.openxmlformats.org/drawingml/2006/main">
            <a:off x="1409700" y="1866900"/>
            <a:ext cx="95250" cy="95250"/>
          </a:xfrm>
          <a:prstGeom xmlns:a="http://schemas.openxmlformats.org/drawingml/2006/main" prst="roundRect">
            <a:avLst>
              <a:gd name="adj" fmla="val 50000"/>
            </a:avLst>
          </a:prstGeom>
          <a:solidFill xmlns:a="http://schemas.openxmlformats.org/drawingml/2006/main">
            <a:srgbClr val="70D6A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4DB98B0-A2CD-4072-BDDE-9A20B1F9CCBC}"/>
              </a:ext>
            </a:extLst>
          </p:cNvPr>
          <p:cNvSpPr>
            <a:spLocks xmlns:a="http://schemas.openxmlformats.org/drawingml/2006/main" noGrp="1"/>
          </p:cNvSpPr>
          <p:nvPr/>
        </p:nvSpPr>
        <p:spPr>
          <a:xfrm xmlns:a="http://schemas.openxmlformats.org/drawingml/2006/main">
            <a:off x="1676400" y="1828800"/>
            <a:ext cx="9448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FF6B4A"/>
                </a:solidFill>
                <a:latin typeface="Aptos"/>
                <a:ea typeface="Aptos"/>
                <a:cs typeface="Aptos"/>
              </a:defRPr>
            </a:pPr>
            <a:r>
              <a:rPr sz="900" b="1" i="0">
                <a:solidFill>
                  <a:srgbClr val="FF6B4A"/>
                </a:solidFill>
                <a:latin typeface="Aptos"/>
                <a:ea typeface="Aptos"/>
                <a:cs typeface="Aptos"/>
              </a:rPr>
              <a:t>OBSERVE → EXPLAIN → REPAIR → RETEST</a:t>
            </a:r>
          </a:p>
        </p:txBody>
      </p:sp>
      <p:sp>
        <p:nvSpPr>
          <p:cNvPr id="13" name="">
            <a:extLst xmlns:a="http://schemas.openxmlformats.org/drawingml/2006/main">
              <a:ext uri="{FF2B5EF4-FFF2-40B4-BE49-F238E27FC236}">
                <a16:creationId xmlns:a16="http://schemas.microsoft.com/office/drawing/2014/main" id="{7498FDB4-CE7E-4C9D-BE94-DF643E3E2E83}"/>
              </a:ext>
            </a:extLst>
          </p:cNvPr>
          <p:cNvSpPr>
            <a:spLocks xmlns:a="http://schemas.openxmlformats.org/drawingml/2006/main" noGrp="1"/>
          </p:cNvSpPr>
          <p:nvPr/>
        </p:nvSpPr>
        <p:spPr>
          <a:xfrm xmlns:a="http://schemas.openxmlformats.org/drawingml/2006/main">
            <a:off x="1123950" y="2286000"/>
            <a:ext cx="9944100" cy="2914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id alice</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stat -c "%A %a %U:%G %n" /srv/demo-share/report.txt</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namei -l /srv/demo-share/report.txt</a:t>
            </a:r>
          </a:p>
          <a:p xmlns:a="http://schemas.openxmlformats.org/drawingml/2006/main">
            <a:r>
              <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 observe failure as another identity</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 repair owner/group/mode</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 repeat the exact read</a:t>
            </a:r>
          </a:p>
        </p:txBody>
      </p:sp>
      <p:sp>
        <p:nvSpPr>
          <p:cNvPr id="14" name="">
            <a:extLst xmlns:a="http://schemas.openxmlformats.org/drawingml/2006/main">
              <a:ext uri="{FF2B5EF4-FFF2-40B4-BE49-F238E27FC236}">
                <a16:creationId xmlns:a16="http://schemas.microsoft.com/office/drawing/2014/main" id="{B93E085B-6F9C-43D8-8688-9C09FC76264F}"/>
              </a:ext>
            </a:extLst>
          </p:cNvPr>
          <p:cNvSpPr>
            <a:spLocks xmlns:a="http://schemas.openxmlformats.org/drawingml/2006/main" noGrp="1"/>
          </p:cNvSpPr>
          <p:nvPr/>
        </p:nvSpPr>
        <p:spPr>
          <a:xfrm xmlns:a="http://schemas.openxmlformats.org/drawingml/2006/main">
            <a:off x="895350" y="5638800"/>
            <a:ext cx="1040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2175" b="1" i="0">
                <a:solidFill>
                  <a:srgbClr val="FF7B72"/>
                </a:solidFill>
                <a:latin typeface="Aptos"/>
                <a:ea typeface="Aptos"/>
                <a:cs typeface="Aptos"/>
              </a:defRPr>
            </a:pPr>
            <a:r>
              <a:rPr sz="2175" b="1" i="0">
                <a:solidFill>
                  <a:srgbClr val="FF7B72"/>
                </a:solidFill>
                <a:latin typeface="Aptos"/>
                <a:ea typeface="Aptos"/>
                <a:cs typeface="Aptos"/>
              </a:rPr>
              <a:t>Never begin with chmod 777.</a:t>
            </a:r>
          </a:p>
        </p:txBody>
      </p:sp>
    </p:spTree>
    <p:extLst>
      <p:ext uri="{BB962C8B-B14F-4D97-AF65-F5344CB8AC3E}">
        <p14:creationId xmlns:p14="http://schemas.microsoft.com/office/powerpoint/2010/main" val="361357659"/>
      </p:ext>
    </p:extLst>
  </p:cSld>
</p:sld>
</file>

<file path=ppt/slides/slide20.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3D8B387-2A34-47F4-BE6F-0C2E4403A9F9}"/>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SSH</a:t>
            </a:r>
          </a:p>
        </p:txBody>
      </p:sp>
      <p:sp>
        <p:nvSpPr>
          <p:cNvPr id="2" name="">
            <a:extLst xmlns:a="http://schemas.openxmlformats.org/drawingml/2006/main">
              <a:ext uri="{FF2B5EF4-FFF2-40B4-BE49-F238E27FC236}">
                <a16:creationId xmlns:a16="http://schemas.microsoft.com/office/drawing/2014/main" id="{E84F41FA-CE0F-4705-B684-C4A4940B45FB}"/>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095"/>
          </a:bodyPr>
          <a:lstStyle xmlns:a="http://schemas.openxmlformats.org/drawingml/2006/main"/>
          <a:p xmlns:a="http://schemas.openxmlformats.org/drawingml/2006/main">
            <a:pPr algn="l">
              <a:lnSpc>
                <a:spcPct val="94000"/>
              </a:lnSpc>
              <a:buNone/>
              <a:defRPr sz="3750" b="1" i="0">
                <a:solidFill>
                  <a:srgbClr val="160B20"/>
                </a:solidFill>
                <a:latin typeface="Aptos"/>
                <a:ea typeface="Aptos"/>
                <a:cs typeface="Aptos"/>
              </a:defRPr>
            </a:pPr>
            <a:r>
              <a:rPr sz="3750" b="1" i="0">
                <a:solidFill>
                  <a:srgbClr val="160B20"/>
                </a:solidFill>
                <a:latin typeface="Aptos"/>
                <a:ea typeface="Aptos"/>
                <a:cs typeface="Aptos"/>
              </a:rPr>
              <a:t>SSH authenticates both ends of the conversation</a:t>
            </a:r>
          </a:p>
        </p:txBody>
      </p:sp>
      <p:sp>
        <p:nvSpPr>
          <p:cNvPr id="3" name="">
            <a:extLst xmlns:a="http://schemas.openxmlformats.org/drawingml/2006/main">
              <a:ext uri="{FF2B5EF4-FFF2-40B4-BE49-F238E27FC236}">
                <a16:creationId xmlns:a16="http://schemas.microsoft.com/office/drawing/2014/main" id="{9D9E13A3-30C6-4678-8031-EE56E36ADB9D}"/>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E7DC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99C1AB2-73DC-4433-9F3E-6BB795B5F60F}"/>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6F6277"/>
                </a:solidFill>
                <a:latin typeface="Aptos"/>
                <a:ea typeface="Aptos"/>
                <a:cs typeface="Aptos"/>
              </a:defRPr>
            </a:pPr>
            <a:r>
              <a:rPr sz="900" b="1" i="0">
                <a:solidFill>
                  <a:srgbClr val="6F6277"/>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7C4966E4-03CD-44A3-A5B6-774F21FBE69C}"/>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8B5CF6"/>
                </a:solidFill>
                <a:latin typeface="Aptos"/>
                <a:ea typeface="Aptos"/>
                <a:cs typeface="Aptos"/>
              </a:defRPr>
            </a:pPr>
            <a:r>
              <a:rPr sz="1050" b="1" i="0">
                <a:solidFill>
                  <a:srgbClr val="8B5CF6"/>
                </a:solidFill>
                <a:latin typeface="Aptos"/>
                <a:ea typeface="Aptos"/>
                <a:cs typeface="Aptos"/>
              </a:rPr>
              <a:t>20</a:t>
            </a:r>
          </a:p>
        </p:txBody>
      </p:sp>
      <p:sp>
        <p:nvSpPr>
          <p:cNvPr id="6" name="">
            <a:extLst xmlns:a="http://schemas.openxmlformats.org/drawingml/2006/main">
              <a:ext uri="{FF2B5EF4-FFF2-40B4-BE49-F238E27FC236}">
                <a16:creationId xmlns:a16="http://schemas.microsoft.com/office/drawing/2014/main" id="{98372245-EA53-4E31-B158-DEF2D59E0419}"/>
              </a:ext>
            </a:extLst>
          </p:cNvPr>
          <p:cNvSpPr>
            <a:spLocks xmlns:a="http://schemas.openxmlformats.org/drawingml/2006/main" noGrp="1"/>
          </p:cNvSpPr>
          <p:nvPr/>
        </p:nvSpPr>
        <p:spPr>
          <a:xfrm xmlns:a="http://schemas.openxmlformats.org/drawingml/2006/main">
            <a:off x="876300" y="18097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125" b="1" i="0">
                <a:solidFill>
                  <a:srgbClr val="FF6B4A"/>
                </a:solidFill>
                <a:latin typeface="Aptos"/>
                <a:ea typeface="Aptos"/>
                <a:cs typeface="Aptos"/>
              </a:defRPr>
            </a:pPr>
            <a:r>
              <a:rPr sz="1125" b="1" i="0">
                <a:solidFill>
                  <a:srgbClr val="FF6B4A"/>
                </a:solidFill>
                <a:latin typeface="Aptos"/>
                <a:ea typeface="Aptos"/>
                <a:cs typeface="Aptos"/>
              </a:rPr>
              <a:t>CLIENT</a:t>
            </a:r>
          </a:p>
        </p:txBody>
      </p:sp>
      <p:sp>
        <p:nvSpPr>
          <p:cNvPr id="7" name="">
            <a:extLst xmlns:a="http://schemas.openxmlformats.org/drawingml/2006/main">
              <a:ext uri="{FF2B5EF4-FFF2-40B4-BE49-F238E27FC236}">
                <a16:creationId xmlns:a16="http://schemas.microsoft.com/office/drawing/2014/main" id="{5E2EBE33-C0D5-45C3-9766-1D50422B6B08}"/>
              </a:ext>
            </a:extLst>
          </p:cNvPr>
          <p:cNvSpPr>
            <a:spLocks xmlns:a="http://schemas.openxmlformats.org/drawingml/2006/main" noGrp="1"/>
          </p:cNvSpPr>
          <p:nvPr/>
        </p:nvSpPr>
        <p:spPr>
          <a:xfrm xmlns:a="http://schemas.openxmlformats.org/drawingml/2006/main">
            <a:off x="876300" y="2324100"/>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175" b="1" i="0">
                <a:solidFill>
                  <a:srgbClr val="160B20"/>
                </a:solidFill>
                <a:latin typeface="Aptos"/>
                <a:ea typeface="Aptos"/>
                <a:cs typeface="Aptos"/>
              </a:defRPr>
            </a:pPr>
            <a:r>
              <a:rPr sz="2175" b="1" i="0">
                <a:solidFill>
                  <a:srgbClr val="160B20"/>
                </a:solidFill>
                <a:latin typeface="Aptos"/>
                <a:ea typeface="Aptos"/>
                <a:cs typeface="Aptos"/>
              </a:rPr>
              <a:t>“Is this really my server?”</a:t>
            </a:r>
          </a:p>
        </p:txBody>
      </p:sp>
      <p:sp>
        <p:nvSpPr>
          <p:cNvPr id="8" name="">
            <a:extLst xmlns:a="http://schemas.openxmlformats.org/drawingml/2006/main">
              <a:ext uri="{FF2B5EF4-FFF2-40B4-BE49-F238E27FC236}">
                <a16:creationId xmlns:a16="http://schemas.microsoft.com/office/drawing/2014/main" id="{3542457D-DDDC-4418-8BD0-099B36900146}"/>
              </a:ext>
            </a:extLst>
          </p:cNvPr>
          <p:cNvSpPr>
            <a:spLocks xmlns:a="http://schemas.openxmlformats.org/drawingml/2006/main" noGrp="1"/>
          </p:cNvSpPr>
          <p:nvPr/>
        </p:nvSpPr>
        <p:spPr>
          <a:xfrm xmlns:a="http://schemas.openxmlformats.org/drawingml/2006/main">
            <a:off x="876300" y="3238500"/>
            <a:ext cx="342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i="0">
                <a:solidFill>
                  <a:srgbClr val="514658"/>
                </a:solidFill>
                <a:latin typeface="Aptos"/>
                <a:ea typeface="Aptos"/>
                <a:cs typeface="Aptos"/>
              </a:defRPr>
            </a:pPr>
            <a:r>
              <a:rPr sz="1650" b="0" i="0">
                <a:solidFill>
                  <a:srgbClr val="514658"/>
                </a:solidFill>
                <a:latin typeface="Aptos"/>
                <a:ea typeface="Aptos"/>
                <a:cs typeface="Aptos"/>
              </a:rPr>
              <a:t>Checks the server host key</a:t>
            </a:r>
          </a:p>
          <a:p xmlns:a="http://schemas.openxmlformats.org/drawingml/2006/main">
            <a:pPr algn="l">
              <a:lnSpc>
                <a:spcPct val="102000"/>
              </a:lnSpc>
              <a:buNone/>
              <a:defRPr sz="1650" b="0" i="0">
                <a:solidFill>
                  <a:srgbClr val="514658"/>
                </a:solidFill>
                <a:latin typeface="Aptos"/>
                <a:ea typeface="Aptos"/>
                <a:cs typeface="Aptos"/>
              </a:defRPr>
            </a:pPr>
            <a:r>
              <a:rPr sz="1650" b="0" i="0">
                <a:solidFill>
                  <a:srgbClr val="514658"/>
                </a:solidFill>
                <a:latin typeface="Aptos"/>
                <a:ea typeface="Aptos"/>
                <a:cs typeface="Aptos"/>
              </a:rPr>
              <a:t>against known_hosts</a:t>
            </a:r>
          </a:p>
        </p:txBody>
      </p:sp>
      <p:sp>
        <p:nvSpPr>
          <p:cNvPr id="9" name="">
            <a:extLst xmlns:a="http://schemas.openxmlformats.org/drawingml/2006/main">
              <a:ext uri="{FF2B5EF4-FFF2-40B4-BE49-F238E27FC236}">
                <a16:creationId xmlns:a16="http://schemas.microsoft.com/office/drawing/2014/main" id="{38CD14A1-A146-4F4F-8378-BA2CA64A036F}"/>
              </a:ext>
            </a:extLst>
          </p:cNvPr>
          <p:cNvSpPr>
            <a:spLocks xmlns:a="http://schemas.openxmlformats.org/drawingml/2006/main" noGrp="1"/>
          </p:cNvSpPr>
          <p:nvPr/>
        </p:nvSpPr>
        <p:spPr>
          <a:xfrm xmlns:a="http://schemas.openxmlformats.org/drawingml/2006/main">
            <a:off x="5238750" y="2781300"/>
            <a:ext cx="1714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4800" b="1" i="0">
                <a:solidFill>
                  <a:srgbClr val="8B5CF6"/>
                </a:solidFill>
                <a:latin typeface="Aptos"/>
                <a:ea typeface="Aptos"/>
                <a:cs typeface="Aptos"/>
              </a:defRPr>
            </a:pPr>
            <a:r>
              <a:rPr sz="4800" b="1" i="0">
                <a:solidFill>
                  <a:srgbClr val="8B5CF6"/>
                </a:solidFill>
                <a:latin typeface="Aptos"/>
                <a:ea typeface="Aptos"/>
                <a:cs typeface="Aptos"/>
              </a:rPr>
              <a:t>⇄</a:t>
            </a:r>
          </a:p>
        </p:txBody>
      </p:sp>
      <p:sp>
        <p:nvSpPr>
          <p:cNvPr id="10" name="">
            <a:extLst xmlns:a="http://schemas.openxmlformats.org/drawingml/2006/main">
              <a:ext uri="{FF2B5EF4-FFF2-40B4-BE49-F238E27FC236}">
                <a16:creationId xmlns:a16="http://schemas.microsoft.com/office/drawing/2014/main" id="{E43596D5-813E-4B3F-B992-F4492C77A3EE}"/>
              </a:ext>
            </a:extLst>
          </p:cNvPr>
          <p:cNvSpPr>
            <a:spLocks xmlns:a="http://schemas.openxmlformats.org/drawingml/2006/main" noGrp="1"/>
          </p:cNvSpPr>
          <p:nvPr/>
        </p:nvSpPr>
        <p:spPr>
          <a:xfrm xmlns:a="http://schemas.openxmlformats.org/drawingml/2006/main">
            <a:off x="8001000" y="18097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125" b="1" i="0">
                <a:solidFill>
                  <a:srgbClr val="FF6B4A"/>
                </a:solidFill>
                <a:latin typeface="Aptos"/>
                <a:ea typeface="Aptos"/>
                <a:cs typeface="Aptos"/>
              </a:defRPr>
            </a:pPr>
            <a:r>
              <a:rPr sz="1125" b="1" i="0">
                <a:solidFill>
                  <a:srgbClr val="FF6B4A"/>
                </a:solidFill>
                <a:latin typeface="Aptos"/>
                <a:ea typeface="Aptos"/>
                <a:cs typeface="Aptos"/>
              </a:rPr>
              <a:t>SERVER</a:t>
            </a:r>
          </a:p>
        </p:txBody>
      </p:sp>
      <p:sp>
        <p:nvSpPr>
          <p:cNvPr id="11" name="">
            <a:extLst xmlns:a="http://schemas.openxmlformats.org/drawingml/2006/main">
              <a:ext uri="{FF2B5EF4-FFF2-40B4-BE49-F238E27FC236}">
                <a16:creationId xmlns:a16="http://schemas.microsoft.com/office/drawing/2014/main" id="{C203F41F-A64E-42FD-9E35-C071F56BE0BC}"/>
              </a:ext>
            </a:extLst>
          </p:cNvPr>
          <p:cNvSpPr>
            <a:spLocks xmlns:a="http://schemas.openxmlformats.org/drawingml/2006/main" noGrp="1"/>
          </p:cNvSpPr>
          <p:nvPr/>
        </p:nvSpPr>
        <p:spPr>
          <a:xfrm xmlns:a="http://schemas.openxmlformats.org/drawingml/2006/main">
            <a:off x="8001000" y="2324100"/>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175" b="1" i="0">
                <a:solidFill>
                  <a:srgbClr val="160B20"/>
                </a:solidFill>
                <a:latin typeface="Aptos"/>
                <a:ea typeface="Aptos"/>
                <a:cs typeface="Aptos"/>
              </a:defRPr>
            </a:pPr>
            <a:r>
              <a:rPr sz="2175" b="1" i="0">
                <a:solidFill>
                  <a:srgbClr val="160B20"/>
                </a:solidFill>
                <a:latin typeface="Aptos"/>
                <a:ea typeface="Aptos"/>
                <a:cs typeface="Aptos"/>
              </a:rPr>
              <a:t>“Is this user authorized?”</a:t>
            </a:r>
          </a:p>
        </p:txBody>
      </p:sp>
      <p:sp>
        <p:nvSpPr>
          <p:cNvPr id="12" name="">
            <a:extLst xmlns:a="http://schemas.openxmlformats.org/drawingml/2006/main">
              <a:ext uri="{FF2B5EF4-FFF2-40B4-BE49-F238E27FC236}">
                <a16:creationId xmlns:a16="http://schemas.microsoft.com/office/drawing/2014/main" id="{0440448A-9693-4B41-9FA3-38CE642F7D73}"/>
              </a:ext>
            </a:extLst>
          </p:cNvPr>
          <p:cNvSpPr>
            <a:spLocks xmlns:a="http://schemas.openxmlformats.org/drawingml/2006/main" noGrp="1"/>
          </p:cNvSpPr>
          <p:nvPr/>
        </p:nvSpPr>
        <p:spPr>
          <a:xfrm xmlns:a="http://schemas.openxmlformats.org/drawingml/2006/main">
            <a:off x="8001000" y="3238500"/>
            <a:ext cx="342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i="0">
                <a:solidFill>
                  <a:srgbClr val="514658"/>
                </a:solidFill>
                <a:latin typeface="Aptos"/>
                <a:ea typeface="Aptos"/>
                <a:cs typeface="Aptos"/>
              </a:defRPr>
            </a:pPr>
            <a:r>
              <a:rPr sz="1650" b="0" i="0">
                <a:solidFill>
                  <a:srgbClr val="514658"/>
                </a:solidFill>
                <a:latin typeface="Aptos"/>
                <a:ea typeface="Aptos"/>
                <a:cs typeface="Aptos"/>
              </a:rPr>
              <a:t>Checks a signature against</a:t>
            </a:r>
          </a:p>
          <a:p xmlns:a="http://schemas.openxmlformats.org/drawingml/2006/main">
            <a:pPr algn="l">
              <a:lnSpc>
                <a:spcPct val="102000"/>
              </a:lnSpc>
              <a:buNone/>
              <a:defRPr sz="1650" b="0" i="0">
                <a:solidFill>
                  <a:srgbClr val="514658"/>
                </a:solidFill>
                <a:latin typeface="Aptos"/>
                <a:ea typeface="Aptos"/>
                <a:cs typeface="Aptos"/>
              </a:defRPr>
            </a:pPr>
            <a:r>
              <a:rPr sz="1650" b="0" i="0">
                <a:solidFill>
                  <a:srgbClr val="514658"/>
                </a:solidFill>
                <a:latin typeface="Aptos"/>
                <a:ea typeface="Aptos"/>
                <a:cs typeface="Aptos"/>
              </a:rPr>
              <a:t>authorized_keys</a:t>
            </a:r>
          </a:p>
        </p:txBody>
      </p:sp>
      <p:sp>
        <p:nvSpPr>
          <p:cNvPr id="13" name="">
            <a:extLst xmlns:a="http://schemas.openxmlformats.org/drawingml/2006/main">
              <a:ext uri="{FF2B5EF4-FFF2-40B4-BE49-F238E27FC236}">
                <a16:creationId xmlns:a16="http://schemas.microsoft.com/office/drawing/2014/main" id="{DD9CB46E-A517-4BCD-932D-1581022542E3}"/>
              </a:ext>
            </a:extLst>
          </p:cNvPr>
          <p:cNvSpPr>
            <a:spLocks xmlns:a="http://schemas.openxmlformats.org/drawingml/2006/main" noGrp="1"/>
          </p:cNvSpPr>
          <p:nvPr/>
        </p:nvSpPr>
        <p:spPr>
          <a:xfrm xmlns:a="http://schemas.openxmlformats.org/drawingml/2006/main">
            <a:off x="876300" y="4810125"/>
            <a:ext cx="10553700" cy="800100"/>
          </a:xfrm>
          <a:prstGeom xmlns:a="http://schemas.openxmlformats.org/drawingml/2006/main" prst="roundRect">
            <a:avLst>
              <a:gd name="adj" fmla="val 9524"/>
            </a:avLst>
          </a:prstGeom>
          <a:solidFill xmlns:a="http://schemas.openxmlformats.org/drawingml/2006/main">
            <a:srgbClr val="EEE4F3"/>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D84629E-D746-4860-A0E4-8700C318E60A}"/>
              </a:ext>
            </a:extLst>
          </p:cNvPr>
          <p:cNvSpPr>
            <a:spLocks xmlns:a="http://schemas.openxmlformats.org/drawingml/2006/main" noGrp="1"/>
          </p:cNvSpPr>
          <p:nvPr/>
        </p:nvSpPr>
        <p:spPr>
          <a:xfrm xmlns:a="http://schemas.openxmlformats.org/drawingml/2006/main">
            <a:off x="1162050" y="5057775"/>
            <a:ext cx="9982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800" b="1" i="0">
                <a:solidFill>
                  <a:srgbClr val="8B5CF6"/>
                </a:solidFill>
                <a:latin typeface="Aptos"/>
                <a:ea typeface="Aptos"/>
                <a:cs typeface="Aptos"/>
              </a:defRPr>
            </a:pPr>
            <a:r>
              <a:rPr sz="1800" b="1" i="0">
                <a:solidFill>
                  <a:srgbClr val="8B5CF6"/>
                </a:solidFill>
                <a:latin typeface="Aptos"/>
                <a:ea typeface="Aptos"/>
                <a:cs typeface="Aptos"/>
              </a:rPr>
              <a:t>Encryption without host verification can still connect you to an attacker.</a:t>
            </a:r>
          </a:p>
        </p:txBody>
      </p:sp>
    </p:spTree>
    <p:extLst>
      <p:ext uri="{BB962C8B-B14F-4D97-AF65-F5344CB8AC3E}">
        <p14:creationId xmlns:p14="http://schemas.microsoft.com/office/powerpoint/2010/main" val="1651290256"/>
      </p:ext>
    </p:extLst>
  </p:cSld>
</p:sld>
</file>

<file path=ppt/slides/slide21.xml><?xml version="1.0" encoding="utf-8"?>
<p:sld xmlns:p="http://schemas.openxmlformats.org/presentationml/2006/main">
  <p:cSld>
    <p:bg>
      <p:bgPr>
        <a:solidFill xmlns:a="http://schemas.openxmlformats.org/drawingml/2006/main">
          <a:srgbClr val="180D24"/>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03A8508-46DE-43F6-8684-0C1CE0F6AE9C}"/>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SSH</a:t>
            </a:r>
          </a:p>
        </p:txBody>
      </p:sp>
      <p:sp>
        <p:nvSpPr>
          <p:cNvPr id="2" name="">
            <a:extLst xmlns:a="http://schemas.openxmlformats.org/drawingml/2006/main">
              <a:ext uri="{FF2B5EF4-FFF2-40B4-BE49-F238E27FC236}">
                <a16:creationId xmlns:a16="http://schemas.microsoft.com/office/drawing/2014/main" id="{8039DED0-8320-486C-83A5-449B0325723B}"/>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8EE"/>
                </a:solidFill>
                <a:latin typeface="Aptos"/>
                <a:ea typeface="Aptos"/>
                <a:cs typeface="Aptos"/>
              </a:defRPr>
            </a:pPr>
            <a:r>
              <a:rPr sz="3750" b="1" i="0">
                <a:solidFill>
                  <a:srgbClr val="FFF8EE"/>
                </a:solidFill>
                <a:latin typeface="Aptos"/>
                <a:ea typeface="Aptos"/>
                <a:cs typeface="Aptos"/>
              </a:rPr>
              <a:t>The private key proves; the public key permits</a:t>
            </a:r>
          </a:p>
        </p:txBody>
      </p:sp>
      <p:sp>
        <p:nvSpPr>
          <p:cNvPr id="3" name="">
            <a:extLst xmlns:a="http://schemas.openxmlformats.org/drawingml/2006/main">
              <a:ext uri="{FF2B5EF4-FFF2-40B4-BE49-F238E27FC236}">
                <a16:creationId xmlns:a16="http://schemas.microsoft.com/office/drawing/2014/main" id="{C61BFA9B-3348-406E-90ED-565652D44DB0}"/>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3520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98453EF-7B33-46B1-B8A8-2161AC070399}"/>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BFAFCB"/>
                </a:solidFill>
                <a:latin typeface="Aptos"/>
                <a:ea typeface="Aptos"/>
                <a:cs typeface="Aptos"/>
              </a:defRPr>
            </a:pPr>
            <a:r>
              <a:rPr sz="900" b="1" i="0">
                <a:solidFill>
                  <a:srgbClr val="BFAFCB"/>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3D85D9E6-8C82-42F1-BB6C-56C5E7DBE618}"/>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C9B6FF"/>
                </a:solidFill>
                <a:latin typeface="Aptos"/>
                <a:ea typeface="Aptos"/>
                <a:cs typeface="Aptos"/>
              </a:defRPr>
            </a:pPr>
            <a:r>
              <a:rPr sz="1050" b="1" i="0">
                <a:solidFill>
                  <a:srgbClr val="C9B6FF"/>
                </a:solidFill>
                <a:latin typeface="Aptos"/>
                <a:ea typeface="Aptos"/>
                <a:cs typeface="Aptos"/>
              </a:rPr>
              <a:t>21</a:t>
            </a:r>
          </a:p>
        </p:txBody>
      </p:sp>
      <p:sp>
        <p:nvSpPr>
          <p:cNvPr id="6" name="">
            <a:extLst xmlns:a="http://schemas.openxmlformats.org/drawingml/2006/main">
              <a:ext uri="{FF2B5EF4-FFF2-40B4-BE49-F238E27FC236}">
                <a16:creationId xmlns:a16="http://schemas.microsoft.com/office/drawing/2014/main" id="{FED7897E-9195-4619-9551-0E51E012B5E8}"/>
              </a:ext>
            </a:extLst>
          </p:cNvPr>
          <p:cNvSpPr>
            <a:spLocks xmlns:a="http://schemas.openxmlformats.org/drawingml/2006/main" noGrp="1"/>
          </p:cNvSpPr>
          <p:nvPr/>
        </p:nvSpPr>
        <p:spPr>
          <a:xfrm xmlns:a="http://schemas.openxmlformats.org/drawingml/2006/main">
            <a:off x="952500" y="18097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200" b="1" i="0">
                <a:solidFill>
                  <a:srgbClr val="FF6B4A"/>
                </a:solidFill>
                <a:latin typeface="Aptos"/>
                <a:ea typeface="Aptos"/>
                <a:cs typeface="Aptos"/>
              </a:defRPr>
            </a:pPr>
            <a:r>
              <a:rPr sz="1200" b="1" i="0">
                <a:solidFill>
                  <a:srgbClr val="FF6B4A"/>
                </a:solidFill>
                <a:latin typeface="Aptos"/>
                <a:ea typeface="Aptos"/>
                <a:cs typeface="Aptos"/>
              </a:rPr>
              <a:t>PRIVATE KEY</a:t>
            </a:r>
          </a:p>
        </p:txBody>
      </p:sp>
      <p:sp>
        <p:nvSpPr>
          <p:cNvPr id="7" name="">
            <a:extLst xmlns:a="http://schemas.openxmlformats.org/drawingml/2006/main">
              <a:ext uri="{FF2B5EF4-FFF2-40B4-BE49-F238E27FC236}">
                <a16:creationId xmlns:a16="http://schemas.microsoft.com/office/drawing/2014/main" id="{AC220EB7-D9D1-44C0-9A8E-D20C6EA710C7}"/>
              </a:ext>
            </a:extLst>
          </p:cNvPr>
          <p:cNvSpPr>
            <a:spLocks xmlns:a="http://schemas.openxmlformats.org/drawingml/2006/main" noGrp="1"/>
          </p:cNvSpPr>
          <p:nvPr/>
        </p:nvSpPr>
        <p:spPr>
          <a:xfrm xmlns:a="http://schemas.openxmlformats.org/drawingml/2006/main">
            <a:off x="952500" y="2324100"/>
            <a:ext cx="4381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400" b="1" i="0">
                <a:solidFill>
                  <a:srgbClr val="FFF8EE"/>
                </a:solidFill>
                <a:latin typeface="Courier New"/>
                <a:ea typeface="Courier New"/>
                <a:cs typeface="Courier New"/>
              </a:defRPr>
            </a:pPr>
            <a:r>
              <a:rPr sz="2400" b="1" i="0">
                <a:solidFill>
                  <a:srgbClr val="FFF8EE"/>
                </a:solidFill>
                <a:latin typeface="Courier New"/>
                <a:ea typeface="Courier New"/>
                <a:cs typeface="Courier New"/>
              </a:rPr>
              <a:t>~/.ssh/id_ed25519</a:t>
            </a:r>
          </a:p>
        </p:txBody>
      </p:sp>
      <p:sp>
        <p:nvSpPr>
          <p:cNvPr id="8" name="">
            <a:extLst xmlns:a="http://schemas.openxmlformats.org/drawingml/2006/main">
              <a:ext uri="{FF2B5EF4-FFF2-40B4-BE49-F238E27FC236}">
                <a16:creationId xmlns:a16="http://schemas.microsoft.com/office/drawing/2014/main" id="{4FC0636F-0C9B-49B6-97EE-6325642241EC}"/>
              </a:ext>
            </a:extLst>
          </p:cNvPr>
          <p:cNvSpPr>
            <a:spLocks xmlns:a="http://schemas.openxmlformats.org/drawingml/2006/main" noGrp="1"/>
          </p:cNvSpPr>
          <p:nvPr/>
        </p:nvSpPr>
        <p:spPr>
          <a:xfrm xmlns:a="http://schemas.openxmlformats.org/drawingml/2006/main">
            <a:off x="952500" y="3209925"/>
            <a:ext cx="95250" cy="95250"/>
          </a:xfrm>
          <a:prstGeom xmlns:a="http://schemas.openxmlformats.org/drawingml/2006/main" prst="roundRect">
            <a:avLst>
              <a:gd name="adj" fmla="val 50000"/>
            </a:avLst>
          </a:prstGeom>
          <a:solidFill xmlns:a="http://schemas.openxmlformats.org/drawingml/2006/main">
            <a:srgbClr val="FF6B4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E4FEFBE-A2E8-4ABC-91E5-80DD9F7A076D}"/>
              </a:ext>
            </a:extLst>
          </p:cNvPr>
          <p:cNvSpPr>
            <a:spLocks xmlns:a="http://schemas.openxmlformats.org/drawingml/2006/main" noGrp="1"/>
          </p:cNvSpPr>
          <p:nvPr/>
        </p:nvSpPr>
        <p:spPr>
          <a:xfrm xmlns:a="http://schemas.openxmlformats.org/drawingml/2006/main">
            <a:off x="1219200" y="314325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FFF8EE"/>
                </a:solidFill>
                <a:latin typeface="Aptos"/>
                <a:ea typeface="Aptos"/>
                <a:cs typeface="Aptos"/>
              </a:defRPr>
            </a:pPr>
            <a:r>
              <a:rPr sz="1650" b="0" i="0">
                <a:solidFill>
                  <a:srgbClr val="FFF8EE"/>
                </a:solidFill>
                <a:latin typeface="Aptos"/>
                <a:ea typeface="Aptos"/>
                <a:cs typeface="Aptos"/>
              </a:rPr>
              <a:t>Stays on the client</a:t>
            </a:r>
          </a:p>
        </p:txBody>
      </p:sp>
      <p:sp>
        <p:nvSpPr>
          <p:cNvPr id="10" name="">
            <a:extLst xmlns:a="http://schemas.openxmlformats.org/drawingml/2006/main">
              <a:ext uri="{FF2B5EF4-FFF2-40B4-BE49-F238E27FC236}">
                <a16:creationId xmlns:a16="http://schemas.microsoft.com/office/drawing/2014/main" id="{C7E17F14-1D77-4001-89F8-3999D119461F}"/>
              </a:ext>
            </a:extLst>
          </p:cNvPr>
          <p:cNvSpPr>
            <a:spLocks xmlns:a="http://schemas.openxmlformats.org/drawingml/2006/main" noGrp="1"/>
          </p:cNvSpPr>
          <p:nvPr/>
        </p:nvSpPr>
        <p:spPr>
          <a:xfrm xmlns:a="http://schemas.openxmlformats.org/drawingml/2006/main">
            <a:off x="952500" y="3800475"/>
            <a:ext cx="95250" cy="95250"/>
          </a:xfrm>
          <a:prstGeom xmlns:a="http://schemas.openxmlformats.org/drawingml/2006/main" prst="roundRect">
            <a:avLst>
              <a:gd name="adj" fmla="val 50000"/>
            </a:avLst>
          </a:prstGeom>
          <a:solidFill xmlns:a="http://schemas.openxmlformats.org/drawingml/2006/main">
            <a:srgbClr val="FF6B4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B172C40-B467-4FEE-A812-4EA8E4B7A0DE}"/>
              </a:ext>
            </a:extLst>
          </p:cNvPr>
          <p:cNvSpPr>
            <a:spLocks xmlns:a="http://schemas.openxmlformats.org/drawingml/2006/main" noGrp="1"/>
          </p:cNvSpPr>
          <p:nvPr/>
        </p:nvSpPr>
        <p:spPr>
          <a:xfrm xmlns:a="http://schemas.openxmlformats.org/drawingml/2006/main">
            <a:off x="1219200" y="37338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FFF8EE"/>
                </a:solidFill>
                <a:latin typeface="Aptos"/>
                <a:ea typeface="Aptos"/>
                <a:cs typeface="Aptos"/>
              </a:defRPr>
            </a:pPr>
            <a:r>
              <a:rPr sz="1650" b="0" i="0">
                <a:solidFill>
                  <a:srgbClr val="FFF8EE"/>
                </a:solidFill>
                <a:latin typeface="Aptos"/>
                <a:ea typeface="Aptos"/>
                <a:cs typeface="Aptos"/>
              </a:rPr>
              <a:t>Protect with a passphrase</a:t>
            </a:r>
          </a:p>
        </p:txBody>
      </p:sp>
      <p:sp>
        <p:nvSpPr>
          <p:cNvPr id="12" name="">
            <a:extLst xmlns:a="http://schemas.openxmlformats.org/drawingml/2006/main">
              <a:ext uri="{FF2B5EF4-FFF2-40B4-BE49-F238E27FC236}">
                <a16:creationId xmlns:a16="http://schemas.microsoft.com/office/drawing/2014/main" id="{6CEBE412-9C19-44B8-9CDE-E52596ED953F}"/>
              </a:ext>
            </a:extLst>
          </p:cNvPr>
          <p:cNvSpPr>
            <a:spLocks xmlns:a="http://schemas.openxmlformats.org/drawingml/2006/main" noGrp="1"/>
          </p:cNvSpPr>
          <p:nvPr/>
        </p:nvSpPr>
        <p:spPr>
          <a:xfrm xmlns:a="http://schemas.openxmlformats.org/drawingml/2006/main">
            <a:off x="952500" y="4391025"/>
            <a:ext cx="95250" cy="95250"/>
          </a:xfrm>
          <a:prstGeom xmlns:a="http://schemas.openxmlformats.org/drawingml/2006/main" prst="roundRect">
            <a:avLst>
              <a:gd name="adj" fmla="val 50000"/>
            </a:avLst>
          </a:prstGeom>
          <a:solidFill xmlns:a="http://schemas.openxmlformats.org/drawingml/2006/main">
            <a:srgbClr val="FF6B4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DA52D8C-5E50-4113-96DF-D697BB3ABD5B}"/>
              </a:ext>
            </a:extLst>
          </p:cNvPr>
          <p:cNvSpPr>
            <a:spLocks xmlns:a="http://schemas.openxmlformats.org/drawingml/2006/main" noGrp="1"/>
          </p:cNvSpPr>
          <p:nvPr/>
        </p:nvSpPr>
        <p:spPr>
          <a:xfrm xmlns:a="http://schemas.openxmlformats.org/drawingml/2006/main">
            <a:off x="1219200" y="432435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FFF8EE"/>
                </a:solidFill>
                <a:latin typeface="Aptos"/>
                <a:ea typeface="Aptos"/>
                <a:cs typeface="Aptos"/>
              </a:defRPr>
            </a:pPr>
            <a:r>
              <a:rPr sz="1650" b="0" i="0">
                <a:solidFill>
                  <a:srgbClr val="FFF8EE"/>
                </a:solidFill>
                <a:latin typeface="Aptos"/>
                <a:ea typeface="Aptos"/>
                <a:cs typeface="Aptos"/>
              </a:rPr>
              <a:t>Never email or copy to server</a:t>
            </a:r>
          </a:p>
        </p:txBody>
      </p:sp>
      <p:sp>
        <p:nvSpPr>
          <p:cNvPr id="14" name="">
            <a:extLst xmlns:a="http://schemas.openxmlformats.org/drawingml/2006/main">
              <a:ext uri="{FF2B5EF4-FFF2-40B4-BE49-F238E27FC236}">
                <a16:creationId xmlns:a16="http://schemas.microsoft.com/office/drawing/2014/main" id="{632EA1CA-553A-419A-A9C6-75FE2B9696F0}"/>
              </a:ext>
            </a:extLst>
          </p:cNvPr>
          <p:cNvSpPr>
            <a:spLocks xmlns:a="http://schemas.openxmlformats.org/drawingml/2006/main" noGrp="1"/>
          </p:cNvSpPr>
          <p:nvPr/>
        </p:nvSpPr>
        <p:spPr>
          <a:xfrm xmlns:a="http://schemas.openxmlformats.org/drawingml/2006/main">
            <a:off x="5943600" y="1714500"/>
            <a:ext cx="19050" cy="3429000"/>
          </a:xfrm>
          <a:prstGeom xmlns:a="http://schemas.openxmlformats.org/drawingml/2006/main" prst="rect">
            <a:avLst/>
          </a:prstGeom>
          <a:solidFill xmlns:a="http://schemas.openxmlformats.org/drawingml/2006/main">
            <a:srgbClr val="4A335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36B8555-44B7-4718-A3E6-BF16E8E79B0D}"/>
              </a:ext>
            </a:extLst>
          </p:cNvPr>
          <p:cNvSpPr>
            <a:spLocks xmlns:a="http://schemas.openxmlformats.org/drawingml/2006/main" noGrp="1"/>
          </p:cNvSpPr>
          <p:nvPr/>
        </p:nvSpPr>
        <p:spPr>
          <a:xfrm xmlns:a="http://schemas.openxmlformats.org/drawingml/2006/main">
            <a:off x="6858000" y="18097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200" b="1" i="0">
                <a:solidFill>
                  <a:srgbClr val="8B5CF6"/>
                </a:solidFill>
                <a:latin typeface="Aptos"/>
                <a:ea typeface="Aptos"/>
                <a:cs typeface="Aptos"/>
              </a:defRPr>
            </a:pPr>
            <a:r>
              <a:rPr sz="1200" b="1" i="0">
                <a:solidFill>
                  <a:srgbClr val="8B5CF6"/>
                </a:solidFill>
                <a:latin typeface="Aptos"/>
                <a:ea typeface="Aptos"/>
                <a:cs typeface="Aptos"/>
              </a:rPr>
              <a:t>PUBLIC KEY</a:t>
            </a:r>
          </a:p>
        </p:txBody>
      </p:sp>
      <p:sp>
        <p:nvSpPr>
          <p:cNvPr id="16" name="">
            <a:extLst xmlns:a="http://schemas.openxmlformats.org/drawingml/2006/main">
              <a:ext uri="{FF2B5EF4-FFF2-40B4-BE49-F238E27FC236}">
                <a16:creationId xmlns:a16="http://schemas.microsoft.com/office/drawing/2014/main" id="{A196EBF8-53F4-4AEF-8C3D-38F35A099B79}"/>
              </a:ext>
            </a:extLst>
          </p:cNvPr>
          <p:cNvSpPr>
            <a:spLocks xmlns:a="http://schemas.openxmlformats.org/drawingml/2006/main" noGrp="1"/>
          </p:cNvSpPr>
          <p:nvPr/>
        </p:nvSpPr>
        <p:spPr>
          <a:xfrm xmlns:a="http://schemas.openxmlformats.org/drawingml/2006/main">
            <a:off x="6858000" y="2324100"/>
            <a:ext cx="4381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400" b="1" i="0">
                <a:solidFill>
                  <a:srgbClr val="FFF8EE"/>
                </a:solidFill>
                <a:latin typeface="Courier New"/>
                <a:ea typeface="Courier New"/>
                <a:cs typeface="Courier New"/>
              </a:defRPr>
            </a:pPr>
            <a:r>
              <a:rPr sz="2400" b="1" i="0">
                <a:solidFill>
                  <a:srgbClr val="FFF8EE"/>
                </a:solidFill>
                <a:latin typeface="Courier New"/>
                <a:ea typeface="Courier New"/>
                <a:cs typeface="Courier New"/>
              </a:rPr>
              <a:t>~/.ssh/id_ed25519.pub</a:t>
            </a:r>
          </a:p>
        </p:txBody>
      </p:sp>
      <p:sp>
        <p:nvSpPr>
          <p:cNvPr id="17" name="">
            <a:extLst xmlns:a="http://schemas.openxmlformats.org/drawingml/2006/main">
              <a:ext uri="{FF2B5EF4-FFF2-40B4-BE49-F238E27FC236}">
                <a16:creationId xmlns:a16="http://schemas.microsoft.com/office/drawing/2014/main" id="{31C587A9-3EDD-4E7E-A406-55008A4E05A0}"/>
              </a:ext>
            </a:extLst>
          </p:cNvPr>
          <p:cNvSpPr>
            <a:spLocks xmlns:a="http://schemas.openxmlformats.org/drawingml/2006/main" noGrp="1"/>
          </p:cNvSpPr>
          <p:nvPr/>
        </p:nvSpPr>
        <p:spPr>
          <a:xfrm xmlns:a="http://schemas.openxmlformats.org/drawingml/2006/main">
            <a:off x="6858000" y="320992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2888C2E-A686-49F4-9F51-D664ABA4272C}"/>
              </a:ext>
            </a:extLst>
          </p:cNvPr>
          <p:cNvSpPr>
            <a:spLocks xmlns:a="http://schemas.openxmlformats.org/drawingml/2006/main" noGrp="1"/>
          </p:cNvSpPr>
          <p:nvPr/>
        </p:nvSpPr>
        <p:spPr>
          <a:xfrm xmlns:a="http://schemas.openxmlformats.org/drawingml/2006/main">
            <a:off x="7124700" y="314325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FFF8EE"/>
                </a:solidFill>
                <a:latin typeface="Aptos"/>
                <a:ea typeface="Aptos"/>
                <a:cs typeface="Aptos"/>
              </a:defRPr>
            </a:pPr>
            <a:r>
              <a:rPr sz="1650" b="0" i="0">
                <a:solidFill>
                  <a:srgbClr val="FFF8EE"/>
                </a:solidFill>
                <a:latin typeface="Aptos"/>
                <a:ea typeface="Aptos"/>
                <a:cs typeface="Aptos"/>
              </a:rPr>
              <a:t>May be copied to servers</a:t>
            </a:r>
          </a:p>
        </p:txBody>
      </p:sp>
      <p:sp>
        <p:nvSpPr>
          <p:cNvPr id="19" name="">
            <a:extLst xmlns:a="http://schemas.openxmlformats.org/drawingml/2006/main">
              <a:ext uri="{FF2B5EF4-FFF2-40B4-BE49-F238E27FC236}">
                <a16:creationId xmlns:a16="http://schemas.microsoft.com/office/drawing/2014/main" id="{817DFDFD-EE17-481A-B3FD-D0D7CA723659}"/>
              </a:ext>
            </a:extLst>
          </p:cNvPr>
          <p:cNvSpPr>
            <a:spLocks xmlns:a="http://schemas.openxmlformats.org/drawingml/2006/main" noGrp="1"/>
          </p:cNvSpPr>
          <p:nvPr/>
        </p:nvSpPr>
        <p:spPr>
          <a:xfrm xmlns:a="http://schemas.openxmlformats.org/drawingml/2006/main">
            <a:off x="6858000" y="380047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0D0064E-28FA-41D3-9FA0-715CA86A9BEC}"/>
              </a:ext>
            </a:extLst>
          </p:cNvPr>
          <p:cNvSpPr>
            <a:spLocks xmlns:a="http://schemas.openxmlformats.org/drawingml/2006/main" noGrp="1"/>
          </p:cNvSpPr>
          <p:nvPr/>
        </p:nvSpPr>
        <p:spPr>
          <a:xfrm xmlns:a="http://schemas.openxmlformats.org/drawingml/2006/main">
            <a:off x="7124700" y="37338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FFF8EE"/>
                </a:solidFill>
                <a:latin typeface="Aptos"/>
                <a:ea typeface="Aptos"/>
                <a:cs typeface="Aptos"/>
              </a:defRPr>
            </a:pPr>
            <a:r>
              <a:rPr sz="1650" b="0" i="0">
                <a:solidFill>
                  <a:srgbClr val="FFF8EE"/>
                </a:solidFill>
                <a:latin typeface="Aptos"/>
                <a:ea typeface="Aptos"/>
                <a:cs typeface="Aptos"/>
              </a:rPr>
              <a:t>Stored in authorized_keys</a:t>
            </a:r>
          </a:p>
        </p:txBody>
      </p:sp>
      <p:sp>
        <p:nvSpPr>
          <p:cNvPr id="21" name="">
            <a:extLst xmlns:a="http://schemas.openxmlformats.org/drawingml/2006/main">
              <a:ext uri="{FF2B5EF4-FFF2-40B4-BE49-F238E27FC236}">
                <a16:creationId xmlns:a16="http://schemas.microsoft.com/office/drawing/2014/main" id="{52996F74-0D39-4FC6-B3B7-5CD859706BF3}"/>
              </a:ext>
            </a:extLst>
          </p:cNvPr>
          <p:cNvSpPr>
            <a:spLocks xmlns:a="http://schemas.openxmlformats.org/drawingml/2006/main" noGrp="1"/>
          </p:cNvSpPr>
          <p:nvPr/>
        </p:nvSpPr>
        <p:spPr>
          <a:xfrm xmlns:a="http://schemas.openxmlformats.org/drawingml/2006/main">
            <a:off x="6858000" y="439102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69ABCF4-8666-45E4-B5F7-071F3D649C0F}"/>
              </a:ext>
            </a:extLst>
          </p:cNvPr>
          <p:cNvSpPr>
            <a:spLocks xmlns:a="http://schemas.openxmlformats.org/drawingml/2006/main" noGrp="1"/>
          </p:cNvSpPr>
          <p:nvPr/>
        </p:nvSpPr>
        <p:spPr>
          <a:xfrm xmlns:a="http://schemas.openxmlformats.org/drawingml/2006/main">
            <a:off x="7124700" y="432435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FFF8EE"/>
                </a:solidFill>
                <a:latin typeface="Aptos"/>
                <a:ea typeface="Aptos"/>
                <a:cs typeface="Aptos"/>
              </a:defRPr>
            </a:pPr>
            <a:r>
              <a:rPr sz="1650" b="0" i="0">
                <a:solidFill>
                  <a:srgbClr val="FFF8EE"/>
                </a:solidFill>
                <a:latin typeface="Aptos"/>
                <a:ea typeface="Aptos"/>
                <a:cs typeface="Aptos"/>
              </a:rPr>
              <a:t>Can be revoked independently</a:t>
            </a:r>
          </a:p>
        </p:txBody>
      </p:sp>
      <p:sp>
        <p:nvSpPr>
          <p:cNvPr id="23" name="">
            <a:extLst xmlns:a="http://schemas.openxmlformats.org/drawingml/2006/main">
              <a:ext uri="{FF2B5EF4-FFF2-40B4-BE49-F238E27FC236}">
                <a16:creationId xmlns:a16="http://schemas.microsoft.com/office/drawing/2014/main" id="{49EC3D8E-94A7-433F-86A6-C0279E17CEA9}"/>
              </a:ext>
            </a:extLst>
          </p:cNvPr>
          <p:cNvSpPr>
            <a:spLocks xmlns:a="http://schemas.openxmlformats.org/drawingml/2006/main" noGrp="1"/>
          </p:cNvSpPr>
          <p:nvPr/>
        </p:nvSpPr>
        <p:spPr>
          <a:xfrm xmlns:a="http://schemas.openxmlformats.org/drawingml/2006/main">
            <a:off x="952500" y="5067300"/>
            <a:ext cx="10287000" cy="1123950"/>
          </a:xfrm>
          <a:prstGeom xmlns:a="http://schemas.openxmlformats.org/drawingml/2006/main" prst="roundRect">
            <a:avLst>
              <a:gd name="adj" fmla="val 13559"/>
            </a:avLst>
          </a:prstGeom>
          <a:solidFill xmlns:a="http://schemas.openxmlformats.org/drawingml/2006/main">
            <a:srgbClr val="28183A"/>
          </a:solidFill>
          <a:ln xmlns:a="http://schemas.openxmlformats.org/drawingml/2006/main" w="9525">
            <a:solidFill>
              <a:srgbClr val="4A335D"/>
            </a:solidFill>
            <a:prstDash val="solid"/>
          </a:ln>
        </p:spPr>
      </p:sp>
      <p:sp>
        <p:nvSpPr>
          <p:cNvPr id="24" name="">
            <a:extLst xmlns:a="http://schemas.openxmlformats.org/drawingml/2006/main">
              <a:ext uri="{FF2B5EF4-FFF2-40B4-BE49-F238E27FC236}">
                <a16:creationId xmlns:a16="http://schemas.microsoft.com/office/drawing/2014/main" id="{21BC6A05-0E39-45F1-BB3C-5D2857CA439C}"/>
              </a:ext>
            </a:extLst>
          </p:cNvPr>
          <p:cNvSpPr>
            <a:spLocks xmlns:a="http://schemas.openxmlformats.org/drawingml/2006/main" noGrp="1"/>
          </p:cNvSpPr>
          <p:nvPr/>
        </p:nvSpPr>
        <p:spPr>
          <a:xfrm xmlns:a="http://schemas.openxmlformats.org/drawingml/2006/main">
            <a:off x="952500" y="5067300"/>
            <a:ext cx="10287000" cy="400050"/>
          </a:xfrm>
          <a:prstGeom xmlns:a="http://schemas.openxmlformats.org/drawingml/2006/main" prst="roundRect">
            <a:avLst>
              <a:gd name="adj" fmla="val 38095"/>
            </a:avLst>
          </a:prstGeom>
          <a:solidFill xmlns:a="http://schemas.openxmlformats.org/drawingml/2006/main">
            <a:srgbClr val="21122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66E8CDF-15A6-4CC5-B0D5-F91CC8FC2254}"/>
              </a:ext>
            </a:extLst>
          </p:cNvPr>
          <p:cNvSpPr>
            <a:spLocks xmlns:a="http://schemas.openxmlformats.org/drawingml/2006/main" noGrp="1"/>
          </p:cNvSpPr>
          <p:nvPr/>
        </p:nvSpPr>
        <p:spPr>
          <a:xfrm xmlns:a="http://schemas.openxmlformats.org/drawingml/2006/main">
            <a:off x="952500" y="5334000"/>
            <a:ext cx="10287000" cy="133350"/>
          </a:xfrm>
          <a:prstGeom xmlns:a="http://schemas.openxmlformats.org/drawingml/2006/main" prst="rect">
            <a:avLst/>
          </a:prstGeom>
          <a:solidFill xmlns:a="http://schemas.openxmlformats.org/drawingml/2006/main">
            <a:srgbClr val="21122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BC90E87-6CE8-4F92-886E-2486133173F1}"/>
              </a:ext>
            </a:extLst>
          </p:cNvPr>
          <p:cNvSpPr>
            <a:spLocks xmlns:a="http://schemas.openxmlformats.org/drawingml/2006/main" noGrp="1"/>
          </p:cNvSpPr>
          <p:nvPr/>
        </p:nvSpPr>
        <p:spPr>
          <a:xfrm xmlns:a="http://schemas.openxmlformats.org/drawingml/2006/main">
            <a:off x="1123950" y="5219700"/>
            <a:ext cx="95250" cy="95250"/>
          </a:xfrm>
          <a:prstGeom xmlns:a="http://schemas.openxmlformats.org/drawingml/2006/main" prst="roundRect">
            <a:avLst>
              <a:gd name="adj" fmla="val 50000"/>
            </a:avLst>
          </a:prstGeom>
          <a:solidFill xmlns:a="http://schemas.openxmlformats.org/drawingml/2006/main">
            <a:srgbClr val="FF7B72"/>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77C28D4-B313-4F7F-A9BA-018EFD3DD252}"/>
              </a:ext>
            </a:extLst>
          </p:cNvPr>
          <p:cNvSpPr>
            <a:spLocks xmlns:a="http://schemas.openxmlformats.org/drawingml/2006/main" noGrp="1"/>
          </p:cNvSpPr>
          <p:nvPr/>
        </p:nvSpPr>
        <p:spPr>
          <a:xfrm xmlns:a="http://schemas.openxmlformats.org/drawingml/2006/main">
            <a:off x="1295400" y="5219700"/>
            <a:ext cx="95250" cy="95250"/>
          </a:xfrm>
          <a:prstGeom xmlns:a="http://schemas.openxmlformats.org/drawingml/2006/main" prst="roundRect">
            <a:avLst>
              <a:gd name="adj" fmla="val 50000"/>
            </a:avLst>
          </a:prstGeom>
          <a:solidFill xmlns:a="http://schemas.openxmlformats.org/drawingml/2006/main">
            <a:srgbClr val="FFC66D"/>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C42FB88-FB26-4DD8-8C75-FE72293132B5}"/>
              </a:ext>
            </a:extLst>
          </p:cNvPr>
          <p:cNvSpPr>
            <a:spLocks xmlns:a="http://schemas.openxmlformats.org/drawingml/2006/main" noGrp="1"/>
          </p:cNvSpPr>
          <p:nvPr/>
        </p:nvSpPr>
        <p:spPr>
          <a:xfrm xmlns:a="http://schemas.openxmlformats.org/drawingml/2006/main">
            <a:off x="1466850" y="5219700"/>
            <a:ext cx="95250" cy="95250"/>
          </a:xfrm>
          <a:prstGeom xmlns:a="http://schemas.openxmlformats.org/drawingml/2006/main" prst="roundRect">
            <a:avLst>
              <a:gd name="adj" fmla="val 50000"/>
            </a:avLst>
          </a:prstGeom>
          <a:solidFill xmlns:a="http://schemas.openxmlformats.org/drawingml/2006/main">
            <a:srgbClr val="70D6A6"/>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D1416DFE-4A3A-466E-9A98-0A7A9344342E}"/>
              </a:ext>
            </a:extLst>
          </p:cNvPr>
          <p:cNvSpPr>
            <a:spLocks xmlns:a="http://schemas.openxmlformats.org/drawingml/2006/main" noGrp="1"/>
          </p:cNvSpPr>
          <p:nvPr/>
        </p:nvSpPr>
        <p:spPr>
          <a:xfrm xmlns:a="http://schemas.openxmlformats.org/drawingml/2006/main">
            <a:off x="1733550" y="5181600"/>
            <a:ext cx="933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70D6A6"/>
                </a:solidFill>
                <a:latin typeface="Aptos"/>
                <a:ea typeface="Aptos"/>
                <a:cs typeface="Aptos"/>
              </a:defRPr>
            </a:pPr>
            <a:r>
              <a:rPr sz="900" b="1" i="0">
                <a:solidFill>
                  <a:srgbClr val="70D6A6"/>
                </a:solidFill>
                <a:latin typeface="Aptos"/>
                <a:ea typeface="Aptos"/>
                <a:cs typeface="Aptos"/>
              </a:rPr>
              <a:t>GENERATE ON THE CLIENT</a:t>
            </a:r>
          </a:p>
        </p:txBody>
      </p:sp>
      <p:sp>
        <p:nvSpPr>
          <p:cNvPr id="30" name="">
            <a:extLst xmlns:a="http://schemas.openxmlformats.org/drawingml/2006/main">
              <a:ext uri="{FF2B5EF4-FFF2-40B4-BE49-F238E27FC236}">
                <a16:creationId xmlns:a16="http://schemas.microsoft.com/office/drawing/2014/main" id="{31433E2D-158D-4A9C-BA8E-BBB684713941}"/>
              </a:ext>
            </a:extLst>
          </p:cNvPr>
          <p:cNvSpPr>
            <a:spLocks xmlns:a="http://schemas.openxmlformats.org/drawingml/2006/main" noGrp="1"/>
          </p:cNvSpPr>
          <p:nvPr/>
        </p:nvSpPr>
        <p:spPr>
          <a:xfrm xmlns:a="http://schemas.openxmlformats.org/drawingml/2006/main">
            <a:off x="1181100" y="5638800"/>
            <a:ext cx="9829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ssh-keygen -t ed25519 -a 64 -C "linux-course"</a:t>
            </a:r>
          </a:p>
        </p:txBody>
      </p:sp>
    </p:spTree>
    <p:extLst>
      <p:ext uri="{BB962C8B-B14F-4D97-AF65-F5344CB8AC3E}">
        <p14:creationId xmlns:p14="http://schemas.microsoft.com/office/powerpoint/2010/main" val="1161993316"/>
      </p:ext>
    </p:extLst>
  </p:cSld>
</p:sld>
</file>

<file path=ppt/slides/slide22.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B479595-09F8-47F6-A13C-937FAB4015EF}"/>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SSH</a:t>
            </a:r>
          </a:p>
        </p:txBody>
      </p:sp>
      <p:sp>
        <p:nvSpPr>
          <p:cNvPr id="2" name="">
            <a:extLst xmlns:a="http://schemas.openxmlformats.org/drawingml/2006/main">
              <a:ext uri="{FF2B5EF4-FFF2-40B4-BE49-F238E27FC236}">
                <a16:creationId xmlns:a16="http://schemas.microsoft.com/office/drawing/2014/main" id="{8B6BE641-0DF9-4F1E-8677-F0B06F2B0F2D}"/>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160B20"/>
                </a:solidFill>
                <a:latin typeface="Aptos"/>
                <a:ea typeface="Aptos"/>
                <a:cs typeface="Aptos"/>
              </a:defRPr>
            </a:pPr>
            <a:r>
              <a:rPr sz="3750" b="1" i="0">
                <a:solidFill>
                  <a:srgbClr val="160B20"/>
                </a:solidFill>
                <a:latin typeface="Aptos"/>
                <a:ea typeface="Aptos"/>
                <a:cs typeface="Aptos"/>
              </a:rPr>
              <a:t>Put safe SSH defaults in a named client profile</a:t>
            </a:r>
          </a:p>
        </p:txBody>
      </p:sp>
      <p:sp>
        <p:nvSpPr>
          <p:cNvPr id="3" name="">
            <a:extLst xmlns:a="http://schemas.openxmlformats.org/drawingml/2006/main">
              <a:ext uri="{FF2B5EF4-FFF2-40B4-BE49-F238E27FC236}">
                <a16:creationId xmlns:a16="http://schemas.microsoft.com/office/drawing/2014/main" id="{3A007525-12B0-4801-8266-DAE2D0A889DC}"/>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E7DC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5AB9A4B-31E3-4D98-8B57-E98252DE299A}"/>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6F6277"/>
                </a:solidFill>
                <a:latin typeface="Aptos"/>
                <a:ea typeface="Aptos"/>
                <a:cs typeface="Aptos"/>
              </a:defRPr>
            </a:pPr>
            <a:r>
              <a:rPr sz="900" b="1" i="0">
                <a:solidFill>
                  <a:srgbClr val="6F6277"/>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6A8DAEDF-0627-4C82-B861-FBBC3E2A919E}"/>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8B5CF6"/>
                </a:solidFill>
                <a:latin typeface="Aptos"/>
                <a:ea typeface="Aptos"/>
                <a:cs typeface="Aptos"/>
              </a:defRPr>
            </a:pPr>
            <a:r>
              <a:rPr sz="1050" b="1" i="0">
                <a:solidFill>
                  <a:srgbClr val="8B5CF6"/>
                </a:solidFill>
                <a:latin typeface="Aptos"/>
                <a:ea typeface="Aptos"/>
                <a:cs typeface="Aptos"/>
              </a:rPr>
              <a:t>22</a:t>
            </a:r>
          </a:p>
        </p:txBody>
      </p:sp>
      <p:sp>
        <p:nvSpPr>
          <p:cNvPr id="6" name="">
            <a:extLst xmlns:a="http://schemas.openxmlformats.org/drawingml/2006/main">
              <a:ext uri="{FF2B5EF4-FFF2-40B4-BE49-F238E27FC236}">
                <a16:creationId xmlns:a16="http://schemas.microsoft.com/office/drawing/2014/main" id="{3F062EF5-86AB-4B71-9BFC-EB02F12880E5}"/>
              </a:ext>
            </a:extLst>
          </p:cNvPr>
          <p:cNvSpPr>
            <a:spLocks xmlns:a="http://schemas.openxmlformats.org/drawingml/2006/main" noGrp="1"/>
          </p:cNvSpPr>
          <p:nvPr/>
        </p:nvSpPr>
        <p:spPr>
          <a:xfrm xmlns:a="http://schemas.openxmlformats.org/drawingml/2006/main">
            <a:off x="762000" y="1695450"/>
            <a:ext cx="6381750" cy="3733800"/>
          </a:xfrm>
          <a:prstGeom xmlns:a="http://schemas.openxmlformats.org/drawingml/2006/main" prst="roundRect">
            <a:avLst>
              <a:gd name="adj" fmla="val 4082"/>
            </a:avLst>
          </a:prstGeom>
          <a:solidFill xmlns:a="http://schemas.openxmlformats.org/drawingml/2006/main">
            <a:srgbClr val="28183A"/>
          </a:solidFill>
          <a:ln xmlns:a="http://schemas.openxmlformats.org/drawingml/2006/main" w="9525">
            <a:solidFill>
              <a:srgbClr val="4A335D"/>
            </a:solidFill>
            <a:prstDash val="solid"/>
          </a:ln>
        </p:spPr>
      </p:sp>
      <p:sp>
        <p:nvSpPr>
          <p:cNvPr id="7" name="">
            <a:extLst xmlns:a="http://schemas.openxmlformats.org/drawingml/2006/main">
              <a:ext uri="{FF2B5EF4-FFF2-40B4-BE49-F238E27FC236}">
                <a16:creationId xmlns:a16="http://schemas.microsoft.com/office/drawing/2014/main" id="{2582F1B3-14E9-45FD-913E-9592351D8BD1}"/>
              </a:ext>
            </a:extLst>
          </p:cNvPr>
          <p:cNvSpPr>
            <a:spLocks xmlns:a="http://schemas.openxmlformats.org/drawingml/2006/main" noGrp="1"/>
          </p:cNvSpPr>
          <p:nvPr/>
        </p:nvSpPr>
        <p:spPr>
          <a:xfrm xmlns:a="http://schemas.openxmlformats.org/drawingml/2006/main">
            <a:off x="762000" y="1695450"/>
            <a:ext cx="6381750" cy="400050"/>
          </a:xfrm>
          <a:prstGeom xmlns:a="http://schemas.openxmlformats.org/drawingml/2006/main" prst="roundRect">
            <a:avLst>
              <a:gd name="adj" fmla="val 38095"/>
            </a:avLst>
          </a:prstGeom>
          <a:solidFill xmlns:a="http://schemas.openxmlformats.org/drawingml/2006/main">
            <a:srgbClr val="21122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0405278-E0AA-4833-946E-187599BA518E}"/>
              </a:ext>
            </a:extLst>
          </p:cNvPr>
          <p:cNvSpPr>
            <a:spLocks xmlns:a="http://schemas.openxmlformats.org/drawingml/2006/main" noGrp="1"/>
          </p:cNvSpPr>
          <p:nvPr/>
        </p:nvSpPr>
        <p:spPr>
          <a:xfrm xmlns:a="http://schemas.openxmlformats.org/drawingml/2006/main">
            <a:off x="762000" y="1962150"/>
            <a:ext cx="6381750" cy="133350"/>
          </a:xfrm>
          <a:prstGeom xmlns:a="http://schemas.openxmlformats.org/drawingml/2006/main" prst="rect">
            <a:avLst/>
          </a:prstGeom>
          <a:solidFill xmlns:a="http://schemas.openxmlformats.org/drawingml/2006/main">
            <a:srgbClr val="21122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095E590-AFFB-42CA-8EDE-3678DF0434CE}"/>
              </a:ext>
            </a:extLst>
          </p:cNvPr>
          <p:cNvSpPr>
            <a:spLocks xmlns:a="http://schemas.openxmlformats.org/drawingml/2006/main" noGrp="1"/>
          </p:cNvSpPr>
          <p:nvPr/>
        </p:nvSpPr>
        <p:spPr>
          <a:xfrm xmlns:a="http://schemas.openxmlformats.org/drawingml/2006/main">
            <a:off x="933450" y="1847850"/>
            <a:ext cx="95250" cy="95250"/>
          </a:xfrm>
          <a:prstGeom xmlns:a="http://schemas.openxmlformats.org/drawingml/2006/main" prst="roundRect">
            <a:avLst>
              <a:gd name="adj" fmla="val 50000"/>
            </a:avLst>
          </a:prstGeom>
          <a:solidFill xmlns:a="http://schemas.openxmlformats.org/drawingml/2006/main">
            <a:srgbClr val="FF7B7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E5E2DBA-EF08-4270-97E4-D088BDE6129E}"/>
              </a:ext>
            </a:extLst>
          </p:cNvPr>
          <p:cNvSpPr>
            <a:spLocks xmlns:a="http://schemas.openxmlformats.org/drawingml/2006/main" noGrp="1"/>
          </p:cNvSpPr>
          <p:nvPr/>
        </p:nvSpPr>
        <p:spPr>
          <a:xfrm xmlns:a="http://schemas.openxmlformats.org/drawingml/2006/main">
            <a:off x="1104900" y="1847850"/>
            <a:ext cx="95250" cy="95250"/>
          </a:xfrm>
          <a:prstGeom xmlns:a="http://schemas.openxmlformats.org/drawingml/2006/main" prst="roundRect">
            <a:avLst>
              <a:gd name="adj" fmla="val 50000"/>
            </a:avLst>
          </a:prstGeom>
          <a:solidFill xmlns:a="http://schemas.openxmlformats.org/drawingml/2006/main">
            <a:srgbClr val="FFC66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97B98B4-AB20-40AF-A17C-375BB021AB96}"/>
              </a:ext>
            </a:extLst>
          </p:cNvPr>
          <p:cNvSpPr>
            <a:spLocks xmlns:a="http://schemas.openxmlformats.org/drawingml/2006/main" noGrp="1"/>
          </p:cNvSpPr>
          <p:nvPr/>
        </p:nvSpPr>
        <p:spPr>
          <a:xfrm xmlns:a="http://schemas.openxmlformats.org/drawingml/2006/main">
            <a:off x="1276350" y="1847850"/>
            <a:ext cx="95250" cy="95250"/>
          </a:xfrm>
          <a:prstGeom xmlns:a="http://schemas.openxmlformats.org/drawingml/2006/main" prst="roundRect">
            <a:avLst>
              <a:gd name="adj" fmla="val 50000"/>
            </a:avLst>
          </a:prstGeom>
          <a:solidFill xmlns:a="http://schemas.openxmlformats.org/drawingml/2006/main">
            <a:srgbClr val="70D6A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B663427-C93B-4258-9C9A-EAC18AD053D0}"/>
              </a:ext>
            </a:extLst>
          </p:cNvPr>
          <p:cNvSpPr>
            <a:spLocks xmlns:a="http://schemas.openxmlformats.org/drawingml/2006/main" noGrp="1"/>
          </p:cNvSpPr>
          <p:nvPr/>
        </p:nvSpPr>
        <p:spPr>
          <a:xfrm xmlns:a="http://schemas.openxmlformats.org/drawingml/2006/main">
            <a:off x="1543050" y="1809750"/>
            <a:ext cx="542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FF6B4A"/>
                </a:solidFill>
                <a:latin typeface="Aptos"/>
                <a:ea typeface="Aptos"/>
                <a:cs typeface="Aptos"/>
              </a:defRPr>
            </a:pPr>
            <a:r>
              <a:rPr sz="900" b="1" i="0">
                <a:solidFill>
                  <a:srgbClr val="FF6B4A"/>
                </a:solidFill>
                <a:latin typeface="Aptos"/>
                <a:ea typeface="Aptos"/>
                <a:cs typeface="Aptos"/>
              </a:rPr>
              <a:t>~/.ssh/config</a:t>
            </a:r>
          </a:p>
        </p:txBody>
      </p:sp>
      <p:sp>
        <p:nvSpPr>
          <p:cNvPr id="13" name="">
            <a:extLst xmlns:a="http://schemas.openxmlformats.org/drawingml/2006/main">
              <a:ext uri="{FF2B5EF4-FFF2-40B4-BE49-F238E27FC236}">
                <a16:creationId xmlns:a16="http://schemas.microsoft.com/office/drawing/2014/main" id="{D48CA226-F286-4B6F-8E20-84E09A3C230F}"/>
              </a:ext>
            </a:extLst>
          </p:cNvPr>
          <p:cNvSpPr>
            <a:spLocks xmlns:a="http://schemas.openxmlformats.org/drawingml/2006/main" noGrp="1"/>
          </p:cNvSpPr>
          <p:nvPr/>
        </p:nvSpPr>
        <p:spPr>
          <a:xfrm xmlns:a="http://schemas.openxmlformats.org/drawingml/2006/main">
            <a:off x="990600" y="2266950"/>
            <a:ext cx="5924550" cy="297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Host linux-course</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    HostName 192.168.64.10</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    User trainee</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    IdentityFile ~/.ssh/linux_course_ed25519</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    IdentitiesOnly yes</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    StrictHostKeyChecking accept-new</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    ServerAliveInterval 60</a:t>
            </a:r>
          </a:p>
        </p:txBody>
      </p:sp>
      <p:sp>
        <p:nvSpPr>
          <p:cNvPr id="14" name="">
            <a:extLst xmlns:a="http://schemas.openxmlformats.org/drawingml/2006/main">
              <a:ext uri="{FF2B5EF4-FFF2-40B4-BE49-F238E27FC236}">
                <a16:creationId xmlns:a16="http://schemas.microsoft.com/office/drawing/2014/main" id="{C41211EB-B947-48E2-9CB8-0502D0799EFE}"/>
              </a:ext>
            </a:extLst>
          </p:cNvPr>
          <p:cNvSpPr>
            <a:spLocks xmlns:a="http://schemas.openxmlformats.org/drawingml/2006/main" noGrp="1"/>
          </p:cNvSpPr>
          <p:nvPr/>
        </p:nvSpPr>
        <p:spPr>
          <a:xfrm xmlns:a="http://schemas.openxmlformats.org/drawingml/2006/main">
            <a:off x="7620000" y="216217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679DD7B-531D-40D0-B394-1598F9825A21}"/>
              </a:ext>
            </a:extLst>
          </p:cNvPr>
          <p:cNvSpPr>
            <a:spLocks xmlns:a="http://schemas.openxmlformats.org/drawingml/2006/main" noGrp="1"/>
          </p:cNvSpPr>
          <p:nvPr/>
        </p:nvSpPr>
        <p:spPr>
          <a:xfrm xmlns:a="http://schemas.openxmlformats.org/drawingml/2006/main">
            <a:off x="7886700" y="2095500"/>
            <a:ext cx="3162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575" b="0" i="0">
                <a:solidFill>
                  <a:srgbClr val="160B20"/>
                </a:solidFill>
                <a:latin typeface="Aptos"/>
                <a:ea typeface="Aptos"/>
                <a:cs typeface="Aptos"/>
              </a:defRPr>
            </a:pPr>
            <a:r>
              <a:rPr sz="1575" b="0" i="0">
                <a:solidFill>
                  <a:srgbClr val="160B20"/>
                </a:solidFill>
                <a:latin typeface="Aptos"/>
                <a:ea typeface="Aptos"/>
                <a:cs typeface="Aptos"/>
              </a:rPr>
              <a:t>One alias replaces repeated flags</a:t>
            </a:r>
          </a:p>
        </p:txBody>
      </p:sp>
      <p:sp>
        <p:nvSpPr>
          <p:cNvPr id="16" name="">
            <a:extLst xmlns:a="http://schemas.openxmlformats.org/drawingml/2006/main">
              <a:ext uri="{FF2B5EF4-FFF2-40B4-BE49-F238E27FC236}">
                <a16:creationId xmlns:a16="http://schemas.microsoft.com/office/drawing/2014/main" id="{2E9D49B2-8C10-4B5D-B43C-A4E5283DD865}"/>
              </a:ext>
            </a:extLst>
          </p:cNvPr>
          <p:cNvSpPr>
            <a:spLocks xmlns:a="http://schemas.openxmlformats.org/drawingml/2006/main" noGrp="1"/>
          </p:cNvSpPr>
          <p:nvPr/>
        </p:nvSpPr>
        <p:spPr>
          <a:xfrm xmlns:a="http://schemas.openxmlformats.org/drawingml/2006/main">
            <a:off x="7620000" y="280987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878B8E9-F20A-489F-8E38-61B64C3EFDCB}"/>
              </a:ext>
            </a:extLst>
          </p:cNvPr>
          <p:cNvSpPr>
            <a:spLocks xmlns:a="http://schemas.openxmlformats.org/drawingml/2006/main" noGrp="1"/>
          </p:cNvSpPr>
          <p:nvPr/>
        </p:nvSpPr>
        <p:spPr>
          <a:xfrm xmlns:a="http://schemas.openxmlformats.org/drawingml/2006/main">
            <a:off x="7886700" y="2743200"/>
            <a:ext cx="3162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575" b="0" i="0">
                <a:solidFill>
                  <a:srgbClr val="160B20"/>
                </a:solidFill>
                <a:latin typeface="Aptos"/>
                <a:ea typeface="Aptos"/>
                <a:cs typeface="Aptos"/>
              </a:defRPr>
            </a:pPr>
            <a:r>
              <a:rPr sz="1575" b="0" i="0">
                <a:solidFill>
                  <a:srgbClr val="160B20"/>
                </a:solidFill>
                <a:latin typeface="Aptos"/>
                <a:ea typeface="Aptos"/>
                <a:cs typeface="Aptos"/>
              </a:rPr>
              <a:t>IdentitiesOnly avoids key roulette</a:t>
            </a:r>
          </a:p>
        </p:txBody>
      </p:sp>
      <p:sp>
        <p:nvSpPr>
          <p:cNvPr id="18" name="">
            <a:extLst xmlns:a="http://schemas.openxmlformats.org/drawingml/2006/main">
              <a:ext uri="{FF2B5EF4-FFF2-40B4-BE49-F238E27FC236}">
                <a16:creationId xmlns:a16="http://schemas.microsoft.com/office/drawing/2014/main" id="{BBDF2332-267B-4A85-8F8A-459927DD7B01}"/>
              </a:ext>
            </a:extLst>
          </p:cNvPr>
          <p:cNvSpPr>
            <a:spLocks xmlns:a="http://schemas.openxmlformats.org/drawingml/2006/main" noGrp="1"/>
          </p:cNvSpPr>
          <p:nvPr/>
        </p:nvSpPr>
        <p:spPr>
          <a:xfrm xmlns:a="http://schemas.openxmlformats.org/drawingml/2006/main">
            <a:off x="7620000" y="345757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62CA3DE-3004-4AD4-A732-B98BBA4E1915}"/>
              </a:ext>
            </a:extLst>
          </p:cNvPr>
          <p:cNvSpPr>
            <a:spLocks xmlns:a="http://schemas.openxmlformats.org/drawingml/2006/main" noGrp="1"/>
          </p:cNvSpPr>
          <p:nvPr/>
        </p:nvSpPr>
        <p:spPr>
          <a:xfrm xmlns:a="http://schemas.openxmlformats.org/drawingml/2006/main">
            <a:off x="7886700" y="3390900"/>
            <a:ext cx="3162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575" b="0" i="0">
                <a:solidFill>
                  <a:srgbClr val="160B20"/>
                </a:solidFill>
                <a:latin typeface="Aptos"/>
                <a:ea typeface="Aptos"/>
                <a:cs typeface="Aptos"/>
              </a:defRPr>
            </a:pPr>
            <a:r>
              <a:rPr sz="1575" b="0" i="0">
                <a:solidFill>
                  <a:srgbClr val="160B20"/>
                </a:solidFill>
                <a:latin typeface="Aptos"/>
                <a:ea typeface="Aptos"/>
                <a:cs typeface="Aptos"/>
              </a:rPr>
              <a:t>Verify the first host fingerprint</a:t>
            </a:r>
          </a:p>
        </p:txBody>
      </p:sp>
      <p:sp>
        <p:nvSpPr>
          <p:cNvPr id="20" name="">
            <a:extLst xmlns:a="http://schemas.openxmlformats.org/drawingml/2006/main">
              <a:ext uri="{FF2B5EF4-FFF2-40B4-BE49-F238E27FC236}">
                <a16:creationId xmlns:a16="http://schemas.microsoft.com/office/drawing/2014/main" id="{20C72FD0-38B9-42C9-B457-7F72B019077F}"/>
              </a:ext>
            </a:extLst>
          </p:cNvPr>
          <p:cNvSpPr>
            <a:spLocks xmlns:a="http://schemas.openxmlformats.org/drawingml/2006/main" noGrp="1"/>
          </p:cNvSpPr>
          <p:nvPr/>
        </p:nvSpPr>
        <p:spPr>
          <a:xfrm xmlns:a="http://schemas.openxmlformats.org/drawingml/2006/main">
            <a:off x="7620000" y="410527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0197AE6-3954-4DEB-99B5-4DD0C4EDB606}"/>
              </a:ext>
            </a:extLst>
          </p:cNvPr>
          <p:cNvSpPr>
            <a:spLocks xmlns:a="http://schemas.openxmlformats.org/drawingml/2006/main" noGrp="1"/>
          </p:cNvSpPr>
          <p:nvPr/>
        </p:nvSpPr>
        <p:spPr>
          <a:xfrm xmlns:a="http://schemas.openxmlformats.org/drawingml/2006/main">
            <a:off x="7886700" y="4038600"/>
            <a:ext cx="3162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575" b="0" i="0">
                <a:solidFill>
                  <a:srgbClr val="160B20"/>
                </a:solidFill>
                <a:latin typeface="Aptos"/>
                <a:ea typeface="Aptos"/>
                <a:cs typeface="Aptos"/>
              </a:defRPr>
            </a:pPr>
            <a:r>
              <a:rPr sz="1575" b="0" i="0">
                <a:solidFill>
                  <a:srgbClr val="160B20"/>
                </a:solidFill>
                <a:latin typeface="Aptos"/>
                <a:ea typeface="Aptos"/>
                <a:cs typeface="Aptos"/>
              </a:rPr>
              <a:t>Use “yes” after onboarding for strictness</a:t>
            </a:r>
          </a:p>
        </p:txBody>
      </p:sp>
      <p:sp>
        <p:nvSpPr>
          <p:cNvPr id="22" name="">
            <a:extLst xmlns:a="http://schemas.openxmlformats.org/drawingml/2006/main">
              <a:ext uri="{FF2B5EF4-FFF2-40B4-BE49-F238E27FC236}">
                <a16:creationId xmlns:a16="http://schemas.microsoft.com/office/drawing/2014/main" id="{2ED109F0-CC37-4B8F-BCDB-D5B25B5EB7F8}"/>
              </a:ext>
            </a:extLst>
          </p:cNvPr>
          <p:cNvSpPr>
            <a:spLocks xmlns:a="http://schemas.openxmlformats.org/drawingml/2006/main" noGrp="1"/>
          </p:cNvSpPr>
          <p:nvPr/>
        </p:nvSpPr>
        <p:spPr>
          <a:xfrm xmlns:a="http://schemas.openxmlformats.org/drawingml/2006/main">
            <a:off x="7620000" y="5067300"/>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725" b="1" i="0">
                <a:solidFill>
                  <a:srgbClr val="8B5CF6"/>
                </a:solidFill>
                <a:latin typeface="Aptos"/>
                <a:ea typeface="Aptos"/>
                <a:cs typeface="Aptos"/>
              </a:defRPr>
            </a:pPr>
            <a:r>
              <a:rPr sz="1725" b="1" i="0">
                <a:solidFill>
                  <a:srgbClr val="8B5CF6"/>
                </a:solidFill>
                <a:latin typeface="Aptos"/>
                <a:ea typeface="Aptos"/>
                <a:cs typeface="Aptos"/>
              </a:rPr>
              <a:t>Same OpenSSH syntax on macOS and Windows.</a:t>
            </a:r>
          </a:p>
        </p:txBody>
      </p:sp>
    </p:spTree>
    <p:extLst>
      <p:ext uri="{BB962C8B-B14F-4D97-AF65-F5344CB8AC3E}">
        <p14:creationId xmlns:p14="http://schemas.microsoft.com/office/powerpoint/2010/main" val="135157086"/>
      </p:ext>
    </p:extLst>
  </p:cSld>
</p:sld>
</file>

<file path=ppt/slides/slide23.xml><?xml version="1.0" encoding="utf-8"?>
<p:sld xmlns:p="http://schemas.openxmlformats.org/presentationml/2006/main">
  <p:cSld>
    <p:bg>
      <p:bgPr>
        <a:solidFill xmlns:a="http://schemas.openxmlformats.org/drawingml/2006/main">
          <a:srgbClr val="180D24"/>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CA7D24E-0906-4912-B515-2728FCE94958}"/>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DEMO 3</a:t>
            </a:r>
          </a:p>
        </p:txBody>
      </p:sp>
      <p:sp>
        <p:nvSpPr>
          <p:cNvPr id="2" name="">
            <a:extLst xmlns:a="http://schemas.openxmlformats.org/drawingml/2006/main">
              <a:ext uri="{FF2B5EF4-FFF2-40B4-BE49-F238E27FC236}">
                <a16:creationId xmlns:a16="http://schemas.microsoft.com/office/drawing/2014/main" id="{E4C7EBB4-7E54-45D6-9AA9-2A3D11BB08E7}"/>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8EE"/>
                </a:solidFill>
                <a:latin typeface="Aptos"/>
                <a:ea typeface="Aptos"/>
                <a:cs typeface="Aptos"/>
              </a:defRPr>
            </a:pPr>
            <a:r>
              <a:rPr sz="3750" b="1" i="0">
                <a:solidFill>
                  <a:srgbClr val="FFF7EF"/>
                </a:solidFill>
                <a:latin typeface="Aptos"/>
                <a:ea typeface="Aptos"/>
                <a:cs typeface="Aptos"/>
              </a:rPr>
              <a:t>Live demo: verify before you trust</a:t>
            </a:r>
          </a:p>
        </p:txBody>
      </p:sp>
      <p:sp>
        <p:nvSpPr>
          <p:cNvPr id="3" name="">
            <a:extLst xmlns:a="http://schemas.openxmlformats.org/drawingml/2006/main">
              <a:ext uri="{FF2B5EF4-FFF2-40B4-BE49-F238E27FC236}">
                <a16:creationId xmlns:a16="http://schemas.microsoft.com/office/drawing/2014/main" id="{77C20360-1A61-46E3-A7F6-C6976C29AA6D}"/>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3520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DCBAF05-2306-430B-8F02-B48AD5A71A2F}"/>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BFAFCB"/>
                </a:solidFill>
                <a:latin typeface="Aptos"/>
                <a:ea typeface="Aptos"/>
                <a:cs typeface="Aptos"/>
              </a:defRPr>
            </a:pPr>
            <a:r>
              <a:rPr sz="900" b="1" i="0">
                <a:solidFill>
                  <a:srgbClr val="BFAFCB"/>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68FBFA74-1BD9-4897-92E2-D103DFA2602D}"/>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C9B6FF"/>
                </a:solidFill>
                <a:latin typeface="Aptos"/>
                <a:ea typeface="Aptos"/>
                <a:cs typeface="Aptos"/>
              </a:defRPr>
            </a:pPr>
            <a:r>
              <a:rPr sz="1050" b="1" i="0">
                <a:solidFill>
                  <a:srgbClr val="C9B6FF"/>
                </a:solidFill>
                <a:latin typeface="Aptos"/>
                <a:ea typeface="Aptos"/>
                <a:cs typeface="Aptos"/>
              </a:rPr>
              <a:t>23</a:t>
            </a:r>
          </a:p>
        </p:txBody>
      </p:sp>
      <p:sp>
        <p:nvSpPr>
          <p:cNvPr id="6" name="">
            <a:extLst xmlns:a="http://schemas.openxmlformats.org/drawingml/2006/main">
              <a:ext uri="{FF2B5EF4-FFF2-40B4-BE49-F238E27FC236}">
                <a16:creationId xmlns:a16="http://schemas.microsoft.com/office/drawing/2014/main" id="{857BC15A-FF1D-4556-AD45-392605BCAB2E}"/>
              </a:ext>
            </a:extLst>
          </p:cNvPr>
          <p:cNvSpPr>
            <a:spLocks xmlns:a="http://schemas.openxmlformats.org/drawingml/2006/main" noGrp="1"/>
          </p:cNvSpPr>
          <p:nvPr/>
        </p:nvSpPr>
        <p:spPr>
          <a:xfrm xmlns:a="http://schemas.openxmlformats.org/drawingml/2006/main">
            <a:off x="762000" y="1695450"/>
            <a:ext cx="10668000" cy="3981450"/>
          </a:xfrm>
          <a:prstGeom xmlns:a="http://schemas.openxmlformats.org/drawingml/2006/main" prst="roundRect">
            <a:avLst>
              <a:gd name="adj" fmla="val 3828"/>
            </a:avLst>
          </a:prstGeom>
          <a:solidFill xmlns:a="http://schemas.openxmlformats.org/drawingml/2006/main">
            <a:srgbClr val="28183A"/>
          </a:solidFill>
          <a:ln xmlns:a="http://schemas.openxmlformats.org/drawingml/2006/main" w="9525">
            <a:solidFill>
              <a:srgbClr val="4A335D"/>
            </a:solidFill>
            <a:prstDash val="solid"/>
          </a:ln>
        </p:spPr>
      </p:sp>
      <p:sp>
        <p:nvSpPr>
          <p:cNvPr id="7" name="">
            <a:extLst xmlns:a="http://schemas.openxmlformats.org/drawingml/2006/main">
              <a:ext uri="{FF2B5EF4-FFF2-40B4-BE49-F238E27FC236}">
                <a16:creationId xmlns:a16="http://schemas.microsoft.com/office/drawing/2014/main" id="{FE4165AE-C4D3-4216-9D1A-0F793B9798BB}"/>
              </a:ext>
            </a:extLst>
          </p:cNvPr>
          <p:cNvSpPr>
            <a:spLocks xmlns:a="http://schemas.openxmlformats.org/drawingml/2006/main" noGrp="1"/>
          </p:cNvSpPr>
          <p:nvPr/>
        </p:nvSpPr>
        <p:spPr>
          <a:xfrm xmlns:a="http://schemas.openxmlformats.org/drawingml/2006/main">
            <a:off x="762000" y="1695450"/>
            <a:ext cx="10668000" cy="400050"/>
          </a:xfrm>
          <a:prstGeom xmlns:a="http://schemas.openxmlformats.org/drawingml/2006/main" prst="roundRect">
            <a:avLst>
              <a:gd name="adj" fmla="val 38095"/>
            </a:avLst>
          </a:prstGeom>
          <a:solidFill xmlns:a="http://schemas.openxmlformats.org/drawingml/2006/main">
            <a:srgbClr val="21122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4F4DA88-06B6-48A6-8FB7-E5EF1D462186}"/>
              </a:ext>
            </a:extLst>
          </p:cNvPr>
          <p:cNvSpPr>
            <a:spLocks xmlns:a="http://schemas.openxmlformats.org/drawingml/2006/main" noGrp="1"/>
          </p:cNvSpPr>
          <p:nvPr/>
        </p:nvSpPr>
        <p:spPr>
          <a:xfrm xmlns:a="http://schemas.openxmlformats.org/drawingml/2006/main">
            <a:off x="762000" y="1962150"/>
            <a:ext cx="10668000" cy="133350"/>
          </a:xfrm>
          <a:prstGeom xmlns:a="http://schemas.openxmlformats.org/drawingml/2006/main" prst="rect">
            <a:avLst/>
          </a:prstGeom>
          <a:solidFill xmlns:a="http://schemas.openxmlformats.org/drawingml/2006/main">
            <a:srgbClr val="21122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8230223-41DC-43DF-A06D-2AE430BEB7F7}"/>
              </a:ext>
            </a:extLst>
          </p:cNvPr>
          <p:cNvSpPr>
            <a:spLocks xmlns:a="http://schemas.openxmlformats.org/drawingml/2006/main" noGrp="1"/>
          </p:cNvSpPr>
          <p:nvPr/>
        </p:nvSpPr>
        <p:spPr>
          <a:xfrm xmlns:a="http://schemas.openxmlformats.org/drawingml/2006/main">
            <a:off x="933450" y="1847850"/>
            <a:ext cx="95250" cy="95250"/>
          </a:xfrm>
          <a:prstGeom xmlns:a="http://schemas.openxmlformats.org/drawingml/2006/main" prst="roundRect">
            <a:avLst>
              <a:gd name="adj" fmla="val 50000"/>
            </a:avLst>
          </a:prstGeom>
          <a:solidFill xmlns:a="http://schemas.openxmlformats.org/drawingml/2006/main">
            <a:srgbClr val="FF7B7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C2E4AD1-304E-4E85-82CA-8CDA980E29D1}"/>
              </a:ext>
            </a:extLst>
          </p:cNvPr>
          <p:cNvSpPr>
            <a:spLocks xmlns:a="http://schemas.openxmlformats.org/drawingml/2006/main" noGrp="1"/>
          </p:cNvSpPr>
          <p:nvPr/>
        </p:nvSpPr>
        <p:spPr>
          <a:xfrm xmlns:a="http://schemas.openxmlformats.org/drawingml/2006/main">
            <a:off x="1104900" y="1847850"/>
            <a:ext cx="95250" cy="95250"/>
          </a:xfrm>
          <a:prstGeom xmlns:a="http://schemas.openxmlformats.org/drawingml/2006/main" prst="roundRect">
            <a:avLst>
              <a:gd name="adj" fmla="val 50000"/>
            </a:avLst>
          </a:prstGeom>
          <a:solidFill xmlns:a="http://schemas.openxmlformats.org/drawingml/2006/main">
            <a:srgbClr val="FFC66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6955A35-3C8A-4170-BC36-0CA9F8B318D1}"/>
              </a:ext>
            </a:extLst>
          </p:cNvPr>
          <p:cNvSpPr>
            <a:spLocks xmlns:a="http://schemas.openxmlformats.org/drawingml/2006/main" noGrp="1"/>
          </p:cNvSpPr>
          <p:nvPr/>
        </p:nvSpPr>
        <p:spPr>
          <a:xfrm xmlns:a="http://schemas.openxmlformats.org/drawingml/2006/main">
            <a:off x="1276350" y="1847850"/>
            <a:ext cx="95250" cy="95250"/>
          </a:xfrm>
          <a:prstGeom xmlns:a="http://schemas.openxmlformats.org/drawingml/2006/main" prst="roundRect">
            <a:avLst>
              <a:gd name="adj" fmla="val 50000"/>
            </a:avLst>
          </a:prstGeom>
          <a:solidFill xmlns:a="http://schemas.openxmlformats.org/drawingml/2006/main">
            <a:srgbClr val="70D6A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4766F9D-7979-4089-A8D1-8EAAFE491F5A}"/>
              </a:ext>
            </a:extLst>
          </p:cNvPr>
          <p:cNvSpPr>
            <a:spLocks xmlns:a="http://schemas.openxmlformats.org/drawingml/2006/main" noGrp="1"/>
          </p:cNvSpPr>
          <p:nvPr/>
        </p:nvSpPr>
        <p:spPr>
          <a:xfrm xmlns:a="http://schemas.openxmlformats.org/drawingml/2006/main">
            <a:off x="1543050" y="1809750"/>
            <a:ext cx="971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FF6B4A"/>
                </a:solidFill>
                <a:latin typeface="Aptos"/>
                <a:ea typeface="Aptos"/>
                <a:cs typeface="Aptos"/>
              </a:defRPr>
            </a:pPr>
            <a:r>
              <a:rPr sz="900" b="1" i="0">
                <a:solidFill>
                  <a:srgbClr val="FF6B4A"/>
                </a:solidFill>
                <a:latin typeface="Aptos"/>
                <a:ea typeface="Aptos"/>
                <a:cs typeface="Aptos"/>
              </a:rPr>
              <a:t>SERVER FINGERPRINT + USER KEY</a:t>
            </a:r>
          </a:p>
        </p:txBody>
      </p:sp>
      <p:sp>
        <p:nvSpPr>
          <p:cNvPr id="13" name="">
            <a:extLst xmlns:a="http://schemas.openxmlformats.org/drawingml/2006/main">
              <a:ext uri="{FF2B5EF4-FFF2-40B4-BE49-F238E27FC236}">
                <a16:creationId xmlns:a16="http://schemas.microsoft.com/office/drawing/2014/main" id="{2FBD59BD-EAA0-47F4-A19A-6E3A0D349253}"/>
              </a:ext>
            </a:extLst>
          </p:cNvPr>
          <p:cNvSpPr>
            <a:spLocks xmlns:a="http://schemas.openxmlformats.org/drawingml/2006/main" noGrp="1"/>
          </p:cNvSpPr>
          <p:nvPr/>
        </p:nvSpPr>
        <p:spPr>
          <a:xfrm xmlns:a="http://schemas.openxmlformats.org/drawingml/2006/main">
            <a:off x="990600" y="2266950"/>
            <a:ext cx="10210800" cy="3219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mkdir -p ~/.ssh &amp;&amp; chmod 700 ~/.ssh</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ssh-keygen -t ed25519 -f ~/.ssh/id_ed25519 -N ''</a:t>
            </a:r>
          </a:p>
          <a:p xmlns:a="http://schemas.openxmlformats.org/drawingml/2006/main">
            <a:r>
              <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ssh-keyscan -p 2222 localhost &gt;&gt; ~/.ssh/known_hosts</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ssh-keygen -F '[localhost]:2222'</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ssh-copy-id -i ~/.ssh/id_ed25519.pub -p 2222 operator@localhost</a:t>
            </a:r>
          </a:p>
          <a:p xmlns:a="http://schemas.openxmlformats.org/drawingml/2006/main">
            <a:r>
              <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ssh -o BatchMode=yes -p 2222 \</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  operator@localhost 'id; hostname'</a:t>
            </a:r>
          </a:p>
        </p:txBody>
      </p:sp>
      <p:sp>
        <p:nvSpPr>
          <p:cNvPr id="14" name="">
            <a:extLst xmlns:a="http://schemas.openxmlformats.org/drawingml/2006/main">
              <a:ext uri="{FF2B5EF4-FFF2-40B4-BE49-F238E27FC236}">
                <a16:creationId xmlns:a16="http://schemas.microsoft.com/office/drawing/2014/main" id="{FC5CC4BB-F5E3-452A-A6FC-B969F5A64BF6}"/>
              </a:ext>
            </a:extLst>
          </p:cNvPr>
          <p:cNvSpPr>
            <a:spLocks xmlns:a="http://schemas.openxmlformats.org/drawingml/2006/main" noGrp="1"/>
          </p:cNvSpPr>
          <p:nvPr/>
        </p:nvSpPr>
        <p:spPr>
          <a:xfrm xmlns:a="http://schemas.openxmlformats.org/drawingml/2006/main">
            <a:off x="857250" y="58102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575" b="1" i="0">
                <a:solidFill>
                  <a:srgbClr val="70D6A6"/>
                </a:solidFill>
                <a:latin typeface="Aptos"/>
                <a:ea typeface="Aptos"/>
                <a:cs typeface="Aptos"/>
              </a:defRPr>
            </a:pPr>
            <a:r>
              <a:rPr sz="1575" b="1" i="0">
                <a:solidFill>
                  <a:srgbClr val="70D6A6"/>
                </a:solidFill>
                <a:latin typeface="Aptos"/>
                <a:ea typeface="Aptos"/>
                <a:cs typeface="Aptos"/>
              </a:rPr>
              <a:t>Private key: client only. Public key: server. Host key: verify out of band.</a:t>
            </a:r>
          </a:p>
        </p:txBody>
      </p:sp>
    </p:spTree>
    <p:extLst>
      <p:ext uri="{BB962C8B-B14F-4D97-AF65-F5344CB8AC3E}">
        <p14:creationId xmlns:p14="http://schemas.microsoft.com/office/powerpoint/2010/main" val="213335683"/>
      </p:ext>
    </p:extLst>
  </p:cSld>
</p:sld>
</file>

<file path=ppt/slides/slide24.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AEA4CBD-AD16-487B-B5A8-56E187F9805F}"/>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LOGS</a:t>
            </a:r>
          </a:p>
        </p:txBody>
      </p:sp>
      <p:sp>
        <p:nvSpPr>
          <p:cNvPr id="2" name="">
            <a:extLst xmlns:a="http://schemas.openxmlformats.org/drawingml/2006/main">
              <a:ext uri="{FF2B5EF4-FFF2-40B4-BE49-F238E27FC236}">
                <a16:creationId xmlns:a16="http://schemas.microsoft.com/office/drawing/2014/main" id="{49CBE259-A38F-49D4-8EE9-379B6D6C25AF}"/>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283"/>
          </a:bodyPr>
          <a:lstStyle xmlns:a="http://schemas.openxmlformats.org/drawingml/2006/main"/>
          <a:p xmlns:a="http://schemas.openxmlformats.org/drawingml/2006/main">
            <a:pPr algn="l">
              <a:lnSpc>
                <a:spcPct val="94000"/>
              </a:lnSpc>
              <a:buNone/>
              <a:defRPr sz="3750" b="1" i="0">
                <a:solidFill>
                  <a:srgbClr val="160B20"/>
                </a:solidFill>
                <a:latin typeface="Aptos"/>
                <a:ea typeface="Aptos"/>
                <a:cs typeface="Aptos"/>
              </a:defRPr>
            </a:pPr>
            <a:r>
              <a:rPr sz="3750" b="1" i="0">
                <a:solidFill>
                  <a:srgbClr val="160B20"/>
                </a:solidFill>
                <a:latin typeface="Aptos"/>
                <a:ea typeface="Aptos"/>
                <a:cs typeface="Aptos"/>
              </a:rPr>
              <a:t>Linux logs live in files and in the systemd journal</a:t>
            </a:r>
          </a:p>
        </p:txBody>
      </p:sp>
      <p:sp>
        <p:nvSpPr>
          <p:cNvPr id="3" name="">
            <a:extLst xmlns:a="http://schemas.openxmlformats.org/drawingml/2006/main">
              <a:ext uri="{FF2B5EF4-FFF2-40B4-BE49-F238E27FC236}">
                <a16:creationId xmlns:a16="http://schemas.microsoft.com/office/drawing/2014/main" id="{DF9D5B04-B246-4226-8287-7B64570C3270}"/>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E7DC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BC8267D-2465-475E-A711-EBD8174FFF62}"/>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6F6277"/>
                </a:solidFill>
                <a:latin typeface="Aptos"/>
                <a:ea typeface="Aptos"/>
                <a:cs typeface="Aptos"/>
              </a:defRPr>
            </a:pPr>
            <a:r>
              <a:rPr sz="900" b="1" i="0">
                <a:solidFill>
                  <a:srgbClr val="6F6277"/>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4EE042DA-0DF1-420D-B508-29A9B3B4280D}"/>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8B5CF6"/>
                </a:solidFill>
                <a:latin typeface="Aptos"/>
                <a:ea typeface="Aptos"/>
                <a:cs typeface="Aptos"/>
              </a:defRPr>
            </a:pPr>
            <a:r>
              <a:rPr sz="1050" b="1" i="0">
                <a:solidFill>
                  <a:srgbClr val="8B5CF6"/>
                </a:solidFill>
                <a:latin typeface="Aptos"/>
                <a:ea typeface="Aptos"/>
                <a:cs typeface="Aptos"/>
              </a:rPr>
              <a:t>24</a:t>
            </a:r>
          </a:p>
        </p:txBody>
      </p:sp>
      <p:sp>
        <p:nvSpPr>
          <p:cNvPr id="6" name="">
            <a:extLst xmlns:a="http://schemas.openxmlformats.org/drawingml/2006/main">
              <a:ext uri="{FF2B5EF4-FFF2-40B4-BE49-F238E27FC236}">
                <a16:creationId xmlns:a16="http://schemas.microsoft.com/office/drawing/2014/main" id="{92D41477-3B72-4D83-9EC8-253D5E919002}"/>
              </a:ext>
            </a:extLst>
          </p:cNvPr>
          <p:cNvSpPr>
            <a:spLocks xmlns:a="http://schemas.openxmlformats.org/drawingml/2006/main" noGrp="1"/>
          </p:cNvSpPr>
          <p:nvPr/>
        </p:nvSpPr>
        <p:spPr>
          <a:xfrm xmlns:a="http://schemas.openxmlformats.org/drawingml/2006/main">
            <a:off x="857250" y="180975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200" b="1" i="0">
                <a:solidFill>
                  <a:srgbClr val="FF6B4A"/>
                </a:solidFill>
                <a:latin typeface="Aptos"/>
                <a:ea typeface="Aptos"/>
                <a:cs typeface="Aptos"/>
              </a:defRPr>
            </a:pPr>
            <a:r>
              <a:rPr sz="1200" b="1" i="0">
                <a:solidFill>
                  <a:srgbClr val="FF6B4A"/>
                </a:solidFill>
                <a:latin typeface="Aptos"/>
                <a:ea typeface="Aptos"/>
                <a:cs typeface="Aptos"/>
              </a:rPr>
              <a:t>TEXT FILES</a:t>
            </a:r>
          </a:p>
        </p:txBody>
      </p:sp>
      <p:sp>
        <p:nvSpPr>
          <p:cNvPr id="7" name="">
            <a:extLst xmlns:a="http://schemas.openxmlformats.org/drawingml/2006/main">
              <a:ext uri="{FF2B5EF4-FFF2-40B4-BE49-F238E27FC236}">
                <a16:creationId xmlns:a16="http://schemas.microsoft.com/office/drawing/2014/main" id="{4649DD3A-15AD-4616-AB40-DC3BC768AF9D}"/>
              </a:ext>
            </a:extLst>
          </p:cNvPr>
          <p:cNvSpPr>
            <a:spLocks xmlns:a="http://schemas.openxmlformats.org/drawingml/2006/main" noGrp="1"/>
          </p:cNvSpPr>
          <p:nvPr/>
        </p:nvSpPr>
        <p:spPr>
          <a:xfrm xmlns:a="http://schemas.openxmlformats.org/drawingml/2006/main">
            <a:off x="857250" y="2324100"/>
            <a:ext cx="4000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3150" b="1" i="0">
                <a:solidFill>
                  <a:srgbClr val="160B20"/>
                </a:solidFill>
                <a:latin typeface="Courier New"/>
                <a:ea typeface="Courier New"/>
                <a:cs typeface="Courier New"/>
              </a:defRPr>
            </a:pPr>
            <a:r>
              <a:rPr sz="3150" b="1" i="0">
                <a:solidFill>
                  <a:srgbClr val="160B20"/>
                </a:solidFill>
                <a:latin typeface="Courier New"/>
                <a:ea typeface="Courier New"/>
                <a:cs typeface="Courier New"/>
              </a:rPr>
              <a:t>/var/log</a:t>
            </a:r>
          </a:p>
        </p:txBody>
      </p:sp>
      <p:sp>
        <p:nvSpPr>
          <p:cNvPr id="8" name="">
            <a:extLst xmlns:a="http://schemas.openxmlformats.org/drawingml/2006/main">
              <a:ext uri="{FF2B5EF4-FFF2-40B4-BE49-F238E27FC236}">
                <a16:creationId xmlns:a16="http://schemas.microsoft.com/office/drawing/2014/main" id="{0267B716-67A1-4571-A86C-B916261DCE8F}"/>
              </a:ext>
            </a:extLst>
          </p:cNvPr>
          <p:cNvSpPr>
            <a:spLocks xmlns:a="http://schemas.openxmlformats.org/drawingml/2006/main" noGrp="1"/>
          </p:cNvSpPr>
          <p:nvPr/>
        </p:nvSpPr>
        <p:spPr>
          <a:xfrm xmlns:a="http://schemas.openxmlformats.org/drawingml/2006/main">
            <a:off x="857250" y="3305175"/>
            <a:ext cx="95250" cy="95250"/>
          </a:xfrm>
          <a:prstGeom xmlns:a="http://schemas.openxmlformats.org/drawingml/2006/main" prst="roundRect">
            <a:avLst>
              <a:gd name="adj" fmla="val 50000"/>
            </a:avLst>
          </a:prstGeom>
          <a:solidFill xmlns:a="http://schemas.openxmlformats.org/drawingml/2006/main">
            <a:srgbClr val="FF6B4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206E898-C1C0-4C18-B869-E2E25F39A9E2}"/>
              </a:ext>
            </a:extLst>
          </p:cNvPr>
          <p:cNvSpPr>
            <a:spLocks xmlns:a="http://schemas.openxmlformats.org/drawingml/2006/main" noGrp="1"/>
          </p:cNvSpPr>
          <p:nvPr/>
        </p:nvSpPr>
        <p:spPr>
          <a:xfrm xmlns:a="http://schemas.openxmlformats.org/drawingml/2006/main">
            <a:off x="1123950" y="3238500"/>
            <a:ext cx="3733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575" b="0" i="0">
                <a:solidFill>
                  <a:srgbClr val="160B20"/>
                </a:solidFill>
                <a:latin typeface="Aptos"/>
                <a:ea typeface="Aptos"/>
                <a:cs typeface="Aptos"/>
              </a:defRPr>
            </a:pPr>
            <a:r>
              <a:rPr sz="1575" b="0" i="0">
                <a:solidFill>
                  <a:srgbClr val="160B20"/>
                </a:solidFill>
                <a:latin typeface="Aptos"/>
                <a:ea typeface="Aptos"/>
                <a:cs typeface="Aptos"/>
              </a:rPr>
              <a:t>Application-specific files</a:t>
            </a:r>
          </a:p>
        </p:txBody>
      </p:sp>
      <p:sp>
        <p:nvSpPr>
          <p:cNvPr id="10" name="">
            <a:extLst xmlns:a="http://schemas.openxmlformats.org/drawingml/2006/main">
              <a:ext uri="{FF2B5EF4-FFF2-40B4-BE49-F238E27FC236}">
                <a16:creationId xmlns:a16="http://schemas.microsoft.com/office/drawing/2014/main" id="{4E373770-D488-459B-9897-8CB0AC6FE9D6}"/>
              </a:ext>
            </a:extLst>
          </p:cNvPr>
          <p:cNvSpPr>
            <a:spLocks xmlns:a="http://schemas.openxmlformats.org/drawingml/2006/main" noGrp="1"/>
          </p:cNvSpPr>
          <p:nvPr/>
        </p:nvSpPr>
        <p:spPr>
          <a:xfrm xmlns:a="http://schemas.openxmlformats.org/drawingml/2006/main">
            <a:off x="857250" y="3895725"/>
            <a:ext cx="95250" cy="95250"/>
          </a:xfrm>
          <a:prstGeom xmlns:a="http://schemas.openxmlformats.org/drawingml/2006/main" prst="roundRect">
            <a:avLst>
              <a:gd name="adj" fmla="val 50000"/>
            </a:avLst>
          </a:prstGeom>
          <a:solidFill xmlns:a="http://schemas.openxmlformats.org/drawingml/2006/main">
            <a:srgbClr val="FF6B4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CCFE527-B3A8-4895-9EC9-50A4BFE0A246}"/>
              </a:ext>
            </a:extLst>
          </p:cNvPr>
          <p:cNvSpPr>
            <a:spLocks xmlns:a="http://schemas.openxmlformats.org/drawingml/2006/main" noGrp="1"/>
          </p:cNvSpPr>
          <p:nvPr/>
        </p:nvSpPr>
        <p:spPr>
          <a:xfrm xmlns:a="http://schemas.openxmlformats.org/drawingml/2006/main">
            <a:off x="1123950" y="3829050"/>
            <a:ext cx="3733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575" b="0" i="0">
                <a:solidFill>
                  <a:srgbClr val="160B20"/>
                </a:solidFill>
                <a:latin typeface="Aptos"/>
                <a:ea typeface="Aptos"/>
                <a:cs typeface="Aptos"/>
              </a:defRPr>
            </a:pPr>
            <a:r>
              <a:rPr sz="1575" b="0" i="0">
                <a:solidFill>
                  <a:srgbClr val="160B20"/>
                </a:solidFill>
                <a:latin typeface="Aptos"/>
                <a:ea typeface="Aptos"/>
                <a:cs typeface="Aptos"/>
              </a:rPr>
              <a:t>APT and dpkg history</a:t>
            </a:r>
          </a:p>
        </p:txBody>
      </p:sp>
      <p:sp>
        <p:nvSpPr>
          <p:cNvPr id="12" name="">
            <a:extLst xmlns:a="http://schemas.openxmlformats.org/drawingml/2006/main">
              <a:ext uri="{FF2B5EF4-FFF2-40B4-BE49-F238E27FC236}">
                <a16:creationId xmlns:a16="http://schemas.microsoft.com/office/drawing/2014/main" id="{CF5D103C-DE2F-41F2-B63E-D20B7B56A44D}"/>
              </a:ext>
            </a:extLst>
          </p:cNvPr>
          <p:cNvSpPr>
            <a:spLocks xmlns:a="http://schemas.openxmlformats.org/drawingml/2006/main" noGrp="1"/>
          </p:cNvSpPr>
          <p:nvPr/>
        </p:nvSpPr>
        <p:spPr>
          <a:xfrm xmlns:a="http://schemas.openxmlformats.org/drawingml/2006/main">
            <a:off x="857250" y="4486275"/>
            <a:ext cx="95250" cy="95250"/>
          </a:xfrm>
          <a:prstGeom xmlns:a="http://schemas.openxmlformats.org/drawingml/2006/main" prst="roundRect">
            <a:avLst>
              <a:gd name="adj" fmla="val 50000"/>
            </a:avLst>
          </a:prstGeom>
          <a:solidFill xmlns:a="http://schemas.openxmlformats.org/drawingml/2006/main">
            <a:srgbClr val="FF6B4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18D7F36-9C4D-47E6-AF2F-9A4632E48B12}"/>
              </a:ext>
            </a:extLst>
          </p:cNvPr>
          <p:cNvSpPr>
            <a:spLocks xmlns:a="http://schemas.openxmlformats.org/drawingml/2006/main" noGrp="1"/>
          </p:cNvSpPr>
          <p:nvPr/>
        </p:nvSpPr>
        <p:spPr>
          <a:xfrm xmlns:a="http://schemas.openxmlformats.org/drawingml/2006/main">
            <a:off x="1123950" y="4419600"/>
            <a:ext cx="3733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575" b="0" i="0">
                <a:solidFill>
                  <a:srgbClr val="160B20"/>
                </a:solidFill>
                <a:latin typeface="Aptos"/>
                <a:ea typeface="Aptos"/>
                <a:cs typeface="Aptos"/>
              </a:defRPr>
            </a:pPr>
            <a:r>
              <a:rPr sz="1575" b="0" i="0">
                <a:solidFill>
                  <a:srgbClr val="160B20"/>
                </a:solidFill>
                <a:latin typeface="Aptos"/>
                <a:ea typeface="Aptos"/>
                <a:cs typeface="Aptos"/>
              </a:rPr>
              <a:t>Rotation changes filenames</a:t>
            </a:r>
          </a:p>
        </p:txBody>
      </p:sp>
      <p:sp>
        <p:nvSpPr>
          <p:cNvPr id="14" name="">
            <a:extLst xmlns:a="http://schemas.openxmlformats.org/drawingml/2006/main">
              <a:ext uri="{FF2B5EF4-FFF2-40B4-BE49-F238E27FC236}">
                <a16:creationId xmlns:a16="http://schemas.microsoft.com/office/drawing/2014/main" id="{5525F73E-92AB-4212-BBB8-D0D78AD5FCCE}"/>
              </a:ext>
            </a:extLst>
          </p:cNvPr>
          <p:cNvSpPr>
            <a:spLocks xmlns:a="http://schemas.openxmlformats.org/drawingml/2006/main" noGrp="1"/>
          </p:cNvSpPr>
          <p:nvPr/>
        </p:nvSpPr>
        <p:spPr>
          <a:xfrm xmlns:a="http://schemas.openxmlformats.org/drawingml/2006/main">
            <a:off x="5905500" y="1752600"/>
            <a:ext cx="19050" cy="3429000"/>
          </a:xfrm>
          <a:prstGeom xmlns:a="http://schemas.openxmlformats.org/drawingml/2006/main" prst="rect">
            <a:avLst/>
          </a:prstGeom>
          <a:solidFill xmlns:a="http://schemas.openxmlformats.org/drawingml/2006/main">
            <a:srgbClr val="DDD0E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9188BC8-0668-4B09-8524-5761D947E08B}"/>
              </a:ext>
            </a:extLst>
          </p:cNvPr>
          <p:cNvSpPr>
            <a:spLocks xmlns:a="http://schemas.openxmlformats.org/drawingml/2006/main" noGrp="1"/>
          </p:cNvSpPr>
          <p:nvPr/>
        </p:nvSpPr>
        <p:spPr>
          <a:xfrm xmlns:a="http://schemas.openxmlformats.org/drawingml/2006/main">
            <a:off x="6858000" y="18097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200" b="1" i="0">
                <a:solidFill>
                  <a:srgbClr val="8B5CF6"/>
                </a:solidFill>
                <a:latin typeface="Aptos"/>
                <a:ea typeface="Aptos"/>
                <a:cs typeface="Aptos"/>
              </a:defRPr>
            </a:pPr>
            <a:r>
              <a:rPr sz="1200" b="1" i="0">
                <a:solidFill>
                  <a:srgbClr val="8B5CF6"/>
                </a:solidFill>
                <a:latin typeface="Aptos"/>
                <a:ea typeface="Aptos"/>
                <a:cs typeface="Aptos"/>
              </a:rPr>
              <a:t>STRUCTURED JOURNAL</a:t>
            </a:r>
          </a:p>
        </p:txBody>
      </p:sp>
      <p:sp>
        <p:nvSpPr>
          <p:cNvPr id="16" name="">
            <a:extLst xmlns:a="http://schemas.openxmlformats.org/drawingml/2006/main">
              <a:ext uri="{FF2B5EF4-FFF2-40B4-BE49-F238E27FC236}">
                <a16:creationId xmlns:a16="http://schemas.microsoft.com/office/drawing/2014/main" id="{A6DBF586-1C43-4094-A3D8-CF5965F38039}"/>
              </a:ext>
            </a:extLst>
          </p:cNvPr>
          <p:cNvSpPr>
            <a:spLocks xmlns:a="http://schemas.openxmlformats.org/drawingml/2006/main" noGrp="1"/>
          </p:cNvSpPr>
          <p:nvPr/>
        </p:nvSpPr>
        <p:spPr>
          <a:xfrm xmlns:a="http://schemas.openxmlformats.org/drawingml/2006/main">
            <a:off x="6858000" y="2324100"/>
            <a:ext cx="4000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3150" b="1" i="0">
                <a:solidFill>
                  <a:srgbClr val="160B20"/>
                </a:solidFill>
                <a:latin typeface="Courier New"/>
                <a:ea typeface="Courier New"/>
                <a:cs typeface="Courier New"/>
              </a:defRPr>
            </a:pPr>
            <a:r>
              <a:rPr sz="3150" b="1" i="0">
                <a:solidFill>
                  <a:srgbClr val="160B20"/>
                </a:solidFill>
                <a:latin typeface="Courier New"/>
                <a:ea typeface="Courier New"/>
                <a:cs typeface="Courier New"/>
              </a:rPr>
              <a:t>journalctl</a:t>
            </a:r>
          </a:p>
        </p:txBody>
      </p:sp>
      <p:sp>
        <p:nvSpPr>
          <p:cNvPr id="17" name="">
            <a:extLst xmlns:a="http://schemas.openxmlformats.org/drawingml/2006/main">
              <a:ext uri="{FF2B5EF4-FFF2-40B4-BE49-F238E27FC236}">
                <a16:creationId xmlns:a16="http://schemas.microsoft.com/office/drawing/2014/main" id="{8CACFC2F-50CC-4F5A-9AAB-AD081DD3ED43}"/>
              </a:ext>
            </a:extLst>
          </p:cNvPr>
          <p:cNvSpPr>
            <a:spLocks xmlns:a="http://schemas.openxmlformats.org/drawingml/2006/main" noGrp="1"/>
          </p:cNvSpPr>
          <p:nvPr/>
        </p:nvSpPr>
        <p:spPr>
          <a:xfrm xmlns:a="http://schemas.openxmlformats.org/drawingml/2006/main">
            <a:off x="6858000" y="330517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C0F87D0-636E-4743-92E9-3E927234943B}"/>
              </a:ext>
            </a:extLst>
          </p:cNvPr>
          <p:cNvSpPr>
            <a:spLocks xmlns:a="http://schemas.openxmlformats.org/drawingml/2006/main" noGrp="1"/>
          </p:cNvSpPr>
          <p:nvPr/>
        </p:nvSpPr>
        <p:spPr>
          <a:xfrm xmlns:a="http://schemas.openxmlformats.org/drawingml/2006/main">
            <a:off x="7124700" y="3238500"/>
            <a:ext cx="3733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575" b="0" i="0">
                <a:solidFill>
                  <a:srgbClr val="160B20"/>
                </a:solidFill>
                <a:latin typeface="Aptos"/>
                <a:ea typeface="Aptos"/>
                <a:cs typeface="Aptos"/>
              </a:defRPr>
            </a:pPr>
            <a:r>
              <a:rPr sz="1575" b="0" i="0">
                <a:solidFill>
                  <a:srgbClr val="160B20"/>
                </a:solidFill>
                <a:latin typeface="Aptos"/>
                <a:ea typeface="Aptos"/>
                <a:cs typeface="Aptos"/>
              </a:rPr>
              <a:t>Unit, boot, PID, priority fields</a:t>
            </a:r>
          </a:p>
        </p:txBody>
      </p:sp>
      <p:sp>
        <p:nvSpPr>
          <p:cNvPr id="19" name="">
            <a:extLst xmlns:a="http://schemas.openxmlformats.org/drawingml/2006/main">
              <a:ext uri="{FF2B5EF4-FFF2-40B4-BE49-F238E27FC236}">
                <a16:creationId xmlns:a16="http://schemas.microsoft.com/office/drawing/2014/main" id="{176156F7-BCBA-48AD-B5C5-E930886FF3D2}"/>
              </a:ext>
            </a:extLst>
          </p:cNvPr>
          <p:cNvSpPr>
            <a:spLocks xmlns:a="http://schemas.openxmlformats.org/drawingml/2006/main" noGrp="1"/>
          </p:cNvSpPr>
          <p:nvPr/>
        </p:nvSpPr>
        <p:spPr>
          <a:xfrm xmlns:a="http://schemas.openxmlformats.org/drawingml/2006/main">
            <a:off x="6858000" y="389572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FC5F744-6540-478C-8AED-87E9EDED63F8}"/>
              </a:ext>
            </a:extLst>
          </p:cNvPr>
          <p:cNvSpPr>
            <a:spLocks xmlns:a="http://schemas.openxmlformats.org/drawingml/2006/main" noGrp="1"/>
          </p:cNvSpPr>
          <p:nvPr/>
        </p:nvSpPr>
        <p:spPr>
          <a:xfrm xmlns:a="http://schemas.openxmlformats.org/drawingml/2006/main">
            <a:off x="7124700" y="3829050"/>
            <a:ext cx="3733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575" b="0" i="0">
                <a:solidFill>
                  <a:srgbClr val="160B20"/>
                </a:solidFill>
                <a:latin typeface="Aptos"/>
                <a:ea typeface="Aptos"/>
                <a:cs typeface="Aptos"/>
              </a:defRPr>
            </a:pPr>
            <a:r>
              <a:rPr sz="1575" b="0" i="0">
                <a:solidFill>
                  <a:srgbClr val="160B20"/>
                </a:solidFill>
                <a:latin typeface="Aptos"/>
                <a:ea typeface="Aptos"/>
                <a:cs typeface="Aptos"/>
              </a:rPr>
              <a:t>Time-aware filtering</a:t>
            </a:r>
          </a:p>
        </p:txBody>
      </p:sp>
      <p:sp>
        <p:nvSpPr>
          <p:cNvPr id="21" name="">
            <a:extLst xmlns:a="http://schemas.openxmlformats.org/drawingml/2006/main">
              <a:ext uri="{FF2B5EF4-FFF2-40B4-BE49-F238E27FC236}">
                <a16:creationId xmlns:a16="http://schemas.microsoft.com/office/drawing/2014/main" id="{4AA07869-1132-43EE-8B0C-018A18621D74}"/>
              </a:ext>
            </a:extLst>
          </p:cNvPr>
          <p:cNvSpPr>
            <a:spLocks xmlns:a="http://schemas.openxmlformats.org/drawingml/2006/main" noGrp="1"/>
          </p:cNvSpPr>
          <p:nvPr/>
        </p:nvSpPr>
        <p:spPr>
          <a:xfrm xmlns:a="http://schemas.openxmlformats.org/drawingml/2006/main">
            <a:off x="6858000" y="448627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9024C10-FC97-4F18-98F5-660FF0F87C59}"/>
              </a:ext>
            </a:extLst>
          </p:cNvPr>
          <p:cNvSpPr>
            <a:spLocks xmlns:a="http://schemas.openxmlformats.org/drawingml/2006/main" noGrp="1"/>
          </p:cNvSpPr>
          <p:nvPr/>
        </p:nvSpPr>
        <p:spPr>
          <a:xfrm xmlns:a="http://schemas.openxmlformats.org/drawingml/2006/main">
            <a:off x="7124700" y="4419600"/>
            <a:ext cx="3733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575" b="0" i="0">
                <a:solidFill>
                  <a:srgbClr val="160B20"/>
                </a:solidFill>
                <a:latin typeface="Aptos"/>
                <a:ea typeface="Aptos"/>
                <a:cs typeface="Aptos"/>
              </a:defRPr>
            </a:pPr>
            <a:r>
              <a:rPr sz="1575" b="0" i="0">
                <a:solidFill>
                  <a:srgbClr val="160B20"/>
                </a:solidFill>
                <a:latin typeface="Aptos"/>
                <a:ea typeface="Aptos"/>
                <a:cs typeface="Aptos"/>
              </a:rPr>
              <a:t>May be volatile or persistent</a:t>
            </a:r>
          </a:p>
        </p:txBody>
      </p:sp>
      <p:sp>
        <p:nvSpPr>
          <p:cNvPr id="23" name="">
            <a:extLst xmlns:a="http://schemas.openxmlformats.org/drawingml/2006/main">
              <a:ext uri="{FF2B5EF4-FFF2-40B4-BE49-F238E27FC236}">
                <a16:creationId xmlns:a16="http://schemas.microsoft.com/office/drawing/2014/main" id="{E05D1450-B22E-45AA-B3C6-263D22A500B0}"/>
              </a:ext>
            </a:extLst>
          </p:cNvPr>
          <p:cNvSpPr>
            <a:spLocks xmlns:a="http://schemas.openxmlformats.org/drawingml/2006/main" noGrp="1"/>
          </p:cNvSpPr>
          <p:nvPr/>
        </p:nvSpPr>
        <p:spPr>
          <a:xfrm xmlns:a="http://schemas.openxmlformats.org/drawingml/2006/main">
            <a:off x="952500" y="55054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875" b="1" i="0">
                <a:solidFill>
                  <a:srgbClr val="8B5CF6"/>
                </a:solidFill>
                <a:latin typeface="Aptos"/>
                <a:ea typeface="Aptos"/>
                <a:cs typeface="Aptos"/>
              </a:defRPr>
            </a:pPr>
            <a:r>
              <a:rPr sz="1875" b="1" i="0">
                <a:solidFill>
                  <a:srgbClr val="8B5CF6"/>
                </a:solidFill>
                <a:latin typeface="Aptos"/>
                <a:ea typeface="Aptos"/>
                <a:cs typeface="Aptos"/>
              </a:rPr>
              <a:t>Start with the service and time window—not “all logs”.</a:t>
            </a:r>
          </a:p>
        </p:txBody>
      </p:sp>
    </p:spTree>
    <p:extLst>
      <p:ext uri="{BB962C8B-B14F-4D97-AF65-F5344CB8AC3E}">
        <p14:creationId xmlns:p14="http://schemas.microsoft.com/office/powerpoint/2010/main" val="1882871272"/>
      </p:ext>
    </p:extLst>
  </p:cSld>
</p:sld>
</file>

<file path=ppt/slides/slide25.xml><?xml version="1.0" encoding="utf-8"?>
<p:sld xmlns:p="http://schemas.openxmlformats.org/presentationml/2006/main">
  <p:cSld>
    <p:bg>
      <p:bgPr>
        <a:solidFill xmlns:a="http://schemas.openxmlformats.org/drawingml/2006/main">
          <a:srgbClr val="180D2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16BDE4B-77DF-48D4-A644-9ACE57CE3675}"/>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LOGS</a:t>
            </a:r>
          </a:p>
        </p:txBody>
      </p:sp>
      <p:sp>
        <p:nvSpPr>
          <p:cNvPr id="2" name="">
            <a:extLst xmlns:a="http://schemas.openxmlformats.org/drawingml/2006/main">
              <a:ext uri="{FF2B5EF4-FFF2-40B4-BE49-F238E27FC236}">
                <a16:creationId xmlns:a16="http://schemas.microsoft.com/office/drawing/2014/main" id="{5A2E5DEE-F618-4327-AD7B-D279D1BD4B6B}"/>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8EE"/>
                </a:solidFill>
                <a:latin typeface="Aptos"/>
                <a:ea typeface="Aptos"/>
                <a:cs typeface="Aptos"/>
              </a:defRPr>
            </a:pPr>
            <a:r>
              <a:rPr sz="3750" b="1" i="0">
                <a:solidFill>
                  <a:srgbClr val="FFF8EE"/>
                </a:solidFill>
                <a:latin typeface="Aptos"/>
                <a:ea typeface="Aptos"/>
                <a:cs typeface="Aptos"/>
              </a:rPr>
              <a:t>Filter the journal toward one answer</a:t>
            </a:r>
          </a:p>
        </p:txBody>
      </p:sp>
      <p:sp>
        <p:nvSpPr>
          <p:cNvPr id="3" name="">
            <a:extLst xmlns:a="http://schemas.openxmlformats.org/drawingml/2006/main">
              <a:ext uri="{FF2B5EF4-FFF2-40B4-BE49-F238E27FC236}">
                <a16:creationId xmlns:a16="http://schemas.microsoft.com/office/drawing/2014/main" id="{3B16A7E3-82A0-4E1A-A3A6-AA06EF104F67}"/>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3520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8AB3276-AE5D-4A28-A173-8FE09AB2FFD2}"/>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BFAFCB"/>
                </a:solidFill>
                <a:latin typeface="Aptos"/>
                <a:ea typeface="Aptos"/>
                <a:cs typeface="Aptos"/>
              </a:defRPr>
            </a:pPr>
            <a:r>
              <a:rPr sz="900" b="1" i="0">
                <a:solidFill>
                  <a:srgbClr val="BFAFCB"/>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10892764-5CBA-47F1-A3E5-876B40FF7AD7}"/>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C9B6FF"/>
                </a:solidFill>
                <a:latin typeface="Aptos"/>
                <a:ea typeface="Aptos"/>
                <a:cs typeface="Aptos"/>
              </a:defRPr>
            </a:pPr>
            <a:r>
              <a:rPr sz="1050" b="1" i="0">
                <a:solidFill>
                  <a:srgbClr val="C9B6FF"/>
                </a:solidFill>
                <a:latin typeface="Aptos"/>
                <a:ea typeface="Aptos"/>
                <a:cs typeface="Aptos"/>
              </a:rPr>
              <a:t>25</a:t>
            </a:r>
          </a:p>
        </p:txBody>
      </p:sp>
      <p:sp>
        <p:nvSpPr>
          <p:cNvPr id="6" name="">
            <a:extLst xmlns:a="http://schemas.openxmlformats.org/drawingml/2006/main">
              <a:ext uri="{FF2B5EF4-FFF2-40B4-BE49-F238E27FC236}">
                <a16:creationId xmlns:a16="http://schemas.microsoft.com/office/drawing/2014/main" id="{5C0D4547-8738-448F-8C1F-C667D46B54DD}"/>
              </a:ext>
            </a:extLst>
          </p:cNvPr>
          <p:cNvSpPr>
            <a:spLocks xmlns:a="http://schemas.openxmlformats.org/drawingml/2006/main" noGrp="1"/>
          </p:cNvSpPr>
          <p:nvPr/>
        </p:nvSpPr>
        <p:spPr>
          <a:xfrm xmlns:a="http://schemas.openxmlformats.org/drawingml/2006/main">
            <a:off x="857250" y="175260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1" i="0">
                <a:solidFill>
                  <a:srgbClr val="BFAFCB"/>
                </a:solidFill>
                <a:latin typeface="Aptos"/>
                <a:ea typeface="Aptos"/>
                <a:cs typeface="Aptos"/>
              </a:defRPr>
            </a:pPr>
            <a:r>
              <a:rPr sz="1650" b="1" i="0">
                <a:solidFill>
                  <a:srgbClr val="BFAFCB"/>
                </a:solidFill>
                <a:latin typeface="Aptos"/>
                <a:ea typeface="Aptos"/>
                <a:cs typeface="Aptos"/>
              </a:rPr>
              <a:t>Which service?</a:t>
            </a:r>
          </a:p>
        </p:txBody>
      </p:sp>
      <p:sp>
        <p:nvSpPr>
          <p:cNvPr id="7" name="">
            <a:extLst xmlns:a="http://schemas.openxmlformats.org/drawingml/2006/main">
              <a:ext uri="{FF2B5EF4-FFF2-40B4-BE49-F238E27FC236}">
                <a16:creationId xmlns:a16="http://schemas.microsoft.com/office/drawing/2014/main" id="{C71F5C20-E527-4094-8BE4-EF42F238343D}"/>
              </a:ext>
            </a:extLst>
          </p:cNvPr>
          <p:cNvSpPr>
            <a:spLocks xmlns:a="http://schemas.openxmlformats.org/drawingml/2006/main" noGrp="1"/>
          </p:cNvSpPr>
          <p:nvPr/>
        </p:nvSpPr>
        <p:spPr>
          <a:xfrm xmlns:a="http://schemas.openxmlformats.org/drawingml/2006/main">
            <a:off x="3714750" y="1752600"/>
            <a:ext cx="685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950" b="1" i="0">
                <a:solidFill>
                  <a:srgbClr val="FF6B4A"/>
                </a:solidFill>
                <a:latin typeface="Courier New"/>
                <a:ea typeface="Courier New"/>
                <a:cs typeface="Courier New"/>
              </a:defRPr>
            </a:pPr>
            <a:r>
              <a:rPr sz="1950" b="1" i="0">
                <a:solidFill>
                  <a:srgbClr val="FF6B4A"/>
                </a:solidFill>
                <a:latin typeface="Courier New"/>
                <a:ea typeface="Courier New"/>
                <a:cs typeface="Courier New"/>
              </a:rPr>
              <a:t>journalctl -u ssh</a:t>
            </a:r>
          </a:p>
        </p:txBody>
      </p:sp>
      <p:sp>
        <p:nvSpPr>
          <p:cNvPr id="8" name="">
            <a:extLst xmlns:a="http://schemas.openxmlformats.org/drawingml/2006/main">
              <a:ext uri="{FF2B5EF4-FFF2-40B4-BE49-F238E27FC236}">
                <a16:creationId xmlns:a16="http://schemas.microsoft.com/office/drawing/2014/main" id="{C39723C3-E35F-4B75-A3BC-8E355C4C7D70}"/>
              </a:ext>
            </a:extLst>
          </p:cNvPr>
          <p:cNvSpPr>
            <a:spLocks xmlns:a="http://schemas.openxmlformats.org/drawingml/2006/main" noGrp="1"/>
          </p:cNvSpPr>
          <p:nvPr/>
        </p:nvSpPr>
        <p:spPr>
          <a:xfrm xmlns:a="http://schemas.openxmlformats.org/drawingml/2006/main">
            <a:off x="857250" y="2228850"/>
            <a:ext cx="9715500" cy="9525"/>
          </a:xfrm>
          <a:prstGeom xmlns:a="http://schemas.openxmlformats.org/drawingml/2006/main" prst="rect">
            <a:avLst/>
          </a:prstGeom>
          <a:solidFill xmlns:a="http://schemas.openxmlformats.org/drawingml/2006/main">
            <a:srgbClr val="4A335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B4E5C10-B477-4DF5-9DEF-D3AE2C21528F}"/>
              </a:ext>
            </a:extLst>
          </p:cNvPr>
          <p:cNvSpPr>
            <a:spLocks xmlns:a="http://schemas.openxmlformats.org/drawingml/2006/main" noGrp="1"/>
          </p:cNvSpPr>
          <p:nvPr/>
        </p:nvSpPr>
        <p:spPr>
          <a:xfrm xmlns:a="http://schemas.openxmlformats.org/drawingml/2006/main">
            <a:off x="857250" y="24955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1" i="0">
                <a:solidFill>
                  <a:srgbClr val="BFAFCB"/>
                </a:solidFill>
                <a:latin typeface="Aptos"/>
                <a:ea typeface="Aptos"/>
                <a:cs typeface="Aptos"/>
              </a:defRPr>
            </a:pPr>
            <a:r>
              <a:rPr sz="1650" b="1" i="0">
                <a:solidFill>
                  <a:srgbClr val="BFAFCB"/>
                </a:solidFill>
                <a:latin typeface="Aptos"/>
                <a:ea typeface="Aptos"/>
                <a:cs typeface="Aptos"/>
              </a:rPr>
              <a:t>Which time?</a:t>
            </a:r>
          </a:p>
        </p:txBody>
      </p:sp>
      <p:sp>
        <p:nvSpPr>
          <p:cNvPr id="10" name="">
            <a:extLst xmlns:a="http://schemas.openxmlformats.org/drawingml/2006/main">
              <a:ext uri="{FF2B5EF4-FFF2-40B4-BE49-F238E27FC236}">
                <a16:creationId xmlns:a16="http://schemas.microsoft.com/office/drawing/2014/main" id="{5A2460A2-7FF7-4B14-A68E-060B14C7E3B6}"/>
              </a:ext>
            </a:extLst>
          </p:cNvPr>
          <p:cNvSpPr>
            <a:spLocks xmlns:a="http://schemas.openxmlformats.org/drawingml/2006/main" noGrp="1"/>
          </p:cNvSpPr>
          <p:nvPr/>
        </p:nvSpPr>
        <p:spPr>
          <a:xfrm xmlns:a="http://schemas.openxmlformats.org/drawingml/2006/main">
            <a:off x="3714750" y="2495550"/>
            <a:ext cx="685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950" b="1" i="0">
                <a:solidFill>
                  <a:srgbClr val="C9B6FF"/>
                </a:solidFill>
                <a:latin typeface="Courier New"/>
                <a:ea typeface="Courier New"/>
                <a:cs typeface="Courier New"/>
              </a:defRPr>
            </a:pPr>
            <a:r>
              <a:rPr sz="1950" b="1" i="0">
                <a:solidFill>
                  <a:srgbClr val="C9B6FF"/>
                </a:solidFill>
                <a:latin typeface="Courier New"/>
                <a:ea typeface="Courier New"/>
                <a:cs typeface="Courier New"/>
              </a:rPr>
              <a:t>--since "-10 min"</a:t>
            </a:r>
          </a:p>
        </p:txBody>
      </p:sp>
      <p:sp>
        <p:nvSpPr>
          <p:cNvPr id="11" name="">
            <a:extLst xmlns:a="http://schemas.openxmlformats.org/drawingml/2006/main">
              <a:ext uri="{FF2B5EF4-FFF2-40B4-BE49-F238E27FC236}">
                <a16:creationId xmlns:a16="http://schemas.microsoft.com/office/drawing/2014/main" id="{4B87832B-73F7-4322-94CC-B6A2F801BC6A}"/>
              </a:ext>
            </a:extLst>
          </p:cNvPr>
          <p:cNvSpPr>
            <a:spLocks xmlns:a="http://schemas.openxmlformats.org/drawingml/2006/main" noGrp="1"/>
          </p:cNvSpPr>
          <p:nvPr/>
        </p:nvSpPr>
        <p:spPr>
          <a:xfrm xmlns:a="http://schemas.openxmlformats.org/drawingml/2006/main">
            <a:off x="857250" y="2971800"/>
            <a:ext cx="9715500" cy="9525"/>
          </a:xfrm>
          <a:prstGeom xmlns:a="http://schemas.openxmlformats.org/drawingml/2006/main" prst="rect">
            <a:avLst/>
          </a:prstGeom>
          <a:solidFill xmlns:a="http://schemas.openxmlformats.org/drawingml/2006/main">
            <a:srgbClr val="4A335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AA103CD-2112-414D-A88D-1F486E432F1A}"/>
              </a:ext>
            </a:extLst>
          </p:cNvPr>
          <p:cNvSpPr>
            <a:spLocks xmlns:a="http://schemas.openxmlformats.org/drawingml/2006/main" noGrp="1"/>
          </p:cNvSpPr>
          <p:nvPr/>
        </p:nvSpPr>
        <p:spPr>
          <a:xfrm xmlns:a="http://schemas.openxmlformats.org/drawingml/2006/main">
            <a:off x="857250" y="323850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1" i="0">
                <a:solidFill>
                  <a:srgbClr val="BFAFCB"/>
                </a:solidFill>
                <a:latin typeface="Aptos"/>
                <a:ea typeface="Aptos"/>
                <a:cs typeface="Aptos"/>
              </a:defRPr>
            </a:pPr>
            <a:r>
              <a:rPr sz="1650" b="1" i="0">
                <a:solidFill>
                  <a:srgbClr val="BFAFCB"/>
                </a:solidFill>
                <a:latin typeface="Aptos"/>
                <a:ea typeface="Aptos"/>
                <a:cs typeface="Aptos"/>
              </a:rPr>
              <a:t>Which severity?</a:t>
            </a:r>
          </a:p>
        </p:txBody>
      </p:sp>
      <p:sp>
        <p:nvSpPr>
          <p:cNvPr id="13" name="">
            <a:extLst xmlns:a="http://schemas.openxmlformats.org/drawingml/2006/main">
              <a:ext uri="{FF2B5EF4-FFF2-40B4-BE49-F238E27FC236}">
                <a16:creationId xmlns:a16="http://schemas.microsoft.com/office/drawing/2014/main" id="{D4A417F6-F4BF-4CAD-809D-639B1C7F98B2}"/>
              </a:ext>
            </a:extLst>
          </p:cNvPr>
          <p:cNvSpPr>
            <a:spLocks xmlns:a="http://schemas.openxmlformats.org/drawingml/2006/main" noGrp="1"/>
          </p:cNvSpPr>
          <p:nvPr/>
        </p:nvSpPr>
        <p:spPr>
          <a:xfrm xmlns:a="http://schemas.openxmlformats.org/drawingml/2006/main">
            <a:off x="3714750" y="3238500"/>
            <a:ext cx="685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950" b="1" i="0">
                <a:solidFill>
                  <a:srgbClr val="C9B6FF"/>
                </a:solidFill>
                <a:latin typeface="Courier New"/>
                <a:ea typeface="Courier New"/>
                <a:cs typeface="Courier New"/>
              </a:defRPr>
            </a:pPr>
            <a:r>
              <a:rPr sz="1950" b="1" i="0">
                <a:solidFill>
                  <a:srgbClr val="C9B6FF"/>
                </a:solidFill>
                <a:latin typeface="Courier New"/>
                <a:ea typeface="Courier New"/>
                <a:cs typeface="Courier New"/>
              </a:rPr>
              <a:t>-p warning</a:t>
            </a:r>
          </a:p>
        </p:txBody>
      </p:sp>
      <p:sp>
        <p:nvSpPr>
          <p:cNvPr id="14" name="">
            <a:extLst xmlns:a="http://schemas.openxmlformats.org/drawingml/2006/main">
              <a:ext uri="{FF2B5EF4-FFF2-40B4-BE49-F238E27FC236}">
                <a16:creationId xmlns:a16="http://schemas.microsoft.com/office/drawing/2014/main" id="{E0EEB404-CFF0-451B-A4D6-54AEC600A809}"/>
              </a:ext>
            </a:extLst>
          </p:cNvPr>
          <p:cNvSpPr>
            <a:spLocks xmlns:a="http://schemas.openxmlformats.org/drawingml/2006/main" noGrp="1"/>
          </p:cNvSpPr>
          <p:nvPr/>
        </p:nvSpPr>
        <p:spPr>
          <a:xfrm xmlns:a="http://schemas.openxmlformats.org/drawingml/2006/main">
            <a:off x="857250" y="3714750"/>
            <a:ext cx="9715500" cy="9525"/>
          </a:xfrm>
          <a:prstGeom xmlns:a="http://schemas.openxmlformats.org/drawingml/2006/main" prst="rect">
            <a:avLst/>
          </a:prstGeom>
          <a:solidFill xmlns:a="http://schemas.openxmlformats.org/drawingml/2006/main">
            <a:srgbClr val="4A335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65D20DD-B3E6-4489-8FF5-87AD80B2C29F}"/>
              </a:ext>
            </a:extLst>
          </p:cNvPr>
          <p:cNvSpPr>
            <a:spLocks xmlns:a="http://schemas.openxmlformats.org/drawingml/2006/main" noGrp="1"/>
          </p:cNvSpPr>
          <p:nvPr/>
        </p:nvSpPr>
        <p:spPr>
          <a:xfrm xmlns:a="http://schemas.openxmlformats.org/drawingml/2006/main">
            <a:off x="857250" y="39814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1" i="0">
                <a:solidFill>
                  <a:srgbClr val="BFAFCB"/>
                </a:solidFill>
                <a:latin typeface="Aptos"/>
                <a:ea typeface="Aptos"/>
                <a:cs typeface="Aptos"/>
              </a:defRPr>
            </a:pPr>
            <a:r>
              <a:rPr sz="1650" b="1" i="0">
                <a:solidFill>
                  <a:srgbClr val="BFAFCB"/>
                </a:solidFill>
                <a:latin typeface="Aptos"/>
                <a:ea typeface="Aptos"/>
                <a:cs typeface="Aptos"/>
              </a:rPr>
              <a:t>How much?</a:t>
            </a:r>
          </a:p>
        </p:txBody>
      </p:sp>
      <p:sp>
        <p:nvSpPr>
          <p:cNvPr id="16" name="">
            <a:extLst xmlns:a="http://schemas.openxmlformats.org/drawingml/2006/main">
              <a:ext uri="{FF2B5EF4-FFF2-40B4-BE49-F238E27FC236}">
                <a16:creationId xmlns:a16="http://schemas.microsoft.com/office/drawing/2014/main" id="{937BE1CE-8DFD-4F65-8018-327541773F93}"/>
              </a:ext>
            </a:extLst>
          </p:cNvPr>
          <p:cNvSpPr>
            <a:spLocks xmlns:a="http://schemas.openxmlformats.org/drawingml/2006/main" noGrp="1"/>
          </p:cNvSpPr>
          <p:nvPr/>
        </p:nvSpPr>
        <p:spPr>
          <a:xfrm xmlns:a="http://schemas.openxmlformats.org/drawingml/2006/main">
            <a:off x="3714750" y="3981450"/>
            <a:ext cx="685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950" b="1" i="0">
                <a:solidFill>
                  <a:srgbClr val="C9B6FF"/>
                </a:solidFill>
                <a:latin typeface="Courier New"/>
                <a:ea typeface="Courier New"/>
                <a:cs typeface="Courier New"/>
              </a:defRPr>
            </a:pPr>
            <a:r>
              <a:rPr sz="1950" b="1" i="0">
                <a:solidFill>
                  <a:srgbClr val="C9B6FF"/>
                </a:solidFill>
                <a:latin typeface="Courier New"/>
                <a:ea typeface="Courier New"/>
                <a:cs typeface="Courier New"/>
              </a:rPr>
              <a:t>-n 50 --no-pager</a:t>
            </a:r>
          </a:p>
        </p:txBody>
      </p:sp>
      <p:sp>
        <p:nvSpPr>
          <p:cNvPr id="17" name="">
            <a:extLst xmlns:a="http://schemas.openxmlformats.org/drawingml/2006/main">
              <a:ext uri="{FF2B5EF4-FFF2-40B4-BE49-F238E27FC236}">
                <a16:creationId xmlns:a16="http://schemas.microsoft.com/office/drawing/2014/main" id="{847A4EA3-A79E-4803-9454-FEE092EF295C}"/>
              </a:ext>
            </a:extLst>
          </p:cNvPr>
          <p:cNvSpPr>
            <a:spLocks xmlns:a="http://schemas.openxmlformats.org/drawingml/2006/main" noGrp="1"/>
          </p:cNvSpPr>
          <p:nvPr/>
        </p:nvSpPr>
        <p:spPr>
          <a:xfrm xmlns:a="http://schemas.openxmlformats.org/drawingml/2006/main">
            <a:off x="857250" y="4457700"/>
            <a:ext cx="9715500" cy="9525"/>
          </a:xfrm>
          <a:prstGeom xmlns:a="http://schemas.openxmlformats.org/drawingml/2006/main" prst="rect">
            <a:avLst/>
          </a:prstGeom>
          <a:solidFill xmlns:a="http://schemas.openxmlformats.org/drawingml/2006/main">
            <a:srgbClr val="4A335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A2CFBF5-1C03-4F83-95E8-8A565DF4721C}"/>
              </a:ext>
            </a:extLst>
          </p:cNvPr>
          <p:cNvSpPr>
            <a:spLocks xmlns:a="http://schemas.openxmlformats.org/drawingml/2006/main" noGrp="1"/>
          </p:cNvSpPr>
          <p:nvPr/>
        </p:nvSpPr>
        <p:spPr>
          <a:xfrm xmlns:a="http://schemas.openxmlformats.org/drawingml/2006/main">
            <a:off x="857250" y="472440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1" i="0">
                <a:solidFill>
                  <a:srgbClr val="BFAFCB"/>
                </a:solidFill>
                <a:latin typeface="Aptos"/>
                <a:ea typeface="Aptos"/>
                <a:cs typeface="Aptos"/>
              </a:defRPr>
            </a:pPr>
            <a:r>
              <a:rPr sz="1650" b="1" i="0">
                <a:solidFill>
                  <a:srgbClr val="BFAFCB"/>
                </a:solidFill>
                <a:latin typeface="Aptos"/>
                <a:ea typeface="Aptos"/>
                <a:cs typeface="Aptos"/>
              </a:rPr>
              <a:t>Live?</a:t>
            </a:r>
          </a:p>
        </p:txBody>
      </p:sp>
      <p:sp>
        <p:nvSpPr>
          <p:cNvPr id="19" name="">
            <a:extLst xmlns:a="http://schemas.openxmlformats.org/drawingml/2006/main">
              <a:ext uri="{FF2B5EF4-FFF2-40B4-BE49-F238E27FC236}">
                <a16:creationId xmlns:a16="http://schemas.microsoft.com/office/drawing/2014/main" id="{FE4D2FCB-305A-49CE-8BAF-B6C7EF023E0F}"/>
              </a:ext>
            </a:extLst>
          </p:cNvPr>
          <p:cNvSpPr>
            <a:spLocks xmlns:a="http://schemas.openxmlformats.org/drawingml/2006/main" noGrp="1"/>
          </p:cNvSpPr>
          <p:nvPr/>
        </p:nvSpPr>
        <p:spPr>
          <a:xfrm xmlns:a="http://schemas.openxmlformats.org/drawingml/2006/main">
            <a:off x="3714750" y="4724400"/>
            <a:ext cx="685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950" b="1" i="0">
                <a:solidFill>
                  <a:srgbClr val="C9B6FF"/>
                </a:solidFill>
                <a:latin typeface="Courier New"/>
                <a:ea typeface="Courier New"/>
                <a:cs typeface="Courier New"/>
              </a:defRPr>
            </a:pPr>
            <a:r>
              <a:rPr sz="1950" b="1" i="0">
                <a:solidFill>
                  <a:srgbClr val="C9B6FF"/>
                </a:solidFill>
                <a:latin typeface="Courier New"/>
                <a:ea typeface="Courier New"/>
                <a:cs typeface="Courier New"/>
              </a:rPr>
              <a:t>-f</a:t>
            </a:r>
          </a:p>
        </p:txBody>
      </p:sp>
      <p:sp>
        <p:nvSpPr>
          <p:cNvPr id="20" name="">
            <a:extLst xmlns:a="http://schemas.openxmlformats.org/drawingml/2006/main">
              <a:ext uri="{FF2B5EF4-FFF2-40B4-BE49-F238E27FC236}">
                <a16:creationId xmlns:a16="http://schemas.microsoft.com/office/drawing/2014/main" id="{0449BAA3-446A-44E3-88D9-C09EDD50D631}"/>
              </a:ext>
            </a:extLst>
          </p:cNvPr>
          <p:cNvSpPr>
            <a:spLocks xmlns:a="http://schemas.openxmlformats.org/drawingml/2006/main" noGrp="1"/>
          </p:cNvSpPr>
          <p:nvPr/>
        </p:nvSpPr>
        <p:spPr>
          <a:xfrm xmlns:a="http://schemas.openxmlformats.org/drawingml/2006/main">
            <a:off x="857250" y="5200650"/>
            <a:ext cx="9715500" cy="9525"/>
          </a:xfrm>
          <a:prstGeom xmlns:a="http://schemas.openxmlformats.org/drawingml/2006/main" prst="rect">
            <a:avLst/>
          </a:prstGeom>
          <a:solidFill xmlns:a="http://schemas.openxmlformats.org/drawingml/2006/main">
            <a:srgbClr val="4A335D"/>
          </a:solidFill>
          <a:ln xmlns:a="http://schemas.openxmlformats.org/drawingml/2006/main" w="0">
            <a:noFill/>
            <a:prstDash val="solid"/>
          </a:ln>
        </p:spPr>
      </p:sp>
    </p:spTree>
    <p:extLst>
      <p:ext uri="{BB962C8B-B14F-4D97-AF65-F5344CB8AC3E}">
        <p14:creationId xmlns:p14="http://schemas.microsoft.com/office/powerpoint/2010/main" val="190799599"/>
      </p:ext>
    </p:extLst>
  </p:cSld>
</p:sld>
</file>

<file path=ppt/slides/slide26.xml><?xml version="1.0" encoding="utf-8"?>
<p:sld xmlns:p="http://schemas.openxmlformats.org/presentationml/2006/main">
  <p:cSld>
    <p:bg>
      <p:bgPr>
        <a:solidFill xmlns:a="http://schemas.openxmlformats.org/drawingml/2006/main">
          <a:srgbClr val="180D24"/>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95E451A-A361-49E3-9DEB-D569AC6F6486}"/>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DEMO 4</a:t>
            </a:r>
          </a:p>
        </p:txBody>
      </p:sp>
      <p:sp>
        <p:nvSpPr>
          <p:cNvPr id="2" name="">
            <a:extLst xmlns:a="http://schemas.openxmlformats.org/drawingml/2006/main">
              <a:ext uri="{FF2B5EF4-FFF2-40B4-BE49-F238E27FC236}">
                <a16:creationId xmlns:a16="http://schemas.microsoft.com/office/drawing/2014/main" id="{4FBF596B-6E7E-455E-84BA-F4A643FCC01E}"/>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8EE"/>
                </a:solidFill>
                <a:latin typeface="Aptos"/>
                <a:ea typeface="Aptos"/>
                <a:cs typeface="Aptos"/>
              </a:defRPr>
            </a:pPr>
            <a:r>
              <a:rPr sz="3750" b="1" i="0">
                <a:solidFill>
                  <a:srgbClr val="FFF8EE"/>
                </a:solidFill>
                <a:latin typeface="Aptos"/>
                <a:ea typeface="Aptos"/>
                <a:cs typeface="Aptos"/>
              </a:rPr>
              <a:t>Live demo: ask the journal a smaller question</a:t>
            </a:r>
          </a:p>
        </p:txBody>
      </p:sp>
      <p:sp>
        <p:nvSpPr>
          <p:cNvPr id="3" name="">
            <a:extLst xmlns:a="http://schemas.openxmlformats.org/drawingml/2006/main">
              <a:ext uri="{FF2B5EF4-FFF2-40B4-BE49-F238E27FC236}">
                <a16:creationId xmlns:a16="http://schemas.microsoft.com/office/drawing/2014/main" id="{473BCCE3-F442-4F23-BD63-64849657CBE4}"/>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3520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EEAD1FF-97F6-4791-A89A-7B45733BA3C7}"/>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BFAFCB"/>
                </a:solidFill>
                <a:latin typeface="Aptos"/>
                <a:ea typeface="Aptos"/>
                <a:cs typeface="Aptos"/>
              </a:defRPr>
            </a:pPr>
            <a:r>
              <a:rPr sz="900" b="1" i="0">
                <a:solidFill>
                  <a:srgbClr val="BFAFCB"/>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5052089F-C58C-4904-A98F-1987A7FD8C3F}"/>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C9B6FF"/>
                </a:solidFill>
                <a:latin typeface="Aptos"/>
                <a:ea typeface="Aptos"/>
                <a:cs typeface="Aptos"/>
              </a:defRPr>
            </a:pPr>
            <a:r>
              <a:rPr sz="1050" b="1" i="0">
                <a:solidFill>
                  <a:srgbClr val="C9B6FF"/>
                </a:solidFill>
                <a:latin typeface="Aptos"/>
                <a:ea typeface="Aptos"/>
                <a:cs typeface="Aptos"/>
              </a:rPr>
              <a:t>26</a:t>
            </a:r>
          </a:p>
        </p:txBody>
      </p:sp>
      <p:sp>
        <p:nvSpPr>
          <p:cNvPr id="6" name="">
            <a:extLst xmlns:a="http://schemas.openxmlformats.org/drawingml/2006/main">
              <a:ext uri="{FF2B5EF4-FFF2-40B4-BE49-F238E27FC236}">
                <a16:creationId xmlns:a16="http://schemas.microsoft.com/office/drawing/2014/main" id="{03D4919D-3C6B-4B56-96B2-D1EE9FA8F034}"/>
              </a:ext>
            </a:extLst>
          </p:cNvPr>
          <p:cNvSpPr>
            <a:spLocks xmlns:a="http://schemas.openxmlformats.org/drawingml/2006/main" noGrp="1"/>
          </p:cNvSpPr>
          <p:nvPr/>
        </p:nvSpPr>
        <p:spPr>
          <a:xfrm xmlns:a="http://schemas.openxmlformats.org/drawingml/2006/main">
            <a:off x="876300" y="1752600"/>
            <a:ext cx="10439400" cy="3295650"/>
          </a:xfrm>
          <a:prstGeom xmlns:a="http://schemas.openxmlformats.org/drawingml/2006/main" prst="roundRect">
            <a:avLst>
              <a:gd name="adj" fmla="val 4624"/>
            </a:avLst>
          </a:prstGeom>
          <a:solidFill xmlns:a="http://schemas.openxmlformats.org/drawingml/2006/main">
            <a:srgbClr val="28183A"/>
          </a:solidFill>
          <a:ln xmlns:a="http://schemas.openxmlformats.org/drawingml/2006/main" w="9525">
            <a:solidFill>
              <a:srgbClr val="4A335D"/>
            </a:solidFill>
            <a:prstDash val="solid"/>
          </a:ln>
        </p:spPr>
      </p:sp>
      <p:sp>
        <p:nvSpPr>
          <p:cNvPr id="7" name="">
            <a:extLst xmlns:a="http://schemas.openxmlformats.org/drawingml/2006/main">
              <a:ext uri="{FF2B5EF4-FFF2-40B4-BE49-F238E27FC236}">
                <a16:creationId xmlns:a16="http://schemas.microsoft.com/office/drawing/2014/main" id="{73F98162-D602-4D41-9DB4-3B5135B31560}"/>
              </a:ext>
            </a:extLst>
          </p:cNvPr>
          <p:cNvSpPr>
            <a:spLocks xmlns:a="http://schemas.openxmlformats.org/drawingml/2006/main" noGrp="1"/>
          </p:cNvSpPr>
          <p:nvPr/>
        </p:nvSpPr>
        <p:spPr>
          <a:xfrm xmlns:a="http://schemas.openxmlformats.org/drawingml/2006/main">
            <a:off x="876300" y="1752600"/>
            <a:ext cx="10439400" cy="400050"/>
          </a:xfrm>
          <a:prstGeom xmlns:a="http://schemas.openxmlformats.org/drawingml/2006/main" prst="roundRect">
            <a:avLst>
              <a:gd name="adj" fmla="val 38095"/>
            </a:avLst>
          </a:prstGeom>
          <a:solidFill xmlns:a="http://schemas.openxmlformats.org/drawingml/2006/main">
            <a:srgbClr val="21122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DFEB084-8873-4E6D-B64A-B2C241C106D5}"/>
              </a:ext>
            </a:extLst>
          </p:cNvPr>
          <p:cNvSpPr>
            <a:spLocks xmlns:a="http://schemas.openxmlformats.org/drawingml/2006/main" noGrp="1"/>
          </p:cNvSpPr>
          <p:nvPr/>
        </p:nvSpPr>
        <p:spPr>
          <a:xfrm xmlns:a="http://schemas.openxmlformats.org/drawingml/2006/main">
            <a:off x="876300" y="2019300"/>
            <a:ext cx="10439400" cy="133350"/>
          </a:xfrm>
          <a:prstGeom xmlns:a="http://schemas.openxmlformats.org/drawingml/2006/main" prst="rect">
            <a:avLst/>
          </a:prstGeom>
          <a:solidFill xmlns:a="http://schemas.openxmlformats.org/drawingml/2006/main">
            <a:srgbClr val="21122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1BFF759-1810-40E8-AABE-2CA8460A8B7A}"/>
              </a:ext>
            </a:extLst>
          </p:cNvPr>
          <p:cNvSpPr>
            <a:spLocks xmlns:a="http://schemas.openxmlformats.org/drawingml/2006/main" noGrp="1"/>
          </p:cNvSpPr>
          <p:nvPr/>
        </p:nvSpPr>
        <p:spPr>
          <a:xfrm xmlns:a="http://schemas.openxmlformats.org/drawingml/2006/main">
            <a:off x="1047750" y="1905000"/>
            <a:ext cx="95250" cy="95250"/>
          </a:xfrm>
          <a:prstGeom xmlns:a="http://schemas.openxmlformats.org/drawingml/2006/main" prst="roundRect">
            <a:avLst>
              <a:gd name="adj" fmla="val 50000"/>
            </a:avLst>
          </a:prstGeom>
          <a:solidFill xmlns:a="http://schemas.openxmlformats.org/drawingml/2006/main">
            <a:srgbClr val="FF7B7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33C6EBC-4E0D-4B03-8318-D7180DABE34F}"/>
              </a:ext>
            </a:extLst>
          </p:cNvPr>
          <p:cNvSpPr>
            <a:spLocks xmlns:a="http://schemas.openxmlformats.org/drawingml/2006/main" noGrp="1"/>
          </p:cNvSpPr>
          <p:nvPr/>
        </p:nvSpPr>
        <p:spPr>
          <a:xfrm xmlns:a="http://schemas.openxmlformats.org/drawingml/2006/main">
            <a:off x="1219200" y="1905000"/>
            <a:ext cx="95250" cy="95250"/>
          </a:xfrm>
          <a:prstGeom xmlns:a="http://schemas.openxmlformats.org/drawingml/2006/main" prst="roundRect">
            <a:avLst>
              <a:gd name="adj" fmla="val 50000"/>
            </a:avLst>
          </a:prstGeom>
          <a:solidFill xmlns:a="http://schemas.openxmlformats.org/drawingml/2006/main">
            <a:srgbClr val="FFC66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A08CABC-E112-41D2-BFF1-CE78E76631F1}"/>
              </a:ext>
            </a:extLst>
          </p:cNvPr>
          <p:cNvSpPr>
            <a:spLocks xmlns:a="http://schemas.openxmlformats.org/drawingml/2006/main" noGrp="1"/>
          </p:cNvSpPr>
          <p:nvPr/>
        </p:nvSpPr>
        <p:spPr>
          <a:xfrm xmlns:a="http://schemas.openxmlformats.org/drawingml/2006/main">
            <a:off x="1390650" y="1905000"/>
            <a:ext cx="95250" cy="95250"/>
          </a:xfrm>
          <a:prstGeom xmlns:a="http://schemas.openxmlformats.org/drawingml/2006/main" prst="roundRect">
            <a:avLst>
              <a:gd name="adj" fmla="val 50000"/>
            </a:avLst>
          </a:prstGeom>
          <a:solidFill xmlns:a="http://schemas.openxmlformats.org/drawingml/2006/main">
            <a:srgbClr val="70D6A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E3D8EF2-4881-4FBF-8B3F-400AA3AFF4AD}"/>
              </a:ext>
            </a:extLst>
          </p:cNvPr>
          <p:cNvSpPr>
            <a:spLocks xmlns:a="http://schemas.openxmlformats.org/drawingml/2006/main" noGrp="1"/>
          </p:cNvSpPr>
          <p:nvPr/>
        </p:nvSpPr>
        <p:spPr>
          <a:xfrm xmlns:a="http://schemas.openxmlformats.org/drawingml/2006/main">
            <a:off x="1657350" y="1866900"/>
            <a:ext cx="9486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FF6B4A"/>
                </a:solidFill>
                <a:latin typeface="Aptos"/>
                <a:ea typeface="Aptos"/>
                <a:cs typeface="Aptos"/>
              </a:defRPr>
            </a:pPr>
            <a:r>
              <a:rPr sz="900" b="1" i="0">
                <a:solidFill>
                  <a:srgbClr val="FF6B4A"/>
                </a:solidFill>
                <a:latin typeface="Aptos"/>
                <a:ea typeface="Aptos"/>
                <a:cs typeface="Aptos"/>
              </a:rPr>
              <a:t>UNIT → TIME → PRIORITY → FOLLOW</a:t>
            </a:r>
          </a:p>
        </p:txBody>
      </p:sp>
      <p:sp>
        <p:nvSpPr>
          <p:cNvPr id="13" name="">
            <a:extLst xmlns:a="http://schemas.openxmlformats.org/drawingml/2006/main">
              <a:ext uri="{FF2B5EF4-FFF2-40B4-BE49-F238E27FC236}">
                <a16:creationId xmlns:a16="http://schemas.microsoft.com/office/drawing/2014/main" id="{5A4E6BBE-8FA1-4430-A56C-AA7F592937E7}"/>
              </a:ext>
            </a:extLst>
          </p:cNvPr>
          <p:cNvSpPr>
            <a:spLocks xmlns:a="http://schemas.openxmlformats.org/drawingml/2006/main" noGrp="1"/>
          </p:cNvSpPr>
          <p:nvPr/>
        </p:nvSpPr>
        <p:spPr>
          <a:xfrm xmlns:a="http://schemas.openxmlformats.org/drawingml/2006/main">
            <a:off x="1104900" y="2324100"/>
            <a:ext cx="99822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sudo systemctl restart ssh</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systemctl status ssh --no-pager</a:t>
            </a:r>
          </a:p>
          <a:p xmlns:a="http://schemas.openxmlformats.org/drawingml/2006/main">
            <a:r>
              <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sudo journalctl -u ssh -n 10 --no-pager</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sudo journalctl -u ssh --since "-5 min" -p warning --no-pager</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sudo journalctl -u ssh -f</a:t>
            </a:r>
          </a:p>
        </p:txBody>
      </p:sp>
      <p:sp>
        <p:nvSpPr>
          <p:cNvPr id="14" name="">
            <a:extLst xmlns:a="http://schemas.openxmlformats.org/drawingml/2006/main">
              <a:ext uri="{FF2B5EF4-FFF2-40B4-BE49-F238E27FC236}">
                <a16:creationId xmlns:a16="http://schemas.microsoft.com/office/drawing/2014/main" id="{E4DE4CEC-2102-4E2B-80AF-4023CE7A4E40}"/>
              </a:ext>
            </a:extLst>
          </p:cNvPr>
          <p:cNvSpPr>
            <a:spLocks xmlns:a="http://schemas.openxmlformats.org/drawingml/2006/main" noGrp="1"/>
          </p:cNvSpPr>
          <p:nvPr/>
        </p:nvSpPr>
        <p:spPr>
          <a:xfrm xmlns:a="http://schemas.openxmlformats.org/drawingml/2006/main">
            <a:off x="876300" y="5429250"/>
            <a:ext cx="10439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2025" b="1" i="0">
                <a:solidFill>
                  <a:srgbClr val="70D6A6"/>
                </a:solidFill>
                <a:latin typeface="Aptos"/>
                <a:ea typeface="Aptos"/>
                <a:cs typeface="Aptos"/>
              </a:defRPr>
            </a:pPr>
            <a:r>
              <a:rPr sz="2025" b="1" i="0">
                <a:solidFill>
                  <a:srgbClr val="70D6A6"/>
                </a:solidFill>
                <a:latin typeface="Aptos"/>
                <a:ea typeface="Aptos"/>
                <a:cs typeface="Aptos"/>
              </a:rPr>
              <a:t>Read timestamps and the first causal message aloud.</a:t>
            </a:r>
          </a:p>
        </p:txBody>
      </p:sp>
    </p:spTree>
    <p:extLst>
      <p:ext uri="{BB962C8B-B14F-4D97-AF65-F5344CB8AC3E}">
        <p14:creationId xmlns:p14="http://schemas.microsoft.com/office/powerpoint/2010/main" val="1230538595"/>
      </p:ext>
    </p:extLst>
  </p:cSld>
</p:sld>
</file>

<file path=ppt/slides/slide27.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7FF7E22-AD57-4C8D-AE65-38829DE663A8}"/>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SYSTEMD</a:t>
            </a:r>
          </a:p>
        </p:txBody>
      </p:sp>
      <p:sp>
        <p:nvSpPr>
          <p:cNvPr id="2" name="">
            <a:extLst xmlns:a="http://schemas.openxmlformats.org/drawingml/2006/main">
              <a:ext uri="{FF2B5EF4-FFF2-40B4-BE49-F238E27FC236}">
                <a16:creationId xmlns:a16="http://schemas.microsoft.com/office/drawing/2014/main" id="{433AB877-4AB3-4B27-9A12-AE2A320B3254}"/>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921"/>
          </a:bodyPr>
          <a:lstStyle xmlns:a="http://schemas.openxmlformats.org/drawingml/2006/main"/>
          <a:p xmlns:a="http://schemas.openxmlformats.org/drawingml/2006/main">
            <a:pPr algn="l">
              <a:lnSpc>
                <a:spcPct val="94000"/>
              </a:lnSpc>
              <a:buNone/>
              <a:defRPr sz="3750" b="1" i="0">
                <a:solidFill>
                  <a:srgbClr val="160B20"/>
                </a:solidFill>
                <a:latin typeface="Aptos"/>
                <a:ea typeface="Aptos"/>
                <a:cs typeface="Aptos"/>
              </a:defRPr>
            </a:pPr>
            <a:r>
              <a:rPr sz="3750" b="1" i="0">
                <a:solidFill>
                  <a:srgbClr val="160B20"/>
                </a:solidFill>
                <a:latin typeface="Aptos"/>
                <a:ea typeface="Aptos"/>
                <a:cs typeface="Aptos"/>
              </a:rPr>
              <a:t>systemd manages declared units toward a state</a:t>
            </a:r>
          </a:p>
        </p:txBody>
      </p:sp>
      <p:sp>
        <p:nvSpPr>
          <p:cNvPr id="3" name="">
            <a:extLst xmlns:a="http://schemas.openxmlformats.org/drawingml/2006/main">
              <a:ext uri="{FF2B5EF4-FFF2-40B4-BE49-F238E27FC236}">
                <a16:creationId xmlns:a16="http://schemas.microsoft.com/office/drawing/2014/main" id="{61BEB8B2-BAFD-48B7-847B-5CB0B0B4FD0D}"/>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E7DC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7C7CC09-1BF3-4D2E-A1DA-D2D79A0C8559}"/>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6F6277"/>
                </a:solidFill>
                <a:latin typeface="Aptos"/>
                <a:ea typeface="Aptos"/>
                <a:cs typeface="Aptos"/>
              </a:defRPr>
            </a:pPr>
            <a:r>
              <a:rPr sz="900" b="1" i="0">
                <a:solidFill>
                  <a:srgbClr val="6F6277"/>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8F5F02AC-8C9B-4E6F-A0AE-539C3CB3B98E}"/>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8B5CF6"/>
                </a:solidFill>
                <a:latin typeface="Aptos"/>
                <a:ea typeface="Aptos"/>
                <a:cs typeface="Aptos"/>
              </a:defRPr>
            </a:pPr>
            <a:r>
              <a:rPr sz="1050" b="1" i="0">
                <a:solidFill>
                  <a:srgbClr val="8B5CF6"/>
                </a:solidFill>
                <a:latin typeface="Aptos"/>
                <a:ea typeface="Aptos"/>
                <a:cs typeface="Aptos"/>
              </a:rPr>
              <a:t>27</a:t>
            </a:r>
          </a:p>
        </p:txBody>
      </p:sp>
      <p:sp>
        <p:nvSpPr>
          <p:cNvPr id="6" name="">
            <a:extLst xmlns:a="http://schemas.openxmlformats.org/drawingml/2006/main">
              <a:ext uri="{FF2B5EF4-FFF2-40B4-BE49-F238E27FC236}">
                <a16:creationId xmlns:a16="http://schemas.microsoft.com/office/drawing/2014/main" id="{4BB146FD-85CF-4381-B5DF-0A2F479F6858}"/>
              </a:ext>
            </a:extLst>
          </p:cNvPr>
          <p:cNvSpPr>
            <a:spLocks xmlns:a="http://schemas.openxmlformats.org/drawingml/2006/main" noGrp="1"/>
          </p:cNvSpPr>
          <p:nvPr/>
        </p:nvSpPr>
        <p:spPr>
          <a:xfrm xmlns:a="http://schemas.openxmlformats.org/drawingml/2006/main">
            <a:off x="819150" y="18097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125" b="1" i="0">
                <a:solidFill>
                  <a:srgbClr val="FF6B4A"/>
                </a:solidFill>
                <a:latin typeface="Aptos"/>
                <a:ea typeface="Aptos"/>
                <a:cs typeface="Aptos"/>
              </a:defRPr>
            </a:pPr>
            <a:r>
              <a:rPr sz="1125" b="1" i="0">
                <a:solidFill>
                  <a:srgbClr val="FF6B4A"/>
                </a:solidFill>
                <a:latin typeface="Aptos"/>
                <a:ea typeface="Aptos"/>
                <a:cs typeface="Aptos"/>
              </a:rPr>
              <a:t>UNIT FILE</a:t>
            </a:r>
          </a:p>
        </p:txBody>
      </p:sp>
      <p:sp>
        <p:nvSpPr>
          <p:cNvPr id="7" name="">
            <a:extLst xmlns:a="http://schemas.openxmlformats.org/drawingml/2006/main">
              <a:ext uri="{FF2B5EF4-FFF2-40B4-BE49-F238E27FC236}">
                <a16:creationId xmlns:a16="http://schemas.microsoft.com/office/drawing/2014/main" id="{66CE1EC7-EE5A-4522-9063-940134669544}"/>
              </a:ext>
            </a:extLst>
          </p:cNvPr>
          <p:cNvSpPr>
            <a:spLocks xmlns:a="http://schemas.openxmlformats.org/drawingml/2006/main" noGrp="1"/>
          </p:cNvSpPr>
          <p:nvPr/>
        </p:nvSpPr>
        <p:spPr>
          <a:xfrm xmlns:a="http://schemas.openxmlformats.org/drawingml/2006/main">
            <a:off x="819150" y="23050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100" b="1" i="0">
                <a:solidFill>
                  <a:srgbClr val="160B20"/>
                </a:solidFill>
                <a:latin typeface="Aptos"/>
                <a:ea typeface="Aptos"/>
                <a:cs typeface="Aptos"/>
              </a:defRPr>
            </a:pPr>
            <a:r>
              <a:rPr sz="2100" b="1" i="0">
                <a:solidFill>
                  <a:srgbClr val="160B20"/>
                </a:solidFill>
                <a:latin typeface="Aptos"/>
                <a:ea typeface="Aptos"/>
                <a:cs typeface="Aptos"/>
              </a:rPr>
              <a:t>What should run?</a:t>
            </a:r>
          </a:p>
        </p:txBody>
      </p:sp>
      <p:sp>
        <p:nvSpPr>
          <p:cNvPr id="8" name="">
            <a:extLst xmlns:a="http://schemas.openxmlformats.org/drawingml/2006/main">
              <a:ext uri="{FF2B5EF4-FFF2-40B4-BE49-F238E27FC236}">
                <a16:creationId xmlns:a16="http://schemas.microsoft.com/office/drawing/2014/main" id="{67083701-A05F-4358-A0C9-1B8C17A9523C}"/>
              </a:ext>
            </a:extLst>
          </p:cNvPr>
          <p:cNvSpPr>
            <a:spLocks xmlns:a="http://schemas.openxmlformats.org/drawingml/2006/main" noGrp="1"/>
          </p:cNvSpPr>
          <p:nvPr/>
        </p:nvSpPr>
        <p:spPr>
          <a:xfrm xmlns:a="http://schemas.openxmlformats.org/drawingml/2006/main">
            <a:off x="819150" y="2971800"/>
            <a:ext cx="3333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i="0">
                <a:solidFill>
                  <a:srgbClr val="514658"/>
                </a:solidFill>
                <a:latin typeface="Aptos"/>
                <a:ea typeface="Aptos"/>
                <a:cs typeface="Aptos"/>
              </a:defRPr>
            </a:pPr>
            <a:r>
              <a:rPr sz="1650" b="0" i="0">
                <a:solidFill>
                  <a:srgbClr val="514658"/>
                </a:solidFill>
                <a:latin typeface="Aptos"/>
                <a:ea typeface="Aptos"/>
                <a:cs typeface="Aptos"/>
              </a:rPr>
              <a:t>dependencies · user · command</a:t>
            </a:r>
          </a:p>
          <a:p xmlns:a="http://schemas.openxmlformats.org/drawingml/2006/main">
            <a:pPr algn="l">
              <a:lnSpc>
                <a:spcPct val="102000"/>
              </a:lnSpc>
              <a:buNone/>
              <a:defRPr sz="1650" b="0" i="0">
                <a:solidFill>
                  <a:srgbClr val="514658"/>
                </a:solidFill>
                <a:latin typeface="Aptos"/>
                <a:ea typeface="Aptos"/>
                <a:cs typeface="Aptos"/>
              </a:defRPr>
            </a:pPr>
            <a:r>
              <a:rPr sz="1650" b="0" i="0">
                <a:solidFill>
                  <a:srgbClr val="514658"/>
                </a:solidFill>
                <a:latin typeface="Aptos"/>
                <a:ea typeface="Aptos"/>
                <a:cs typeface="Aptos"/>
              </a:rPr>
              <a:t>restart policy · boot target</a:t>
            </a:r>
          </a:p>
        </p:txBody>
      </p:sp>
      <p:sp>
        <p:nvSpPr>
          <p:cNvPr id="9" name="">
            <a:extLst xmlns:a="http://schemas.openxmlformats.org/drawingml/2006/main">
              <a:ext uri="{FF2B5EF4-FFF2-40B4-BE49-F238E27FC236}">
                <a16:creationId xmlns:a16="http://schemas.microsoft.com/office/drawing/2014/main" id="{81AD9658-5F0C-4CD4-9376-1A6C8D1E3657}"/>
              </a:ext>
            </a:extLst>
          </p:cNvPr>
          <p:cNvSpPr>
            <a:spLocks xmlns:a="http://schemas.openxmlformats.org/drawingml/2006/main" noGrp="1"/>
          </p:cNvSpPr>
          <p:nvPr/>
        </p:nvSpPr>
        <p:spPr>
          <a:xfrm xmlns:a="http://schemas.openxmlformats.org/drawingml/2006/main">
            <a:off x="4286250" y="2724150"/>
            <a:ext cx="857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3450" b="1" i="0">
                <a:solidFill>
                  <a:srgbClr val="8B5CF6"/>
                </a:solidFill>
                <a:latin typeface="Aptos"/>
                <a:ea typeface="Aptos"/>
                <a:cs typeface="Aptos"/>
              </a:defRPr>
            </a:pPr>
            <a:r>
              <a:rPr sz="3450" b="1" i="0">
                <a:solidFill>
                  <a:srgbClr val="8B5CF6"/>
                </a:solidFill>
                <a:latin typeface="Aptos"/>
                <a:ea typeface="Aptos"/>
                <a:cs typeface="Aptos"/>
              </a:rPr>
              <a:t>→</a:t>
            </a:r>
          </a:p>
        </p:txBody>
      </p:sp>
      <p:sp>
        <p:nvSpPr>
          <p:cNvPr id="10" name="">
            <a:extLst xmlns:a="http://schemas.openxmlformats.org/drawingml/2006/main">
              <a:ext uri="{FF2B5EF4-FFF2-40B4-BE49-F238E27FC236}">
                <a16:creationId xmlns:a16="http://schemas.microsoft.com/office/drawing/2014/main" id="{0D477B34-4BC1-47B5-94B9-2CAF0A8AC359}"/>
              </a:ext>
            </a:extLst>
          </p:cNvPr>
          <p:cNvSpPr>
            <a:spLocks xmlns:a="http://schemas.openxmlformats.org/drawingml/2006/main" noGrp="1"/>
          </p:cNvSpPr>
          <p:nvPr/>
        </p:nvSpPr>
        <p:spPr>
          <a:xfrm xmlns:a="http://schemas.openxmlformats.org/drawingml/2006/main">
            <a:off x="5429250" y="18097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125" b="1" i="0">
                <a:solidFill>
                  <a:srgbClr val="FF6B4A"/>
                </a:solidFill>
                <a:latin typeface="Aptos"/>
                <a:ea typeface="Aptos"/>
                <a:cs typeface="Aptos"/>
              </a:defRPr>
            </a:pPr>
            <a:r>
              <a:rPr sz="1125" b="1" i="0">
                <a:solidFill>
                  <a:srgbClr val="FF6B4A"/>
                </a:solidFill>
                <a:latin typeface="Aptos"/>
                <a:ea typeface="Aptos"/>
                <a:cs typeface="Aptos"/>
              </a:rPr>
              <a:t>MANAGER</a:t>
            </a:r>
          </a:p>
        </p:txBody>
      </p:sp>
      <p:sp>
        <p:nvSpPr>
          <p:cNvPr id="11" name="">
            <a:extLst xmlns:a="http://schemas.openxmlformats.org/drawingml/2006/main">
              <a:ext uri="{FF2B5EF4-FFF2-40B4-BE49-F238E27FC236}">
                <a16:creationId xmlns:a16="http://schemas.microsoft.com/office/drawing/2014/main" id="{62BCA6B4-B7AC-4F12-8721-99D9A3750B0D}"/>
              </a:ext>
            </a:extLst>
          </p:cNvPr>
          <p:cNvSpPr>
            <a:spLocks xmlns:a="http://schemas.openxmlformats.org/drawingml/2006/main" noGrp="1"/>
          </p:cNvSpPr>
          <p:nvPr/>
        </p:nvSpPr>
        <p:spPr>
          <a:xfrm xmlns:a="http://schemas.openxmlformats.org/drawingml/2006/main">
            <a:off x="5429250" y="23050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100" b="1" i="0">
                <a:solidFill>
                  <a:srgbClr val="160B20"/>
                </a:solidFill>
                <a:latin typeface="Aptos"/>
                <a:ea typeface="Aptos"/>
                <a:cs typeface="Aptos"/>
              </a:defRPr>
            </a:pPr>
            <a:r>
              <a:rPr sz="2100" b="1" i="0">
                <a:solidFill>
                  <a:srgbClr val="160B20"/>
                </a:solidFill>
                <a:latin typeface="Aptos"/>
                <a:ea typeface="Aptos"/>
                <a:cs typeface="Aptos"/>
              </a:rPr>
              <a:t>What is running?</a:t>
            </a:r>
          </a:p>
        </p:txBody>
      </p:sp>
      <p:sp>
        <p:nvSpPr>
          <p:cNvPr id="12" name="">
            <a:extLst xmlns:a="http://schemas.openxmlformats.org/drawingml/2006/main">
              <a:ext uri="{FF2B5EF4-FFF2-40B4-BE49-F238E27FC236}">
                <a16:creationId xmlns:a16="http://schemas.microsoft.com/office/drawing/2014/main" id="{0256D31F-B9BB-4FE7-9578-6EA0A85A0787}"/>
              </a:ext>
            </a:extLst>
          </p:cNvPr>
          <p:cNvSpPr>
            <a:spLocks xmlns:a="http://schemas.openxmlformats.org/drawingml/2006/main" noGrp="1"/>
          </p:cNvSpPr>
          <p:nvPr/>
        </p:nvSpPr>
        <p:spPr>
          <a:xfrm xmlns:a="http://schemas.openxmlformats.org/drawingml/2006/main">
            <a:off x="5429250" y="2971800"/>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i="0">
                <a:solidFill>
                  <a:srgbClr val="514658"/>
                </a:solidFill>
                <a:latin typeface="Aptos"/>
                <a:ea typeface="Aptos"/>
                <a:cs typeface="Aptos"/>
              </a:defRPr>
            </a:pPr>
            <a:r>
              <a:rPr sz="1650" b="0" i="0">
                <a:solidFill>
                  <a:srgbClr val="514658"/>
                </a:solidFill>
                <a:latin typeface="Aptos"/>
                <a:ea typeface="Aptos"/>
                <a:cs typeface="Aptos"/>
              </a:rPr>
              <a:t>start · stop · supervise</a:t>
            </a:r>
          </a:p>
          <a:p xmlns:a="http://schemas.openxmlformats.org/drawingml/2006/main">
            <a:pPr algn="l">
              <a:lnSpc>
                <a:spcPct val="102000"/>
              </a:lnSpc>
              <a:buNone/>
              <a:defRPr sz="1650" b="0" i="0">
                <a:solidFill>
                  <a:srgbClr val="514658"/>
                </a:solidFill>
                <a:latin typeface="Aptos"/>
                <a:ea typeface="Aptos"/>
                <a:cs typeface="Aptos"/>
              </a:defRPr>
            </a:pPr>
            <a:r>
              <a:rPr sz="1650" b="0" i="0">
                <a:solidFill>
                  <a:srgbClr val="514658"/>
                </a:solidFill>
                <a:latin typeface="Aptos"/>
                <a:ea typeface="Aptos"/>
                <a:cs typeface="Aptos"/>
              </a:rPr>
              <a:t>track exit status</a:t>
            </a:r>
          </a:p>
        </p:txBody>
      </p:sp>
      <p:sp>
        <p:nvSpPr>
          <p:cNvPr id="13" name="">
            <a:extLst xmlns:a="http://schemas.openxmlformats.org/drawingml/2006/main">
              <a:ext uri="{FF2B5EF4-FFF2-40B4-BE49-F238E27FC236}">
                <a16:creationId xmlns:a16="http://schemas.microsoft.com/office/drawing/2014/main" id="{3D218284-2EB7-4A18-9587-14BB726F12BE}"/>
              </a:ext>
            </a:extLst>
          </p:cNvPr>
          <p:cNvSpPr>
            <a:spLocks xmlns:a="http://schemas.openxmlformats.org/drawingml/2006/main" noGrp="1"/>
          </p:cNvSpPr>
          <p:nvPr/>
        </p:nvSpPr>
        <p:spPr>
          <a:xfrm xmlns:a="http://schemas.openxmlformats.org/drawingml/2006/main">
            <a:off x="8801100" y="2724150"/>
            <a:ext cx="857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3450" b="1" i="0">
                <a:solidFill>
                  <a:srgbClr val="8B5CF6"/>
                </a:solidFill>
                <a:latin typeface="Aptos"/>
                <a:ea typeface="Aptos"/>
                <a:cs typeface="Aptos"/>
              </a:defRPr>
            </a:pPr>
            <a:r>
              <a:rPr sz="3450" b="1" i="0">
                <a:solidFill>
                  <a:srgbClr val="8B5CF6"/>
                </a:solidFill>
                <a:latin typeface="Aptos"/>
                <a:ea typeface="Aptos"/>
                <a:cs typeface="Aptos"/>
              </a:rPr>
              <a:t>→</a:t>
            </a:r>
          </a:p>
        </p:txBody>
      </p:sp>
      <p:sp>
        <p:nvSpPr>
          <p:cNvPr id="14" name="">
            <a:extLst xmlns:a="http://schemas.openxmlformats.org/drawingml/2006/main">
              <a:ext uri="{FF2B5EF4-FFF2-40B4-BE49-F238E27FC236}">
                <a16:creationId xmlns:a16="http://schemas.microsoft.com/office/drawing/2014/main" id="{A135BC3C-14E6-44BA-9F20-F7AF53E1ACF7}"/>
              </a:ext>
            </a:extLst>
          </p:cNvPr>
          <p:cNvSpPr>
            <a:spLocks xmlns:a="http://schemas.openxmlformats.org/drawingml/2006/main" noGrp="1"/>
          </p:cNvSpPr>
          <p:nvPr/>
        </p:nvSpPr>
        <p:spPr>
          <a:xfrm xmlns:a="http://schemas.openxmlformats.org/drawingml/2006/main">
            <a:off x="9810750" y="18097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125" b="1" i="0">
                <a:solidFill>
                  <a:srgbClr val="FF6B4A"/>
                </a:solidFill>
                <a:latin typeface="Aptos"/>
                <a:ea typeface="Aptos"/>
                <a:cs typeface="Aptos"/>
              </a:defRPr>
            </a:pPr>
            <a:r>
              <a:rPr sz="1125" b="1" i="0">
                <a:solidFill>
                  <a:srgbClr val="FF6B4A"/>
                </a:solidFill>
                <a:latin typeface="Aptos"/>
                <a:ea typeface="Aptos"/>
                <a:cs typeface="Aptos"/>
              </a:rPr>
              <a:t>JOURNAL</a:t>
            </a:r>
          </a:p>
        </p:txBody>
      </p:sp>
      <p:sp>
        <p:nvSpPr>
          <p:cNvPr id="15" name="">
            <a:extLst xmlns:a="http://schemas.openxmlformats.org/drawingml/2006/main">
              <a:ext uri="{FF2B5EF4-FFF2-40B4-BE49-F238E27FC236}">
                <a16:creationId xmlns:a16="http://schemas.microsoft.com/office/drawing/2014/main" id="{6F03048F-8D77-4A95-ABBE-57D30AC7CBBB}"/>
              </a:ext>
            </a:extLst>
          </p:cNvPr>
          <p:cNvSpPr>
            <a:spLocks xmlns:a="http://schemas.openxmlformats.org/drawingml/2006/main" noGrp="1"/>
          </p:cNvSpPr>
          <p:nvPr/>
        </p:nvSpPr>
        <p:spPr>
          <a:xfrm xmlns:a="http://schemas.openxmlformats.org/drawingml/2006/main">
            <a:off x="9620250" y="2305050"/>
            <a:ext cx="190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2100" b="1" i="0">
                <a:solidFill>
                  <a:srgbClr val="160B20"/>
                </a:solidFill>
                <a:latin typeface="Aptos"/>
                <a:ea typeface="Aptos"/>
                <a:cs typeface="Aptos"/>
              </a:defRPr>
            </a:pPr>
            <a:r>
              <a:rPr sz="2100" b="1" i="0">
                <a:solidFill>
                  <a:srgbClr val="160B20"/>
                </a:solidFill>
                <a:latin typeface="Aptos"/>
                <a:ea typeface="Aptos"/>
                <a:cs typeface="Aptos"/>
              </a:rPr>
              <a:t>What happened?</a:t>
            </a:r>
          </a:p>
        </p:txBody>
      </p:sp>
      <p:sp>
        <p:nvSpPr>
          <p:cNvPr id="16" name="">
            <a:extLst xmlns:a="http://schemas.openxmlformats.org/drawingml/2006/main">
              <a:ext uri="{FF2B5EF4-FFF2-40B4-BE49-F238E27FC236}">
                <a16:creationId xmlns:a16="http://schemas.microsoft.com/office/drawing/2014/main" id="{F8367EEA-852D-4AA2-9F07-33029BB88450}"/>
              </a:ext>
            </a:extLst>
          </p:cNvPr>
          <p:cNvSpPr>
            <a:spLocks xmlns:a="http://schemas.openxmlformats.org/drawingml/2006/main" noGrp="1"/>
          </p:cNvSpPr>
          <p:nvPr/>
        </p:nvSpPr>
        <p:spPr>
          <a:xfrm xmlns:a="http://schemas.openxmlformats.org/drawingml/2006/main">
            <a:off x="9620250" y="3238500"/>
            <a:ext cx="190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650" b="0" i="0">
                <a:solidFill>
                  <a:srgbClr val="514658"/>
                </a:solidFill>
                <a:latin typeface="Aptos"/>
                <a:ea typeface="Aptos"/>
                <a:cs typeface="Aptos"/>
              </a:defRPr>
            </a:pPr>
            <a:r>
              <a:rPr sz="1650" b="0" i="0">
                <a:solidFill>
                  <a:srgbClr val="514658"/>
                </a:solidFill>
                <a:latin typeface="Aptos"/>
                <a:ea typeface="Aptos"/>
                <a:cs typeface="Aptos"/>
              </a:rPr>
              <a:t>events + output</a:t>
            </a:r>
          </a:p>
        </p:txBody>
      </p:sp>
      <p:sp>
        <p:nvSpPr>
          <p:cNvPr id="17" name="">
            <a:extLst xmlns:a="http://schemas.openxmlformats.org/drawingml/2006/main">
              <a:ext uri="{FF2B5EF4-FFF2-40B4-BE49-F238E27FC236}">
                <a16:creationId xmlns:a16="http://schemas.microsoft.com/office/drawing/2014/main" id="{71BAC77F-BB03-4E9C-BC59-DCC13D30E7B1}"/>
              </a:ext>
            </a:extLst>
          </p:cNvPr>
          <p:cNvSpPr>
            <a:spLocks xmlns:a="http://schemas.openxmlformats.org/drawingml/2006/main" noGrp="1"/>
          </p:cNvSpPr>
          <p:nvPr/>
        </p:nvSpPr>
        <p:spPr>
          <a:xfrm xmlns:a="http://schemas.openxmlformats.org/drawingml/2006/main">
            <a:off x="819150" y="4629150"/>
            <a:ext cx="10610850" cy="952500"/>
          </a:xfrm>
          <a:prstGeom xmlns:a="http://schemas.openxmlformats.org/drawingml/2006/main" prst="roundRect">
            <a:avLst>
              <a:gd name="adj" fmla="val 16000"/>
            </a:avLst>
          </a:prstGeom>
          <a:solidFill xmlns:a="http://schemas.openxmlformats.org/drawingml/2006/main">
            <a:srgbClr val="EEE4F3"/>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85FCBB6-3065-4728-9310-1BD4B04AEAFA}"/>
              </a:ext>
            </a:extLst>
          </p:cNvPr>
          <p:cNvSpPr>
            <a:spLocks xmlns:a="http://schemas.openxmlformats.org/drawingml/2006/main" noGrp="1"/>
          </p:cNvSpPr>
          <p:nvPr/>
        </p:nvSpPr>
        <p:spPr>
          <a:xfrm xmlns:a="http://schemas.openxmlformats.org/drawingml/2006/main">
            <a:off x="1104900" y="4895850"/>
            <a:ext cx="10039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800" b="1" i="0">
                <a:solidFill>
                  <a:srgbClr val="8B5CF6"/>
                </a:solidFill>
                <a:latin typeface="Aptos"/>
                <a:ea typeface="Aptos"/>
                <a:cs typeface="Aptos"/>
              </a:defRPr>
            </a:pPr>
            <a:r>
              <a:rPr sz="1800" b="1" i="0">
                <a:solidFill>
                  <a:srgbClr val="8B5CF6"/>
                </a:solidFill>
                <a:latin typeface="Aptos"/>
                <a:ea typeface="Aptos"/>
                <a:cs typeface="Aptos"/>
              </a:rPr>
              <a:t>“Enabled” means start at boot. “Active” means running now. They are independent.</a:t>
            </a:r>
          </a:p>
        </p:txBody>
      </p:sp>
    </p:spTree>
    <p:extLst>
      <p:ext uri="{BB962C8B-B14F-4D97-AF65-F5344CB8AC3E}">
        <p14:creationId xmlns:p14="http://schemas.microsoft.com/office/powerpoint/2010/main" val="829158630"/>
      </p:ext>
    </p:extLst>
  </p:cSld>
</p:sld>
</file>

<file path=ppt/slides/slide28.xml><?xml version="1.0" encoding="utf-8"?>
<p:sld xmlns:p="http://schemas.openxmlformats.org/presentationml/2006/main">
  <p:cSld>
    <p:bg>
      <p:bgPr>
        <a:solidFill xmlns:a="http://schemas.openxmlformats.org/drawingml/2006/main">
          <a:srgbClr val="180D24"/>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B45BB6C-2634-4967-B7D8-66C648A4AF42}"/>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SYSTEMD</a:t>
            </a:r>
          </a:p>
        </p:txBody>
      </p:sp>
      <p:sp>
        <p:nvSpPr>
          <p:cNvPr id="2" name="">
            <a:extLst xmlns:a="http://schemas.openxmlformats.org/drawingml/2006/main">
              <a:ext uri="{FF2B5EF4-FFF2-40B4-BE49-F238E27FC236}">
                <a16:creationId xmlns:a16="http://schemas.microsoft.com/office/drawing/2014/main" id="{BB6905EA-EB73-48B3-BFC6-F36ACCF1D759}"/>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8EE"/>
                </a:solidFill>
                <a:latin typeface="Aptos"/>
                <a:ea typeface="Aptos"/>
                <a:cs typeface="Aptos"/>
              </a:defRPr>
            </a:pPr>
            <a:r>
              <a:rPr sz="3750" b="1" i="0">
                <a:solidFill>
                  <a:srgbClr val="FFF8EE"/>
                </a:solidFill>
                <a:latin typeface="Aptos"/>
                <a:ea typeface="Aptos"/>
                <a:cs typeface="Aptos"/>
              </a:rPr>
              <a:t>Use systemctl verbs deliberately</a:t>
            </a:r>
          </a:p>
        </p:txBody>
      </p:sp>
      <p:sp>
        <p:nvSpPr>
          <p:cNvPr id="3" name="">
            <a:extLst xmlns:a="http://schemas.openxmlformats.org/drawingml/2006/main">
              <a:ext uri="{FF2B5EF4-FFF2-40B4-BE49-F238E27FC236}">
                <a16:creationId xmlns:a16="http://schemas.microsoft.com/office/drawing/2014/main" id="{1E8D3E8C-57A8-4DE4-9B45-F8D9952C5AF1}"/>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3520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88C3C1C-306D-4E7E-9D4B-50F518FDFB31}"/>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BFAFCB"/>
                </a:solidFill>
                <a:latin typeface="Aptos"/>
                <a:ea typeface="Aptos"/>
                <a:cs typeface="Aptos"/>
              </a:defRPr>
            </a:pPr>
            <a:r>
              <a:rPr sz="900" b="1" i="0">
                <a:solidFill>
                  <a:srgbClr val="BFAFCB"/>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50B362DF-2860-4B88-9BA4-770B28CCC437}"/>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C9B6FF"/>
                </a:solidFill>
                <a:latin typeface="Aptos"/>
                <a:ea typeface="Aptos"/>
                <a:cs typeface="Aptos"/>
              </a:defRPr>
            </a:pPr>
            <a:r>
              <a:rPr sz="1050" b="1" i="0">
                <a:solidFill>
                  <a:srgbClr val="C9B6FF"/>
                </a:solidFill>
                <a:latin typeface="Aptos"/>
                <a:ea typeface="Aptos"/>
                <a:cs typeface="Aptos"/>
              </a:rPr>
              <a:t>28</a:t>
            </a:r>
          </a:p>
        </p:txBody>
      </p:sp>
      <p:sp>
        <p:nvSpPr>
          <p:cNvPr id="6" name="">
            <a:extLst xmlns:a="http://schemas.openxmlformats.org/drawingml/2006/main">
              <a:ext uri="{FF2B5EF4-FFF2-40B4-BE49-F238E27FC236}">
                <a16:creationId xmlns:a16="http://schemas.microsoft.com/office/drawing/2014/main" id="{BCE8133F-AED5-4FF3-A5CF-B58C3DDCB692}"/>
              </a:ext>
            </a:extLst>
          </p:cNvPr>
          <p:cNvSpPr>
            <a:spLocks xmlns:a="http://schemas.openxmlformats.org/drawingml/2006/main" noGrp="1"/>
          </p:cNvSpPr>
          <p:nvPr/>
        </p:nvSpPr>
        <p:spPr>
          <a:xfrm xmlns:a="http://schemas.openxmlformats.org/drawingml/2006/main">
            <a:off x="857250" y="171450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BFAFCB"/>
                </a:solidFill>
                <a:latin typeface="Aptos"/>
                <a:ea typeface="Aptos"/>
                <a:cs typeface="Aptos"/>
              </a:defRPr>
            </a:pPr>
            <a:r>
              <a:rPr sz="1725" b="1" i="0">
                <a:solidFill>
                  <a:srgbClr val="BFAFCB"/>
                </a:solidFill>
                <a:latin typeface="Aptos"/>
                <a:ea typeface="Aptos"/>
                <a:cs typeface="Aptos"/>
              </a:rPr>
              <a:t>Observe</a:t>
            </a:r>
          </a:p>
        </p:txBody>
      </p:sp>
      <p:sp>
        <p:nvSpPr>
          <p:cNvPr id="7" name="">
            <a:extLst xmlns:a="http://schemas.openxmlformats.org/drawingml/2006/main">
              <a:ext uri="{FF2B5EF4-FFF2-40B4-BE49-F238E27FC236}">
                <a16:creationId xmlns:a16="http://schemas.microsoft.com/office/drawing/2014/main" id="{98A00DAD-9748-4040-BDA9-24B5B12EA22F}"/>
              </a:ext>
            </a:extLst>
          </p:cNvPr>
          <p:cNvSpPr>
            <a:spLocks xmlns:a="http://schemas.openxmlformats.org/drawingml/2006/main" noGrp="1"/>
          </p:cNvSpPr>
          <p:nvPr/>
        </p:nvSpPr>
        <p:spPr>
          <a:xfrm xmlns:a="http://schemas.openxmlformats.org/drawingml/2006/main">
            <a:off x="3810000" y="1714500"/>
            <a:ext cx="685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100" b="1" i="0">
                <a:solidFill>
                  <a:srgbClr val="FF6B4A"/>
                </a:solidFill>
                <a:latin typeface="Courier New"/>
                <a:ea typeface="Courier New"/>
                <a:cs typeface="Courier New"/>
              </a:defRPr>
            </a:pPr>
            <a:r>
              <a:rPr sz="2100" b="1" i="0">
                <a:solidFill>
                  <a:srgbClr val="FF6B4A"/>
                </a:solidFill>
                <a:latin typeface="Courier New"/>
                <a:ea typeface="Courier New"/>
                <a:cs typeface="Courier New"/>
              </a:rPr>
              <a:t>status · is-active · is-enabled</a:t>
            </a:r>
          </a:p>
        </p:txBody>
      </p:sp>
      <p:sp>
        <p:nvSpPr>
          <p:cNvPr id="8" name="">
            <a:extLst xmlns:a="http://schemas.openxmlformats.org/drawingml/2006/main">
              <a:ext uri="{FF2B5EF4-FFF2-40B4-BE49-F238E27FC236}">
                <a16:creationId xmlns:a16="http://schemas.microsoft.com/office/drawing/2014/main" id="{71640330-1AB8-4F1C-8892-6C1D8B2071B3}"/>
              </a:ext>
            </a:extLst>
          </p:cNvPr>
          <p:cNvSpPr>
            <a:spLocks xmlns:a="http://schemas.openxmlformats.org/drawingml/2006/main" noGrp="1"/>
          </p:cNvSpPr>
          <p:nvPr/>
        </p:nvSpPr>
        <p:spPr>
          <a:xfrm xmlns:a="http://schemas.openxmlformats.org/drawingml/2006/main">
            <a:off x="857250" y="2209800"/>
            <a:ext cx="9810750" cy="9525"/>
          </a:xfrm>
          <a:prstGeom xmlns:a="http://schemas.openxmlformats.org/drawingml/2006/main" prst="rect">
            <a:avLst/>
          </a:prstGeom>
          <a:solidFill xmlns:a="http://schemas.openxmlformats.org/drawingml/2006/main">
            <a:srgbClr val="4A335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AE87DD9-12B8-4504-8C00-7474EC432A97}"/>
              </a:ext>
            </a:extLst>
          </p:cNvPr>
          <p:cNvSpPr>
            <a:spLocks xmlns:a="http://schemas.openxmlformats.org/drawingml/2006/main" noGrp="1"/>
          </p:cNvSpPr>
          <p:nvPr/>
        </p:nvSpPr>
        <p:spPr>
          <a:xfrm xmlns:a="http://schemas.openxmlformats.org/drawingml/2006/main">
            <a:off x="857250" y="245745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BFAFCB"/>
                </a:solidFill>
                <a:latin typeface="Aptos"/>
                <a:ea typeface="Aptos"/>
                <a:cs typeface="Aptos"/>
              </a:defRPr>
            </a:pPr>
            <a:r>
              <a:rPr sz="1725" b="1" i="0">
                <a:solidFill>
                  <a:srgbClr val="BFAFCB"/>
                </a:solidFill>
                <a:latin typeface="Aptos"/>
                <a:ea typeface="Aptos"/>
                <a:cs typeface="Aptos"/>
              </a:rPr>
              <a:t>Change runtime</a:t>
            </a:r>
          </a:p>
        </p:txBody>
      </p:sp>
      <p:sp>
        <p:nvSpPr>
          <p:cNvPr id="10" name="">
            <a:extLst xmlns:a="http://schemas.openxmlformats.org/drawingml/2006/main">
              <a:ext uri="{FF2B5EF4-FFF2-40B4-BE49-F238E27FC236}">
                <a16:creationId xmlns:a16="http://schemas.microsoft.com/office/drawing/2014/main" id="{7C986552-3E30-47B8-A022-1A15061C873D}"/>
              </a:ext>
            </a:extLst>
          </p:cNvPr>
          <p:cNvSpPr>
            <a:spLocks xmlns:a="http://schemas.openxmlformats.org/drawingml/2006/main" noGrp="1"/>
          </p:cNvSpPr>
          <p:nvPr/>
        </p:nvSpPr>
        <p:spPr>
          <a:xfrm xmlns:a="http://schemas.openxmlformats.org/drawingml/2006/main">
            <a:off x="3810000" y="2457450"/>
            <a:ext cx="685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100" b="1" i="0">
                <a:solidFill>
                  <a:srgbClr val="FF6B4A"/>
                </a:solidFill>
                <a:latin typeface="Courier New"/>
                <a:ea typeface="Courier New"/>
                <a:cs typeface="Courier New"/>
              </a:defRPr>
            </a:pPr>
            <a:r>
              <a:rPr sz="2100" b="1" i="0">
                <a:solidFill>
                  <a:srgbClr val="FF6B4A"/>
                </a:solidFill>
                <a:latin typeface="Courier New"/>
                <a:ea typeface="Courier New"/>
                <a:cs typeface="Courier New"/>
              </a:rPr>
              <a:t>start · stop · restart · reload</a:t>
            </a:r>
          </a:p>
        </p:txBody>
      </p:sp>
      <p:sp>
        <p:nvSpPr>
          <p:cNvPr id="11" name="">
            <a:extLst xmlns:a="http://schemas.openxmlformats.org/drawingml/2006/main">
              <a:ext uri="{FF2B5EF4-FFF2-40B4-BE49-F238E27FC236}">
                <a16:creationId xmlns:a16="http://schemas.microsoft.com/office/drawing/2014/main" id="{270495CD-6293-42CB-80AC-5233D37C38C4}"/>
              </a:ext>
            </a:extLst>
          </p:cNvPr>
          <p:cNvSpPr>
            <a:spLocks xmlns:a="http://schemas.openxmlformats.org/drawingml/2006/main" noGrp="1"/>
          </p:cNvSpPr>
          <p:nvPr/>
        </p:nvSpPr>
        <p:spPr>
          <a:xfrm xmlns:a="http://schemas.openxmlformats.org/drawingml/2006/main">
            <a:off x="857250" y="2952750"/>
            <a:ext cx="9810750" cy="9525"/>
          </a:xfrm>
          <a:prstGeom xmlns:a="http://schemas.openxmlformats.org/drawingml/2006/main" prst="rect">
            <a:avLst/>
          </a:prstGeom>
          <a:solidFill xmlns:a="http://schemas.openxmlformats.org/drawingml/2006/main">
            <a:srgbClr val="4A335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2CC06FB-426F-4713-B11A-1377D8D24316}"/>
              </a:ext>
            </a:extLst>
          </p:cNvPr>
          <p:cNvSpPr>
            <a:spLocks xmlns:a="http://schemas.openxmlformats.org/drawingml/2006/main" noGrp="1"/>
          </p:cNvSpPr>
          <p:nvPr/>
        </p:nvSpPr>
        <p:spPr>
          <a:xfrm xmlns:a="http://schemas.openxmlformats.org/drawingml/2006/main">
            <a:off x="857250" y="320040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BFAFCB"/>
                </a:solidFill>
                <a:latin typeface="Aptos"/>
                <a:ea typeface="Aptos"/>
                <a:cs typeface="Aptos"/>
              </a:defRPr>
            </a:pPr>
            <a:r>
              <a:rPr sz="1725" b="1" i="0">
                <a:solidFill>
                  <a:srgbClr val="BFAFCB"/>
                </a:solidFill>
                <a:latin typeface="Aptos"/>
                <a:ea typeface="Aptos"/>
                <a:cs typeface="Aptos"/>
              </a:rPr>
              <a:t>Change boot</a:t>
            </a:r>
          </a:p>
        </p:txBody>
      </p:sp>
      <p:sp>
        <p:nvSpPr>
          <p:cNvPr id="13" name="">
            <a:extLst xmlns:a="http://schemas.openxmlformats.org/drawingml/2006/main">
              <a:ext uri="{FF2B5EF4-FFF2-40B4-BE49-F238E27FC236}">
                <a16:creationId xmlns:a16="http://schemas.microsoft.com/office/drawing/2014/main" id="{708BD511-BA2B-49F7-9F89-AE48E7C1D7EC}"/>
              </a:ext>
            </a:extLst>
          </p:cNvPr>
          <p:cNvSpPr>
            <a:spLocks xmlns:a="http://schemas.openxmlformats.org/drawingml/2006/main" noGrp="1"/>
          </p:cNvSpPr>
          <p:nvPr/>
        </p:nvSpPr>
        <p:spPr>
          <a:xfrm xmlns:a="http://schemas.openxmlformats.org/drawingml/2006/main">
            <a:off x="3810000" y="3200400"/>
            <a:ext cx="685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100" b="1" i="0">
                <a:solidFill>
                  <a:srgbClr val="C9B6FF"/>
                </a:solidFill>
                <a:latin typeface="Courier New"/>
                <a:ea typeface="Courier New"/>
                <a:cs typeface="Courier New"/>
              </a:defRPr>
            </a:pPr>
            <a:r>
              <a:rPr sz="2100" b="1" i="0">
                <a:solidFill>
                  <a:srgbClr val="C9B6FF"/>
                </a:solidFill>
                <a:latin typeface="Courier New"/>
                <a:ea typeface="Courier New"/>
                <a:cs typeface="Courier New"/>
              </a:rPr>
              <a:t>enable · disable</a:t>
            </a:r>
          </a:p>
        </p:txBody>
      </p:sp>
      <p:sp>
        <p:nvSpPr>
          <p:cNvPr id="14" name="">
            <a:extLst xmlns:a="http://schemas.openxmlformats.org/drawingml/2006/main">
              <a:ext uri="{FF2B5EF4-FFF2-40B4-BE49-F238E27FC236}">
                <a16:creationId xmlns:a16="http://schemas.microsoft.com/office/drawing/2014/main" id="{EF1154BA-966C-4734-932D-55C2E3AC5EF6}"/>
              </a:ext>
            </a:extLst>
          </p:cNvPr>
          <p:cNvSpPr>
            <a:spLocks xmlns:a="http://schemas.openxmlformats.org/drawingml/2006/main" noGrp="1"/>
          </p:cNvSpPr>
          <p:nvPr/>
        </p:nvSpPr>
        <p:spPr>
          <a:xfrm xmlns:a="http://schemas.openxmlformats.org/drawingml/2006/main">
            <a:off x="857250" y="3695700"/>
            <a:ext cx="9810750" cy="9525"/>
          </a:xfrm>
          <a:prstGeom xmlns:a="http://schemas.openxmlformats.org/drawingml/2006/main" prst="rect">
            <a:avLst/>
          </a:prstGeom>
          <a:solidFill xmlns:a="http://schemas.openxmlformats.org/drawingml/2006/main">
            <a:srgbClr val="4A335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76784CA-A452-4904-BF2F-120CF6574B95}"/>
              </a:ext>
            </a:extLst>
          </p:cNvPr>
          <p:cNvSpPr>
            <a:spLocks xmlns:a="http://schemas.openxmlformats.org/drawingml/2006/main" noGrp="1"/>
          </p:cNvSpPr>
          <p:nvPr/>
        </p:nvSpPr>
        <p:spPr>
          <a:xfrm xmlns:a="http://schemas.openxmlformats.org/drawingml/2006/main">
            <a:off x="857250" y="394335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BFAFCB"/>
                </a:solidFill>
                <a:latin typeface="Aptos"/>
                <a:ea typeface="Aptos"/>
                <a:cs typeface="Aptos"/>
              </a:defRPr>
            </a:pPr>
            <a:r>
              <a:rPr sz="1725" b="1" i="0">
                <a:solidFill>
                  <a:srgbClr val="BFAFCB"/>
                </a:solidFill>
                <a:latin typeface="Aptos"/>
                <a:ea typeface="Aptos"/>
                <a:cs typeface="Aptos"/>
              </a:rPr>
              <a:t>Inspect config</a:t>
            </a:r>
          </a:p>
        </p:txBody>
      </p:sp>
      <p:sp>
        <p:nvSpPr>
          <p:cNvPr id="16" name="">
            <a:extLst xmlns:a="http://schemas.openxmlformats.org/drawingml/2006/main">
              <a:ext uri="{FF2B5EF4-FFF2-40B4-BE49-F238E27FC236}">
                <a16:creationId xmlns:a16="http://schemas.microsoft.com/office/drawing/2014/main" id="{898C00F1-1DFC-4ECD-B3CE-3926C78D69D9}"/>
              </a:ext>
            </a:extLst>
          </p:cNvPr>
          <p:cNvSpPr>
            <a:spLocks xmlns:a="http://schemas.openxmlformats.org/drawingml/2006/main" noGrp="1"/>
          </p:cNvSpPr>
          <p:nvPr/>
        </p:nvSpPr>
        <p:spPr>
          <a:xfrm xmlns:a="http://schemas.openxmlformats.org/drawingml/2006/main">
            <a:off x="3810000" y="3943350"/>
            <a:ext cx="685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100" b="1" i="0">
                <a:solidFill>
                  <a:srgbClr val="C9B6FF"/>
                </a:solidFill>
                <a:latin typeface="Courier New"/>
                <a:ea typeface="Courier New"/>
                <a:cs typeface="Courier New"/>
              </a:defRPr>
            </a:pPr>
            <a:r>
              <a:rPr sz="2100" b="1" i="0">
                <a:solidFill>
                  <a:srgbClr val="C9B6FF"/>
                </a:solidFill>
                <a:latin typeface="Courier New"/>
                <a:ea typeface="Courier New"/>
                <a:cs typeface="Courier New"/>
              </a:rPr>
              <a:t>cat · show</a:t>
            </a:r>
          </a:p>
        </p:txBody>
      </p:sp>
      <p:sp>
        <p:nvSpPr>
          <p:cNvPr id="17" name="">
            <a:extLst xmlns:a="http://schemas.openxmlformats.org/drawingml/2006/main">
              <a:ext uri="{FF2B5EF4-FFF2-40B4-BE49-F238E27FC236}">
                <a16:creationId xmlns:a16="http://schemas.microsoft.com/office/drawing/2014/main" id="{D096A127-C584-4574-B58D-CC0BA0302440}"/>
              </a:ext>
            </a:extLst>
          </p:cNvPr>
          <p:cNvSpPr>
            <a:spLocks xmlns:a="http://schemas.openxmlformats.org/drawingml/2006/main" noGrp="1"/>
          </p:cNvSpPr>
          <p:nvPr/>
        </p:nvSpPr>
        <p:spPr>
          <a:xfrm xmlns:a="http://schemas.openxmlformats.org/drawingml/2006/main">
            <a:off x="857250" y="4438650"/>
            <a:ext cx="9810750" cy="9525"/>
          </a:xfrm>
          <a:prstGeom xmlns:a="http://schemas.openxmlformats.org/drawingml/2006/main" prst="rect">
            <a:avLst/>
          </a:prstGeom>
          <a:solidFill xmlns:a="http://schemas.openxmlformats.org/drawingml/2006/main">
            <a:srgbClr val="4A335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D71FCA8-80F8-4878-BA0E-248D5D79E0C7}"/>
              </a:ext>
            </a:extLst>
          </p:cNvPr>
          <p:cNvSpPr>
            <a:spLocks xmlns:a="http://schemas.openxmlformats.org/drawingml/2006/main" noGrp="1"/>
          </p:cNvSpPr>
          <p:nvPr/>
        </p:nvSpPr>
        <p:spPr>
          <a:xfrm xmlns:a="http://schemas.openxmlformats.org/drawingml/2006/main">
            <a:off x="857250" y="468630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BFAFCB"/>
                </a:solidFill>
                <a:latin typeface="Aptos"/>
                <a:ea typeface="Aptos"/>
                <a:cs typeface="Aptos"/>
              </a:defRPr>
            </a:pPr>
            <a:r>
              <a:rPr sz="1725" b="1" i="0">
                <a:solidFill>
                  <a:srgbClr val="BFAFCB"/>
                </a:solidFill>
                <a:latin typeface="Aptos"/>
                <a:ea typeface="Aptos"/>
                <a:cs typeface="Aptos"/>
              </a:rPr>
              <a:t>After unit edits</a:t>
            </a:r>
          </a:p>
        </p:txBody>
      </p:sp>
      <p:sp>
        <p:nvSpPr>
          <p:cNvPr id="19" name="">
            <a:extLst xmlns:a="http://schemas.openxmlformats.org/drawingml/2006/main">
              <a:ext uri="{FF2B5EF4-FFF2-40B4-BE49-F238E27FC236}">
                <a16:creationId xmlns:a16="http://schemas.microsoft.com/office/drawing/2014/main" id="{9E3DD638-E069-467F-B4C5-7813ED102B83}"/>
              </a:ext>
            </a:extLst>
          </p:cNvPr>
          <p:cNvSpPr>
            <a:spLocks xmlns:a="http://schemas.openxmlformats.org/drawingml/2006/main" noGrp="1"/>
          </p:cNvSpPr>
          <p:nvPr/>
        </p:nvSpPr>
        <p:spPr>
          <a:xfrm xmlns:a="http://schemas.openxmlformats.org/drawingml/2006/main">
            <a:off x="3810000" y="4686300"/>
            <a:ext cx="685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100" b="1" i="0">
                <a:solidFill>
                  <a:srgbClr val="C9B6FF"/>
                </a:solidFill>
                <a:latin typeface="Courier New"/>
                <a:ea typeface="Courier New"/>
                <a:cs typeface="Courier New"/>
              </a:defRPr>
            </a:pPr>
            <a:r>
              <a:rPr sz="2100" b="1" i="0">
                <a:solidFill>
                  <a:srgbClr val="C9B6FF"/>
                </a:solidFill>
                <a:latin typeface="Courier New"/>
                <a:ea typeface="Courier New"/>
                <a:cs typeface="Courier New"/>
              </a:rPr>
              <a:t>daemon-reload</a:t>
            </a:r>
          </a:p>
        </p:txBody>
      </p:sp>
      <p:sp>
        <p:nvSpPr>
          <p:cNvPr id="20" name="">
            <a:extLst xmlns:a="http://schemas.openxmlformats.org/drawingml/2006/main">
              <a:ext uri="{FF2B5EF4-FFF2-40B4-BE49-F238E27FC236}">
                <a16:creationId xmlns:a16="http://schemas.microsoft.com/office/drawing/2014/main" id="{CAA4C09D-5931-47BA-BA0E-69BA41702634}"/>
              </a:ext>
            </a:extLst>
          </p:cNvPr>
          <p:cNvSpPr>
            <a:spLocks xmlns:a="http://schemas.openxmlformats.org/drawingml/2006/main" noGrp="1"/>
          </p:cNvSpPr>
          <p:nvPr/>
        </p:nvSpPr>
        <p:spPr>
          <a:xfrm xmlns:a="http://schemas.openxmlformats.org/drawingml/2006/main">
            <a:off x="857250" y="5181600"/>
            <a:ext cx="9810750" cy="9525"/>
          </a:xfrm>
          <a:prstGeom xmlns:a="http://schemas.openxmlformats.org/drawingml/2006/main" prst="rect">
            <a:avLst/>
          </a:prstGeom>
          <a:solidFill xmlns:a="http://schemas.openxmlformats.org/drawingml/2006/main">
            <a:srgbClr val="4A335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7A9BCC4-B67F-4B04-BEA6-0F84DD23DA4B}"/>
              </a:ext>
            </a:extLst>
          </p:cNvPr>
          <p:cNvSpPr>
            <a:spLocks xmlns:a="http://schemas.openxmlformats.org/drawingml/2006/main" noGrp="1"/>
          </p:cNvSpPr>
          <p:nvPr/>
        </p:nvSpPr>
        <p:spPr>
          <a:xfrm xmlns:a="http://schemas.openxmlformats.org/drawingml/2006/main">
            <a:off x="857250" y="565785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725" b="1" i="0">
                <a:solidFill>
                  <a:srgbClr val="70D6A6"/>
                </a:solidFill>
                <a:latin typeface="Aptos"/>
                <a:ea typeface="Aptos"/>
                <a:cs typeface="Aptos"/>
              </a:defRPr>
            </a:pPr>
            <a:r>
              <a:rPr sz="1725" b="1" i="0">
                <a:solidFill>
                  <a:srgbClr val="70D6A6"/>
                </a:solidFill>
                <a:latin typeface="Aptos"/>
                <a:ea typeface="Aptos"/>
                <a:cs typeface="Aptos"/>
              </a:rPr>
              <a:t>Restart a service only after capturing evidence.</a:t>
            </a:r>
          </a:p>
        </p:txBody>
      </p:sp>
    </p:spTree>
    <p:extLst>
      <p:ext uri="{BB962C8B-B14F-4D97-AF65-F5344CB8AC3E}">
        <p14:creationId xmlns:p14="http://schemas.microsoft.com/office/powerpoint/2010/main" val="1092880753"/>
      </p:ext>
    </p:extLst>
  </p:cSld>
</p:sld>
</file>

<file path=ppt/slides/slide29.xml><?xml version="1.0" encoding="utf-8"?>
<p:sld xmlns:p="http://schemas.openxmlformats.org/presentationml/2006/main">
  <p:cSld>
    <p:bg>
      <p:bgPr>
        <a:solidFill xmlns:a="http://schemas.openxmlformats.org/drawingml/2006/main">
          <a:srgbClr val="180D24"/>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CB828C7-CAAA-417C-AB5C-5B87881A1B8A}"/>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DEMO 5</a:t>
            </a:r>
          </a:p>
        </p:txBody>
      </p:sp>
      <p:sp>
        <p:nvSpPr>
          <p:cNvPr id="2" name="">
            <a:extLst xmlns:a="http://schemas.openxmlformats.org/drawingml/2006/main">
              <a:ext uri="{FF2B5EF4-FFF2-40B4-BE49-F238E27FC236}">
                <a16:creationId xmlns:a16="http://schemas.microsoft.com/office/drawing/2014/main" id="{FD3486F9-95BE-4388-B05C-15DFD8039B5C}"/>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4027"/>
          </a:bodyPr>
          <a:lstStyle xmlns:a="http://schemas.openxmlformats.org/drawingml/2006/main"/>
          <a:p xmlns:a="http://schemas.openxmlformats.org/drawingml/2006/main">
            <a:pPr algn="l">
              <a:lnSpc>
                <a:spcPct val="94000"/>
              </a:lnSpc>
              <a:buNone/>
              <a:defRPr sz="3750" b="1" i="0">
                <a:solidFill>
                  <a:srgbClr val="FFF8EE"/>
                </a:solidFill>
                <a:latin typeface="Aptos"/>
                <a:ea typeface="Aptos"/>
                <a:cs typeface="Aptos"/>
              </a:defRPr>
            </a:pPr>
            <a:r>
              <a:rPr sz="3750" b="1" i="0">
                <a:solidFill>
                  <a:srgbClr val="FFF8EE"/>
                </a:solidFill>
                <a:latin typeface="Aptos"/>
                <a:ea typeface="Aptos"/>
                <a:cs typeface="Aptos"/>
              </a:rPr>
              <a:t>Live demo: status is the symptom; logs reveal the cause</a:t>
            </a:r>
          </a:p>
        </p:txBody>
      </p:sp>
      <p:sp>
        <p:nvSpPr>
          <p:cNvPr id="3" name="">
            <a:extLst xmlns:a="http://schemas.openxmlformats.org/drawingml/2006/main">
              <a:ext uri="{FF2B5EF4-FFF2-40B4-BE49-F238E27FC236}">
                <a16:creationId xmlns:a16="http://schemas.microsoft.com/office/drawing/2014/main" id="{17EC8EB2-0465-4724-AB3B-7DDE6419D5CA}"/>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3520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DADF1D4-19DF-4B0F-85A8-272F546FD19C}"/>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BFAFCB"/>
                </a:solidFill>
                <a:latin typeface="Aptos"/>
                <a:ea typeface="Aptos"/>
                <a:cs typeface="Aptos"/>
              </a:defRPr>
            </a:pPr>
            <a:r>
              <a:rPr sz="900" b="1" i="0">
                <a:solidFill>
                  <a:srgbClr val="BFAFCB"/>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3ABA09BB-6D3A-4794-A3AF-EC69BD41C31D}"/>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C9B6FF"/>
                </a:solidFill>
                <a:latin typeface="Aptos"/>
                <a:ea typeface="Aptos"/>
                <a:cs typeface="Aptos"/>
              </a:defRPr>
            </a:pPr>
            <a:r>
              <a:rPr sz="1050" b="1" i="0">
                <a:solidFill>
                  <a:srgbClr val="C9B6FF"/>
                </a:solidFill>
                <a:latin typeface="Aptos"/>
                <a:ea typeface="Aptos"/>
                <a:cs typeface="Aptos"/>
              </a:rPr>
              <a:t>29</a:t>
            </a:r>
          </a:p>
        </p:txBody>
      </p:sp>
      <p:sp>
        <p:nvSpPr>
          <p:cNvPr id="6" name="">
            <a:extLst xmlns:a="http://schemas.openxmlformats.org/drawingml/2006/main">
              <a:ext uri="{FF2B5EF4-FFF2-40B4-BE49-F238E27FC236}">
                <a16:creationId xmlns:a16="http://schemas.microsoft.com/office/drawing/2014/main" id="{C9888974-0EF9-414D-B135-556B638750AC}"/>
              </a:ext>
            </a:extLst>
          </p:cNvPr>
          <p:cNvSpPr>
            <a:spLocks xmlns:a="http://schemas.openxmlformats.org/drawingml/2006/main" noGrp="1"/>
          </p:cNvSpPr>
          <p:nvPr/>
        </p:nvSpPr>
        <p:spPr>
          <a:xfrm xmlns:a="http://schemas.openxmlformats.org/drawingml/2006/main">
            <a:off x="762000" y="1714500"/>
            <a:ext cx="10668000" cy="3752850"/>
          </a:xfrm>
          <a:prstGeom xmlns:a="http://schemas.openxmlformats.org/drawingml/2006/main" prst="roundRect">
            <a:avLst>
              <a:gd name="adj" fmla="val 4061"/>
            </a:avLst>
          </a:prstGeom>
          <a:solidFill xmlns:a="http://schemas.openxmlformats.org/drawingml/2006/main">
            <a:srgbClr val="28183A"/>
          </a:solidFill>
          <a:ln xmlns:a="http://schemas.openxmlformats.org/drawingml/2006/main" w="9525">
            <a:solidFill>
              <a:srgbClr val="4A335D"/>
            </a:solidFill>
            <a:prstDash val="solid"/>
          </a:ln>
        </p:spPr>
      </p:sp>
      <p:sp>
        <p:nvSpPr>
          <p:cNvPr id="7" name="">
            <a:extLst xmlns:a="http://schemas.openxmlformats.org/drawingml/2006/main">
              <a:ext uri="{FF2B5EF4-FFF2-40B4-BE49-F238E27FC236}">
                <a16:creationId xmlns:a16="http://schemas.microsoft.com/office/drawing/2014/main" id="{E7BC5BC6-EB19-40D9-8142-4CDB3A82399F}"/>
              </a:ext>
            </a:extLst>
          </p:cNvPr>
          <p:cNvSpPr>
            <a:spLocks xmlns:a="http://schemas.openxmlformats.org/drawingml/2006/main" noGrp="1"/>
          </p:cNvSpPr>
          <p:nvPr/>
        </p:nvSpPr>
        <p:spPr>
          <a:xfrm xmlns:a="http://schemas.openxmlformats.org/drawingml/2006/main">
            <a:off x="762000" y="1714500"/>
            <a:ext cx="10668000" cy="400050"/>
          </a:xfrm>
          <a:prstGeom xmlns:a="http://schemas.openxmlformats.org/drawingml/2006/main" prst="roundRect">
            <a:avLst>
              <a:gd name="adj" fmla="val 38095"/>
            </a:avLst>
          </a:prstGeom>
          <a:solidFill xmlns:a="http://schemas.openxmlformats.org/drawingml/2006/main">
            <a:srgbClr val="21122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ED6BD52-1361-4D41-B287-3C1C5A654111}"/>
              </a:ext>
            </a:extLst>
          </p:cNvPr>
          <p:cNvSpPr>
            <a:spLocks xmlns:a="http://schemas.openxmlformats.org/drawingml/2006/main" noGrp="1"/>
          </p:cNvSpPr>
          <p:nvPr/>
        </p:nvSpPr>
        <p:spPr>
          <a:xfrm xmlns:a="http://schemas.openxmlformats.org/drawingml/2006/main">
            <a:off x="762000" y="1981200"/>
            <a:ext cx="10668000" cy="133350"/>
          </a:xfrm>
          <a:prstGeom xmlns:a="http://schemas.openxmlformats.org/drawingml/2006/main" prst="rect">
            <a:avLst/>
          </a:prstGeom>
          <a:solidFill xmlns:a="http://schemas.openxmlformats.org/drawingml/2006/main">
            <a:srgbClr val="21122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417C470-CF85-44BF-B5F5-B3EECC96BA1A}"/>
              </a:ext>
            </a:extLst>
          </p:cNvPr>
          <p:cNvSpPr>
            <a:spLocks xmlns:a="http://schemas.openxmlformats.org/drawingml/2006/main" noGrp="1"/>
          </p:cNvSpPr>
          <p:nvPr/>
        </p:nvSpPr>
        <p:spPr>
          <a:xfrm xmlns:a="http://schemas.openxmlformats.org/drawingml/2006/main">
            <a:off x="933450" y="1866900"/>
            <a:ext cx="95250" cy="95250"/>
          </a:xfrm>
          <a:prstGeom xmlns:a="http://schemas.openxmlformats.org/drawingml/2006/main" prst="roundRect">
            <a:avLst>
              <a:gd name="adj" fmla="val 50000"/>
            </a:avLst>
          </a:prstGeom>
          <a:solidFill xmlns:a="http://schemas.openxmlformats.org/drawingml/2006/main">
            <a:srgbClr val="FF7B7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5A26308-2FEB-4C5F-853B-69979C4C0596}"/>
              </a:ext>
            </a:extLst>
          </p:cNvPr>
          <p:cNvSpPr>
            <a:spLocks xmlns:a="http://schemas.openxmlformats.org/drawingml/2006/main" noGrp="1"/>
          </p:cNvSpPr>
          <p:nvPr/>
        </p:nvSpPr>
        <p:spPr>
          <a:xfrm xmlns:a="http://schemas.openxmlformats.org/drawingml/2006/main">
            <a:off x="1104900" y="1866900"/>
            <a:ext cx="95250" cy="95250"/>
          </a:xfrm>
          <a:prstGeom xmlns:a="http://schemas.openxmlformats.org/drawingml/2006/main" prst="roundRect">
            <a:avLst>
              <a:gd name="adj" fmla="val 50000"/>
            </a:avLst>
          </a:prstGeom>
          <a:solidFill xmlns:a="http://schemas.openxmlformats.org/drawingml/2006/main">
            <a:srgbClr val="FFC66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37C462D-5F49-407F-9D00-AA19D6476B1E}"/>
              </a:ext>
            </a:extLst>
          </p:cNvPr>
          <p:cNvSpPr>
            <a:spLocks xmlns:a="http://schemas.openxmlformats.org/drawingml/2006/main" noGrp="1"/>
          </p:cNvSpPr>
          <p:nvPr/>
        </p:nvSpPr>
        <p:spPr>
          <a:xfrm xmlns:a="http://schemas.openxmlformats.org/drawingml/2006/main">
            <a:off x="1276350" y="1866900"/>
            <a:ext cx="95250" cy="95250"/>
          </a:xfrm>
          <a:prstGeom xmlns:a="http://schemas.openxmlformats.org/drawingml/2006/main" prst="roundRect">
            <a:avLst>
              <a:gd name="adj" fmla="val 50000"/>
            </a:avLst>
          </a:prstGeom>
          <a:solidFill xmlns:a="http://schemas.openxmlformats.org/drawingml/2006/main">
            <a:srgbClr val="70D6A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E1CB042-084B-4CE4-A0CB-A09D8CB7C5D6}"/>
              </a:ext>
            </a:extLst>
          </p:cNvPr>
          <p:cNvSpPr>
            <a:spLocks xmlns:a="http://schemas.openxmlformats.org/drawingml/2006/main" noGrp="1"/>
          </p:cNvSpPr>
          <p:nvPr/>
        </p:nvSpPr>
        <p:spPr>
          <a:xfrm xmlns:a="http://schemas.openxmlformats.org/drawingml/2006/main">
            <a:off x="1543050" y="1828800"/>
            <a:ext cx="971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FF6B4A"/>
                </a:solidFill>
                <a:latin typeface="Aptos"/>
                <a:ea typeface="Aptos"/>
                <a:cs typeface="Aptos"/>
              </a:defRPr>
            </a:pPr>
            <a:r>
              <a:rPr sz="900" b="1" i="0">
                <a:solidFill>
                  <a:srgbClr val="FF6B4A"/>
                </a:solidFill>
                <a:latin typeface="Aptos"/>
                <a:ea typeface="Aptos"/>
                <a:cs typeface="Aptos"/>
              </a:rPr>
              <a:t>FAILED SERVICE → VERIFIED ENDPOINT</a:t>
            </a:r>
          </a:p>
        </p:txBody>
      </p:sp>
      <p:sp>
        <p:nvSpPr>
          <p:cNvPr id="13" name="">
            <a:extLst xmlns:a="http://schemas.openxmlformats.org/drawingml/2006/main">
              <a:ext uri="{FF2B5EF4-FFF2-40B4-BE49-F238E27FC236}">
                <a16:creationId xmlns:a16="http://schemas.microsoft.com/office/drawing/2014/main" id="{F7678265-E1CF-4478-9773-56C70B6118B3}"/>
              </a:ext>
            </a:extLst>
          </p:cNvPr>
          <p:cNvSpPr>
            <a:spLocks xmlns:a="http://schemas.openxmlformats.org/drawingml/2006/main" noGrp="1"/>
          </p:cNvSpPr>
          <p:nvPr/>
        </p:nvSpPr>
        <p:spPr>
          <a:xfrm xmlns:a="http://schemas.openxmlformats.org/drawingml/2006/main">
            <a:off x="990600" y="2286000"/>
            <a:ext cx="102108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systemctl status demo-web --no-pager</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sudo journalctl -u demo-web --since "-5 min" --no-pager</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systemctl cat demo-web</a:t>
            </a:r>
          </a:p>
          <a:p xmlns:a="http://schemas.openxmlformats.org/drawingml/2006/main">
            <a:r>
              <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 repair missing user + working directory</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sudo systemctl restart demo-web</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systemctl is-active demo-web</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curl -fsS http://localhost:8090</a:t>
            </a:r>
          </a:p>
        </p:txBody>
      </p:sp>
      <p:sp>
        <p:nvSpPr>
          <p:cNvPr id="14" name="">
            <a:extLst xmlns:a="http://schemas.openxmlformats.org/drawingml/2006/main">
              <a:ext uri="{FF2B5EF4-FFF2-40B4-BE49-F238E27FC236}">
                <a16:creationId xmlns:a16="http://schemas.microsoft.com/office/drawing/2014/main" id="{D2DDF713-7C35-4595-AE97-FFF039E5F694}"/>
              </a:ext>
            </a:extLst>
          </p:cNvPr>
          <p:cNvSpPr>
            <a:spLocks xmlns:a="http://schemas.openxmlformats.org/drawingml/2006/main" noGrp="1"/>
          </p:cNvSpPr>
          <p:nvPr/>
        </p:nvSpPr>
        <p:spPr>
          <a:xfrm xmlns:a="http://schemas.openxmlformats.org/drawingml/2006/main">
            <a:off x="762000" y="57150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875" b="1" i="0">
                <a:solidFill>
                  <a:srgbClr val="70D6A6"/>
                </a:solidFill>
                <a:latin typeface="Aptos"/>
                <a:ea typeface="Aptos"/>
                <a:cs typeface="Aptos"/>
              </a:defRPr>
            </a:pPr>
            <a:r>
              <a:rPr sz="1875" b="1" i="0">
                <a:solidFill>
                  <a:srgbClr val="70D6A6"/>
                </a:solidFill>
                <a:latin typeface="Aptos"/>
                <a:ea typeface="Aptos"/>
                <a:cs typeface="Aptos"/>
              </a:rPr>
              <a:t>State + logs + configuration + behavior</a:t>
            </a:r>
          </a:p>
        </p:txBody>
      </p:sp>
    </p:spTree>
    <p:extLst>
      <p:ext uri="{BB962C8B-B14F-4D97-AF65-F5344CB8AC3E}">
        <p14:creationId xmlns:p14="http://schemas.microsoft.com/office/powerpoint/2010/main" val="293971651"/>
      </p:ext>
    </p:extLst>
  </p:cSld>
</p:sld>
</file>

<file path=ppt/slides/slide30.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4F95A51-4497-444B-8AFA-953E41D65704}"/>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THEORY CHECKPOINT</a:t>
            </a:r>
          </a:p>
        </p:txBody>
      </p:sp>
      <p:sp>
        <p:nvSpPr>
          <p:cNvPr id="2" name="">
            <a:extLst xmlns:a="http://schemas.openxmlformats.org/drawingml/2006/main">
              <a:ext uri="{FF2B5EF4-FFF2-40B4-BE49-F238E27FC236}">
                <a16:creationId xmlns:a16="http://schemas.microsoft.com/office/drawing/2014/main" id="{28FC8F5D-5479-40B8-891F-243C6DA353E4}"/>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465"/>
          </a:bodyPr>
          <a:lstStyle xmlns:a="http://schemas.openxmlformats.org/drawingml/2006/main"/>
          <a:p xmlns:a="http://schemas.openxmlformats.org/drawingml/2006/main">
            <a:pPr algn="l">
              <a:lnSpc>
                <a:spcPct val="94000"/>
              </a:lnSpc>
              <a:buNone/>
              <a:defRPr sz="3750" b="1" i="0">
                <a:solidFill>
                  <a:srgbClr val="160B20"/>
                </a:solidFill>
                <a:latin typeface="Aptos"/>
                <a:ea typeface="Aptos"/>
                <a:cs typeface="Aptos"/>
              </a:defRPr>
            </a:pPr>
            <a:r>
              <a:rPr sz="3750" b="1" i="0">
                <a:solidFill>
                  <a:srgbClr val="160B20"/>
                </a:solidFill>
                <a:latin typeface="Aptos"/>
                <a:ea typeface="Aptos"/>
                <a:cs typeface="Aptos"/>
              </a:rPr>
              <a:t>A safe operator closes every change with evidence</a:t>
            </a:r>
          </a:p>
        </p:txBody>
      </p:sp>
      <p:sp>
        <p:nvSpPr>
          <p:cNvPr id="3" name="">
            <a:extLst xmlns:a="http://schemas.openxmlformats.org/drawingml/2006/main">
              <a:ext uri="{FF2B5EF4-FFF2-40B4-BE49-F238E27FC236}">
                <a16:creationId xmlns:a16="http://schemas.microsoft.com/office/drawing/2014/main" id="{40BAC913-C13D-4D76-AB21-32093E802595}"/>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E7DC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D257B44-2676-4F4D-BE98-E48FFAA6F3F7}"/>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6F6277"/>
                </a:solidFill>
                <a:latin typeface="Aptos"/>
                <a:ea typeface="Aptos"/>
                <a:cs typeface="Aptos"/>
              </a:defRPr>
            </a:pPr>
            <a:r>
              <a:rPr sz="900" b="1" i="0">
                <a:solidFill>
                  <a:srgbClr val="6F6277"/>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6DF9BF86-C315-432A-B626-70B22201E051}"/>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8B5CF6"/>
                </a:solidFill>
                <a:latin typeface="Aptos"/>
                <a:ea typeface="Aptos"/>
                <a:cs typeface="Aptos"/>
              </a:defRPr>
            </a:pPr>
            <a:r>
              <a:rPr sz="1050" b="1" i="0">
                <a:solidFill>
                  <a:srgbClr val="8B5CF6"/>
                </a:solidFill>
                <a:latin typeface="Aptos"/>
                <a:ea typeface="Aptos"/>
                <a:cs typeface="Aptos"/>
              </a:rPr>
              <a:t>30</a:t>
            </a:r>
          </a:p>
        </p:txBody>
      </p:sp>
      <p:sp>
        <p:nvSpPr>
          <p:cNvPr id="6" name="">
            <a:extLst xmlns:a="http://schemas.openxmlformats.org/drawingml/2006/main">
              <a:ext uri="{FF2B5EF4-FFF2-40B4-BE49-F238E27FC236}">
                <a16:creationId xmlns:a16="http://schemas.microsoft.com/office/drawing/2014/main" id="{2E8CB754-88C1-4254-A281-6FAD3C7A32E9}"/>
              </a:ext>
            </a:extLst>
          </p:cNvPr>
          <p:cNvSpPr>
            <a:spLocks xmlns:a="http://schemas.openxmlformats.org/drawingml/2006/main" noGrp="1"/>
          </p:cNvSpPr>
          <p:nvPr/>
        </p:nvSpPr>
        <p:spPr>
          <a:xfrm xmlns:a="http://schemas.openxmlformats.org/drawingml/2006/main">
            <a:off x="742950" y="1924050"/>
            <a:ext cx="704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3750" b="1" i="0">
                <a:solidFill>
                  <a:srgbClr val="8B5CF6"/>
                </a:solidFill>
                <a:latin typeface="Aptos"/>
                <a:ea typeface="Aptos"/>
                <a:cs typeface="Aptos"/>
              </a:defRPr>
            </a:pPr>
            <a:r>
              <a:rPr sz="3750" b="1" i="0">
                <a:solidFill>
                  <a:srgbClr val="8B5CF6"/>
                </a:solidFill>
                <a:latin typeface="Aptos"/>
                <a:ea typeface="Aptos"/>
                <a:cs typeface="Aptos"/>
              </a:rPr>
              <a:t>1</a:t>
            </a:r>
          </a:p>
        </p:txBody>
      </p:sp>
      <p:sp>
        <p:nvSpPr>
          <p:cNvPr id="7" name="">
            <a:extLst xmlns:a="http://schemas.openxmlformats.org/drawingml/2006/main">
              <a:ext uri="{FF2B5EF4-FFF2-40B4-BE49-F238E27FC236}">
                <a16:creationId xmlns:a16="http://schemas.microsoft.com/office/drawing/2014/main" id="{BDFAF85C-0624-4D1E-ABA9-CF66FF409440}"/>
              </a:ext>
            </a:extLst>
          </p:cNvPr>
          <p:cNvSpPr>
            <a:spLocks xmlns:a="http://schemas.openxmlformats.org/drawingml/2006/main" noGrp="1"/>
          </p:cNvSpPr>
          <p:nvPr/>
        </p:nvSpPr>
        <p:spPr>
          <a:xfrm xmlns:a="http://schemas.openxmlformats.org/drawingml/2006/main">
            <a:off x="666750" y="2800350"/>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2100" b="1" i="0">
                <a:solidFill>
                  <a:srgbClr val="160B20"/>
                </a:solidFill>
                <a:latin typeface="Aptos"/>
                <a:ea typeface="Aptos"/>
                <a:cs typeface="Aptos"/>
              </a:defRPr>
            </a:pPr>
            <a:r>
              <a:rPr sz="2100" b="1" i="0">
                <a:solidFill>
                  <a:srgbClr val="160B20"/>
                </a:solidFill>
                <a:latin typeface="Aptos"/>
                <a:ea typeface="Aptos"/>
                <a:cs typeface="Aptos"/>
              </a:rPr>
              <a:t>Locate</a:t>
            </a:r>
          </a:p>
        </p:txBody>
      </p:sp>
      <p:sp>
        <p:nvSpPr>
          <p:cNvPr id="8" name="">
            <a:extLst xmlns:a="http://schemas.openxmlformats.org/drawingml/2006/main">
              <a:ext uri="{FF2B5EF4-FFF2-40B4-BE49-F238E27FC236}">
                <a16:creationId xmlns:a16="http://schemas.microsoft.com/office/drawing/2014/main" id="{D0585CE6-0F8F-4D12-B7B9-74B0DE2482D9}"/>
              </a:ext>
            </a:extLst>
          </p:cNvPr>
          <p:cNvSpPr>
            <a:spLocks xmlns:a="http://schemas.openxmlformats.org/drawingml/2006/main" noGrp="1"/>
          </p:cNvSpPr>
          <p:nvPr/>
        </p:nvSpPr>
        <p:spPr>
          <a:xfrm xmlns:a="http://schemas.openxmlformats.org/drawingml/2006/main">
            <a:off x="457200" y="3390900"/>
            <a:ext cx="1905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0000"/>
              </a:lnSpc>
              <a:buNone/>
              <a:defRPr sz="1500" b="0" i="0">
                <a:solidFill>
                  <a:srgbClr val="514658"/>
                </a:solidFill>
                <a:latin typeface="Aptos"/>
                <a:ea typeface="Aptos"/>
                <a:cs typeface="Aptos"/>
              </a:defRPr>
            </a:pPr>
            <a:r>
              <a:rPr sz="1500" b="0" i="0">
                <a:solidFill>
                  <a:srgbClr val="514658"/>
                </a:solidFill>
                <a:latin typeface="Aptos"/>
                <a:ea typeface="Aptos"/>
                <a:cs typeface="Aptos"/>
              </a:rPr>
              <a:t>browser or session · user · directory</a:t>
            </a:r>
          </a:p>
        </p:txBody>
      </p:sp>
      <p:sp>
        <p:nvSpPr>
          <p:cNvPr id="9" name="">
            <a:extLst xmlns:a="http://schemas.openxmlformats.org/drawingml/2006/main">
              <a:ext uri="{FF2B5EF4-FFF2-40B4-BE49-F238E27FC236}">
                <a16:creationId xmlns:a16="http://schemas.microsoft.com/office/drawing/2014/main" id="{8FF36F69-2D94-4BDF-A634-049356B94F25}"/>
              </a:ext>
            </a:extLst>
          </p:cNvPr>
          <p:cNvSpPr>
            <a:spLocks xmlns:a="http://schemas.openxmlformats.org/drawingml/2006/main" noGrp="1"/>
          </p:cNvSpPr>
          <p:nvPr/>
        </p:nvSpPr>
        <p:spPr>
          <a:xfrm xmlns:a="http://schemas.openxmlformats.org/drawingml/2006/main">
            <a:off x="3009900" y="1924050"/>
            <a:ext cx="704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3750" b="1" i="0">
                <a:solidFill>
                  <a:srgbClr val="FF6B4A"/>
                </a:solidFill>
                <a:latin typeface="Aptos"/>
                <a:ea typeface="Aptos"/>
                <a:cs typeface="Aptos"/>
              </a:defRPr>
            </a:pPr>
            <a:r>
              <a:rPr sz="3750" b="1" i="0">
                <a:solidFill>
                  <a:srgbClr val="FF6B4A"/>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329FB045-3165-48D3-BC52-10DBF2856F8A}"/>
              </a:ext>
            </a:extLst>
          </p:cNvPr>
          <p:cNvSpPr>
            <a:spLocks xmlns:a="http://schemas.openxmlformats.org/drawingml/2006/main" noGrp="1"/>
          </p:cNvSpPr>
          <p:nvPr/>
        </p:nvSpPr>
        <p:spPr>
          <a:xfrm xmlns:a="http://schemas.openxmlformats.org/drawingml/2006/main">
            <a:off x="2933700" y="2800350"/>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2100" b="1" i="0">
                <a:solidFill>
                  <a:srgbClr val="160B20"/>
                </a:solidFill>
                <a:latin typeface="Aptos"/>
                <a:ea typeface="Aptos"/>
                <a:cs typeface="Aptos"/>
              </a:defRPr>
            </a:pPr>
            <a:r>
              <a:rPr sz="2100" b="1" i="0">
                <a:solidFill>
                  <a:srgbClr val="160B20"/>
                </a:solidFill>
                <a:latin typeface="Aptos"/>
                <a:ea typeface="Aptos"/>
                <a:cs typeface="Aptos"/>
              </a:rPr>
              <a:t>Predict</a:t>
            </a:r>
          </a:p>
        </p:txBody>
      </p:sp>
      <p:sp>
        <p:nvSpPr>
          <p:cNvPr id="11" name="">
            <a:extLst xmlns:a="http://schemas.openxmlformats.org/drawingml/2006/main">
              <a:ext uri="{FF2B5EF4-FFF2-40B4-BE49-F238E27FC236}">
                <a16:creationId xmlns:a16="http://schemas.microsoft.com/office/drawing/2014/main" id="{97FFAE92-1DF7-4598-AA36-CF95A8D1F164}"/>
              </a:ext>
            </a:extLst>
          </p:cNvPr>
          <p:cNvSpPr>
            <a:spLocks xmlns:a="http://schemas.openxmlformats.org/drawingml/2006/main" noGrp="1"/>
          </p:cNvSpPr>
          <p:nvPr/>
        </p:nvSpPr>
        <p:spPr>
          <a:xfrm xmlns:a="http://schemas.openxmlformats.org/drawingml/2006/main">
            <a:off x="2724150" y="3390900"/>
            <a:ext cx="1905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0000"/>
              </a:lnSpc>
              <a:buNone/>
              <a:defRPr sz="1500" b="0" i="0">
                <a:solidFill>
                  <a:srgbClr val="514658"/>
                </a:solidFill>
                <a:latin typeface="Aptos"/>
                <a:ea typeface="Aptos"/>
                <a:cs typeface="Aptos"/>
              </a:defRPr>
            </a:pPr>
            <a:r>
              <a:rPr sz="1500" b="0" i="0">
                <a:solidFill>
                  <a:srgbClr val="514658"/>
                </a:solidFill>
                <a:latin typeface="Aptos"/>
                <a:ea typeface="Aptos"/>
                <a:cs typeface="Aptos"/>
              </a:rPr>
              <a:t>what state should change?</a:t>
            </a:r>
          </a:p>
        </p:txBody>
      </p:sp>
      <p:sp>
        <p:nvSpPr>
          <p:cNvPr id="12" name="">
            <a:extLst xmlns:a="http://schemas.openxmlformats.org/drawingml/2006/main">
              <a:ext uri="{FF2B5EF4-FFF2-40B4-BE49-F238E27FC236}">
                <a16:creationId xmlns:a16="http://schemas.microsoft.com/office/drawing/2014/main" id="{5D1B5DC8-89A2-4600-9512-2CA22B67D098}"/>
              </a:ext>
            </a:extLst>
          </p:cNvPr>
          <p:cNvSpPr>
            <a:spLocks xmlns:a="http://schemas.openxmlformats.org/drawingml/2006/main" noGrp="1"/>
          </p:cNvSpPr>
          <p:nvPr/>
        </p:nvSpPr>
        <p:spPr>
          <a:xfrm xmlns:a="http://schemas.openxmlformats.org/drawingml/2006/main">
            <a:off x="5276850" y="1924050"/>
            <a:ext cx="704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3750" b="1" i="0">
                <a:solidFill>
                  <a:srgbClr val="8B5CF6"/>
                </a:solidFill>
                <a:latin typeface="Aptos"/>
                <a:ea typeface="Aptos"/>
                <a:cs typeface="Aptos"/>
              </a:defRPr>
            </a:pPr>
            <a:r>
              <a:rPr sz="3750" b="1" i="0">
                <a:solidFill>
                  <a:srgbClr val="8B5CF6"/>
                </a:solidFill>
                <a:latin typeface="Aptos"/>
                <a:ea typeface="Aptos"/>
                <a:cs typeface="Aptos"/>
              </a:rPr>
              <a:t>3</a:t>
            </a:r>
          </a:p>
        </p:txBody>
      </p:sp>
      <p:sp>
        <p:nvSpPr>
          <p:cNvPr id="13" name="">
            <a:extLst xmlns:a="http://schemas.openxmlformats.org/drawingml/2006/main">
              <a:ext uri="{FF2B5EF4-FFF2-40B4-BE49-F238E27FC236}">
                <a16:creationId xmlns:a16="http://schemas.microsoft.com/office/drawing/2014/main" id="{D92098A9-5DB4-4439-BC6D-C78B2A95A613}"/>
              </a:ext>
            </a:extLst>
          </p:cNvPr>
          <p:cNvSpPr>
            <a:spLocks xmlns:a="http://schemas.openxmlformats.org/drawingml/2006/main" noGrp="1"/>
          </p:cNvSpPr>
          <p:nvPr/>
        </p:nvSpPr>
        <p:spPr>
          <a:xfrm xmlns:a="http://schemas.openxmlformats.org/drawingml/2006/main">
            <a:off x="5200650" y="2800350"/>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2100" b="1" i="0">
                <a:solidFill>
                  <a:srgbClr val="160B20"/>
                </a:solidFill>
                <a:latin typeface="Aptos"/>
                <a:ea typeface="Aptos"/>
                <a:cs typeface="Aptos"/>
              </a:defRPr>
            </a:pPr>
            <a:r>
              <a:rPr sz="2100" b="1" i="0">
                <a:solidFill>
                  <a:srgbClr val="160B20"/>
                </a:solidFill>
                <a:latin typeface="Aptos"/>
                <a:ea typeface="Aptos"/>
                <a:cs typeface="Aptos"/>
              </a:rPr>
              <a:t>Act</a:t>
            </a:r>
          </a:p>
        </p:txBody>
      </p:sp>
      <p:sp>
        <p:nvSpPr>
          <p:cNvPr id="14" name="">
            <a:extLst xmlns:a="http://schemas.openxmlformats.org/drawingml/2006/main">
              <a:ext uri="{FF2B5EF4-FFF2-40B4-BE49-F238E27FC236}">
                <a16:creationId xmlns:a16="http://schemas.microsoft.com/office/drawing/2014/main" id="{2F9E4F3C-FFAC-47CF-B177-083A4E35C6EB}"/>
              </a:ext>
            </a:extLst>
          </p:cNvPr>
          <p:cNvSpPr>
            <a:spLocks xmlns:a="http://schemas.openxmlformats.org/drawingml/2006/main" noGrp="1"/>
          </p:cNvSpPr>
          <p:nvPr/>
        </p:nvSpPr>
        <p:spPr>
          <a:xfrm xmlns:a="http://schemas.openxmlformats.org/drawingml/2006/main">
            <a:off x="4991100" y="3390900"/>
            <a:ext cx="1905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0000"/>
              </a:lnSpc>
              <a:buNone/>
              <a:defRPr sz="1500" b="0" i="0">
                <a:solidFill>
                  <a:srgbClr val="514658"/>
                </a:solidFill>
                <a:latin typeface="Aptos"/>
                <a:ea typeface="Aptos"/>
                <a:cs typeface="Aptos"/>
              </a:defRPr>
            </a:pPr>
            <a:r>
              <a:rPr sz="1500" b="0" i="0">
                <a:solidFill>
                  <a:srgbClr val="514658"/>
                </a:solidFill>
                <a:latin typeface="Aptos"/>
                <a:ea typeface="Aptos"/>
                <a:cs typeface="Aptos"/>
              </a:rPr>
              <a:t>one scoped command</a:t>
            </a:r>
          </a:p>
        </p:txBody>
      </p:sp>
      <p:sp>
        <p:nvSpPr>
          <p:cNvPr id="15" name="">
            <a:extLst xmlns:a="http://schemas.openxmlformats.org/drawingml/2006/main">
              <a:ext uri="{FF2B5EF4-FFF2-40B4-BE49-F238E27FC236}">
                <a16:creationId xmlns:a16="http://schemas.microsoft.com/office/drawing/2014/main" id="{BD52265C-F668-449E-AC96-E363E9D88222}"/>
              </a:ext>
            </a:extLst>
          </p:cNvPr>
          <p:cNvSpPr>
            <a:spLocks xmlns:a="http://schemas.openxmlformats.org/drawingml/2006/main" noGrp="1"/>
          </p:cNvSpPr>
          <p:nvPr/>
        </p:nvSpPr>
        <p:spPr>
          <a:xfrm xmlns:a="http://schemas.openxmlformats.org/drawingml/2006/main">
            <a:off x="7543800" y="1924050"/>
            <a:ext cx="704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3750" b="1" i="0">
                <a:solidFill>
                  <a:srgbClr val="FF6B4A"/>
                </a:solidFill>
                <a:latin typeface="Aptos"/>
                <a:ea typeface="Aptos"/>
                <a:cs typeface="Aptos"/>
              </a:defRPr>
            </a:pPr>
            <a:r>
              <a:rPr sz="3750" b="1" i="0">
                <a:solidFill>
                  <a:srgbClr val="FF6B4A"/>
                </a:solidFill>
                <a:latin typeface="Aptos"/>
                <a:ea typeface="Aptos"/>
                <a:cs typeface="Aptos"/>
              </a:rPr>
              <a:t>4</a:t>
            </a:r>
          </a:p>
        </p:txBody>
      </p:sp>
      <p:sp>
        <p:nvSpPr>
          <p:cNvPr id="16" name="">
            <a:extLst xmlns:a="http://schemas.openxmlformats.org/drawingml/2006/main">
              <a:ext uri="{FF2B5EF4-FFF2-40B4-BE49-F238E27FC236}">
                <a16:creationId xmlns:a16="http://schemas.microsoft.com/office/drawing/2014/main" id="{64996AC0-6807-4697-8E3B-55ECE69DE1A9}"/>
              </a:ext>
            </a:extLst>
          </p:cNvPr>
          <p:cNvSpPr>
            <a:spLocks xmlns:a="http://schemas.openxmlformats.org/drawingml/2006/main" noGrp="1"/>
          </p:cNvSpPr>
          <p:nvPr/>
        </p:nvSpPr>
        <p:spPr>
          <a:xfrm xmlns:a="http://schemas.openxmlformats.org/drawingml/2006/main">
            <a:off x="7467600" y="2800350"/>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2100" b="1" i="0">
                <a:solidFill>
                  <a:srgbClr val="160B20"/>
                </a:solidFill>
                <a:latin typeface="Aptos"/>
                <a:ea typeface="Aptos"/>
                <a:cs typeface="Aptos"/>
              </a:defRPr>
            </a:pPr>
            <a:r>
              <a:rPr sz="2100" b="1" i="0">
                <a:solidFill>
                  <a:srgbClr val="160B20"/>
                </a:solidFill>
                <a:latin typeface="Aptos"/>
                <a:ea typeface="Aptos"/>
                <a:cs typeface="Aptos"/>
              </a:rPr>
              <a:t>Observe</a:t>
            </a:r>
          </a:p>
        </p:txBody>
      </p:sp>
      <p:sp>
        <p:nvSpPr>
          <p:cNvPr id="17" name="">
            <a:extLst xmlns:a="http://schemas.openxmlformats.org/drawingml/2006/main">
              <a:ext uri="{FF2B5EF4-FFF2-40B4-BE49-F238E27FC236}">
                <a16:creationId xmlns:a16="http://schemas.microsoft.com/office/drawing/2014/main" id="{DB9091D4-82EB-451A-9E17-4B44B2A1E06B}"/>
              </a:ext>
            </a:extLst>
          </p:cNvPr>
          <p:cNvSpPr>
            <a:spLocks xmlns:a="http://schemas.openxmlformats.org/drawingml/2006/main" noGrp="1"/>
          </p:cNvSpPr>
          <p:nvPr/>
        </p:nvSpPr>
        <p:spPr>
          <a:xfrm xmlns:a="http://schemas.openxmlformats.org/drawingml/2006/main">
            <a:off x="7258050" y="3390900"/>
            <a:ext cx="1905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0000"/>
              </a:lnSpc>
              <a:buNone/>
              <a:defRPr sz="1500" b="0" i="0">
                <a:solidFill>
                  <a:srgbClr val="514658"/>
                </a:solidFill>
                <a:latin typeface="Aptos"/>
                <a:ea typeface="Aptos"/>
                <a:cs typeface="Aptos"/>
              </a:defRPr>
            </a:pPr>
            <a:r>
              <a:rPr sz="1500" b="0" i="0">
                <a:solidFill>
                  <a:srgbClr val="514658"/>
                </a:solidFill>
                <a:latin typeface="Aptos"/>
                <a:ea typeface="Aptos"/>
                <a:cs typeface="Aptos"/>
              </a:rPr>
              <a:t>output · status · logs</a:t>
            </a:r>
          </a:p>
        </p:txBody>
      </p:sp>
      <p:sp>
        <p:nvSpPr>
          <p:cNvPr id="18" name="">
            <a:extLst xmlns:a="http://schemas.openxmlformats.org/drawingml/2006/main">
              <a:ext uri="{FF2B5EF4-FFF2-40B4-BE49-F238E27FC236}">
                <a16:creationId xmlns:a16="http://schemas.microsoft.com/office/drawing/2014/main" id="{88BCEA27-7BEA-4048-B3D3-E0C40DAC24CD}"/>
              </a:ext>
            </a:extLst>
          </p:cNvPr>
          <p:cNvSpPr>
            <a:spLocks xmlns:a="http://schemas.openxmlformats.org/drawingml/2006/main" noGrp="1"/>
          </p:cNvSpPr>
          <p:nvPr/>
        </p:nvSpPr>
        <p:spPr>
          <a:xfrm xmlns:a="http://schemas.openxmlformats.org/drawingml/2006/main">
            <a:off x="9810750" y="1924050"/>
            <a:ext cx="704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3750" b="1" i="0">
                <a:solidFill>
                  <a:srgbClr val="8B5CF6"/>
                </a:solidFill>
                <a:latin typeface="Aptos"/>
                <a:ea typeface="Aptos"/>
                <a:cs typeface="Aptos"/>
              </a:defRPr>
            </a:pPr>
            <a:r>
              <a:rPr sz="3750" b="1" i="0">
                <a:solidFill>
                  <a:srgbClr val="8B5CF6"/>
                </a:solidFill>
                <a:latin typeface="Aptos"/>
                <a:ea typeface="Aptos"/>
                <a:cs typeface="Aptos"/>
              </a:rPr>
              <a:t>5</a:t>
            </a:r>
          </a:p>
        </p:txBody>
      </p:sp>
      <p:sp>
        <p:nvSpPr>
          <p:cNvPr id="19" name="">
            <a:extLst xmlns:a="http://schemas.openxmlformats.org/drawingml/2006/main">
              <a:ext uri="{FF2B5EF4-FFF2-40B4-BE49-F238E27FC236}">
                <a16:creationId xmlns:a16="http://schemas.microsoft.com/office/drawing/2014/main" id="{58115941-CBCE-4AE6-946A-C866D4438F2F}"/>
              </a:ext>
            </a:extLst>
          </p:cNvPr>
          <p:cNvSpPr>
            <a:spLocks xmlns:a="http://schemas.openxmlformats.org/drawingml/2006/main" noGrp="1"/>
          </p:cNvSpPr>
          <p:nvPr/>
        </p:nvSpPr>
        <p:spPr>
          <a:xfrm xmlns:a="http://schemas.openxmlformats.org/drawingml/2006/main">
            <a:off x="9734550" y="2800350"/>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2100" b="1" i="0">
                <a:solidFill>
                  <a:srgbClr val="160B20"/>
                </a:solidFill>
                <a:latin typeface="Aptos"/>
                <a:ea typeface="Aptos"/>
                <a:cs typeface="Aptos"/>
              </a:defRPr>
            </a:pPr>
            <a:r>
              <a:rPr sz="2100" b="1" i="0">
                <a:solidFill>
                  <a:srgbClr val="160B20"/>
                </a:solidFill>
                <a:latin typeface="Aptos"/>
                <a:ea typeface="Aptos"/>
                <a:cs typeface="Aptos"/>
              </a:rPr>
              <a:t>Verify</a:t>
            </a:r>
          </a:p>
        </p:txBody>
      </p:sp>
      <p:sp>
        <p:nvSpPr>
          <p:cNvPr id="20" name="">
            <a:extLst xmlns:a="http://schemas.openxmlformats.org/drawingml/2006/main">
              <a:ext uri="{FF2B5EF4-FFF2-40B4-BE49-F238E27FC236}">
                <a16:creationId xmlns:a16="http://schemas.microsoft.com/office/drawing/2014/main" id="{9CA298BA-AD95-43AE-806D-D0A88D295789}"/>
              </a:ext>
            </a:extLst>
          </p:cNvPr>
          <p:cNvSpPr>
            <a:spLocks xmlns:a="http://schemas.openxmlformats.org/drawingml/2006/main" noGrp="1"/>
          </p:cNvSpPr>
          <p:nvPr/>
        </p:nvSpPr>
        <p:spPr>
          <a:xfrm xmlns:a="http://schemas.openxmlformats.org/drawingml/2006/main">
            <a:off x="9525000" y="3390900"/>
            <a:ext cx="1905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0000"/>
              </a:lnSpc>
              <a:buNone/>
              <a:defRPr sz="1500" b="0" i="0">
                <a:solidFill>
                  <a:srgbClr val="514658"/>
                </a:solidFill>
                <a:latin typeface="Aptos"/>
                <a:ea typeface="Aptos"/>
                <a:cs typeface="Aptos"/>
              </a:defRPr>
            </a:pPr>
            <a:r>
              <a:rPr sz="1500" b="0" i="0">
                <a:solidFill>
                  <a:srgbClr val="514658"/>
                </a:solidFill>
                <a:latin typeface="Aptos"/>
                <a:ea typeface="Aptos"/>
                <a:cs typeface="Aptos"/>
              </a:rPr>
              <a:t>behavior through another check</a:t>
            </a:r>
          </a:p>
        </p:txBody>
      </p:sp>
      <p:sp>
        <p:nvSpPr>
          <p:cNvPr id="21" name="">
            <a:extLst xmlns:a="http://schemas.openxmlformats.org/drawingml/2006/main">
              <a:ext uri="{FF2B5EF4-FFF2-40B4-BE49-F238E27FC236}">
                <a16:creationId xmlns:a16="http://schemas.microsoft.com/office/drawing/2014/main" id="{C6C4F14A-A18C-4E54-99E2-52F3E9F2CA4A}"/>
              </a:ext>
            </a:extLst>
          </p:cNvPr>
          <p:cNvSpPr>
            <a:spLocks xmlns:a="http://schemas.openxmlformats.org/drawingml/2006/main" noGrp="1"/>
          </p:cNvSpPr>
          <p:nvPr/>
        </p:nvSpPr>
        <p:spPr>
          <a:xfrm xmlns:a="http://schemas.openxmlformats.org/drawingml/2006/main">
            <a:off x="742950" y="4857750"/>
            <a:ext cx="10287000" cy="742950"/>
          </a:xfrm>
          <a:prstGeom xmlns:a="http://schemas.openxmlformats.org/drawingml/2006/main" prst="roundRect">
            <a:avLst>
              <a:gd name="adj" fmla="val 10256"/>
            </a:avLst>
          </a:prstGeom>
          <a:solidFill xmlns:a="http://schemas.openxmlformats.org/drawingml/2006/main">
            <a:srgbClr val="160B2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BDAF7F3-F4D5-4702-B95E-807CF6D23129}"/>
              </a:ext>
            </a:extLst>
          </p:cNvPr>
          <p:cNvSpPr>
            <a:spLocks xmlns:a="http://schemas.openxmlformats.org/drawingml/2006/main" noGrp="1"/>
          </p:cNvSpPr>
          <p:nvPr/>
        </p:nvSpPr>
        <p:spPr>
          <a:xfrm xmlns:a="http://schemas.openxmlformats.org/drawingml/2006/main">
            <a:off x="1028700" y="5067300"/>
            <a:ext cx="971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800" b="1" i="0">
                <a:solidFill>
                  <a:srgbClr val="FFF8EE"/>
                </a:solidFill>
                <a:latin typeface="Aptos"/>
                <a:ea typeface="Aptos"/>
                <a:cs typeface="Aptos"/>
              </a:defRPr>
            </a:pPr>
            <a:r>
              <a:rPr sz="1800" b="1" i="0">
                <a:solidFill>
                  <a:srgbClr val="FFF8EE"/>
                </a:solidFill>
                <a:latin typeface="Aptos"/>
                <a:ea typeface="Aptos"/>
                <a:cs typeface="Aptos"/>
              </a:rPr>
              <a:t>Pair prompt: explain this loop using the failed-service demo.</a:t>
            </a:r>
          </a:p>
        </p:txBody>
      </p:sp>
    </p:spTree>
    <p:extLst>
      <p:ext uri="{BB962C8B-B14F-4D97-AF65-F5344CB8AC3E}">
        <p14:creationId xmlns:p14="http://schemas.microsoft.com/office/powerpoint/2010/main" val="802295806"/>
      </p:ext>
    </p:extLst>
  </p:cSld>
</p:sld>
</file>

<file path=ppt/slides/slide31.xml><?xml version="1.0" encoding="utf-8"?>
<p:sld xmlns:p="http://schemas.openxmlformats.org/presentationml/2006/main">
  <p:cSld>
    <p:bg>
      <p:bgPr>
        <a:solidFill xmlns:a="http://schemas.openxmlformats.org/drawingml/2006/main">
          <a:srgbClr val="180D2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83898C4-90C5-46FC-B726-044C6E5C57EF}"/>
              </a:ext>
            </a:extLst>
          </p:cNvPr>
          <p:cNvSpPr>
            <a:spLocks xmlns:a="http://schemas.openxmlformats.org/drawingml/2006/main" noGrp="1"/>
          </p:cNvSpPr>
          <p:nvPr/>
        </p:nvSpPr>
        <p:spPr>
          <a:xfrm xmlns:a="http://schemas.openxmlformats.org/drawingml/2006/main">
            <a:off x="666750" y="60960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200" b="1" i="0">
                <a:solidFill>
                  <a:srgbClr val="FF6B4A"/>
                </a:solidFill>
                <a:latin typeface="Aptos"/>
                <a:ea typeface="Aptos"/>
                <a:cs typeface="Aptos"/>
              </a:defRPr>
            </a:pPr>
            <a:r>
              <a:rPr sz="1200" b="1" i="0">
                <a:solidFill>
                  <a:srgbClr val="FF6B4A"/>
                </a:solidFill>
                <a:latin typeface="Aptos"/>
                <a:ea typeface="Aptos"/>
                <a:cs typeface="Aptos"/>
              </a:rPr>
              <a:t>HANDS-ON BLOCK</a:t>
            </a:r>
          </a:p>
        </p:txBody>
      </p:sp>
      <p:sp>
        <p:nvSpPr>
          <p:cNvPr id="2" name="">
            <a:extLst xmlns:a="http://schemas.openxmlformats.org/drawingml/2006/main">
              <a:ext uri="{FF2B5EF4-FFF2-40B4-BE49-F238E27FC236}">
                <a16:creationId xmlns:a16="http://schemas.microsoft.com/office/drawing/2014/main" id="{9B4630AD-64F5-410B-93E6-336A237EF65B}"/>
              </a:ext>
            </a:extLst>
          </p:cNvPr>
          <p:cNvSpPr>
            <a:spLocks xmlns:a="http://schemas.openxmlformats.org/drawingml/2006/main" noGrp="1"/>
          </p:cNvSpPr>
          <p:nvPr/>
        </p:nvSpPr>
        <p:spPr>
          <a:xfrm xmlns:a="http://schemas.openxmlformats.org/drawingml/2006/main">
            <a:off x="666750" y="1562100"/>
            <a:ext cx="723900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0000"/>
              </a:lnSpc>
              <a:buNone/>
              <a:defRPr sz="4950" b="1" i="0">
                <a:solidFill>
                  <a:srgbClr val="FFF8EE"/>
                </a:solidFill>
                <a:latin typeface="Aptos"/>
                <a:ea typeface="Aptos"/>
                <a:cs typeface="Aptos"/>
              </a:defRPr>
            </a:pPr>
            <a:r>
              <a:rPr sz="4950" b="1" i="0">
                <a:solidFill>
                  <a:srgbClr val="FFF8EE"/>
                </a:solidFill>
                <a:latin typeface="Aptos"/>
                <a:ea typeface="Aptos"/>
                <a:cs typeface="Aptos"/>
              </a:rPr>
              <a:t>Three hours.</a:t>
            </a:r>
          </a:p>
          <a:p xmlns:a="http://schemas.openxmlformats.org/drawingml/2006/main">
            <a:pPr algn="l">
              <a:lnSpc>
                <a:spcPct val="90000"/>
              </a:lnSpc>
              <a:buNone/>
              <a:defRPr sz="4950" b="1" i="0">
                <a:solidFill>
                  <a:srgbClr val="FFF8EE"/>
                </a:solidFill>
                <a:latin typeface="Aptos"/>
                <a:ea typeface="Aptos"/>
                <a:cs typeface="Aptos"/>
              </a:defRPr>
            </a:pPr>
            <a:r>
              <a:rPr sz="4950" b="1" i="0">
                <a:solidFill>
                  <a:srgbClr val="FFF8EE"/>
                </a:solidFill>
                <a:latin typeface="Aptos"/>
                <a:ea typeface="Aptos"/>
                <a:cs typeface="Aptos"/>
              </a:rPr>
              <a:t>One browser.</a:t>
            </a:r>
          </a:p>
          <a:p xmlns:a="http://schemas.openxmlformats.org/drawingml/2006/main">
            <a:pPr algn="l">
              <a:lnSpc>
                <a:spcPct val="90000"/>
              </a:lnSpc>
              <a:buNone/>
              <a:defRPr sz="4950" b="1" i="0">
                <a:solidFill>
                  <a:srgbClr val="FFF8EE"/>
                </a:solidFill>
                <a:latin typeface="Aptos"/>
                <a:ea typeface="Aptos"/>
                <a:cs typeface="Aptos"/>
              </a:defRPr>
            </a:pPr>
            <a:r>
              <a:rPr sz="4950" b="1" i="0">
                <a:solidFill>
                  <a:srgbClr val="FFF8EE"/>
                </a:solidFill>
                <a:latin typeface="Aptos"/>
                <a:ea typeface="Aptos"/>
                <a:cs typeface="Aptos"/>
              </a:rPr>
              <a:t>Six checkpoints.</a:t>
            </a:r>
          </a:p>
        </p:txBody>
      </p:sp>
      <p:sp>
        <p:nvSpPr>
          <p:cNvPr id="3" name="">
            <a:extLst xmlns:a="http://schemas.openxmlformats.org/drawingml/2006/main">
              <a:ext uri="{FF2B5EF4-FFF2-40B4-BE49-F238E27FC236}">
                <a16:creationId xmlns:a16="http://schemas.microsoft.com/office/drawing/2014/main" id="{F1F9596C-4B22-4611-B62C-93357F59CBC7}"/>
              </a:ext>
            </a:extLst>
          </p:cNvPr>
          <p:cNvSpPr>
            <a:spLocks xmlns:a="http://schemas.openxmlformats.org/drawingml/2006/main" noGrp="1"/>
          </p:cNvSpPr>
          <p:nvPr/>
        </p:nvSpPr>
        <p:spPr>
          <a:xfrm xmlns:a="http://schemas.openxmlformats.org/drawingml/2006/main">
            <a:off x="685800" y="4629150"/>
            <a:ext cx="7429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950" b="1" i="0">
                <a:solidFill>
                  <a:srgbClr val="C9B6FF"/>
                </a:solidFill>
                <a:latin typeface="Aptos"/>
                <a:ea typeface="Aptos"/>
                <a:cs typeface="Aptos"/>
              </a:defRPr>
            </a:pPr>
            <a:r>
              <a:rPr sz="1950" b="1" i="0">
                <a:solidFill>
                  <a:srgbClr val="C9B6FF"/>
                </a:solidFill>
                <a:latin typeface="Aptos"/>
                <a:ea typeface="Aptos"/>
                <a:cs typeface="Aptos"/>
              </a:rPr>
              <a:t>Work in pairs when useful. Driver types; navigator predicts and checks.</a:t>
            </a:r>
          </a:p>
        </p:txBody>
      </p:sp>
      <p:sp>
        <p:nvSpPr>
          <p:cNvPr id="4" name="">
            <a:extLst xmlns:a="http://schemas.openxmlformats.org/drawingml/2006/main">
              <a:ext uri="{FF2B5EF4-FFF2-40B4-BE49-F238E27FC236}">
                <a16:creationId xmlns:a16="http://schemas.microsoft.com/office/drawing/2014/main" id="{E2B113C8-23F2-4F87-B3BE-B837A520C394}"/>
              </a:ext>
            </a:extLst>
          </p:cNvPr>
          <p:cNvSpPr>
            <a:spLocks xmlns:a="http://schemas.openxmlformats.org/drawingml/2006/main" noGrp="1"/>
          </p:cNvSpPr>
          <p:nvPr/>
        </p:nvSpPr>
        <p:spPr>
          <a:xfrm xmlns:a="http://schemas.openxmlformats.org/drawingml/2006/main">
            <a:off x="9067800" y="1123950"/>
            <a:ext cx="1524000" cy="4095750"/>
          </a:xfrm>
          <a:prstGeom xmlns:a="http://schemas.openxmlformats.org/drawingml/2006/main" prst="roundRect">
            <a:avLst>
              <a:gd name="adj" fmla="val 10000"/>
            </a:avLst>
          </a:prstGeom>
          <a:gradFill xmlns:a="http://schemas.openxmlformats.org/drawingml/2006/main">
            <a:gsLst>
              <a:gs pos="0">
                <a:srgbClr val="8B5CF6"/>
              </a:gs>
              <a:gs pos="100000">
                <a:srgbClr val="FF6B4A"/>
              </a:gs>
            </a:gsLst>
            <a:lin ang="10800000"/>
          </a:gra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B83ED66-C1EE-42E2-9EE3-BB5E2465CCEF}"/>
              </a:ext>
            </a:extLst>
          </p:cNvPr>
          <p:cNvSpPr>
            <a:spLocks xmlns:a="http://schemas.openxmlformats.org/drawingml/2006/main" noGrp="1"/>
          </p:cNvSpPr>
          <p:nvPr/>
        </p:nvSpPr>
        <p:spPr>
          <a:xfrm xmlns:a="http://schemas.openxmlformats.org/drawingml/2006/main">
            <a:off x="9067800" y="1428750"/>
            <a:ext cx="1524000"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22000"/>
              </a:lnSpc>
              <a:buNone/>
              <a:defRPr sz="2850" b="1" i="0">
                <a:solidFill>
                  <a:srgbClr val="160B20"/>
                </a:solidFill>
                <a:latin typeface="Courier New"/>
                <a:ea typeface="Courier New"/>
                <a:cs typeface="Courier New"/>
              </a:defRPr>
            </a:pPr>
            <a:r>
              <a:rPr sz="2850" b="1" i="0">
                <a:solidFill>
                  <a:srgbClr val="160B20"/>
                </a:solidFill>
                <a:latin typeface="Courier New"/>
                <a:ea typeface="Courier New"/>
                <a:cs typeface="Courier New"/>
              </a:rPr>
              <a:t>01</a:t>
            </a:r>
          </a:p>
          <a:p xmlns:a="http://schemas.openxmlformats.org/drawingml/2006/main">
            <a:pPr algn="ctr">
              <a:lnSpc>
                <a:spcPct val="122000"/>
              </a:lnSpc>
              <a:buNone/>
              <a:defRPr sz="2850" b="1" i="0">
                <a:solidFill>
                  <a:srgbClr val="160B20"/>
                </a:solidFill>
                <a:latin typeface="Courier New"/>
                <a:ea typeface="Courier New"/>
                <a:cs typeface="Courier New"/>
              </a:defRPr>
            </a:pPr>
            <a:r>
              <a:rPr sz="2850" b="1" i="0">
                <a:solidFill>
                  <a:srgbClr val="160B20"/>
                </a:solidFill>
                <a:latin typeface="Courier New"/>
                <a:ea typeface="Courier New"/>
                <a:cs typeface="Courier New"/>
              </a:rPr>
              <a:t>02</a:t>
            </a:r>
          </a:p>
          <a:p xmlns:a="http://schemas.openxmlformats.org/drawingml/2006/main">
            <a:pPr algn="ctr">
              <a:lnSpc>
                <a:spcPct val="122000"/>
              </a:lnSpc>
              <a:buNone/>
              <a:defRPr sz="2850" b="1" i="0">
                <a:solidFill>
                  <a:srgbClr val="160B20"/>
                </a:solidFill>
                <a:latin typeface="Courier New"/>
                <a:ea typeface="Courier New"/>
                <a:cs typeface="Courier New"/>
              </a:defRPr>
            </a:pPr>
            <a:r>
              <a:rPr sz="2850" b="1" i="0">
                <a:solidFill>
                  <a:srgbClr val="160B20"/>
                </a:solidFill>
                <a:latin typeface="Courier New"/>
                <a:ea typeface="Courier New"/>
                <a:cs typeface="Courier New"/>
              </a:rPr>
              <a:t>03</a:t>
            </a:r>
          </a:p>
          <a:p xmlns:a="http://schemas.openxmlformats.org/drawingml/2006/main">
            <a:pPr algn="ctr">
              <a:lnSpc>
                <a:spcPct val="122000"/>
              </a:lnSpc>
              <a:buNone/>
              <a:defRPr sz="2850" b="1" i="0">
                <a:solidFill>
                  <a:srgbClr val="160B20"/>
                </a:solidFill>
                <a:latin typeface="Courier New"/>
                <a:ea typeface="Courier New"/>
                <a:cs typeface="Courier New"/>
              </a:defRPr>
            </a:pPr>
            <a:r>
              <a:rPr sz="2850" b="1" i="0">
                <a:solidFill>
                  <a:srgbClr val="160B20"/>
                </a:solidFill>
                <a:latin typeface="Courier New"/>
                <a:ea typeface="Courier New"/>
                <a:cs typeface="Courier New"/>
              </a:rPr>
              <a:t>04</a:t>
            </a:r>
          </a:p>
          <a:p xmlns:a="http://schemas.openxmlformats.org/drawingml/2006/main">
            <a:pPr algn="ctr">
              <a:lnSpc>
                <a:spcPct val="122000"/>
              </a:lnSpc>
              <a:buNone/>
              <a:defRPr sz="2850" b="1" i="0">
                <a:solidFill>
                  <a:srgbClr val="160B20"/>
                </a:solidFill>
                <a:latin typeface="Courier New"/>
                <a:ea typeface="Courier New"/>
                <a:cs typeface="Courier New"/>
              </a:defRPr>
            </a:pPr>
            <a:r>
              <a:rPr sz="2850" b="1" i="0">
                <a:solidFill>
                  <a:srgbClr val="160B20"/>
                </a:solidFill>
                <a:latin typeface="Courier New"/>
                <a:ea typeface="Courier New"/>
                <a:cs typeface="Courier New"/>
              </a:rPr>
              <a:t>05</a:t>
            </a:r>
          </a:p>
          <a:p xmlns:a="http://schemas.openxmlformats.org/drawingml/2006/main">
            <a:pPr algn="ctr">
              <a:lnSpc>
                <a:spcPct val="122000"/>
              </a:lnSpc>
              <a:buNone/>
              <a:defRPr sz="2850" b="1" i="0">
                <a:solidFill>
                  <a:srgbClr val="160B20"/>
                </a:solidFill>
                <a:latin typeface="Courier New"/>
                <a:ea typeface="Courier New"/>
                <a:cs typeface="Courier New"/>
              </a:defRPr>
            </a:pPr>
            <a:r>
              <a:rPr sz="2850" b="1" i="0">
                <a:solidFill>
                  <a:srgbClr val="160B20"/>
                </a:solidFill>
                <a:latin typeface="Courier New"/>
                <a:ea typeface="Courier New"/>
                <a:cs typeface="Courier New"/>
              </a:rPr>
              <a:t>06</a:t>
            </a:r>
          </a:p>
        </p:txBody>
      </p:sp>
      <p:sp>
        <p:nvSpPr>
          <p:cNvPr id="6" name="">
            <a:extLst xmlns:a="http://schemas.openxmlformats.org/drawingml/2006/main">
              <a:ext uri="{FF2B5EF4-FFF2-40B4-BE49-F238E27FC236}">
                <a16:creationId xmlns:a16="http://schemas.microsoft.com/office/drawing/2014/main" id="{244CA800-77F3-4176-874B-5CE69E0E371B}"/>
              </a:ext>
            </a:extLst>
          </p:cNvPr>
          <p:cNvSpPr>
            <a:spLocks xmlns:a="http://schemas.openxmlformats.org/drawingml/2006/main" noGrp="1"/>
          </p:cNvSpPr>
          <p:nvPr/>
        </p:nvSpPr>
        <p:spPr>
          <a:xfrm xmlns:a="http://schemas.openxmlformats.org/drawingml/2006/main">
            <a:off x="666750" y="62293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BFAFCB"/>
                </a:solidFill>
                <a:latin typeface="Aptos"/>
                <a:ea typeface="Aptos"/>
                <a:cs typeface="Aptos"/>
              </a:defRPr>
            </a:pPr>
            <a:r>
              <a:rPr sz="1050" b="1" i="0">
                <a:solidFill>
                  <a:srgbClr val="BFAFCB"/>
                </a:solidFill>
                <a:latin typeface="Aptos"/>
                <a:ea typeface="Aptos"/>
                <a:cs typeface="Aptos"/>
              </a:rPr>
              <a:t>BROWSER LAB: open your assigned seat link</a:t>
            </a:r>
          </a:p>
        </p:txBody>
      </p:sp>
    </p:spTree>
    <p:extLst>
      <p:ext uri="{BB962C8B-B14F-4D97-AF65-F5344CB8AC3E}">
        <p14:creationId xmlns:p14="http://schemas.microsoft.com/office/powerpoint/2010/main" val="1493679053"/>
      </p:ext>
    </p:extLst>
  </p:cSld>
</p:sld>
</file>

<file path=ppt/slides/slide32.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9833BD3-0672-4779-9EB3-8E71DC050B38}"/>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HANDS-ON</a:t>
            </a:r>
          </a:p>
        </p:txBody>
      </p:sp>
      <p:sp>
        <p:nvSpPr>
          <p:cNvPr id="2" name="">
            <a:extLst xmlns:a="http://schemas.openxmlformats.org/drawingml/2006/main">
              <a:ext uri="{FF2B5EF4-FFF2-40B4-BE49-F238E27FC236}">
                <a16:creationId xmlns:a16="http://schemas.microsoft.com/office/drawing/2014/main" id="{D247334C-6068-4782-81A5-2555B3D14565}"/>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787"/>
          </a:bodyPr>
          <a:lstStyle xmlns:a="http://schemas.openxmlformats.org/drawingml/2006/main"/>
          <a:p xmlns:a="http://schemas.openxmlformats.org/drawingml/2006/main">
            <a:pPr algn="l">
              <a:lnSpc>
                <a:spcPct val="94000"/>
              </a:lnSpc>
              <a:buNone/>
              <a:defRPr sz="3750" b="1" i="0">
                <a:solidFill>
                  <a:srgbClr val="160B20"/>
                </a:solidFill>
                <a:latin typeface="Aptos"/>
                <a:ea typeface="Aptos"/>
                <a:cs typeface="Aptos"/>
              </a:defRPr>
            </a:pPr>
            <a:r>
              <a:rPr sz="3750" b="1" i="0">
                <a:solidFill>
                  <a:srgbClr val="160B20"/>
                </a:solidFill>
                <a:latin typeface="Aptos"/>
                <a:ea typeface="Aptos"/>
                <a:cs typeface="Aptos"/>
              </a:rPr>
              <a:t>Labs 1–2 build the map, then turn data into evidence</a:t>
            </a:r>
          </a:p>
        </p:txBody>
      </p:sp>
      <p:sp>
        <p:nvSpPr>
          <p:cNvPr id="3" name="">
            <a:extLst xmlns:a="http://schemas.openxmlformats.org/drawingml/2006/main">
              <a:ext uri="{FF2B5EF4-FFF2-40B4-BE49-F238E27FC236}">
                <a16:creationId xmlns:a16="http://schemas.microsoft.com/office/drawing/2014/main" id="{5B7E1CFF-45E6-46A2-AC95-345A45864F6C}"/>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E7DC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48BD663-E972-4A30-92C1-C04C99DD27E6}"/>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6F6277"/>
                </a:solidFill>
                <a:latin typeface="Aptos"/>
                <a:ea typeface="Aptos"/>
                <a:cs typeface="Aptos"/>
              </a:defRPr>
            </a:pPr>
            <a:r>
              <a:rPr sz="900" b="1" i="0">
                <a:solidFill>
                  <a:srgbClr val="6F6277"/>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C00D4498-7AEF-4978-A0D4-A384B6DF2296}"/>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8B5CF6"/>
                </a:solidFill>
                <a:latin typeface="Aptos"/>
                <a:ea typeface="Aptos"/>
                <a:cs typeface="Aptos"/>
              </a:defRPr>
            </a:pPr>
            <a:r>
              <a:rPr sz="1050" b="1" i="0">
                <a:solidFill>
                  <a:srgbClr val="8B5CF6"/>
                </a:solidFill>
                <a:latin typeface="Aptos"/>
                <a:ea typeface="Aptos"/>
                <a:cs typeface="Aptos"/>
              </a:rPr>
              <a:t>32</a:t>
            </a:r>
          </a:p>
        </p:txBody>
      </p:sp>
      <p:sp>
        <p:nvSpPr>
          <p:cNvPr id="6" name="">
            <a:extLst xmlns:a="http://schemas.openxmlformats.org/drawingml/2006/main">
              <a:ext uri="{FF2B5EF4-FFF2-40B4-BE49-F238E27FC236}">
                <a16:creationId xmlns:a16="http://schemas.microsoft.com/office/drawing/2014/main" id="{324D7AA5-1B7A-46F0-B60D-AFDF7AA06C69}"/>
              </a:ext>
            </a:extLst>
          </p:cNvPr>
          <p:cNvSpPr>
            <a:spLocks xmlns:a="http://schemas.openxmlformats.org/drawingml/2006/main" noGrp="1"/>
          </p:cNvSpPr>
          <p:nvPr/>
        </p:nvSpPr>
        <p:spPr>
          <a:xfrm xmlns:a="http://schemas.openxmlformats.org/drawingml/2006/main">
            <a:off x="800100" y="17907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125" b="1" i="0">
                <a:solidFill>
                  <a:srgbClr val="FF6B4A"/>
                </a:solidFill>
                <a:latin typeface="Aptos"/>
                <a:ea typeface="Aptos"/>
                <a:cs typeface="Aptos"/>
              </a:defRPr>
            </a:pPr>
            <a:r>
              <a:rPr sz="1125" b="1" i="0">
                <a:solidFill>
                  <a:srgbClr val="FF6B4A"/>
                </a:solidFill>
                <a:latin typeface="Aptos"/>
                <a:ea typeface="Aptos"/>
                <a:cs typeface="Aptos"/>
              </a:rPr>
              <a:t>LAB 1 · 25 MIN</a:t>
            </a:r>
          </a:p>
        </p:txBody>
      </p:sp>
      <p:sp>
        <p:nvSpPr>
          <p:cNvPr id="7" name="">
            <a:extLst xmlns:a="http://schemas.openxmlformats.org/drawingml/2006/main">
              <a:ext uri="{FF2B5EF4-FFF2-40B4-BE49-F238E27FC236}">
                <a16:creationId xmlns:a16="http://schemas.microsoft.com/office/drawing/2014/main" id="{F9415872-9C11-409D-903F-82DFBD71123F}"/>
              </a:ext>
            </a:extLst>
          </p:cNvPr>
          <p:cNvSpPr>
            <a:spLocks xmlns:a="http://schemas.openxmlformats.org/drawingml/2006/main" noGrp="1"/>
          </p:cNvSpPr>
          <p:nvPr/>
        </p:nvSpPr>
        <p:spPr>
          <a:xfrm xmlns:a="http://schemas.openxmlformats.org/drawingml/2006/main">
            <a:off x="800100" y="2228850"/>
            <a:ext cx="4095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550" b="1" i="0">
                <a:solidFill>
                  <a:srgbClr val="160B20"/>
                </a:solidFill>
                <a:latin typeface="Aptos"/>
                <a:ea typeface="Aptos"/>
                <a:cs typeface="Aptos"/>
              </a:defRPr>
            </a:pPr>
            <a:r>
              <a:rPr sz="2550" b="1" i="0">
                <a:solidFill>
                  <a:srgbClr val="160B20"/>
                </a:solidFill>
                <a:latin typeface="Aptos"/>
                <a:ea typeface="Aptos"/>
                <a:cs typeface="Aptos"/>
              </a:rPr>
              <a:t>Filesystem fieldwork</a:t>
            </a:r>
          </a:p>
        </p:txBody>
      </p:sp>
      <p:sp>
        <p:nvSpPr>
          <p:cNvPr id="8" name="">
            <a:extLst xmlns:a="http://schemas.openxmlformats.org/drawingml/2006/main">
              <a:ext uri="{FF2B5EF4-FFF2-40B4-BE49-F238E27FC236}">
                <a16:creationId xmlns:a16="http://schemas.microsoft.com/office/drawing/2014/main" id="{AF5C6E71-8DD4-4FC1-BEE6-6BBC5B9C2F42}"/>
              </a:ext>
            </a:extLst>
          </p:cNvPr>
          <p:cNvSpPr>
            <a:spLocks xmlns:a="http://schemas.openxmlformats.org/drawingml/2006/main" noGrp="1"/>
          </p:cNvSpPr>
          <p:nvPr/>
        </p:nvSpPr>
        <p:spPr>
          <a:xfrm xmlns:a="http://schemas.openxmlformats.org/drawingml/2006/main">
            <a:off x="800100" y="3009900"/>
            <a:ext cx="4953000" cy="2190750"/>
          </a:xfrm>
          <a:prstGeom xmlns:a="http://schemas.openxmlformats.org/drawingml/2006/main" prst="roundRect">
            <a:avLst>
              <a:gd name="adj" fmla="val 6957"/>
            </a:avLst>
          </a:prstGeom>
          <a:solidFill xmlns:a="http://schemas.openxmlformats.org/drawingml/2006/main">
            <a:srgbClr val="28183A"/>
          </a:solidFill>
          <a:ln xmlns:a="http://schemas.openxmlformats.org/drawingml/2006/main" w="9525">
            <a:solidFill>
              <a:srgbClr val="4A335D"/>
            </a:solidFill>
            <a:prstDash val="solid"/>
          </a:ln>
        </p:spPr>
      </p:sp>
      <p:sp>
        <p:nvSpPr>
          <p:cNvPr id="9" name="">
            <a:extLst xmlns:a="http://schemas.openxmlformats.org/drawingml/2006/main">
              <a:ext uri="{FF2B5EF4-FFF2-40B4-BE49-F238E27FC236}">
                <a16:creationId xmlns:a16="http://schemas.microsoft.com/office/drawing/2014/main" id="{80367D35-5EDB-429E-922C-C046DC415680}"/>
              </a:ext>
            </a:extLst>
          </p:cNvPr>
          <p:cNvSpPr>
            <a:spLocks xmlns:a="http://schemas.openxmlformats.org/drawingml/2006/main" noGrp="1"/>
          </p:cNvSpPr>
          <p:nvPr/>
        </p:nvSpPr>
        <p:spPr>
          <a:xfrm xmlns:a="http://schemas.openxmlformats.org/drawingml/2006/main">
            <a:off x="800100" y="3009900"/>
            <a:ext cx="4953000" cy="400050"/>
          </a:xfrm>
          <a:prstGeom xmlns:a="http://schemas.openxmlformats.org/drawingml/2006/main" prst="roundRect">
            <a:avLst>
              <a:gd name="adj" fmla="val 38095"/>
            </a:avLst>
          </a:prstGeom>
          <a:solidFill xmlns:a="http://schemas.openxmlformats.org/drawingml/2006/main">
            <a:srgbClr val="21122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CE8F602-67C2-43C8-AF34-A023C509094B}"/>
              </a:ext>
            </a:extLst>
          </p:cNvPr>
          <p:cNvSpPr>
            <a:spLocks xmlns:a="http://schemas.openxmlformats.org/drawingml/2006/main" noGrp="1"/>
          </p:cNvSpPr>
          <p:nvPr/>
        </p:nvSpPr>
        <p:spPr>
          <a:xfrm xmlns:a="http://schemas.openxmlformats.org/drawingml/2006/main">
            <a:off x="800100" y="3276600"/>
            <a:ext cx="4953000" cy="133350"/>
          </a:xfrm>
          <a:prstGeom xmlns:a="http://schemas.openxmlformats.org/drawingml/2006/main" prst="rect">
            <a:avLst/>
          </a:prstGeom>
          <a:solidFill xmlns:a="http://schemas.openxmlformats.org/drawingml/2006/main">
            <a:srgbClr val="21122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F7E26F0-5CC2-4A12-BDCC-1A06D14D095C}"/>
              </a:ext>
            </a:extLst>
          </p:cNvPr>
          <p:cNvSpPr>
            <a:spLocks xmlns:a="http://schemas.openxmlformats.org/drawingml/2006/main" noGrp="1"/>
          </p:cNvSpPr>
          <p:nvPr/>
        </p:nvSpPr>
        <p:spPr>
          <a:xfrm xmlns:a="http://schemas.openxmlformats.org/drawingml/2006/main">
            <a:off x="971550" y="3162300"/>
            <a:ext cx="95250" cy="95250"/>
          </a:xfrm>
          <a:prstGeom xmlns:a="http://schemas.openxmlformats.org/drawingml/2006/main" prst="roundRect">
            <a:avLst>
              <a:gd name="adj" fmla="val 50000"/>
            </a:avLst>
          </a:prstGeom>
          <a:solidFill xmlns:a="http://schemas.openxmlformats.org/drawingml/2006/main">
            <a:srgbClr val="FF7B7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826F062-9D6E-4828-9B6B-EA58B274D004}"/>
              </a:ext>
            </a:extLst>
          </p:cNvPr>
          <p:cNvSpPr>
            <a:spLocks xmlns:a="http://schemas.openxmlformats.org/drawingml/2006/main" noGrp="1"/>
          </p:cNvSpPr>
          <p:nvPr/>
        </p:nvSpPr>
        <p:spPr>
          <a:xfrm xmlns:a="http://schemas.openxmlformats.org/drawingml/2006/main">
            <a:off x="1143000" y="3162300"/>
            <a:ext cx="95250" cy="95250"/>
          </a:xfrm>
          <a:prstGeom xmlns:a="http://schemas.openxmlformats.org/drawingml/2006/main" prst="roundRect">
            <a:avLst>
              <a:gd name="adj" fmla="val 50000"/>
            </a:avLst>
          </a:prstGeom>
          <a:solidFill xmlns:a="http://schemas.openxmlformats.org/drawingml/2006/main">
            <a:srgbClr val="FFC66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D6A8CEC-C44D-4259-82B1-364089D5F457}"/>
              </a:ext>
            </a:extLst>
          </p:cNvPr>
          <p:cNvSpPr>
            <a:spLocks xmlns:a="http://schemas.openxmlformats.org/drawingml/2006/main" noGrp="1"/>
          </p:cNvSpPr>
          <p:nvPr/>
        </p:nvSpPr>
        <p:spPr>
          <a:xfrm xmlns:a="http://schemas.openxmlformats.org/drawingml/2006/main">
            <a:off x="1314450" y="3162300"/>
            <a:ext cx="95250" cy="95250"/>
          </a:xfrm>
          <a:prstGeom xmlns:a="http://schemas.openxmlformats.org/drawingml/2006/main" prst="roundRect">
            <a:avLst>
              <a:gd name="adj" fmla="val 50000"/>
            </a:avLst>
          </a:prstGeom>
          <a:solidFill xmlns:a="http://schemas.openxmlformats.org/drawingml/2006/main">
            <a:srgbClr val="70D6A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48FAD2D-474C-4D7E-8D6B-08B0CD42FA19}"/>
              </a:ext>
            </a:extLst>
          </p:cNvPr>
          <p:cNvSpPr>
            <a:spLocks xmlns:a="http://schemas.openxmlformats.org/drawingml/2006/main" noGrp="1"/>
          </p:cNvSpPr>
          <p:nvPr/>
        </p:nvSpPr>
        <p:spPr>
          <a:xfrm xmlns:a="http://schemas.openxmlformats.org/drawingml/2006/main">
            <a:off x="1581150" y="312420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FF6B4A"/>
                </a:solidFill>
                <a:latin typeface="Aptos"/>
                <a:ea typeface="Aptos"/>
                <a:cs typeface="Aptos"/>
              </a:defRPr>
            </a:pPr>
            <a:r>
              <a:rPr sz="900" b="1" i="0">
                <a:solidFill>
                  <a:srgbClr val="FF6B4A"/>
                </a:solidFill>
                <a:latin typeface="Aptos"/>
                <a:ea typeface="Aptos"/>
                <a:cs typeface="Aptos"/>
              </a:rPr>
              <a:t>ORIENT · BUILD · VERIFY</a:t>
            </a:r>
          </a:p>
        </p:txBody>
      </p:sp>
      <p:sp>
        <p:nvSpPr>
          <p:cNvPr id="15" name="">
            <a:extLst xmlns:a="http://schemas.openxmlformats.org/drawingml/2006/main">
              <a:ext uri="{FF2B5EF4-FFF2-40B4-BE49-F238E27FC236}">
                <a16:creationId xmlns:a16="http://schemas.microsoft.com/office/drawing/2014/main" id="{AC61AC9D-DEB2-4D1D-9A32-C13A6D89E8B9}"/>
              </a:ext>
            </a:extLst>
          </p:cNvPr>
          <p:cNvSpPr>
            <a:spLocks xmlns:a="http://schemas.openxmlformats.org/drawingml/2006/main" noGrp="1"/>
          </p:cNvSpPr>
          <p:nvPr/>
        </p:nvSpPr>
        <p:spPr>
          <a:xfrm xmlns:a="http://schemas.openxmlformats.org/drawingml/2006/main">
            <a:off x="1028700" y="3581400"/>
            <a:ext cx="44958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p=~/projects/linux-course; pwd; whoami</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mkdir -p "$p"/{notes,archive}</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cp ~/inbox/welcome.txt "$p"/notes/</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mv ~/inbox/draft.txt "$p"/archive/</a:t>
            </a:r>
          </a:p>
        </p:txBody>
      </p:sp>
      <p:sp>
        <p:nvSpPr>
          <p:cNvPr id="16" name="">
            <a:extLst xmlns:a="http://schemas.openxmlformats.org/drawingml/2006/main">
              <a:ext uri="{FF2B5EF4-FFF2-40B4-BE49-F238E27FC236}">
                <a16:creationId xmlns:a16="http://schemas.microsoft.com/office/drawing/2014/main" id="{18FA52CE-1464-4ABC-8C2B-0417FBBC0443}"/>
              </a:ext>
            </a:extLst>
          </p:cNvPr>
          <p:cNvSpPr>
            <a:spLocks xmlns:a="http://schemas.openxmlformats.org/drawingml/2006/main" noGrp="1"/>
          </p:cNvSpPr>
          <p:nvPr/>
        </p:nvSpPr>
        <p:spPr>
          <a:xfrm xmlns:a="http://schemas.openxmlformats.org/drawingml/2006/main">
            <a:off x="6667500" y="17907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125" b="1" i="0">
                <a:solidFill>
                  <a:srgbClr val="8B5CF6"/>
                </a:solidFill>
                <a:latin typeface="Aptos"/>
                <a:ea typeface="Aptos"/>
                <a:cs typeface="Aptos"/>
              </a:defRPr>
            </a:pPr>
            <a:r>
              <a:rPr sz="1125" b="1" i="0">
                <a:solidFill>
                  <a:srgbClr val="8B5CF6"/>
                </a:solidFill>
                <a:latin typeface="Aptos"/>
                <a:ea typeface="Aptos"/>
                <a:cs typeface="Aptos"/>
              </a:rPr>
              <a:t>LAB 2 · 25 MIN</a:t>
            </a:r>
          </a:p>
        </p:txBody>
      </p:sp>
      <p:sp>
        <p:nvSpPr>
          <p:cNvPr id="17" name="">
            <a:extLst xmlns:a="http://schemas.openxmlformats.org/drawingml/2006/main">
              <a:ext uri="{FF2B5EF4-FFF2-40B4-BE49-F238E27FC236}">
                <a16:creationId xmlns:a16="http://schemas.microsoft.com/office/drawing/2014/main" id="{3A11BCE1-4A2A-4883-A988-CD70CAA4FCAD}"/>
              </a:ext>
            </a:extLst>
          </p:cNvPr>
          <p:cNvSpPr>
            <a:spLocks xmlns:a="http://schemas.openxmlformats.org/drawingml/2006/main" noGrp="1"/>
          </p:cNvSpPr>
          <p:nvPr/>
        </p:nvSpPr>
        <p:spPr>
          <a:xfrm xmlns:a="http://schemas.openxmlformats.org/drawingml/2006/main">
            <a:off x="6667500" y="2228850"/>
            <a:ext cx="428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550" b="1" i="0">
                <a:solidFill>
                  <a:srgbClr val="160B20"/>
                </a:solidFill>
                <a:latin typeface="Aptos"/>
                <a:ea typeface="Aptos"/>
                <a:cs typeface="Aptos"/>
              </a:defRPr>
            </a:pPr>
            <a:r>
              <a:rPr sz="2550" b="1" i="0">
                <a:solidFill>
                  <a:srgbClr val="160B20"/>
                </a:solidFill>
                <a:latin typeface="Aptos"/>
                <a:ea typeface="Aptos"/>
                <a:cs typeface="Aptos"/>
              </a:rPr>
              <a:t>Packages + pipelines</a:t>
            </a:r>
          </a:p>
        </p:txBody>
      </p:sp>
      <p:sp>
        <p:nvSpPr>
          <p:cNvPr id="18" name="">
            <a:extLst xmlns:a="http://schemas.openxmlformats.org/drawingml/2006/main">
              <a:ext uri="{FF2B5EF4-FFF2-40B4-BE49-F238E27FC236}">
                <a16:creationId xmlns:a16="http://schemas.microsoft.com/office/drawing/2014/main" id="{27F87451-D0E8-4D78-B5C3-D526E48F5BB7}"/>
              </a:ext>
            </a:extLst>
          </p:cNvPr>
          <p:cNvSpPr>
            <a:spLocks xmlns:a="http://schemas.openxmlformats.org/drawingml/2006/main" noGrp="1"/>
          </p:cNvSpPr>
          <p:nvPr/>
        </p:nvSpPr>
        <p:spPr>
          <a:xfrm xmlns:a="http://schemas.openxmlformats.org/drawingml/2006/main">
            <a:off x="6667500" y="317182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FD88F18-46B5-41BD-BFCA-8B5AAF8849FF}"/>
              </a:ext>
            </a:extLst>
          </p:cNvPr>
          <p:cNvSpPr>
            <a:spLocks xmlns:a="http://schemas.openxmlformats.org/drawingml/2006/main" noGrp="1"/>
          </p:cNvSpPr>
          <p:nvPr/>
        </p:nvSpPr>
        <p:spPr>
          <a:xfrm xmlns:a="http://schemas.openxmlformats.org/drawingml/2006/main">
            <a:off x="6934200" y="3105150"/>
            <a:ext cx="4019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60B20"/>
                </a:solidFill>
                <a:latin typeface="Aptos"/>
                <a:ea typeface="Aptos"/>
                <a:cs typeface="Aptos"/>
              </a:defRPr>
            </a:pPr>
            <a:r>
              <a:rPr sz="1650" b="0" i="0">
                <a:solidFill>
                  <a:srgbClr val="160B20"/>
                </a:solidFill>
                <a:latin typeface="Aptos"/>
                <a:ea typeface="Aptos"/>
                <a:cs typeface="Aptos"/>
              </a:rPr>
              <a:t>Install tree through APT</a:t>
            </a:r>
          </a:p>
        </p:txBody>
      </p:sp>
      <p:sp>
        <p:nvSpPr>
          <p:cNvPr id="20" name="">
            <a:extLst xmlns:a="http://schemas.openxmlformats.org/drawingml/2006/main">
              <a:ext uri="{FF2B5EF4-FFF2-40B4-BE49-F238E27FC236}">
                <a16:creationId xmlns:a16="http://schemas.microsoft.com/office/drawing/2014/main" id="{B3D28E46-FE52-45D5-8EA1-BF10770E6C54}"/>
              </a:ext>
            </a:extLst>
          </p:cNvPr>
          <p:cNvSpPr>
            <a:spLocks xmlns:a="http://schemas.openxmlformats.org/drawingml/2006/main" noGrp="1"/>
          </p:cNvSpPr>
          <p:nvPr/>
        </p:nvSpPr>
        <p:spPr>
          <a:xfrm xmlns:a="http://schemas.openxmlformats.org/drawingml/2006/main">
            <a:off x="6667500" y="374332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3C2B25C-6BDE-4AAB-904E-0F15113DF0D2}"/>
              </a:ext>
            </a:extLst>
          </p:cNvPr>
          <p:cNvSpPr>
            <a:spLocks xmlns:a="http://schemas.openxmlformats.org/drawingml/2006/main" noGrp="1"/>
          </p:cNvSpPr>
          <p:nvPr/>
        </p:nvSpPr>
        <p:spPr>
          <a:xfrm xmlns:a="http://schemas.openxmlformats.org/drawingml/2006/main">
            <a:off x="6934200" y="3676650"/>
            <a:ext cx="4019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60B20"/>
                </a:solidFill>
                <a:latin typeface="Aptos"/>
                <a:ea typeface="Aptos"/>
                <a:cs typeface="Aptos"/>
              </a:defRPr>
            </a:pPr>
            <a:r>
              <a:rPr sz="1650" b="0" i="0">
                <a:solidFill>
                  <a:srgbClr val="160B20"/>
                </a:solidFill>
                <a:latin typeface="Aptos"/>
                <a:ea typeface="Aptos"/>
                <a:cs typeface="Aptos"/>
              </a:rPr>
              <a:t>Inspect package state</a:t>
            </a:r>
          </a:p>
        </p:txBody>
      </p:sp>
      <p:sp>
        <p:nvSpPr>
          <p:cNvPr id="22" name="">
            <a:extLst xmlns:a="http://schemas.openxmlformats.org/drawingml/2006/main">
              <a:ext uri="{FF2B5EF4-FFF2-40B4-BE49-F238E27FC236}">
                <a16:creationId xmlns:a16="http://schemas.microsoft.com/office/drawing/2014/main" id="{2E701848-E1C5-4F87-8279-E3EBE384F7A9}"/>
              </a:ext>
            </a:extLst>
          </p:cNvPr>
          <p:cNvSpPr>
            <a:spLocks xmlns:a="http://schemas.openxmlformats.org/drawingml/2006/main" noGrp="1"/>
          </p:cNvSpPr>
          <p:nvPr/>
        </p:nvSpPr>
        <p:spPr>
          <a:xfrm xmlns:a="http://schemas.openxmlformats.org/drawingml/2006/main">
            <a:off x="6667500" y="431482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09B7F9F-1914-4FC1-9251-2A3E490D832A}"/>
              </a:ext>
            </a:extLst>
          </p:cNvPr>
          <p:cNvSpPr>
            <a:spLocks xmlns:a="http://schemas.openxmlformats.org/drawingml/2006/main" noGrp="1"/>
          </p:cNvSpPr>
          <p:nvPr/>
        </p:nvSpPr>
        <p:spPr>
          <a:xfrm xmlns:a="http://schemas.openxmlformats.org/drawingml/2006/main">
            <a:off x="6934200" y="4248150"/>
            <a:ext cx="4019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60B20"/>
                </a:solidFill>
                <a:latin typeface="Aptos"/>
                <a:ea typeface="Aptos"/>
                <a:cs typeface="Aptos"/>
              </a:defRPr>
            </a:pPr>
            <a:r>
              <a:rPr sz="1650" b="0" i="0">
                <a:solidFill>
                  <a:srgbClr val="160B20"/>
                </a:solidFill>
                <a:latin typeface="Aptos"/>
                <a:ea typeface="Aptos"/>
                <a:cs typeface="Aptos"/>
              </a:rPr>
              <a:t>Count HTTP status codes</a:t>
            </a:r>
          </a:p>
        </p:txBody>
      </p:sp>
      <p:sp>
        <p:nvSpPr>
          <p:cNvPr id="24" name="">
            <a:extLst xmlns:a="http://schemas.openxmlformats.org/drawingml/2006/main">
              <a:ext uri="{FF2B5EF4-FFF2-40B4-BE49-F238E27FC236}">
                <a16:creationId xmlns:a16="http://schemas.microsoft.com/office/drawing/2014/main" id="{B139B5F9-EFF3-4E76-9E50-53E4221E0BC5}"/>
              </a:ext>
            </a:extLst>
          </p:cNvPr>
          <p:cNvSpPr>
            <a:spLocks xmlns:a="http://schemas.openxmlformats.org/drawingml/2006/main" noGrp="1"/>
          </p:cNvSpPr>
          <p:nvPr/>
        </p:nvSpPr>
        <p:spPr>
          <a:xfrm xmlns:a="http://schemas.openxmlformats.org/drawingml/2006/main">
            <a:off x="6667500" y="488632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1629B6F-E8A2-4282-9017-3DE5C9ABE668}"/>
              </a:ext>
            </a:extLst>
          </p:cNvPr>
          <p:cNvSpPr>
            <a:spLocks xmlns:a="http://schemas.openxmlformats.org/drawingml/2006/main" noGrp="1"/>
          </p:cNvSpPr>
          <p:nvPr/>
        </p:nvSpPr>
        <p:spPr>
          <a:xfrm xmlns:a="http://schemas.openxmlformats.org/drawingml/2006/main">
            <a:off x="6934200" y="4819650"/>
            <a:ext cx="4019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60B20"/>
                </a:solidFill>
                <a:latin typeface="Aptos"/>
                <a:ea typeface="Aptos"/>
                <a:cs typeface="Aptos"/>
              </a:defRPr>
            </a:pPr>
            <a:r>
              <a:rPr sz="1650" b="0" i="0">
                <a:solidFill>
                  <a:srgbClr val="160B20"/>
                </a:solidFill>
                <a:latin typeface="Aptos"/>
                <a:ea typeface="Aptos"/>
                <a:cs typeface="Aptos"/>
              </a:rPr>
              <a:t>Write a verified report</a:t>
            </a:r>
          </a:p>
        </p:txBody>
      </p:sp>
      <p:sp>
        <p:nvSpPr>
          <p:cNvPr id="26" name="">
            <a:extLst xmlns:a="http://schemas.openxmlformats.org/drawingml/2006/main">
              <a:ext uri="{FF2B5EF4-FFF2-40B4-BE49-F238E27FC236}">
                <a16:creationId xmlns:a16="http://schemas.microsoft.com/office/drawing/2014/main" id="{31BF24E7-ED3D-4226-A7DC-0713BF70C771}"/>
              </a:ext>
            </a:extLst>
          </p:cNvPr>
          <p:cNvSpPr>
            <a:spLocks xmlns:a="http://schemas.openxmlformats.org/drawingml/2006/main" noGrp="1"/>
          </p:cNvSpPr>
          <p:nvPr/>
        </p:nvSpPr>
        <p:spPr>
          <a:xfrm xmlns:a="http://schemas.openxmlformats.org/drawingml/2006/main">
            <a:off x="800100" y="5600700"/>
            <a:ext cx="1028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650" b="1" i="0">
                <a:solidFill>
                  <a:srgbClr val="8B5CF6"/>
                </a:solidFill>
                <a:latin typeface="Aptos"/>
                <a:ea typeface="Aptos"/>
                <a:cs typeface="Aptos"/>
              </a:defRPr>
            </a:pPr>
            <a:r>
              <a:rPr sz="1650" b="1" i="0">
                <a:solidFill>
                  <a:srgbClr val="8B5CF6"/>
                </a:solidFill>
                <a:latin typeface="Aptos"/>
                <a:ea typeface="Aptos"/>
                <a:cs typeface="Aptos"/>
              </a:rPr>
              <a:t>Checkpoint: the project tree is correct and 404 appears exactly three times.</a:t>
            </a:r>
          </a:p>
        </p:txBody>
      </p:sp>
    </p:spTree>
    <p:extLst>
      <p:ext uri="{BB962C8B-B14F-4D97-AF65-F5344CB8AC3E}">
        <p14:creationId xmlns:p14="http://schemas.microsoft.com/office/powerpoint/2010/main" val="276205261"/>
      </p:ext>
    </p:extLst>
  </p:cSld>
</p:sld>
</file>

<file path=ppt/slides/slide33.xml><?xml version="1.0" encoding="utf-8"?>
<p:sld xmlns:p="http://schemas.openxmlformats.org/presentationml/2006/main">
  <p:cSld>
    <p:bg>
      <p:bgPr>
        <a:solidFill xmlns:a="http://schemas.openxmlformats.org/drawingml/2006/main">
          <a:srgbClr val="180D24"/>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A7FC9C03-F660-4FF7-9852-2BD6E38AD453}"/>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HANDS-ON</a:t>
            </a:r>
          </a:p>
        </p:txBody>
      </p:sp>
      <p:sp>
        <p:nvSpPr>
          <p:cNvPr id="2" name="">
            <a:extLst xmlns:a="http://schemas.openxmlformats.org/drawingml/2006/main">
              <a:ext uri="{FF2B5EF4-FFF2-40B4-BE49-F238E27FC236}">
                <a16:creationId xmlns:a16="http://schemas.microsoft.com/office/drawing/2014/main" id="{DDE14D17-4776-4333-BA6F-26881C3BBE8B}"/>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8EE"/>
                </a:solidFill>
                <a:latin typeface="Aptos"/>
                <a:ea typeface="Aptos"/>
                <a:cs typeface="Aptos"/>
              </a:defRPr>
            </a:pPr>
            <a:r>
              <a:rPr sz="3750" b="1" i="0">
                <a:solidFill>
                  <a:srgbClr val="FFF8EE"/>
                </a:solidFill>
                <a:latin typeface="Aptos"/>
                <a:ea typeface="Aptos"/>
                <a:cs typeface="Aptos"/>
              </a:rPr>
              <a:t>Labs 3–4 turn access rules into verified trust</a:t>
            </a:r>
          </a:p>
        </p:txBody>
      </p:sp>
      <p:sp>
        <p:nvSpPr>
          <p:cNvPr id="3" name="">
            <a:extLst xmlns:a="http://schemas.openxmlformats.org/drawingml/2006/main">
              <a:ext uri="{FF2B5EF4-FFF2-40B4-BE49-F238E27FC236}">
                <a16:creationId xmlns:a16="http://schemas.microsoft.com/office/drawing/2014/main" id="{C6104D21-D3EA-4CE6-8226-1DFAB23DF0D7}"/>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3520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FB1C140-9E8D-4776-9E10-8101232E2EFE}"/>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BFAFCB"/>
                </a:solidFill>
                <a:latin typeface="Aptos"/>
                <a:ea typeface="Aptos"/>
                <a:cs typeface="Aptos"/>
              </a:defRPr>
            </a:pPr>
            <a:r>
              <a:rPr sz="900" b="1" i="0">
                <a:solidFill>
                  <a:srgbClr val="BFAFCB"/>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5A6ECAF4-754D-408A-BF35-0C0C6704F9C1}"/>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C9B6FF"/>
                </a:solidFill>
                <a:latin typeface="Aptos"/>
                <a:ea typeface="Aptos"/>
                <a:cs typeface="Aptos"/>
              </a:defRPr>
            </a:pPr>
            <a:r>
              <a:rPr sz="1050" b="1" i="0">
                <a:solidFill>
                  <a:srgbClr val="C9B6FF"/>
                </a:solidFill>
                <a:latin typeface="Aptos"/>
                <a:ea typeface="Aptos"/>
                <a:cs typeface="Aptos"/>
              </a:rPr>
              <a:t>33</a:t>
            </a:r>
          </a:p>
        </p:txBody>
      </p:sp>
      <p:sp>
        <p:nvSpPr>
          <p:cNvPr id="6" name="">
            <a:extLst xmlns:a="http://schemas.openxmlformats.org/drawingml/2006/main">
              <a:ext uri="{FF2B5EF4-FFF2-40B4-BE49-F238E27FC236}">
                <a16:creationId xmlns:a16="http://schemas.microsoft.com/office/drawing/2014/main" id="{6942DA4E-AE3A-40FB-A403-3CC455B363DE}"/>
              </a:ext>
            </a:extLst>
          </p:cNvPr>
          <p:cNvSpPr>
            <a:spLocks xmlns:a="http://schemas.openxmlformats.org/drawingml/2006/main" noGrp="1"/>
          </p:cNvSpPr>
          <p:nvPr/>
        </p:nvSpPr>
        <p:spPr>
          <a:xfrm xmlns:a="http://schemas.openxmlformats.org/drawingml/2006/main">
            <a:off x="800100" y="17526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125" b="1" i="0">
                <a:solidFill>
                  <a:srgbClr val="FF6B4A"/>
                </a:solidFill>
                <a:latin typeface="Aptos"/>
                <a:ea typeface="Aptos"/>
                <a:cs typeface="Aptos"/>
              </a:defRPr>
            </a:pPr>
            <a:r>
              <a:rPr sz="1125" b="1" i="0">
                <a:solidFill>
                  <a:srgbClr val="FF6B4A"/>
                </a:solidFill>
                <a:latin typeface="Aptos"/>
                <a:ea typeface="Aptos"/>
                <a:cs typeface="Aptos"/>
              </a:rPr>
              <a:t>LAB 3 · 35 MIN</a:t>
            </a:r>
          </a:p>
        </p:txBody>
      </p:sp>
      <p:sp>
        <p:nvSpPr>
          <p:cNvPr id="7" name="">
            <a:extLst xmlns:a="http://schemas.openxmlformats.org/drawingml/2006/main">
              <a:ext uri="{FF2B5EF4-FFF2-40B4-BE49-F238E27FC236}">
                <a16:creationId xmlns:a16="http://schemas.microsoft.com/office/drawing/2014/main" id="{EAE95EF0-1707-4BFE-86DE-3AEE1F7A5781}"/>
              </a:ext>
            </a:extLst>
          </p:cNvPr>
          <p:cNvSpPr>
            <a:spLocks xmlns:a="http://schemas.openxmlformats.org/drawingml/2006/main" noGrp="1"/>
          </p:cNvSpPr>
          <p:nvPr/>
        </p:nvSpPr>
        <p:spPr>
          <a:xfrm xmlns:a="http://schemas.openxmlformats.org/drawingml/2006/main">
            <a:off x="800100" y="2190750"/>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550" b="1" i="0">
                <a:solidFill>
                  <a:srgbClr val="FFF8EE"/>
                </a:solidFill>
                <a:latin typeface="Aptos"/>
                <a:ea typeface="Aptos"/>
                <a:cs typeface="Aptos"/>
              </a:defRPr>
            </a:pPr>
            <a:r>
              <a:rPr sz="2550" b="1" i="0">
                <a:solidFill>
                  <a:srgbClr val="FFF8EE"/>
                </a:solidFill>
                <a:latin typeface="Aptos"/>
                <a:ea typeface="Aptos"/>
                <a:cs typeface="Aptos"/>
              </a:rPr>
              <a:t>Permission incident</a:t>
            </a:r>
          </a:p>
        </p:txBody>
      </p:sp>
      <p:sp>
        <p:nvSpPr>
          <p:cNvPr id="8" name="">
            <a:extLst xmlns:a="http://schemas.openxmlformats.org/drawingml/2006/main">
              <a:ext uri="{FF2B5EF4-FFF2-40B4-BE49-F238E27FC236}">
                <a16:creationId xmlns:a16="http://schemas.microsoft.com/office/drawing/2014/main" id="{14F80DD7-42B5-4DE1-8777-BA55C277F075}"/>
              </a:ext>
            </a:extLst>
          </p:cNvPr>
          <p:cNvSpPr>
            <a:spLocks xmlns:a="http://schemas.openxmlformats.org/drawingml/2006/main" noGrp="1"/>
          </p:cNvSpPr>
          <p:nvPr/>
        </p:nvSpPr>
        <p:spPr>
          <a:xfrm xmlns:a="http://schemas.openxmlformats.org/drawingml/2006/main">
            <a:off x="800100" y="2933700"/>
            <a:ext cx="4953000" cy="2190750"/>
          </a:xfrm>
          <a:prstGeom xmlns:a="http://schemas.openxmlformats.org/drawingml/2006/main" prst="roundRect">
            <a:avLst>
              <a:gd name="adj" fmla="val 6957"/>
            </a:avLst>
          </a:prstGeom>
          <a:solidFill xmlns:a="http://schemas.openxmlformats.org/drawingml/2006/main">
            <a:srgbClr val="28183A"/>
          </a:solidFill>
          <a:ln xmlns:a="http://schemas.openxmlformats.org/drawingml/2006/main" w="9525">
            <a:solidFill>
              <a:srgbClr val="4A335D"/>
            </a:solidFill>
            <a:prstDash val="solid"/>
          </a:ln>
        </p:spPr>
      </p:sp>
      <p:sp>
        <p:nvSpPr>
          <p:cNvPr id="9" name="">
            <a:extLst xmlns:a="http://schemas.openxmlformats.org/drawingml/2006/main">
              <a:ext uri="{FF2B5EF4-FFF2-40B4-BE49-F238E27FC236}">
                <a16:creationId xmlns:a16="http://schemas.microsoft.com/office/drawing/2014/main" id="{77469A4B-9569-4F49-A9DE-FAC0A8B78A80}"/>
              </a:ext>
            </a:extLst>
          </p:cNvPr>
          <p:cNvSpPr>
            <a:spLocks xmlns:a="http://schemas.openxmlformats.org/drawingml/2006/main" noGrp="1"/>
          </p:cNvSpPr>
          <p:nvPr/>
        </p:nvSpPr>
        <p:spPr>
          <a:xfrm xmlns:a="http://schemas.openxmlformats.org/drawingml/2006/main">
            <a:off x="800100" y="2933700"/>
            <a:ext cx="4953000" cy="400050"/>
          </a:xfrm>
          <a:prstGeom xmlns:a="http://schemas.openxmlformats.org/drawingml/2006/main" prst="roundRect">
            <a:avLst>
              <a:gd name="adj" fmla="val 38095"/>
            </a:avLst>
          </a:prstGeom>
          <a:solidFill xmlns:a="http://schemas.openxmlformats.org/drawingml/2006/main">
            <a:srgbClr val="21122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24038AA-0E78-444B-B759-1DD6AAED3646}"/>
              </a:ext>
            </a:extLst>
          </p:cNvPr>
          <p:cNvSpPr>
            <a:spLocks xmlns:a="http://schemas.openxmlformats.org/drawingml/2006/main" noGrp="1"/>
          </p:cNvSpPr>
          <p:nvPr/>
        </p:nvSpPr>
        <p:spPr>
          <a:xfrm xmlns:a="http://schemas.openxmlformats.org/drawingml/2006/main">
            <a:off x="800100" y="3200400"/>
            <a:ext cx="4953000" cy="133350"/>
          </a:xfrm>
          <a:prstGeom xmlns:a="http://schemas.openxmlformats.org/drawingml/2006/main" prst="rect">
            <a:avLst/>
          </a:prstGeom>
          <a:solidFill xmlns:a="http://schemas.openxmlformats.org/drawingml/2006/main">
            <a:srgbClr val="21122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511B4A3-A84F-4A62-B8BF-537B71CEFEB5}"/>
              </a:ext>
            </a:extLst>
          </p:cNvPr>
          <p:cNvSpPr>
            <a:spLocks xmlns:a="http://schemas.openxmlformats.org/drawingml/2006/main" noGrp="1"/>
          </p:cNvSpPr>
          <p:nvPr/>
        </p:nvSpPr>
        <p:spPr>
          <a:xfrm xmlns:a="http://schemas.openxmlformats.org/drawingml/2006/main">
            <a:off x="971550" y="3086100"/>
            <a:ext cx="95250" cy="95250"/>
          </a:xfrm>
          <a:prstGeom xmlns:a="http://schemas.openxmlformats.org/drawingml/2006/main" prst="roundRect">
            <a:avLst>
              <a:gd name="adj" fmla="val 50000"/>
            </a:avLst>
          </a:prstGeom>
          <a:solidFill xmlns:a="http://schemas.openxmlformats.org/drawingml/2006/main">
            <a:srgbClr val="FF7B7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1125941-C7A3-4668-B8DD-BD8423A27E65}"/>
              </a:ext>
            </a:extLst>
          </p:cNvPr>
          <p:cNvSpPr>
            <a:spLocks xmlns:a="http://schemas.openxmlformats.org/drawingml/2006/main" noGrp="1"/>
          </p:cNvSpPr>
          <p:nvPr/>
        </p:nvSpPr>
        <p:spPr>
          <a:xfrm xmlns:a="http://schemas.openxmlformats.org/drawingml/2006/main">
            <a:off x="1143000" y="3086100"/>
            <a:ext cx="95250" cy="95250"/>
          </a:xfrm>
          <a:prstGeom xmlns:a="http://schemas.openxmlformats.org/drawingml/2006/main" prst="roundRect">
            <a:avLst>
              <a:gd name="adj" fmla="val 50000"/>
            </a:avLst>
          </a:prstGeom>
          <a:solidFill xmlns:a="http://schemas.openxmlformats.org/drawingml/2006/main">
            <a:srgbClr val="FFC66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B1936E0-EFA8-4EA3-8DE9-F0AF23CD6550}"/>
              </a:ext>
            </a:extLst>
          </p:cNvPr>
          <p:cNvSpPr>
            <a:spLocks xmlns:a="http://schemas.openxmlformats.org/drawingml/2006/main" noGrp="1"/>
          </p:cNvSpPr>
          <p:nvPr/>
        </p:nvSpPr>
        <p:spPr>
          <a:xfrm xmlns:a="http://schemas.openxmlformats.org/drawingml/2006/main">
            <a:off x="1314450" y="3086100"/>
            <a:ext cx="95250" cy="95250"/>
          </a:xfrm>
          <a:prstGeom xmlns:a="http://schemas.openxmlformats.org/drawingml/2006/main" prst="roundRect">
            <a:avLst>
              <a:gd name="adj" fmla="val 50000"/>
            </a:avLst>
          </a:prstGeom>
          <a:solidFill xmlns:a="http://schemas.openxmlformats.org/drawingml/2006/main">
            <a:srgbClr val="70D6A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F8556AC-1D17-42CF-B5C2-1BF632198262}"/>
              </a:ext>
            </a:extLst>
          </p:cNvPr>
          <p:cNvSpPr>
            <a:spLocks xmlns:a="http://schemas.openxmlformats.org/drawingml/2006/main" noGrp="1"/>
          </p:cNvSpPr>
          <p:nvPr/>
        </p:nvSpPr>
        <p:spPr>
          <a:xfrm xmlns:a="http://schemas.openxmlformats.org/drawingml/2006/main">
            <a:off x="1581150" y="304800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FF6B4A"/>
                </a:solidFill>
                <a:latin typeface="Aptos"/>
                <a:ea typeface="Aptos"/>
                <a:cs typeface="Aptos"/>
              </a:defRPr>
            </a:pPr>
            <a:r>
              <a:rPr sz="900" b="1" i="0">
                <a:solidFill>
                  <a:srgbClr val="FF6B4A"/>
                </a:solidFill>
                <a:latin typeface="Aptos"/>
                <a:ea typeface="Aptos"/>
                <a:cs typeface="Aptos"/>
              </a:rPr>
              <a:t>OWNER · GROUP · MODE</a:t>
            </a:r>
          </a:p>
        </p:txBody>
      </p:sp>
      <p:sp>
        <p:nvSpPr>
          <p:cNvPr id="15" name="">
            <a:extLst xmlns:a="http://schemas.openxmlformats.org/drawingml/2006/main">
              <a:ext uri="{FF2B5EF4-FFF2-40B4-BE49-F238E27FC236}">
                <a16:creationId xmlns:a16="http://schemas.microsoft.com/office/drawing/2014/main" id="{3C7D1433-A932-4A89-AEC7-4E0D8145E826}"/>
              </a:ext>
            </a:extLst>
          </p:cNvPr>
          <p:cNvSpPr>
            <a:spLocks xmlns:a="http://schemas.openxmlformats.org/drawingml/2006/main" noGrp="1"/>
          </p:cNvSpPr>
          <p:nvPr/>
        </p:nvSpPr>
        <p:spPr>
          <a:xfrm xmlns:a="http://schemas.openxmlformats.org/drawingml/2006/main">
            <a:off x="1028700" y="3505200"/>
            <a:ext cx="44958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sudo chown -R root:webteam /srv/team-share</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sudo chmod 2770 /srv/team-share</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sudo -u alice test -w /srv/team-share</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sudo -u outsider test -w /srv/team-share || true</a:t>
            </a:r>
          </a:p>
        </p:txBody>
      </p:sp>
      <p:sp>
        <p:nvSpPr>
          <p:cNvPr id="16" name="">
            <a:extLst xmlns:a="http://schemas.openxmlformats.org/drawingml/2006/main">
              <a:ext uri="{FF2B5EF4-FFF2-40B4-BE49-F238E27FC236}">
                <a16:creationId xmlns:a16="http://schemas.microsoft.com/office/drawing/2014/main" id="{0479A450-0E39-40EC-91A9-EF76A1266355}"/>
              </a:ext>
            </a:extLst>
          </p:cNvPr>
          <p:cNvSpPr>
            <a:spLocks xmlns:a="http://schemas.openxmlformats.org/drawingml/2006/main" noGrp="1"/>
          </p:cNvSpPr>
          <p:nvPr/>
        </p:nvSpPr>
        <p:spPr>
          <a:xfrm xmlns:a="http://schemas.openxmlformats.org/drawingml/2006/main">
            <a:off x="6667500" y="17526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125" b="1" i="0">
                <a:solidFill>
                  <a:srgbClr val="8B5CF6"/>
                </a:solidFill>
                <a:latin typeface="Aptos"/>
                <a:ea typeface="Aptos"/>
                <a:cs typeface="Aptos"/>
              </a:defRPr>
            </a:pPr>
            <a:r>
              <a:rPr sz="1125" b="1" i="0">
                <a:solidFill>
                  <a:srgbClr val="8B5CF6"/>
                </a:solidFill>
                <a:latin typeface="Aptos"/>
                <a:ea typeface="Aptos"/>
                <a:cs typeface="Aptos"/>
              </a:rPr>
              <a:t>LAB 4 · 30 MIN</a:t>
            </a:r>
          </a:p>
        </p:txBody>
      </p:sp>
      <p:sp>
        <p:nvSpPr>
          <p:cNvPr id="17" name="">
            <a:extLst xmlns:a="http://schemas.openxmlformats.org/drawingml/2006/main">
              <a:ext uri="{FF2B5EF4-FFF2-40B4-BE49-F238E27FC236}">
                <a16:creationId xmlns:a16="http://schemas.microsoft.com/office/drawing/2014/main" id="{083A045D-5FCD-46E6-8BFC-A18B5BA42337}"/>
              </a:ext>
            </a:extLst>
          </p:cNvPr>
          <p:cNvSpPr>
            <a:spLocks xmlns:a="http://schemas.openxmlformats.org/drawingml/2006/main" noGrp="1"/>
          </p:cNvSpPr>
          <p:nvPr/>
        </p:nvSpPr>
        <p:spPr>
          <a:xfrm xmlns:a="http://schemas.openxmlformats.org/drawingml/2006/main">
            <a:off x="6667500" y="21907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550" b="1" i="0">
                <a:solidFill>
                  <a:srgbClr val="FFF8EE"/>
                </a:solidFill>
                <a:latin typeface="Aptos"/>
                <a:ea typeface="Aptos"/>
                <a:cs typeface="Aptos"/>
              </a:defRPr>
            </a:pPr>
            <a:r>
              <a:rPr sz="2550" b="1" i="0">
                <a:solidFill>
                  <a:srgbClr val="FFF8EE"/>
                </a:solidFill>
                <a:latin typeface="Aptos"/>
                <a:ea typeface="Aptos"/>
                <a:cs typeface="Aptos"/>
              </a:rPr>
              <a:t>SSH trust setup</a:t>
            </a:r>
          </a:p>
        </p:txBody>
      </p:sp>
      <p:sp>
        <p:nvSpPr>
          <p:cNvPr id="18" name="">
            <a:extLst xmlns:a="http://schemas.openxmlformats.org/drawingml/2006/main">
              <a:ext uri="{FF2B5EF4-FFF2-40B4-BE49-F238E27FC236}">
                <a16:creationId xmlns:a16="http://schemas.microsoft.com/office/drawing/2014/main" id="{C3AB943C-DCE7-4D8F-A7D1-08AAA634E0FC}"/>
              </a:ext>
            </a:extLst>
          </p:cNvPr>
          <p:cNvSpPr>
            <a:spLocks xmlns:a="http://schemas.openxmlformats.org/drawingml/2006/main" noGrp="1"/>
          </p:cNvSpPr>
          <p:nvPr/>
        </p:nvSpPr>
        <p:spPr>
          <a:xfrm xmlns:a="http://schemas.openxmlformats.org/drawingml/2006/main">
            <a:off x="6667500" y="309562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C124638-4451-4546-BC14-C9F4F8A1DC8F}"/>
              </a:ext>
            </a:extLst>
          </p:cNvPr>
          <p:cNvSpPr>
            <a:spLocks xmlns:a="http://schemas.openxmlformats.org/drawingml/2006/main" noGrp="1"/>
          </p:cNvSpPr>
          <p:nvPr/>
        </p:nvSpPr>
        <p:spPr>
          <a:xfrm xmlns:a="http://schemas.openxmlformats.org/drawingml/2006/main">
            <a:off x="6934200" y="3028950"/>
            <a:ext cx="3924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FFF8EE"/>
                </a:solidFill>
                <a:latin typeface="Aptos"/>
                <a:ea typeface="Aptos"/>
                <a:cs typeface="Aptos"/>
              </a:defRPr>
            </a:pPr>
            <a:r>
              <a:rPr sz="1650" b="0" i="0">
                <a:solidFill>
                  <a:srgbClr val="FFF8EE"/>
                </a:solidFill>
                <a:latin typeface="Aptos"/>
                <a:ea typeface="Aptos"/>
                <a:cs typeface="Aptos"/>
              </a:rPr>
              <a:t>Generate an Ed25519 key</a:t>
            </a:r>
          </a:p>
        </p:txBody>
      </p:sp>
      <p:sp>
        <p:nvSpPr>
          <p:cNvPr id="20" name="">
            <a:extLst xmlns:a="http://schemas.openxmlformats.org/drawingml/2006/main">
              <a:ext uri="{FF2B5EF4-FFF2-40B4-BE49-F238E27FC236}">
                <a16:creationId xmlns:a16="http://schemas.microsoft.com/office/drawing/2014/main" id="{C56F1F6E-8AD8-49DE-9ACD-EBDDE206F4DB}"/>
              </a:ext>
            </a:extLst>
          </p:cNvPr>
          <p:cNvSpPr>
            <a:spLocks xmlns:a="http://schemas.openxmlformats.org/drawingml/2006/main" noGrp="1"/>
          </p:cNvSpPr>
          <p:nvPr/>
        </p:nvSpPr>
        <p:spPr>
          <a:xfrm xmlns:a="http://schemas.openxmlformats.org/drawingml/2006/main">
            <a:off x="6667500" y="366712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EC98494-67E7-4D07-9685-5399CA043CAF}"/>
              </a:ext>
            </a:extLst>
          </p:cNvPr>
          <p:cNvSpPr>
            <a:spLocks xmlns:a="http://schemas.openxmlformats.org/drawingml/2006/main" noGrp="1"/>
          </p:cNvSpPr>
          <p:nvPr/>
        </p:nvSpPr>
        <p:spPr>
          <a:xfrm xmlns:a="http://schemas.openxmlformats.org/drawingml/2006/main">
            <a:off x="6934200" y="3600450"/>
            <a:ext cx="3924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FFF8EE"/>
                </a:solidFill>
                <a:latin typeface="Aptos"/>
                <a:ea typeface="Aptos"/>
                <a:cs typeface="Aptos"/>
              </a:defRPr>
            </a:pPr>
            <a:r>
              <a:rPr sz="1650" b="0" i="0">
                <a:solidFill>
                  <a:srgbClr val="FFF8EE"/>
                </a:solidFill>
                <a:latin typeface="Aptos"/>
                <a:ea typeface="Aptos"/>
                <a:cs typeface="Aptos"/>
              </a:rPr>
              <a:t>Record the server host key</a:t>
            </a:r>
          </a:p>
        </p:txBody>
      </p:sp>
      <p:sp>
        <p:nvSpPr>
          <p:cNvPr id="22" name="">
            <a:extLst xmlns:a="http://schemas.openxmlformats.org/drawingml/2006/main">
              <a:ext uri="{FF2B5EF4-FFF2-40B4-BE49-F238E27FC236}">
                <a16:creationId xmlns:a16="http://schemas.microsoft.com/office/drawing/2014/main" id="{518940AB-7429-4469-BAB1-1705C10907E9}"/>
              </a:ext>
            </a:extLst>
          </p:cNvPr>
          <p:cNvSpPr>
            <a:spLocks xmlns:a="http://schemas.openxmlformats.org/drawingml/2006/main" noGrp="1"/>
          </p:cNvSpPr>
          <p:nvPr/>
        </p:nvSpPr>
        <p:spPr>
          <a:xfrm xmlns:a="http://schemas.openxmlformats.org/drawingml/2006/main">
            <a:off x="6667500" y="423862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6B25FB6-CA9D-4226-8616-A956EF15FAF2}"/>
              </a:ext>
            </a:extLst>
          </p:cNvPr>
          <p:cNvSpPr>
            <a:spLocks xmlns:a="http://schemas.openxmlformats.org/drawingml/2006/main" noGrp="1"/>
          </p:cNvSpPr>
          <p:nvPr/>
        </p:nvSpPr>
        <p:spPr>
          <a:xfrm xmlns:a="http://schemas.openxmlformats.org/drawingml/2006/main">
            <a:off x="6934200" y="4171950"/>
            <a:ext cx="3924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FFF8EE"/>
                </a:solidFill>
                <a:latin typeface="Aptos"/>
                <a:ea typeface="Aptos"/>
                <a:cs typeface="Aptos"/>
              </a:defRPr>
            </a:pPr>
            <a:r>
              <a:rPr sz="1650" b="0" i="0">
                <a:solidFill>
                  <a:srgbClr val="FFF8EE"/>
                </a:solidFill>
                <a:latin typeface="Aptos"/>
                <a:ea typeface="Aptos"/>
                <a:cs typeface="Aptos"/>
              </a:rPr>
              <a:t>Authorize only the public key</a:t>
            </a:r>
          </a:p>
        </p:txBody>
      </p:sp>
      <p:sp>
        <p:nvSpPr>
          <p:cNvPr id="24" name="">
            <a:extLst xmlns:a="http://schemas.openxmlformats.org/drawingml/2006/main">
              <a:ext uri="{FF2B5EF4-FFF2-40B4-BE49-F238E27FC236}">
                <a16:creationId xmlns:a16="http://schemas.microsoft.com/office/drawing/2014/main" id="{A5A6AAA1-8656-499C-9B23-E074ABED9055}"/>
              </a:ext>
            </a:extLst>
          </p:cNvPr>
          <p:cNvSpPr>
            <a:spLocks xmlns:a="http://schemas.openxmlformats.org/drawingml/2006/main" noGrp="1"/>
          </p:cNvSpPr>
          <p:nvPr/>
        </p:nvSpPr>
        <p:spPr>
          <a:xfrm xmlns:a="http://schemas.openxmlformats.org/drawingml/2006/main">
            <a:off x="6667500" y="481012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84DCFAA-FC99-46B1-94B3-24177DC11EC6}"/>
              </a:ext>
            </a:extLst>
          </p:cNvPr>
          <p:cNvSpPr>
            <a:spLocks xmlns:a="http://schemas.openxmlformats.org/drawingml/2006/main" noGrp="1"/>
          </p:cNvSpPr>
          <p:nvPr/>
        </p:nvSpPr>
        <p:spPr>
          <a:xfrm xmlns:a="http://schemas.openxmlformats.org/drawingml/2006/main">
            <a:off x="6934200" y="4743450"/>
            <a:ext cx="3924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FFF8EE"/>
                </a:solidFill>
                <a:latin typeface="Aptos"/>
                <a:ea typeface="Aptos"/>
                <a:cs typeface="Aptos"/>
              </a:defRPr>
            </a:pPr>
            <a:r>
              <a:rPr sz="1650" b="0" i="0">
                <a:solidFill>
                  <a:srgbClr val="FFF8EE"/>
                </a:solidFill>
                <a:latin typeface="Aptos"/>
                <a:ea typeface="Aptos"/>
                <a:cs typeface="Aptos"/>
              </a:rPr>
              <a:t>Connect through a safe alias</a:t>
            </a:r>
          </a:p>
        </p:txBody>
      </p:sp>
      <p:sp>
        <p:nvSpPr>
          <p:cNvPr id="26" name="">
            <a:extLst xmlns:a="http://schemas.openxmlformats.org/drawingml/2006/main">
              <a:ext uri="{FF2B5EF4-FFF2-40B4-BE49-F238E27FC236}">
                <a16:creationId xmlns:a16="http://schemas.microsoft.com/office/drawing/2014/main" id="{49004107-AFAB-4771-8ED7-A7F77FD8A85C}"/>
              </a:ext>
            </a:extLst>
          </p:cNvPr>
          <p:cNvSpPr>
            <a:spLocks xmlns:a="http://schemas.openxmlformats.org/drawingml/2006/main" noGrp="1"/>
          </p:cNvSpPr>
          <p:nvPr/>
        </p:nvSpPr>
        <p:spPr>
          <a:xfrm xmlns:a="http://schemas.openxmlformats.org/drawingml/2006/main">
            <a:off x="800100" y="55816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650" b="1" i="0">
                <a:solidFill>
                  <a:srgbClr val="70D6A6"/>
                </a:solidFill>
                <a:latin typeface="Aptos"/>
                <a:ea typeface="Aptos"/>
                <a:cs typeface="Aptos"/>
              </a:defRPr>
            </a:pPr>
            <a:r>
              <a:rPr sz="1650" b="1" i="0">
                <a:solidFill>
                  <a:srgbClr val="70D6A6"/>
                </a:solidFill>
                <a:latin typeface="Aptos"/>
                <a:ea typeface="Aptos"/>
                <a:cs typeface="Aptos"/>
              </a:rPr>
              <a:t>Checkpoint: Alice writes, outsider is blocked, and key-only SSH succeeds.</a:t>
            </a:r>
          </a:p>
        </p:txBody>
      </p:sp>
    </p:spTree>
    <p:extLst>
      <p:ext uri="{BB962C8B-B14F-4D97-AF65-F5344CB8AC3E}">
        <p14:creationId xmlns:p14="http://schemas.microsoft.com/office/powerpoint/2010/main" val="1028506599"/>
      </p:ext>
    </p:extLst>
  </p:cSld>
</p:sld>
</file>

<file path=ppt/slides/slide34.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51C51C0-8DCD-4387-8F5F-7DE310F8F999}"/>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HANDS-ON</a:t>
            </a:r>
          </a:p>
        </p:txBody>
      </p:sp>
      <p:sp>
        <p:nvSpPr>
          <p:cNvPr id="2" name="">
            <a:extLst xmlns:a="http://schemas.openxmlformats.org/drawingml/2006/main">
              <a:ext uri="{FF2B5EF4-FFF2-40B4-BE49-F238E27FC236}">
                <a16:creationId xmlns:a16="http://schemas.microsoft.com/office/drawing/2014/main" id="{65F3D1E7-6B08-4BC8-A644-37DC93F9DDC2}"/>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160B20"/>
                </a:solidFill>
                <a:latin typeface="Aptos"/>
                <a:ea typeface="Aptos"/>
                <a:cs typeface="Aptos"/>
              </a:defRPr>
            </a:pPr>
            <a:r>
              <a:rPr sz="3750" b="1" i="0">
                <a:solidFill>
                  <a:srgbClr val="160B20"/>
                </a:solidFill>
                <a:latin typeface="Aptos"/>
                <a:ea typeface="Aptos"/>
                <a:cs typeface="Aptos"/>
              </a:rPr>
              <a:t>Labs 5–6 turn evidence into a durable repair</a:t>
            </a:r>
          </a:p>
        </p:txBody>
      </p:sp>
      <p:sp>
        <p:nvSpPr>
          <p:cNvPr id="3" name="">
            <a:extLst xmlns:a="http://schemas.openxmlformats.org/drawingml/2006/main">
              <a:ext uri="{FF2B5EF4-FFF2-40B4-BE49-F238E27FC236}">
                <a16:creationId xmlns:a16="http://schemas.microsoft.com/office/drawing/2014/main" id="{675D388B-D805-4256-882E-4927D7D28573}"/>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E7DC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E6C1149-998B-4945-8ABC-7C0D095910D5}"/>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6F6277"/>
                </a:solidFill>
                <a:latin typeface="Aptos"/>
                <a:ea typeface="Aptos"/>
                <a:cs typeface="Aptos"/>
              </a:defRPr>
            </a:pPr>
            <a:r>
              <a:rPr sz="900" b="1" i="0">
                <a:solidFill>
                  <a:srgbClr val="6F6277"/>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DD4F8C02-DEC8-4227-8818-1113D7AE6835}"/>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8B5CF6"/>
                </a:solidFill>
                <a:latin typeface="Aptos"/>
                <a:ea typeface="Aptos"/>
                <a:cs typeface="Aptos"/>
              </a:defRPr>
            </a:pPr>
            <a:r>
              <a:rPr sz="1050" b="1" i="0">
                <a:solidFill>
                  <a:srgbClr val="8B5CF6"/>
                </a:solidFill>
                <a:latin typeface="Aptos"/>
                <a:ea typeface="Aptos"/>
                <a:cs typeface="Aptos"/>
              </a:rPr>
              <a:t>34</a:t>
            </a:r>
          </a:p>
        </p:txBody>
      </p:sp>
      <p:sp>
        <p:nvSpPr>
          <p:cNvPr id="6" name="">
            <a:extLst xmlns:a="http://schemas.openxmlformats.org/drawingml/2006/main">
              <a:ext uri="{FF2B5EF4-FFF2-40B4-BE49-F238E27FC236}">
                <a16:creationId xmlns:a16="http://schemas.microsoft.com/office/drawing/2014/main" id="{FBE7E8EA-B1BA-455B-BA86-B7E7CC80B4C1}"/>
              </a:ext>
            </a:extLst>
          </p:cNvPr>
          <p:cNvSpPr>
            <a:spLocks xmlns:a="http://schemas.openxmlformats.org/drawingml/2006/main" noGrp="1"/>
          </p:cNvSpPr>
          <p:nvPr/>
        </p:nvSpPr>
        <p:spPr>
          <a:xfrm xmlns:a="http://schemas.openxmlformats.org/drawingml/2006/main">
            <a:off x="800100" y="17716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125" b="1" i="0">
                <a:solidFill>
                  <a:srgbClr val="FF6B4A"/>
                </a:solidFill>
                <a:latin typeface="Aptos"/>
                <a:ea typeface="Aptos"/>
                <a:cs typeface="Aptos"/>
              </a:defRPr>
            </a:pPr>
            <a:r>
              <a:rPr sz="1125" b="1" i="0">
                <a:solidFill>
                  <a:srgbClr val="FF6B4A"/>
                </a:solidFill>
                <a:latin typeface="Aptos"/>
                <a:ea typeface="Aptos"/>
                <a:cs typeface="Aptos"/>
              </a:rPr>
              <a:t>LAB 5 · 30 MIN</a:t>
            </a:r>
          </a:p>
        </p:txBody>
      </p:sp>
      <p:sp>
        <p:nvSpPr>
          <p:cNvPr id="7" name="">
            <a:extLst xmlns:a="http://schemas.openxmlformats.org/drawingml/2006/main">
              <a:ext uri="{FF2B5EF4-FFF2-40B4-BE49-F238E27FC236}">
                <a16:creationId xmlns:a16="http://schemas.microsoft.com/office/drawing/2014/main" id="{D986AA3C-C65A-435A-A043-2D8FFF314D94}"/>
              </a:ext>
            </a:extLst>
          </p:cNvPr>
          <p:cNvSpPr>
            <a:spLocks xmlns:a="http://schemas.openxmlformats.org/drawingml/2006/main" noGrp="1"/>
          </p:cNvSpPr>
          <p:nvPr/>
        </p:nvSpPr>
        <p:spPr>
          <a:xfrm xmlns:a="http://schemas.openxmlformats.org/drawingml/2006/main">
            <a:off x="800100" y="220980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550" b="1" i="0">
                <a:solidFill>
                  <a:srgbClr val="160B20"/>
                </a:solidFill>
                <a:latin typeface="Aptos"/>
                <a:ea typeface="Aptos"/>
                <a:cs typeface="Aptos"/>
              </a:defRPr>
            </a:pPr>
            <a:r>
              <a:rPr sz="2550" b="1" i="0">
                <a:solidFill>
                  <a:srgbClr val="160B20"/>
                </a:solidFill>
                <a:latin typeface="Aptos"/>
                <a:ea typeface="Aptos"/>
                <a:cs typeface="Aptos"/>
              </a:rPr>
              <a:t>Journal investigation</a:t>
            </a:r>
          </a:p>
        </p:txBody>
      </p:sp>
      <p:sp>
        <p:nvSpPr>
          <p:cNvPr id="8" name="">
            <a:extLst xmlns:a="http://schemas.openxmlformats.org/drawingml/2006/main">
              <a:ext uri="{FF2B5EF4-FFF2-40B4-BE49-F238E27FC236}">
                <a16:creationId xmlns:a16="http://schemas.microsoft.com/office/drawing/2014/main" id="{944FDB98-2A77-4105-9364-D118D870DC76}"/>
              </a:ext>
            </a:extLst>
          </p:cNvPr>
          <p:cNvSpPr>
            <a:spLocks xmlns:a="http://schemas.openxmlformats.org/drawingml/2006/main" noGrp="1"/>
          </p:cNvSpPr>
          <p:nvPr/>
        </p:nvSpPr>
        <p:spPr>
          <a:xfrm xmlns:a="http://schemas.openxmlformats.org/drawingml/2006/main">
            <a:off x="800100" y="3114675"/>
            <a:ext cx="95250" cy="95250"/>
          </a:xfrm>
          <a:prstGeom xmlns:a="http://schemas.openxmlformats.org/drawingml/2006/main" prst="roundRect">
            <a:avLst>
              <a:gd name="adj" fmla="val 50000"/>
            </a:avLst>
          </a:prstGeom>
          <a:solidFill xmlns:a="http://schemas.openxmlformats.org/drawingml/2006/main">
            <a:srgbClr val="FF6B4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730AD02-9C84-4907-B5CA-4A40719CEA96}"/>
              </a:ext>
            </a:extLst>
          </p:cNvPr>
          <p:cNvSpPr>
            <a:spLocks xmlns:a="http://schemas.openxmlformats.org/drawingml/2006/main" noGrp="1"/>
          </p:cNvSpPr>
          <p:nvPr/>
        </p:nvSpPr>
        <p:spPr>
          <a:xfrm xmlns:a="http://schemas.openxmlformats.org/drawingml/2006/main">
            <a:off x="1066800" y="3048000"/>
            <a:ext cx="421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60B20"/>
                </a:solidFill>
                <a:latin typeface="Aptos"/>
                <a:ea typeface="Aptos"/>
                <a:cs typeface="Aptos"/>
              </a:defRPr>
            </a:pPr>
            <a:r>
              <a:rPr sz="1650" b="0" i="0">
                <a:solidFill>
                  <a:srgbClr val="160B20"/>
                </a:solidFill>
                <a:latin typeface="Aptos"/>
                <a:ea typeface="Aptos"/>
                <a:cs typeface="Aptos"/>
              </a:rPr>
              <a:t>Start with service status</a:t>
            </a:r>
          </a:p>
        </p:txBody>
      </p:sp>
      <p:sp>
        <p:nvSpPr>
          <p:cNvPr id="10" name="">
            <a:extLst xmlns:a="http://schemas.openxmlformats.org/drawingml/2006/main">
              <a:ext uri="{FF2B5EF4-FFF2-40B4-BE49-F238E27FC236}">
                <a16:creationId xmlns:a16="http://schemas.microsoft.com/office/drawing/2014/main" id="{3F392BE2-6779-45FE-874B-991AE7485E47}"/>
              </a:ext>
            </a:extLst>
          </p:cNvPr>
          <p:cNvSpPr>
            <a:spLocks xmlns:a="http://schemas.openxmlformats.org/drawingml/2006/main" noGrp="1"/>
          </p:cNvSpPr>
          <p:nvPr/>
        </p:nvSpPr>
        <p:spPr>
          <a:xfrm xmlns:a="http://schemas.openxmlformats.org/drawingml/2006/main">
            <a:off x="800100" y="3686175"/>
            <a:ext cx="95250" cy="95250"/>
          </a:xfrm>
          <a:prstGeom xmlns:a="http://schemas.openxmlformats.org/drawingml/2006/main" prst="roundRect">
            <a:avLst>
              <a:gd name="adj" fmla="val 50000"/>
            </a:avLst>
          </a:prstGeom>
          <a:solidFill xmlns:a="http://schemas.openxmlformats.org/drawingml/2006/main">
            <a:srgbClr val="FF6B4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309809E-EDCD-44AC-B270-1233BB9CDFE1}"/>
              </a:ext>
            </a:extLst>
          </p:cNvPr>
          <p:cNvSpPr>
            <a:spLocks xmlns:a="http://schemas.openxmlformats.org/drawingml/2006/main" noGrp="1"/>
          </p:cNvSpPr>
          <p:nvPr/>
        </p:nvSpPr>
        <p:spPr>
          <a:xfrm xmlns:a="http://schemas.openxmlformats.org/drawingml/2006/main">
            <a:off x="1066800" y="3619500"/>
            <a:ext cx="421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60B20"/>
                </a:solidFill>
                <a:latin typeface="Aptos"/>
                <a:ea typeface="Aptos"/>
                <a:cs typeface="Aptos"/>
              </a:defRPr>
            </a:pPr>
            <a:r>
              <a:rPr sz="1650" b="0" i="0">
                <a:solidFill>
                  <a:srgbClr val="160B20"/>
                </a:solidFill>
                <a:latin typeface="Aptos"/>
                <a:ea typeface="Aptos"/>
                <a:cs typeface="Aptos"/>
              </a:rPr>
              <a:t>Filter by unit + boot</a:t>
            </a:r>
          </a:p>
        </p:txBody>
      </p:sp>
      <p:sp>
        <p:nvSpPr>
          <p:cNvPr id="12" name="">
            <a:extLst xmlns:a="http://schemas.openxmlformats.org/drawingml/2006/main">
              <a:ext uri="{FF2B5EF4-FFF2-40B4-BE49-F238E27FC236}">
                <a16:creationId xmlns:a16="http://schemas.microsoft.com/office/drawing/2014/main" id="{9B1AFF7B-AF0F-4868-8A1D-98A7652AA1DC}"/>
              </a:ext>
            </a:extLst>
          </p:cNvPr>
          <p:cNvSpPr>
            <a:spLocks xmlns:a="http://schemas.openxmlformats.org/drawingml/2006/main" noGrp="1"/>
          </p:cNvSpPr>
          <p:nvPr/>
        </p:nvSpPr>
        <p:spPr>
          <a:xfrm xmlns:a="http://schemas.openxmlformats.org/drawingml/2006/main">
            <a:off x="800100" y="4257675"/>
            <a:ext cx="95250" cy="95250"/>
          </a:xfrm>
          <a:prstGeom xmlns:a="http://schemas.openxmlformats.org/drawingml/2006/main" prst="roundRect">
            <a:avLst>
              <a:gd name="adj" fmla="val 50000"/>
            </a:avLst>
          </a:prstGeom>
          <a:solidFill xmlns:a="http://schemas.openxmlformats.org/drawingml/2006/main">
            <a:srgbClr val="FF6B4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7C647DA-7F3C-4689-9C99-1862F8390A95}"/>
              </a:ext>
            </a:extLst>
          </p:cNvPr>
          <p:cNvSpPr>
            <a:spLocks xmlns:a="http://schemas.openxmlformats.org/drawingml/2006/main" noGrp="1"/>
          </p:cNvSpPr>
          <p:nvPr/>
        </p:nvSpPr>
        <p:spPr>
          <a:xfrm xmlns:a="http://schemas.openxmlformats.org/drawingml/2006/main">
            <a:off x="1066800" y="4191000"/>
            <a:ext cx="421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60B20"/>
                </a:solidFill>
                <a:latin typeface="Aptos"/>
                <a:ea typeface="Aptos"/>
                <a:cs typeface="Aptos"/>
              </a:defRPr>
            </a:pPr>
            <a:r>
              <a:rPr sz="1650" b="0" i="0">
                <a:solidFill>
                  <a:srgbClr val="160B20"/>
                </a:solidFill>
                <a:latin typeface="Aptos"/>
                <a:ea typeface="Aptos"/>
                <a:cs typeface="Aptos"/>
              </a:rPr>
              <a:t>Find the first causal event</a:t>
            </a:r>
          </a:p>
        </p:txBody>
      </p:sp>
      <p:sp>
        <p:nvSpPr>
          <p:cNvPr id="14" name="">
            <a:extLst xmlns:a="http://schemas.openxmlformats.org/drawingml/2006/main">
              <a:ext uri="{FF2B5EF4-FFF2-40B4-BE49-F238E27FC236}">
                <a16:creationId xmlns:a16="http://schemas.microsoft.com/office/drawing/2014/main" id="{B1F3BE63-E6CA-443F-816A-AEF8B6CB1740}"/>
              </a:ext>
            </a:extLst>
          </p:cNvPr>
          <p:cNvSpPr>
            <a:spLocks xmlns:a="http://schemas.openxmlformats.org/drawingml/2006/main" noGrp="1"/>
          </p:cNvSpPr>
          <p:nvPr/>
        </p:nvSpPr>
        <p:spPr>
          <a:xfrm xmlns:a="http://schemas.openxmlformats.org/drawingml/2006/main">
            <a:off x="800100" y="4829175"/>
            <a:ext cx="95250" cy="95250"/>
          </a:xfrm>
          <a:prstGeom xmlns:a="http://schemas.openxmlformats.org/drawingml/2006/main" prst="roundRect">
            <a:avLst>
              <a:gd name="adj" fmla="val 50000"/>
            </a:avLst>
          </a:prstGeom>
          <a:solidFill xmlns:a="http://schemas.openxmlformats.org/drawingml/2006/main">
            <a:srgbClr val="FF6B4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E61D11A-E126-4D69-B05C-A82739182C58}"/>
              </a:ext>
            </a:extLst>
          </p:cNvPr>
          <p:cNvSpPr>
            <a:spLocks xmlns:a="http://schemas.openxmlformats.org/drawingml/2006/main" noGrp="1"/>
          </p:cNvSpPr>
          <p:nvPr/>
        </p:nvSpPr>
        <p:spPr>
          <a:xfrm xmlns:a="http://schemas.openxmlformats.org/drawingml/2006/main">
            <a:off x="1066800" y="4762500"/>
            <a:ext cx="421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60B20"/>
                </a:solidFill>
                <a:latin typeface="Aptos"/>
                <a:ea typeface="Aptos"/>
                <a:cs typeface="Aptos"/>
              </a:defRPr>
            </a:pPr>
            <a:r>
              <a:rPr sz="1650" b="0" i="0">
                <a:solidFill>
                  <a:srgbClr val="160B20"/>
                </a:solidFill>
                <a:latin typeface="Aptos"/>
                <a:ea typeface="Aptos"/>
                <a:cs typeface="Aptos"/>
              </a:rPr>
              <a:t>Record incident + exit code</a:t>
            </a:r>
          </a:p>
        </p:txBody>
      </p:sp>
      <p:sp>
        <p:nvSpPr>
          <p:cNvPr id="16" name="">
            <a:extLst xmlns:a="http://schemas.openxmlformats.org/drawingml/2006/main">
              <a:ext uri="{FF2B5EF4-FFF2-40B4-BE49-F238E27FC236}">
                <a16:creationId xmlns:a16="http://schemas.microsoft.com/office/drawing/2014/main" id="{3747FC51-D8C6-4477-B5CA-B7B45F3313C0}"/>
              </a:ext>
            </a:extLst>
          </p:cNvPr>
          <p:cNvSpPr>
            <a:spLocks xmlns:a="http://schemas.openxmlformats.org/drawingml/2006/main" noGrp="1"/>
          </p:cNvSpPr>
          <p:nvPr/>
        </p:nvSpPr>
        <p:spPr>
          <a:xfrm xmlns:a="http://schemas.openxmlformats.org/drawingml/2006/main">
            <a:off x="6667500" y="17716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125" b="1" i="0">
                <a:solidFill>
                  <a:srgbClr val="8B5CF6"/>
                </a:solidFill>
                <a:latin typeface="Aptos"/>
                <a:ea typeface="Aptos"/>
                <a:cs typeface="Aptos"/>
              </a:defRPr>
            </a:pPr>
            <a:r>
              <a:rPr sz="1125" b="1" i="0">
                <a:solidFill>
                  <a:srgbClr val="8B5CF6"/>
                </a:solidFill>
                <a:latin typeface="Aptos"/>
                <a:ea typeface="Aptos"/>
                <a:cs typeface="Aptos"/>
              </a:rPr>
              <a:t>LAB 6 · 35 MIN</a:t>
            </a:r>
          </a:p>
        </p:txBody>
      </p:sp>
      <p:sp>
        <p:nvSpPr>
          <p:cNvPr id="17" name="">
            <a:extLst xmlns:a="http://schemas.openxmlformats.org/drawingml/2006/main">
              <a:ext uri="{FF2B5EF4-FFF2-40B4-BE49-F238E27FC236}">
                <a16:creationId xmlns:a16="http://schemas.microsoft.com/office/drawing/2014/main" id="{2B268C52-4363-45FE-83CB-8133E4DA97E4}"/>
              </a:ext>
            </a:extLst>
          </p:cNvPr>
          <p:cNvSpPr>
            <a:spLocks xmlns:a="http://schemas.openxmlformats.org/drawingml/2006/main" noGrp="1"/>
          </p:cNvSpPr>
          <p:nvPr/>
        </p:nvSpPr>
        <p:spPr>
          <a:xfrm xmlns:a="http://schemas.openxmlformats.org/drawingml/2006/main">
            <a:off x="6667500" y="220980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550" b="1" i="0">
                <a:solidFill>
                  <a:srgbClr val="160B20"/>
                </a:solidFill>
                <a:latin typeface="Aptos"/>
                <a:ea typeface="Aptos"/>
                <a:cs typeface="Aptos"/>
              </a:defRPr>
            </a:pPr>
            <a:r>
              <a:rPr sz="2550" b="1" i="0">
                <a:solidFill>
                  <a:srgbClr val="160B20"/>
                </a:solidFill>
                <a:latin typeface="Aptos"/>
                <a:ea typeface="Aptos"/>
                <a:cs typeface="Aptos"/>
              </a:rPr>
              <a:t>Broken service capstone</a:t>
            </a:r>
          </a:p>
        </p:txBody>
      </p:sp>
      <p:sp>
        <p:nvSpPr>
          <p:cNvPr id="18" name="">
            <a:extLst xmlns:a="http://schemas.openxmlformats.org/drawingml/2006/main">
              <a:ext uri="{FF2B5EF4-FFF2-40B4-BE49-F238E27FC236}">
                <a16:creationId xmlns:a16="http://schemas.microsoft.com/office/drawing/2014/main" id="{E4340E82-A4BC-4794-A233-927376902DAE}"/>
              </a:ext>
            </a:extLst>
          </p:cNvPr>
          <p:cNvSpPr>
            <a:spLocks xmlns:a="http://schemas.openxmlformats.org/drawingml/2006/main" noGrp="1"/>
          </p:cNvSpPr>
          <p:nvPr/>
        </p:nvSpPr>
        <p:spPr>
          <a:xfrm xmlns:a="http://schemas.openxmlformats.org/drawingml/2006/main">
            <a:off x="6667500" y="2990850"/>
            <a:ext cx="4572000" cy="2305050"/>
          </a:xfrm>
          <a:prstGeom xmlns:a="http://schemas.openxmlformats.org/drawingml/2006/main" prst="roundRect">
            <a:avLst>
              <a:gd name="adj" fmla="val 6612"/>
            </a:avLst>
          </a:prstGeom>
          <a:solidFill xmlns:a="http://schemas.openxmlformats.org/drawingml/2006/main">
            <a:srgbClr val="28183A"/>
          </a:solidFill>
          <a:ln xmlns:a="http://schemas.openxmlformats.org/drawingml/2006/main" w="9525">
            <a:solidFill>
              <a:srgbClr val="4A335D"/>
            </a:solidFill>
            <a:prstDash val="solid"/>
          </a:ln>
        </p:spPr>
      </p:sp>
      <p:sp>
        <p:nvSpPr>
          <p:cNvPr id="19" name="">
            <a:extLst xmlns:a="http://schemas.openxmlformats.org/drawingml/2006/main">
              <a:ext uri="{FF2B5EF4-FFF2-40B4-BE49-F238E27FC236}">
                <a16:creationId xmlns:a16="http://schemas.microsoft.com/office/drawing/2014/main" id="{A3E84793-6790-415D-AD6D-252D80193C16}"/>
              </a:ext>
            </a:extLst>
          </p:cNvPr>
          <p:cNvSpPr>
            <a:spLocks xmlns:a="http://schemas.openxmlformats.org/drawingml/2006/main" noGrp="1"/>
          </p:cNvSpPr>
          <p:nvPr/>
        </p:nvSpPr>
        <p:spPr>
          <a:xfrm xmlns:a="http://schemas.openxmlformats.org/drawingml/2006/main">
            <a:off x="6667500" y="2990850"/>
            <a:ext cx="4572000" cy="400050"/>
          </a:xfrm>
          <a:prstGeom xmlns:a="http://schemas.openxmlformats.org/drawingml/2006/main" prst="roundRect">
            <a:avLst>
              <a:gd name="adj" fmla="val 38095"/>
            </a:avLst>
          </a:prstGeom>
          <a:solidFill xmlns:a="http://schemas.openxmlformats.org/drawingml/2006/main">
            <a:srgbClr val="21122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4FD8CBC-3B5E-4CB2-A646-7A4D3569AC4B}"/>
              </a:ext>
            </a:extLst>
          </p:cNvPr>
          <p:cNvSpPr>
            <a:spLocks xmlns:a="http://schemas.openxmlformats.org/drawingml/2006/main" noGrp="1"/>
          </p:cNvSpPr>
          <p:nvPr/>
        </p:nvSpPr>
        <p:spPr>
          <a:xfrm xmlns:a="http://schemas.openxmlformats.org/drawingml/2006/main">
            <a:off x="6667500" y="3257550"/>
            <a:ext cx="4572000" cy="133350"/>
          </a:xfrm>
          <a:prstGeom xmlns:a="http://schemas.openxmlformats.org/drawingml/2006/main" prst="rect">
            <a:avLst/>
          </a:prstGeom>
          <a:solidFill xmlns:a="http://schemas.openxmlformats.org/drawingml/2006/main">
            <a:srgbClr val="21122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106415D-3251-45AF-B80C-212E5E1DDBD5}"/>
              </a:ext>
            </a:extLst>
          </p:cNvPr>
          <p:cNvSpPr>
            <a:spLocks xmlns:a="http://schemas.openxmlformats.org/drawingml/2006/main" noGrp="1"/>
          </p:cNvSpPr>
          <p:nvPr/>
        </p:nvSpPr>
        <p:spPr>
          <a:xfrm xmlns:a="http://schemas.openxmlformats.org/drawingml/2006/main">
            <a:off x="6838950" y="3143250"/>
            <a:ext cx="95250" cy="95250"/>
          </a:xfrm>
          <a:prstGeom xmlns:a="http://schemas.openxmlformats.org/drawingml/2006/main" prst="roundRect">
            <a:avLst>
              <a:gd name="adj" fmla="val 50000"/>
            </a:avLst>
          </a:prstGeom>
          <a:solidFill xmlns:a="http://schemas.openxmlformats.org/drawingml/2006/main">
            <a:srgbClr val="FF7B72"/>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F17D59A-35AF-4244-BC26-3A6B698272B2}"/>
              </a:ext>
            </a:extLst>
          </p:cNvPr>
          <p:cNvSpPr>
            <a:spLocks xmlns:a="http://schemas.openxmlformats.org/drawingml/2006/main" noGrp="1"/>
          </p:cNvSpPr>
          <p:nvPr/>
        </p:nvSpPr>
        <p:spPr>
          <a:xfrm xmlns:a="http://schemas.openxmlformats.org/drawingml/2006/main">
            <a:off x="7010400" y="3143250"/>
            <a:ext cx="95250" cy="95250"/>
          </a:xfrm>
          <a:prstGeom xmlns:a="http://schemas.openxmlformats.org/drawingml/2006/main" prst="roundRect">
            <a:avLst>
              <a:gd name="adj" fmla="val 50000"/>
            </a:avLst>
          </a:prstGeom>
          <a:solidFill xmlns:a="http://schemas.openxmlformats.org/drawingml/2006/main">
            <a:srgbClr val="FFC66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AD4DCAD-253C-4CA2-A50B-71415E89A0D4}"/>
              </a:ext>
            </a:extLst>
          </p:cNvPr>
          <p:cNvSpPr>
            <a:spLocks xmlns:a="http://schemas.openxmlformats.org/drawingml/2006/main" noGrp="1"/>
          </p:cNvSpPr>
          <p:nvPr/>
        </p:nvSpPr>
        <p:spPr>
          <a:xfrm xmlns:a="http://schemas.openxmlformats.org/drawingml/2006/main">
            <a:off x="7181850" y="3143250"/>
            <a:ext cx="95250" cy="95250"/>
          </a:xfrm>
          <a:prstGeom xmlns:a="http://schemas.openxmlformats.org/drawingml/2006/main" prst="roundRect">
            <a:avLst>
              <a:gd name="adj" fmla="val 50000"/>
            </a:avLst>
          </a:prstGeom>
          <a:solidFill xmlns:a="http://schemas.openxmlformats.org/drawingml/2006/main">
            <a:srgbClr val="70D6A6"/>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2CE1058-0590-41E2-8D4C-F7CBA5E0B7A3}"/>
              </a:ext>
            </a:extLst>
          </p:cNvPr>
          <p:cNvSpPr>
            <a:spLocks xmlns:a="http://schemas.openxmlformats.org/drawingml/2006/main" noGrp="1"/>
          </p:cNvSpPr>
          <p:nvPr/>
        </p:nvSpPr>
        <p:spPr>
          <a:xfrm xmlns:a="http://schemas.openxmlformats.org/drawingml/2006/main">
            <a:off x="7448550" y="3105150"/>
            <a:ext cx="361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8B5CF6"/>
                </a:solidFill>
                <a:latin typeface="Aptos"/>
                <a:ea typeface="Aptos"/>
                <a:cs typeface="Aptos"/>
              </a:defRPr>
            </a:pPr>
            <a:r>
              <a:rPr sz="900" b="1" i="0">
                <a:solidFill>
                  <a:srgbClr val="8B5CF6"/>
                </a:solidFill>
                <a:latin typeface="Aptos"/>
                <a:ea typeface="Aptos"/>
                <a:cs typeface="Aptos"/>
              </a:rPr>
              <a:t>EVIDENCE → REPAIR</a:t>
            </a:r>
          </a:p>
        </p:txBody>
      </p:sp>
      <p:sp>
        <p:nvSpPr>
          <p:cNvPr id="25" name="">
            <a:extLst xmlns:a="http://schemas.openxmlformats.org/drawingml/2006/main">
              <a:ext uri="{FF2B5EF4-FFF2-40B4-BE49-F238E27FC236}">
                <a16:creationId xmlns:a16="http://schemas.microsoft.com/office/drawing/2014/main" id="{D17ADB7E-8E4C-41AC-AC83-A64022BC9E20}"/>
              </a:ext>
            </a:extLst>
          </p:cNvPr>
          <p:cNvSpPr>
            <a:spLocks xmlns:a="http://schemas.openxmlformats.org/drawingml/2006/main" noGrp="1"/>
          </p:cNvSpPr>
          <p:nvPr/>
        </p:nvSpPr>
        <p:spPr>
          <a:xfrm xmlns:a="http://schemas.openxmlformats.org/drawingml/2006/main">
            <a:off x="6896100" y="3562350"/>
            <a:ext cx="411480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087"/>
          </a:bodyPr>
          <a:lstStyle xmlns:a="http://schemas.openxmlformats.org/drawingml/2006/main"/>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systemctl status course-web --no-pager</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journalctl -u course-web -b --no-pager</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systemctl cat course-web</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sudo systemctl enable --now course-web</a:t>
            </a:r>
          </a:p>
          <a:p xmlns:a="http://schemas.openxmlformats.org/drawingml/2006/main">
            <a:pPr algn="l">
              <a:lnSpc>
                <a:spcPct val="104000"/>
              </a:lnSpc>
              <a:buNone/>
              <a:defRPr sz="1500" b="0" i="0">
                <a:solidFill>
                  <a:srgbClr val="FFF8EE"/>
                </a:solidFill>
                <a:latin typeface="Courier New"/>
                <a:ea typeface="Courier New"/>
                <a:cs typeface="Courier New"/>
              </a:defRPr>
            </a:pPr>
            <a:r>
              <a:rPr sz="1500" b="0" i="0">
                <a:solidFill>
                  <a:srgbClr val="FFF8EE"/>
                </a:solidFill>
                <a:latin typeface="Courier New"/>
                <a:ea typeface="Courier New"/>
                <a:cs typeface="Courier New"/>
              </a:rPr>
              <a:t>curl -fsS http://127.0.0.1:8088/</a:t>
            </a:r>
          </a:p>
        </p:txBody>
      </p:sp>
      <p:sp>
        <p:nvSpPr>
          <p:cNvPr id="26" name="">
            <a:extLst xmlns:a="http://schemas.openxmlformats.org/drawingml/2006/main">
              <a:ext uri="{FF2B5EF4-FFF2-40B4-BE49-F238E27FC236}">
                <a16:creationId xmlns:a16="http://schemas.microsoft.com/office/drawing/2014/main" id="{E9FE658B-4E7F-4E46-BC2B-1E533D4376D9}"/>
              </a:ext>
            </a:extLst>
          </p:cNvPr>
          <p:cNvSpPr>
            <a:spLocks xmlns:a="http://schemas.openxmlformats.org/drawingml/2006/main" noGrp="1"/>
          </p:cNvSpPr>
          <p:nvPr/>
        </p:nvSpPr>
        <p:spPr>
          <a:xfrm xmlns:a="http://schemas.openxmlformats.org/drawingml/2006/main">
            <a:off x="800100" y="5619750"/>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725" b="1" i="0">
                <a:solidFill>
                  <a:srgbClr val="8B5CF6"/>
                </a:solidFill>
                <a:latin typeface="Aptos"/>
                <a:ea typeface="Aptos"/>
                <a:cs typeface="Aptos"/>
              </a:defRPr>
            </a:pPr>
            <a:r>
              <a:rPr sz="1725" b="1" i="0">
                <a:solidFill>
                  <a:srgbClr val="8B5CF6"/>
                </a:solidFill>
                <a:latin typeface="Aptos"/>
                <a:ea typeface="Aptos"/>
                <a:cs typeface="Aptos"/>
              </a:rPr>
              <a:t>Final checkpoint: active + enabled + HTTP response.</a:t>
            </a:r>
          </a:p>
        </p:txBody>
      </p:sp>
    </p:spTree>
    <p:extLst>
      <p:ext uri="{BB962C8B-B14F-4D97-AF65-F5344CB8AC3E}">
        <p14:creationId xmlns:p14="http://schemas.microsoft.com/office/powerpoint/2010/main" val="1530600939"/>
      </p:ext>
    </p:extLst>
  </p:cSld>
</p:sld>
</file>

<file path=ppt/slides/slide35.xml><?xml version="1.0" encoding="utf-8"?>
<p:sld xmlns:p="http://schemas.openxmlformats.org/presentationml/2006/main">
  <p:cSld>
    <p:bg>
      <p:bgPr>
        <a:solidFill xmlns:a="http://schemas.openxmlformats.org/drawingml/2006/main">
          <a:srgbClr val="180D24"/>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5F8D1FE6-ABA5-4CB4-9DAF-3CA6C5769F88}"/>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TROUBLESHOOTING</a:t>
            </a:r>
          </a:p>
        </p:txBody>
      </p:sp>
      <p:sp>
        <p:nvSpPr>
          <p:cNvPr id="2" name="">
            <a:extLst xmlns:a="http://schemas.openxmlformats.org/drawingml/2006/main">
              <a:ext uri="{FF2B5EF4-FFF2-40B4-BE49-F238E27FC236}">
                <a16:creationId xmlns:a16="http://schemas.microsoft.com/office/drawing/2014/main" id="{6962CA14-4009-4F48-BE79-B6486CE4F1F8}"/>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2905"/>
          </a:bodyPr>
          <a:lstStyle xmlns:a="http://schemas.openxmlformats.org/drawingml/2006/main"/>
          <a:p xmlns:a="http://schemas.openxmlformats.org/drawingml/2006/main">
            <a:pPr algn="l">
              <a:lnSpc>
                <a:spcPct val="94000"/>
              </a:lnSpc>
              <a:buNone/>
              <a:defRPr sz="3750" b="1" i="0">
                <a:solidFill>
                  <a:srgbClr val="FFF8EE"/>
                </a:solidFill>
                <a:latin typeface="Aptos"/>
                <a:ea typeface="Aptos"/>
                <a:cs typeface="Aptos"/>
              </a:defRPr>
            </a:pPr>
            <a:r>
              <a:rPr sz="3750" b="1" i="0">
                <a:solidFill>
                  <a:srgbClr val="FFF8EE"/>
                </a:solidFill>
                <a:latin typeface="Aptos"/>
                <a:ea typeface="Aptos"/>
                <a:cs typeface="Aptos"/>
              </a:rPr>
              <a:t>When blocked, widen evidence before widening privilege</a:t>
            </a:r>
          </a:p>
        </p:txBody>
      </p:sp>
      <p:sp>
        <p:nvSpPr>
          <p:cNvPr id="3" name="">
            <a:extLst xmlns:a="http://schemas.openxmlformats.org/drawingml/2006/main">
              <a:ext uri="{FF2B5EF4-FFF2-40B4-BE49-F238E27FC236}">
                <a16:creationId xmlns:a16="http://schemas.microsoft.com/office/drawing/2014/main" id="{2FAF37ED-C264-47F6-A560-7B7B11EB0017}"/>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3520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217C391-09CE-426A-BF94-E4297C9EBB36}"/>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BFAFCB"/>
                </a:solidFill>
                <a:latin typeface="Aptos"/>
                <a:ea typeface="Aptos"/>
                <a:cs typeface="Aptos"/>
              </a:defRPr>
            </a:pPr>
            <a:r>
              <a:rPr sz="900" b="1" i="0">
                <a:solidFill>
                  <a:srgbClr val="BFAFCB"/>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EF030DBC-AF06-431B-BD1A-2579E50B55B8}"/>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C9B6FF"/>
                </a:solidFill>
                <a:latin typeface="Aptos"/>
                <a:ea typeface="Aptos"/>
                <a:cs typeface="Aptos"/>
              </a:defRPr>
            </a:pPr>
            <a:r>
              <a:rPr sz="1050" b="1" i="0">
                <a:solidFill>
                  <a:srgbClr val="C9B6FF"/>
                </a:solidFill>
                <a:latin typeface="Aptos"/>
                <a:ea typeface="Aptos"/>
                <a:cs typeface="Aptos"/>
              </a:rPr>
              <a:t>35</a:t>
            </a:r>
          </a:p>
        </p:txBody>
      </p:sp>
      <p:sp>
        <p:nvSpPr>
          <p:cNvPr id="6" name="">
            <a:extLst xmlns:a="http://schemas.openxmlformats.org/drawingml/2006/main">
              <a:ext uri="{FF2B5EF4-FFF2-40B4-BE49-F238E27FC236}">
                <a16:creationId xmlns:a16="http://schemas.microsoft.com/office/drawing/2014/main" id="{CD79C156-8951-423E-A5A1-E8CCB3534FE7}"/>
              </a:ext>
            </a:extLst>
          </p:cNvPr>
          <p:cNvSpPr>
            <a:spLocks xmlns:a="http://schemas.openxmlformats.org/drawingml/2006/main" noGrp="1"/>
          </p:cNvSpPr>
          <p:nvPr/>
        </p:nvSpPr>
        <p:spPr>
          <a:xfrm xmlns:a="http://schemas.openxmlformats.org/drawingml/2006/main">
            <a:off x="952500" y="1714500"/>
            <a:ext cx="9334500" cy="590550"/>
          </a:xfrm>
          <a:prstGeom xmlns:a="http://schemas.openxmlformats.org/drawingml/2006/main" prst="roundRect">
            <a:avLst>
              <a:gd name="adj" fmla="val 12903"/>
            </a:avLst>
          </a:prstGeom>
          <a:solidFill xmlns:a="http://schemas.openxmlformats.org/drawingml/2006/main">
            <a:srgbClr val="35204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5E0D659-7C2C-4EEB-AB1D-5FEBB37BF05C}"/>
              </a:ext>
            </a:extLst>
          </p:cNvPr>
          <p:cNvSpPr>
            <a:spLocks xmlns:a="http://schemas.openxmlformats.org/drawingml/2006/main" noGrp="1"/>
          </p:cNvSpPr>
          <p:nvPr/>
        </p:nvSpPr>
        <p:spPr>
          <a:xfrm xmlns:a="http://schemas.openxmlformats.org/drawingml/2006/main">
            <a:off x="1162050" y="186690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725" b="1" i="0">
                <a:solidFill>
                  <a:srgbClr val="C9B6FF"/>
                </a:solidFill>
                <a:latin typeface="Aptos"/>
                <a:ea typeface="Aptos"/>
                <a:cs typeface="Aptos"/>
              </a:defRPr>
            </a:pPr>
            <a:r>
              <a:rPr sz="1725" b="1" i="0">
                <a:solidFill>
                  <a:srgbClr val="C9B6FF"/>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D639FF9B-5F1B-4E62-AFC2-2762505C4017}"/>
              </a:ext>
            </a:extLst>
          </p:cNvPr>
          <p:cNvSpPr>
            <a:spLocks xmlns:a="http://schemas.openxmlformats.org/drawingml/2006/main" noGrp="1"/>
          </p:cNvSpPr>
          <p:nvPr/>
        </p:nvSpPr>
        <p:spPr>
          <a:xfrm xmlns:a="http://schemas.openxmlformats.org/drawingml/2006/main">
            <a:off x="1905000" y="18478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FFF8EE"/>
                </a:solidFill>
                <a:latin typeface="Aptos"/>
                <a:ea typeface="Aptos"/>
                <a:cs typeface="Aptos"/>
              </a:defRPr>
            </a:pPr>
            <a:r>
              <a:rPr sz="1725" b="1" i="0">
                <a:solidFill>
                  <a:srgbClr val="FFF8EE"/>
                </a:solidFill>
                <a:latin typeface="Aptos"/>
                <a:ea typeface="Aptos"/>
                <a:cs typeface="Aptos"/>
              </a:rPr>
              <a:t>Context</a:t>
            </a:r>
          </a:p>
        </p:txBody>
      </p:sp>
      <p:sp>
        <p:nvSpPr>
          <p:cNvPr id="9" name="">
            <a:extLst xmlns:a="http://schemas.openxmlformats.org/drawingml/2006/main">
              <a:ext uri="{FF2B5EF4-FFF2-40B4-BE49-F238E27FC236}">
                <a16:creationId xmlns:a16="http://schemas.microsoft.com/office/drawing/2014/main" id="{65FEE472-EF94-4AC5-8282-6852A6DDC657}"/>
              </a:ext>
            </a:extLst>
          </p:cNvPr>
          <p:cNvSpPr>
            <a:spLocks xmlns:a="http://schemas.openxmlformats.org/drawingml/2006/main" noGrp="1"/>
          </p:cNvSpPr>
          <p:nvPr/>
        </p:nvSpPr>
        <p:spPr>
          <a:xfrm xmlns:a="http://schemas.openxmlformats.org/drawingml/2006/main">
            <a:off x="4171950" y="186690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500" b="0" i="0">
                <a:solidFill>
                  <a:srgbClr val="BFAFCB"/>
                </a:solidFill>
                <a:latin typeface="Courier New"/>
                <a:ea typeface="Courier New"/>
                <a:cs typeface="Courier New"/>
              </a:defRPr>
            </a:pPr>
            <a:r>
              <a:rPr sz="1500" b="0" i="0">
                <a:solidFill>
                  <a:srgbClr val="BFAFCB"/>
                </a:solidFill>
                <a:latin typeface="Courier New"/>
                <a:ea typeface="Courier New"/>
                <a:cs typeface="Courier New"/>
              </a:rPr>
              <a:t>hostname · whoami · pwd</a:t>
            </a:r>
          </a:p>
        </p:txBody>
      </p:sp>
      <p:sp>
        <p:nvSpPr>
          <p:cNvPr id="10" name="">
            <a:extLst xmlns:a="http://schemas.openxmlformats.org/drawingml/2006/main">
              <a:ext uri="{FF2B5EF4-FFF2-40B4-BE49-F238E27FC236}">
                <a16:creationId xmlns:a16="http://schemas.microsoft.com/office/drawing/2014/main" id="{E313AB84-D65D-4F0A-A68E-B561A3F7EC14}"/>
              </a:ext>
            </a:extLst>
          </p:cNvPr>
          <p:cNvSpPr>
            <a:spLocks xmlns:a="http://schemas.openxmlformats.org/drawingml/2006/main" noGrp="1"/>
          </p:cNvSpPr>
          <p:nvPr/>
        </p:nvSpPr>
        <p:spPr>
          <a:xfrm xmlns:a="http://schemas.openxmlformats.org/drawingml/2006/main">
            <a:off x="1276350" y="2495550"/>
            <a:ext cx="8686800" cy="590550"/>
          </a:xfrm>
          <a:prstGeom xmlns:a="http://schemas.openxmlformats.org/drawingml/2006/main" prst="roundRect">
            <a:avLst>
              <a:gd name="adj" fmla="val 12903"/>
            </a:avLst>
          </a:prstGeom>
          <a:solidFill xmlns:a="http://schemas.openxmlformats.org/drawingml/2006/main">
            <a:srgbClr val="35204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C682AAF-AF54-4EE9-82D2-5DF278B85B34}"/>
              </a:ext>
            </a:extLst>
          </p:cNvPr>
          <p:cNvSpPr>
            <a:spLocks xmlns:a="http://schemas.openxmlformats.org/drawingml/2006/main" noGrp="1"/>
          </p:cNvSpPr>
          <p:nvPr/>
        </p:nvSpPr>
        <p:spPr>
          <a:xfrm xmlns:a="http://schemas.openxmlformats.org/drawingml/2006/main">
            <a:off x="1485900" y="264795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725" b="1" i="0">
                <a:solidFill>
                  <a:srgbClr val="C9B6FF"/>
                </a:solidFill>
                <a:latin typeface="Aptos"/>
                <a:ea typeface="Aptos"/>
                <a:cs typeface="Aptos"/>
              </a:defRPr>
            </a:pPr>
            <a:r>
              <a:rPr sz="1725" b="1" i="0">
                <a:solidFill>
                  <a:srgbClr val="C9B6FF"/>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46C2000D-FE4A-40A3-BAE1-933D4B2C4AA3}"/>
              </a:ext>
            </a:extLst>
          </p:cNvPr>
          <p:cNvSpPr>
            <a:spLocks xmlns:a="http://schemas.openxmlformats.org/drawingml/2006/main" noGrp="1"/>
          </p:cNvSpPr>
          <p:nvPr/>
        </p:nvSpPr>
        <p:spPr>
          <a:xfrm xmlns:a="http://schemas.openxmlformats.org/drawingml/2006/main">
            <a:off x="2228850" y="262890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FFF8EE"/>
                </a:solidFill>
                <a:latin typeface="Aptos"/>
                <a:ea typeface="Aptos"/>
                <a:cs typeface="Aptos"/>
              </a:defRPr>
            </a:pPr>
            <a:r>
              <a:rPr sz="1725" b="1" i="0">
                <a:solidFill>
                  <a:srgbClr val="FFF8EE"/>
                </a:solidFill>
                <a:latin typeface="Aptos"/>
                <a:ea typeface="Aptos"/>
                <a:cs typeface="Aptos"/>
              </a:rPr>
              <a:t>Target</a:t>
            </a:r>
          </a:p>
        </p:txBody>
      </p:sp>
      <p:sp>
        <p:nvSpPr>
          <p:cNvPr id="13" name="">
            <a:extLst xmlns:a="http://schemas.openxmlformats.org/drawingml/2006/main">
              <a:ext uri="{FF2B5EF4-FFF2-40B4-BE49-F238E27FC236}">
                <a16:creationId xmlns:a16="http://schemas.microsoft.com/office/drawing/2014/main" id="{8FFACBBD-978B-48DD-9361-597B25EC92E5}"/>
              </a:ext>
            </a:extLst>
          </p:cNvPr>
          <p:cNvSpPr>
            <a:spLocks xmlns:a="http://schemas.openxmlformats.org/drawingml/2006/main" noGrp="1"/>
          </p:cNvSpPr>
          <p:nvPr/>
        </p:nvSpPr>
        <p:spPr>
          <a:xfrm xmlns:a="http://schemas.openxmlformats.org/drawingml/2006/main">
            <a:off x="4495800" y="2647950"/>
            <a:ext cx="4686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500" b="0" i="0">
                <a:solidFill>
                  <a:srgbClr val="BFAFCB"/>
                </a:solidFill>
                <a:latin typeface="Courier New"/>
                <a:ea typeface="Courier New"/>
                <a:cs typeface="Courier New"/>
              </a:defRPr>
            </a:pPr>
            <a:r>
              <a:rPr sz="1500" b="0" i="0">
                <a:solidFill>
                  <a:srgbClr val="BFAFCB"/>
                </a:solidFill>
                <a:latin typeface="Courier New"/>
                <a:ea typeface="Courier New"/>
                <a:cs typeface="Courier New"/>
              </a:rPr>
              <a:t>ls -ld · stat · systemctl cat</a:t>
            </a:r>
          </a:p>
        </p:txBody>
      </p:sp>
      <p:sp>
        <p:nvSpPr>
          <p:cNvPr id="14" name="">
            <a:extLst xmlns:a="http://schemas.openxmlformats.org/drawingml/2006/main">
              <a:ext uri="{FF2B5EF4-FFF2-40B4-BE49-F238E27FC236}">
                <a16:creationId xmlns:a16="http://schemas.microsoft.com/office/drawing/2014/main" id="{5A794A64-20BD-476C-8200-268066DF0D40}"/>
              </a:ext>
            </a:extLst>
          </p:cNvPr>
          <p:cNvSpPr>
            <a:spLocks xmlns:a="http://schemas.openxmlformats.org/drawingml/2006/main" noGrp="1"/>
          </p:cNvSpPr>
          <p:nvPr/>
        </p:nvSpPr>
        <p:spPr>
          <a:xfrm xmlns:a="http://schemas.openxmlformats.org/drawingml/2006/main">
            <a:off x="1600200" y="3276600"/>
            <a:ext cx="8039100" cy="590550"/>
          </a:xfrm>
          <a:prstGeom xmlns:a="http://schemas.openxmlformats.org/drawingml/2006/main" prst="roundRect">
            <a:avLst>
              <a:gd name="adj" fmla="val 12903"/>
            </a:avLst>
          </a:prstGeom>
          <a:solidFill xmlns:a="http://schemas.openxmlformats.org/drawingml/2006/main">
            <a:srgbClr val="35204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0B7E77D-502D-4D9F-B082-322E37929C85}"/>
              </a:ext>
            </a:extLst>
          </p:cNvPr>
          <p:cNvSpPr>
            <a:spLocks xmlns:a="http://schemas.openxmlformats.org/drawingml/2006/main" noGrp="1"/>
          </p:cNvSpPr>
          <p:nvPr/>
        </p:nvSpPr>
        <p:spPr>
          <a:xfrm xmlns:a="http://schemas.openxmlformats.org/drawingml/2006/main">
            <a:off x="1809750" y="342900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725" b="1" i="0">
                <a:solidFill>
                  <a:srgbClr val="C9B6FF"/>
                </a:solidFill>
                <a:latin typeface="Aptos"/>
                <a:ea typeface="Aptos"/>
                <a:cs typeface="Aptos"/>
              </a:defRPr>
            </a:pPr>
            <a:r>
              <a:rPr sz="1725" b="1" i="0">
                <a:solidFill>
                  <a:srgbClr val="C9B6FF"/>
                </a:solidFill>
                <a:latin typeface="Aptos"/>
                <a:ea typeface="Aptos"/>
                <a:cs typeface="Aptos"/>
              </a:rPr>
              <a:t>3</a:t>
            </a:r>
          </a:p>
        </p:txBody>
      </p:sp>
      <p:sp>
        <p:nvSpPr>
          <p:cNvPr id="16" name="">
            <a:extLst xmlns:a="http://schemas.openxmlformats.org/drawingml/2006/main">
              <a:ext uri="{FF2B5EF4-FFF2-40B4-BE49-F238E27FC236}">
                <a16:creationId xmlns:a16="http://schemas.microsoft.com/office/drawing/2014/main" id="{08B71C0F-1F5A-4701-9178-38C506BB4173}"/>
              </a:ext>
            </a:extLst>
          </p:cNvPr>
          <p:cNvSpPr>
            <a:spLocks xmlns:a="http://schemas.openxmlformats.org/drawingml/2006/main" noGrp="1"/>
          </p:cNvSpPr>
          <p:nvPr/>
        </p:nvSpPr>
        <p:spPr>
          <a:xfrm xmlns:a="http://schemas.openxmlformats.org/drawingml/2006/main">
            <a:off x="2552700" y="34099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FFF8EE"/>
                </a:solidFill>
                <a:latin typeface="Aptos"/>
                <a:ea typeface="Aptos"/>
                <a:cs typeface="Aptos"/>
              </a:defRPr>
            </a:pPr>
            <a:r>
              <a:rPr sz="1725" b="1" i="0">
                <a:solidFill>
                  <a:srgbClr val="FFF8EE"/>
                </a:solidFill>
                <a:latin typeface="Aptos"/>
                <a:ea typeface="Aptos"/>
                <a:cs typeface="Aptos"/>
              </a:rPr>
              <a:t>Symptom</a:t>
            </a:r>
          </a:p>
        </p:txBody>
      </p:sp>
      <p:sp>
        <p:nvSpPr>
          <p:cNvPr id="17" name="">
            <a:extLst xmlns:a="http://schemas.openxmlformats.org/drawingml/2006/main">
              <a:ext uri="{FF2B5EF4-FFF2-40B4-BE49-F238E27FC236}">
                <a16:creationId xmlns:a16="http://schemas.microsoft.com/office/drawing/2014/main" id="{1A528371-C73F-4668-9B8F-FAD869BF283C}"/>
              </a:ext>
            </a:extLst>
          </p:cNvPr>
          <p:cNvSpPr>
            <a:spLocks xmlns:a="http://schemas.openxmlformats.org/drawingml/2006/main" noGrp="1"/>
          </p:cNvSpPr>
          <p:nvPr/>
        </p:nvSpPr>
        <p:spPr>
          <a:xfrm xmlns:a="http://schemas.openxmlformats.org/drawingml/2006/main">
            <a:off x="4819650" y="3429000"/>
            <a:ext cx="4038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500" b="0" i="0">
                <a:solidFill>
                  <a:srgbClr val="BFAFCB"/>
                </a:solidFill>
                <a:latin typeface="Courier New"/>
                <a:ea typeface="Courier New"/>
                <a:cs typeface="Courier New"/>
              </a:defRPr>
            </a:pPr>
            <a:r>
              <a:rPr sz="1500" b="0" i="0">
                <a:solidFill>
                  <a:srgbClr val="BFAFCB"/>
                </a:solidFill>
                <a:latin typeface="Courier New"/>
                <a:ea typeface="Courier New"/>
                <a:cs typeface="Courier New"/>
              </a:rPr>
              <a:t>repeat the exact failing action</a:t>
            </a:r>
          </a:p>
        </p:txBody>
      </p:sp>
      <p:sp>
        <p:nvSpPr>
          <p:cNvPr id="18" name="">
            <a:extLst xmlns:a="http://schemas.openxmlformats.org/drawingml/2006/main">
              <a:ext uri="{FF2B5EF4-FFF2-40B4-BE49-F238E27FC236}">
                <a16:creationId xmlns:a16="http://schemas.microsoft.com/office/drawing/2014/main" id="{8E23F090-3677-46BA-B237-556D6C037FDC}"/>
              </a:ext>
            </a:extLst>
          </p:cNvPr>
          <p:cNvSpPr>
            <a:spLocks xmlns:a="http://schemas.openxmlformats.org/drawingml/2006/main" noGrp="1"/>
          </p:cNvSpPr>
          <p:nvPr/>
        </p:nvSpPr>
        <p:spPr>
          <a:xfrm xmlns:a="http://schemas.openxmlformats.org/drawingml/2006/main">
            <a:off x="1924050" y="4057650"/>
            <a:ext cx="7391400" cy="590550"/>
          </a:xfrm>
          <a:prstGeom xmlns:a="http://schemas.openxmlformats.org/drawingml/2006/main" prst="roundRect">
            <a:avLst>
              <a:gd name="adj" fmla="val 12903"/>
            </a:avLst>
          </a:prstGeom>
          <a:solidFill xmlns:a="http://schemas.openxmlformats.org/drawingml/2006/main">
            <a:srgbClr val="35204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F7CAC75-033C-4F9C-A665-2C8618D52BF0}"/>
              </a:ext>
            </a:extLst>
          </p:cNvPr>
          <p:cNvSpPr>
            <a:spLocks xmlns:a="http://schemas.openxmlformats.org/drawingml/2006/main" noGrp="1"/>
          </p:cNvSpPr>
          <p:nvPr/>
        </p:nvSpPr>
        <p:spPr>
          <a:xfrm xmlns:a="http://schemas.openxmlformats.org/drawingml/2006/main">
            <a:off x="2133600" y="421005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725" b="1" i="0">
                <a:solidFill>
                  <a:srgbClr val="C9B6FF"/>
                </a:solidFill>
                <a:latin typeface="Aptos"/>
                <a:ea typeface="Aptos"/>
                <a:cs typeface="Aptos"/>
              </a:defRPr>
            </a:pPr>
            <a:r>
              <a:rPr sz="1725" b="1" i="0">
                <a:solidFill>
                  <a:srgbClr val="C9B6FF"/>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B089DED6-A10B-4ECC-8096-99BFDC594576}"/>
              </a:ext>
            </a:extLst>
          </p:cNvPr>
          <p:cNvSpPr>
            <a:spLocks xmlns:a="http://schemas.openxmlformats.org/drawingml/2006/main" noGrp="1"/>
          </p:cNvSpPr>
          <p:nvPr/>
        </p:nvSpPr>
        <p:spPr>
          <a:xfrm xmlns:a="http://schemas.openxmlformats.org/drawingml/2006/main">
            <a:off x="2876550" y="419100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FFF8EE"/>
                </a:solidFill>
                <a:latin typeface="Aptos"/>
                <a:ea typeface="Aptos"/>
                <a:cs typeface="Aptos"/>
              </a:defRPr>
            </a:pPr>
            <a:r>
              <a:rPr sz="1725" b="1" i="0">
                <a:solidFill>
                  <a:srgbClr val="FFF8EE"/>
                </a:solidFill>
                <a:latin typeface="Aptos"/>
                <a:ea typeface="Aptos"/>
                <a:cs typeface="Aptos"/>
              </a:rPr>
              <a:t>Evidence</a:t>
            </a:r>
          </a:p>
        </p:txBody>
      </p:sp>
      <p:sp>
        <p:nvSpPr>
          <p:cNvPr id="21" name="">
            <a:extLst xmlns:a="http://schemas.openxmlformats.org/drawingml/2006/main">
              <a:ext uri="{FF2B5EF4-FFF2-40B4-BE49-F238E27FC236}">
                <a16:creationId xmlns:a16="http://schemas.microsoft.com/office/drawing/2014/main" id="{5957C7DA-5C50-4BF6-8BDF-4D8D32A701A8}"/>
              </a:ext>
            </a:extLst>
          </p:cNvPr>
          <p:cNvSpPr>
            <a:spLocks xmlns:a="http://schemas.openxmlformats.org/drawingml/2006/main" noGrp="1"/>
          </p:cNvSpPr>
          <p:nvPr/>
        </p:nvSpPr>
        <p:spPr>
          <a:xfrm xmlns:a="http://schemas.openxmlformats.org/drawingml/2006/main">
            <a:off x="5143500" y="4210050"/>
            <a:ext cx="3390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547"/>
          </a:bodyPr>
          <a:lstStyle xmlns:a="http://schemas.openxmlformats.org/drawingml/2006/main"/>
          <a:p xmlns:a="http://schemas.openxmlformats.org/drawingml/2006/main">
            <a:pPr algn="l">
              <a:lnSpc>
                <a:spcPct val="102000"/>
              </a:lnSpc>
              <a:buNone/>
              <a:defRPr sz="1500" b="0" i="0">
                <a:solidFill>
                  <a:srgbClr val="BFAFCB"/>
                </a:solidFill>
                <a:latin typeface="Courier New"/>
                <a:ea typeface="Courier New"/>
                <a:cs typeface="Courier New"/>
              </a:defRPr>
            </a:pPr>
            <a:r>
              <a:rPr sz="1500" b="0" i="0">
                <a:solidFill>
                  <a:srgbClr val="BFAFCB"/>
                </a:solidFill>
                <a:latin typeface="Courier New"/>
                <a:ea typeface="Courier New"/>
                <a:cs typeface="Courier New"/>
              </a:rPr>
              <a:t>status · journalctl · exit status</a:t>
            </a:r>
          </a:p>
        </p:txBody>
      </p:sp>
      <p:sp>
        <p:nvSpPr>
          <p:cNvPr id="22" name="">
            <a:extLst xmlns:a="http://schemas.openxmlformats.org/drawingml/2006/main">
              <a:ext uri="{FF2B5EF4-FFF2-40B4-BE49-F238E27FC236}">
                <a16:creationId xmlns:a16="http://schemas.microsoft.com/office/drawing/2014/main" id="{B3BBB9F7-5ABF-43A3-86DF-8BD7B1D1610C}"/>
              </a:ext>
            </a:extLst>
          </p:cNvPr>
          <p:cNvSpPr>
            <a:spLocks xmlns:a="http://schemas.openxmlformats.org/drawingml/2006/main" noGrp="1"/>
          </p:cNvSpPr>
          <p:nvPr/>
        </p:nvSpPr>
        <p:spPr>
          <a:xfrm xmlns:a="http://schemas.openxmlformats.org/drawingml/2006/main">
            <a:off x="2247900" y="4838700"/>
            <a:ext cx="6743700" cy="590550"/>
          </a:xfrm>
          <a:prstGeom xmlns:a="http://schemas.openxmlformats.org/drawingml/2006/main" prst="roundRect">
            <a:avLst>
              <a:gd name="adj" fmla="val 12903"/>
            </a:avLst>
          </a:prstGeom>
          <a:solidFill xmlns:a="http://schemas.openxmlformats.org/drawingml/2006/main">
            <a:srgbClr val="FF6B4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5F8813A-69AB-4CAC-8565-034ACA50B96B}"/>
              </a:ext>
            </a:extLst>
          </p:cNvPr>
          <p:cNvSpPr>
            <a:spLocks xmlns:a="http://schemas.openxmlformats.org/drawingml/2006/main" noGrp="1"/>
          </p:cNvSpPr>
          <p:nvPr/>
        </p:nvSpPr>
        <p:spPr>
          <a:xfrm xmlns:a="http://schemas.openxmlformats.org/drawingml/2006/main">
            <a:off x="2457450" y="499110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725" b="1" i="0">
                <a:solidFill>
                  <a:srgbClr val="160B20"/>
                </a:solidFill>
                <a:latin typeface="Aptos"/>
                <a:ea typeface="Aptos"/>
                <a:cs typeface="Aptos"/>
              </a:defRPr>
            </a:pPr>
            <a:r>
              <a:rPr sz="1725" b="1" i="0">
                <a:solidFill>
                  <a:srgbClr val="160B20"/>
                </a:solidFill>
                <a:latin typeface="Aptos"/>
                <a:ea typeface="Aptos"/>
                <a:cs typeface="Aptos"/>
              </a:rPr>
              <a:t>5</a:t>
            </a:r>
          </a:p>
        </p:txBody>
      </p:sp>
      <p:sp>
        <p:nvSpPr>
          <p:cNvPr id="24" name="">
            <a:extLst xmlns:a="http://schemas.openxmlformats.org/drawingml/2006/main">
              <a:ext uri="{FF2B5EF4-FFF2-40B4-BE49-F238E27FC236}">
                <a16:creationId xmlns:a16="http://schemas.microsoft.com/office/drawing/2014/main" id="{96B27B08-DCD6-42A1-ABF6-FFFF31EA745A}"/>
              </a:ext>
            </a:extLst>
          </p:cNvPr>
          <p:cNvSpPr>
            <a:spLocks xmlns:a="http://schemas.openxmlformats.org/drawingml/2006/main" noGrp="1"/>
          </p:cNvSpPr>
          <p:nvPr/>
        </p:nvSpPr>
        <p:spPr>
          <a:xfrm xmlns:a="http://schemas.openxmlformats.org/drawingml/2006/main">
            <a:off x="3200400" y="49720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160B20"/>
                </a:solidFill>
                <a:latin typeface="Aptos"/>
                <a:ea typeface="Aptos"/>
                <a:cs typeface="Aptos"/>
              </a:defRPr>
            </a:pPr>
            <a:r>
              <a:rPr sz="1725" b="1" i="0">
                <a:solidFill>
                  <a:srgbClr val="160B20"/>
                </a:solidFill>
                <a:latin typeface="Aptos"/>
                <a:ea typeface="Aptos"/>
                <a:cs typeface="Aptos"/>
              </a:rPr>
              <a:t>Change</a:t>
            </a:r>
          </a:p>
        </p:txBody>
      </p:sp>
      <p:sp>
        <p:nvSpPr>
          <p:cNvPr id="25" name="">
            <a:extLst xmlns:a="http://schemas.openxmlformats.org/drawingml/2006/main">
              <a:ext uri="{FF2B5EF4-FFF2-40B4-BE49-F238E27FC236}">
                <a16:creationId xmlns:a16="http://schemas.microsoft.com/office/drawing/2014/main" id="{27C1E69E-9191-457B-B350-F764282BF04E}"/>
              </a:ext>
            </a:extLst>
          </p:cNvPr>
          <p:cNvSpPr>
            <a:spLocks xmlns:a="http://schemas.openxmlformats.org/drawingml/2006/main" noGrp="1"/>
          </p:cNvSpPr>
          <p:nvPr/>
        </p:nvSpPr>
        <p:spPr>
          <a:xfrm xmlns:a="http://schemas.openxmlformats.org/drawingml/2006/main">
            <a:off x="5467350" y="4991100"/>
            <a:ext cx="2743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500" b="0" i="0">
                <a:solidFill>
                  <a:srgbClr val="160B20"/>
                </a:solidFill>
                <a:latin typeface="Courier New"/>
                <a:ea typeface="Courier New"/>
                <a:cs typeface="Courier New"/>
              </a:defRPr>
            </a:pPr>
            <a:r>
              <a:rPr sz="1500" b="0" i="0">
                <a:solidFill>
                  <a:srgbClr val="160B20"/>
                </a:solidFill>
                <a:latin typeface="Courier New"/>
                <a:ea typeface="Courier New"/>
                <a:cs typeface="Courier New"/>
              </a:rPr>
              <a:t>one cause; then retest</a:t>
            </a:r>
          </a:p>
        </p:txBody>
      </p:sp>
    </p:spTree>
    <p:extLst>
      <p:ext uri="{BB962C8B-B14F-4D97-AF65-F5344CB8AC3E}">
        <p14:creationId xmlns:p14="http://schemas.microsoft.com/office/powerpoint/2010/main" val="303861992"/>
      </p:ext>
    </p:extLst>
  </p:cSld>
</p:sld>
</file>

<file path=ppt/slides/slide36.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A9B8F41-CE3E-45EC-863B-0D3BC2FB8669}"/>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ASSESSMENT</a:t>
            </a:r>
          </a:p>
        </p:txBody>
      </p:sp>
      <p:sp>
        <p:nvSpPr>
          <p:cNvPr id="2" name="">
            <a:extLst xmlns:a="http://schemas.openxmlformats.org/drawingml/2006/main">
              <a:ext uri="{FF2B5EF4-FFF2-40B4-BE49-F238E27FC236}">
                <a16:creationId xmlns:a16="http://schemas.microsoft.com/office/drawing/2014/main" id="{6D5A2159-DB52-4711-80C7-615503159674}"/>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163"/>
          </a:bodyPr>
          <a:lstStyle xmlns:a="http://schemas.openxmlformats.org/drawingml/2006/main"/>
          <a:p xmlns:a="http://schemas.openxmlformats.org/drawingml/2006/main">
            <a:pPr algn="l">
              <a:lnSpc>
                <a:spcPct val="94000"/>
              </a:lnSpc>
              <a:buNone/>
              <a:defRPr sz="3750" b="1" i="0">
                <a:solidFill>
                  <a:srgbClr val="160B20"/>
                </a:solidFill>
                <a:latin typeface="Aptos"/>
                <a:ea typeface="Aptos"/>
                <a:cs typeface="Aptos"/>
              </a:defRPr>
            </a:pPr>
            <a:r>
              <a:rPr sz="3750" b="1" i="0">
                <a:solidFill>
                  <a:srgbClr val="160B20"/>
                </a:solidFill>
                <a:latin typeface="Aptos"/>
                <a:ea typeface="Aptos"/>
                <a:cs typeface="Aptos"/>
              </a:rPr>
              <a:t>The final challenge is to explain, not merely succeed</a:t>
            </a:r>
          </a:p>
        </p:txBody>
      </p:sp>
      <p:sp>
        <p:nvSpPr>
          <p:cNvPr id="3" name="">
            <a:extLst xmlns:a="http://schemas.openxmlformats.org/drawingml/2006/main">
              <a:ext uri="{FF2B5EF4-FFF2-40B4-BE49-F238E27FC236}">
                <a16:creationId xmlns:a16="http://schemas.microsoft.com/office/drawing/2014/main" id="{570B39B0-CB5D-47FC-9BA4-2182B16440C0}"/>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E7DC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972DE11-3FEA-4E01-B5F7-7222B411DF75}"/>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6F6277"/>
                </a:solidFill>
                <a:latin typeface="Aptos"/>
                <a:ea typeface="Aptos"/>
                <a:cs typeface="Aptos"/>
              </a:defRPr>
            </a:pPr>
            <a:r>
              <a:rPr sz="900" b="1" i="0">
                <a:solidFill>
                  <a:srgbClr val="6F6277"/>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848080AD-EB11-4E3B-8543-C160E29B8492}"/>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8B5CF6"/>
                </a:solidFill>
                <a:latin typeface="Aptos"/>
                <a:ea typeface="Aptos"/>
                <a:cs typeface="Aptos"/>
              </a:defRPr>
            </a:pPr>
            <a:r>
              <a:rPr sz="1050" b="1" i="0">
                <a:solidFill>
                  <a:srgbClr val="8B5CF6"/>
                </a:solidFill>
                <a:latin typeface="Aptos"/>
                <a:ea typeface="Aptos"/>
                <a:cs typeface="Aptos"/>
              </a:rPr>
              <a:t>36</a:t>
            </a:r>
          </a:p>
        </p:txBody>
      </p:sp>
      <p:sp>
        <p:nvSpPr>
          <p:cNvPr id="6" name="">
            <a:extLst xmlns:a="http://schemas.openxmlformats.org/drawingml/2006/main">
              <a:ext uri="{FF2B5EF4-FFF2-40B4-BE49-F238E27FC236}">
                <a16:creationId xmlns:a16="http://schemas.microsoft.com/office/drawing/2014/main" id="{7D45A41E-A7AE-4B36-A0F9-2F0C3EF873A0}"/>
              </a:ext>
            </a:extLst>
          </p:cNvPr>
          <p:cNvSpPr>
            <a:spLocks xmlns:a="http://schemas.openxmlformats.org/drawingml/2006/main" noGrp="1"/>
          </p:cNvSpPr>
          <p:nvPr/>
        </p:nvSpPr>
        <p:spPr>
          <a:xfrm xmlns:a="http://schemas.openxmlformats.org/drawingml/2006/main">
            <a:off x="857250" y="1790700"/>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550" b="1" i="0">
                <a:solidFill>
                  <a:srgbClr val="160B20"/>
                </a:solidFill>
                <a:latin typeface="Aptos"/>
                <a:ea typeface="Aptos"/>
                <a:cs typeface="Aptos"/>
              </a:defRPr>
            </a:pPr>
            <a:r>
              <a:rPr sz="2550" b="1" i="0">
                <a:solidFill>
                  <a:srgbClr val="160B20"/>
                </a:solidFill>
                <a:latin typeface="Aptos"/>
                <a:ea typeface="Aptos"/>
                <a:cs typeface="Aptos"/>
              </a:rPr>
              <a:t>Tell your partner:</a:t>
            </a:r>
          </a:p>
        </p:txBody>
      </p:sp>
      <p:sp>
        <p:nvSpPr>
          <p:cNvPr id="7" name="">
            <a:extLst xmlns:a="http://schemas.openxmlformats.org/drawingml/2006/main">
              <a:ext uri="{FF2B5EF4-FFF2-40B4-BE49-F238E27FC236}">
                <a16:creationId xmlns:a16="http://schemas.microsoft.com/office/drawing/2014/main" id="{6EB1064C-52E5-469B-AC52-32E0688635C7}"/>
              </a:ext>
            </a:extLst>
          </p:cNvPr>
          <p:cNvSpPr>
            <a:spLocks xmlns:a="http://schemas.openxmlformats.org/drawingml/2006/main" noGrp="1"/>
          </p:cNvSpPr>
          <p:nvPr/>
        </p:nvSpPr>
        <p:spPr>
          <a:xfrm xmlns:a="http://schemas.openxmlformats.org/drawingml/2006/main">
            <a:off x="857250" y="263842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472B604-825A-4B4E-BDD2-F447D4472E42}"/>
              </a:ext>
            </a:extLst>
          </p:cNvPr>
          <p:cNvSpPr>
            <a:spLocks xmlns:a="http://schemas.openxmlformats.org/drawingml/2006/main" noGrp="1"/>
          </p:cNvSpPr>
          <p:nvPr/>
        </p:nvSpPr>
        <p:spPr>
          <a:xfrm xmlns:a="http://schemas.openxmlformats.org/drawingml/2006/main">
            <a:off x="1123950" y="257175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725" b="0" i="0">
                <a:solidFill>
                  <a:srgbClr val="160B20"/>
                </a:solidFill>
                <a:latin typeface="Aptos"/>
                <a:ea typeface="Aptos"/>
                <a:cs typeface="Aptos"/>
              </a:defRPr>
            </a:pPr>
            <a:r>
              <a:rPr sz="1725" b="0" i="0">
                <a:solidFill>
                  <a:srgbClr val="160B20"/>
                </a:solidFill>
                <a:latin typeface="Aptos"/>
                <a:ea typeface="Aptos"/>
                <a:cs typeface="Aptos"/>
              </a:rPr>
              <a:t>Which machine and identity ran the command?</a:t>
            </a:r>
          </a:p>
        </p:txBody>
      </p:sp>
      <p:sp>
        <p:nvSpPr>
          <p:cNvPr id="9" name="">
            <a:extLst xmlns:a="http://schemas.openxmlformats.org/drawingml/2006/main">
              <a:ext uri="{FF2B5EF4-FFF2-40B4-BE49-F238E27FC236}">
                <a16:creationId xmlns:a16="http://schemas.microsoft.com/office/drawing/2014/main" id="{16437412-68AC-4FB6-B1C7-BBFB905896B6}"/>
              </a:ext>
            </a:extLst>
          </p:cNvPr>
          <p:cNvSpPr>
            <a:spLocks xmlns:a="http://schemas.openxmlformats.org/drawingml/2006/main" noGrp="1"/>
          </p:cNvSpPr>
          <p:nvPr/>
        </p:nvSpPr>
        <p:spPr>
          <a:xfrm xmlns:a="http://schemas.openxmlformats.org/drawingml/2006/main">
            <a:off x="857250" y="324802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9A92179-FDFD-43B5-8A52-B5398FA67ED7}"/>
              </a:ext>
            </a:extLst>
          </p:cNvPr>
          <p:cNvSpPr>
            <a:spLocks xmlns:a="http://schemas.openxmlformats.org/drawingml/2006/main" noGrp="1"/>
          </p:cNvSpPr>
          <p:nvPr/>
        </p:nvSpPr>
        <p:spPr>
          <a:xfrm xmlns:a="http://schemas.openxmlformats.org/drawingml/2006/main">
            <a:off x="1123950" y="318135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725" b="0" i="0">
                <a:solidFill>
                  <a:srgbClr val="160B20"/>
                </a:solidFill>
                <a:latin typeface="Aptos"/>
                <a:ea typeface="Aptos"/>
                <a:cs typeface="Aptos"/>
              </a:defRPr>
            </a:pPr>
            <a:r>
              <a:rPr sz="1725" b="0" i="0">
                <a:solidFill>
                  <a:srgbClr val="160B20"/>
                </a:solidFill>
                <a:latin typeface="Aptos"/>
                <a:ea typeface="Aptos"/>
                <a:cs typeface="Aptos"/>
              </a:rPr>
              <a:t>What evidence identified the service failure?</a:t>
            </a:r>
          </a:p>
        </p:txBody>
      </p:sp>
      <p:sp>
        <p:nvSpPr>
          <p:cNvPr id="11" name="">
            <a:extLst xmlns:a="http://schemas.openxmlformats.org/drawingml/2006/main">
              <a:ext uri="{FF2B5EF4-FFF2-40B4-BE49-F238E27FC236}">
                <a16:creationId xmlns:a16="http://schemas.microsoft.com/office/drawing/2014/main" id="{BCB4ED32-EB0A-42F1-9CB5-CB31E23993EF}"/>
              </a:ext>
            </a:extLst>
          </p:cNvPr>
          <p:cNvSpPr>
            <a:spLocks xmlns:a="http://schemas.openxmlformats.org/drawingml/2006/main" noGrp="1"/>
          </p:cNvSpPr>
          <p:nvPr/>
        </p:nvSpPr>
        <p:spPr>
          <a:xfrm xmlns:a="http://schemas.openxmlformats.org/drawingml/2006/main">
            <a:off x="857250" y="385762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E522941-DF34-49DE-BA79-5872CBC2B9C6}"/>
              </a:ext>
            </a:extLst>
          </p:cNvPr>
          <p:cNvSpPr>
            <a:spLocks xmlns:a="http://schemas.openxmlformats.org/drawingml/2006/main" noGrp="1"/>
          </p:cNvSpPr>
          <p:nvPr/>
        </p:nvSpPr>
        <p:spPr>
          <a:xfrm xmlns:a="http://schemas.openxmlformats.org/drawingml/2006/main">
            <a:off x="1123950" y="379095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725" b="0" i="0">
                <a:solidFill>
                  <a:srgbClr val="160B20"/>
                </a:solidFill>
                <a:latin typeface="Aptos"/>
                <a:ea typeface="Aptos"/>
                <a:cs typeface="Aptos"/>
              </a:defRPr>
            </a:pPr>
            <a:r>
              <a:rPr sz="1725" b="0" i="0">
                <a:solidFill>
                  <a:srgbClr val="160B20"/>
                </a:solidFill>
                <a:latin typeface="Aptos"/>
                <a:ea typeface="Aptos"/>
                <a:cs typeface="Aptos"/>
              </a:rPr>
              <a:t>Why did the permission repair preserve least privilege?</a:t>
            </a:r>
          </a:p>
        </p:txBody>
      </p:sp>
      <p:sp>
        <p:nvSpPr>
          <p:cNvPr id="13" name="">
            <a:extLst xmlns:a="http://schemas.openxmlformats.org/drawingml/2006/main">
              <a:ext uri="{FF2B5EF4-FFF2-40B4-BE49-F238E27FC236}">
                <a16:creationId xmlns:a16="http://schemas.microsoft.com/office/drawing/2014/main" id="{6180DBC1-FFC3-4FC0-8EAF-A92F72F9E6A1}"/>
              </a:ext>
            </a:extLst>
          </p:cNvPr>
          <p:cNvSpPr>
            <a:spLocks xmlns:a="http://schemas.openxmlformats.org/drawingml/2006/main" noGrp="1"/>
          </p:cNvSpPr>
          <p:nvPr/>
        </p:nvSpPr>
        <p:spPr>
          <a:xfrm xmlns:a="http://schemas.openxmlformats.org/drawingml/2006/main">
            <a:off x="857250" y="446722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9F5B79A-609E-4323-A237-0FA4C1A64C89}"/>
              </a:ext>
            </a:extLst>
          </p:cNvPr>
          <p:cNvSpPr>
            <a:spLocks xmlns:a="http://schemas.openxmlformats.org/drawingml/2006/main" noGrp="1"/>
          </p:cNvSpPr>
          <p:nvPr/>
        </p:nvSpPr>
        <p:spPr>
          <a:xfrm xmlns:a="http://schemas.openxmlformats.org/drawingml/2006/main">
            <a:off x="1123950" y="440055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725" b="0" i="0">
                <a:solidFill>
                  <a:srgbClr val="160B20"/>
                </a:solidFill>
                <a:latin typeface="Aptos"/>
                <a:ea typeface="Aptos"/>
                <a:cs typeface="Aptos"/>
              </a:defRPr>
            </a:pPr>
            <a:r>
              <a:rPr sz="1725" b="0" i="0">
                <a:solidFill>
                  <a:srgbClr val="160B20"/>
                </a:solidFill>
                <a:latin typeface="Aptos"/>
                <a:ea typeface="Aptos"/>
                <a:cs typeface="Aptos"/>
              </a:rPr>
              <a:t>How did you verify SSH server identity?</a:t>
            </a:r>
          </a:p>
        </p:txBody>
      </p:sp>
      <p:sp>
        <p:nvSpPr>
          <p:cNvPr id="15" name="">
            <a:extLst xmlns:a="http://schemas.openxmlformats.org/drawingml/2006/main">
              <a:ext uri="{FF2B5EF4-FFF2-40B4-BE49-F238E27FC236}">
                <a16:creationId xmlns:a16="http://schemas.microsoft.com/office/drawing/2014/main" id="{7CFEA46A-0538-4DB8-AE59-66460D148648}"/>
              </a:ext>
            </a:extLst>
          </p:cNvPr>
          <p:cNvSpPr>
            <a:spLocks xmlns:a="http://schemas.openxmlformats.org/drawingml/2006/main" noGrp="1"/>
          </p:cNvSpPr>
          <p:nvPr/>
        </p:nvSpPr>
        <p:spPr>
          <a:xfrm xmlns:a="http://schemas.openxmlformats.org/drawingml/2006/main">
            <a:off x="857250" y="507682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EBA772C-436B-4F5D-89DC-767040C03314}"/>
              </a:ext>
            </a:extLst>
          </p:cNvPr>
          <p:cNvSpPr>
            <a:spLocks xmlns:a="http://schemas.openxmlformats.org/drawingml/2006/main" noGrp="1"/>
          </p:cNvSpPr>
          <p:nvPr/>
        </p:nvSpPr>
        <p:spPr>
          <a:xfrm xmlns:a="http://schemas.openxmlformats.org/drawingml/2006/main">
            <a:off x="1123950" y="501015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725" b="0" i="0">
                <a:solidFill>
                  <a:srgbClr val="160B20"/>
                </a:solidFill>
                <a:latin typeface="Aptos"/>
                <a:ea typeface="Aptos"/>
                <a:cs typeface="Aptos"/>
              </a:defRPr>
            </a:pPr>
            <a:r>
              <a:rPr sz="1725" b="0" i="0">
                <a:solidFill>
                  <a:srgbClr val="160B20"/>
                </a:solidFill>
                <a:latin typeface="Aptos"/>
                <a:ea typeface="Aptos"/>
                <a:cs typeface="Aptos"/>
              </a:rPr>
              <a:t>What proved the web service behavior?</a:t>
            </a:r>
          </a:p>
        </p:txBody>
      </p:sp>
      <p:sp>
        <p:nvSpPr>
          <p:cNvPr id="17" name="">
            <a:extLst xmlns:a="http://schemas.openxmlformats.org/drawingml/2006/main">
              <a:ext uri="{FF2B5EF4-FFF2-40B4-BE49-F238E27FC236}">
                <a16:creationId xmlns:a16="http://schemas.microsoft.com/office/drawing/2014/main" id="{6C607691-D7CD-42C9-977D-48D8F7E16E36}"/>
              </a:ext>
            </a:extLst>
          </p:cNvPr>
          <p:cNvSpPr>
            <a:spLocks xmlns:a="http://schemas.openxmlformats.org/drawingml/2006/main" noGrp="1"/>
          </p:cNvSpPr>
          <p:nvPr/>
        </p:nvSpPr>
        <p:spPr>
          <a:xfrm xmlns:a="http://schemas.openxmlformats.org/drawingml/2006/main">
            <a:off x="857250" y="5676900"/>
            <a:ext cx="10001250" cy="19050"/>
          </a:xfrm>
          <a:prstGeom xmlns:a="http://schemas.openxmlformats.org/drawingml/2006/main" prst="rect">
            <a:avLst/>
          </a:prstGeom>
          <a:solidFill xmlns:a="http://schemas.openxmlformats.org/drawingml/2006/main">
            <a:srgbClr val="DDD0E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A98F226-7AD8-470E-BE3B-08F551D0BDEE}"/>
              </a:ext>
            </a:extLst>
          </p:cNvPr>
          <p:cNvSpPr>
            <a:spLocks xmlns:a="http://schemas.openxmlformats.org/drawingml/2006/main" noGrp="1"/>
          </p:cNvSpPr>
          <p:nvPr/>
        </p:nvSpPr>
        <p:spPr>
          <a:xfrm xmlns:a="http://schemas.openxmlformats.org/drawingml/2006/main">
            <a:off x="857250" y="5905500"/>
            <a:ext cx="1000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725" b="1" i="0">
                <a:solidFill>
                  <a:srgbClr val="8B5CF6"/>
                </a:solidFill>
                <a:latin typeface="Aptos"/>
                <a:ea typeface="Aptos"/>
                <a:cs typeface="Aptos"/>
              </a:defRPr>
            </a:pPr>
            <a:r>
              <a:rPr sz="1725" b="1" i="0">
                <a:solidFill>
                  <a:srgbClr val="8B5CF6"/>
                </a:solidFill>
                <a:latin typeface="Aptos"/>
                <a:ea typeface="Aptos"/>
                <a:cs typeface="Aptos"/>
              </a:rPr>
              <a:t>If you can explain the state, you can recreate the command.</a:t>
            </a:r>
          </a:p>
        </p:txBody>
      </p:sp>
    </p:spTree>
    <p:extLst>
      <p:ext uri="{BB962C8B-B14F-4D97-AF65-F5344CB8AC3E}">
        <p14:creationId xmlns:p14="http://schemas.microsoft.com/office/powerpoint/2010/main" val="871392501"/>
      </p:ext>
    </p:extLst>
  </p:cSld>
</p:sld>
</file>

<file path=ppt/slides/slide37.xml><?xml version="1.0" encoding="utf-8"?>
<p:sld xmlns:p="http://schemas.openxmlformats.org/presentationml/2006/main">
  <p:cSld>
    <p:bg>
      <p:bgPr>
        <a:solidFill xmlns:a="http://schemas.openxmlformats.org/drawingml/2006/main">
          <a:srgbClr val="180D24"/>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2F8C709-5F2A-4EA0-9094-CF7912512236}"/>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CLOSE</a:t>
            </a:r>
          </a:p>
        </p:txBody>
      </p:sp>
      <p:sp>
        <p:nvSpPr>
          <p:cNvPr id="2" name="">
            <a:extLst xmlns:a="http://schemas.openxmlformats.org/drawingml/2006/main">
              <a:ext uri="{FF2B5EF4-FFF2-40B4-BE49-F238E27FC236}">
                <a16:creationId xmlns:a16="http://schemas.microsoft.com/office/drawing/2014/main" id="{83D21A80-B29B-4E58-AC3F-76C79533D5AB}"/>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8EE"/>
                </a:solidFill>
                <a:latin typeface="Aptos"/>
                <a:ea typeface="Aptos"/>
                <a:cs typeface="Aptos"/>
              </a:defRPr>
            </a:pPr>
            <a:r>
              <a:rPr sz="3750" b="1" i="0">
                <a:solidFill>
                  <a:srgbClr val="FFF8EE"/>
                </a:solidFill>
                <a:latin typeface="Aptos"/>
                <a:ea typeface="Aptos"/>
                <a:cs typeface="Aptos"/>
              </a:rPr>
              <a:t>Keep your seat link; keep practising the loop</a:t>
            </a:r>
          </a:p>
        </p:txBody>
      </p:sp>
      <p:sp>
        <p:nvSpPr>
          <p:cNvPr id="3" name="">
            <a:extLst xmlns:a="http://schemas.openxmlformats.org/drawingml/2006/main">
              <a:ext uri="{FF2B5EF4-FFF2-40B4-BE49-F238E27FC236}">
                <a16:creationId xmlns:a16="http://schemas.microsoft.com/office/drawing/2014/main" id="{29165F36-647E-4C1D-8950-8827C02A6D30}"/>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3520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4D93287-F3A9-4037-9E76-524C03408DA1}"/>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BFAFCB"/>
                </a:solidFill>
                <a:latin typeface="Aptos"/>
                <a:ea typeface="Aptos"/>
                <a:cs typeface="Aptos"/>
              </a:defRPr>
            </a:pPr>
            <a:r>
              <a:rPr sz="900" b="1" i="0">
                <a:solidFill>
                  <a:srgbClr val="BFAFCB"/>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8EDC3B2F-F903-41A6-AF50-8E9601EEB111}"/>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C9B6FF"/>
                </a:solidFill>
                <a:latin typeface="Aptos"/>
                <a:ea typeface="Aptos"/>
                <a:cs typeface="Aptos"/>
              </a:defRPr>
            </a:pPr>
            <a:r>
              <a:rPr sz="1050" b="1" i="0">
                <a:solidFill>
                  <a:srgbClr val="C9B6FF"/>
                </a:solidFill>
                <a:latin typeface="Aptos"/>
                <a:ea typeface="Aptos"/>
                <a:cs typeface="Aptos"/>
              </a:rPr>
              <a:t>37</a:t>
            </a:r>
          </a:p>
        </p:txBody>
      </p:sp>
      <p:sp>
        <p:nvSpPr>
          <p:cNvPr id="6" name="">
            <a:extLst xmlns:a="http://schemas.openxmlformats.org/drawingml/2006/main">
              <a:ext uri="{FF2B5EF4-FFF2-40B4-BE49-F238E27FC236}">
                <a16:creationId xmlns:a16="http://schemas.microsoft.com/office/drawing/2014/main" id="{596FE823-9619-428A-A043-C53E9C8A9BE5}"/>
              </a:ext>
            </a:extLst>
          </p:cNvPr>
          <p:cNvSpPr>
            <a:spLocks xmlns:a="http://schemas.openxmlformats.org/drawingml/2006/main" noGrp="1"/>
          </p:cNvSpPr>
          <p:nvPr/>
        </p:nvSpPr>
        <p:spPr>
          <a:xfrm xmlns:a="http://schemas.openxmlformats.org/drawingml/2006/main">
            <a:off x="838200" y="17907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125" b="1" i="0">
                <a:solidFill>
                  <a:srgbClr val="FF6B4A"/>
                </a:solidFill>
                <a:latin typeface="Aptos"/>
                <a:ea typeface="Aptos"/>
                <a:cs typeface="Aptos"/>
              </a:defRPr>
            </a:pPr>
            <a:r>
              <a:rPr sz="1125" b="1" i="0">
                <a:solidFill>
                  <a:srgbClr val="FF6B4A"/>
                </a:solidFill>
                <a:latin typeface="Aptos"/>
                <a:ea typeface="Aptos"/>
                <a:cs typeface="Aptos"/>
              </a:rPr>
              <a:t>NEXT 24 HOURS</a:t>
            </a:r>
          </a:p>
        </p:txBody>
      </p:sp>
      <p:sp>
        <p:nvSpPr>
          <p:cNvPr id="7" name="">
            <a:extLst xmlns:a="http://schemas.openxmlformats.org/drawingml/2006/main">
              <a:ext uri="{FF2B5EF4-FFF2-40B4-BE49-F238E27FC236}">
                <a16:creationId xmlns:a16="http://schemas.microsoft.com/office/drawing/2014/main" id="{C06562C5-375A-4041-AF2A-83EBE45EDAAB}"/>
              </a:ext>
            </a:extLst>
          </p:cNvPr>
          <p:cNvSpPr>
            <a:spLocks xmlns:a="http://schemas.openxmlformats.org/drawingml/2006/main" noGrp="1"/>
          </p:cNvSpPr>
          <p:nvPr/>
        </p:nvSpPr>
        <p:spPr>
          <a:xfrm xmlns:a="http://schemas.openxmlformats.org/drawingml/2006/main">
            <a:off x="838200" y="2447925"/>
            <a:ext cx="95250" cy="95250"/>
          </a:xfrm>
          <a:prstGeom xmlns:a="http://schemas.openxmlformats.org/drawingml/2006/main" prst="roundRect">
            <a:avLst>
              <a:gd name="adj" fmla="val 50000"/>
            </a:avLst>
          </a:prstGeom>
          <a:solidFill xmlns:a="http://schemas.openxmlformats.org/drawingml/2006/main">
            <a:srgbClr val="FF6B4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1796B1B-B5B1-4F09-9D20-D86BC55A9A3B}"/>
              </a:ext>
            </a:extLst>
          </p:cNvPr>
          <p:cNvSpPr>
            <a:spLocks xmlns:a="http://schemas.openxmlformats.org/drawingml/2006/main" noGrp="1"/>
          </p:cNvSpPr>
          <p:nvPr/>
        </p:nvSpPr>
        <p:spPr>
          <a:xfrm xmlns:a="http://schemas.openxmlformats.org/drawingml/2006/main">
            <a:off x="1104900" y="2381250"/>
            <a:ext cx="4019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725" b="0" i="0">
                <a:solidFill>
                  <a:srgbClr val="FFF8EE"/>
                </a:solidFill>
                <a:latin typeface="Aptos"/>
                <a:ea typeface="Aptos"/>
                <a:cs typeface="Aptos"/>
              </a:defRPr>
            </a:pPr>
            <a:r>
              <a:rPr sz="1725" b="0" i="0">
                <a:solidFill>
                  <a:srgbClr val="FFF8EE"/>
                </a:solidFill>
                <a:latin typeface="Aptos"/>
                <a:ea typeface="Aptos"/>
                <a:cs typeface="Aptos"/>
              </a:rPr>
              <a:t>Reset Lab 6 and solve without hints</a:t>
            </a:r>
          </a:p>
        </p:txBody>
      </p:sp>
      <p:sp>
        <p:nvSpPr>
          <p:cNvPr id="9" name="">
            <a:extLst xmlns:a="http://schemas.openxmlformats.org/drawingml/2006/main">
              <a:ext uri="{FF2B5EF4-FFF2-40B4-BE49-F238E27FC236}">
                <a16:creationId xmlns:a16="http://schemas.microsoft.com/office/drawing/2014/main" id="{FC311115-50F5-45DA-8AC0-4C4AA4FFA751}"/>
              </a:ext>
            </a:extLst>
          </p:cNvPr>
          <p:cNvSpPr>
            <a:spLocks xmlns:a="http://schemas.openxmlformats.org/drawingml/2006/main" noGrp="1"/>
          </p:cNvSpPr>
          <p:nvPr/>
        </p:nvSpPr>
        <p:spPr>
          <a:xfrm xmlns:a="http://schemas.openxmlformats.org/drawingml/2006/main">
            <a:off x="838200" y="3133725"/>
            <a:ext cx="95250" cy="95250"/>
          </a:xfrm>
          <a:prstGeom xmlns:a="http://schemas.openxmlformats.org/drawingml/2006/main" prst="roundRect">
            <a:avLst>
              <a:gd name="adj" fmla="val 50000"/>
            </a:avLst>
          </a:prstGeom>
          <a:solidFill xmlns:a="http://schemas.openxmlformats.org/drawingml/2006/main">
            <a:srgbClr val="FF6B4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AEB0C38-E6E2-414F-9D05-6B0800E828A7}"/>
              </a:ext>
            </a:extLst>
          </p:cNvPr>
          <p:cNvSpPr>
            <a:spLocks xmlns:a="http://schemas.openxmlformats.org/drawingml/2006/main" noGrp="1"/>
          </p:cNvSpPr>
          <p:nvPr/>
        </p:nvSpPr>
        <p:spPr>
          <a:xfrm xmlns:a="http://schemas.openxmlformats.org/drawingml/2006/main">
            <a:off x="1104900" y="3067050"/>
            <a:ext cx="4019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725" b="0" i="0">
                <a:solidFill>
                  <a:srgbClr val="FFF8EE"/>
                </a:solidFill>
                <a:latin typeface="Aptos"/>
                <a:ea typeface="Aptos"/>
                <a:cs typeface="Aptos"/>
              </a:defRPr>
            </a:pPr>
            <a:r>
              <a:rPr sz="1725" b="0" i="0">
                <a:solidFill>
                  <a:srgbClr val="FFF8EE"/>
                </a:solidFill>
                <a:latin typeface="Aptos"/>
                <a:ea typeface="Aptos"/>
                <a:cs typeface="Aptos"/>
              </a:rPr>
              <a:t>Rebuild the SSH profile from memory</a:t>
            </a:r>
          </a:p>
        </p:txBody>
      </p:sp>
      <p:sp>
        <p:nvSpPr>
          <p:cNvPr id="11" name="">
            <a:extLst xmlns:a="http://schemas.openxmlformats.org/drawingml/2006/main">
              <a:ext uri="{FF2B5EF4-FFF2-40B4-BE49-F238E27FC236}">
                <a16:creationId xmlns:a16="http://schemas.microsoft.com/office/drawing/2014/main" id="{F8D06407-508D-4BEB-910E-8AD44F2CA839}"/>
              </a:ext>
            </a:extLst>
          </p:cNvPr>
          <p:cNvSpPr>
            <a:spLocks xmlns:a="http://schemas.openxmlformats.org/drawingml/2006/main" noGrp="1"/>
          </p:cNvSpPr>
          <p:nvPr/>
        </p:nvSpPr>
        <p:spPr>
          <a:xfrm xmlns:a="http://schemas.openxmlformats.org/drawingml/2006/main">
            <a:off x="838200" y="3819525"/>
            <a:ext cx="95250" cy="95250"/>
          </a:xfrm>
          <a:prstGeom xmlns:a="http://schemas.openxmlformats.org/drawingml/2006/main" prst="roundRect">
            <a:avLst>
              <a:gd name="adj" fmla="val 50000"/>
            </a:avLst>
          </a:prstGeom>
          <a:solidFill xmlns:a="http://schemas.openxmlformats.org/drawingml/2006/main">
            <a:srgbClr val="FF6B4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4F973F7-5DD2-42BF-B37D-39F2E3F950C3}"/>
              </a:ext>
            </a:extLst>
          </p:cNvPr>
          <p:cNvSpPr>
            <a:spLocks xmlns:a="http://schemas.openxmlformats.org/drawingml/2006/main" noGrp="1"/>
          </p:cNvSpPr>
          <p:nvPr/>
        </p:nvSpPr>
        <p:spPr>
          <a:xfrm xmlns:a="http://schemas.openxmlformats.org/drawingml/2006/main">
            <a:off x="1104900" y="3752850"/>
            <a:ext cx="4019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725" b="0" i="0">
                <a:solidFill>
                  <a:srgbClr val="FFF8EE"/>
                </a:solidFill>
                <a:latin typeface="Aptos"/>
                <a:ea typeface="Aptos"/>
                <a:cs typeface="Aptos"/>
              </a:defRPr>
            </a:pPr>
            <a:r>
              <a:rPr sz="1725" b="0" i="0">
                <a:solidFill>
                  <a:srgbClr val="FFF8EE"/>
                </a:solidFill>
                <a:latin typeface="Aptos"/>
                <a:ea typeface="Aptos"/>
                <a:cs typeface="Aptos"/>
              </a:rPr>
              <a:t>Explain 640 and 2770 aloud</a:t>
            </a:r>
          </a:p>
        </p:txBody>
      </p:sp>
      <p:sp>
        <p:nvSpPr>
          <p:cNvPr id="13" name="">
            <a:extLst xmlns:a="http://schemas.openxmlformats.org/drawingml/2006/main">
              <a:ext uri="{FF2B5EF4-FFF2-40B4-BE49-F238E27FC236}">
                <a16:creationId xmlns:a16="http://schemas.microsoft.com/office/drawing/2014/main" id="{D6150A45-2BE1-40DE-80DC-A568916618B0}"/>
              </a:ext>
            </a:extLst>
          </p:cNvPr>
          <p:cNvSpPr>
            <a:spLocks xmlns:a="http://schemas.openxmlformats.org/drawingml/2006/main" noGrp="1"/>
          </p:cNvSpPr>
          <p:nvPr/>
        </p:nvSpPr>
        <p:spPr>
          <a:xfrm xmlns:a="http://schemas.openxmlformats.org/drawingml/2006/main">
            <a:off x="5924550" y="1752600"/>
            <a:ext cx="19050" cy="3524250"/>
          </a:xfrm>
          <a:prstGeom xmlns:a="http://schemas.openxmlformats.org/drawingml/2006/main" prst="rect">
            <a:avLst/>
          </a:prstGeom>
          <a:solidFill xmlns:a="http://schemas.openxmlformats.org/drawingml/2006/main">
            <a:srgbClr val="4A335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DF21AE7-2769-4713-A8E9-CBD347AEBF78}"/>
              </a:ext>
            </a:extLst>
          </p:cNvPr>
          <p:cNvSpPr>
            <a:spLocks xmlns:a="http://schemas.openxmlformats.org/drawingml/2006/main" noGrp="1"/>
          </p:cNvSpPr>
          <p:nvPr/>
        </p:nvSpPr>
        <p:spPr>
          <a:xfrm xmlns:a="http://schemas.openxmlformats.org/drawingml/2006/main">
            <a:off x="6858000" y="17907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125" b="1" i="0">
                <a:solidFill>
                  <a:srgbClr val="8B5CF6"/>
                </a:solidFill>
                <a:latin typeface="Aptos"/>
                <a:ea typeface="Aptos"/>
                <a:cs typeface="Aptos"/>
              </a:defRPr>
            </a:pPr>
            <a:r>
              <a:rPr sz="1125" b="1" i="0">
                <a:solidFill>
                  <a:srgbClr val="8B5CF6"/>
                </a:solidFill>
                <a:latin typeface="Aptos"/>
                <a:ea typeface="Aptos"/>
                <a:cs typeface="Aptos"/>
              </a:rPr>
              <a:t>NEXT 30 DAYS</a:t>
            </a:r>
          </a:p>
        </p:txBody>
      </p:sp>
      <p:sp>
        <p:nvSpPr>
          <p:cNvPr id="15" name="">
            <a:extLst xmlns:a="http://schemas.openxmlformats.org/drawingml/2006/main">
              <a:ext uri="{FF2B5EF4-FFF2-40B4-BE49-F238E27FC236}">
                <a16:creationId xmlns:a16="http://schemas.microsoft.com/office/drawing/2014/main" id="{930ABFB6-CBDC-4ED7-A538-1D5AD11C380D}"/>
              </a:ext>
            </a:extLst>
          </p:cNvPr>
          <p:cNvSpPr>
            <a:spLocks xmlns:a="http://schemas.openxmlformats.org/drawingml/2006/main" noGrp="1"/>
          </p:cNvSpPr>
          <p:nvPr/>
        </p:nvSpPr>
        <p:spPr>
          <a:xfrm xmlns:a="http://schemas.openxmlformats.org/drawingml/2006/main">
            <a:off x="6858000" y="244792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1D4B18E-BDC3-479C-B468-F4CFF49C4970}"/>
              </a:ext>
            </a:extLst>
          </p:cNvPr>
          <p:cNvSpPr>
            <a:spLocks xmlns:a="http://schemas.openxmlformats.org/drawingml/2006/main" noGrp="1"/>
          </p:cNvSpPr>
          <p:nvPr/>
        </p:nvSpPr>
        <p:spPr>
          <a:xfrm xmlns:a="http://schemas.openxmlformats.org/drawingml/2006/main">
            <a:off x="7124700" y="2381250"/>
            <a:ext cx="4019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725" b="0" i="0">
                <a:solidFill>
                  <a:srgbClr val="FFF8EE"/>
                </a:solidFill>
                <a:latin typeface="Aptos"/>
                <a:ea typeface="Aptos"/>
                <a:cs typeface="Aptos"/>
              </a:defRPr>
            </a:pPr>
            <a:r>
              <a:rPr sz="1725" b="0" i="0">
                <a:solidFill>
                  <a:srgbClr val="FFF8EE"/>
                </a:solidFill>
                <a:latin typeface="Aptos"/>
                <a:ea typeface="Aptos"/>
                <a:cs typeface="Aptos"/>
              </a:rPr>
              <a:t>Continue with Linux Upskill Challenge</a:t>
            </a:r>
          </a:p>
        </p:txBody>
      </p:sp>
      <p:sp>
        <p:nvSpPr>
          <p:cNvPr id="17" name="">
            <a:extLst xmlns:a="http://schemas.openxmlformats.org/drawingml/2006/main">
              <a:ext uri="{FF2B5EF4-FFF2-40B4-BE49-F238E27FC236}">
                <a16:creationId xmlns:a16="http://schemas.microsoft.com/office/drawing/2014/main" id="{4327D2E5-5F7A-4C5E-A2A9-833B73414AB3}"/>
              </a:ext>
            </a:extLst>
          </p:cNvPr>
          <p:cNvSpPr>
            <a:spLocks xmlns:a="http://schemas.openxmlformats.org/drawingml/2006/main" noGrp="1"/>
          </p:cNvSpPr>
          <p:nvPr/>
        </p:nvSpPr>
        <p:spPr>
          <a:xfrm xmlns:a="http://schemas.openxmlformats.org/drawingml/2006/main">
            <a:off x="6858000" y="313372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9C6831D-24C9-4941-8069-ED5E1F3546CE}"/>
              </a:ext>
            </a:extLst>
          </p:cNvPr>
          <p:cNvSpPr>
            <a:spLocks xmlns:a="http://schemas.openxmlformats.org/drawingml/2006/main" noGrp="1"/>
          </p:cNvSpPr>
          <p:nvPr/>
        </p:nvSpPr>
        <p:spPr>
          <a:xfrm xmlns:a="http://schemas.openxmlformats.org/drawingml/2006/main">
            <a:off x="7124700" y="3067050"/>
            <a:ext cx="4019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725" b="0" i="0">
                <a:solidFill>
                  <a:srgbClr val="FFF8EE"/>
                </a:solidFill>
                <a:latin typeface="Aptos"/>
                <a:ea typeface="Aptos"/>
                <a:cs typeface="Aptos"/>
              </a:defRPr>
            </a:pPr>
            <a:r>
              <a:rPr sz="1725" b="0" i="0">
                <a:solidFill>
                  <a:srgbClr val="FFF8EE"/>
                </a:solidFill>
                <a:latin typeface="Aptos"/>
                <a:ea typeface="Aptos"/>
                <a:cs typeface="Aptos"/>
              </a:rPr>
              <a:t>Read one man page per session</a:t>
            </a:r>
          </a:p>
        </p:txBody>
      </p:sp>
      <p:sp>
        <p:nvSpPr>
          <p:cNvPr id="19" name="">
            <a:extLst xmlns:a="http://schemas.openxmlformats.org/drawingml/2006/main">
              <a:ext uri="{FF2B5EF4-FFF2-40B4-BE49-F238E27FC236}">
                <a16:creationId xmlns:a16="http://schemas.microsoft.com/office/drawing/2014/main" id="{6F1816A0-4937-40F2-8956-D199D5E8FAE0}"/>
              </a:ext>
            </a:extLst>
          </p:cNvPr>
          <p:cNvSpPr>
            <a:spLocks xmlns:a="http://schemas.openxmlformats.org/drawingml/2006/main" noGrp="1"/>
          </p:cNvSpPr>
          <p:nvPr/>
        </p:nvSpPr>
        <p:spPr>
          <a:xfrm xmlns:a="http://schemas.openxmlformats.org/drawingml/2006/main">
            <a:off x="6858000" y="3819525"/>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BD28B21-B324-4B79-8EDE-856148E05E29}"/>
              </a:ext>
            </a:extLst>
          </p:cNvPr>
          <p:cNvSpPr>
            <a:spLocks xmlns:a="http://schemas.openxmlformats.org/drawingml/2006/main" noGrp="1"/>
          </p:cNvSpPr>
          <p:nvPr/>
        </p:nvSpPr>
        <p:spPr>
          <a:xfrm xmlns:a="http://schemas.openxmlformats.org/drawingml/2006/main">
            <a:off x="7124700" y="3752850"/>
            <a:ext cx="4019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725" b="0" i="0">
                <a:solidFill>
                  <a:srgbClr val="FFF8EE"/>
                </a:solidFill>
                <a:latin typeface="Aptos"/>
                <a:ea typeface="Aptos"/>
                <a:cs typeface="Aptos"/>
              </a:defRPr>
            </a:pPr>
            <a:r>
              <a:rPr sz="1725" b="0" i="0">
                <a:solidFill>
                  <a:srgbClr val="FFF8EE"/>
                </a:solidFill>
                <a:latin typeface="Aptos"/>
                <a:ea typeface="Aptos"/>
                <a:cs typeface="Aptos"/>
              </a:rPr>
              <a:t>Automate only after the manual path is clear</a:t>
            </a:r>
          </a:p>
        </p:txBody>
      </p:sp>
      <p:sp>
        <p:nvSpPr>
          <p:cNvPr id="21" name="">
            <a:extLst xmlns:a="http://schemas.openxmlformats.org/drawingml/2006/main">
              <a:ext uri="{FF2B5EF4-FFF2-40B4-BE49-F238E27FC236}">
                <a16:creationId xmlns:a16="http://schemas.microsoft.com/office/drawing/2014/main" id="{3566A06D-5A52-4DCD-8A4B-20B8D690BEDA}"/>
              </a:ext>
            </a:extLst>
          </p:cNvPr>
          <p:cNvSpPr>
            <a:spLocks xmlns:a="http://schemas.openxmlformats.org/drawingml/2006/main" noGrp="1"/>
          </p:cNvSpPr>
          <p:nvPr/>
        </p:nvSpPr>
        <p:spPr>
          <a:xfrm xmlns:a="http://schemas.openxmlformats.org/drawingml/2006/main">
            <a:off x="857250" y="5429250"/>
            <a:ext cx="10382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2250" b="1" i="0">
                <a:solidFill>
                  <a:srgbClr val="70D6A6"/>
                </a:solidFill>
                <a:latin typeface="Aptos"/>
                <a:ea typeface="Aptos"/>
                <a:cs typeface="Aptos"/>
              </a:defRPr>
            </a:pPr>
            <a:r>
              <a:rPr sz="2250" b="1" i="0">
                <a:solidFill>
                  <a:srgbClr val="70D6A6"/>
                </a:solidFill>
                <a:latin typeface="Aptos"/>
                <a:ea typeface="Aptos"/>
                <a:cs typeface="Aptos"/>
              </a:rPr>
              <a:t>Locate → predict → act → observe → verify</a:t>
            </a:r>
          </a:p>
        </p:txBody>
      </p:sp>
    </p:spTree>
    <p:extLst>
      <p:ext uri="{BB962C8B-B14F-4D97-AF65-F5344CB8AC3E}">
        <p14:creationId xmlns:p14="http://schemas.microsoft.com/office/powerpoint/2010/main" val="812851490"/>
      </p:ext>
    </p:extLst>
  </p:cSld>
</p:sld>
</file>

<file path=ppt/slides/slide38.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1854899-E3E9-43C8-B123-E1AC1D9B29BD}"/>
              </a:ext>
            </a:extLst>
          </p:cNvPr>
          <p:cNvSpPr>
            <a:spLocks xmlns:a="http://schemas.openxmlformats.org/drawingml/2006/main" noGrp="1"/>
          </p:cNvSpPr>
          <p:nvPr/>
        </p:nvSpPr>
        <p:spPr>
          <a:xfrm xmlns:a="http://schemas.openxmlformats.org/drawingml/2006/main">
            <a:off x="6096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REFERENCES</a:t>
            </a:r>
          </a:p>
        </p:txBody>
      </p:sp>
      <p:sp>
        <p:nvSpPr>
          <p:cNvPr id="2" name="">
            <a:extLst xmlns:a="http://schemas.openxmlformats.org/drawingml/2006/main">
              <a:ext uri="{FF2B5EF4-FFF2-40B4-BE49-F238E27FC236}">
                <a16:creationId xmlns:a16="http://schemas.microsoft.com/office/drawing/2014/main" id="{796F7F47-FD35-495B-AD80-2866EFC9D258}"/>
              </a:ext>
            </a:extLst>
          </p:cNvPr>
          <p:cNvSpPr>
            <a:spLocks xmlns:a="http://schemas.openxmlformats.org/drawingml/2006/main" noGrp="1"/>
          </p:cNvSpPr>
          <p:nvPr/>
        </p:nvSpPr>
        <p:spPr>
          <a:xfrm xmlns:a="http://schemas.openxmlformats.org/drawingml/2006/main">
            <a:off x="609600" y="742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160B20"/>
                </a:solidFill>
                <a:latin typeface="Aptos"/>
                <a:ea typeface="Aptos"/>
                <a:cs typeface="Aptos"/>
              </a:defRPr>
            </a:pPr>
            <a:r>
              <a:rPr sz="3750" b="1" i="0">
                <a:solidFill>
                  <a:srgbClr val="160B20"/>
                </a:solidFill>
                <a:latin typeface="Aptos"/>
                <a:ea typeface="Aptos"/>
                <a:cs typeface="Aptos"/>
              </a:rPr>
              <a:t>Sources and open-course attribution</a:t>
            </a:r>
          </a:p>
        </p:txBody>
      </p:sp>
      <p:sp>
        <p:nvSpPr>
          <p:cNvPr id="3" name="">
            <a:extLst xmlns:a="http://schemas.openxmlformats.org/drawingml/2006/main">
              <a:ext uri="{FF2B5EF4-FFF2-40B4-BE49-F238E27FC236}">
                <a16:creationId xmlns:a16="http://schemas.microsoft.com/office/drawing/2014/main" id="{E995ECD2-5541-4C80-9225-E9B47C587E1A}"/>
              </a:ext>
            </a:extLst>
          </p:cNvPr>
          <p:cNvSpPr>
            <a:spLocks xmlns:a="http://schemas.openxmlformats.org/drawingml/2006/main" noGrp="1"/>
          </p:cNvSpPr>
          <p:nvPr/>
        </p:nvSpPr>
        <p:spPr>
          <a:xfrm xmlns:a="http://schemas.openxmlformats.org/drawingml/2006/main">
            <a:off x="609600" y="6324600"/>
            <a:ext cx="10287000" cy="19050"/>
          </a:xfrm>
          <a:prstGeom xmlns:a="http://schemas.openxmlformats.org/drawingml/2006/main" prst="rect">
            <a:avLst/>
          </a:prstGeom>
          <a:solidFill xmlns:a="http://schemas.openxmlformats.org/drawingml/2006/main">
            <a:srgbClr val="E7DC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0021072-48B1-4BA3-8C0F-726F068DD8DB}"/>
              </a:ext>
            </a:extLst>
          </p:cNvPr>
          <p:cNvSpPr>
            <a:spLocks xmlns:a="http://schemas.openxmlformats.org/drawingml/2006/main" noGrp="1"/>
          </p:cNvSpPr>
          <p:nvPr/>
        </p:nvSpPr>
        <p:spPr>
          <a:xfrm xmlns:a="http://schemas.openxmlformats.org/drawingml/2006/main">
            <a:off x="609600" y="6448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900" b="1" i="0">
                <a:solidFill>
                  <a:srgbClr val="6F6277"/>
                </a:solidFill>
                <a:latin typeface="Aptos"/>
                <a:ea typeface="Aptos"/>
                <a:cs typeface="Aptos"/>
              </a:defRPr>
            </a:pPr>
            <a:r>
              <a:rPr sz="900" b="1" i="0">
                <a:solidFill>
                  <a:srgbClr val="6F6277"/>
                </a:solidFill>
                <a:latin typeface="Aptos"/>
                <a:ea typeface="Aptos"/>
                <a:cs typeface="Aptos"/>
              </a:rPr>
              <a:t>LINUX FOUNDATIONS</a:t>
            </a:r>
          </a:p>
        </p:txBody>
      </p:sp>
      <p:sp>
        <p:nvSpPr>
          <p:cNvPr id="5" name="">
            <a:extLst xmlns:a="http://schemas.openxmlformats.org/drawingml/2006/main">
              <a:ext uri="{FF2B5EF4-FFF2-40B4-BE49-F238E27FC236}">
                <a16:creationId xmlns:a16="http://schemas.microsoft.com/office/drawing/2014/main" id="{76FD60E5-6908-4870-B308-36E4CE04BE0A}"/>
              </a:ext>
            </a:extLst>
          </p:cNvPr>
          <p:cNvSpPr>
            <a:spLocks xmlns:a="http://schemas.openxmlformats.org/drawingml/2006/main" noGrp="1"/>
          </p:cNvSpPr>
          <p:nvPr/>
        </p:nvSpPr>
        <p:spPr>
          <a:xfrm xmlns:a="http://schemas.openxmlformats.org/drawingml/2006/main">
            <a:off x="10906125" y="64198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050" b="1" i="0">
                <a:solidFill>
                  <a:srgbClr val="8B5CF6"/>
                </a:solidFill>
                <a:latin typeface="Aptos"/>
                <a:ea typeface="Aptos"/>
                <a:cs typeface="Aptos"/>
              </a:defRPr>
            </a:pPr>
            <a:r>
              <a:rPr sz="1050" b="1" i="0">
                <a:solidFill>
                  <a:srgbClr val="8B5CF6"/>
                </a:solidFill>
                <a:latin typeface="Aptos"/>
                <a:ea typeface="Aptos"/>
                <a:cs typeface="Aptos"/>
              </a:rPr>
              <a:t>38</a:t>
            </a:r>
          </a:p>
        </p:txBody>
      </p:sp>
      <p:sp>
        <p:nvSpPr>
          <p:cNvPr id="6" name="">
            <a:extLst xmlns:a="http://schemas.openxmlformats.org/drawingml/2006/main">
              <a:ext uri="{FF2B5EF4-FFF2-40B4-BE49-F238E27FC236}">
                <a16:creationId xmlns:a16="http://schemas.microsoft.com/office/drawing/2014/main" id="{BB7A6176-4E18-45E7-9751-6BB89CBED57F}"/>
              </a:ext>
            </a:extLst>
          </p:cNvPr>
          <p:cNvSpPr>
            <a:spLocks xmlns:a="http://schemas.openxmlformats.org/drawingml/2006/main" noGrp="1"/>
          </p:cNvSpPr>
          <p:nvPr/>
        </p:nvSpPr>
        <p:spPr>
          <a:xfrm xmlns:a="http://schemas.openxmlformats.org/drawingml/2006/main">
            <a:off x="723900" y="1657350"/>
            <a:ext cx="447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6B4A"/>
                </a:solidFill>
                <a:latin typeface="Aptos"/>
                <a:ea typeface="Aptos"/>
                <a:cs typeface="Aptos"/>
              </a:defRPr>
            </a:pPr>
            <a:r>
              <a:rPr sz="1050" b="1" i="0">
                <a:solidFill>
                  <a:srgbClr val="FF6B4A"/>
                </a:solidFill>
                <a:latin typeface="Aptos"/>
                <a:ea typeface="Aptos"/>
                <a:cs typeface="Aptos"/>
              </a:rPr>
              <a:t>OPEN COURSE INSPIRATION</a:t>
            </a:r>
          </a:p>
        </p:txBody>
      </p:sp>
      <p:sp>
        <p:nvSpPr>
          <p:cNvPr id="7" name="">
            <a:extLst xmlns:a="http://schemas.openxmlformats.org/drawingml/2006/main">
              <a:ext uri="{FF2B5EF4-FFF2-40B4-BE49-F238E27FC236}">
                <a16:creationId xmlns:a16="http://schemas.microsoft.com/office/drawing/2014/main" id="{918DF477-CA56-4D7A-8FCB-E6C76A04E765}"/>
              </a:ext>
            </a:extLst>
          </p:cNvPr>
          <p:cNvSpPr>
            <a:spLocks xmlns:a="http://schemas.openxmlformats.org/drawingml/2006/main" noGrp="1"/>
          </p:cNvSpPr>
          <p:nvPr/>
        </p:nvSpPr>
        <p:spPr>
          <a:xfrm xmlns:a="http://schemas.openxmlformats.org/drawingml/2006/main">
            <a:off x="723900" y="2038350"/>
            <a:ext cx="4667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3000"/>
              </a:lnSpc>
              <a:buNone/>
              <a:defRPr sz="1575" b="0" i="0">
                <a:solidFill>
                  <a:srgbClr val="160B20"/>
                </a:solidFill>
                <a:latin typeface="Aptos"/>
                <a:ea typeface="Aptos"/>
                <a:cs typeface="Aptos"/>
              </a:defRPr>
            </a:pPr>
            <a:r>
              <a:rPr sz="1575" b="0" i="0">
                <a:solidFill>
                  <a:srgbClr val="160B20"/>
                </a:solidFill>
                <a:latin typeface="Aptos"/>
                <a:ea typeface="Aptos"/>
                <a:cs typeface="Aptos"/>
              </a:rPr>
              <a:t>Linux Upskill Challenge · CC BY 4.0</a:t>
            </a:r>
          </a:p>
          <a:p xmlns:a="http://schemas.openxmlformats.org/drawingml/2006/main">
            <a:pPr algn="l">
              <a:lnSpc>
                <a:spcPct val="113000"/>
              </a:lnSpc>
              <a:buNone/>
              <a:defRPr sz="1575" b="0" i="0">
                <a:solidFill>
                  <a:srgbClr val="160B20"/>
                </a:solidFill>
                <a:latin typeface="Aptos"/>
                <a:ea typeface="Aptos"/>
                <a:cs typeface="Aptos"/>
              </a:defRPr>
            </a:pPr>
            <a:r>
              <a:rPr sz="1575" b="0" i="0">
                <a:solidFill>
                  <a:srgbClr val="160B20"/>
                </a:solidFill>
                <a:latin typeface="Aptos"/>
                <a:ea typeface="Aptos"/>
                <a:cs typeface="Aptos"/>
              </a:rPr>
              <a:t>linuxupskillchallenge.com</a:t>
            </a:r>
          </a:p>
          <a:p xmlns:a="http://schemas.openxmlformats.org/drawingml/2006/main">
            <a:r>
              <a:t/>
            </a:r>
          </a:p>
          <a:p xmlns:a="http://schemas.openxmlformats.org/drawingml/2006/main">
            <a:pPr algn="l">
              <a:lnSpc>
                <a:spcPct val="113000"/>
              </a:lnSpc>
              <a:buNone/>
              <a:defRPr sz="1575" b="0" i="0">
                <a:solidFill>
                  <a:srgbClr val="160B20"/>
                </a:solidFill>
                <a:latin typeface="Aptos"/>
                <a:ea typeface="Aptos"/>
                <a:cs typeface="Aptos"/>
              </a:defRPr>
            </a:pPr>
            <a:r>
              <a:rPr sz="1575" b="0" i="0">
                <a:solidFill>
                  <a:srgbClr val="160B20"/>
                </a:solidFill>
                <a:latin typeface="Aptos"/>
                <a:ea typeface="Aptos"/>
                <a:cs typeface="Aptos"/>
              </a:rPr>
              <a:t>Linux Training + Linux101Labs</a:t>
            </a:r>
          </a:p>
          <a:p xmlns:a="http://schemas.openxmlformats.org/drawingml/2006/main">
            <a:pPr algn="l">
              <a:lnSpc>
                <a:spcPct val="113000"/>
              </a:lnSpc>
              <a:buNone/>
              <a:defRPr sz="1575" b="0" i="0">
                <a:solidFill>
                  <a:srgbClr val="160B20"/>
                </a:solidFill>
                <a:latin typeface="Aptos"/>
                <a:ea typeface="Aptos"/>
                <a:cs typeface="Aptos"/>
              </a:defRPr>
            </a:pPr>
            <a:r>
              <a:rPr sz="1575" b="0" i="0">
                <a:solidFill>
                  <a:srgbClr val="160B20"/>
                </a:solidFill>
                <a:latin typeface="Aptos"/>
                <a:ea typeface="Aptos"/>
                <a:cs typeface="Aptos"/>
              </a:rPr>
              <a:t>coverage and exercise-pattern review</a:t>
            </a:r>
          </a:p>
        </p:txBody>
      </p:sp>
      <p:sp>
        <p:nvSpPr>
          <p:cNvPr id="8" name="">
            <a:extLst xmlns:a="http://schemas.openxmlformats.org/drawingml/2006/main">
              <a:ext uri="{FF2B5EF4-FFF2-40B4-BE49-F238E27FC236}">
                <a16:creationId xmlns:a16="http://schemas.microsoft.com/office/drawing/2014/main" id="{196BCEE2-5735-4330-8E57-8E1EE4B066D4}"/>
              </a:ext>
            </a:extLst>
          </p:cNvPr>
          <p:cNvSpPr>
            <a:spLocks xmlns:a="http://schemas.openxmlformats.org/drawingml/2006/main" noGrp="1"/>
          </p:cNvSpPr>
          <p:nvPr/>
        </p:nvSpPr>
        <p:spPr>
          <a:xfrm xmlns:a="http://schemas.openxmlformats.org/drawingml/2006/main">
            <a:off x="6191250" y="1657350"/>
            <a:ext cx="447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8B5CF6"/>
                </a:solidFill>
                <a:latin typeface="Aptos"/>
                <a:ea typeface="Aptos"/>
                <a:cs typeface="Aptos"/>
              </a:defRPr>
            </a:pPr>
            <a:r>
              <a:rPr sz="1050" b="1" i="0">
                <a:solidFill>
                  <a:srgbClr val="8B5CF6"/>
                </a:solidFill>
                <a:latin typeface="Aptos"/>
                <a:ea typeface="Aptos"/>
                <a:cs typeface="Aptos"/>
              </a:rPr>
              <a:t>PRIMARY REFERENCES</a:t>
            </a:r>
          </a:p>
        </p:txBody>
      </p:sp>
      <p:sp>
        <p:nvSpPr>
          <p:cNvPr id="9" name="">
            <a:extLst xmlns:a="http://schemas.openxmlformats.org/drawingml/2006/main">
              <a:ext uri="{FF2B5EF4-FFF2-40B4-BE49-F238E27FC236}">
                <a16:creationId xmlns:a16="http://schemas.microsoft.com/office/drawing/2014/main" id="{6F0C484F-6FF0-41A0-B894-6329455AEFEE}"/>
              </a:ext>
            </a:extLst>
          </p:cNvPr>
          <p:cNvSpPr>
            <a:spLocks xmlns:a="http://schemas.openxmlformats.org/drawingml/2006/main" noGrp="1"/>
          </p:cNvSpPr>
          <p:nvPr/>
        </p:nvSpPr>
        <p:spPr>
          <a:xfrm xmlns:a="http://schemas.openxmlformats.org/drawingml/2006/main">
            <a:off x="6191250" y="2038350"/>
            <a:ext cx="4857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8000"/>
              </a:lnSpc>
              <a:buNone/>
              <a:defRPr sz="1575" b="0" i="0">
                <a:solidFill>
                  <a:srgbClr val="160B20"/>
                </a:solidFill>
                <a:latin typeface="Aptos"/>
                <a:ea typeface="Aptos"/>
                <a:cs typeface="Aptos"/>
              </a:defRPr>
            </a:pPr>
            <a:r>
              <a:rPr sz="1575" b="0" i="0">
                <a:solidFill>
                  <a:srgbClr val="160B20"/>
                </a:solidFill>
                <a:latin typeface="Aptos"/>
                <a:ea typeface="Aptos"/>
                <a:cs typeface="Aptos"/>
              </a:rPr>
              <a:t>Canonical Ubuntu Server documentation</a:t>
            </a:r>
          </a:p>
          <a:p xmlns:a="http://schemas.openxmlformats.org/drawingml/2006/main">
            <a:pPr algn="l">
              <a:lnSpc>
                <a:spcPct val="118000"/>
              </a:lnSpc>
              <a:buNone/>
              <a:defRPr sz="1575" b="0" i="0">
                <a:solidFill>
                  <a:srgbClr val="160B20"/>
                </a:solidFill>
                <a:latin typeface="Aptos"/>
                <a:ea typeface="Aptos"/>
                <a:cs typeface="Aptos"/>
              </a:defRPr>
            </a:pPr>
            <a:r>
              <a:rPr sz="1575" b="0" i="0">
                <a:solidFill>
                  <a:srgbClr val="160B20"/>
                </a:solidFill>
                <a:latin typeface="Aptos"/>
                <a:ea typeface="Aptos"/>
                <a:cs typeface="Aptos"/>
              </a:rPr>
              <a:t>Incus system-container documentation</a:t>
            </a:r>
          </a:p>
          <a:p xmlns:a="http://schemas.openxmlformats.org/drawingml/2006/main">
            <a:pPr algn="l">
              <a:lnSpc>
                <a:spcPct val="118000"/>
              </a:lnSpc>
              <a:buNone/>
              <a:defRPr sz="1575" b="0" i="0">
                <a:solidFill>
                  <a:srgbClr val="160B20"/>
                </a:solidFill>
                <a:latin typeface="Aptos"/>
                <a:ea typeface="Aptos"/>
                <a:cs typeface="Aptos"/>
              </a:defRPr>
            </a:pPr>
            <a:r>
              <a:rPr sz="1575" b="0" i="0">
                <a:solidFill>
                  <a:srgbClr val="160B20"/>
                </a:solidFill>
                <a:latin typeface="Aptos"/>
                <a:ea typeface="Aptos"/>
                <a:cs typeface="Aptos"/>
              </a:rPr>
              <a:t>ttyd browser-terminal project</a:t>
            </a:r>
          </a:p>
          <a:p xmlns:a="http://schemas.openxmlformats.org/drawingml/2006/main">
            <a:pPr algn="l">
              <a:lnSpc>
                <a:spcPct val="118000"/>
              </a:lnSpc>
              <a:buNone/>
              <a:defRPr sz="1575" b="0" i="0">
                <a:solidFill>
                  <a:srgbClr val="160B20"/>
                </a:solidFill>
                <a:latin typeface="Aptos"/>
                <a:ea typeface="Aptos"/>
                <a:cs typeface="Aptos"/>
              </a:defRPr>
            </a:pPr>
            <a:r>
              <a:rPr sz="1575" b="0" i="0">
                <a:solidFill>
                  <a:srgbClr val="160B20"/>
                </a:solidFill>
                <a:latin typeface="Aptos"/>
                <a:ea typeface="Aptos"/>
                <a:cs typeface="Aptos"/>
              </a:rPr>
              <a:t>OpenSSH + systemd manuals</a:t>
            </a:r>
          </a:p>
        </p:txBody>
      </p:sp>
      <p:sp>
        <p:nvSpPr>
          <p:cNvPr id="10" name="">
            <a:extLst xmlns:a="http://schemas.openxmlformats.org/drawingml/2006/main">
              <a:ext uri="{FF2B5EF4-FFF2-40B4-BE49-F238E27FC236}">
                <a16:creationId xmlns:a16="http://schemas.microsoft.com/office/drawing/2014/main" id="{11792DE1-C131-4AB8-B7DF-607B0B131ACF}"/>
              </a:ext>
            </a:extLst>
          </p:cNvPr>
          <p:cNvSpPr>
            <a:spLocks xmlns:a="http://schemas.openxmlformats.org/drawingml/2006/main" noGrp="1"/>
          </p:cNvSpPr>
          <p:nvPr/>
        </p:nvSpPr>
        <p:spPr>
          <a:xfrm xmlns:a="http://schemas.openxmlformats.org/drawingml/2006/main">
            <a:off x="723900" y="4171950"/>
            <a:ext cx="10325100" cy="9525"/>
          </a:xfrm>
          <a:prstGeom xmlns:a="http://schemas.openxmlformats.org/drawingml/2006/main" prst="rect">
            <a:avLst/>
          </a:prstGeom>
          <a:solidFill xmlns:a="http://schemas.openxmlformats.org/drawingml/2006/main">
            <a:srgbClr val="DDD0E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B835E9B-8665-44D6-9887-3EA0ECE8A464}"/>
              </a:ext>
            </a:extLst>
          </p:cNvPr>
          <p:cNvSpPr>
            <a:spLocks xmlns:a="http://schemas.openxmlformats.org/drawingml/2006/main" noGrp="1"/>
          </p:cNvSpPr>
          <p:nvPr/>
        </p:nvSpPr>
        <p:spPr>
          <a:xfrm xmlns:a="http://schemas.openxmlformats.org/drawingml/2006/main">
            <a:off x="723900" y="4476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500" b="1" i="0">
                <a:solidFill>
                  <a:srgbClr val="8B5CF6"/>
                </a:solidFill>
                <a:latin typeface="Aptos"/>
                <a:ea typeface="Aptos"/>
                <a:cs typeface="Aptos"/>
              </a:defRPr>
            </a:pPr>
            <a:r>
              <a:rPr sz="1500" b="1" i="0">
                <a:solidFill>
                  <a:srgbClr val="8B5CF6"/>
                </a:solidFill>
                <a:latin typeface="Aptos"/>
                <a:ea typeface="Aptos"/>
                <a:cs typeface="Aptos"/>
              </a:rPr>
              <a:t>Visual direction</a:t>
            </a:r>
          </a:p>
        </p:txBody>
      </p:sp>
      <p:sp>
        <p:nvSpPr>
          <p:cNvPr id="12" name="">
            <a:extLst xmlns:a="http://schemas.openxmlformats.org/drawingml/2006/main">
              <a:ext uri="{FF2B5EF4-FFF2-40B4-BE49-F238E27FC236}">
                <a16:creationId xmlns:a16="http://schemas.microsoft.com/office/drawing/2014/main" id="{D0197078-ADFA-43C0-B4D4-EB9B4B4587C0}"/>
              </a:ext>
            </a:extLst>
          </p:cNvPr>
          <p:cNvSpPr>
            <a:spLocks xmlns:a="http://schemas.openxmlformats.org/drawingml/2006/main" noGrp="1"/>
          </p:cNvSpPr>
          <p:nvPr/>
        </p:nvSpPr>
        <p:spPr>
          <a:xfrm xmlns:a="http://schemas.openxmlformats.org/drawingml/2006/main">
            <a:off x="3048000" y="4476750"/>
            <a:ext cx="8001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500" b="0" i="0">
                <a:solidFill>
                  <a:srgbClr val="514658"/>
                </a:solidFill>
                <a:latin typeface="Aptos"/>
                <a:ea typeface="Aptos"/>
                <a:cs typeface="Aptos"/>
              </a:defRPr>
            </a:pPr>
            <a:r>
              <a:rPr sz="1500" b="0" i="0">
                <a:solidFill>
                  <a:srgbClr val="514658"/>
                </a:solidFill>
                <a:latin typeface="Aptos"/>
                <a:ea typeface="Aptos"/>
                <a:cs typeface="Aptos"/>
              </a:rPr>
              <a:t>Platform source and delivery notes: browser-lab-platform/README.md</a:t>
            </a:r>
          </a:p>
        </p:txBody>
      </p:sp>
      <p:sp>
        <p:nvSpPr>
          <p:cNvPr id="13" name="">
            <a:extLst xmlns:a="http://schemas.openxmlformats.org/drawingml/2006/main">
              <a:ext uri="{FF2B5EF4-FFF2-40B4-BE49-F238E27FC236}">
                <a16:creationId xmlns:a16="http://schemas.microsoft.com/office/drawing/2014/main" id="{CEA57DC7-5D5E-419E-94FD-4A7ADF4E8DED}"/>
              </a:ext>
            </a:extLst>
          </p:cNvPr>
          <p:cNvSpPr>
            <a:spLocks xmlns:a="http://schemas.openxmlformats.org/drawingml/2006/main" noGrp="1"/>
          </p:cNvSpPr>
          <p:nvPr/>
        </p:nvSpPr>
        <p:spPr>
          <a:xfrm xmlns:a="http://schemas.openxmlformats.org/drawingml/2006/main">
            <a:off x="723900" y="5543550"/>
            <a:ext cx="10325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575" b="1" i="0">
                <a:solidFill>
                  <a:srgbClr val="8B5CF6"/>
                </a:solidFill>
                <a:latin typeface="Aptos"/>
                <a:ea typeface="Aptos"/>
                <a:cs typeface="Aptos"/>
              </a:defRPr>
            </a:pPr>
            <a:r>
              <a:rPr sz="1575" b="1" i="0">
                <a:solidFill>
                  <a:srgbClr val="8B5CF6"/>
                </a:solidFill>
                <a:latin typeface="Aptos"/>
                <a:ea typeface="Aptos"/>
                <a:cs typeface="Aptos"/>
              </a:rPr>
              <a:t>Full URLs, licensing notes, and adaptation details: resources/SOURCES.md</a:t>
            </a:r>
          </a:p>
        </p:txBody>
      </p:sp>
    </p:spTree>
    <p:extLst>
      <p:ext uri="{BB962C8B-B14F-4D97-AF65-F5344CB8AC3E}">
        <p14:creationId xmlns:p14="http://schemas.microsoft.com/office/powerpoint/2010/main" val="6802673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2026-07-17T08:46:28.2610000Z</dcterms:created>
  <dcterms:modified xsi:type="dcterms:W3CDTF">2026-07-17T08:46:28.2610000Z</dcterms:modified>
</coreProperties>
</file>